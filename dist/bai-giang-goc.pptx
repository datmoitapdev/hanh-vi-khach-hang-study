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4"/>
    <p:sldMasterId id="2147483661" r:id="rId5"/>
  </p:sldMasterIdLst>
  <p:notesMasterIdLst>
    <p:notesMasterId r:id="rId308"/>
  </p:notesMasterIdLst>
  <p:sldIdLst>
    <p:sldId id="256" r:id="rId6"/>
    <p:sldId id="257" r:id="rId7"/>
    <p:sldId id="258" r:id="rId8"/>
    <p:sldId id="259" r:id="rId9"/>
    <p:sldId id="260" r:id="rId10"/>
    <p:sldId id="261" r:id="rId11"/>
    <p:sldId id="262" r:id="rId12"/>
    <p:sldId id="263" r:id="rId13"/>
    <p:sldId id="264" r:id="rId14"/>
    <p:sldId id="268" r:id="rId15"/>
    <p:sldId id="267" r:id="rId16"/>
    <p:sldId id="669" r:id="rId17"/>
    <p:sldId id="670" r:id="rId18"/>
    <p:sldId id="272" r:id="rId19"/>
    <p:sldId id="265" r:id="rId20"/>
    <p:sldId id="671" r:id="rId21"/>
    <p:sldId id="1851" r:id="rId22"/>
    <p:sldId id="672" r:id="rId23"/>
    <p:sldId id="269" r:id="rId24"/>
    <p:sldId id="271" r:id="rId25"/>
    <p:sldId id="277" r:id="rId26"/>
    <p:sldId id="278" r:id="rId27"/>
    <p:sldId id="279" r:id="rId28"/>
    <p:sldId id="280" r:id="rId29"/>
    <p:sldId id="673" r:id="rId30"/>
    <p:sldId id="674" r:id="rId31"/>
    <p:sldId id="274" r:id="rId32"/>
    <p:sldId id="275" r:id="rId33"/>
    <p:sldId id="276" r:id="rId34"/>
    <p:sldId id="302" r:id="rId35"/>
    <p:sldId id="303" r:id="rId36"/>
    <p:sldId id="304" r:id="rId37"/>
    <p:sldId id="305" r:id="rId38"/>
    <p:sldId id="306" r:id="rId39"/>
    <p:sldId id="307" r:id="rId40"/>
    <p:sldId id="308" r:id="rId41"/>
    <p:sldId id="310" r:id="rId42"/>
    <p:sldId id="311" r:id="rId43"/>
    <p:sldId id="312" r:id="rId44"/>
    <p:sldId id="313" r:id="rId45"/>
    <p:sldId id="314" r:id="rId46"/>
    <p:sldId id="315" r:id="rId47"/>
    <p:sldId id="316" r:id="rId48"/>
    <p:sldId id="317" r:id="rId49"/>
    <p:sldId id="320" r:id="rId50"/>
    <p:sldId id="322" r:id="rId51"/>
    <p:sldId id="323" r:id="rId52"/>
    <p:sldId id="325" r:id="rId53"/>
    <p:sldId id="675" r:id="rId54"/>
    <p:sldId id="332" r:id="rId55"/>
    <p:sldId id="333" r:id="rId56"/>
    <p:sldId id="334" r:id="rId57"/>
    <p:sldId id="335" r:id="rId58"/>
    <p:sldId id="337" r:id="rId59"/>
    <p:sldId id="338" r:id="rId60"/>
    <p:sldId id="339" r:id="rId61"/>
    <p:sldId id="340" r:id="rId62"/>
    <p:sldId id="341" r:id="rId63"/>
    <p:sldId id="342" r:id="rId64"/>
    <p:sldId id="344" r:id="rId65"/>
    <p:sldId id="345" r:id="rId66"/>
    <p:sldId id="346" r:id="rId67"/>
    <p:sldId id="347" r:id="rId68"/>
    <p:sldId id="348" r:id="rId69"/>
    <p:sldId id="350" r:id="rId70"/>
    <p:sldId id="351" r:id="rId71"/>
    <p:sldId id="352" r:id="rId72"/>
    <p:sldId id="353" r:id="rId73"/>
    <p:sldId id="354" r:id="rId74"/>
    <p:sldId id="355" r:id="rId75"/>
    <p:sldId id="356" r:id="rId76"/>
    <p:sldId id="514" r:id="rId77"/>
    <p:sldId id="515" r:id="rId78"/>
    <p:sldId id="683" r:id="rId79"/>
    <p:sldId id="676" r:id="rId80"/>
    <p:sldId id="677" r:id="rId81"/>
    <p:sldId id="678" r:id="rId82"/>
    <p:sldId id="679" r:id="rId83"/>
    <p:sldId id="684" r:id="rId84"/>
    <p:sldId id="680" r:id="rId85"/>
    <p:sldId id="681" r:id="rId86"/>
    <p:sldId id="526" r:id="rId87"/>
    <p:sldId id="537" r:id="rId88"/>
    <p:sldId id="539" r:id="rId89"/>
    <p:sldId id="540" r:id="rId90"/>
    <p:sldId id="542" r:id="rId91"/>
    <p:sldId id="686" r:id="rId92"/>
    <p:sldId id="688" r:id="rId93"/>
    <p:sldId id="689" r:id="rId94"/>
    <p:sldId id="690" r:id="rId95"/>
    <p:sldId id="692" r:id="rId96"/>
    <p:sldId id="1778" r:id="rId97"/>
    <p:sldId id="336" r:id="rId98"/>
    <p:sldId id="1779" r:id="rId99"/>
    <p:sldId id="1780" r:id="rId100"/>
    <p:sldId id="1661" r:id="rId101"/>
    <p:sldId id="1662" r:id="rId102"/>
    <p:sldId id="1781" r:id="rId103"/>
    <p:sldId id="1782" r:id="rId104"/>
    <p:sldId id="1783" r:id="rId105"/>
    <p:sldId id="1663" r:id="rId106"/>
    <p:sldId id="1784" r:id="rId107"/>
    <p:sldId id="1664" r:id="rId108"/>
    <p:sldId id="1786" r:id="rId109"/>
    <p:sldId id="1787" r:id="rId110"/>
    <p:sldId id="1788" r:id="rId111"/>
    <p:sldId id="1790" r:id="rId112"/>
    <p:sldId id="1791" r:id="rId113"/>
    <p:sldId id="1792" r:id="rId114"/>
    <p:sldId id="1659" r:id="rId115"/>
    <p:sldId id="1793" r:id="rId116"/>
    <p:sldId id="1794" r:id="rId117"/>
    <p:sldId id="1660" r:id="rId118"/>
    <p:sldId id="1796" r:id="rId119"/>
    <p:sldId id="1797" r:id="rId120"/>
    <p:sldId id="1795" r:id="rId121"/>
    <p:sldId id="1798" r:id="rId122"/>
    <p:sldId id="1799" r:id="rId123"/>
    <p:sldId id="1800" r:id="rId124"/>
    <p:sldId id="366" r:id="rId125"/>
    <p:sldId id="1801" r:id="rId126"/>
    <p:sldId id="368" r:id="rId127"/>
    <p:sldId id="369" r:id="rId128"/>
    <p:sldId id="371" r:id="rId129"/>
    <p:sldId id="372" r:id="rId130"/>
    <p:sldId id="1802" r:id="rId131"/>
    <p:sldId id="1803" r:id="rId132"/>
    <p:sldId id="1804" r:id="rId133"/>
    <p:sldId id="1629" r:id="rId134"/>
    <p:sldId id="1630" r:id="rId135"/>
    <p:sldId id="1632" r:id="rId136"/>
    <p:sldId id="1634" r:id="rId137"/>
    <p:sldId id="1635" r:id="rId138"/>
    <p:sldId id="1637" r:id="rId139"/>
    <p:sldId id="1638" r:id="rId140"/>
    <p:sldId id="1639" r:id="rId141"/>
    <p:sldId id="1640" r:id="rId142"/>
    <p:sldId id="1641" r:id="rId143"/>
    <p:sldId id="1642" r:id="rId144"/>
    <p:sldId id="1643" r:id="rId145"/>
    <p:sldId id="1644" r:id="rId146"/>
    <p:sldId id="1645" r:id="rId147"/>
    <p:sldId id="1646" r:id="rId148"/>
    <p:sldId id="1647" r:id="rId149"/>
    <p:sldId id="1648" r:id="rId150"/>
    <p:sldId id="1649" r:id="rId151"/>
    <p:sldId id="1650" r:id="rId152"/>
    <p:sldId id="1652" r:id="rId153"/>
    <p:sldId id="1805" r:id="rId154"/>
    <p:sldId id="1689" r:id="rId155"/>
    <p:sldId id="1691" r:id="rId156"/>
    <p:sldId id="1692" r:id="rId157"/>
    <p:sldId id="1693" r:id="rId158"/>
    <p:sldId id="1694" r:id="rId159"/>
    <p:sldId id="1695" r:id="rId160"/>
    <p:sldId id="1697" r:id="rId161"/>
    <p:sldId id="1698" r:id="rId162"/>
    <p:sldId id="1699" r:id="rId163"/>
    <p:sldId id="1700" r:id="rId164"/>
    <p:sldId id="1701" r:id="rId165"/>
    <p:sldId id="1806" r:id="rId166"/>
    <p:sldId id="1807" r:id="rId167"/>
    <p:sldId id="1702" r:id="rId168"/>
    <p:sldId id="1703" r:id="rId169"/>
    <p:sldId id="1705" r:id="rId170"/>
    <p:sldId id="1808" r:id="rId171"/>
    <p:sldId id="1713" r:id="rId172"/>
    <p:sldId id="1714" r:id="rId173"/>
    <p:sldId id="1809" r:id="rId174"/>
    <p:sldId id="475" r:id="rId175"/>
    <p:sldId id="476" r:id="rId176"/>
    <p:sldId id="477" r:id="rId177"/>
    <p:sldId id="478" r:id="rId178"/>
    <p:sldId id="1850" r:id="rId179"/>
    <p:sldId id="480" r:id="rId180"/>
    <p:sldId id="481" r:id="rId181"/>
    <p:sldId id="482" r:id="rId182"/>
    <p:sldId id="483" r:id="rId183"/>
    <p:sldId id="485" r:id="rId184"/>
    <p:sldId id="487" r:id="rId185"/>
    <p:sldId id="489" r:id="rId186"/>
    <p:sldId id="490" r:id="rId187"/>
    <p:sldId id="491" r:id="rId188"/>
    <p:sldId id="492" r:id="rId189"/>
    <p:sldId id="493" r:id="rId190"/>
    <p:sldId id="494" r:id="rId191"/>
    <p:sldId id="495" r:id="rId192"/>
    <p:sldId id="496" r:id="rId193"/>
    <p:sldId id="498" r:id="rId194"/>
    <p:sldId id="499" r:id="rId195"/>
    <p:sldId id="500" r:id="rId196"/>
    <p:sldId id="501" r:id="rId197"/>
    <p:sldId id="502" r:id="rId198"/>
    <p:sldId id="503" r:id="rId199"/>
    <p:sldId id="504" r:id="rId200"/>
    <p:sldId id="505" r:id="rId201"/>
    <p:sldId id="506" r:id="rId202"/>
    <p:sldId id="508" r:id="rId203"/>
    <p:sldId id="509" r:id="rId204"/>
    <p:sldId id="510" r:id="rId205"/>
    <p:sldId id="551" r:id="rId206"/>
    <p:sldId id="552" r:id="rId207"/>
    <p:sldId id="553" r:id="rId208"/>
    <p:sldId id="555" r:id="rId209"/>
    <p:sldId id="556" r:id="rId210"/>
    <p:sldId id="557" r:id="rId211"/>
    <p:sldId id="558" r:id="rId212"/>
    <p:sldId id="559" r:id="rId213"/>
    <p:sldId id="560" r:id="rId214"/>
    <p:sldId id="561" r:id="rId215"/>
    <p:sldId id="563" r:id="rId216"/>
    <p:sldId id="564" r:id="rId217"/>
    <p:sldId id="565" r:id="rId218"/>
    <p:sldId id="566" r:id="rId219"/>
    <p:sldId id="567" r:id="rId220"/>
    <p:sldId id="568" r:id="rId221"/>
    <p:sldId id="569" r:id="rId222"/>
    <p:sldId id="570" r:id="rId223"/>
    <p:sldId id="571" r:id="rId224"/>
    <p:sldId id="572" r:id="rId225"/>
    <p:sldId id="573" r:id="rId226"/>
    <p:sldId id="574" r:id="rId227"/>
    <p:sldId id="575" r:id="rId228"/>
    <p:sldId id="576" r:id="rId229"/>
    <p:sldId id="577" r:id="rId230"/>
    <p:sldId id="579" r:id="rId231"/>
    <p:sldId id="580" r:id="rId232"/>
    <p:sldId id="581" r:id="rId233"/>
    <p:sldId id="582" r:id="rId234"/>
    <p:sldId id="583" r:id="rId235"/>
    <p:sldId id="584" r:id="rId236"/>
    <p:sldId id="585" r:id="rId237"/>
    <p:sldId id="586" r:id="rId238"/>
    <p:sldId id="588" r:id="rId239"/>
    <p:sldId id="589" r:id="rId240"/>
    <p:sldId id="590" r:id="rId241"/>
    <p:sldId id="591" r:id="rId242"/>
    <p:sldId id="592" r:id="rId243"/>
    <p:sldId id="593" r:id="rId244"/>
    <p:sldId id="594" r:id="rId245"/>
    <p:sldId id="595" r:id="rId246"/>
    <p:sldId id="1811" r:id="rId247"/>
    <p:sldId id="1812" r:id="rId248"/>
    <p:sldId id="1813" r:id="rId249"/>
    <p:sldId id="1814" r:id="rId250"/>
    <p:sldId id="596" r:id="rId251"/>
    <p:sldId id="1816" r:id="rId252"/>
    <p:sldId id="1817" r:id="rId253"/>
    <p:sldId id="1818" r:id="rId254"/>
    <p:sldId id="1819" r:id="rId255"/>
    <p:sldId id="1820" r:id="rId256"/>
    <p:sldId id="1821" r:id="rId257"/>
    <p:sldId id="1822" r:id="rId258"/>
    <p:sldId id="1823" r:id="rId259"/>
    <p:sldId id="273" r:id="rId260"/>
    <p:sldId id="1824" r:id="rId261"/>
    <p:sldId id="1825" r:id="rId262"/>
    <p:sldId id="266" r:id="rId263"/>
    <p:sldId id="1826" r:id="rId264"/>
    <p:sldId id="1827" r:id="rId265"/>
    <p:sldId id="1828" r:id="rId266"/>
    <p:sldId id="1829" r:id="rId267"/>
    <p:sldId id="1830" r:id="rId268"/>
    <p:sldId id="1831" r:id="rId269"/>
    <p:sldId id="1832" r:id="rId270"/>
    <p:sldId id="1833" r:id="rId271"/>
    <p:sldId id="1834" r:id="rId272"/>
    <p:sldId id="1835" r:id="rId273"/>
    <p:sldId id="1836" r:id="rId274"/>
    <p:sldId id="1837" r:id="rId275"/>
    <p:sldId id="629" r:id="rId276"/>
    <p:sldId id="630" r:id="rId277"/>
    <p:sldId id="631" r:id="rId278"/>
    <p:sldId id="632" r:id="rId279"/>
    <p:sldId id="651" r:id="rId280"/>
    <p:sldId id="652" r:id="rId281"/>
    <p:sldId id="653" r:id="rId282"/>
    <p:sldId id="654" r:id="rId283"/>
    <p:sldId id="1838" r:id="rId284"/>
    <p:sldId id="1839" r:id="rId285"/>
    <p:sldId id="682" r:id="rId286"/>
    <p:sldId id="637" r:id="rId287"/>
    <p:sldId id="656" r:id="rId288"/>
    <p:sldId id="657" r:id="rId289"/>
    <p:sldId id="658" r:id="rId290"/>
    <p:sldId id="659" r:id="rId291"/>
    <p:sldId id="660" r:id="rId292"/>
    <p:sldId id="661" r:id="rId293"/>
    <p:sldId id="1840" r:id="rId294"/>
    <p:sldId id="641" r:id="rId295"/>
    <p:sldId id="642" r:id="rId296"/>
    <p:sldId id="1841" r:id="rId297"/>
    <p:sldId id="1842" r:id="rId298"/>
    <p:sldId id="1843" r:id="rId299"/>
    <p:sldId id="1844" r:id="rId300"/>
    <p:sldId id="1845" r:id="rId301"/>
    <p:sldId id="1846" r:id="rId302"/>
    <p:sldId id="1847" r:id="rId303"/>
    <p:sldId id="1848" r:id="rId304"/>
    <p:sldId id="1849" r:id="rId305"/>
    <p:sldId id="667" r:id="rId306"/>
    <p:sldId id="668" r:id="rId307"/>
  </p:sldIdLst>
  <p:sldSz cx="12192000" cy="6858000"/>
  <p:notesSz cx="6858000" cy="9144000"/>
  <p:embeddedFontLst>
    <p:embeddedFont>
      <p:font typeface="Libre Baskerville" panose="020B0604020202020204" charset="0"/>
      <p:regular r:id="rId309"/>
      <p:bold r:id="rId310"/>
      <p:italic r:id="rId311"/>
    </p:embeddedFont>
    <p:embeddedFont>
      <p:font typeface="Montserrat" panose="020B0604020202020204" charset="0"/>
      <p:regular r:id="rId312"/>
      <p:bold r:id="rId313"/>
      <p:italic r:id="rId314"/>
      <p:boldItalic r:id="rId315"/>
    </p:embeddedFont>
    <p:embeddedFont>
      <p:font typeface="Wingdings 2" panose="020B0604020202020204" charset="2"/>
      <p:regular r:id="rId3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97B080-F47F-4D0F-3070-00DC9DFE0A5E}" v="12" dt="2026-10-03T15:03:58.499"/>
    <p1510:client id="{67303711-366C-8E3E-7542-D969B22A4C13}" v="9" dt="2026-10-04T08:37:19.149"/>
  </p1510:revLst>
</p1510:revInfo>
</file>

<file path=ppt/tableStyles.xml><?xml version="1.0" encoding="utf-8"?>
<a:tblStyleLst xmlns:a="http://schemas.openxmlformats.org/drawingml/2006/main" def="{392FFC7F-709E-4CD3-A213-31C4887D7C04}">
  <a:tblStyle styleId="{392FFC7F-709E-4CD3-A213-31C4887D7C0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4A6342F4-E3B8-4AE7-892F-69534030CBAD}"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842941DF-6950-4AD8-8181-9EE0D4A68B8B}" styleName="Table_2">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58CFE2DD-9064-4D94-8480-B5F54400213F}" styleName="Table_3">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99" Type="http://schemas.openxmlformats.org/officeDocument/2006/relationships/slide" Target="slides/slide294.xml"/><Relationship Id="rId21" Type="http://schemas.openxmlformats.org/officeDocument/2006/relationships/slide" Target="slides/slide16.xml"/><Relationship Id="rId63" Type="http://schemas.openxmlformats.org/officeDocument/2006/relationships/slide" Target="slides/slide58.xml"/><Relationship Id="rId159" Type="http://schemas.openxmlformats.org/officeDocument/2006/relationships/slide" Target="slides/slide154.xml"/><Relationship Id="rId170" Type="http://schemas.openxmlformats.org/officeDocument/2006/relationships/slide" Target="slides/slide165.xml"/><Relationship Id="rId226" Type="http://schemas.openxmlformats.org/officeDocument/2006/relationships/slide" Target="slides/slide221.xml"/><Relationship Id="rId268" Type="http://schemas.openxmlformats.org/officeDocument/2006/relationships/slide" Target="slides/slide263.xml"/><Relationship Id="rId32" Type="http://schemas.openxmlformats.org/officeDocument/2006/relationships/slide" Target="slides/slide27.xml"/><Relationship Id="rId74" Type="http://schemas.openxmlformats.org/officeDocument/2006/relationships/slide" Target="slides/slide69.xml"/><Relationship Id="rId128" Type="http://schemas.openxmlformats.org/officeDocument/2006/relationships/slide" Target="slides/slide123.xml"/><Relationship Id="rId5" Type="http://schemas.openxmlformats.org/officeDocument/2006/relationships/slideMaster" Target="slideMasters/slideMaster2.xml"/><Relationship Id="rId181" Type="http://schemas.openxmlformats.org/officeDocument/2006/relationships/slide" Target="slides/slide176.xml"/><Relationship Id="rId237" Type="http://schemas.openxmlformats.org/officeDocument/2006/relationships/slide" Target="slides/slide232.xml"/><Relationship Id="rId279" Type="http://schemas.openxmlformats.org/officeDocument/2006/relationships/slide" Target="slides/slide274.xml"/><Relationship Id="rId43" Type="http://schemas.openxmlformats.org/officeDocument/2006/relationships/slide" Target="slides/slide38.xml"/><Relationship Id="rId139" Type="http://schemas.openxmlformats.org/officeDocument/2006/relationships/slide" Target="slides/slide134.xml"/><Relationship Id="rId290" Type="http://schemas.openxmlformats.org/officeDocument/2006/relationships/slide" Target="slides/slide285.xml"/><Relationship Id="rId304" Type="http://schemas.openxmlformats.org/officeDocument/2006/relationships/slide" Target="slides/slide299.xml"/><Relationship Id="rId85" Type="http://schemas.openxmlformats.org/officeDocument/2006/relationships/slide" Target="slides/slide80.xml"/><Relationship Id="rId150" Type="http://schemas.openxmlformats.org/officeDocument/2006/relationships/slide" Target="slides/slide145.xml"/><Relationship Id="rId192" Type="http://schemas.openxmlformats.org/officeDocument/2006/relationships/slide" Target="slides/slide187.xml"/><Relationship Id="rId206" Type="http://schemas.openxmlformats.org/officeDocument/2006/relationships/slide" Target="slides/slide201.xml"/><Relationship Id="rId248" Type="http://schemas.openxmlformats.org/officeDocument/2006/relationships/slide" Target="slides/slide243.xml"/><Relationship Id="rId12" Type="http://schemas.openxmlformats.org/officeDocument/2006/relationships/slide" Target="slides/slide7.xml"/><Relationship Id="rId108" Type="http://schemas.openxmlformats.org/officeDocument/2006/relationships/slide" Target="slides/slide103.xml"/><Relationship Id="rId315" Type="http://schemas.openxmlformats.org/officeDocument/2006/relationships/font" Target="fonts/font7.fntdata"/><Relationship Id="rId54" Type="http://schemas.openxmlformats.org/officeDocument/2006/relationships/slide" Target="slides/slide49.xml"/><Relationship Id="rId96" Type="http://schemas.openxmlformats.org/officeDocument/2006/relationships/slide" Target="slides/slide91.xml"/><Relationship Id="rId161" Type="http://schemas.openxmlformats.org/officeDocument/2006/relationships/slide" Target="slides/slide156.xml"/><Relationship Id="rId217" Type="http://schemas.openxmlformats.org/officeDocument/2006/relationships/slide" Target="slides/slide212.xml"/><Relationship Id="rId259" Type="http://schemas.openxmlformats.org/officeDocument/2006/relationships/slide" Target="slides/slide254.xml"/><Relationship Id="rId23" Type="http://schemas.openxmlformats.org/officeDocument/2006/relationships/slide" Target="slides/slide18.xml"/><Relationship Id="rId119" Type="http://schemas.openxmlformats.org/officeDocument/2006/relationships/slide" Target="slides/slide114.xml"/><Relationship Id="rId270" Type="http://schemas.openxmlformats.org/officeDocument/2006/relationships/slide" Target="slides/slide265.xml"/><Relationship Id="rId65" Type="http://schemas.openxmlformats.org/officeDocument/2006/relationships/slide" Target="slides/slide60.xml"/><Relationship Id="rId130" Type="http://schemas.openxmlformats.org/officeDocument/2006/relationships/slide" Target="slides/slide125.xml"/><Relationship Id="rId172" Type="http://schemas.openxmlformats.org/officeDocument/2006/relationships/slide" Target="slides/slide167.xml"/><Relationship Id="rId228" Type="http://schemas.openxmlformats.org/officeDocument/2006/relationships/slide" Target="slides/slide223.xml"/><Relationship Id="rId281" Type="http://schemas.openxmlformats.org/officeDocument/2006/relationships/slide" Target="slides/slide276.xml"/><Relationship Id="rId34" Type="http://schemas.openxmlformats.org/officeDocument/2006/relationships/slide" Target="slides/slide29.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20" Type="http://schemas.openxmlformats.org/officeDocument/2006/relationships/slide" Target="slides/slide115.xml"/><Relationship Id="rId141" Type="http://schemas.openxmlformats.org/officeDocument/2006/relationships/slide" Target="slides/slide136.xml"/><Relationship Id="rId7" Type="http://schemas.openxmlformats.org/officeDocument/2006/relationships/slide" Target="slides/slide2.xml"/><Relationship Id="rId162" Type="http://schemas.openxmlformats.org/officeDocument/2006/relationships/slide" Target="slides/slide157.xml"/><Relationship Id="rId183" Type="http://schemas.openxmlformats.org/officeDocument/2006/relationships/slide" Target="slides/slide178.xml"/><Relationship Id="rId218" Type="http://schemas.openxmlformats.org/officeDocument/2006/relationships/slide" Target="slides/slide213.xml"/><Relationship Id="rId239" Type="http://schemas.openxmlformats.org/officeDocument/2006/relationships/slide" Target="slides/slide234.xml"/><Relationship Id="rId250" Type="http://schemas.openxmlformats.org/officeDocument/2006/relationships/slide" Target="slides/slide245.xml"/><Relationship Id="rId271" Type="http://schemas.openxmlformats.org/officeDocument/2006/relationships/slide" Target="slides/slide266.xml"/><Relationship Id="rId292" Type="http://schemas.openxmlformats.org/officeDocument/2006/relationships/slide" Target="slides/slide287.xml"/><Relationship Id="rId306" Type="http://schemas.openxmlformats.org/officeDocument/2006/relationships/slide" Target="slides/slide301.xml"/><Relationship Id="rId24" Type="http://schemas.openxmlformats.org/officeDocument/2006/relationships/slide" Target="slides/slide19.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31" Type="http://schemas.openxmlformats.org/officeDocument/2006/relationships/slide" Target="slides/slide126.xml"/><Relationship Id="rId152" Type="http://schemas.openxmlformats.org/officeDocument/2006/relationships/slide" Target="slides/slide147.xml"/><Relationship Id="rId173" Type="http://schemas.openxmlformats.org/officeDocument/2006/relationships/slide" Target="slides/slide168.xml"/><Relationship Id="rId194" Type="http://schemas.openxmlformats.org/officeDocument/2006/relationships/slide" Target="slides/slide189.xml"/><Relationship Id="rId208" Type="http://schemas.openxmlformats.org/officeDocument/2006/relationships/slide" Target="slides/slide203.xml"/><Relationship Id="rId229" Type="http://schemas.openxmlformats.org/officeDocument/2006/relationships/slide" Target="slides/slide224.xml"/><Relationship Id="rId240" Type="http://schemas.openxmlformats.org/officeDocument/2006/relationships/slide" Target="slides/slide235.xml"/><Relationship Id="rId261" Type="http://schemas.openxmlformats.org/officeDocument/2006/relationships/slide" Target="slides/slide256.xml"/><Relationship Id="rId14" Type="http://schemas.openxmlformats.org/officeDocument/2006/relationships/slide" Target="slides/slide9.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282" Type="http://schemas.openxmlformats.org/officeDocument/2006/relationships/slide" Target="slides/slide277.xml"/><Relationship Id="rId317" Type="http://schemas.openxmlformats.org/officeDocument/2006/relationships/presProps" Target="presProps.xml"/><Relationship Id="rId8" Type="http://schemas.openxmlformats.org/officeDocument/2006/relationships/slide" Target="slides/slide3.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163" Type="http://schemas.openxmlformats.org/officeDocument/2006/relationships/slide" Target="slides/slide158.xml"/><Relationship Id="rId184" Type="http://schemas.openxmlformats.org/officeDocument/2006/relationships/slide" Target="slides/slide179.xml"/><Relationship Id="rId219" Type="http://schemas.openxmlformats.org/officeDocument/2006/relationships/slide" Target="slides/slide214.xml"/><Relationship Id="rId230" Type="http://schemas.openxmlformats.org/officeDocument/2006/relationships/slide" Target="slides/slide225.xml"/><Relationship Id="rId251" Type="http://schemas.openxmlformats.org/officeDocument/2006/relationships/slide" Target="slides/slide246.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272" Type="http://schemas.openxmlformats.org/officeDocument/2006/relationships/slide" Target="slides/slide267.xml"/><Relationship Id="rId293" Type="http://schemas.openxmlformats.org/officeDocument/2006/relationships/slide" Target="slides/slide288.xml"/><Relationship Id="rId307" Type="http://schemas.openxmlformats.org/officeDocument/2006/relationships/slide" Target="slides/slide302.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3" Type="http://schemas.openxmlformats.org/officeDocument/2006/relationships/slide" Target="slides/slide148.xml"/><Relationship Id="rId174" Type="http://schemas.openxmlformats.org/officeDocument/2006/relationships/slide" Target="slides/slide169.xml"/><Relationship Id="rId195" Type="http://schemas.openxmlformats.org/officeDocument/2006/relationships/slide" Target="slides/slide190.xml"/><Relationship Id="rId209" Type="http://schemas.openxmlformats.org/officeDocument/2006/relationships/slide" Target="slides/slide204.xml"/><Relationship Id="rId220" Type="http://schemas.openxmlformats.org/officeDocument/2006/relationships/slide" Target="slides/slide215.xml"/><Relationship Id="rId241" Type="http://schemas.openxmlformats.org/officeDocument/2006/relationships/slide" Target="slides/slide236.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262" Type="http://schemas.openxmlformats.org/officeDocument/2006/relationships/slide" Target="slides/slide257.xml"/><Relationship Id="rId283" Type="http://schemas.openxmlformats.org/officeDocument/2006/relationships/slide" Target="slides/slide278.xml"/><Relationship Id="rId318" Type="http://schemas.openxmlformats.org/officeDocument/2006/relationships/viewProps" Target="viewProps.xml"/><Relationship Id="rId78" Type="http://schemas.openxmlformats.org/officeDocument/2006/relationships/slide" Target="slides/slide73.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slide" Target="slides/slide138.xml"/><Relationship Id="rId164" Type="http://schemas.openxmlformats.org/officeDocument/2006/relationships/slide" Target="slides/slide159.xml"/><Relationship Id="rId185" Type="http://schemas.openxmlformats.org/officeDocument/2006/relationships/slide" Target="slides/slide180.xml"/><Relationship Id="rId9" Type="http://schemas.openxmlformats.org/officeDocument/2006/relationships/slide" Target="slides/slide4.xml"/><Relationship Id="rId210" Type="http://schemas.openxmlformats.org/officeDocument/2006/relationships/slide" Target="slides/slide205.xml"/><Relationship Id="rId26" Type="http://schemas.openxmlformats.org/officeDocument/2006/relationships/slide" Target="slides/slide21.xml"/><Relationship Id="rId231" Type="http://schemas.openxmlformats.org/officeDocument/2006/relationships/slide" Target="slides/slide226.xml"/><Relationship Id="rId252" Type="http://schemas.openxmlformats.org/officeDocument/2006/relationships/slide" Target="slides/slide247.xml"/><Relationship Id="rId273" Type="http://schemas.openxmlformats.org/officeDocument/2006/relationships/slide" Target="slides/slide268.xml"/><Relationship Id="rId294" Type="http://schemas.openxmlformats.org/officeDocument/2006/relationships/slide" Target="slides/slide289.xml"/><Relationship Id="rId308" Type="http://schemas.openxmlformats.org/officeDocument/2006/relationships/notesMaster" Target="notesMasters/notesMaster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54" Type="http://schemas.openxmlformats.org/officeDocument/2006/relationships/slide" Target="slides/slide149.xml"/><Relationship Id="rId175" Type="http://schemas.openxmlformats.org/officeDocument/2006/relationships/slide" Target="slides/slide170.xml"/><Relationship Id="rId196" Type="http://schemas.openxmlformats.org/officeDocument/2006/relationships/slide" Target="slides/slide191.xml"/><Relationship Id="rId200" Type="http://schemas.openxmlformats.org/officeDocument/2006/relationships/slide" Target="slides/slide195.xml"/><Relationship Id="rId16" Type="http://schemas.openxmlformats.org/officeDocument/2006/relationships/slide" Target="slides/slide11.xml"/><Relationship Id="rId221" Type="http://schemas.openxmlformats.org/officeDocument/2006/relationships/slide" Target="slides/slide216.xml"/><Relationship Id="rId242" Type="http://schemas.openxmlformats.org/officeDocument/2006/relationships/slide" Target="slides/slide237.xml"/><Relationship Id="rId263" Type="http://schemas.openxmlformats.org/officeDocument/2006/relationships/slide" Target="slides/slide258.xml"/><Relationship Id="rId284" Type="http://schemas.openxmlformats.org/officeDocument/2006/relationships/slide" Target="slides/slide279.xml"/><Relationship Id="rId319" Type="http://schemas.openxmlformats.org/officeDocument/2006/relationships/theme" Target="theme/theme1.xml"/><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44" Type="http://schemas.openxmlformats.org/officeDocument/2006/relationships/slide" Target="slides/slide139.xml"/><Relationship Id="rId90" Type="http://schemas.openxmlformats.org/officeDocument/2006/relationships/slide" Target="slides/slide85.xml"/><Relationship Id="rId165" Type="http://schemas.openxmlformats.org/officeDocument/2006/relationships/slide" Target="slides/slide160.xml"/><Relationship Id="rId186" Type="http://schemas.openxmlformats.org/officeDocument/2006/relationships/slide" Target="slides/slide181.xml"/><Relationship Id="rId211" Type="http://schemas.openxmlformats.org/officeDocument/2006/relationships/slide" Target="slides/slide206.xml"/><Relationship Id="rId232" Type="http://schemas.openxmlformats.org/officeDocument/2006/relationships/slide" Target="slides/slide227.xml"/><Relationship Id="rId253" Type="http://schemas.openxmlformats.org/officeDocument/2006/relationships/slide" Target="slides/slide248.xml"/><Relationship Id="rId274" Type="http://schemas.openxmlformats.org/officeDocument/2006/relationships/slide" Target="slides/slide269.xml"/><Relationship Id="rId295" Type="http://schemas.openxmlformats.org/officeDocument/2006/relationships/slide" Target="slides/slide290.xml"/><Relationship Id="rId309" Type="http://schemas.openxmlformats.org/officeDocument/2006/relationships/font" Target="fonts/font1.fntdata"/><Relationship Id="rId27" Type="http://schemas.openxmlformats.org/officeDocument/2006/relationships/slide" Target="slides/slide22.xml"/><Relationship Id="rId48" Type="http://schemas.openxmlformats.org/officeDocument/2006/relationships/slide" Target="slides/slide43.xml"/><Relationship Id="rId69" Type="http://schemas.openxmlformats.org/officeDocument/2006/relationships/slide" Target="slides/slide64.xml"/><Relationship Id="rId113" Type="http://schemas.openxmlformats.org/officeDocument/2006/relationships/slide" Target="slides/slide108.xml"/><Relationship Id="rId134" Type="http://schemas.openxmlformats.org/officeDocument/2006/relationships/slide" Target="slides/slide129.xml"/><Relationship Id="rId320" Type="http://schemas.openxmlformats.org/officeDocument/2006/relationships/tableStyles" Target="tableStyles.xml"/><Relationship Id="rId80" Type="http://schemas.openxmlformats.org/officeDocument/2006/relationships/slide" Target="slides/slide75.xml"/><Relationship Id="rId155" Type="http://schemas.openxmlformats.org/officeDocument/2006/relationships/slide" Target="slides/slide150.xml"/><Relationship Id="rId176" Type="http://schemas.openxmlformats.org/officeDocument/2006/relationships/slide" Target="slides/slide171.xml"/><Relationship Id="rId197" Type="http://schemas.openxmlformats.org/officeDocument/2006/relationships/slide" Target="slides/slide192.xml"/><Relationship Id="rId201" Type="http://schemas.openxmlformats.org/officeDocument/2006/relationships/slide" Target="slides/slide196.xml"/><Relationship Id="rId222" Type="http://schemas.openxmlformats.org/officeDocument/2006/relationships/slide" Target="slides/slide217.xml"/><Relationship Id="rId243" Type="http://schemas.openxmlformats.org/officeDocument/2006/relationships/slide" Target="slides/slide238.xml"/><Relationship Id="rId264" Type="http://schemas.openxmlformats.org/officeDocument/2006/relationships/slide" Target="slides/slide259.xml"/><Relationship Id="rId285" Type="http://schemas.openxmlformats.org/officeDocument/2006/relationships/slide" Target="slides/slide280.xml"/><Relationship Id="rId17" Type="http://schemas.openxmlformats.org/officeDocument/2006/relationships/slide" Target="slides/slide12.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24" Type="http://schemas.openxmlformats.org/officeDocument/2006/relationships/slide" Target="slides/slide119.xml"/><Relationship Id="rId310" Type="http://schemas.openxmlformats.org/officeDocument/2006/relationships/font" Target="fonts/font2.fntdata"/><Relationship Id="rId70" Type="http://schemas.openxmlformats.org/officeDocument/2006/relationships/slide" Target="slides/slide65.xml"/><Relationship Id="rId91" Type="http://schemas.openxmlformats.org/officeDocument/2006/relationships/slide" Target="slides/slide86.xml"/><Relationship Id="rId145" Type="http://schemas.openxmlformats.org/officeDocument/2006/relationships/slide" Target="slides/slide140.xml"/><Relationship Id="rId166" Type="http://schemas.openxmlformats.org/officeDocument/2006/relationships/slide" Target="slides/slide161.xml"/><Relationship Id="rId187" Type="http://schemas.openxmlformats.org/officeDocument/2006/relationships/slide" Target="slides/slide182.xml"/><Relationship Id="rId1" Type="http://schemas.openxmlformats.org/officeDocument/2006/relationships/customXml" Target="../customXml/item1.xml"/><Relationship Id="rId212" Type="http://schemas.openxmlformats.org/officeDocument/2006/relationships/slide" Target="slides/slide207.xml"/><Relationship Id="rId233" Type="http://schemas.openxmlformats.org/officeDocument/2006/relationships/slide" Target="slides/slide228.xml"/><Relationship Id="rId254" Type="http://schemas.openxmlformats.org/officeDocument/2006/relationships/slide" Target="slides/slide249.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275" Type="http://schemas.openxmlformats.org/officeDocument/2006/relationships/slide" Target="slides/slide270.xml"/><Relationship Id="rId296" Type="http://schemas.openxmlformats.org/officeDocument/2006/relationships/slide" Target="slides/slide291.xml"/><Relationship Id="rId300" Type="http://schemas.openxmlformats.org/officeDocument/2006/relationships/slide" Target="slides/slide295.xml"/><Relationship Id="rId60" Type="http://schemas.openxmlformats.org/officeDocument/2006/relationships/slide" Target="slides/slide55.xml"/><Relationship Id="rId81" Type="http://schemas.openxmlformats.org/officeDocument/2006/relationships/slide" Target="slides/slide76.xml"/><Relationship Id="rId135" Type="http://schemas.openxmlformats.org/officeDocument/2006/relationships/slide" Target="slides/slide130.xml"/><Relationship Id="rId156" Type="http://schemas.openxmlformats.org/officeDocument/2006/relationships/slide" Target="slides/slide151.xml"/><Relationship Id="rId177" Type="http://schemas.openxmlformats.org/officeDocument/2006/relationships/slide" Target="slides/slide172.xml"/><Relationship Id="rId198" Type="http://schemas.openxmlformats.org/officeDocument/2006/relationships/slide" Target="slides/slide193.xml"/><Relationship Id="rId321" Type="http://schemas.microsoft.com/office/2016/11/relationships/changesInfo" Target="changesInfos/changesInfo1.xml"/><Relationship Id="rId202" Type="http://schemas.openxmlformats.org/officeDocument/2006/relationships/slide" Target="slides/slide197.xml"/><Relationship Id="rId223" Type="http://schemas.openxmlformats.org/officeDocument/2006/relationships/slide" Target="slides/slide218.xml"/><Relationship Id="rId244" Type="http://schemas.openxmlformats.org/officeDocument/2006/relationships/slide" Target="slides/slide239.xml"/><Relationship Id="rId18" Type="http://schemas.openxmlformats.org/officeDocument/2006/relationships/slide" Target="slides/slide13.xml"/><Relationship Id="rId39" Type="http://schemas.openxmlformats.org/officeDocument/2006/relationships/slide" Target="slides/slide34.xml"/><Relationship Id="rId265" Type="http://schemas.openxmlformats.org/officeDocument/2006/relationships/slide" Target="slides/slide260.xml"/><Relationship Id="rId286" Type="http://schemas.openxmlformats.org/officeDocument/2006/relationships/slide" Target="slides/slide281.xml"/><Relationship Id="rId50" Type="http://schemas.openxmlformats.org/officeDocument/2006/relationships/slide" Target="slides/slide45.xml"/><Relationship Id="rId104" Type="http://schemas.openxmlformats.org/officeDocument/2006/relationships/slide" Target="slides/slide99.xml"/><Relationship Id="rId125" Type="http://schemas.openxmlformats.org/officeDocument/2006/relationships/slide" Target="slides/slide120.xml"/><Relationship Id="rId146" Type="http://schemas.openxmlformats.org/officeDocument/2006/relationships/slide" Target="slides/slide141.xml"/><Relationship Id="rId167" Type="http://schemas.openxmlformats.org/officeDocument/2006/relationships/slide" Target="slides/slide162.xml"/><Relationship Id="rId188" Type="http://schemas.openxmlformats.org/officeDocument/2006/relationships/slide" Target="slides/slide183.xml"/><Relationship Id="rId311" Type="http://schemas.openxmlformats.org/officeDocument/2006/relationships/font" Target="fonts/font3.fntdata"/><Relationship Id="rId71" Type="http://schemas.openxmlformats.org/officeDocument/2006/relationships/slide" Target="slides/slide66.xml"/><Relationship Id="rId92" Type="http://schemas.openxmlformats.org/officeDocument/2006/relationships/slide" Target="slides/slide87.xml"/><Relationship Id="rId213" Type="http://schemas.openxmlformats.org/officeDocument/2006/relationships/slide" Target="slides/slide208.xml"/><Relationship Id="rId234" Type="http://schemas.openxmlformats.org/officeDocument/2006/relationships/slide" Target="slides/slide229.xml"/><Relationship Id="rId2" Type="http://schemas.openxmlformats.org/officeDocument/2006/relationships/customXml" Target="../customXml/item2.xml"/><Relationship Id="rId29" Type="http://schemas.openxmlformats.org/officeDocument/2006/relationships/slide" Target="slides/slide24.xml"/><Relationship Id="rId255" Type="http://schemas.openxmlformats.org/officeDocument/2006/relationships/slide" Target="slides/slide250.xml"/><Relationship Id="rId276" Type="http://schemas.openxmlformats.org/officeDocument/2006/relationships/slide" Target="slides/slide271.xml"/><Relationship Id="rId297" Type="http://schemas.openxmlformats.org/officeDocument/2006/relationships/slide" Target="slides/slide292.xml"/><Relationship Id="rId40" Type="http://schemas.openxmlformats.org/officeDocument/2006/relationships/slide" Target="slides/slide35.xml"/><Relationship Id="rId115" Type="http://schemas.openxmlformats.org/officeDocument/2006/relationships/slide" Target="slides/slide110.xml"/><Relationship Id="rId136" Type="http://schemas.openxmlformats.org/officeDocument/2006/relationships/slide" Target="slides/slide131.xml"/><Relationship Id="rId157" Type="http://schemas.openxmlformats.org/officeDocument/2006/relationships/slide" Target="slides/slide152.xml"/><Relationship Id="rId178" Type="http://schemas.openxmlformats.org/officeDocument/2006/relationships/slide" Target="slides/slide173.xml"/><Relationship Id="rId301" Type="http://schemas.openxmlformats.org/officeDocument/2006/relationships/slide" Target="slides/slide296.xml"/><Relationship Id="rId322" Type="http://schemas.microsoft.com/office/2015/10/relationships/revisionInfo" Target="revisionInfo.xml"/><Relationship Id="rId61" Type="http://schemas.openxmlformats.org/officeDocument/2006/relationships/slide" Target="slides/slide56.xml"/><Relationship Id="rId82" Type="http://schemas.openxmlformats.org/officeDocument/2006/relationships/slide" Target="slides/slide77.xml"/><Relationship Id="rId199" Type="http://schemas.openxmlformats.org/officeDocument/2006/relationships/slide" Target="slides/slide194.xml"/><Relationship Id="rId203" Type="http://schemas.openxmlformats.org/officeDocument/2006/relationships/slide" Target="slides/slide198.xml"/><Relationship Id="rId19" Type="http://schemas.openxmlformats.org/officeDocument/2006/relationships/slide" Target="slides/slide14.xml"/><Relationship Id="rId224" Type="http://schemas.openxmlformats.org/officeDocument/2006/relationships/slide" Target="slides/slide219.xml"/><Relationship Id="rId245" Type="http://schemas.openxmlformats.org/officeDocument/2006/relationships/slide" Target="slides/slide240.xml"/><Relationship Id="rId266" Type="http://schemas.openxmlformats.org/officeDocument/2006/relationships/slide" Target="slides/slide261.xml"/><Relationship Id="rId287" Type="http://schemas.openxmlformats.org/officeDocument/2006/relationships/slide" Target="slides/slide282.xml"/><Relationship Id="rId30" Type="http://schemas.openxmlformats.org/officeDocument/2006/relationships/slide" Target="slides/slide2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168" Type="http://schemas.openxmlformats.org/officeDocument/2006/relationships/slide" Target="slides/slide163.xml"/><Relationship Id="rId312" Type="http://schemas.openxmlformats.org/officeDocument/2006/relationships/font" Target="fonts/font4.fntdata"/><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189" Type="http://schemas.openxmlformats.org/officeDocument/2006/relationships/slide" Target="slides/slide184.xml"/><Relationship Id="rId3" Type="http://schemas.openxmlformats.org/officeDocument/2006/relationships/customXml" Target="../customXml/item3.xml"/><Relationship Id="rId214" Type="http://schemas.openxmlformats.org/officeDocument/2006/relationships/slide" Target="slides/slide209.xml"/><Relationship Id="rId235" Type="http://schemas.openxmlformats.org/officeDocument/2006/relationships/slide" Target="slides/slide230.xml"/><Relationship Id="rId256" Type="http://schemas.openxmlformats.org/officeDocument/2006/relationships/slide" Target="slides/slide251.xml"/><Relationship Id="rId277" Type="http://schemas.openxmlformats.org/officeDocument/2006/relationships/slide" Target="slides/slide272.xml"/><Relationship Id="rId298" Type="http://schemas.openxmlformats.org/officeDocument/2006/relationships/slide" Target="slides/slide293.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 Id="rId302" Type="http://schemas.openxmlformats.org/officeDocument/2006/relationships/slide" Target="slides/slide297.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179" Type="http://schemas.openxmlformats.org/officeDocument/2006/relationships/slide" Target="slides/slide174.xml"/><Relationship Id="rId190" Type="http://schemas.openxmlformats.org/officeDocument/2006/relationships/slide" Target="slides/slide185.xml"/><Relationship Id="rId204" Type="http://schemas.openxmlformats.org/officeDocument/2006/relationships/slide" Target="slides/slide199.xml"/><Relationship Id="rId225" Type="http://schemas.openxmlformats.org/officeDocument/2006/relationships/slide" Target="slides/slide220.xml"/><Relationship Id="rId246" Type="http://schemas.openxmlformats.org/officeDocument/2006/relationships/slide" Target="slides/slide241.xml"/><Relationship Id="rId267" Type="http://schemas.openxmlformats.org/officeDocument/2006/relationships/slide" Target="slides/slide262.xml"/><Relationship Id="rId288" Type="http://schemas.openxmlformats.org/officeDocument/2006/relationships/slide" Target="slides/slide283.xml"/><Relationship Id="rId106" Type="http://schemas.openxmlformats.org/officeDocument/2006/relationships/slide" Target="slides/slide101.xml"/><Relationship Id="rId127" Type="http://schemas.openxmlformats.org/officeDocument/2006/relationships/slide" Target="slides/slide122.xml"/><Relationship Id="rId313" Type="http://schemas.openxmlformats.org/officeDocument/2006/relationships/font" Target="fonts/font5.fntdata"/><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94" Type="http://schemas.openxmlformats.org/officeDocument/2006/relationships/slide" Target="slides/slide89.xml"/><Relationship Id="rId148" Type="http://schemas.openxmlformats.org/officeDocument/2006/relationships/slide" Target="slides/slide143.xml"/><Relationship Id="rId169" Type="http://schemas.openxmlformats.org/officeDocument/2006/relationships/slide" Target="slides/slide164.xml"/><Relationship Id="rId4" Type="http://schemas.openxmlformats.org/officeDocument/2006/relationships/slideMaster" Target="slideMasters/slideMaster1.xml"/><Relationship Id="rId180" Type="http://schemas.openxmlformats.org/officeDocument/2006/relationships/slide" Target="slides/slide175.xml"/><Relationship Id="rId215" Type="http://schemas.openxmlformats.org/officeDocument/2006/relationships/slide" Target="slides/slide210.xml"/><Relationship Id="rId236" Type="http://schemas.openxmlformats.org/officeDocument/2006/relationships/slide" Target="slides/slide231.xml"/><Relationship Id="rId257" Type="http://schemas.openxmlformats.org/officeDocument/2006/relationships/slide" Target="slides/slide252.xml"/><Relationship Id="rId278" Type="http://schemas.openxmlformats.org/officeDocument/2006/relationships/slide" Target="slides/slide273.xml"/><Relationship Id="rId303" Type="http://schemas.openxmlformats.org/officeDocument/2006/relationships/slide" Target="slides/slide298.xml"/><Relationship Id="rId42" Type="http://schemas.openxmlformats.org/officeDocument/2006/relationships/slide" Target="slides/slide37.xml"/><Relationship Id="rId84" Type="http://schemas.openxmlformats.org/officeDocument/2006/relationships/slide" Target="slides/slide79.xml"/><Relationship Id="rId138" Type="http://schemas.openxmlformats.org/officeDocument/2006/relationships/slide" Target="slides/slide133.xml"/><Relationship Id="rId191" Type="http://schemas.openxmlformats.org/officeDocument/2006/relationships/slide" Target="slides/slide186.xml"/><Relationship Id="rId205" Type="http://schemas.openxmlformats.org/officeDocument/2006/relationships/slide" Target="slides/slide200.xml"/><Relationship Id="rId247" Type="http://schemas.openxmlformats.org/officeDocument/2006/relationships/slide" Target="slides/slide242.xml"/><Relationship Id="rId107" Type="http://schemas.openxmlformats.org/officeDocument/2006/relationships/slide" Target="slides/slide102.xml"/><Relationship Id="rId289" Type="http://schemas.openxmlformats.org/officeDocument/2006/relationships/slide" Target="slides/slide284.xml"/><Relationship Id="rId11" Type="http://schemas.openxmlformats.org/officeDocument/2006/relationships/slide" Target="slides/slide6.xml"/><Relationship Id="rId53" Type="http://schemas.openxmlformats.org/officeDocument/2006/relationships/slide" Target="slides/slide48.xml"/><Relationship Id="rId149" Type="http://schemas.openxmlformats.org/officeDocument/2006/relationships/slide" Target="slides/slide144.xml"/><Relationship Id="rId314" Type="http://schemas.openxmlformats.org/officeDocument/2006/relationships/font" Target="fonts/font6.fntdata"/><Relationship Id="rId95" Type="http://schemas.openxmlformats.org/officeDocument/2006/relationships/slide" Target="slides/slide90.xml"/><Relationship Id="rId160" Type="http://schemas.openxmlformats.org/officeDocument/2006/relationships/slide" Target="slides/slide155.xml"/><Relationship Id="rId216" Type="http://schemas.openxmlformats.org/officeDocument/2006/relationships/slide" Target="slides/slide211.xml"/><Relationship Id="rId258" Type="http://schemas.openxmlformats.org/officeDocument/2006/relationships/slide" Target="slides/slide253.xml"/><Relationship Id="rId22" Type="http://schemas.openxmlformats.org/officeDocument/2006/relationships/slide" Target="slides/slide17.xml"/><Relationship Id="rId64" Type="http://schemas.openxmlformats.org/officeDocument/2006/relationships/slide" Target="slides/slide59.xml"/><Relationship Id="rId118" Type="http://schemas.openxmlformats.org/officeDocument/2006/relationships/slide" Target="slides/slide113.xml"/><Relationship Id="rId171" Type="http://schemas.openxmlformats.org/officeDocument/2006/relationships/slide" Target="slides/slide166.xml"/><Relationship Id="rId227" Type="http://schemas.openxmlformats.org/officeDocument/2006/relationships/slide" Target="slides/slide222.xml"/><Relationship Id="rId269" Type="http://schemas.openxmlformats.org/officeDocument/2006/relationships/slide" Target="slides/slide264.xml"/><Relationship Id="rId33" Type="http://schemas.openxmlformats.org/officeDocument/2006/relationships/slide" Target="slides/slide28.xml"/><Relationship Id="rId129" Type="http://schemas.openxmlformats.org/officeDocument/2006/relationships/slide" Target="slides/slide124.xml"/><Relationship Id="rId280" Type="http://schemas.openxmlformats.org/officeDocument/2006/relationships/slide" Target="slides/slide275.xml"/><Relationship Id="rId75" Type="http://schemas.openxmlformats.org/officeDocument/2006/relationships/slide" Target="slides/slide70.xml"/><Relationship Id="rId140" Type="http://schemas.openxmlformats.org/officeDocument/2006/relationships/slide" Target="slides/slide135.xml"/><Relationship Id="rId182" Type="http://schemas.openxmlformats.org/officeDocument/2006/relationships/slide" Target="slides/slide177.xml"/><Relationship Id="rId6" Type="http://schemas.openxmlformats.org/officeDocument/2006/relationships/slide" Target="slides/slide1.xml"/><Relationship Id="rId238" Type="http://schemas.openxmlformats.org/officeDocument/2006/relationships/slide" Target="slides/slide233.xml"/><Relationship Id="rId291" Type="http://schemas.openxmlformats.org/officeDocument/2006/relationships/slide" Target="slides/slide286.xml"/><Relationship Id="rId305" Type="http://schemas.openxmlformats.org/officeDocument/2006/relationships/slide" Target="slides/slide300.xml"/><Relationship Id="rId44" Type="http://schemas.openxmlformats.org/officeDocument/2006/relationships/slide" Target="slides/slide39.xml"/><Relationship Id="rId86" Type="http://schemas.openxmlformats.org/officeDocument/2006/relationships/slide" Target="slides/slide81.xml"/><Relationship Id="rId151" Type="http://schemas.openxmlformats.org/officeDocument/2006/relationships/slide" Target="slides/slide146.xml"/><Relationship Id="rId193" Type="http://schemas.openxmlformats.org/officeDocument/2006/relationships/slide" Target="slides/slide188.xml"/><Relationship Id="rId207" Type="http://schemas.openxmlformats.org/officeDocument/2006/relationships/slide" Target="slides/slide202.xml"/><Relationship Id="rId249" Type="http://schemas.openxmlformats.org/officeDocument/2006/relationships/slide" Target="slides/slide244.xml"/><Relationship Id="rId13" Type="http://schemas.openxmlformats.org/officeDocument/2006/relationships/slide" Target="slides/slide8.xml"/><Relationship Id="rId109" Type="http://schemas.openxmlformats.org/officeDocument/2006/relationships/slide" Target="slides/slide104.xml"/><Relationship Id="rId260" Type="http://schemas.openxmlformats.org/officeDocument/2006/relationships/slide" Target="slides/slide255.xml"/><Relationship Id="rId316" Type="http://schemas.openxmlformats.org/officeDocument/2006/relationships/font" Target="fonts/font8.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ễn Anh Thư" userId="S::2421003964@sv.ufm.edu.vn::3210d2d4-739c-436b-b842-85ff1bcb5615" providerId="AD" clId="Web-{0997B080-F47F-4D0F-3070-00DC9DFE0A5E}"/>
    <pc:docChg chg="modSld">
      <pc:chgData name="Nguyễn Anh Thư" userId="S::2421003964@sv.ufm.edu.vn::3210d2d4-739c-436b-b842-85ff1bcb5615" providerId="AD" clId="Web-{0997B080-F47F-4D0F-3070-00DC9DFE0A5E}" dt="2026-10-03T15:03:56.109" v="1"/>
      <pc:docMkLst>
        <pc:docMk/>
      </pc:docMkLst>
      <pc:sldChg chg="modSp">
        <pc:chgData name="Nguyễn Anh Thư" userId="S::2421003964@sv.ufm.edu.vn::3210d2d4-739c-436b-b842-85ff1bcb5615" providerId="AD" clId="Web-{0997B080-F47F-4D0F-3070-00DC9DFE0A5E}" dt="2026-10-03T15:03:56.109" v="1"/>
        <pc:sldMkLst>
          <pc:docMk/>
          <pc:sldMk cId="2279474259" sldId="1695"/>
        </pc:sldMkLst>
        <pc:graphicFrameChg chg="mod modGraphic">
          <ac:chgData name="Nguyễn Anh Thư" userId="S::2421003964@sv.ufm.edu.vn::3210d2d4-739c-436b-b842-85ff1bcb5615" providerId="AD" clId="Web-{0997B080-F47F-4D0F-3070-00DC9DFE0A5E}" dt="2026-10-03T15:03:56.109" v="1"/>
          <ac:graphicFrameMkLst>
            <pc:docMk/>
            <pc:sldMk cId="2279474259" sldId="1695"/>
            <ac:graphicFrameMk id="6" creationId="{3062AC22-09F5-EB4D-A7F7-069F41345DC5}"/>
          </ac:graphicFrameMkLst>
        </pc:graphicFrameChg>
      </pc:sldChg>
    </pc:docChg>
  </pc:docChgLst>
  <pc:docChgLst>
    <pc:chgData name="Dương Mỹ Thư" userId="S::2421003956@sv.ufm.edu.vn::dd63e943-77ce-4676-aebe-7b85b8418b90" providerId="AD" clId="Web-{5B23A19A-C1FF-2311-099C-BB9FF903BE99}"/>
    <pc:docChg chg="modSld">
      <pc:chgData name="Dương Mỹ Thư" userId="S::2421003956@sv.ufm.edu.vn::dd63e943-77ce-4676-aebe-7b85b8418b90" providerId="AD" clId="Web-{5B23A19A-C1FF-2311-099C-BB9FF903BE99}" dt="2026-09-25T04:16:40.896" v="2" actId="20577"/>
      <pc:docMkLst>
        <pc:docMk/>
      </pc:docMkLst>
      <pc:sldChg chg="modSp">
        <pc:chgData name="Dương Mỹ Thư" userId="S::2421003956@sv.ufm.edu.vn::dd63e943-77ce-4676-aebe-7b85b8418b90" providerId="AD" clId="Web-{5B23A19A-C1FF-2311-099C-BB9FF903BE99}" dt="2026-09-25T04:16:40.896" v="2" actId="20577"/>
        <pc:sldMkLst>
          <pc:docMk/>
          <pc:sldMk cId="0" sldId="542"/>
        </pc:sldMkLst>
        <pc:spChg chg="mod">
          <ac:chgData name="Dương Mỹ Thư" userId="S::2421003956@sv.ufm.edu.vn::dd63e943-77ce-4676-aebe-7b85b8418b90" providerId="AD" clId="Web-{5B23A19A-C1FF-2311-099C-BB9FF903BE99}" dt="2026-09-25T04:16:40.896" v="2" actId="20577"/>
          <ac:spMkLst>
            <pc:docMk/>
            <pc:sldMk cId="0" sldId="542"/>
            <ac:spMk id="2040" creationId="{00000000-0000-0000-0000-000000000000}"/>
          </ac:spMkLst>
        </pc:spChg>
      </pc:sldChg>
    </pc:docChg>
  </pc:docChgLst>
  <pc:docChgLst>
    <pc:chgData name="Dương Mỹ Thư" userId="S::2421003956@sv.ufm.edu.vn::dd63e943-77ce-4676-aebe-7b85b8418b90" providerId="AD" clId="Web-{67303711-366C-8E3E-7542-D969B22A4C13}"/>
    <pc:docChg chg="modSld">
      <pc:chgData name="Dương Mỹ Thư" userId="S::2421003956@sv.ufm.edu.vn::dd63e943-77ce-4676-aebe-7b85b8418b90" providerId="AD" clId="Web-{67303711-366C-8E3E-7542-D969B22A4C13}" dt="2026-10-04T08:36:47.461" v="1" actId="1076"/>
      <pc:docMkLst>
        <pc:docMk/>
      </pc:docMkLst>
      <pc:sldChg chg="modSp">
        <pc:chgData name="Dương Mỹ Thư" userId="S::2421003956@sv.ufm.edu.vn::dd63e943-77ce-4676-aebe-7b85b8418b90" providerId="AD" clId="Web-{67303711-366C-8E3E-7542-D969B22A4C13}" dt="2026-10-04T08:36:47.461" v="1" actId="1076"/>
        <pc:sldMkLst>
          <pc:docMk/>
          <pc:sldMk cId="0" sldId="542"/>
        </pc:sldMkLst>
        <pc:grpChg chg="mod">
          <ac:chgData name="Dương Mỹ Thư" userId="S::2421003956@sv.ufm.edu.vn::dd63e943-77ce-4676-aebe-7b85b8418b90" providerId="AD" clId="Web-{67303711-366C-8E3E-7542-D969B22A4C13}" dt="2026-10-04T08:36:47.461" v="1" actId="1076"/>
          <ac:grpSpMkLst>
            <pc:docMk/>
            <pc:sldMk cId="0" sldId="542"/>
            <ac:grpSpMk id="2041" creationId="{00000000-0000-0000-0000-000000000000}"/>
          </ac:grpSpMkLst>
        </pc:gr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E9DF47-57EB-4F95-B8A4-7ED334C5A3A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US"/>
        </a:p>
      </dgm:t>
    </dgm:pt>
    <dgm:pt modelId="{3F17EA15-3FA5-4C66-BECB-B1D027C40239}">
      <dgm:prSet/>
      <dgm:spPr/>
      <dgm:t>
        <a:bodyPr/>
        <a:lstStyle/>
        <a:p>
          <a:r>
            <a:rPr lang="en-US" b="0" i="0"/>
            <a:t>Nhu cầu có thể được khơi dậy bởi 4 kích thích riêng biệt: </a:t>
          </a:r>
          <a:endParaRPr lang="en-US"/>
        </a:p>
      </dgm:t>
    </dgm:pt>
    <dgm:pt modelId="{9C2063C3-706A-430F-90F7-5D006A3B5F0B}" type="parTrans" cxnId="{3068DDC4-7E34-4D3F-B207-48CC7874FFCA}">
      <dgm:prSet/>
      <dgm:spPr/>
      <dgm:t>
        <a:bodyPr/>
        <a:lstStyle/>
        <a:p>
          <a:endParaRPr lang="en-US"/>
        </a:p>
      </dgm:t>
    </dgm:pt>
    <dgm:pt modelId="{991E21AB-60BE-4BCD-95E9-E1184F770168}" type="sibTrans" cxnId="{3068DDC4-7E34-4D3F-B207-48CC7874FFCA}">
      <dgm:prSet/>
      <dgm:spPr/>
      <dgm:t>
        <a:bodyPr/>
        <a:lstStyle/>
        <a:p>
          <a:endParaRPr lang="en-US"/>
        </a:p>
      </dgm:t>
    </dgm:pt>
    <dgm:pt modelId="{D1E3864C-44E1-4A9F-AC6F-48F63A950CBE}">
      <dgm:prSet custT="1"/>
      <dgm:spPr/>
      <dgm:t>
        <a:bodyPr/>
        <a:lstStyle/>
        <a:p>
          <a:r>
            <a:rPr lang="en-US" sz="2800" b="0" i="0" err="1"/>
            <a:t>sinh</a:t>
          </a:r>
          <a:r>
            <a:rPr lang="en-US" sz="2800" b="0" i="0"/>
            <a:t> </a:t>
          </a:r>
          <a:r>
            <a:rPr lang="en-US" sz="2800" b="0" i="0" err="1"/>
            <a:t>lý</a:t>
          </a:r>
          <a:r>
            <a:rPr lang="en-US" sz="2800" b="0" i="0"/>
            <a:t> </a:t>
          </a:r>
          <a:r>
            <a:rPr lang="en-US" sz="2800" b="0" i="0" err="1"/>
            <a:t>học</a:t>
          </a:r>
          <a:endParaRPr lang="en-US" sz="2800"/>
        </a:p>
      </dgm:t>
    </dgm:pt>
    <dgm:pt modelId="{D56C6965-8626-4A4D-A821-82BEAA0E2629}" type="parTrans" cxnId="{2DE78AD7-DF44-41A2-BDCF-4ECA0AEC2FC2}">
      <dgm:prSet/>
      <dgm:spPr/>
      <dgm:t>
        <a:bodyPr/>
        <a:lstStyle/>
        <a:p>
          <a:endParaRPr lang="en-US"/>
        </a:p>
      </dgm:t>
    </dgm:pt>
    <dgm:pt modelId="{247F8F5B-9BF7-4D32-9376-D3776DC28072}" type="sibTrans" cxnId="{2DE78AD7-DF44-41A2-BDCF-4ECA0AEC2FC2}">
      <dgm:prSet/>
      <dgm:spPr/>
      <dgm:t>
        <a:bodyPr/>
        <a:lstStyle/>
        <a:p>
          <a:endParaRPr lang="en-US"/>
        </a:p>
      </dgm:t>
    </dgm:pt>
    <dgm:pt modelId="{C2F804EF-EAC0-4DD7-8221-B1FCC3E44294}">
      <dgm:prSet custT="1"/>
      <dgm:spPr/>
      <dgm:t>
        <a:bodyPr/>
        <a:lstStyle/>
        <a:p>
          <a:r>
            <a:rPr lang="en-US" sz="2800" b="0" i="0" err="1"/>
            <a:t>nhận</a:t>
          </a:r>
          <a:r>
            <a:rPr lang="en-US" sz="2800" b="0" i="0"/>
            <a:t> </a:t>
          </a:r>
          <a:r>
            <a:rPr lang="en-US" sz="2800" b="0" i="0" err="1"/>
            <a:t>thức</a:t>
          </a:r>
          <a:r>
            <a:rPr lang="en-US" sz="2800" b="0" i="0"/>
            <a:t> </a:t>
          </a:r>
          <a:endParaRPr lang="en-US" sz="2800"/>
        </a:p>
      </dgm:t>
    </dgm:pt>
    <dgm:pt modelId="{3466FF70-A7EA-42E8-8E1F-3F6FDD68AA7E}" type="parTrans" cxnId="{C0D4102D-7360-44E7-AD59-82134C98F492}">
      <dgm:prSet/>
      <dgm:spPr/>
      <dgm:t>
        <a:bodyPr/>
        <a:lstStyle/>
        <a:p>
          <a:endParaRPr lang="en-US"/>
        </a:p>
      </dgm:t>
    </dgm:pt>
    <dgm:pt modelId="{62B5F38A-A90C-4DD3-B1FB-FF0001FF096C}" type="sibTrans" cxnId="{C0D4102D-7360-44E7-AD59-82134C98F492}">
      <dgm:prSet/>
      <dgm:spPr/>
      <dgm:t>
        <a:bodyPr/>
        <a:lstStyle/>
        <a:p>
          <a:endParaRPr lang="en-US"/>
        </a:p>
      </dgm:t>
    </dgm:pt>
    <dgm:pt modelId="{FB24C18E-0DD3-4A61-972C-600E269BAAE1}">
      <dgm:prSet custT="1"/>
      <dgm:spPr/>
      <dgm:t>
        <a:bodyPr/>
        <a:lstStyle/>
        <a:p>
          <a:r>
            <a:rPr lang="en-US" sz="2800" b="0" i="0" err="1"/>
            <a:t>môi</a:t>
          </a:r>
          <a:r>
            <a:rPr lang="en-US" sz="2800" b="0" i="0"/>
            <a:t> </a:t>
          </a:r>
          <a:r>
            <a:rPr lang="en-US" sz="2800" b="0" i="0" err="1"/>
            <a:t>trường</a:t>
          </a:r>
          <a:r>
            <a:rPr lang="en-US" sz="2800" b="0" i="0"/>
            <a:t> </a:t>
          </a:r>
          <a:endParaRPr lang="en-US" sz="2800"/>
        </a:p>
      </dgm:t>
    </dgm:pt>
    <dgm:pt modelId="{288707CC-EBDB-4034-BDDF-4104057E5BF9}" type="parTrans" cxnId="{5AB6E70D-08BB-445E-9811-C1D235E9BAA7}">
      <dgm:prSet/>
      <dgm:spPr/>
      <dgm:t>
        <a:bodyPr/>
        <a:lstStyle/>
        <a:p>
          <a:endParaRPr lang="en-US"/>
        </a:p>
      </dgm:t>
    </dgm:pt>
    <dgm:pt modelId="{65BC0DF9-7785-4D25-B44F-AC08B601188F}" type="sibTrans" cxnId="{5AB6E70D-08BB-445E-9811-C1D235E9BAA7}">
      <dgm:prSet/>
      <dgm:spPr/>
      <dgm:t>
        <a:bodyPr/>
        <a:lstStyle/>
        <a:p>
          <a:endParaRPr lang="en-US"/>
        </a:p>
      </dgm:t>
    </dgm:pt>
    <dgm:pt modelId="{4BDEC773-AF76-4AF8-A943-DE01223DAEED}">
      <dgm:prSet custT="1"/>
      <dgm:spPr/>
      <dgm:t>
        <a:bodyPr/>
        <a:lstStyle/>
        <a:p>
          <a:r>
            <a:rPr lang="en-US" sz="2800" b="0" i="0" err="1"/>
            <a:t>đa</a:t>
          </a:r>
          <a:r>
            <a:rPr lang="en-US" sz="2800" b="0" i="0"/>
            <a:t> </a:t>
          </a:r>
          <a:r>
            <a:rPr lang="en-US" sz="2800" b="0" i="0" err="1"/>
            <a:t>cảm</a:t>
          </a:r>
          <a:endParaRPr lang="en-US" sz="2800"/>
        </a:p>
      </dgm:t>
    </dgm:pt>
    <dgm:pt modelId="{63C1A30A-5326-47B4-BCBA-F8DF03604C3B}" type="parTrans" cxnId="{5F488614-7B90-4787-BB63-F7D1D56FDEB7}">
      <dgm:prSet/>
      <dgm:spPr/>
      <dgm:t>
        <a:bodyPr/>
        <a:lstStyle/>
        <a:p>
          <a:endParaRPr lang="en-US"/>
        </a:p>
      </dgm:t>
    </dgm:pt>
    <dgm:pt modelId="{86A15A3A-B540-41B3-B486-2C76D9E6B4CF}" type="sibTrans" cxnId="{5F488614-7B90-4787-BB63-F7D1D56FDEB7}">
      <dgm:prSet/>
      <dgm:spPr/>
      <dgm:t>
        <a:bodyPr/>
        <a:lstStyle/>
        <a:p>
          <a:endParaRPr lang="en-US"/>
        </a:p>
      </dgm:t>
    </dgm:pt>
    <dgm:pt modelId="{7CC75777-30B5-45D4-8E1D-A6CFE15111C3}" type="pres">
      <dgm:prSet presAssocID="{B7E9DF47-57EB-4F95-B8A4-7ED334C5A3A8}" presName="linear" presStyleCnt="0">
        <dgm:presLayoutVars>
          <dgm:animLvl val="lvl"/>
          <dgm:resizeHandles val="exact"/>
        </dgm:presLayoutVars>
      </dgm:prSet>
      <dgm:spPr/>
    </dgm:pt>
    <dgm:pt modelId="{3AD72BB5-7412-4255-9C47-D0FD2B2533A4}" type="pres">
      <dgm:prSet presAssocID="{3F17EA15-3FA5-4C66-BECB-B1D027C40239}" presName="parentText" presStyleLbl="node1" presStyleIdx="0" presStyleCnt="1" custScaleY="44039" custLinFactNeighborX="1087" custLinFactNeighborY="-33465">
        <dgm:presLayoutVars>
          <dgm:chMax val="0"/>
          <dgm:bulletEnabled val="1"/>
        </dgm:presLayoutVars>
      </dgm:prSet>
      <dgm:spPr/>
    </dgm:pt>
    <dgm:pt modelId="{758CC990-D552-47B0-85C2-4717A059434F}" type="pres">
      <dgm:prSet presAssocID="{3F17EA15-3FA5-4C66-BECB-B1D027C40239}" presName="childText" presStyleLbl="revTx" presStyleIdx="0" presStyleCnt="1">
        <dgm:presLayoutVars>
          <dgm:bulletEnabled val="1"/>
        </dgm:presLayoutVars>
      </dgm:prSet>
      <dgm:spPr/>
    </dgm:pt>
  </dgm:ptLst>
  <dgm:cxnLst>
    <dgm:cxn modelId="{C1A2B203-D20C-466B-B150-F55C64DFD52D}" type="presOf" srcId="{B7E9DF47-57EB-4F95-B8A4-7ED334C5A3A8}" destId="{7CC75777-30B5-45D4-8E1D-A6CFE15111C3}" srcOrd="0" destOrd="0" presId="urn:microsoft.com/office/officeart/2005/8/layout/vList2"/>
    <dgm:cxn modelId="{5AB6E70D-08BB-445E-9811-C1D235E9BAA7}" srcId="{3F17EA15-3FA5-4C66-BECB-B1D027C40239}" destId="{FB24C18E-0DD3-4A61-972C-600E269BAAE1}" srcOrd="2" destOrd="0" parTransId="{288707CC-EBDB-4034-BDDF-4104057E5BF9}" sibTransId="{65BC0DF9-7785-4D25-B44F-AC08B601188F}"/>
    <dgm:cxn modelId="{5F488614-7B90-4787-BB63-F7D1D56FDEB7}" srcId="{3F17EA15-3FA5-4C66-BECB-B1D027C40239}" destId="{4BDEC773-AF76-4AF8-A943-DE01223DAEED}" srcOrd="3" destOrd="0" parTransId="{63C1A30A-5326-47B4-BCBA-F8DF03604C3B}" sibTransId="{86A15A3A-B540-41B3-B486-2C76D9E6B4CF}"/>
    <dgm:cxn modelId="{C0D4102D-7360-44E7-AD59-82134C98F492}" srcId="{3F17EA15-3FA5-4C66-BECB-B1D027C40239}" destId="{C2F804EF-EAC0-4DD7-8221-B1FCC3E44294}" srcOrd="1" destOrd="0" parTransId="{3466FF70-A7EA-42E8-8E1F-3F6FDD68AA7E}" sibTransId="{62B5F38A-A90C-4DD3-B1FB-FF0001FF096C}"/>
    <dgm:cxn modelId="{835D653E-A107-4A17-AEB7-FB507DBE01F0}" type="presOf" srcId="{3F17EA15-3FA5-4C66-BECB-B1D027C40239}" destId="{3AD72BB5-7412-4255-9C47-D0FD2B2533A4}" srcOrd="0" destOrd="0" presId="urn:microsoft.com/office/officeart/2005/8/layout/vList2"/>
    <dgm:cxn modelId="{D73B463E-F2D0-4022-B610-404718B7CEDF}" type="presOf" srcId="{D1E3864C-44E1-4A9F-AC6F-48F63A950CBE}" destId="{758CC990-D552-47B0-85C2-4717A059434F}" srcOrd="0" destOrd="0" presId="urn:microsoft.com/office/officeart/2005/8/layout/vList2"/>
    <dgm:cxn modelId="{D7688E6E-4B99-4B17-BCB9-07E811D360AC}" type="presOf" srcId="{C2F804EF-EAC0-4DD7-8221-B1FCC3E44294}" destId="{758CC990-D552-47B0-85C2-4717A059434F}" srcOrd="0" destOrd="1" presId="urn:microsoft.com/office/officeart/2005/8/layout/vList2"/>
    <dgm:cxn modelId="{803ED38E-B288-4F2D-99CD-1482F8598732}" type="presOf" srcId="{FB24C18E-0DD3-4A61-972C-600E269BAAE1}" destId="{758CC990-D552-47B0-85C2-4717A059434F}" srcOrd="0" destOrd="2" presId="urn:microsoft.com/office/officeart/2005/8/layout/vList2"/>
    <dgm:cxn modelId="{AE145E97-41EB-4704-88F7-0F01981DAC57}" type="presOf" srcId="{4BDEC773-AF76-4AF8-A943-DE01223DAEED}" destId="{758CC990-D552-47B0-85C2-4717A059434F}" srcOrd="0" destOrd="3" presId="urn:microsoft.com/office/officeart/2005/8/layout/vList2"/>
    <dgm:cxn modelId="{3068DDC4-7E34-4D3F-B207-48CC7874FFCA}" srcId="{B7E9DF47-57EB-4F95-B8A4-7ED334C5A3A8}" destId="{3F17EA15-3FA5-4C66-BECB-B1D027C40239}" srcOrd="0" destOrd="0" parTransId="{9C2063C3-706A-430F-90F7-5D006A3B5F0B}" sibTransId="{991E21AB-60BE-4BCD-95E9-E1184F770168}"/>
    <dgm:cxn modelId="{2DE78AD7-DF44-41A2-BDCF-4ECA0AEC2FC2}" srcId="{3F17EA15-3FA5-4C66-BECB-B1D027C40239}" destId="{D1E3864C-44E1-4A9F-AC6F-48F63A950CBE}" srcOrd="0" destOrd="0" parTransId="{D56C6965-8626-4A4D-A821-82BEAA0E2629}" sibTransId="{247F8F5B-9BF7-4D32-9376-D3776DC28072}"/>
    <dgm:cxn modelId="{995B5941-22AC-4EE3-8632-B4FD57D83882}" type="presParOf" srcId="{7CC75777-30B5-45D4-8E1D-A6CFE15111C3}" destId="{3AD72BB5-7412-4255-9C47-D0FD2B2533A4}" srcOrd="0" destOrd="0" presId="urn:microsoft.com/office/officeart/2005/8/layout/vList2"/>
    <dgm:cxn modelId="{9124F907-5001-4060-9F1E-53390C41EC11}" type="presParOf" srcId="{7CC75777-30B5-45D4-8E1D-A6CFE15111C3}" destId="{758CC990-D552-47B0-85C2-4717A059434F}"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CFE095-2496-4202-9F3C-806665CD9400}" type="doc">
      <dgm:prSet loTypeId="urn:microsoft.com/office/officeart/2016/7/layout/RepeatingBendingProcessNew" loCatId="process" qsTypeId="urn:microsoft.com/office/officeart/2005/8/quickstyle/simple3" qsCatId="simple" csTypeId="urn:microsoft.com/office/officeart/2005/8/colors/colorful1" csCatId="colorful"/>
      <dgm:spPr/>
      <dgm:t>
        <a:bodyPr/>
        <a:lstStyle/>
        <a:p>
          <a:endParaRPr lang="en-US"/>
        </a:p>
      </dgm:t>
    </dgm:pt>
    <dgm:pt modelId="{8A19A1D0-ADEB-4ED2-8CA7-C9721C19E58A}">
      <dgm:prSet/>
      <dgm:spPr/>
      <dgm:t>
        <a:bodyPr/>
        <a:lstStyle/>
        <a:p>
          <a:r>
            <a:rPr lang="vi-VN"/>
            <a:t>Nhận thức vấn đề</a:t>
          </a:r>
          <a:endParaRPr lang="en-US"/>
        </a:p>
      </dgm:t>
    </dgm:pt>
    <dgm:pt modelId="{FA997FF5-C5E3-4320-B421-9978CF71E359}" type="parTrans" cxnId="{D3A82708-FE5D-4377-9C68-58F22DA997AA}">
      <dgm:prSet/>
      <dgm:spPr/>
      <dgm:t>
        <a:bodyPr/>
        <a:lstStyle/>
        <a:p>
          <a:endParaRPr lang="en-US"/>
        </a:p>
      </dgm:t>
    </dgm:pt>
    <dgm:pt modelId="{E47BD194-2999-44F1-A014-79798860ED9E}" type="sibTrans" cxnId="{D3A82708-FE5D-4377-9C68-58F22DA997AA}">
      <dgm:prSet/>
      <dgm:spPr/>
      <dgm:t>
        <a:bodyPr/>
        <a:lstStyle/>
        <a:p>
          <a:endParaRPr lang="en-US"/>
        </a:p>
      </dgm:t>
    </dgm:pt>
    <dgm:pt modelId="{F0953A51-F597-43B1-8943-8EAFEF041A43}">
      <dgm:prSet/>
      <dgm:spPr/>
      <dgm:t>
        <a:bodyPr/>
        <a:lstStyle/>
        <a:p>
          <a:r>
            <a:rPr lang="vi-VN"/>
            <a:t>Phác họa tổng quát nhu cầu</a:t>
          </a:r>
          <a:endParaRPr lang="en-US"/>
        </a:p>
      </dgm:t>
    </dgm:pt>
    <dgm:pt modelId="{73E3834E-04D2-4B33-B77F-3EA476E4CF1B}" type="parTrans" cxnId="{4EA03171-43DB-48E3-BFB0-0BC5C32347E6}">
      <dgm:prSet/>
      <dgm:spPr/>
      <dgm:t>
        <a:bodyPr/>
        <a:lstStyle/>
        <a:p>
          <a:endParaRPr lang="en-US"/>
        </a:p>
      </dgm:t>
    </dgm:pt>
    <dgm:pt modelId="{5F48CE32-82FF-40CE-8B2C-92708E2E8C70}" type="sibTrans" cxnId="{4EA03171-43DB-48E3-BFB0-0BC5C32347E6}">
      <dgm:prSet/>
      <dgm:spPr/>
      <dgm:t>
        <a:bodyPr/>
        <a:lstStyle/>
        <a:p>
          <a:endParaRPr lang="en-US"/>
        </a:p>
      </dgm:t>
    </dgm:pt>
    <dgm:pt modelId="{1B8BA649-1515-42EF-866B-11E4B96F7873}">
      <dgm:prSet/>
      <dgm:spPr/>
      <dgm:t>
        <a:bodyPr/>
        <a:lstStyle/>
        <a:p>
          <a:r>
            <a:rPr lang="vi-VN"/>
            <a:t>Xác định chi tiết kỹ thuật của sản phẩm</a:t>
          </a:r>
          <a:endParaRPr lang="en-US"/>
        </a:p>
      </dgm:t>
    </dgm:pt>
    <dgm:pt modelId="{06C7161B-8A27-40D8-B6E6-2E2E77BE8528}" type="parTrans" cxnId="{E0DD39D9-BC41-4440-89C0-B6A2128024A7}">
      <dgm:prSet/>
      <dgm:spPr/>
      <dgm:t>
        <a:bodyPr/>
        <a:lstStyle/>
        <a:p>
          <a:endParaRPr lang="en-US"/>
        </a:p>
      </dgm:t>
    </dgm:pt>
    <dgm:pt modelId="{2E1C5CDC-A99F-493B-918F-00ECB85A4FDC}" type="sibTrans" cxnId="{E0DD39D9-BC41-4440-89C0-B6A2128024A7}">
      <dgm:prSet/>
      <dgm:spPr/>
      <dgm:t>
        <a:bodyPr/>
        <a:lstStyle/>
        <a:p>
          <a:endParaRPr lang="en-US"/>
        </a:p>
      </dgm:t>
    </dgm:pt>
    <dgm:pt modelId="{45F05532-3445-4EFF-913E-339B73A7E4F5}">
      <dgm:prSet/>
      <dgm:spPr/>
      <dgm:t>
        <a:bodyPr/>
        <a:lstStyle/>
        <a:p>
          <a:r>
            <a:rPr lang="vi-VN"/>
            <a:t>Tìm kiếm nhà cung cấp</a:t>
          </a:r>
          <a:endParaRPr lang="en-US"/>
        </a:p>
      </dgm:t>
    </dgm:pt>
    <dgm:pt modelId="{EC4330EB-3D43-4E13-A655-1E4FF8008843}" type="parTrans" cxnId="{296A3D4B-D5A7-4DED-A654-5F7D0D9AA4D6}">
      <dgm:prSet/>
      <dgm:spPr/>
      <dgm:t>
        <a:bodyPr/>
        <a:lstStyle/>
        <a:p>
          <a:endParaRPr lang="en-US"/>
        </a:p>
      </dgm:t>
    </dgm:pt>
    <dgm:pt modelId="{3F502AE7-A00B-4579-9292-6AEF5B54342D}" type="sibTrans" cxnId="{296A3D4B-D5A7-4DED-A654-5F7D0D9AA4D6}">
      <dgm:prSet/>
      <dgm:spPr/>
      <dgm:t>
        <a:bodyPr/>
        <a:lstStyle/>
        <a:p>
          <a:endParaRPr lang="en-US"/>
        </a:p>
      </dgm:t>
    </dgm:pt>
    <dgm:pt modelId="{4B6C6842-B89A-47E6-8C2D-3C220C5C0174}">
      <dgm:prSet/>
      <dgm:spPr/>
      <dgm:t>
        <a:bodyPr/>
        <a:lstStyle/>
        <a:p>
          <a:r>
            <a:rPr lang="vi-VN"/>
            <a:t>Yêu cầu chào hàng</a:t>
          </a:r>
          <a:endParaRPr lang="en-US"/>
        </a:p>
      </dgm:t>
    </dgm:pt>
    <dgm:pt modelId="{EBB0DE55-A054-4AFE-BF17-FAB307CBD5B0}" type="parTrans" cxnId="{4D71AF64-E954-41D5-8FA0-C57DF168B301}">
      <dgm:prSet/>
      <dgm:spPr/>
      <dgm:t>
        <a:bodyPr/>
        <a:lstStyle/>
        <a:p>
          <a:endParaRPr lang="en-US"/>
        </a:p>
      </dgm:t>
    </dgm:pt>
    <dgm:pt modelId="{04306F7D-5EDC-4BC9-8589-44ED116B0BAE}" type="sibTrans" cxnId="{4D71AF64-E954-41D5-8FA0-C57DF168B301}">
      <dgm:prSet/>
      <dgm:spPr/>
      <dgm:t>
        <a:bodyPr/>
        <a:lstStyle/>
        <a:p>
          <a:endParaRPr lang="en-US"/>
        </a:p>
      </dgm:t>
    </dgm:pt>
    <dgm:pt modelId="{69C12010-D65F-4B9B-B322-B2BDA76165D5}">
      <dgm:prSet/>
      <dgm:spPr/>
      <dgm:t>
        <a:bodyPr/>
        <a:lstStyle/>
        <a:p>
          <a:r>
            <a:rPr lang="vi-VN"/>
            <a:t>Lựa chọn nhà cung cấp</a:t>
          </a:r>
          <a:endParaRPr lang="en-US"/>
        </a:p>
      </dgm:t>
    </dgm:pt>
    <dgm:pt modelId="{0462D8BA-883F-4B26-B1F6-70805775A356}" type="parTrans" cxnId="{9DD16C6A-8508-4092-B582-36546180B5F2}">
      <dgm:prSet/>
      <dgm:spPr/>
      <dgm:t>
        <a:bodyPr/>
        <a:lstStyle/>
        <a:p>
          <a:endParaRPr lang="en-US"/>
        </a:p>
      </dgm:t>
    </dgm:pt>
    <dgm:pt modelId="{A1DC3AD4-A9BD-4B29-B4F6-BEF55FD58027}" type="sibTrans" cxnId="{9DD16C6A-8508-4092-B582-36546180B5F2}">
      <dgm:prSet/>
      <dgm:spPr/>
      <dgm:t>
        <a:bodyPr/>
        <a:lstStyle/>
        <a:p>
          <a:endParaRPr lang="en-US"/>
        </a:p>
      </dgm:t>
    </dgm:pt>
    <dgm:pt modelId="{278BC5C4-9457-4A5F-9C1C-7DD77A0791A2}">
      <dgm:prSet/>
      <dgm:spPr/>
      <dgm:t>
        <a:bodyPr/>
        <a:lstStyle/>
        <a:p>
          <a:r>
            <a:rPr lang="vi-VN"/>
            <a:t>Tiến hành đặt hàng</a:t>
          </a:r>
          <a:endParaRPr lang="en-US"/>
        </a:p>
      </dgm:t>
    </dgm:pt>
    <dgm:pt modelId="{CE9ED3C5-018E-41E7-A479-F0224D274F59}" type="parTrans" cxnId="{23E14460-4EBD-4307-9858-C1DE489E7561}">
      <dgm:prSet/>
      <dgm:spPr/>
      <dgm:t>
        <a:bodyPr/>
        <a:lstStyle/>
        <a:p>
          <a:endParaRPr lang="en-US"/>
        </a:p>
      </dgm:t>
    </dgm:pt>
    <dgm:pt modelId="{F0195BF1-EA1B-4AC2-843C-B62B1383DEC5}" type="sibTrans" cxnId="{23E14460-4EBD-4307-9858-C1DE489E7561}">
      <dgm:prSet/>
      <dgm:spPr/>
      <dgm:t>
        <a:bodyPr/>
        <a:lstStyle/>
        <a:p>
          <a:endParaRPr lang="en-US"/>
        </a:p>
      </dgm:t>
    </dgm:pt>
    <dgm:pt modelId="{E9C86000-9FD6-466F-A682-33B29688755A}">
      <dgm:prSet/>
      <dgm:spPr/>
      <dgm:t>
        <a:bodyPr/>
        <a:lstStyle/>
        <a:p>
          <a:r>
            <a:rPr lang="vi-VN"/>
            <a:t>Đánh giá kết quả</a:t>
          </a:r>
          <a:endParaRPr lang="en-US"/>
        </a:p>
      </dgm:t>
    </dgm:pt>
    <dgm:pt modelId="{ED402500-7E4A-4B2A-BC6D-E5F2E127818E}" type="parTrans" cxnId="{D50D1FB6-694F-45CE-8132-56E73134B452}">
      <dgm:prSet/>
      <dgm:spPr/>
      <dgm:t>
        <a:bodyPr/>
        <a:lstStyle/>
        <a:p>
          <a:endParaRPr lang="en-US"/>
        </a:p>
      </dgm:t>
    </dgm:pt>
    <dgm:pt modelId="{18FBF9D9-8D91-4BA4-905A-C496365A581E}" type="sibTrans" cxnId="{D50D1FB6-694F-45CE-8132-56E73134B452}">
      <dgm:prSet/>
      <dgm:spPr/>
      <dgm:t>
        <a:bodyPr/>
        <a:lstStyle/>
        <a:p>
          <a:endParaRPr lang="en-US"/>
        </a:p>
      </dgm:t>
    </dgm:pt>
    <dgm:pt modelId="{8413A795-BCFF-43F0-9B97-248151E087D0}" type="pres">
      <dgm:prSet presAssocID="{37CFE095-2496-4202-9F3C-806665CD9400}" presName="Name0" presStyleCnt="0">
        <dgm:presLayoutVars>
          <dgm:dir/>
          <dgm:resizeHandles val="exact"/>
        </dgm:presLayoutVars>
      </dgm:prSet>
      <dgm:spPr/>
    </dgm:pt>
    <dgm:pt modelId="{DC14D23D-DE03-481A-86A4-2EA55AAB8838}" type="pres">
      <dgm:prSet presAssocID="{8A19A1D0-ADEB-4ED2-8CA7-C9721C19E58A}" presName="node" presStyleLbl="node1" presStyleIdx="0" presStyleCnt="8">
        <dgm:presLayoutVars>
          <dgm:bulletEnabled val="1"/>
        </dgm:presLayoutVars>
      </dgm:prSet>
      <dgm:spPr/>
    </dgm:pt>
    <dgm:pt modelId="{1E68C4B2-57E2-4481-B41A-1424C985D001}" type="pres">
      <dgm:prSet presAssocID="{E47BD194-2999-44F1-A014-79798860ED9E}" presName="sibTrans" presStyleLbl="sibTrans1D1" presStyleIdx="0" presStyleCnt="7"/>
      <dgm:spPr/>
    </dgm:pt>
    <dgm:pt modelId="{57DD08B3-EF96-4CC3-901B-FA28E58EDB76}" type="pres">
      <dgm:prSet presAssocID="{E47BD194-2999-44F1-A014-79798860ED9E}" presName="connectorText" presStyleLbl="sibTrans1D1" presStyleIdx="0" presStyleCnt="7"/>
      <dgm:spPr/>
    </dgm:pt>
    <dgm:pt modelId="{468E4074-2DD2-4047-96E4-27478AB57833}" type="pres">
      <dgm:prSet presAssocID="{F0953A51-F597-43B1-8943-8EAFEF041A43}" presName="node" presStyleLbl="node1" presStyleIdx="1" presStyleCnt="8">
        <dgm:presLayoutVars>
          <dgm:bulletEnabled val="1"/>
        </dgm:presLayoutVars>
      </dgm:prSet>
      <dgm:spPr/>
    </dgm:pt>
    <dgm:pt modelId="{9BCA7ACA-7E51-48BE-B3DD-7B05FD8E5685}" type="pres">
      <dgm:prSet presAssocID="{5F48CE32-82FF-40CE-8B2C-92708E2E8C70}" presName="sibTrans" presStyleLbl="sibTrans1D1" presStyleIdx="1" presStyleCnt="7"/>
      <dgm:spPr/>
    </dgm:pt>
    <dgm:pt modelId="{980C1B29-91B6-4C71-91EB-70B8FD295F4C}" type="pres">
      <dgm:prSet presAssocID="{5F48CE32-82FF-40CE-8B2C-92708E2E8C70}" presName="connectorText" presStyleLbl="sibTrans1D1" presStyleIdx="1" presStyleCnt="7"/>
      <dgm:spPr/>
    </dgm:pt>
    <dgm:pt modelId="{88D909A3-3991-49E2-9DB2-A8B134C66B07}" type="pres">
      <dgm:prSet presAssocID="{1B8BA649-1515-42EF-866B-11E4B96F7873}" presName="node" presStyleLbl="node1" presStyleIdx="2" presStyleCnt="8">
        <dgm:presLayoutVars>
          <dgm:bulletEnabled val="1"/>
        </dgm:presLayoutVars>
      </dgm:prSet>
      <dgm:spPr/>
    </dgm:pt>
    <dgm:pt modelId="{43714C07-CD06-45D7-B189-897BCF4B683A}" type="pres">
      <dgm:prSet presAssocID="{2E1C5CDC-A99F-493B-918F-00ECB85A4FDC}" presName="sibTrans" presStyleLbl="sibTrans1D1" presStyleIdx="2" presStyleCnt="7"/>
      <dgm:spPr/>
    </dgm:pt>
    <dgm:pt modelId="{54C64128-1D88-483C-8129-CC6B3B3ABF12}" type="pres">
      <dgm:prSet presAssocID="{2E1C5CDC-A99F-493B-918F-00ECB85A4FDC}" presName="connectorText" presStyleLbl="sibTrans1D1" presStyleIdx="2" presStyleCnt="7"/>
      <dgm:spPr/>
    </dgm:pt>
    <dgm:pt modelId="{B80C1173-FAA0-4C5F-A34D-0E67177123C9}" type="pres">
      <dgm:prSet presAssocID="{45F05532-3445-4EFF-913E-339B73A7E4F5}" presName="node" presStyleLbl="node1" presStyleIdx="3" presStyleCnt="8">
        <dgm:presLayoutVars>
          <dgm:bulletEnabled val="1"/>
        </dgm:presLayoutVars>
      </dgm:prSet>
      <dgm:spPr/>
    </dgm:pt>
    <dgm:pt modelId="{FAE110F2-7AE4-4EA6-AB46-6984841A7A7F}" type="pres">
      <dgm:prSet presAssocID="{3F502AE7-A00B-4579-9292-6AEF5B54342D}" presName="sibTrans" presStyleLbl="sibTrans1D1" presStyleIdx="3" presStyleCnt="7"/>
      <dgm:spPr/>
    </dgm:pt>
    <dgm:pt modelId="{716B49E1-F59B-4818-9473-9EC1AF7E5858}" type="pres">
      <dgm:prSet presAssocID="{3F502AE7-A00B-4579-9292-6AEF5B54342D}" presName="connectorText" presStyleLbl="sibTrans1D1" presStyleIdx="3" presStyleCnt="7"/>
      <dgm:spPr/>
    </dgm:pt>
    <dgm:pt modelId="{0597AA44-0091-469D-B1AC-256636C29926}" type="pres">
      <dgm:prSet presAssocID="{4B6C6842-B89A-47E6-8C2D-3C220C5C0174}" presName="node" presStyleLbl="node1" presStyleIdx="4" presStyleCnt="8">
        <dgm:presLayoutVars>
          <dgm:bulletEnabled val="1"/>
        </dgm:presLayoutVars>
      </dgm:prSet>
      <dgm:spPr/>
    </dgm:pt>
    <dgm:pt modelId="{2F6AAF28-932A-4B76-A83B-9AC72C9430A2}" type="pres">
      <dgm:prSet presAssocID="{04306F7D-5EDC-4BC9-8589-44ED116B0BAE}" presName="sibTrans" presStyleLbl="sibTrans1D1" presStyleIdx="4" presStyleCnt="7"/>
      <dgm:spPr/>
    </dgm:pt>
    <dgm:pt modelId="{76A5D1D2-2BC3-4C58-8EA0-11DDD6723B1A}" type="pres">
      <dgm:prSet presAssocID="{04306F7D-5EDC-4BC9-8589-44ED116B0BAE}" presName="connectorText" presStyleLbl="sibTrans1D1" presStyleIdx="4" presStyleCnt="7"/>
      <dgm:spPr/>
    </dgm:pt>
    <dgm:pt modelId="{AA6654B1-D4D6-49E2-B109-7CF3570B2A97}" type="pres">
      <dgm:prSet presAssocID="{69C12010-D65F-4B9B-B322-B2BDA76165D5}" presName="node" presStyleLbl="node1" presStyleIdx="5" presStyleCnt="8">
        <dgm:presLayoutVars>
          <dgm:bulletEnabled val="1"/>
        </dgm:presLayoutVars>
      </dgm:prSet>
      <dgm:spPr/>
    </dgm:pt>
    <dgm:pt modelId="{17AD1374-FD18-4F4A-9B45-C84B39D128CB}" type="pres">
      <dgm:prSet presAssocID="{A1DC3AD4-A9BD-4B29-B4F6-BEF55FD58027}" presName="sibTrans" presStyleLbl="sibTrans1D1" presStyleIdx="5" presStyleCnt="7"/>
      <dgm:spPr/>
    </dgm:pt>
    <dgm:pt modelId="{442E4E7E-B3C1-4282-A053-9C0A3416C958}" type="pres">
      <dgm:prSet presAssocID="{A1DC3AD4-A9BD-4B29-B4F6-BEF55FD58027}" presName="connectorText" presStyleLbl="sibTrans1D1" presStyleIdx="5" presStyleCnt="7"/>
      <dgm:spPr/>
    </dgm:pt>
    <dgm:pt modelId="{C808C655-167C-462B-BF94-5B5AEDA851D8}" type="pres">
      <dgm:prSet presAssocID="{278BC5C4-9457-4A5F-9C1C-7DD77A0791A2}" presName="node" presStyleLbl="node1" presStyleIdx="6" presStyleCnt="8">
        <dgm:presLayoutVars>
          <dgm:bulletEnabled val="1"/>
        </dgm:presLayoutVars>
      </dgm:prSet>
      <dgm:spPr/>
    </dgm:pt>
    <dgm:pt modelId="{E6111231-3208-4BE4-B6CE-6B0D76E010A2}" type="pres">
      <dgm:prSet presAssocID="{F0195BF1-EA1B-4AC2-843C-B62B1383DEC5}" presName="sibTrans" presStyleLbl="sibTrans1D1" presStyleIdx="6" presStyleCnt="7"/>
      <dgm:spPr/>
    </dgm:pt>
    <dgm:pt modelId="{763D4FB6-FF04-4C4D-8930-2188804A2933}" type="pres">
      <dgm:prSet presAssocID="{F0195BF1-EA1B-4AC2-843C-B62B1383DEC5}" presName="connectorText" presStyleLbl="sibTrans1D1" presStyleIdx="6" presStyleCnt="7"/>
      <dgm:spPr/>
    </dgm:pt>
    <dgm:pt modelId="{881D57DC-A65C-4D0D-B3BA-B58A5D65C9A5}" type="pres">
      <dgm:prSet presAssocID="{E9C86000-9FD6-466F-A682-33B29688755A}" presName="node" presStyleLbl="node1" presStyleIdx="7" presStyleCnt="8">
        <dgm:presLayoutVars>
          <dgm:bulletEnabled val="1"/>
        </dgm:presLayoutVars>
      </dgm:prSet>
      <dgm:spPr/>
    </dgm:pt>
  </dgm:ptLst>
  <dgm:cxnLst>
    <dgm:cxn modelId="{FD3EF103-D71D-46FF-B60A-5432704EA0C1}" type="presOf" srcId="{E47BD194-2999-44F1-A014-79798860ED9E}" destId="{57DD08B3-EF96-4CC3-901B-FA28E58EDB76}" srcOrd="1" destOrd="0" presId="urn:microsoft.com/office/officeart/2016/7/layout/RepeatingBendingProcessNew"/>
    <dgm:cxn modelId="{D3A82708-FE5D-4377-9C68-58F22DA997AA}" srcId="{37CFE095-2496-4202-9F3C-806665CD9400}" destId="{8A19A1D0-ADEB-4ED2-8CA7-C9721C19E58A}" srcOrd="0" destOrd="0" parTransId="{FA997FF5-C5E3-4320-B421-9978CF71E359}" sibTransId="{E47BD194-2999-44F1-A014-79798860ED9E}"/>
    <dgm:cxn modelId="{0AECE30E-4370-4E2F-9291-46917CCF762A}" type="presOf" srcId="{5F48CE32-82FF-40CE-8B2C-92708E2E8C70}" destId="{9BCA7ACA-7E51-48BE-B3DD-7B05FD8E5685}" srcOrd="0" destOrd="0" presId="urn:microsoft.com/office/officeart/2016/7/layout/RepeatingBendingProcessNew"/>
    <dgm:cxn modelId="{FE56E41A-64DD-41F7-882D-F0E691B13F82}" type="presOf" srcId="{5F48CE32-82FF-40CE-8B2C-92708E2E8C70}" destId="{980C1B29-91B6-4C71-91EB-70B8FD295F4C}" srcOrd="1" destOrd="0" presId="urn:microsoft.com/office/officeart/2016/7/layout/RepeatingBendingProcessNew"/>
    <dgm:cxn modelId="{C3919624-A19F-499D-A965-9D9E5323AD0B}" type="presOf" srcId="{1B8BA649-1515-42EF-866B-11E4B96F7873}" destId="{88D909A3-3991-49E2-9DB2-A8B134C66B07}" srcOrd="0" destOrd="0" presId="urn:microsoft.com/office/officeart/2016/7/layout/RepeatingBendingProcessNew"/>
    <dgm:cxn modelId="{1CE5A831-47E2-4888-8868-8350169EBBE5}" type="presOf" srcId="{E47BD194-2999-44F1-A014-79798860ED9E}" destId="{1E68C4B2-57E2-4481-B41A-1424C985D001}" srcOrd="0" destOrd="0" presId="urn:microsoft.com/office/officeart/2016/7/layout/RepeatingBendingProcessNew"/>
    <dgm:cxn modelId="{23E14460-4EBD-4307-9858-C1DE489E7561}" srcId="{37CFE095-2496-4202-9F3C-806665CD9400}" destId="{278BC5C4-9457-4A5F-9C1C-7DD77A0791A2}" srcOrd="6" destOrd="0" parTransId="{CE9ED3C5-018E-41E7-A479-F0224D274F59}" sibTransId="{F0195BF1-EA1B-4AC2-843C-B62B1383DEC5}"/>
    <dgm:cxn modelId="{4D71AF64-E954-41D5-8FA0-C57DF168B301}" srcId="{37CFE095-2496-4202-9F3C-806665CD9400}" destId="{4B6C6842-B89A-47E6-8C2D-3C220C5C0174}" srcOrd="4" destOrd="0" parTransId="{EBB0DE55-A054-4AFE-BF17-FAB307CBD5B0}" sibTransId="{04306F7D-5EDC-4BC9-8589-44ED116B0BAE}"/>
    <dgm:cxn modelId="{9DD16C6A-8508-4092-B582-36546180B5F2}" srcId="{37CFE095-2496-4202-9F3C-806665CD9400}" destId="{69C12010-D65F-4B9B-B322-B2BDA76165D5}" srcOrd="5" destOrd="0" parTransId="{0462D8BA-883F-4B26-B1F6-70805775A356}" sibTransId="{A1DC3AD4-A9BD-4B29-B4F6-BEF55FD58027}"/>
    <dgm:cxn modelId="{296A3D4B-D5A7-4DED-A654-5F7D0D9AA4D6}" srcId="{37CFE095-2496-4202-9F3C-806665CD9400}" destId="{45F05532-3445-4EFF-913E-339B73A7E4F5}" srcOrd="3" destOrd="0" parTransId="{EC4330EB-3D43-4E13-A655-1E4FF8008843}" sibTransId="{3F502AE7-A00B-4579-9292-6AEF5B54342D}"/>
    <dgm:cxn modelId="{2190E34C-39BF-40A5-8021-E771D9A44E58}" type="presOf" srcId="{A1DC3AD4-A9BD-4B29-B4F6-BEF55FD58027}" destId="{17AD1374-FD18-4F4A-9B45-C84B39D128CB}" srcOrd="0" destOrd="0" presId="urn:microsoft.com/office/officeart/2016/7/layout/RepeatingBendingProcessNew"/>
    <dgm:cxn modelId="{4EA03171-43DB-48E3-BFB0-0BC5C32347E6}" srcId="{37CFE095-2496-4202-9F3C-806665CD9400}" destId="{F0953A51-F597-43B1-8943-8EAFEF041A43}" srcOrd="1" destOrd="0" parTransId="{73E3834E-04D2-4B33-B77F-3EA476E4CF1B}" sibTransId="{5F48CE32-82FF-40CE-8B2C-92708E2E8C70}"/>
    <dgm:cxn modelId="{815F7352-976B-4D6D-918C-1B344984FD70}" type="presOf" srcId="{4B6C6842-B89A-47E6-8C2D-3C220C5C0174}" destId="{0597AA44-0091-469D-B1AC-256636C29926}" srcOrd="0" destOrd="0" presId="urn:microsoft.com/office/officeart/2016/7/layout/RepeatingBendingProcessNew"/>
    <dgm:cxn modelId="{86ECEB7B-4287-4907-BBC7-48DD6FD7EE7F}" type="presOf" srcId="{2E1C5CDC-A99F-493B-918F-00ECB85A4FDC}" destId="{54C64128-1D88-483C-8129-CC6B3B3ABF12}" srcOrd="1" destOrd="0" presId="urn:microsoft.com/office/officeart/2016/7/layout/RepeatingBendingProcessNew"/>
    <dgm:cxn modelId="{F4124A7C-6770-4834-8E05-136C31B7838A}" type="presOf" srcId="{8A19A1D0-ADEB-4ED2-8CA7-C9721C19E58A}" destId="{DC14D23D-DE03-481A-86A4-2EA55AAB8838}" srcOrd="0" destOrd="0" presId="urn:microsoft.com/office/officeart/2016/7/layout/RepeatingBendingProcessNew"/>
    <dgm:cxn modelId="{760F2E90-3EE2-4DF2-881D-384D3E4A8DB5}" type="presOf" srcId="{F0195BF1-EA1B-4AC2-843C-B62B1383DEC5}" destId="{763D4FB6-FF04-4C4D-8930-2188804A2933}" srcOrd="1" destOrd="0" presId="urn:microsoft.com/office/officeart/2016/7/layout/RepeatingBendingProcessNew"/>
    <dgm:cxn modelId="{8EEAD590-70CD-442E-BC34-D00DB519474E}" type="presOf" srcId="{04306F7D-5EDC-4BC9-8589-44ED116B0BAE}" destId="{2F6AAF28-932A-4B76-A83B-9AC72C9430A2}" srcOrd="0" destOrd="0" presId="urn:microsoft.com/office/officeart/2016/7/layout/RepeatingBendingProcessNew"/>
    <dgm:cxn modelId="{4B55129E-8699-4028-B236-44E16A4EB7F9}" type="presOf" srcId="{37CFE095-2496-4202-9F3C-806665CD9400}" destId="{8413A795-BCFF-43F0-9B97-248151E087D0}" srcOrd="0" destOrd="0" presId="urn:microsoft.com/office/officeart/2016/7/layout/RepeatingBendingProcessNew"/>
    <dgm:cxn modelId="{E71045A4-85F9-4961-99F8-4AA53D6D7B45}" type="presOf" srcId="{278BC5C4-9457-4A5F-9C1C-7DD77A0791A2}" destId="{C808C655-167C-462B-BF94-5B5AEDA851D8}" srcOrd="0" destOrd="0" presId="urn:microsoft.com/office/officeart/2016/7/layout/RepeatingBendingProcessNew"/>
    <dgm:cxn modelId="{675647A8-0F11-4894-AE49-18E5E05180CE}" type="presOf" srcId="{04306F7D-5EDC-4BC9-8589-44ED116B0BAE}" destId="{76A5D1D2-2BC3-4C58-8EA0-11DDD6723B1A}" srcOrd="1" destOrd="0" presId="urn:microsoft.com/office/officeart/2016/7/layout/RepeatingBendingProcessNew"/>
    <dgm:cxn modelId="{7D4352AC-260C-4E8D-BCEA-886F0860FB58}" type="presOf" srcId="{E9C86000-9FD6-466F-A682-33B29688755A}" destId="{881D57DC-A65C-4D0D-B3BA-B58A5D65C9A5}" srcOrd="0" destOrd="0" presId="urn:microsoft.com/office/officeart/2016/7/layout/RepeatingBendingProcessNew"/>
    <dgm:cxn modelId="{0645ECAF-1290-4337-88B8-B599ADCE4F45}" type="presOf" srcId="{F0953A51-F597-43B1-8943-8EAFEF041A43}" destId="{468E4074-2DD2-4047-96E4-27478AB57833}" srcOrd="0" destOrd="0" presId="urn:microsoft.com/office/officeart/2016/7/layout/RepeatingBendingProcessNew"/>
    <dgm:cxn modelId="{831282B3-8EC4-4A13-859E-DB969A8E8CC9}" type="presOf" srcId="{3F502AE7-A00B-4579-9292-6AEF5B54342D}" destId="{716B49E1-F59B-4818-9473-9EC1AF7E5858}" srcOrd="1" destOrd="0" presId="urn:microsoft.com/office/officeart/2016/7/layout/RepeatingBendingProcessNew"/>
    <dgm:cxn modelId="{D50D1FB6-694F-45CE-8132-56E73134B452}" srcId="{37CFE095-2496-4202-9F3C-806665CD9400}" destId="{E9C86000-9FD6-466F-A682-33B29688755A}" srcOrd="7" destOrd="0" parTransId="{ED402500-7E4A-4B2A-BC6D-E5F2E127818E}" sibTransId="{18FBF9D9-8D91-4BA4-905A-C496365A581E}"/>
    <dgm:cxn modelId="{72ED1EC0-1C6F-4784-9844-D7F6F7DA669E}" type="presOf" srcId="{F0195BF1-EA1B-4AC2-843C-B62B1383DEC5}" destId="{E6111231-3208-4BE4-B6CE-6B0D76E010A2}" srcOrd="0" destOrd="0" presId="urn:microsoft.com/office/officeart/2016/7/layout/RepeatingBendingProcessNew"/>
    <dgm:cxn modelId="{E0DD39D9-BC41-4440-89C0-B6A2128024A7}" srcId="{37CFE095-2496-4202-9F3C-806665CD9400}" destId="{1B8BA649-1515-42EF-866B-11E4B96F7873}" srcOrd="2" destOrd="0" parTransId="{06C7161B-8A27-40D8-B6E6-2E2E77BE8528}" sibTransId="{2E1C5CDC-A99F-493B-918F-00ECB85A4FDC}"/>
    <dgm:cxn modelId="{842BE8E3-469F-4EE0-8F86-36DCED8DC57F}" type="presOf" srcId="{3F502AE7-A00B-4579-9292-6AEF5B54342D}" destId="{FAE110F2-7AE4-4EA6-AB46-6984841A7A7F}" srcOrd="0" destOrd="0" presId="urn:microsoft.com/office/officeart/2016/7/layout/RepeatingBendingProcessNew"/>
    <dgm:cxn modelId="{55F338F1-4C90-4CCA-BCD6-5756DB89983C}" type="presOf" srcId="{69C12010-D65F-4B9B-B322-B2BDA76165D5}" destId="{AA6654B1-D4D6-49E2-B109-7CF3570B2A97}" srcOrd="0" destOrd="0" presId="urn:microsoft.com/office/officeart/2016/7/layout/RepeatingBendingProcessNew"/>
    <dgm:cxn modelId="{09D70FF2-070C-4312-B18B-1C23B91D97D1}" type="presOf" srcId="{45F05532-3445-4EFF-913E-339B73A7E4F5}" destId="{B80C1173-FAA0-4C5F-A34D-0E67177123C9}" srcOrd="0" destOrd="0" presId="urn:microsoft.com/office/officeart/2016/7/layout/RepeatingBendingProcessNew"/>
    <dgm:cxn modelId="{518D5BFC-493C-4051-B755-DBBE1646EF49}" type="presOf" srcId="{A1DC3AD4-A9BD-4B29-B4F6-BEF55FD58027}" destId="{442E4E7E-B3C1-4282-A053-9C0A3416C958}" srcOrd="1" destOrd="0" presId="urn:microsoft.com/office/officeart/2016/7/layout/RepeatingBendingProcessNew"/>
    <dgm:cxn modelId="{B5D6AFFD-118A-4D42-B643-1A360A9F40DF}" type="presOf" srcId="{2E1C5CDC-A99F-493B-918F-00ECB85A4FDC}" destId="{43714C07-CD06-45D7-B189-897BCF4B683A}" srcOrd="0" destOrd="0" presId="urn:microsoft.com/office/officeart/2016/7/layout/RepeatingBendingProcessNew"/>
    <dgm:cxn modelId="{2CC017CD-9C7C-4F20-8E4E-F468778CC580}" type="presParOf" srcId="{8413A795-BCFF-43F0-9B97-248151E087D0}" destId="{DC14D23D-DE03-481A-86A4-2EA55AAB8838}" srcOrd="0" destOrd="0" presId="urn:microsoft.com/office/officeart/2016/7/layout/RepeatingBendingProcessNew"/>
    <dgm:cxn modelId="{28189337-4EE6-4D18-AE26-A800AD7D6890}" type="presParOf" srcId="{8413A795-BCFF-43F0-9B97-248151E087D0}" destId="{1E68C4B2-57E2-4481-B41A-1424C985D001}" srcOrd="1" destOrd="0" presId="urn:microsoft.com/office/officeart/2016/7/layout/RepeatingBendingProcessNew"/>
    <dgm:cxn modelId="{19C21D18-3097-4BBD-B644-12BB26FC7243}" type="presParOf" srcId="{1E68C4B2-57E2-4481-B41A-1424C985D001}" destId="{57DD08B3-EF96-4CC3-901B-FA28E58EDB76}" srcOrd="0" destOrd="0" presId="urn:microsoft.com/office/officeart/2016/7/layout/RepeatingBendingProcessNew"/>
    <dgm:cxn modelId="{21C64825-6644-4371-A8AF-5E48D7EFFFE9}" type="presParOf" srcId="{8413A795-BCFF-43F0-9B97-248151E087D0}" destId="{468E4074-2DD2-4047-96E4-27478AB57833}" srcOrd="2" destOrd="0" presId="urn:microsoft.com/office/officeart/2016/7/layout/RepeatingBendingProcessNew"/>
    <dgm:cxn modelId="{42030340-3612-4E3C-A4E9-D2CA23829A20}" type="presParOf" srcId="{8413A795-BCFF-43F0-9B97-248151E087D0}" destId="{9BCA7ACA-7E51-48BE-B3DD-7B05FD8E5685}" srcOrd="3" destOrd="0" presId="urn:microsoft.com/office/officeart/2016/7/layout/RepeatingBendingProcessNew"/>
    <dgm:cxn modelId="{8A70C343-612A-45E3-9B65-D5CFEA1EEA8D}" type="presParOf" srcId="{9BCA7ACA-7E51-48BE-B3DD-7B05FD8E5685}" destId="{980C1B29-91B6-4C71-91EB-70B8FD295F4C}" srcOrd="0" destOrd="0" presId="urn:microsoft.com/office/officeart/2016/7/layout/RepeatingBendingProcessNew"/>
    <dgm:cxn modelId="{6B5ADC68-5809-417A-B422-D83E7F922429}" type="presParOf" srcId="{8413A795-BCFF-43F0-9B97-248151E087D0}" destId="{88D909A3-3991-49E2-9DB2-A8B134C66B07}" srcOrd="4" destOrd="0" presId="urn:microsoft.com/office/officeart/2016/7/layout/RepeatingBendingProcessNew"/>
    <dgm:cxn modelId="{06EF3B32-EE64-44CD-9578-196FE8E6E971}" type="presParOf" srcId="{8413A795-BCFF-43F0-9B97-248151E087D0}" destId="{43714C07-CD06-45D7-B189-897BCF4B683A}" srcOrd="5" destOrd="0" presId="urn:microsoft.com/office/officeart/2016/7/layout/RepeatingBendingProcessNew"/>
    <dgm:cxn modelId="{BC51A934-CC2E-4808-9877-E531DDC1340A}" type="presParOf" srcId="{43714C07-CD06-45D7-B189-897BCF4B683A}" destId="{54C64128-1D88-483C-8129-CC6B3B3ABF12}" srcOrd="0" destOrd="0" presId="urn:microsoft.com/office/officeart/2016/7/layout/RepeatingBendingProcessNew"/>
    <dgm:cxn modelId="{C63B914E-D9AB-4CA4-90F6-DC1DC5D91D66}" type="presParOf" srcId="{8413A795-BCFF-43F0-9B97-248151E087D0}" destId="{B80C1173-FAA0-4C5F-A34D-0E67177123C9}" srcOrd="6" destOrd="0" presId="urn:microsoft.com/office/officeart/2016/7/layout/RepeatingBendingProcessNew"/>
    <dgm:cxn modelId="{D78A6194-7672-40BC-B274-DD33B91C74BC}" type="presParOf" srcId="{8413A795-BCFF-43F0-9B97-248151E087D0}" destId="{FAE110F2-7AE4-4EA6-AB46-6984841A7A7F}" srcOrd="7" destOrd="0" presId="urn:microsoft.com/office/officeart/2016/7/layout/RepeatingBendingProcessNew"/>
    <dgm:cxn modelId="{24396811-0531-4C9C-A386-DD279F1223DA}" type="presParOf" srcId="{FAE110F2-7AE4-4EA6-AB46-6984841A7A7F}" destId="{716B49E1-F59B-4818-9473-9EC1AF7E5858}" srcOrd="0" destOrd="0" presId="urn:microsoft.com/office/officeart/2016/7/layout/RepeatingBendingProcessNew"/>
    <dgm:cxn modelId="{7184DCD1-EE00-4119-8893-D8043FE423D4}" type="presParOf" srcId="{8413A795-BCFF-43F0-9B97-248151E087D0}" destId="{0597AA44-0091-469D-B1AC-256636C29926}" srcOrd="8" destOrd="0" presId="urn:microsoft.com/office/officeart/2016/7/layout/RepeatingBendingProcessNew"/>
    <dgm:cxn modelId="{06D696D4-6316-42C5-AFD6-A7A30E397B44}" type="presParOf" srcId="{8413A795-BCFF-43F0-9B97-248151E087D0}" destId="{2F6AAF28-932A-4B76-A83B-9AC72C9430A2}" srcOrd="9" destOrd="0" presId="urn:microsoft.com/office/officeart/2016/7/layout/RepeatingBendingProcessNew"/>
    <dgm:cxn modelId="{5197C70B-7485-4DA6-B079-F111D13705E3}" type="presParOf" srcId="{2F6AAF28-932A-4B76-A83B-9AC72C9430A2}" destId="{76A5D1D2-2BC3-4C58-8EA0-11DDD6723B1A}" srcOrd="0" destOrd="0" presId="urn:microsoft.com/office/officeart/2016/7/layout/RepeatingBendingProcessNew"/>
    <dgm:cxn modelId="{3DF6F76D-9CA0-40A1-8527-0139EB1C4F8F}" type="presParOf" srcId="{8413A795-BCFF-43F0-9B97-248151E087D0}" destId="{AA6654B1-D4D6-49E2-B109-7CF3570B2A97}" srcOrd="10" destOrd="0" presId="urn:microsoft.com/office/officeart/2016/7/layout/RepeatingBendingProcessNew"/>
    <dgm:cxn modelId="{7391E031-89F4-4AF9-9C89-0042B60DC031}" type="presParOf" srcId="{8413A795-BCFF-43F0-9B97-248151E087D0}" destId="{17AD1374-FD18-4F4A-9B45-C84B39D128CB}" srcOrd="11" destOrd="0" presId="urn:microsoft.com/office/officeart/2016/7/layout/RepeatingBendingProcessNew"/>
    <dgm:cxn modelId="{B98A2885-DEE7-4077-A4D9-AE73E5B035CA}" type="presParOf" srcId="{17AD1374-FD18-4F4A-9B45-C84B39D128CB}" destId="{442E4E7E-B3C1-4282-A053-9C0A3416C958}" srcOrd="0" destOrd="0" presId="urn:microsoft.com/office/officeart/2016/7/layout/RepeatingBendingProcessNew"/>
    <dgm:cxn modelId="{19C4DA1B-F3B7-4F31-9931-3B8E4F74E8E8}" type="presParOf" srcId="{8413A795-BCFF-43F0-9B97-248151E087D0}" destId="{C808C655-167C-462B-BF94-5B5AEDA851D8}" srcOrd="12" destOrd="0" presId="urn:microsoft.com/office/officeart/2016/7/layout/RepeatingBendingProcessNew"/>
    <dgm:cxn modelId="{897B1130-0B8E-4395-A82E-F47D70743298}" type="presParOf" srcId="{8413A795-BCFF-43F0-9B97-248151E087D0}" destId="{E6111231-3208-4BE4-B6CE-6B0D76E010A2}" srcOrd="13" destOrd="0" presId="urn:microsoft.com/office/officeart/2016/7/layout/RepeatingBendingProcessNew"/>
    <dgm:cxn modelId="{605E98D8-3225-4123-83D7-8718A6F04285}" type="presParOf" srcId="{E6111231-3208-4BE4-B6CE-6B0D76E010A2}" destId="{763D4FB6-FF04-4C4D-8930-2188804A2933}" srcOrd="0" destOrd="0" presId="urn:microsoft.com/office/officeart/2016/7/layout/RepeatingBendingProcessNew"/>
    <dgm:cxn modelId="{9C29A038-11B5-4067-9BC7-2FA001591BB6}" type="presParOf" srcId="{8413A795-BCFF-43F0-9B97-248151E087D0}" destId="{881D57DC-A65C-4D0D-B3BA-B58A5D65C9A5}" srcOrd="14"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2CD0E24-F583-45A3-90D4-F191C403668B}" type="doc">
      <dgm:prSet loTypeId="urn:microsoft.com/office/officeart/2005/8/layout/hList6" loCatId="list" qsTypeId="urn:microsoft.com/office/officeart/2005/8/quickstyle/simple3" qsCatId="simple" csTypeId="urn:microsoft.com/office/officeart/2005/8/colors/accent1_2" csCatId="accent1"/>
      <dgm:spPr/>
      <dgm:t>
        <a:bodyPr/>
        <a:lstStyle/>
        <a:p>
          <a:endParaRPr lang="en-US"/>
        </a:p>
      </dgm:t>
    </dgm:pt>
    <dgm:pt modelId="{3CAE50C7-BBC6-4CF4-B155-150B2FADB0BE}">
      <dgm:prSet/>
      <dgm:spPr/>
      <dgm:t>
        <a:bodyPr/>
        <a:lstStyle/>
        <a:p>
          <a:r>
            <a:rPr lang="en-US" b="1" i="0"/>
            <a:t>Phân tích người bán</a:t>
          </a:r>
          <a:endParaRPr lang="en-US"/>
        </a:p>
      </dgm:t>
    </dgm:pt>
    <dgm:pt modelId="{FEECD779-FD1D-4350-BE74-E18A29402E48}" type="parTrans" cxnId="{5E69FCC5-4F50-4201-A48B-BE3D13268030}">
      <dgm:prSet/>
      <dgm:spPr/>
      <dgm:t>
        <a:bodyPr/>
        <a:lstStyle/>
        <a:p>
          <a:endParaRPr lang="en-US"/>
        </a:p>
      </dgm:t>
    </dgm:pt>
    <dgm:pt modelId="{4092C31A-6AB6-438A-9E15-58AA20310A52}" type="sibTrans" cxnId="{5E69FCC5-4F50-4201-A48B-BE3D13268030}">
      <dgm:prSet/>
      <dgm:spPr/>
      <dgm:t>
        <a:bodyPr/>
        <a:lstStyle/>
        <a:p>
          <a:endParaRPr lang="en-US"/>
        </a:p>
      </dgm:t>
    </dgm:pt>
    <dgm:pt modelId="{E2E1B2B8-63E8-45C2-8E23-414F2486BA9C}">
      <dgm:prSet/>
      <dgm:spPr/>
      <dgm:t>
        <a:bodyPr/>
        <a:lstStyle/>
        <a:p>
          <a:r>
            <a:rPr lang="en-US" b="0" i="0"/>
            <a:t>Phân tích giá trị</a:t>
          </a:r>
          <a:endParaRPr lang="en-US"/>
        </a:p>
      </dgm:t>
    </dgm:pt>
    <dgm:pt modelId="{2313095E-6E2E-4E44-8D81-2C42FC58A94C}" type="parTrans" cxnId="{78BDCF5E-7698-4DFC-9E5F-A9E23B203E1F}">
      <dgm:prSet/>
      <dgm:spPr/>
      <dgm:t>
        <a:bodyPr/>
        <a:lstStyle/>
        <a:p>
          <a:endParaRPr lang="en-US"/>
        </a:p>
      </dgm:t>
    </dgm:pt>
    <dgm:pt modelId="{E0FB95D8-426C-4F75-8E4E-5B1F6D4245F3}" type="sibTrans" cxnId="{78BDCF5E-7698-4DFC-9E5F-A9E23B203E1F}">
      <dgm:prSet/>
      <dgm:spPr/>
      <dgm:t>
        <a:bodyPr/>
        <a:lstStyle/>
        <a:p>
          <a:endParaRPr lang="en-US"/>
        </a:p>
      </dgm:t>
    </dgm:pt>
    <dgm:pt modelId="{16377019-236F-404D-A84A-627AF5C40114}">
      <dgm:prSet/>
      <dgm:spPr/>
      <dgm:t>
        <a:bodyPr/>
        <a:lstStyle/>
        <a:p>
          <a:r>
            <a:rPr lang="en-US" b="1" i="0"/>
            <a:t>Quyết định mua hay tự sản xuất</a:t>
          </a:r>
          <a:endParaRPr lang="en-US"/>
        </a:p>
      </dgm:t>
    </dgm:pt>
    <dgm:pt modelId="{2CD681F1-DD51-46A2-B1B4-C67DFA34D57C}" type="parTrans" cxnId="{F84C313B-FF69-4932-8531-7834E71C2411}">
      <dgm:prSet/>
      <dgm:spPr/>
      <dgm:t>
        <a:bodyPr/>
        <a:lstStyle/>
        <a:p>
          <a:endParaRPr lang="en-US"/>
        </a:p>
      </dgm:t>
    </dgm:pt>
    <dgm:pt modelId="{C469101C-D7B9-40D8-866A-A1D031679F39}" type="sibTrans" cxnId="{F84C313B-FF69-4932-8531-7834E71C2411}">
      <dgm:prSet/>
      <dgm:spPr/>
      <dgm:t>
        <a:bodyPr/>
        <a:lstStyle/>
        <a:p>
          <a:endParaRPr lang="en-US"/>
        </a:p>
      </dgm:t>
    </dgm:pt>
    <dgm:pt modelId="{2DB89E70-B213-4CC2-BEC1-AD93FFFB59EA}">
      <dgm:prSet/>
      <dgm:spPr/>
      <dgm:t>
        <a:bodyPr/>
        <a:lstStyle/>
        <a:p>
          <a:r>
            <a:rPr lang="en-US" b="0" i="0"/>
            <a:t>Thời điểm mua </a:t>
          </a:r>
          <a:endParaRPr lang="en-US"/>
        </a:p>
      </dgm:t>
    </dgm:pt>
    <dgm:pt modelId="{6131EB3C-2CE9-4728-8E34-1E90C6FD4358}" type="parTrans" cxnId="{4C6FBA4C-D22B-47B2-8A27-6F87FA2704D9}">
      <dgm:prSet/>
      <dgm:spPr/>
      <dgm:t>
        <a:bodyPr/>
        <a:lstStyle/>
        <a:p>
          <a:endParaRPr lang="en-US"/>
        </a:p>
      </dgm:t>
    </dgm:pt>
    <dgm:pt modelId="{B6B42036-21AE-4DBD-B7BA-6A5BBE6A2776}" type="sibTrans" cxnId="{4C6FBA4C-D22B-47B2-8A27-6F87FA2704D9}">
      <dgm:prSet/>
      <dgm:spPr/>
      <dgm:t>
        <a:bodyPr/>
        <a:lstStyle/>
        <a:p>
          <a:endParaRPr lang="en-US"/>
        </a:p>
      </dgm:t>
    </dgm:pt>
    <dgm:pt modelId="{925602FC-1FA8-4EE1-A0DD-1215688FD337}">
      <dgm:prSet/>
      <dgm:spPr/>
      <dgm:t>
        <a:bodyPr/>
        <a:lstStyle/>
        <a:p>
          <a:r>
            <a:rPr lang="en-US" b="1" i="0"/>
            <a:t>Quyết  định mua đồng bộ</a:t>
          </a:r>
          <a:endParaRPr lang="en-US"/>
        </a:p>
      </dgm:t>
    </dgm:pt>
    <dgm:pt modelId="{44CEE8EE-1955-42C1-B870-A33BE7630B41}" type="parTrans" cxnId="{413282ED-6736-4041-A18F-1ABE48A712EE}">
      <dgm:prSet/>
      <dgm:spPr/>
      <dgm:t>
        <a:bodyPr/>
        <a:lstStyle/>
        <a:p>
          <a:endParaRPr lang="en-US"/>
        </a:p>
      </dgm:t>
    </dgm:pt>
    <dgm:pt modelId="{9F40B34C-B0DB-40D2-9321-6B357064B003}" type="sibTrans" cxnId="{413282ED-6736-4041-A18F-1ABE48A712EE}">
      <dgm:prSet/>
      <dgm:spPr/>
      <dgm:t>
        <a:bodyPr/>
        <a:lstStyle/>
        <a:p>
          <a:endParaRPr lang="en-US"/>
        </a:p>
      </dgm:t>
    </dgm:pt>
    <dgm:pt modelId="{501D38B0-51F6-4CE9-9DFA-B922AAE09469}" type="pres">
      <dgm:prSet presAssocID="{72CD0E24-F583-45A3-90D4-F191C403668B}" presName="Name0" presStyleCnt="0">
        <dgm:presLayoutVars>
          <dgm:dir/>
          <dgm:resizeHandles val="exact"/>
        </dgm:presLayoutVars>
      </dgm:prSet>
      <dgm:spPr/>
    </dgm:pt>
    <dgm:pt modelId="{46196A74-1ECC-45C8-9616-1E95AB940448}" type="pres">
      <dgm:prSet presAssocID="{3CAE50C7-BBC6-4CF4-B155-150B2FADB0BE}" presName="node" presStyleLbl="node1" presStyleIdx="0" presStyleCnt="5">
        <dgm:presLayoutVars>
          <dgm:bulletEnabled val="1"/>
        </dgm:presLayoutVars>
      </dgm:prSet>
      <dgm:spPr/>
    </dgm:pt>
    <dgm:pt modelId="{C0BDAF58-ACA9-483D-AC44-4724AB88D993}" type="pres">
      <dgm:prSet presAssocID="{4092C31A-6AB6-438A-9E15-58AA20310A52}" presName="sibTrans" presStyleCnt="0"/>
      <dgm:spPr/>
    </dgm:pt>
    <dgm:pt modelId="{EFF3689C-AB9F-4E35-9E91-A981DEA62A80}" type="pres">
      <dgm:prSet presAssocID="{E2E1B2B8-63E8-45C2-8E23-414F2486BA9C}" presName="node" presStyleLbl="node1" presStyleIdx="1" presStyleCnt="5">
        <dgm:presLayoutVars>
          <dgm:bulletEnabled val="1"/>
        </dgm:presLayoutVars>
      </dgm:prSet>
      <dgm:spPr/>
    </dgm:pt>
    <dgm:pt modelId="{7912F4F2-521F-465E-A1F1-E80BAF5DEDE8}" type="pres">
      <dgm:prSet presAssocID="{E0FB95D8-426C-4F75-8E4E-5B1F6D4245F3}" presName="sibTrans" presStyleCnt="0"/>
      <dgm:spPr/>
    </dgm:pt>
    <dgm:pt modelId="{CBAE2C6C-5C8C-4A73-97A3-F08DC6086F4D}" type="pres">
      <dgm:prSet presAssocID="{16377019-236F-404D-A84A-627AF5C40114}" presName="node" presStyleLbl="node1" presStyleIdx="2" presStyleCnt="5">
        <dgm:presLayoutVars>
          <dgm:bulletEnabled val="1"/>
        </dgm:presLayoutVars>
      </dgm:prSet>
      <dgm:spPr/>
    </dgm:pt>
    <dgm:pt modelId="{5C278983-3319-431E-A6DC-B0B9D14D623F}" type="pres">
      <dgm:prSet presAssocID="{C469101C-D7B9-40D8-866A-A1D031679F39}" presName="sibTrans" presStyleCnt="0"/>
      <dgm:spPr/>
    </dgm:pt>
    <dgm:pt modelId="{DE9CD8CD-A2C6-4CC0-A070-AE14BAE67C3F}" type="pres">
      <dgm:prSet presAssocID="{2DB89E70-B213-4CC2-BEC1-AD93FFFB59EA}" presName="node" presStyleLbl="node1" presStyleIdx="3" presStyleCnt="5">
        <dgm:presLayoutVars>
          <dgm:bulletEnabled val="1"/>
        </dgm:presLayoutVars>
      </dgm:prSet>
      <dgm:spPr/>
    </dgm:pt>
    <dgm:pt modelId="{A417308B-0B95-43C7-B13A-FF0D958F4530}" type="pres">
      <dgm:prSet presAssocID="{B6B42036-21AE-4DBD-B7BA-6A5BBE6A2776}" presName="sibTrans" presStyleCnt="0"/>
      <dgm:spPr/>
    </dgm:pt>
    <dgm:pt modelId="{1AF9536C-123F-4068-B849-51EDBEA8C051}" type="pres">
      <dgm:prSet presAssocID="{925602FC-1FA8-4EE1-A0DD-1215688FD337}" presName="node" presStyleLbl="node1" presStyleIdx="4" presStyleCnt="5">
        <dgm:presLayoutVars>
          <dgm:bulletEnabled val="1"/>
        </dgm:presLayoutVars>
      </dgm:prSet>
      <dgm:spPr/>
    </dgm:pt>
  </dgm:ptLst>
  <dgm:cxnLst>
    <dgm:cxn modelId="{9BA08F28-2915-4A70-809D-4BAEB19ADC0A}" type="presOf" srcId="{72CD0E24-F583-45A3-90D4-F191C403668B}" destId="{501D38B0-51F6-4CE9-9DFA-B922AAE09469}" srcOrd="0" destOrd="0" presId="urn:microsoft.com/office/officeart/2005/8/layout/hList6"/>
    <dgm:cxn modelId="{77320B31-9020-4BCE-9FE2-0E89A0F96FC6}" type="presOf" srcId="{2DB89E70-B213-4CC2-BEC1-AD93FFFB59EA}" destId="{DE9CD8CD-A2C6-4CC0-A070-AE14BAE67C3F}" srcOrd="0" destOrd="0" presId="urn:microsoft.com/office/officeart/2005/8/layout/hList6"/>
    <dgm:cxn modelId="{F84C313B-FF69-4932-8531-7834E71C2411}" srcId="{72CD0E24-F583-45A3-90D4-F191C403668B}" destId="{16377019-236F-404D-A84A-627AF5C40114}" srcOrd="2" destOrd="0" parTransId="{2CD681F1-DD51-46A2-B1B4-C67DFA34D57C}" sibTransId="{C469101C-D7B9-40D8-866A-A1D031679F39}"/>
    <dgm:cxn modelId="{78BDCF5E-7698-4DFC-9E5F-A9E23B203E1F}" srcId="{72CD0E24-F583-45A3-90D4-F191C403668B}" destId="{E2E1B2B8-63E8-45C2-8E23-414F2486BA9C}" srcOrd="1" destOrd="0" parTransId="{2313095E-6E2E-4E44-8D81-2C42FC58A94C}" sibTransId="{E0FB95D8-426C-4F75-8E4E-5B1F6D4245F3}"/>
    <dgm:cxn modelId="{4C6FBA4C-D22B-47B2-8A27-6F87FA2704D9}" srcId="{72CD0E24-F583-45A3-90D4-F191C403668B}" destId="{2DB89E70-B213-4CC2-BEC1-AD93FFFB59EA}" srcOrd="3" destOrd="0" parTransId="{6131EB3C-2CE9-4728-8E34-1E90C6FD4358}" sibTransId="{B6B42036-21AE-4DBD-B7BA-6A5BBE6A2776}"/>
    <dgm:cxn modelId="{CCFFB870-2001-438D-A012-CDA5473C713B}" type="presOf" srcId="{925602FC-1FA8-4EE1-A0DD-1215688FD337}" destId="{1AF9536C-123F-4068-B849-51EDBEA8C051}" srcOrd="0" destOrd="0" presId="urn:microsoft.com/office/officeart/2005/8/layout/hList6"/>
    <dgm:cxn modelId="{0AA25DB1-7AFD-4769-A6D3-08A23DEDE69D}" type="presOf" srcId="{3CAE50C7-BBC6-4CF4-B155-150B2FADB0BE}" destId="{46196A74-1ECC-45C8-9616-1E95AB940448}" srcOrd="0" destOrd="0" presId="urn:microsoft.com/office/officeart/2005/8/layout/hList6"/>
    <dgm:cxn modelId="{E97F61B7-7BE1-4565-BE91-7CE8BE0FAED3}" type="presOf" srcId="{16377019-236F-404D-A84A-627AF5C40114}" destId="{CBAE2C6C-5C8C-4A73-97A3-F08DC6086F4D}" srcOrd="0" destOrd="0" presId="urn:microsoft.com/office/officeart/2005/8/layout/hList6"/>
    <dgm:cxn modelId="{5E69FCC5-4F50-4201-A48B-BE3D13268030}" srcId="{72CD0E24-F583-45A3-90D4-F191C403668B}" destId="{3CAE50C7-BBC6-4CF4-B155-150B2FADB0BE}" srcOrd="0" destOrd="0" parTransId="{FEECD779-FD1D-4350-BE74-E18A29402E48}" sibTransId="{4092C31A-6AB6-438A-9E15-58AA20310A52}"/>
    <dgm:cxn modelId="{5AF898DB-6BA9-4A29-8CC3-E17EEF03A288}" type="presOf" srcId="{E2E1B2B8-63E8-45C2-8E23-414F2486BA9C}" destId="{EFF3689C-AB9F-4E35-9E91-A981DEA62A80}" srcOrd="0" destOrd="0" presId="urn:microsoft.com/office/officeart/2005/8/layout/hList6"/>
    <dgm:cxn modelId="{413282ED-6736-4041-A18F-1ABE48A712EE}" srcId="{72CD0E24-F583-45A3-90D4-F191C403668B}" destId="{925602FC-1FA8-4EE1-A0DD-1215688FD337}" srcOrd="4" destOrd="0" parTransId="{44CEE8EE-1955-42C1-B870-A33BE7630B41}" sibTransId="{9F40B34C-B0DB-40D2-9321-6B357064B003}"/>
    <dgm:cxn modelId="{B155B0D0-74DA-47E7-B999-EC45D4B81B5C}" type="presParOf" srcId="{501D38B0-51F6-4CE9-9DFA-B922AAE09469}" destId="{46196A74-1ECC-45C8-9616-1E95AB940448}" srcOrd="0" destOrd="0" presId="urn:microsoft.com/office/officeart/2005/8/layout/hList6"/>
    <dgm:cxn modelId="{0B7AB2F0-8878-4616-AFEC-96BB5D435D01}" type="presParOf" srcId="{501D38B0-51F6-4CE9-9DFA-B922AAE09469}" destId="{C0BDAF58-ACA9-483D-AC44-4724AB88D993}" srcOrd="1" destOrd="0" presId="urn:microsoft.com/office/officeart/2005/8/layout/hList6"/>
    <dgm:cxn modelId="{7F976F81-4D14-4BC8-953B-B83C60FB5AC0}" type="presParOf" srcId="{501D38B0-51F6-4CE9-9DFA-B922AAE09469}" destId="{EFF3689C-AB9F-4E35-9E91-A981DEA62A80}" srcOrd="2" destOrd="0" presId="urn:microsoft.com/office/officeart/2005/8/layout/hList6"/>
    <dgm:cxn modelId="{5A47531B-D1C6-4852-9019-F53872984B79}" type="presParOf" srcId="{501D38B0-51F6-4CE9-9DFA-B922AAE09469}" destId="{7912F4F2-521F-465E-A1F1-E80BAF5DEDE8}" srcOrd="3" destOrd="0" presId="urn:microsoft.com/office/officeart/2005/8/layout/hList6"/>
    <dgm:cxn modelId="{2066E9C4-A792-486D-9ABD-D831EBCCB467}" type="presParOf" srcId="{501D38B0-51F6-4CE9-9DFA-B922AAE09469}" destId="{CBAE2C6C-5C8C-4A73-97A3-F08DC6086F4D}" srcOrd="4" destOrd="0" presId="urn:microsoft.com/office/officeart/2005/8/layout/hList6"/>
    <dgm:cxn modelId="{B6E00E66-D87A-4878-A21E-5285E4C299EA}" type="presParOf" srcId="{501D38B0-51F6-4CE9-9DFA-B922AAE09469}" destId="{5C278983-3319-431E-A6DC-B0B9D14D623F}" srcOrd="5" destOrd="0" presId="urn:microsoft.com/office/officeart/2005/8/layout/hList6"/>
    <dgm:cxn modelId="{20DFCEA2-8FAA-43D0-A3BB-0A96E4745AAB}" type="presParOf" srcId="{501D38B0-51F6-4CE9-9DFA-B922AAE09469}" destId="{DE9CD8CD-A2C6-4CC0-A070-AE14BAE67C3F}" srcOrd="6" destOrd="0" presId="urn:microsoft.com/office/officeart/2005/8/layout/hList6"/>
    <dgm:cxn modelId="{8CB9D405-B7BA-4BAE-8D11-7DA3A9EEC96D}" type="presParOf" srcId="{501D38B0-51F6-4CE9-9DFA-B922AAE09469}" destId="{A417308B-0B95-43C7-B13A-FF0D958F4530}" srcOrd="7" destOrd="0" presId="urn:microsoft.com/office/officeart/2005/8/layout/hList6"/>
    <dgm:cxn modelId="{273CC637-58E2-4786-83C6-761F40861852}" type="presParOf" srcId="{501D38B0-51F6-4CE9-9DFA-B922AAE09469}" destId="{1AF9536C-123F-4068-B849-51EDBEA8C051}" srcOrd="8"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D72BB5-7412-4255-9C47-D0FD2B2533A4}">
      <dsp:nvSpPr>
        <dsp:cNvPr id="0" name=""/>
        <dsp:cNvSpPr/>
      </dsp:nvSpPr>
      <dsp:spPr>
        <a:xfrm>
          <a:off x="0" y="0"/>
          <a:ext cx="10515600" cy="1483938"/>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b="0" i="0" kern="1200"/>
            <a:t>Nhu cầu có thể được khơi dậy bởi 4 kích thích riêng biệt: </a:t>
          </a:r>
          <a:endParaRPr lang="en-US" sz="3900" kern="1200"/>
        </a:p>
      </dsp:txBody>
      <dsp:txXfrm>
        <a:off x="72440" y="72440"/>
        <a:ext cx="10370720" cy="1339058"/>
      </dsp:txXfrm>
    </dsp:sp>
    <dsp:sp modelId="{758CC990-D552-47B0-85C2-4717A059434F}">
      <dsp:nvSpPr>
        <dsp:cNvPr id="0" name=""/>
        <dsp:cNvSpPr/>
      </dsp:nvSpPr>
      <dsp:spPr>
        <a:xfrm>
          <a:off x="0" y="2006838"/>
          <a:ext cx="10515600" cy="1821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5560" rIns="199136" bIns="35560" numCol="1" spcCol="1270" anchor="t" anchorCtr="0">
          <a:noAutofit/>
        </a:bodyPr>
        <a:lstStyle/>
        <a:p>
          <a:pPr marL="285750" lvl="1" indent="-285750" algn="l" defTabSz="1244600">
            <a:lnSpc>
              <a:spcPct val="90000"/>
            </a:lnSpc>
            <a:spcBef>
              <a:spcPct val="0"/>
            </a:spcBef>
            <a:spcAft>
              <a:spcPct val="20000"/>
            </a:spcAft>
            <a:buChar char="•"/>
          </a:pPr>
          <a:r>
            <a:rPr lang="en-US" sz="2800" b="0" i="0" kern="1200" err="1"/>
            <a:t>sinh</a:t>
          </a:r>
          <a:r>
            <a:rPr lang="en-US" sz="2800" b="0" i="0" kern="1200"/>
            <a:t> </a:t>
          </a:r>
          <a:r>
            <a:rPr lang="en-US" sz="2800" b="0" i="0" kern="1200" err="1"/>
            <a:t>lý</a:t>
          </a:r>
          <a:r>
            <a:rPr lang="en-US" sz="2800" b="0" i="0" kern="1200"/>
            <a:t> </a:t>
          </a:r>
          <a:r>
            <a:rPr lang="en-US" sz="2800" b="0" i="0" kern="1200" err="1"/>
            <a:t>học</a:t>
          </a:r>
          <a:endParaRPr lang="en-US" sz="2800" kern="1200"/>
        </a:p>
        <a:p>
          <a:pPr marL="285750" lvl="1" indent="-285750" algn="l" defTabSz="1244600">
            <a:lnSpc>
              <a:spcPct val="90000"/>
            </a:lnSpc>
            <a:spcBef>
              <a:spcPct val="0"/>
            </a:spcBef>
            <a:spcAft>
              <a:spcPct val="20000"/>
            </a:spcAft>
            <a:buChar char="•"/>
          </a:pPr>
          <a:r>
            <a:rPr lang="en-US" sz="2800" b="0" i="0" kern="1200" err="1"/>
            <a:t>nhận</a:t>
          </a:r>
          <a:r>
            <a:rPr lang="en-US" sz="2800" b="0" i="0" kern="1200"/>
            <a:t> </a:t>
          </a:r>
          <a:r>
            <a:rPr lang="en-US" sz="2800" b="0" i="0" kern="1200" err="1"/>
            <a:t>thức</a:t>
          </a:r>
          <a:r>
            <a:rPr lang="en-US" sz="2800" b="0" i="0" kern="1200"/>
            <a:t> </a:t>
          </a:r>
          <a:endParaRPr lang="en-US" sz="2800" kern="1200"/>
        </a:p>
        <a:p>
          <a:pPr marL="285750" lvl="1" indent="-285750" algn="l" defTabSz="1244600">
            <a:lnSpc>
              <a:spcPct val="90000"/>
            </a:lnSpc>
            <a:spcBef>
              <a:spcPct val="0"/>
            </a:spcBef>
            <a:spcAft>
              <a:spcPct val="20000"/>
            </a:spcAft>
            <a:buChar char="•"/>
          </a:pPr>
          <a:r>
            <a:rPr lang="en-US" sz="2800" b="0" i="0" kern="1200" err="1"/>
            <a:t>môi</a:t>
          </a:r>
          <a:r>
            <a:rPr lang="en-US" sz="2800" b="0" i="0" kern="1200"/>
            <a:t> </a:t>
          </a:r>
          <a:r>
            <a:rPr lang="en-US" sz="2800" b="0" i="0" kern="1200" err="1"/>
            <a:t>trường</a:t>
          </a:r>
          <a:r>
            <a:rPr lang="en-US" sz="2800" b="0" i="0" kern="1200"/>
            <a:t> </a:t>
          </a:r>
          <a:endParaRPr lang="en-US" sz="2800" kern="1200"/>
        </a:p>
        <a:p>
          <a:pPr marL="285750" lvl="1" indent="-285750" algn="l" defTabSz="1244600">
            <a:lnSpc>
              <a:spcPct val="90000"/>
            </a:lnSpc>
            <a:spcBef>
              <a:spcPct val="0"/>
            </a:spcBef>
            <a:spcAft>
              <a:spcPct val="20000"/>
            </a:spcAft>
            <a:buChar char="•"/>
          </a:pPr>
          <a:r>
            <a:rPr lang="en-US" sz="2800" b="0" i="0" kern="1200" err="1"/>
            <a:t>đa</a:t>
          </a:r>
          <a:r>
            <a:rPr lang="en-US" sz="2800" b="0" i="0" kern="1200"/>
            <a:t> </a:t>
          </a:r>
          <a:r>
            <a:rPr lang="en-US" sz="2800" b="0" i="0" kern="1200" err="1"/>
            <a:t>cảm</a:t>
          </a:r>
          <a:endParaRPr lang="en-US" sz="2800" kern="1200"/>
        </a:p>
      </dsp:txBody>
      <dsp:txXfrm>
        <a:off x="0" y="2006838"/>
        <a:ext cx="10515600" cy="18216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68C4B2-57E2-4481-B41A-1424C985D001}">
      <dsp:nvSpPr>
        <dsp:cNvPr id="0" name=""/>
        <dsp:cNvSpPr/>
      </dsp:nvSpPr>
      <dsp:spPr>
        <a:xfrm>
          <a:off x="2263477" y="1211286"/>
          <a:ext cx="489927" cy="91440"/>
        </a:xfrm>
        <a:custGeom>
          <a:avLst/>
          <a:gdLst/>
          <a:ahLst/>
          <a:cxnLst/>
          <a:rect l="0" t="0" r="0" b="0"/>
          <a:pathLst>
            <a:path>
              <a:moveTo>
                <a:pt x="0" y="45720"/>
              </a:moveTo>
              <a:lnTo>
                <a:pt x="489927"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95428" y="1254404"/>
        <a:ext cx="26026" cy="5205"/>
      </dsp:txXfrm>
    </dsp:sp>
    <dsp:sp modelId="{DC14D23D-DE03-481A-86A4-2EA55AAB8838}">
      <dsp:nvSpPr>
        <dsp:cNvPr id="0" name=""/>
        <dsp:cNvSpPr/>
      </dsp:nvSpPr>
      <dsp:spPr>
        <a:xfrm>
          <a:off x="2112" y="578057"/>
          <a:ext cx="2263165" cy="1357899"/>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897" tIns="116406" rIns="110897" bIns="116406" numCol="1" spcCol="1270" anchor="ctr" anchorCtr="0">
          <a:noAutofit/>
        </a:bodyPr>
        <a:lstStyle/>
        <a:p>
          <a:pPr marL="0" lvl="0" indent="0" algn="ctr" defTabSz="1111250">
            <a:lnSpc>
              <a:spcPct val="90000"/>
            </a:lnSpc>
            <a:spcBef>
              <a:spcPct val="0"/>
            </a:spcBef>
            <a:spcAft>
              <a:spcPct val="35000"/>
            </a:spcAft>
            <a:buNone/>
          </a:pPr>
          <a:r>
            <a:rPr lang="vi-VN" sz="2500" kern="1200"/>
            <a:t>Nhận thức vấn đề</a:t>
          </a:r>
          <a:endParaRPr lang="en-US" sz="2500" kern="1200"/>
        </a:p>
      </dsp:txBody>
      <dsp:txXfrm>
        <a:off x="2112" y="578057"/>
        <a:ext cx="2263165" cy="1357899"/>
      </dsp:txXfrm>
    </dsp:sp>
    <dsp:sp modelId="{9BCA7ACA-7E51-48BE-B3DD-7B05FD8E5685}">
      <dsp:nvSpPr>
        <dsp:cNvPr id="0" name=""/>
        <dsp:cNvSpPr/>
      </dsp:nvSpPr>
      <dsp:spPr>
        <a:xfrm>
          <a:off x="5047171" y="1211286"/>
          <a:ext cx="489927" cy="91440"/>
        </a:xfrm>
        <a:custGeom>
          <a:avLst/>
          <a:gdLst/>
          <a:ahLst/>
          <a:cxnLst/>
          <a:rect l="0" t="0" r="0" b="0"/>
          <a:pathLst>
            <a:path>
              <a:moveTo>
                <a:pt x="0" y="45720"/>
              </a:moveTo>
              <a:lnTo>
                <a:pt x="489927" y="45720"/>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79121" y="1254404"/>
        <a:ext cx="26026" cy="5205"/>
      </dsp:txXfrm>
    </dsp:sp>
    <dsp:sp modelId="{468E4074-2DD2-4047-96E4-27478AB57833}">
      <dsp:nvSpPr>
        <dsp:cNvPr id="0" name=""/>
        <dsp:cNvSpPr/>
      </dsp:nvSpPr>
      <dsp:spPr>
        <a:xfrm>
          <a:off x="2785805" y="578057"/>
          <a:ext cx="2263165" cy="135789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897" tIns="116406" rIns="110897" bIns="116406" numCol="1" spcCol="1270" anchor="ctr" anchorCtr="0">
          <a:noAutofit/>
        </a:bodyPr>
        <a:lstStyle/>
        <a:p>
          <a:pPr marL="0" lvl="0" indent="0" algn="ctr" defTabSz="1111250">
            <a:lnSpc>
              <a:spcPct val="90000"/>
            </a:lnSpc>
            <a:spcBef>
              <a:spcPct val="0"/>
            </a:spcBef>
            <a:spcAft>
              <a:spcPct val="35000"/>
            </a:spcAft>
            <a:buNone/>
          </a:pPr>
          <a:r>
            <a:rPr lang="vi-VN" sz="2500" kern="1200"/>
            <a:t>Phác họa tổng quát nhu cầu</a:t>
          </a:r>
          <a:endParaRPr lang="en-US" sz="2500" kern="1200"/>
        </a:p>
      </dsp:txBody>
      <dsp:txXfrm>
        <a:off x="2785805" y="578057"/>
        <a:ext cx="2263165" cy="1357899"/>
      </dsp:txXfrm>
    </dsp:sp>
    <dsp:sp modelId="{43714C07-CD06-45D7-B189-897BCF4B683A}">
      <dsp:nvSpPr>
        <dsp:cNvPr id="0" name=""/>
        <dsp:cNvSpPr/>
      </dsp:nvSpPr>
      <dsp:spPr>
        <a:xfrm>
          <a:off x="7830864" y="1211286"/>
          <a:ext cx="489927" cy="91440"/>
        </a:xfrm>
        <a:custGeom>
          <a:avLst/>
          <a:gdLst/>
          <a:ahLst/>
          <a:cxnLst/>
          <a:rect l="0" t="0" r="0" b="0"/>
          <a:pathLst>
            <a:path>
              <a:moveTo>
                <a:pt x="0" y="45720"/>
              </a:moveTo>
              <a:lnTo>
                <a:pt x="489927" y="45720"/>
              </a:lnTo>
            </a:path>
          </a:pathLst>
        </a:custGeom>
        <a:noFill/>
        <a:ln w="9525"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62814" y="1254404"/>
        <a:ext cx="26026" cy="5205"/>
      </dsp:txXfrm>
    </dsp:sp>
    <dsp:sp modelId="{88D909A3-3991-49E2-9DB2-A8B134C66B07}">
      <dsp:nvSpPr>
        <dsp:cNvPr id="0" name=""/>
        <dsp:cNvSpPr/>
      </dsp:nvSpPr>
      <dsp:spPr>
        <a:xfrm>
          <a:off x="5569498" y="578057"/>
          <a:ext cx="2263165" cy="135789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897" tIns="116406" rIns="110897" bIns="116406" numCol="1" spcCol="1270" anchor="ctr" anchorCtr="0">
          <a:noAutofit/>
        </a:bodyPr>
        <a:lstStyle/>
        <a:p>
          <a:pPr marL="0" lvl="0" indent="0" algn="ctr" defTabSz="1111250">
            <a:lnSpc>
              <a:spcPct val="90000"/>
            </a:lnSpc>
            <a:spcBef>
              <a:spcPct val="0"/>
            </a:spcBef>
            <a:spcAft>
              <a:spcPct val="35000"/>
            </a:spcAft>
            <a:buNone/>
          </a:pPr>
          <a:r>
            <a:rPr lang="vi-VN" sz="2500" kern="1200"/>
            <a:t>Xác định chi tiết kỹ thuật của sản phẩm</a:t>
          </a:r>
          <a:endParaRPr lang="en-US" sz="2500" kern="1200"/>
        </a:p>
      </dsp:txBody>
      <dsp:txXfrm>
        <a:off x="5569498" y="578057"/>
        <a:ext cx="2263165" cy="1357899"/>
      </dsp:txXfrm>
    </dsp:sp>
    <dsp:sp modelId="{FAE110F2-7AE4-4EA6-AB46-6984841A7A7F}">
      <dsp:nvSpPr>
        <dsp:cNvPr id="0" name=""/>
        <dsp:cNvSpPr/>
      </dsp:nvSpPr>
      <dsp:spPr>
        <a:xfrm>
          <a:off x="1133695" y="1934156"/>
          <a:ext cx="8351079" cy="489927"/>
        </a:xfrm>
        <a:custGeom>
          <a:avLst/>
          <a:gdLst/>
          <a:ahLst/>
          <a:cxnLst/>
          <a:rect l="0" t="0" r="0" b="0"/>
          <a:pathLst>
            <a:path>
              <a:moveTo>
                <a:pt x="8351079" y="0"/>
              </a:moveTo>
              <a:lnTo>
                <a:pt x="8351079" y="262063"/>
              </a:lnTo>
              <a:lnTo>
                <a:pt x="0" y="262063"/>
              </a:lnTo>
              <a:lnTo>
                <a:pt x="0" y="489927"/>
              </a:lnTo>
            </a:path>
          </a:pathLst>
        </a:custGeom>
        <a:noFill/>
        <a:ln w="9525"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00052" y="2176517"/>
        <a:ext cx="418364" cy="5205"/>
      </dsp:txXfrm>
    </dsp:sp>
    <dsp:sp modelId="{B80C1173-FAA0-4C5F-A34D-0E67177123C9}">
      <dsp:nvSpPr>
        <dsp:cNvPr id="0" name=""/>
        <dsp:cNvSpPr/>
      </dsp:nvSpPr>
      <dsp:spPr>
        <a:xfrm>
          <a:off x="8353192" y="578057"/>
          <a:ext cx="2263165" cy="1357899"/>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897" tIns="116406" rIns="110897" bIns="116406" numCol="1" spcCol="1270" anchor="ctr" anchorCtr="0">
          <a:noAutofit/>
        </a:bodyPr>
        <a:lstStyle/>
        <a:p>
          <a:pPr marL="0" lvl="0" indent="0" algn="ctr" defTabSz="1111250">
            <a:lnSpc>
              <a:spcPct val="90000"/>
            </a:lnSpc>
            <a:spcBef>
              <a:spcPct val="0"/>
            </a:spcBef>
            <a:spcAft>
              <a:spcPct val="35000"/>
            </a:spcAft>
            <a:buNone/>
          </a:pPr>
          <a:r>
            <a:rPr lang="vi-VN" sz="2500" kern="1200"/>
            <a:t>Tìm kiếm nhà cung cấp</a:t>
          </a:r>
          <a:endParaRPr lang="en-US" sz="2500" kern="1200"/>
        </a:p>
      </dsp:txBody>
      <dsp:txXfrm>
        <a:off x="8353192" y="578057"/>
        <a:ext cx="2263165" cy="1357899"/>
      </dsp:txXfrm>
    </dsp:sp>
    <dsp:sp modelId="{2F6AAF28-932A-4B76-A83B-9AC72C9430A2}">
      <dsp:nvSpPr>
        <dsp:cNvPr id="0" name=""/>
        <dsp:cNvSpPr/>
      </dsp:nvSpPr>
      <dsp:spPr>
        <a:xfrm>
          <a:off x="2263477" y="3089714"/>
          <a:ext cx="489927" cy="91440"/>
        </a:xfrm>
        <a:custGeom>
          <a:avLst/>
          <a:gdLst/>
          <a:ahLst/>
          <a:cxnLst/>
          <a:rect l="0" t="0" r="0" b="0"/>
          <a:pathLst>
            <a:path>
              <a:moveTo>
                <a:pt x="0" y="45720"/>
              </a:moveTo>
              <a:lnTo>
                <a:pt x="489927" y="45720"/>
              </a:lnTo>
            </a:path>
          </a:pathLst>
        </a:custGeom>
        <a:noFill/>
        <a:ln w="9525"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95428" y="3132831"/>
        <a:ext cx="26026" cy="5205"/>
      </dsp:txXfrm>
    </dsp:sp>
    <dsp:sp modelId="{0597AA44-0091-469D-B1AC-256636C29926}">
      <dsp:nvSpPr>
        <dsp:cNvPr id="0" name=""/>
        <dsp:cNvSpPr/>
      </dsp:nvSpPr>
      <dsp:spPr>
        <a:xfrm>
          <a:off x="2112" y="2456484"/>
          <a:ext cx="2263165" cy="1357899"/>
        </a:xfrm>
        <a:prstGeom prst="rect">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897" tIns="116406" rIns="110897" bIns="116406" numCol="1" spcCol="1270" anchor="ctr" anchorCtr="0">
          <a:noAutofit/>
        </a:bodyPr>
        <a:lstStyle/>
        <a:p>
          <a:pPr marL="0" lvl="0" indent="0" algn="ctr" defTabSz="1111250">
            <a:lnSpc>
              <a:spcPct val="90000"/>
            </a:lnSpc>
            <a:spcBef>
              <a:spcPct val="0"/>
            </a:spcBef>
            <a:spcAft>
              <a:spcPct val="35000"/>
            </a:spcAft>
            <a:buNone/>
          </a:pPr>
          <a:r>
            <a:rPr lang="vi-VN" sz="2500" kern="1200"/>
            <a:t>Yêu cầu chào hàng</a:t>
          </a:r>
          <a:endParaRPr lang="en-US" sz="2500" kern="1200"/>
        </a:p>
      </dsp:txBody>
      <dsp:txXfrm>
        <a:off x="2112" y="2456484"/>
        <a:ext cx="2263165" cy="1357899"/>
      </dsp:txXfrm>
    </dsp:sp>
    <dsp:sp modelId="{17AD1374-FD18-4F4A-9B45-C84B39D128CB}">
      <dsp:nvSpPr>
        <dsp:cNvPr id="0" name=""/>
        <dsp:cNvSpPr/>
      </dsp:nvSpPr>
      <dsp:spPr>
        <a:xfrm>
          <a:off x="5047171" y="3089714"/>
          <a:ext cx="489927" cy="91440"/>
        </a:xfrm>
        <a:custGeom>
          <a:avLst/>
          <a:gdLst/>
          <a:ahLst/>
          <a:cxnLst/>
          <a:rect l="0" t="0" r="0" b="0"/>
          <a:pathLst>
            <a:path>
              <a:moveTo>
                <a:pt x="0" y="45720"/>
              </a:moveTo>
              <a:lnTo>
                <a:pt x="489927"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79121" y="3132831"/>
        <a:ext cx="26026" cy="5205"/>
      </dsp:txXfrm>
    </dsp:sp>
    <dsp:sp modelId="{AA6654B1-D4D6-49E2-B109-7CF3570B2A97}">
      <dsp:nvSpPr>
        <dsp:cNvPr id="0" name=""/>
        <dsp:cNvSpPr/>
      </dsp:nvSpPr>
      <dsp:spPr>
        <a:xfrm>
          <a:off x="2785805" y="2456484"/>
          <a:ext cx="2263165" cy="1357899"/>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897" tIns="116406" rIns="110897" bIns="116406" numCol="1" spcCol="1270" anchor="ctr" anchorCtr="0">
          <a:noAutofit/>
        </a:bodyPr>
        <a:lstStyle/>
        <a:p>
          <a:pPr marL="0" lvl="0" indent="0" algn="ctr" defTabSz="1111250">
            <a:lnSpc>
              <a:spcPct val="90000"/>
            </a:lnSpc>
            <a:spcBef>
              <a:spcPct val="0"/>
            </a:spcBef>
            <a:spcAft>
              <a:spcPct val="35000"/>
            </a:spcAft>
            <a:buNone/>
          </a:pPr>
          <a:r>
            <a:rPr lang="vi-VN" sz="2500" kern="1200"/>
            <a:t>Lựa chọn nhà cung cấp</a:t>
          </a:r>
          <a:endParaRPr lang="en-US" sz="2500" kern="1200"/>
        </a:p>
      </dsp:txBody>
      <dsp:txXfrm>
        <a:off x="2785805" y="2456484"/>
        <a:ext cx="2263165" cy="1357899"/>
      </dsp:txXfrm>
    </dsp:sp>
    <dsp:sp modelId="{E6111231-3208-4BE4-B6CE-6B0D76E010A2}">
      <dsp:nvSpPr>
        <dsp:cNvPr id="0" name=""/>
        <dsp:cNvSpPr/>
      </dsp:nvSpPr>
      <dsp:spPr>
        <a:xfrm>
          <a:off x="7830864" y="3089714"/>
          <a:ext cx="489927" cy="91440"/>
        </a:xfrm>
        <a:custGeom>
          <a:avLst/>
          <a:gdLst/>
          <a:ahLst/>
          <a:cxnLst/>
          <a:rect l="0" t="0" r="0" b="0"/>
          <a:pathLst>
            <a:path>
              <a:moveTo>
                <a:pt x="0" y="45720"/>
              </a:moveTo>
              <a:lnTo>
                <a:pt x="489927" y="45720"/>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62814" y="3132831"/>
        <a:ext cx="26026" cy="5205"/>
      </dsp:txXfrm>
    </dsp:sp>
    <dsp:sp modelId="{C808C655-167C-462B-BF94-5B5AEDA851D8}">
      <dsp:nvSpPr>
        <dsp:cNvPr id="0" name=""/>
        <dsp:cNvSpPr/>
      </dsp:nvSpPr>
      <dsp:spPr>
        <a:xfrm>
          <a:off x="5569498" y="2456484"/>
          <a:ext cx="2263165" cy="135789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897" tIns="116406" rIns="110897" bIns="116406" numCol="1" spcCol="1270" anchor="ctr" anchorCtr="0">
          <a:noAutofit/>
        </a:bodyPr>
        <a:lstStyle/>
        <a:p>
          <a:pPr marL="0" lvl="0" indent="0" algn="ctr" defTabSz="1111250">
            <a:lnSpc>
              <a:spcPct val="90000"/>
            </a:lnSpc>
            <a:spcBef>
              <a:spcPct val="0"/>
            </a:spcBef>
            <a:spcAft>
              <a:spcPct val="35000"/>
            </a:spcAft>
            <a:buNone/>
          </a:pPr>
          <a:r>
            <a:rPr lang="vi-VN" sz="2500" kern="1200"/>
            <a:t>Tiến hành đặt hàng</a:t>
          </a:r>
          <a:endParaRPr lang="en-US" sz="2500" kern="1200"/>
        </a:p>
      </dsp:txBody>
      <dsp:txXfrm>
        <a:off x="5569498" y="2456484"/>
        <a:ext cx="2263165" cy="1357899"/>
      </dsp:txXfrm>
    </dsp:sp>
    <dsp:sp modelId="{881D57DC-A65C-4D0D-B3BA-B58A5D65C9A5}">
      <dsp:nvSpPr>
        <dsp:cNvPr id="0" name=""/>
        <dsp:cNvSpPr/>
      </dsp:nvSpPr>
      <dsp:spPr>
        <a:xfrm>
          <a:off x="8353192" y="2456484"/>
          <a:ext cx="2263165" cy="135789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897" tIns="116406" rIns="110897" bIns="116406" numCol="1" spcCol="1270" anchor="ctr" anchorCtr="0">
          <a:noAutofit/>
        </a:bodyPr>
        <a:lstStyle/>
        <a:p>
          <a:pPr marL="0" lvl="0" indent="0" algn="ctr" defTabSz="1111250">
            <a:lnSpc>
              <a:spcPct val="90000"/>
            </a:lnSpc>
            <a:spcBef>
              <a:spcPct val="0"/>
            </a:spcBef>
            <a:spcAft>
              <a:spcPct val="35000"/>
            </a:spcAft>
            <a:buNone/>
          </a:pPr>
          <a:r>
            <a:rPr lang="vi-VN" sz="2500" kern="1200"/>
            <a:t>Đánh giá kết quả</a:t>
          </a:r>
          <a:endParaRPr lang="en-US" sz="2500" kern="1200"/>
        </a:p>
      </dsp:txBody>
      <dsp:txXfrm>
        <a:off x="8353192" y="2456484"/>
        <a:ext cx="2263165" cy="13578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196A74-1ECC-45C8-9616-1E95AB940448}">
      <dsp:nvSpPr>
        <dsp:cNvPr id="0" name=""/>
        <dsp:cNvSpPr/>
      </dsp:nvSpPr>
      <dsp:spPr>
        <a:xfrm rot="16200000">
          <a:off x="-885294" y="890727"/>
          <a:ext cx="3688079" cy="1906623"/>
        </a:xfrm>
        <a:prstGeom prst="flowChartManualOperation">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84150" tIns="0" rIns="184764" bIns="0" numCol="1" spcCol="1270" anchor="ctr" anchorCtr="0">
          <a:noAutofit/>
        </a:bodyPr>
        <a:lstStyle/>
        <a:p>
          <a:pPr marL="0" lvl="0" indent="0" algn="ctr" defTabSz="1289050">
            <a:lnSpc>
              <a:spcPct val="90000"/>
            </a:lnSpc>
            <a:spcBef>
              <a:spcPct val="0"/>
            </a:spcBef>
            <a:spcAft>
              <a:spcPct val="35000"/>
            </a:spcAft>
            <a:buNone/>
          </a:pPr>
          <a:r>
            <a:rPr lang="en-US" sz="2900" b="1" i="0" kern="1200"/>
            <a:t>Phân tích người bán</a:t>
          </a:r>
          <a:endParaRPr lang="en-US" sz="2900" kern="1200"/>
        </a:p>
      </dsp:txBody>
      <dsp:txXfrm rot="5400000">
        <a:off x="5434" y="737615"/>
        <a:ext cx="1906623" cy="2212847"/>
      </dsp:txXfrm>
    </dsp:sp>
    <dsp:sp modelId="{EFF3689C-AB9F-4E35-9E91-A981DEA62A80}">
      <dsp:nvSpPr>
        <dsp:cNvPr id="0" name=""/>
        <dsp:cNvSpPr/>
      </dsp:nvSpPr>
      <dsp:spPr>
        <a:xfrm rot="16200000">
          <a:off x="1164326" y="890727"/>
          <a:ext cx="3688079" cy="1906623"/>
        </a:xfrm>
        <a:prstGeom prst="flowChartManualOperation">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84150" tIns="0" rIns="184764" bIns="0" numCol="1" spcCol="1270" anchor="ctr" anchorCtr="0">
          <a:noAutofit/>
        </a:bodyPr>
        <a:lstStyle/>
        <a:p>
          <a:pPr marL="0" lvl="0" indent="0" algn="ctr" defTabSz="1289050">
            <a:lnSpc>
              <a:spcPct val="90000"/>
            </a:lnSpc>
            <a:spcBef>
              <a:spcPct val="0"/>
            </a:spcBef>
            <a:spcAft>
              <a:spcPct val="35000"/>
            </a:spcAft>
            <a:buNone/>
          </a:pPr>
          <a:r>
            <a:rPr lang="en-US" sz="2900" b="0" i="0" kern="1200"/>
            <a:t>Phân tích giá trị</a:t>
          </a:r>
          <a:endParaRPr lang="en-US" sz="2900" kern="1200"/>
        </a:p>
      </dsp:txBody>
      <dsp:txXfrm rot="5400000">
        <a:off x="2055054" y="737615"/>
        <a:ext cx="1906623" cy="2212847"/>
      </dsp:txXfrm>
    </dsp:sp>
    <dsp:sp modelId="{CBAE2C6C-5C8C-4A73-97A3-F08DC6086F4D}">
      <dsp:nvSpPr>
        <dsp:cNvPr id="0" name=""/>
        <dsp:cNvSpPr/>
      </dsp:nvSpPr>
      <dsp:spPr>
        <a:xfrm rot="16200000">
          <a:off x="3213947" y="890727"/>
          <a:ext cx="3688079" cy="1906623"/>
        </a:xfrm>
        <a:prstGeom prst="flowChartManualOperation">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84150" tIns="0" rIns="184764" bIns="0" numCol="1" spcCol="1270" anchor="ctr" anchorCtr="0">
          <a:noAutofit/>
        </a:bodyPr>
        <a:lstStyle/>
        <a:p>
          <a:pPr marL="0" lvl="0" indent="0" algn="ctr" defTabSz="1289050">
            <a:lnSpc>
              <a:spcPct val="90000"/>
            </a:lnSpc>
            <a:spcBef>
              <a:spcPct val="0"/>
            </a:spcBef>
            <a:spcAft>
              <a:spcPct val="35000"/>
            </a:spcAft>
            <a:buNone/>
          </a:pPr>
          <a:r>
            <a:rPr lang="en-US" sz="2900" b="1" i="0" kern="1200"/>
            <a:t>Quyết định mua hay tự sản xuất</a:t>
          </a:r>
          <a:endParaRPr lang="en-US" sz="2900" kern="1200"/>
        </a:p>
      </dsp:txBody>
      <dsp:txXfrm rot="5400000">
        <a:off x="4104675" y="737615"/>
        <a:ext cx="1906623" cy="2212847"/>
      </dsp:txXfrm>
    </dsp:sp>
    <dsp:sp modelId="{DE9CD8CD-A2C6-4CC0-A070-AE14BAE67C3F}">
      <dsp:nvSpPr>
        <dsp:cNvPr id="0" name=""/>
        <dsp:cNvSpPr/>
      </dsp:nvSpPr>
      <dsp:spPr>
        <a:xfrm rot="16200000">
          <a:off x="5263567" y="890727"/>
          <a:ext cx="3688079" cy="1906623"/>
        </a:xfrm>
        <a:prstGeom prst="flowChartManualOperation">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84150" tIns="0" rIns="184764" bIns="0" numCol="1" spcCol="1270" anchor="ctr" anchorCtr="0">
          <a:noAutofit/>
        </a:bodyPr>
        <a:lstStyle/>
        <a:p>
          <a:pPr marL="0" lvl="0" indent="0" algn="ctr" defTabSz="1289050">
            <a:lnSpc>
              <a:spcPct val="90000"/>
            </a:lnSpc>
            <a:spcBef>
              <a:spcPct val="0"/>
            </a:spcBef>
            <a:spcAft>
              <a:spcPct val="35000"/>
            </a:spcAft>
            <a:buNone/>
          </a:pPr>
          <a:r>
            <a:rPr lang="en-US" sz="2900" b="0" i="0" kern="1200"/>
            <a:t>Thời điểm mua </a:t>
          </a:r>
          <a:endParaRPr lang="en-US" sz="2900" kern="1200"/>
        </a:p>
      </dsp:txBody>
      <dsp:txXfrm rot="5400000">
        <a:off x="6154295" y="737615"/>
        <a:ext cx="1906623" cy="2212847"/>
      </dsp:txXfrm>
    </dsp:sp>
    <dsp:sp modelId="{1AF9536C-123F-4068-B849-51EDBEA8C051}">
      <dsp:nvSpPr>
        <dsp:cNvPr id="0" name=""/>
        <dsp:cNvSpPr/>
      </dsp:nvSpPr>
      <dsp:spPr>
        <a:xfrm rot="16200000">
          <a:off x="7313188" y="890727"/>
          <a:ext cx="3688079" cy="1906623"/>
        </a:xfrm>
        <a:prstGeom prst="flowChartManualOperation">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84150" tIns="0" rIns="184764" bIns="0" numCol="1" spcCol="1270" anchor="ctr" anchorCtr="0">
          <a:noAutofit/>
        </a:bodyPr>
        <a:lstStyle/>
        <a:p>
          <a:pPr marL="0" lvl="0" indent="0" algn="ctr" defTabSz="1289050">
            <a:lnSpc>
              <a:spcPct val="90000"/>
            </a:lnSpc>
            <a:spcBef>
              <a:spcPct val="0"/>
            </a:spcBef>
            <a:spcAft>
              <a:spcPct val="35000"/>
            </a:spcAft>
            <a:buNone/>
          </a:pPr>
          <a:r>
            <a:rPr lang="en-US" sz="2900" b="1" i="0" kern="1200"/>
            <a:t>Quyết  định mua đồng bộ</a:t>
          </a:r>
          <a:endParaRPr lang="en-US" sz="2900" kern="1200"/>
        </a:p>
      </dsp:txBody>
      <dsp:txXfrm rot="5400000">
        <a:off x="8203916" y="737615"/>
        <a:ext cx="1906623" cy="221284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 name="Google Shape;8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276199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51247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1"/>
        <p:cNvGrpSpPr/>
        <p:nvPr/>
      </p:nvGrpSpPr>
      <p:grpSpPr>
        <a:xfrm>
          <a:off x="0" y="0"/>
          <a:ext cx="0" cy="0"/>
          <a:chOff x="0" y="0"/>
          <a:chExt cx="0" cy="0"/>
        </a:xfrm>
      </p:grpSpPr>
      <p:sp>
        <p:nvSpPr>
          <p:cNvPr id="3122" name="Google Shape;3122;p38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3" name="Google Shape;3123;p3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75265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7" name="Google Shape;28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2" name="Google Shape;30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254261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4" name="Google Shape;494;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0" name="Google Shape;500;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5" name="Google Shape;505;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1" name="Google Shape;511;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7" name="Google Shape;517;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2" name="Google Shape;522;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8" name="Google Shape;528;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9" name="Google Shape;539;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6" name="Google Shape;546;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2" name="Google Shape;552;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9" name="Google Shape;559;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6" name="Google Shape;566;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3" name="Google Shape;573;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0" name="Google Shape;580;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7" name="Google Shape;587;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5" name="Google Shape;605;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5" name="Google Shape;615;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1" name="Google Shape;621;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2" name="Google Shape;632;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7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2" name="Google Shape;672;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p7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8" name="Google Shape;688;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4" name="Google Shape;694;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8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p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4" name="Google Shape;714;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p8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0" name="Google Shape;720;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8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6" name="Google Shape;726;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4" name="Google Shape;734;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0" name="Google Shape;740;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p8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1" name="Google Shape;751;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p9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p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2" name="Google Shape;772;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9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p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5" name="Google Shape;785;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9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7" name="Google Shape;797;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9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4" name="Google Shape;804;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9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0" name="Google Shape;810;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p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6" name="Google Shape;816;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p9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2" name="Google Shape;822;p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9" name="Google Shape;829;p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p10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6" name="Google Shape;836;p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0"/>
        <p:cNvGrpSpPr/>
        <p:nvPr/>
      </p:nvGrpSpPr>
      <p:grpSpPr>
        <a:xfrm>
          <a:off x="0" y="0"/>
          <a:ext cx="0" cy="0"/>
          <a:chOff x="0" y="0"/>
          <a:chExt cx="0" cy="0"/>
        </a:xfrm>
      </p:grpSpPr>
      <p:sp>
        <p:nvSpPr>
          <p:cNvPr id="1821" name="Google Shape;1821;p2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22" name="Google Shape;1822;p2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6"/>
        <p:cNvGrpSpPr/>
        <p:nvPr/>
      </p:nvGrpSpPr>
      <p:grpSpPr>
        <a:xfrm>
          <a:off x="0" y="0"/>
          <a:ext cx="0" cy="0"/>
          <a:chOff x="0" y="0"/>
          <a:chExt cx="0" cy="0"/>
        </a:xfrm>
      </p:grpSpPr>
      <p:sp>
        <p:nvSpPr>
          <p:cNvPr id="1827" name="Google Shape;1827;p2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28" name="Google Shape;1828;p2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8"/>
        <p:cNvGrpSpPr/>
        <p:nvPr/>
      </p:nvGrpSpPr>
      <p:grpSpPr>
        <a:xfrm>
          <a:off x="0" y="0"/>
          <a:ext cx="0" cy="0"/>
          <a:chOff x="0" y="0"/>
          <a:chExt cx="0" cy="0"/>
        </a:xfrm>
      </p:grpSpPr>
      <p:sp>
        <p:nvSpPr>
          <p:cNvPr id="1859" name="Google Shape;1859;p2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0" name="Google Shape;1860;p2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704293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4"/>
        <p:cNvGrpSpPr/>
        <p:nvPr/>
      </p:nvGrpSpPr>
      <p:grpSpPr>
        <a:xfrm>
          <a:off x="0" y="0"/>
          <a:ext cx="0" cy="0"/>
          <a:chOff x="0" y="0"/>
          <a:chExt cx="0" cy="0"/>
        </a:xfrm>
      </p:grpSpPr>
      <p:sp>
        <p:nvSpPr>
          <p:cNvPr id="1865" name="Google Shape;1865;p2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6" name="Google Shape;1866;p2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200541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0"/>
        <p:cNvGrpSpPr/>
        <p:nvPr/>
      </p:nvGrpSpPr>
      <p:grpSpPr>
        <a:xfrm>
          <a:off x="0" y="0"/>
          <a:ext cx="0" cy="0"/>
          <a:chOff x="0" y="0"/>
          <a:chExt cx="0" cy="0"/>
        </a:xfrm>
      </p:grpSpPr>
      <p:sp>
        <p:nvSpPr>
          <p:cNvPr id="1871" name="Google Shape;1871;p2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2" name="Google Shape;1872;p2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706913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6"/>
        <p:cNvGrpSpPr/>
        <p:nvPr/>
      </p:nvGrpSpPr>
      <p:grpSpPr>
        <a:xfrm>
          <a:off x="0" y="0"/>
          <a:ext cx="0" cy="0"/>
          <a:chOff x="0" y="0"/>
          <a:chExt cx="0" cy="0"/>
        </a:xfrm>
      </p:grpSpPr>
      <p:sp>
        <p:nvSpPr>
          <p:cNvPr id="1877" name="Google Shape;1877;p2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8" name="Google Shape;1878;p2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3096507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p2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0" name="Google Shape;1890;p2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280362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6"/>
        <p:cNvGrpSpPr/>
        <p:nvPr/>
      </p:nvGrpSpPr>
      <p:grpSpPr>
        <a:xfrm>
          <a:off x="0" y="0"/>
          <a:ext cx="0" cy="0"/>
          <a:chOff x="0" y="0"/>
          <a:chExt cx="0" cy="0"/>
        </a:xfrm>
      </p:grpSpPr>
      <p:sp>
        <p:nvSpPr>
          <p:cNvPr id="1897" name="Google Shape;1897;p2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8" name="Google Shape;1898;p2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3631100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0"/>
        <p:cNvGrpSpPr/>
        <p:nvPr/>
      </p:nvGrpSpPr>
      <p:grpSpPr>
        <a:xfrm>
          <a:off x="0" y="0"/>
          <a:ext cx="0" cy="0"/>
          <a:chOff x="0" y="0"/>
          <a:chExt cx="0" cy="0"/>
        </a:xfrm>
      </p:grpSpPr>
      <p:sp>
        <p:nvSpPr>
          <p:cNvPr id="1911" name="Google Shape;1911;p2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2" name="Google Shape;1912;p2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3"/>
        <p:cNvGrpSpPr/>
        <p:nvPr/>
      </p:nvGrpSpPr>
      <p:grpSpPr>
        <a:xfrm>
          <a:off x="0" y="0"/>
          <a:ext cx="0" cy="0"/>
          <a:chOff x="0" y="0"/>
          <a:chExt cx="0" cy="0"/>
        </a:xfrm>
      </p:grpSpPr>
      <p:sp>
        <p:nvSpPr>
          <p:cNvPr id="2004" name="Google Shape;2004;p28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5" name="Google Shape;2005;p2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4"/>
        <p:cNvGrpSpPr/>
        <p:nvPr/>
      </p:nvGrpSpPr>
      <p:grpSpPr>
        <a:xfrm>
          <a:off x="0" y="0"/>
          <a:ext cx="0" cy="0"/>
          <a:chOff x="0" y="0"/>
          <a:chExt cx="0" cy="0"/>
        </a:xfrm>
      </p:grpSpPr>
      <p:sp>
        <p:nvSpPr>
          <p:cNvPr id="2015" name="Google Shape;2015;p28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6" name="Google Shape;2016;p2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2"/>
        <p:cNvGrpSpPr/>
        <p:nvPr/>
      </p:nvGrpSpPr>
      <p:grpSpPr>
        <a:xfrm>
          <a:off x="0" y="0"/>
          <a:ext cx="0" cy="0"/>
          <a:chOff x="0" y="0"/>
          <a:chExt cx="0" cy="0"/>
        </a:xfrm>
      </p:grpSpPr>
      <p:sp>
        <p:nvSpPr>
          <p:cNvPr id="2023" name="Google Shape;2023;p28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4" name="Google Shape;2024;p2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6"/>
        <p:cNvGrpSpPr/>
        <p:nvPr/>
      </p:nvGrpSpPr>
      <p:grpSpPr>
        <a:xfrm>
          <a:off x="0" y="0"/>
          <a:ext cx="0" cy="0"/>
          <a:chOff x="0" y="0"/>
          <a:chExt cx="0" cy="0"/>
        </a:xfrm>
      </p:grpSpPr>
      <p:sp>
        <p:nvSpPr>
          <p:cNvPr id="2037" name="Google Shape;2037;p2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8" name="Google Shape;2038;p2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1"/>
        <p:cNvGrpSpPr/>
        <p:nvPr/>
      </p:nvGrpSpPr>
      <p:grpSpPr>
        <a:xfrm>
          <a:off x="0" y="0"/>
          <a:ext cx="0" cy="0"/>
          <a:chOff x="0" y="0"/>
          <a:chExt cx="0" cy="0"/>
        </a:xfrm>
      </p:grpSpPr>
      <p:sp>
        <p:nvSpPr>
          <p:cNvPr id="2052" name="Google Shape;2052;p2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3" name="Google Shape;2053;p2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399349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5"/>
        <p:cNvGrpSpPr/>
        <p:nvPr/>
      </p:nvGrpSpPr>
      <p:grpSpPr>
        <a:xfrm>
          <a:off x="0" y="0"/>
          <a:ext cx="0" cy="0"/>
          <a:chOff x="0" y="0"/>
          <a:chExt cx="0" cy="0"/>
        </a:xfrm>
      </p:grpSpPr>
      <p:sp>
        <p:nvSpPr>
          <p:cNvPr id="2066" name="Google Shape;2066;p28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7" name="Google Shape;2067;p2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1109208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9"/>
        <p:cNvGrpSpPr/>
        <p:nvPr/>
      </p:nvGrpSpPr>
      <p:grpSpPr>
        <a:xfrm>
          <a:off x="0" y="0"/>
          <a:ext cx="0" cy="0"/>
          <a:chOff x="0" y="0"/>
          <a:chExt cx="0" cy="0"/>
        </a:xfrm>
      </p:grpSpPr>
      <p:sp>
        <p:nvSpPr>
          <p:cNvPr id="2080" name="Google Shape;2080;p29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1" name="Google Shape;2081;p2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5822034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4"/>
        <p:cNvGrpSpPr/>
        <p:nvPr/>
      </p:nvGrpSpPr>
      <p:grpSpPr>
        <a:xfrm>
          <a:off x="0" y="0"/>
          <a:ext cx="0" cy="0"/>
          <a:chOff x="0" y="0"/>
          <a:chExt cx="0" cy="0"/>
        </a:xfrm>
      </p:grpSpPr>
      <p:sp>
        <p:nvSpPr>
          <p:cNvPr id="2115" name="Google Shape;2115;p29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6" name="Google Shape;2116;p2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131689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1B201895-9E3C-8B4D-90C5-E7F988FEC5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4" name="Notes Placeholder 2">
            <a:extLst>
              <a:ext uri="{FF2B5EF4-FFF2-40B4-BE49-F238E27FC236}">
                <a16:creationId xmlns:a16="http://schemas.microsoft.com/office/drawing/2014/main" id="{F39E49BD-3484-2741-852F-72C72D8A38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The </a:t>
            </a:r>
            <a:r>
              <a:rPr lang="en-US" altLang="en-US" b="1"/>
              <a:t>cognitive component </a:t>
            </a:r>
            <a:r>
              <a:rPr lang="en-US" altLang="en-US"/>
              <a:t>consists of a person’s knowledge and perceptions of the features of an attitude object - commonly expressed as </a:t>
            </a:r>
            <a:r>
              <a:rPr lang="en-US" altLang="en-US" i="1"/>
              <a:t>beliefs</a:t>
            </a:r>
            <a:r>
              <a:rPr lang="en-US" altLang="en-US"/>
              <a:t>; or whether or not the consumer believes that the attitude object possesses specific attributes.</a:t>
            </a:r>
          </a:p>
        </p:txBody>
      </p:sp>
      <p:sp>
        <p:nvSpPr>
          <p:cNvPr id="18435" name="Slide Number Placeholder 3">
            <a:extLst>
              <a:ext uri="{FF2B5EF4-FFF2-40B4-BE49-F238E27FC236}">
                <a16:creationId xmlns:a16="http://schemas.microsoft.com/office/drawing/2014/main" id="{8F0EF5A0-EE94-B64F-A326-C04A631496F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C8D70933-796D-CF4E-B385-CF13FCA9703E}" type="slidenum">
              <a:rPr lang="en-US" altLang="en-US" smtClean="0"/>
              <a:pPr/>
              <a:t>158</a:t>
            </a:fld>
            <a:endParaRPr lang="en-US"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AC6DA2EB-6F46-804B-ACA9-FE4E64A63AC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2" name="Notes Placeholder 2">
            <a:extLst>
              <a:ext uri="{FF2B5EF4-FFF2-40B4-BE49-F238E27FC236}">
                <a16:creationId xmlns:a16="http://schemas.microsoft.com/office/drawing/2014/main" id="{DB0F6B85-1C05-4548-817B-9FEF52B52E3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The </a:t>
            </a:r>
            <a:r>
              <a:rPr lang="en-US" altLang="en-US" b="1"/>
              <a:t>affective component </a:t>
            </a:r>
            <a:r>
              <a:rPr lang="en-US" altLang="en-US"/>
              <a:t>represents the consumer’s emotions and feelings regarding the attitude object, or </a:t>
            </a:r>
            <a:r>
              <a:rPr lang="en-US" altLang="en-US" i="1"/>
              <a:t>evaluations</a:t>
            </a:r>
            <a:r>
              <a:rPr lang="en-US" altLang="en-US"/>
              <a:t> (i.e., the extent to which the individual rates the attitude object as “favorable” or “unfavorable,” “good” or “bad”). Table 6.3 illustrates the measurement of consumers’ feelings and emotions toward a product.</a:t>
            </a:r>
          </a:p>
        </p:txBody>
      </p:sp>
      <p:sp>
        <p:nvSpPr>
          <p:cNvPr id="20483" name="Slide Number Placeholder 3">
            <a:extLst>
              <a:ext uri="{FF2B5EF4-FFF2-40B4-BE49-F238E27FC236}">
                <a16:creationId xmlns:a16="http://schemas.microsoft.com/office/drawing/2014/main" id="{AA516F3B-3475-934B-BA1C-980283CBDB4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924F8162-9D79-1045-ADF5-BE03F5D8BF14}" type="slidenum">
              <a:rPr lang="en-US" altLang="en-US" smtClean="0"/>
              <a:pPr/>
              <a:t>159</a:t>
            </a:fld>
            <a:endParaRPr lang="en-US"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a:extLst>
              <a:ext uri="{FF2B5EF4-FFF2-40B4-BE49-F238E27FC236}">
                <a16:creationId xmlns:a16="http://schemas.microsoft.com/office/drawing/2014/main" id="{0E8B905B-2C04-1647-BFE6-A0426BB5620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0" name="Notes Placeholder 2">
            <a:extLst>
              <a:ext uri="{FF2B5EF4-FFF2-40B4-BE49-F238E27FC236}">
                <a16:creationId xmlns:a16="http://schemas.microsoft.com/office/drawing/2014/main" id="{21E382CE-A85A-2B4A-AF92-5A027EEC666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The </a:t>
            </a:r>
            <a:r>
              <a:rPr lang="en-US" altLang="en-US" b="1"/>
              <a:t>conative component </a:t>
            </a:r>
            <a:r>
              <a:rPr lang="en-US" altLang="en-US"/>
              <a:t>reflects the likelihood that an individual will undertake a specific action or behave in a particular way with regard to the attitude object - treated as an expression of the consumer’s </a:t>
            </a:r>
            <a:r>
              <a:rPr lang="en-US" altLang="en-US" i="1"/>
              <a:t>intention to buy </a:t>
            </a:r>
            <a:r>
              <a:rPr lang="en-US" altLang="en-US"/>
              <a:t>in consumer research</a:t>
            </a:r>
            <a:r>
              <a:rPr lang="en-US" altLang="en-US" i="1"/>
              <a:t>. </a:t>
            </a:r>
            <a:r>
              <a:rPr lang="en-US" altLang="en-US"/>
              <a:t>Table 6.5 shows examples of intention-to-buy measures.</a:t>
            </a:r>
          </a:p>
        </p:txBody>
      </p:sp>
      <p:sp>
        <p:nvSpPr>
          <p:cNvPr id="22531" name="Slide Number Placeholder 3">
            <a:extLst>
              <a:ext uri="{FF2B5EF4-FFF2-40B4-BE49-F238E27FC236}">
                <a16:creationId xmlns:a16="http://schemas.microsoft.com/office/drawing/2014/main" id="{67910678-EBDE-454C-8801-D6272050F85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A67174DE-496F-A747-BD50-365925F28885}" type="slidenum">
              <a:rPr lang="en-US" altLang="en-US" smtClean="0"/>
              <a:pPr/>
              <a:t>160</a:t>
            </a:fld>
            <a:endParaRPr lang="en-US"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8"/>
        <p:cNvGrpSpPr/>
        <p:nvPr/>
      </p:nvGrpSpPr>
      <p:grpSpPr>
        <a:xfrm>
          <a:off x="0" y="0"/>
          <a:ext cx="0" cy="0"/>
          <a:chOff x="0" y="0"/>
          <a:chExt cx="0" cy="0"/>
        </a:xfrm>
      </p:grpSpPr>
      <p:sp>
        <p:nvSpPr>
          <p:cNvPr id="1549" name="Google Shape;1549;p2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0" name="Google Shape;1550;p2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3"/>
        <p:cNvGrpSpPr/>
        <p:nvPr/>
      </p:nvGrpSpPr>
      <p:grpSpPr>
        <a:xfrm>
          <a:off x="0" y="0"/>
          <a:ext cx="0" cy="0"/>
          <a:chOff x="0" y="0"/>
          <a:chExt cx="0" cy="0"/>
        </a:xfrm>
      </p:grpSpPr>
      <p:sp>
        <p:nvSpPr>
          <p:cNvPr id="1554" name="Google Shape;1554;p2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5" name="Google Shape;1555;p2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9"/>
        <p:cNvGrpSpPr/>
        <p:nvPr/>
      </p:nvGrpSpPr>
      <p:grpSpPr>
        <a:xfrm>
          <a:off x="0" y="0"/>
          <a:ext cx="0" cy="0"/>
          <a:chOff x="0" y="0"/>
          <a:chExt cx="0" cy="0"/>
        </a:xfrm>
      </p:grpSpPr>
      <p:sp>
        <p:nvSpPr>
          <p:cNvPr id="1560" name="Google Shape;1560;p2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1" name="Google Shape;1561;p2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5"/>
        <p:cNvGrpSpPr/>
        <p:nvPr/>
      </p:nvGrpSpPr>
      <p:grpSpPr>
        <a:xfrm>
          <a:off x="0" y="0"/>
          <a:ext cx="0" cy="0"/>
          <a:chOff x="0" y="0"/>
          <a:chExt cx="0" cy="0"/>
        </a:xfrm>
      </p:grpSpPr>
      <p:sp>
        <p:nvSpPr>
          <p:cNvPr id="1566" name="Google Shape;1566;p2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7" name="Google Shape;1567;p2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6"/>
        <p:cNvGrpSpPr/>
        <p:nvPr/>
      </p:nvGrpSpPr>
      <p:grpSpPr>
        <a:xfrm>
          <a:off x="0" y="0"/>
          <a:ext cx="0" cy="0"/>
          <a:chOff x="0" y="0"/>
          <a:chExt cx="0" cy="0"/>
        </a:xfrm>
      </p:grpSpPr>
      <p:sp>
        <p:nvSpPr>
          <p:cNvPr id="1577" name="Google Shape;1577;p2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8" name="Google Shape;1578;p2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0"/>
        <p:cNvGrpSpPr/>
        <p:nvPr/>
      </p:nvGrpSpPr>
      <p:grpSpPr>
        <a:xfrm>
          <a:off x="0" y="0"/>
          <a:ext cx="0" cy="0"/>
          <a:chOff x="0" y="0"/>
          <a:chExt cx="0" cy="0"/>
        </a:xfrm>
      </p:grpSpPr>
      <p:sp>
        <p:nvSpPr>
          <p:cNvPr id="1591" name="Google Shape;1591;p2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2" name="Google Shape;1592;p2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6"/>
        <p:cNvGrpSpPr/>
        <p:nvPr/>
      </p:nvGrpSpPr>
      <p:grpSpPr>
        <a:xfrm>
          <a:off x="0" y="0"/>
          <a:ext cx="0" cy="0"/>
          <a:chOff x="0" y="0"/>
          <a:chExt cx="0" cy="0"/>
        </a:xfrm>
      </p:grpSpPr>
      <p:sp>
        <p:nvSpPr>
          <p:cNvPr id="1597" name="Google Shape;1597;p2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8" name="Google Shape;1598;p2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3"/>
        <p:cNvGrpSpPr/>
        <p:nvPr/>
      </p:nvGrpSpPr>
      <p:grpSpPr>
        <a:xfrm>
          <a:off x="0" y="0"/>
          <a:ext cx="0" cy="0"/>
          <a:chOff x="0" y="0"/>
          <a:chExt cx="0" cy="0"/>
        </a:xfrm>
      </p:grpSpPr>
      <p:sp>
        <p:nvSpPr>
          <p:cNvPr id="1604" name="Google Shape;1604;p2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5" name="Google Shape;1605;p2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5"/>
        <p:cNvGrpSpPr/>
        <p:nvPr/>
      </p:nvGrpSpPr>
      <p:grpSpPr>
        <a:xfrm>
          <a:off x="0" y="0"/>
          <a:ext cx="0" cy="0"/>
          <a:chOff x="0" y="0"/>
          <a:chExt cx="0" cy="0"/>
        </a:xfrm>
      </p:grpSpPr>
      <p:sp>
        <p:nvSpPr>
          <p:cNvPr id="1616" name="Google Shape;1616;p2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7" name="Google Shape;1617;p2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6"/>
        <p:cNvGrpSpPr/>
        <p:nvPr/>
      </p:nvGrpSpPr>
      <p:grpSpPr>
        <a:xfrm>
          <a:off x="0" y="0"/>
          <a:ext cx="0" cy="0"/>
          <a:chOff x="0" y="0"/>
          <a:chExt cx="0" cy="0"/>
        </a:xfrm>
      </p:grpSpPr>
      <p:sp>
        <p:nvSpPr>
          <p:cNvPr id="1627" name="Google Shape;1627;p2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8" name="Google Shape;1628;p2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5"/>
        <p:cNvGrpSpPr/>
        <p:nvPr/>
      </p:nvGrpSpPr>
      <p:grpSpPr>
        <a:xfrm>
          <a:off x="0" y="0"/>
          <a:ext cx="0" cy="0"/>
          <a:chOff x="0" y="0"/>
          <a:chExt cx="0" cy="0"/>
        </a:xfrm>
      </p:grpSpPr>
      <p:sp>
        <p:nvSpPr>
          <p:cNvPr id="1646" name="Google Shape;1646;p2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7" name="Google Shape;1647;p2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1"/>
        <p:cNvGrpSpPr/>
        <p:nvPr/>
      </p:nvGrpSpPr>
      <p:grpSpPr>
        <a:xfrm>
          <a:off x="0" y="0"/>
          <a:ext cx="0" cy="0"/>
          <a:chOff x="0" y="0"/>
          <a:chExt cx="0" cy="0"/>
        </a:xfrm>
      </p:grpSpPr>
      <p:sp>
        <p:nvSpPr>
          <p:cNvPr id="1652" name="Google Shape;1652;p2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53" name="Google Shape;1653;p2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7"/>
        <p:cNvGrpSpPr/>
        <p:nvPr/>
      </p:nvGrpSpPr>
      <p:grpSpPr>
        <a:xfrm>
          <a:off x="0" y="0"/>
          <a:ext cx="0" cy="0"/>
          <a:chOff x="0" y="0"/>
          <a:chExt cx="0" cy="0"/>
        </a:xfrm>
      </p:grpSpPr>
      <p:sp>
        <p:nvSpPr>
          <p:cNvPr id="1658" name="Google Shape;1658;p2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59" name="Google Shape;1659;p2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4"/>
        <p:cNvGrpSpPr/>
        <p:nvPr/>
      </p:nvGrpSpPr>
      <p:grpSpPr>
        <a:xfrm>
          <a:off x="0" y="0"/>
          <a:ext cx="0" cy="0"/>
          <a:chOff x="0" y="0"/>
          <a:chExt cx="0" cy="0"/>
        </a:xfrm>
      </p:grpSpPr>
      <p:sp>
        <p:nvSpPr>
          <p:cNvPr id="1665" name="Google Shape;1665;p2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6" name="Google Shape;1666;p2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3"/>
        <p:cNvGrpSpPr/>
        <p:nvPr/>
      </p:nvGrpSpPr>
      <p:grpSpPr>
        <a:xfrm>
          <a:off x="0" y="0"/>
          <a:ext cx="0" cy="0"/>
          <a:chOff x="0" y="0"/>
          <a:chExt cx="0" cy="0"/>
        </a:xfrm>
      </p:grpSpPr>
      <p:sp>
        <p:nvSpPr>
          <p:cNvPr id="1674" name="Google Shape;1674;p2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5" name="Google Shape;1675;p2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9"/>
        <p:cNvGrpSpPr/>
        <p:nvPr/>
      </p:nvGrpSpPr>
      <p:grpSpPr>
        <a:xfrm>
          <a:off x="0" y="0"/>
          <a:ext cx="0" cy="0"/>
          <a:chOff x="0" y="0"/>
          <a:chExt cx="0" cy="0"/>
        </a:xfrm>
      </p:grpSpPr>
      <p:sp>
        <p:nvSpPr>
          <p:cNvPr id="1680" name="Google Shape;1680;p2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1" name="Google Shape;1681;p2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5"/>
        <p:cNvGrpSpPr/>
        <p:nvPr/>
      </p:nvGrpSpPr>
      <p:grpSpPr>
        <a:xfrm>
          <a:off x="0" y="0"/>
          <a:ext cx="0" cy="0"/>
          <a:chOff x="0" y="0"/>
          <a:chExt cx="0" cy="0"/>
        </a:xfrm>
      </p:grpSpPr>
      <p:sp>
        <p:nvSpPr>
          <p:cNvPr id="1686" name="Google Shape;1686;p2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7" name="Google Shape;1687;p2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1"/>
        <p:cNvGrpSpPr/>
        <p:nvPr/>
      </p:nvGrpSpPr>
      <p:grpSpPr>
        <a:xfrm>
          <a:off x="0" y="0"/>
          <a:ext cx="0" cy="0"/>
          <a:chOff x="0" y="0"/>
          <a:chExt cx="0" cy="0"/>
        </a:xfrm>
      </p:grpSpPr>
      <p:sp>
        <p:nvSpPr>
          <p:cNvPr id="1692" name="Google Shape;1692;p2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3" name="Google Shape;1693;p2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2"/>
        <p:cNvGrpSpPr/>
        <p:nvPr/>
      </p:nvGrpSpPr>
      <p:grpSpPr>
        <a:xfrm>
          <a:off x="0" y="0"/>
          <a:ext cx="0" cy="0"/>
          <a:chOff x="0" y="0"/>
          <a:chExt cx="0" cy="0"/>
        </a:xfrm>
      </p:grpSpPr>
      <p:sp>
        <p:nvSpPr>
          <p:cNvPr id="1703" name="Google Shape;1703;p2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4" name="Google Shape;1704;p2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4"/>
        <p:cNvGrpSpPr/>
        <p:nvPr/>
      </p:nvGrpSpPr>
      <p:grpSpPr>
        <a:xfrm>
          <a:off x="0" y="0"/>
          <a:ext cx="0" cy="0"/>
          <a:chOff x="0" y="0"/>
          <a:chExt cx="0" cy="0"/>
        </a:xfrm>
      </p:grpSpPr>
      <p:sp>
        <p:nvSpPr>
          <p:cNvPr id="1715" name="Google Shape;1715;p2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6" name="Google Shape;1716;p2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p:cNvGrpSpPr/>
        <p:nvPr/>
      </p:nvGrpSpPr>
      <p:grpSpPr>
        <a:xfrm>
          <a:off x="0" y="0"/>
          <a:ext cx="0" cy="0"/>
          <a:chOff x="0" y="0"/>
          <a:chExt cx="0" cy="0"/>
        </a:xfrm>
      </p:grpSpPr>
      <p:sp>
        <p:nvSpPr>
          <p:cNvPr id="1721" name="Google Shape;1721;p2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2" name="Google Shape;1722;p2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p2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8" name="Google Shape;1728;p2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2"/>
        <p:cNvGrpSpPr/>
        <p:nvPr/>
      </p:nvGrpSpPr>
      <p:grpSpPr>
        <a:xfrm>
          <a:off x="0" y="0"/>
          <a:ext cx="0" cy="0"/>
          <a:chOff x="0" y="0"/>
          <a:chExt cx="0" cy="0"/>
        </a:xfrm>
      </p:grpSpPr>
      <p:sp>
        <p:nvSpPr>
          <p:cNvPr id="1733" name="Google Shape;1733;p2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4" name="Google Shape;1734;p2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8"/>
        <p:cNvGrpSpPr/>
        <p:nvPr/>
      </p:nvGrpSpPr>
      <p:grpSpPr>
        <a:xfrm>
          <a:off x="0" y="0"/>
          <a:ext cx="0" cy="0"/>
          <a:chOff x="0" y="0"/>
          <a:chExt cx="0" cy="0"/>
        </a:xfrm>
      </p:grpSpPr>
      <p:sp>
        <p:nvSpPr>
          <p:cNvPr id="1739" name="Google Shape;1739;p2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0" name="Google Shape;1740;p2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4"/>
        <p:cNvGrpSpPr/>
        <p:nvPr/>
      </p:nvGrpSpPr>
      <p:grpSpPr>
        <a:xfrm>
          <a:off x="0" y="0"/>
          <a:ext cx="0" cy="0"/>
          <a:chOff x="0" y="0"/>
          <a:chExt cx="0" cy="0"/>
        </a:xfrm>
      </p:grpSpPr>
      <p:sp>
        <p:nvSpPr>
          <p:cNvPr id="1745" name="Google Shape;1745;p2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6" name="Google Shape;1746;p2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p2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4" name="Google Shape;1754;p2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8"/>
        <p:cNvGrpSpPr/>
        <p:nvPr/>
      </p:nvGrpSpPr>
      <p:grpSpPr>
        <a:xfrm>
          <a:off x="0" y="0"/>
          <a:ext cx="0" cy="0"/>
          <a:chOff x="0" y="0"/>
          <a:chExt cx="0" cy="0"/>
        </a:xfrm>
      </p:grpSpPr>
      <p:sp>
        <p:nvSpPr>
          <p:cNvPr id="1759" name="Google Shape;1759;p2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0" name="Google Shape;1760;p2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0"/>
        <p:cNvGrpSpPr/>
        <p:nvPr/>
      </p:nvGrpSpPr>
      <p:grpSpPr>
        <a:xfrm>
          <a:off x="0" y="0"/>
          <a:ext cx="0" cy="0"/>
          <a:chOff x="0" y="0"/>
          <a:chExt cx="0" cy="0"/>
        </a:xfrm>
      </p:grpSpPr>
      <p:sp>
        <p:nvSpPr>
          <p:cNvPr id="1771" name="Google Shape;1771;p2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2" name="Google Shape;1772;p2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8"/>
        <p:cNvGrpSpPr/>
        <p:nvPr/>
      </p:nvGrpSpPr>
      <p:grpSpPr>
        <a:xfrm>
          <a:off x="0" y="0"/>
          <a:ext cx="0" cy="0"/>
          <a:chOff x="0" y="0"/>
          <a:chExt cx="0" cy="0"/>
        </a:xfrm>
      </p:grpSpPr>
      <p:sp>
        <p:nvSpPr>
          <p:cNvPr id="1789" name="Google Shape;1789;p2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0" name="Google Shape;1790;p2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6"/>
        <p:cNvGrpSpPr/>
        <p:nvPr/>
      </p:nvGrpSpPr>
      <p:grpSpPr>
        <a:xfrm>
          <a:off x="0" y="0"/>
          <a:ext cx="0" cy="0"/>
          <a:chOff x="0" y="0"/>
          <a:chExt cx="0" cy="0"/>
        </a:xfrm>
      </p:grpSpPr>
      <p:sp>
        <p:nvSpPr>
          <p:cNvPr id="1797" name="Google Shape;1797;p2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8" name="Google Shape;1798;p2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1"/>
        <p:cNvGrpSpPr/>
        <p:nvPr/>
      </p:nvGrpSpPr>
      <p:grpSpPr>
        <a:xfrm>
          <a:off x="0" y="0"/>
          <a:ext cx="0" cy="0"/>
          <a:chOff x="0" y="0"/>
          <a:chExt cx="0" cy="0"/>
        </a:xfrm>
      </p:grpSpPr>
      <p:sp>
        <p:nvSpPr>
          <p:cNvPr id="2122" name="Google Shape;2122;p29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3" name="Google Shape;2123;p2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7"/>
        <p:cNvGrpSpPr/>
        <p:nvPr/>
      </p:nvGrpSpPr>
      <p:grpSpPr>
        <a:xfrm>
          <a:off x="0" y="0"/>
          <a:ext cx="0" cy="0"/>
          <a:chOff x="0" y="0"/>
          <a:chExt cx="0" cy="0"/>
        </a:xfrm>
      </p:grpSpPr>
      <p:sp>
        <p:nvSpPr>
          <p:cNvPr id="2128" name="Google Shape;2128;p29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9" name="Google Shape;2129;p2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3"/>
        <p:cNvGrpSpPr/>
        <p:nvPr/>
      </p:nvGrpSpPr>
      <p:grpSpPr>
        <a:xfrm>
          <a:off x="0" y="0"/>
          <a:ext cx="0" cy="0"/>
          <a:chOff x="0" y="0"/>
          <a:chExt cx="0" cy="0"/>
        </a:xfrm>
      </p:grpSpPr>
      <p:sp>
        <p:nvSpPr>
          <p:cNvPr id="2134" name="Google Shape;2134;p2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5" name="Google Shape;2135;p2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4"/>
        <p:cNvGrpSpPr/>
        <p:nvPr/>
      </p:nvGrpSpPr>
      <p:grpSpPr>
        <a:xfrm>
          <a:off x="0" y="0"/>
          <a:ext cx="0" cy="0"/>
          <a:chOff x="0" y="0"/>
          <a:chExt cx="0" cy="0"/>
        </a:xfrm>
      </p:grpSpPr>
      <p:sp>
        <p:nvSpPr>
          <p:cNvPr id="2145" name="Google Shape;2145;p30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6" name="Google Shape;2146;p3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9"/>
        <p:cNvGrpSpPr/>
        <p:nvPr/>
      </p:nvGrpSpPr>
      <p:grpSpPr>
        <a:xfrm>
          <a:off x="0" y="0"/>
          <a:ext cx="0" cy="0"/>
          <a:chOff x="0" y="0"/>
          <a:chExt cx="0" cy="0"/>
        </a:xfrm>
      </p:grpSpPr>
      <p:sp>
        <p:nvSpPr>
          <p:cNvPr id="2150" name="Google Shape;2150;p30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1" name="Google Shape;2151;p3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4"/>
        <p:cNvGrpSpPr/>
        <p:nvPr/>
      </p:nvGrpSpPr>
      <p:grpSpPr>
        <a:xfrm>
          <a:off x="0" y="0"/>
          <a:ext cx="0" cy="0"/>
          <a:chOff x="0" y="0"/>
          <a:chExt cx="0" cy="0"/>
        </a:xfrm>
      </p:grpSpPr>
      <p:sp>
        <p:nvSpPr>
          <p:cNvPr id="2155" name="Google Shape;2155;p30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6" name="Google Shape;2156;p3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7"/>
        <p:cNvGrpSpPr/>
        <p:nvPr/>
      </p:nvGrpSpPr>
      <p:grpSpPr>
        <a:xfrm>
          <a:off x="0" y="0"/>
          <a:ext cx="0" cy="0"/>
          <a:chOff x="0" y="0"/>
          <a:chExt cx="0" cy="0"/>
        </a:xfrm>
      </p:grpSpPr>
      <p:sp>
        <p:nvSpPr>
          <p:cNvPr id="2168" name="Google Shape;2168;p30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9" name="Google Shape;2169;p3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4"/>
        <p:cNvGrpSpPr/>
        <p:nvPr/>
      </p:nvGrpSpPr>
      <p:grpSpPr>
        <a:xfrm>
          <a:off x="0" y="0"/>
          <a:ext cx="0" cy="0"/>
          <a:chOff x="0" y="0"/>
          <a:chExt cx="0" cy="0"/>
        </a:xfrm>
      </p:grpSpPr>
      <p:sp>
        <p:nvSpPr>
          <p:cNvPr id="2175" name="Google Shape;2175;p30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76" name="Google Shape;2176;p3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7"/>
        <p:cNvGrpSpPr/>
        <p:nvPr/>
      </p:nvGrpSpPr>
      <p:grpSpPr>
        <a:xfrm>
          <a:off x="0" y="0"/>
          <a:ext cx="0" cy="0"/>
          <a:chOff x="0" y="0"/>
          <a:chExt cx="0" cy="0"/>
        </a:xfrm>
      </p:grpSpPr>
      <p:sp>
        <p:nvSpPr>
          <p:cNvPr id="2188" name="Google Shape;2188;p30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9" name="Google Shape;2189;p3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9"/>
        <p:cNvGrpSpPr/>
        <p:nvPr/>
      </p:nvGrpSpPr>
      <p:grpSpPr>
        <a:xfrm>
          <a:off x="0" y="0"/>
          <a:ext cx="0" cy="0"/>
          <a:chOff x="0" y="0"/>
          <a:chExt cx="0" cy="0"/>
        </a:xfrm>
      </p:grpSpPr>
      <p:sp>
        <p:nvSpPr>
          <p:cNvPr id="2200" name="Google Shape;2200;p30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1" name="Google Shape;2201;p3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3"/>
        <p:cNvGrpSpPr/>
        <p:nvPr/>
      </p:nvGrpSpPr>
      <p:grpSpPr>
        <a:xfrm>
          <a:off x="0" y="0"/>
          <a:ext cx="0" cy="0"/>
          <a:chOff x="0" y="0"/>
          <a:chExt cx="0" cy="0"/>
        </a:xfrm>
      </p:grpSpPr>
      <p:sp>
        <p:nvSpPr>
          <p:cNvPr id="2244" name="Google Shape;2244;p30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5" name="Google Shape;2245;p3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2"/>
        <p:cNvGrpSpPr/>
        <p:nvPr/>
      </p:nvGrpSpPr>
      <p:grpSpPr>
        <a:xfrm>
          <a:off x="0" y="0"/>
          <a:ext cx="0" cy="0"/>
          <a:chOff x="0" y="0"/>
          <a:chExt cx="0" cy="0"/>
        </a:xfrm>
      </p:grpSpPr>
      <p:sp>
        <p:nvSpPr>
          <p:cNvPr id="2253" name="Google Shape;2253;p30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4" name="Google Shape;2254;p3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8"/>
        <p:cNvGrpSpPr/>
        <p:nvPr/>
      </p:nvGrpSpPr>
      <p:grpSpPr>
        <a:xfrm>
          <a:off x="0" y="0"/>
          <a:ext cx="0" cy="0"/>
          <a:chOff x="0" y="0"/>
          <a:chExt cx="0" cy="0"/>
        </a:xfrm>
      </p:grpSpPr>
      <p:sp>
        <p:nvSpPr>
          <p:cNvPr id="2259" name="Google Shape;2259;p3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0" name="Google Shape;2260;p3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4"/>
        <p:cNvGrpSpPr/>
        <p:nvPr/>
      </p:nvGrpSpPr>
      <p:grpSpPr>
        <a:xfrm>
          <a:off x="0" y="0"/>
          <a:ext cx="0" cy="0"/>
          <a:chOff x="0" y="0"/>
          <a:chExt cx="0" cy="0"/>
        </a:xfrm>
      </p:grpSpPr>
      <p:sp>
        <p:nvSpPr>
          <p:cNvPr id="2265" name="Google Shape;2265;p3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6" name="Google Shape;2266;p3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0"/>
        <p:cNvGrpSpPr/>
        <p:nvPr/>
      </p:nvGrpSpPr>
      <p:grpSpPr>
        <a:xfrm>
          <a:off x="0" y="0"/>
          <a:ext cx="0" cy="0"/>
          <a:chOff x="0" y="0"/>
          <a:chExt cx="0" cy="0"/>
        </a:xfrm>
      </p:grpSpPr>
      <p:sp>
        <p:nvSpPr>
          <p:cNvPr id="2271" name="Google Shape;2271;p3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2" name="Google Shape;2272;p3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6"/>
        <p:cNvGrpSpPr/>
        <p:nvPr/>
      </p:nvGrpSpPr>
      <p:grpSpPr>
        <a:xfrm>
          <a:off x="0" y="0"/>
          <a:ext cx="0" cy="0"/>
          <a:chOff x="0" y="0"/>
          <a:chExt cx="0" cy="0"/>
        </a:xfrm>
      </p:grpSpPr>
      <p:sp>
        <p:nvSpPr>
          <p:cNvPr id="2277" name="Google Shape;2277;p3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8" name="Google Shape;2278;p3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2"/>
        <p:cNvGrpSpPr/>
        <p:nvPr/>
      </p:nvGrpSpPr>
      <p:grpSpPr>
        <a:xfrm>
          <a:off x="0" y="0"/>
          <a:ext cx="0" cy="0"/>
          <a:chOff x="0" y="0"/>
          <a:chExt cx="0" cy="0"/>
        </a:xfrm>
      </p:grpSpPr>
      <p:sp>
        <p:nvSpPr>
          <p:cNvPr id="2283" name="Google Shape;2283;p3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4" name="Google Shape;2284;p3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p:cNvGrpSpPr/>
        <p:nvPr/>
      </p:nvGrpSpPr>
      <p:grpSpPr>
        <a:xfrm>
          <a:off x="0" y="0"/>
          <a:ext cx="0" cy="0"/>
          <a:chOff x="0" y="0"/>
          <a:chExt cx="0" cy="0"/>
        </a:xfrm>
      </p:grpSpPr>
      <p:sp>
        <p:nvSpPr>
          <p:cNvPr id="2309" name="Google Shape;2309;p3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0" name="Google Shape;2310;p3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4"/>
        <p:cNvGrpSpPr/>
        <p:nvPr/>
      </p:nvGrpSpPr>
      <p:grpSpPr>
        <a:xfrm>
          <a:off x="0" y="0"/>
          <a:ext cx="0" cy="0"/>
          <a:chOff x="0" y="0"/>
          <a:chExt cx="0" cy="0"/>
        </a:xfrm>
      </p:grpSpPr>
      <p:sp>
        <p:nvSpPr>
          <p:cNvPr id="2315" name="Google Shape;2315;p3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6" name="Google Shape;2316;p3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0"/>
        <p:cNvGrpSpPr/>
        <p:nvPr/>
      </p:nvGrpSpPr>
      <p:grpSpPr>
        <a:xfrm>
          <a:off x="0" y="0"/>
          <a:ext cx="0" cy="0"/>
          <a:chOff x="0" y="0"/>
          <a:chExt cx="0" cy="0"/>
        </a:xfrm>
      </p:grpSpPr>
      <p:sp>
        <p:nvSpPr>
          <p:cNvPr id="2321" name="Google Shape;2321;p3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2" name="Google Shape;2322;p3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6"/>
        <p:cNvGrpSpPr/>
        <p:nvPr/>
      </p:nvGrpSpPr>
      <p:grpSpPr>
        <a:xfrm>
          <a:off x="0" y="0"/>
          <a:ext cx="0" cy="0"/>
          <a:chOff x="0" y="0"/>
          <a:chExt cx="0" cy="0"/>
        </a:xfrm>
      </p:grpSpPr>
      <p:sp>
        <p:nvSpPr>
          <p:cNvPr id="2327" name="Google Shape;2327;p3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8" name="Google Shape;2328;p3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2"/>
        <p:cNvGrpSpPr/>
        <p:nvPr/>
      </p:nvGrpSpPr>
      <p:grpSpPr>
        <a:xfrm>
          <a:off x="0" y="0"/>
          <a:ext cx="0" cy="0"/>
          <a:chOff x="0" y="0"/>
          <a:chExt cx="0" cy="0"/>
        </a:xfrm>
      </p:grpSpPr>
      <p:sp>
        <p:nvSpPr>
          <p:cNvPr id="2333" name="Google Shape;2333;p3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4" name="Google Shape;2334;p3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8"/>
        <p:cNvGrpSpPr/>
        <p:nvPr/>
      </p:nvGrpSpPr>
      <p:grpSpPr>
        <a:xfrm>
          <a:off x="0" y="0"/>
          <a:ext cx="0" cy="0"/>
          <a:chOff x="0" y="0"/>
          <a:chExt cx="0" cy="0"/>
        </a:xfrm>
      </p:grpSpPr>
      <p:sp>
        <p:nvSpPr>
          <p:cNvPr id="2339" name="Google Shape;2339;p3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0" name="Google Shape;2340;p3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4"/>
        <p:cNvGrpSpPr/>
        <p:nvPr/>
      </p:nvGrpSpPr>
      <p:grpSpPr>
        <a:xfrm>
          <a:off x="0" y="0"/>
          <a:ext cx="0" cy="0"/>
          <a:chOff x="0" y="0"/>
          <a:chExt cx="0" cy="0"/>
        </a:xfrm>
      </p:grpSpPr>
      <p:sp>
        <p:nvSpPr>
          <p:cNvPr id="2345" name="Google Shape;2345;p3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6" name="Google Shape;2346;p3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0"/>
        <p:cNvGrpSpPr/>
        <p:nvPr/>
      </p:nvGrpSpPr>
      <p:grpSpPr>
        <a:xfrm>
          <a:off x="0" y="0"/>
          <a:ext cx="0" cy="0"/>
          <a:chOff x="0" y="0"/>
          <a:chExt cx="0" cy="0"/>
        </a:xfrm>
      </p:grpSpPr>
      <p:sp>
        <p:nvSpPr>
          <p:cNvPr id="2351" name="Google Shape;2351;p3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2" name="Google Shape;2352;p3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1"/>
        <p:cNvGrpSpPr/>
        <p:nvPr/>
      </p:nvGrpSpPr>
      <p:grpSpPr>
        <a:xfrm>
          <a:off x="0" y="0"/>
          <a:ext cx="0" cy="0"/>
          <a:chOff x="0" y="0"/>
          <a:chExt cx="0" cy="0"/>
        </a:xfrm>
      </p:grpSpPr>
      <p:sp>
        <p:nvSpPr>
          <p:cNvPr id="2362" name="Google Shape;2362;p3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3" name="Google Shape;2363;p3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9"/>
        <p:cNvGrpSpPr/>
        <p:nvPr/>
      </p:nvGrpSpPr>
      <p:grpSpPr>
        <a:xfrm>
          <a:off x="0" y="0"/>
          <a:ext cx="0" cy="0"/>
          <a:chOff x="0" y="0"/>
          <a:chExt cx="0" cy="0"/>
        </a:xfrm>
      </p:grpSpPr>
      <p:sp>
        <p:nvSpPr>
          <p:cNvPr id="2370" name="Google Shape;2370;p3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1" name="Google Shape;2371;p3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3"/>
        <p:cNvGrpSpPr/>
        <p:nvPr/>
      </p:nvGrpSpPr>
      <p:grpSpPr>
        <a:xfrm>
          <a:off x="0" y="0"/>
          <a:ext cx="0" cy="0"/>
          <a:chOff x="0" y="0"/>
          <a:chExt cx="0" cy="0"/>
        </a:xfrm>
      </p:grpSpPr>
      <p:sp>
        <p:nvSpPr>
          <p:cNvPr id="2394" name="Google Shape;2394;p3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5" name="Google Shape;2395;p3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8"/>
        <p:cNvGrpSpPr/>
        <p:nvPr/>
      </p:nvGrpSpPr>
      <p:grpSpPr>
        <a:xfrm>
          <a:off x="0" y="0"/>
          <a:ext cx="0" cy="0"/>
          <a:chOff x="0" y="0"/>
          <a:chExt cx="0" cy="0"/>
        </a:xfrm>
      </p:grpSpPr>
      <p:sp>
        <p:nvSpPr>
          <p:cNvPr id="2409" name="Google Shape;2409;p3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0" name="Google Shape;2410;p3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7"/>
        <p:cNvGrpSpPr/>
        <p:nvPr/>
      </p:nvGrpSpPr>
      <p:grpSpPr>
        <a:xfrm>
          <a:off x="0" y="0"/>
          <a:ext cx="0" cy="0"/>
          <a:chOff x="0" y="0"/>
          <a:chExt cx="0" cy="0"/>
        </a:xfrm>
      </p:grpSpPr>
      <p:sp>
        <p:nvSpPr>
          <p:cNvPr id="2418" name="Google Shape;2418;p3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9" name="Google Shape;2419;p3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5"/>
        <p:cNvGrpSpPr/>
        <p:nvPr/>
      </p:nvGrpSpPr>
      <p:grpSpPr>
        <a:xfrm>
          <a:off x="0" y="0"/>
          <a:ext cx="0" cy="0"/>
          <a:chOff x="0" y="0"/>
          <a:chExt cx="0" cy="0"/>
        </a:xfrm>
      </p:grpSpPr>
      <p:sp>
        <p:nvSpPr>
          <p:cNvPr id="2426" name="Google Shape;2426;p3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7" name="Google Shape;2427;p3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2"/>
        <p:cNvGrpSpPr/>
        <p:nvPr/>
      </p:nvGrpSpPr>
      <p:grpSpPr>
        <a:xfrm>
          <a:off x="0" y="0"/>
          <a:ext cx="0" cy="0"/>
          <a:chOff x="0" y="0"/>
          <a:chExt cx="0" cy="0"/>
        </a:xfrm>
      </p:grpSpPr>
      <p:sp>
        <p:nvSpPr>
          <p:cNvPr id="2433" name="Google Shape;2433;p3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4" name="Google Shape;2434;p3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9"/>
        <p:cNvGrpSpPr/>
        <p:nvPr/>
      </p:nvGrpSpPr>
      <p:grpSpPr>
        <a:xfrm>
          <a:off x="0" y="0"/>
          <a:ext cx="0" cy="0"/>
          <a:chOff x="0" y="0"/>
          <a:chExt cx="0" cy="0"/>
        </a:xfrm>
      </p:grpSpPr>
      <p:sp>
        <p:nvSpPr>
          <p:cNvPr id="2460" name="Google Shape;2460;p3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61" name="Google Shape;2461;p3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4"/>
        <p:cNvGrpSpPr/>
        <p:nvPr/>
      </p:nvGrpSpPr>
      <p:grpSpPr>
        <a:xfrm>
          <a:off x="0" y="0"/>
          <a:ext cx="0" cy="0"/>
          <a:chOff x="0" y="0"/>
          <a:chExt cx="0" cy="0"/>
        </a:xfrm>
      </p:grpSpPr>
      <p:sp>
        <p:nvSpPr>
          <p:cNvPr id="2495" name="Google Shape;2495;p3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6" name="Google Shape;2496;p3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6"/>
        <p:cNvGrpSpPr/>
        <p:nvPr/>
      </p:nvGrpSpPr>
      <p:grpSpPr>
        <a:xfrm>
          <a:off x="0" y="0"/>
          <a:ext cx="0" cy="0"/>
          <a:chOff x="0" y="0"/>
          <a:chExt cx="0" cy="0"/>
        </a:xfrm>
      </p:grpSpPr>
      <p:sp>
        <p:nvSpPr>
          <p:cNvPr id="2517" name="Google Shape;2517;p3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8" name="Google Shape;2518;p3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2"/>
        <p:cNvGrpSpPr/>
        <p:nvPr/>
      </p:nvGrpSpPr>
      <p:grpSpPr>
        <a:xfrm>
          <a:off x="0" y="0"/>
          <a:ext cx="0" cy="0"/>
          <a:chOff x="0" y="0"/>
          <a:chExt cx="0" cy="0"/>
        </a:xfrm>
      </p:grpSpPr>
      <p:sp>
        <p:nvSpPr>
          <p:cNvPr id="2533" name="Google Shape;2533;p3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4" name="Google Shape;2534;p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0"/>
        <p:cNvGrpSpPr/>
        <p:nvPr/>
      </p:nvGrpSpPr>
      <p:grpSpPr>
        <a:xfrm>
          <a:off x="0" y="0"/>
          <a:ext cx="0" cy="0"/>
          <a:chOff x="0" y="0"/>
          <a:chExt cx="0" cy="0"/>
        </a:xfrm>
      </p:grpSpPr>
      <p:sp>
        <p:nvSpPr>
          <p:cNvPr id="2551" name="Google Shape;2551;p3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2" name="Google Shape;2552;p3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6"/>
        <p:cNvGrpSpPr/>
        <p:nvPr/>
      </p:nvGrpSpPr>
      <p:grpSpPr>
        <a:xfrm>
          <a:off x="0" y="0"/>
          <a:ext cx="0" cy="0"/>
          <a:chOff x="0" y="0"/>
          <a:chExt cx="0" cy="0"/>
        </a:xfrm>
      </p:grpSpPr>
      <p:sp>
        <p:nvSpPr>
          <p:cNvPr id="2557" name="Google Shape;2557;p3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8" name="Google Shape;2558;p3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8"/>
        <p:cNvGrpSpPr/>
        <p:nvPr/>
      </p:nvGrpSpPr>
      <p:grpSpPr>
        <a:xfrm>
          <a:off x="0" y="0"/>
          <a:ext cx="0" cy="0"/>
          <a:chOff x="0" y="0"/>
          <a:chExt cx="0" cy="0"/>
        </a:xfrm>
      </p:grpSpPr>
      <p:sp>
        <p:nvSpPr>
          <p:cNvPr id="2579" name="Google Shape;2579;p3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0" name="Google Shape;2580;p3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6"/>
        <p:cNvGrpSpPr/>
        <p:nvPr/>
      </p:nvGrpSpPr>
      <p:grpSpPr>
        <a:xfrm>
          <a:off x="0" y="0"/>
          <a:ext cx="0" cy="0"/>
          <a:chOff x="0" y="0"/>
          <a:chExt cx="0" cy="0"/>
        </a:xfrm>
      </p:grpSpPr>
      <p:sp>
        <p:nvSpPr>
          <p:cNvPr id="2597" name="Google Shape;2597;p3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8" name="Google Shape;2598;p3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2"/>
        <p:cNvGrpSpPr/>
        <p:nvPr/>
      </p:nvGrpSpPr>
      <p:grpSpPr>
        <a:xfrm>
          <a:off x="0" y="0"/>
          <a:ext cx="0" cy="0"/>
          <a:chOff x="0" y="0"/>
          <a:chExt cx="0" cy="0"/>
        </a:xfrm>
      </p:grpSpPr>
      <p:sp>
        <p:nvSpPr>
          <p:cNvPr id="2613" name="Google Shape;2613;p3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4" name="Google Shape;2614;p3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fld id="{F7021451-1387-4CA6-816F-3879F97B5CBC}" type="slidenum">
              <a:rPr kumimoji="0" 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t>243</a:t>
            </a:fld>
            <a:endParaRPr kumimoji="0" 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fld id="{F7021451-1387-4CA6-816F-3879F97B5CBC}" type="slidenum">
              <a:rPr kumimoji="0" 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t>244</a:t>
            </a:fld>
            <a:endParaRPr kumimoji="0" 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fld id="{F7021451-1387-4CA6-816F-3879F97B5CBC}" type="slidenum">
              <a:rPr kumimoji="0" 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t>245</a:t>
            </a:fld>
            <a:endParaRPr kumimoji="0" 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3"/>
        <p:cNvGrpSpPr/>
        <p:nvPr/>
      </p:nvGrpSpPr>
      <p:grpSpPr>
        <a:xfrm>
          <a:off x="0" y="0"/>
          <a:ext cx="0" cy="0"/>
          <a:chOff x="0" y="0"/>
          <a:chExt cx="0" cy="0"/>
        </a:xfrm>
      </p:grpSpPr>
      <p:sp>
        <p:nvSpPr>
          <p:cNvPr id="2624" name="Google Shape;2624;p3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25" name="Google Shape;2625;p3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9C55AE60-59C4-3A7A-B79F-6ED7115942AB}"/>
            </a:ext>
          </a:extLst>
        </p:cNvPr>
        <p:cNvGrpSpPr/>
        <p:nvPr/>
      </p:nvGrpSpPr>
      <p:grpSpPr>
        <a:xfrm>
          <a:off x="0" y="0"/>
          <a:ext cx="0" cy="0"/>
          <a:chOff x="0" y="0"/>
          <a:chExt cx="0" cy="0"/>
        </a:xfrm>
      </p:grpSpPr>
      <p:sp>
        <p:nvSpPr>
          <p:cNvPr id="124" name="Google Shape;124;p7:notes">
            <a:extLst>
              <a:ext uri="{FF2B5EF4-FFF2-40B4-BE49-F238E27FC236}">
                <a16:creationId xmlns:a16="http://schemas.microsoft.com/office/drawing/2014/main" id="{84E768EA-D1DD-CFB5-5E71-61CB74BCE41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7:notes">
            <a:extLst>
              <a:ext uri="{FF2B5EF4-FFF2-40B4-BE49-F238E27FC236}">
                <a16:creationId xmlns:a16="http://schemas.microsoft.com/office/drawing/2014/main" id="{BE62705F-E3BC-B987-CB21-C3BAA5DBF12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56589428"/>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3881F30E-DF39-F93A-F208-F9B42DA08A76}"/>
            </a:ext>
          </a:extLst>
        </p:cNvPr>
        <p:cNvGrpSpPr/>
        <p:nvPr/>
      </p:nvGrpSpPr>
      <p:grpSpPr>
        <a:xfrm>
          <a:off x="0" y="0"/>
          <a:ext cx="0" cy="0"/>
          <a:chOff x="0" y="0"/>
          <a:chExt cx="0" cy="0"/>
        </a:xfrm>
      </p:grpSpPr>
      <p:sp>
        <p:nvSpPr>
          <p:cNvPr id="124" name="Google Shape;124;p7:notes">
            <a:extLst>
              <a:ext uri="{FF2B5EF4-FFF2-40B4-BE49-F238E27FC236}">
                <a16:creationId xmlns:a16="http://schemas.microsoft.com/office/drawing/2014/main" id="{F0B1CD3B-DAA9-6D78-CDDB-EBAFCBCC38F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7:notes">
            <a:extLst>
              <a:ext uri="{FF2B5EF4-FFF2-40B4-BE49-F238E27FC236}">
                <a16:creationId xmlns:a16="http://schemas.microsoft.com/office/drawing/2014/main" id="{9AB8A0CA-A8B6-522E-B9CC-A2B6D448C9B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02250209"/>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048A000D-00A0-4904-5679-BBAC7F20C2FF}"/>
            </a:ext>
          </a:extLst>
        </p:cNvPr>
        <p:cNvGrpSpPr/>
        <p:nvPr/>
      </p:nvGrpSpPr>
      <p:grpSpPr>
        <a:xfrm>
          <a:off x="0" y="0"/>
          <a:ext cx="0" cy="0"/>
          <a:chOff x="0" y="0"/>
          <a:chExt cx="0" cy="0"/>
        </a:xfrm>
      </p:grpSpPr>
      <p:sp>
        <p:nvSpPr>
          <p:cNvPr id="124" name="Google Shape;124;p7:notes">
            <a:extLst>
              <a:ext uri="{FF2B5EF4-FFF2-40B4-BE49-F238E27FC236}">
                <a16:creationId xmlns:a16="http://schemas.microsoft.com/office/drawing/2014/main" id="{A1840B50-93B6-3A5F-389E-8D51CA99317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7:notes">
            <a:extLst>
              <a:ext uri="{FF2B5EF4-FFF2-40B4-BE49-F238E27FC236}">
                <a16:creationId xmlns:a16="http://schemas.microsoft.com/office/drawing/2014/main" id="{0216E0E4-1324-D7CA-2161-29211C3837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32276780"/>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8"/>
        <p:cNvGrpSpPr/>
        <p:nvPr/>
      </p:nvGrpSpPr>
      <p:grpSpPr>
        <a:xfrm>
          <a:off x="0" y="0"/>
          <a:ext cx="0" cy="0"/>
          <a:chOff x="0" y="0"/>
          <a:chExt cx="0" cy="0"/>
        </a:xfrm>
      </p:grpSpPr>
      <p:sp>
        <p:nvSpPr>
          <p:cNvPr id="3029" name="Google Shape;3029;p37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0" name="Google Shape;3030;p3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3"/>
        <p:cNvGrpSpPr/>
        <p:nvPr/>
      </p:nvGrpSpPr>
      <p:grpSpPr>
        <a:xfrm>
          <a:off x="0" y="0"/>
          <a:ext cx="0" cy="0"/>
          <a:chOff x="0" y="0"/>
          <a:chExt cx="0" cy="0"/>
        </a:xfrm>
      </p:grpSpPr>
      <p:sp>
        <p:nvSpPr>
          <p:cNvPr id="3034" name="Google Shape;3034;p37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5" name="Google Shape;3035;p3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9"/>
        <p:cNvGrpSpPr/>
        <p:nvPr/>
      </p:nvGrpSpPr>
      <p:grpSpPr>
        <a:xfrm>
          <a:off x="0" y="0"/>
          <a:ext cx="0" cy="0"/>
          <a:chOff x="0" y="0"/>
          <a:chExt cx="0" cy="0"/>
        </a:xfrm>
      </p:grpSpPr>
      <p:sp>
        <p:nvSpPr>
          <p:cNvPr id="3040" name="Google Shape;3040;p37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1" name="Google Shape;3041;p3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5"/>
        <p:cNvGrpSpPr/>
        <p:nvPr/>
      </p:nvGrpSpPr>
      <p:grpSpPr>
        <a:xfrm>
          <a:off x="0" y="0"/>
          <a:ext cx="0" cy="0"/>
          <a:chOff x="0" y="0"/>
          <a:chExt cx="0" cy="0"/>
        </a:xfrm>
      </p:grpSpPr>
      <p:sp>
        <p:nvSpPr>
          <p:cNvPr id="3046" name="Google Shape;3046;p3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7" name="Google Shape;3047;p3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8"/>
        <p:cNvGrpSpPr/>
        <p:nvPr/>
      </p:nvGrpSpPr>
      <p:grpSpPr>
        <a:xfrm>
          <a:off x="0" y="0"/>
          <a:ext cx="0" cy="0"/>
          <a:chOff x="0" y="0"/>
          <a:chExt cx="0" cy="0"/>
        </a:xfrm>
      </p:grpSpPr>
      <p:sp>
        <p:nvSpPr>
          <p:cNvPr id="3199" name="Google Shape;3199;p39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0" name="Google Shape;3200;p3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2447278"/>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0"/>
        <p:cNvGrpSpPr/>
        <p:nvPr/>
      </p:nvGrpSpPr>
      <p:grpSpPr>
        <a:xfrm>
          <a:off x="0" y="0"/>
          <a:ext cx="0" cy="0"/>
          <a:chOff x="0" y="0"/>
          <a:chExt cx="0" cy="0"/>
        </a:xfrm>
      </p:grpSpPr>
      <p:sp>
        <p:nvSpPr>
          <p:cNvPr id="3211" name="Google Shape;3211;p39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2" name="Google Shape;3212;p3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179610"/>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6"/>
        <p:cNvGrpSpPr/>
        <p:nvPr/>
      </p:nvGrpSpPr>
      <p:grpSpPr>
        <a:xfrm>
          <a:off x="0" y="0"/>
          <a:ext cx="0" cy="0"/>
          <a:chOff x="0" y="0"/>
          <a:chExt cx="0" cy="0"/>
        </a:xfrm>
      </p:grpSpPr>
      <p:sp>
        <p:nvSpPr>
          <p:cNvPr id="3217" name="Google Shape;3217;p39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8" name="Google Shape;3218;p3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9875925"/>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2"/>
        <p:cNvGrpSpPr/>
        <p:nvPr/>
      </p:nvGrpSpPr>
      <p:grpSpPr>
        <a:xfrm>
          <a:off x="0" y="0"/>
          <a:ext cx="0" cy="0"/>
          <a:chOff x="0" y="0"/>
          <a:chExt cx="0" cy="0"/>
        </a:xfrm>
      </p:grpSpPr>
      <p:sp>
        <p:nvSpPr>
          <p:cNvPr id="3223" name="Google Shape;3223;p39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4" name="Google Shape;3224;p3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8525475"/>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a:t>
            </a:r>
          </a:p>
          <a:p>
            <a:pPr marL="0" lvl="0" indent="0" algn="l">
              <a:spcBef>
                <a:spcPts val="0"/>
              </a:spcBef>
              <a:spcAft>
                <a:spcPts val="0"/>
              </a:spcAft>
              <a:buNone/>
            </a:pPr>
            <a:r>
              <a:t>- Nội dung biên tập từ tài liệu Markdown do người dùng cung cấp.</a:t>
            </a:r>
          </a:p>
          <a:p>
            <a:pPr marL="0" lvl="0" indent="0" algn="l">
              <a:spcBef>
                <a:spcPts val="0"/>
              </a:spcBef>
              <a:spcAft>
                <a:spcPts val="0"/>
              </a:spcAft>
              <a:buNone/>
            </a:pPr>
            <a:r>
              <a:t>- Luật Đấu thầu 2023; CMBOK 2022 (theo tài liệu nguồn).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0"/>
        <p:cNvGrpSpPr/>
        <p:nvPr/>
      </p:nvGrpSpPr>
      <p:grpSpPr>
        <a:xfrm>
          <a:off x="0" y="0"/>
          <a:ext cx="0" cy="0"/>
          <a:chOff x="0" y="0"/>
          <a:chExt cx="0" cy="0"/>
        </a:xfrm>
      </p:grpSpPr>
      <p:sp>
        <p:nvSpPr>
          <p:cNvPr id="3081" name="Google Shape;3081;p38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2" name="Google Shape;3082;p3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0"/>
        <p:cNvGrpSpPr/>
        <p:nvPr/>
      </p:nvGrpSpPr>
      <p:grpSpPr>
        <a:xfrm>
          <a:off x="0" y="0"/>
          <a:ext cx="0" cy="0"/>
          <a:chOff x="0" y="0"/>
          <a:chExt cx="0" cy="0"/>
        </a:xfrm>
      </p:grpSpPr>
      <p:sp>
        <p:nvSpPr>
          <p:cNvPr id="3251" name="Google Shape;3251;p40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52" name="Google Shape;3252;p4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181050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6"/>
        <p:cNvGrpSpPr/>
        <p:nvPr/>
      </p:nvGrpSpPr>
      <p:grpSpPr>
        <a:xfrm>
          <a:off x="0" y="0"/>
          <a:ext cx="0" cy="0"/>
          <a:chOff x="0" y="0"/>
          <a:chExt cx="0" cy="0"/>
        </a:xfrm>
      </p:grpSpPr>
      <p:sp>
        <p:nvSpPr>
          <p:cNvPr id="3257" name="Google Shape;3257;p4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58" name="Google Shape;3258;p40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2600">
                <a:latin typeface="Arial"/>
                <a:ea typeface="Arial"/>
                <a:cs typeface="Arial"/>
                <a:sym typeface="Arial"/>
              </a:rPr>
              <a:t>Công ty phát triển SP mới, phát sinh nhu cầu về trang thiết bị, NVL mới hoặc NVL bổ sung.</a:t>
            </a:r>
            <a:endParaRPr/>
          </a:p>
          <a:p>
            <a:pPr marL="457200" marR="0" lvl="0" indent="-228600" algn="l" rtl="0">
              <a:lnSpc>
                <a:spcPct val="100000"/>
              </a:lnSpc>
              <a:spcBef>
                <a:spcPts val="0"/>
              </a:spcBef>
              <a:spcAft>
                <a:spcPts val="0"/>
              </a:spcAft>
              <a:buSzPts val="1400"/>
              <a:buNone/>
            </a:pPr>
            <a:r>
              <a:rPr lang="en-US" sz="2600">
                <a:latin typeface="Arial"/>
                <a:ea typeface="Arial"/>
                <a:cs typeface="Arial"/>
                <a:sym typeface="Arial"/>
              </a:rPr>
              <a:t>Trang thiết bị, máy móc hỏng, cần mua mới hay mua phụ tùng thay thế .</a:t>
            </a:r>
            <a:endParaRPr/>
          </a:p>
          <a:p>
            <a:pPr marL="457200" marR="0" lvl="0" indent="-228600" algn="l" rtl="0">
              <a:lnSpc>
                <a:spcPct val="100000"/>
              </a:lnSpc>
              <a:spcBef>
                <a:spcPts val="0"/>
              </a:spcBef>
              <a:spcAft>
                <a:spcPts val="0"/>
              </a:spcAft>
              <a:buSzPts val="1400"/>
              <a:buNone/>
            </a:pPr>
            <a:r>
              <a:rPr lang="en-US" sz="2600">
                <a:latin typeface="Arial"/>
                <a:ea typeface="Arial"/>
                <a:cs typeface="Arial"/>
                <a:sym typeface="Arial"/>
              </a:rPr>
              <a:t>Trang bị lại tài sản cố định đã lạc hậu.</a:t>
            </a:r>
            <a:endParaRPr sz="2600">
              <a:latin typeface="Arial"/>
              <a:ea typeface="Arial"/>
              <a:cs typeface="Arial"/>
              <a:sym typeface="Arial"/>
            </a:endParaRPr>
          </a:p>
          <a:p>
            <a:pPr marL="457200" marR="0" lvl="0" indent="-228600" algn="l" rtl="0">
              <a:lnSpc>
                <a:spcPct val="100000"/>
              </a:lnSpc>
              <a:spcBef>
                <a:spcPts val="0"/>
              </a:spcBef>
              <a:spcAft>
                <a:spcPts val="0"/>
              </a:spcAft>
              <a:buSzPts val="1400"/>
              <a:buNone/>
            </a:pPr>
            <a:r>
              <a:rPr lang="en-US" sz="2600">
                <a:latin typeface="Arial"/>
                <a:ea typeface="Arial"/>
                <a:cs typeface="Arial"/>
                <a:sym typeface="Arial"/>
              </a:rPr>
              <a:t>Vật tư không còn phù hợp cho sản xuất SP</a:t>
            </a:r>
            <a:endParaRPr/>
          </a:p>
          <a:p>
            <a:pPr marL="457200" marR="0" lvl="0" indent="-228600" algn="l" rtl="0">
              <a:lnSpc>
                <a:spcPct val="100000"/>
              </a:lnSpc>
              <a:spcBef>
                <a:spcPts val="0"/>
              </a:spcBef>
              <a:spcAft>
                <a:spcPts val="0"/>
              </a:spcAft>
              <a:buSzPts val="1400"/>
              <a:buNone/>
            </a:pPr>
            <a:r>
              <a:rPr lang="en-US" sz="2600">
                <a:latin typeface="Arial"/>
                <a:ea typeface="Arial"/>
                <a:cs typeface="Arial"/>
                <a:sym typeface="Arial"/>
              </a:rPr>
              <a:t>Nhận thấy rằng có cơ hội mua sp với giá thấp hơn và chất lượng tốt hơn.</a:t>
            </a:r>
            <a:endParaRPr sz="2600">
              <a:latin typeface="Arial"/>
              <a:ea typeface="Arial"/>
              <a:cs typeface="Arial"/>
              <a:sym typeface="Arial"/>
            </a:endParaRPr>
          </a:p>
          <a:p>
            <a:pPr marL="457200" marR="0" lvl="0" indent="-228600" algn="l" rtl="0">
              <a:lnSpc>
                <a:spcPct val="100000"/>
              </a:lnSpc>
              <a:spcBef>
                <a:spcPts val="0"/>
              </a:spcBef>
              <a:spcAft>
                <a:spcPts val="0"/>
              </a:spcAft>
              <a:buSzPts val="1400"/>
              <a:buNone/>
            </a:pPr>
            <a:r>
              <a:rPr lang="en-US" sz="2600">
                <a:latin typeface="Arial"/>
                <a:ea typeface="Arial"/>
                <a:cs typeface="Arial"/>
                <a:sym typeface="Arial"/>
              </a:rPr>
              <a:t>Nhu cầu thị trường thay đổi, công ty phải đáp ứng</a:t>
            </a:r>
            <a:endParaRPr sz="2600">
              <a:latin typeface="Arial"/>
              <a:ea typeface="Arial"/>
              <a:cs typeface="Arial"/>
              <a:sym typeface="Arial"/>
            </a:endParaRPr>
          </a:p>
          <a:p>
            <a:pPr marL="457200" marR="0" lvl="0" indent="-228600" algn="l" rtl="0">
              <a:lnSpc>
                <a:spcPct val="100000"/>
              </a:lnSpc>
              <a:spcBef>
                <a:spcPts val="0"/>
              </a:spcBef>
              <a:spcAft>
                <a:spcPts val="0"/>
              </a:spcAft>
              <a:buSzPts val="1400"/>
              <a:buNone/>
            </a:pPr>
            <a:r>
              <a:rPr lang="en-US" sz="2600" b="1" i="1">
                <a:solidFill>
                  <a:srgbClr val="FF0000"/>
                </a:solidFill>
                <a:latin typeface="Arial"/>
                <a:ea typeface="Arial"/>
                <a:cs typeface="Arial"/>
                <a:sym typeface="Arial"/>
              </a:rPr>
              <a:t>Những nhân tố kích thích bên ngoài:</a:t>
            </a:r>
            <a:endParaRPr/>
          </a:p>
          <a:p>
            <a:pPr marL="914400" lvl="1" indent="-228600" algn="l" rtl="0">
              <a:lnSpc>
                <a:spcPct val="100000"/>
              </a:lnSpc>
              <a:spcBef>
                <a:spcPts val="0"/>
              </a:spcBef>
              <a:spcAft>
                <a:spcPts val="0"/>
              </a:spcAft>
              <a:buSzPts val="1400"/>
              <a:buNone/>
            </a:pPr>
            <a:r>
              <a:rPr lang="en-US" sz="2600">
                <a:latin typeface="Arial"/>
                <a:ea typeface="Arial"/>
                <a:cs typeface="Arial"/>
                <a:sym typeface="Arial"/>
              </a:rPr>
              <a:t>Tham khảo việc sản xuất sp và nguồn cung ứng từ các DN khác</a:t>
            </a:r>
            <a:endParaRPr sz="2600">
              <a:latin typeface="Arial"/>
              <a:ea typeface="Arial"/>
              <a:cs typeface="Arial"/>
              <a:sym typeface="Arial"/>
            </a:endParaRPr>
          </a:p>
          <a:p>
            <a:pPr marL="914400" lvl="1" indent="-228600" algn="l" rtl="0">
              <a:lnSpc>
                <a:spcPct val="100000"/>
              </a:lnSpc>
              <a:spcBef>
                <a:spcPts val="0"/>
              </a:spcBef>
              <a:spcAft>
                <a:spcPts val="0"/>
              </a:spcAft>
              <a:buSzPts val="1400"/>
              <a:buNone/>
            </a:pPr>
            <a:r>
              <a:rPr lang="en-US" sz="2600">
                <a:latin typeface="Arial"/>
                <a:ea typeface="Arial"/>
                <a:cs typeface="Arial"/>
                <a:sym typeface="Arial"/>
              </a:rPr>
              <a:t>Hoạt động xúc tiến, quảng cáo từ các nhà cung ứng</a:t>
            </a:r>
            <a:endParaRPr sz="2600">
              <a:latin typeface="Arial"/>
              <a:ea typeface="Arial"/>
              <a:cs typeface="Arial"/>
              <a:sym typeface="Arial"/>
            </a:endParaRPr>
          </a:p>
          <a:p>
            <a:pPr marL="457200" marR="0" lvl="0" indent="-228600" algn="l" rtl="0">
              <a:lnSpc>
                <a:spcPct val="100000"/>
              </a:lnSpc>
              <a:spcBef>
                <a:spcPts val="0"/>
              </a:spcBef>
              <a:spcAft>
                <a:spcPts val="0"/>
              </a:spcAft>
              <a:buSzPts val="1400"/>
              <a:buNone/>
            </a:pPr>
            <a:endParaRPr/>
          </a:p>
        </p:txBody>
      </p:sp>
      <p:sp>
        <p:nvSpPr>
          <p:cNvPr id="3259" name="Google Shape;3259;p40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284</a:t>
            </a:fld>
            <a:endParaRPr/>
          </a:p>
        </p:txBody>
      </p:sp>
    </p:spTree>
    <p:extLst>
      <p:ext uri="{BB962C8B-B14F-4D97-AF65-F5344CB8AC3E}">
        <p14:creationId xmlns:p14="http://schemas.microsoft.com/office/powerpoint/2010/main" val="3902590578"/>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3"/>
        <p:cNvGrpSpPr/>
        <p:nvPr/>
      </p:nvGrpSpPr>
      <p:grpSpPr>
        <a:xfrm>
          <a:off x="0" y="0"/>
          <a:ext cx="0" cy="0"/>
          <a:chOff x="0" y="0"/>
          <a:chExt cx="0" cy="0"/>
        </a:xfrm>
      </p:grpSpPr>
      <p:sp>
        <p:nvSpPr>
          <p:cNvPr id="3264" name="Google Shape;3264;p40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5" name="Google Shape;3265;p4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6998136"/>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9"/>
        <p:cNvGrpSpPr/>
        <p:nvPr/>
      </p:nvGrpSpPr>
      <p:grpSpPr>
        <a:xfrm>
          <a:off x="0" y="0"/>
          <a:ext cx="0" cy="0"/>
          <a:chOff x="0" y="0"/>
          <a:chExt cx="0" cy="0"/>
        </a:xfrm>
      </p:grpSpPr>
      <p:sp>
        <p:nvSpPr>
          <p:cNvPr id="3270" name="Google Shape;3270;p40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1" name="Google Shape;3271;p4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237625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5"/>
        <p:cNvGrpSpPr/>
        <p:nvPr/>
      </p:nvGrpSpPr>
      <p:grpSpPr>
        <a:xfrm>
          <a:off x="0" y="0"/>
          <a:ext cx="0" cy="0"/>
          <a:chOff x="0" y="0"/>
          <a:chExt cx="0" cy="0"/>
        </a:xfrm>
      </p:grpSpPr>
      <p:sp>
        <p:nvSpPr>
          <p:cNvPr id="3276" name="Google Shape;3276;p40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7" name="Google Shape;3277;p4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9654349"/>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2"/>
        <p:cNvGrpSpPr/>
        <p:nvPr/>
      </p:nvGrpSpPr>
      <p:grpSpPr>
        <a:xfrm>
          <a:off x="0" y="0"/>
          <a:ext cx="0" cy="0"/>
          <a:chOff x="0" y="0"/>
          <a:chExt cx="0" cy="0"/>
        </a:xfrm>
      </p:grpSpPr>
      <p:sp>
        <p:nvSpPr>
          <p:cNvPr id="3283" name="Google Shape;3283;p40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4" name="Google Shape;3284;p4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9138094"/>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6"/>
        <p:cNvGrpSpPr/>
        <p:nvPr/>
      </p:nvGrpSpPr>
      <p:grpSpPr>
        <a:xfrm>
          <a:off x="0" y="0"/>
          <a:ext cx="0" cy="0"/>
          <a:chOff x="0" y="0"/>
          <a:chExt cx="0" cy="0"/>
        </a:xfrm>
      </p:grpSpPr>
      <p:sp>
        <p:nvSpPr>
          <p:cNvPr id="3117" name="Google Shape;3117;p38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8" name="Google Shape;3118;p3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1"/>
        <p:cNvGrpSpPr/>
        <p:nvPr/>
      </p:nvGrpSpPr>
      <p:grpSpPr>
        <a:xfrm>
          <a:off x="0" y="0"/>
          <a:ext cx="0" cy="0"/>
          <a:chOff x="0" y="0"/>
          <a:chExt cx="0" cy="0"/>
        </a:xfrm>
      </p:grpSpPr>
      <p:sp>
        <p:nvSpPr>
          <p:cNvPr id="3122" name="Google Shape;3122;p38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3" name="Google Shape;3123;p3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a:t>
            </a:r>
          </a:p>
          <a:p>
            <a:pPr marL="0" lvl="0" indent="0" algn="l">
              <a:spcBef>
                <a:spcPts val="0"/>
              </a:spcBef>
              <a:spcAft>
                <a:spcPts val="0"/>
              </a:spcAft>
              <a:buNone/>
            </a:pPr>
            <a:r>
              <a:t>- Nội dung biên tập từ slide hình ảnh do người dùng cung cấp.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a:t>
            </a:r>
          </a:p>
          <a:p>
            <a:pPr marL="0" lvl="0" indent="0" algn="l">
              <a:spcBef>
                <a:spcPts val="0"/>
              </a:spcBef>
              <a:spcAft>
                <a:spcPts val="0"/>
              </a:spcAft>
              <a:buNone/>
            </a:pPr>
            <a:r>
              <a:t>- Nội dung biên tập từ slide hình ảnh do người dùng cung cấp.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Nội dung biên tập từ slide do người dùng cung cấp.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Nội dung biên tập từ slide do người dùng cung cấp.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Nội dung biên tập từ slide do người dùng cung cấp.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a:t>
            </a:r>
          </a:p>
          <a:p>
            <a:pPr marL="0" lvl="0" indent="0" algn="l">
              <a:spcBef>
                <a:spcPts val="0"/>
              </a:spcBef>
              <a:spcAft>
                <a:spcPts val="0"/>
              </a:spcAft>
              <a:buNone/>
            </a:pPr>
            <a:r>
              <a:t>- Nội dung biên tập từ slide do người dùng cung cấp.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a:t>
            </a:r>
          </a:p>
          <a:p>
            <a:pPr marL="0" lvl="0" indent="0" algn="l">
              <a:spcBef>
                <a:spcPts val="0"/>
              </a:spcBef>
              <a:spcAft>
                <a:spcPts val="0"/>
              </a:spcAft>
              <a:buNone/>
            </a:pPr>
            <a:r>
              <a:t>- Nội dung biên tập từ slide do người dùng cung cấp.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9"/>
        <p:cNvGrpSpPr/>
        <p:nvPr/>
      </p:nvGrpSpPr>
      <p:grpSpPr>
        <a:xfrm>
          <a:off x="0" y="0"/>
          <a:ext cx="0" cy="0"/>
          <a:chOff x="0" y="0"/>
          <a:chExt cx="0" cy="0"/>
        </a:xfrm>
      </p:grpSpPr>
      <p:sp>
        <p:nvSpPr>
          <p:cNvPr id="3320" name="Google Shape;3320;p4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1" name="Google Shape;3321;p4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5"/>
        <p:cNvGrpSpPr/>
        <p:nvPr/>
      </p:nvGrpSpPr>
      <p:grpSpPr>
        <a:xfrm>
          <a:off x="0" y="0"/>
          <a:ext cx="0" cy="0"/>
          <a:chOff x="0" y="0"/>
          <a:chExt cx="0" cy="0"/>
        </a:xfrm>
      </p:grpSpPr>
      <p:sp>
        <p:nvSpPr>
          <p:cNvPr id="3326" name="Google Shape;3326;p4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7" name="Google Shape;3327;p4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9" name="Google Shape;19;p2"/>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4" name="Google Shape;24;p3"/>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6"/>
        <p:cNvGrpSpPr/>
        <p:nvPr/>
      </p:nvGrpSpPr>
      <p:grpSpPr>
        <a:xfrm>
          <a:off x="0" y="0"/>
          <a:ext cx="0" cy="0"/>
          <a:chOff x="0" y="0"/>
          <a:chExt cx="0" cy="0"/>
        </a:xfrm>
      </p:grpSpPr>
      <p:sp>
        <p:nvSpPr>
          <p:cNvPr id="47" name="Google Shape;47;p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latin typeface="Arial"/>
                <a:ea typeface="Arial"/>
                <a:cs typeface="Arial"/>
                <a:sym typeface="Aria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9" name="Google Shape;49;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Arial"/>
                <a:ea typeface="Arial"/>
                <a:cs typeface="Arial"/>
                <a:sym typeface="Aria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a:spLocks noGrp="1"/>
          </p:cNvSpPr>
          <p:nvPr>
            <p:ph type="pic" idx="2"/>
          </p:nvPr>
        </p:nvSpPr>
        <p:spPr>
          <a:xfrm>
            <a:off x="5183188" y="987425"/>
            <a:ext cx="6172200" cy="4873625"/>
          </a:xfrm>
          <a:prstGeom prst="rect">
            <a:avLst/>
          </a:prstGeom>
          <a:noFill/>
          <a:ln>
            <a:noFill/>
          </a:ln>
        </p:spPr>
      </p:sp>
      <p:sp>
        <p:nvSpPr>
          <p:cNvPr id="71" name="Google Shape;71;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Arial"/>
                <a:ea typeface="Arial"/>
                <a:cs typeface="Arial"/>
                <a:sym typeface="Aria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atin typeface="Arial" panose="020B0604020202020204"/>
                <a:ea typeface="Arial" panose="020B0604020202020204"/>
                <a:cs typeface="Arial" panose="020B0604020202020204"/>
                <a:sym typeface="Arial" panose="020B06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Arial" panose="020B0604020202020204"/>
                <a:ea typeface="Arial" panose="020B0604020202020204"/>
                <a:cs typeface="Arial" panose="020B0604020202020204"/>
                <a:sym typeface="Arial" panose="020B0604020202020204"/>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lvl="1"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lvl="2"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lvl="3"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lvl="4"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lvl="5"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lvl="6"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lvl="7"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lvl="8"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pic>
        <p:nvPicPr>
          <p:cNvPr id="19" name="Google Shape;19;p2"/>
          <p:cNvPicPr preferRelativeResize="0"/>
          <p:nvPr/>
        </p:nvPicPr>
        <p:blipFill rotWithShape="1">
          <a:blip r:embed="rId2"/>
          <a:srcRect/>
          <a:stretch>
            <a:fillRect/>
          </a:stretch>
        </p:blipFill>
        <p:spPr>
          <a:xfrm>
            <a:off x="0" y="0"/>
            <a:ext cx="12192000" cy="6858000"/>
          </a:xfrm>
          <a:prstGeom prst="rect">
            <a:avLst/>
          </a:prstGeom>
          <a:noFill/>
          <a:ln>
            <a:noFill/>
          </a:ln>
        </p:spPr>
      </p:pic>
    </p:spTree>
    <p:extLst>
      <p:ext uri="{BB962C8B-B14F-4D97-AF65-F5344CB8AC3E}">
        <p14:creationId xmlns:p14="http://schemas.microsoft.com/office/powerpoint/2010/main" val="650243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Arial" panose="020B0604020202020204"/>
                <a:ea typeface="Arial" panose="020B0604020202020204"/>
                <a:cs typeface="Arial" panose="020B0604020202020204"/>
                <a:sym typeface="Arial" panose="020B06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Arial" panose="020B0604020202020204"/>
                <a:ea typeface="Arial" panose="020B0604020202020204"/>
                <a:cs typeface="Arial" panose="020B0604020202020204"/>
                <a:sym typeface="Arial" panose="020B0604020202020204"/>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lvl="1"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lvl="2"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lvl="3"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lvl="4"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lvl="5"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lvl="6"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lvl="7"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lvl="8"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pic>
        <p:nvPicPr>
          <p:cNvPr id="24" name="Google Shape;24;p3"/>
          <p:cNvPicPr preferRelativeResize="0"/>
          <p:nvPr/>
        </p:nvPicPr>
        <p:blipFill rotWithShape="1">
          <a:blip r:embed="rId2"/>
          <a:srcRect/>
          <a:stretch>
            <a:fillRect/>
          </a:stretch>
        </p:blipFill>
        <p:spPr>
          <a:xfrm>
            <a:off x="0" y="0"/>
            <a:ext cx="12192000" cy="6858000"/>
          </a:xfrm>
          <a:prstGeom prst="rect">
            <a:avLst/>
          </a:prstGeom>
          <a:noFill/>
          <a:ln>
            <a:noFill/>
          </a:ln>
        </p:spPr>
      </p:pic>
    </p:spTree>
    <p:extLst>
      <p:ext uri="{BB962C8B-B14F-4D97-AF65-F5344CB8AC3E}">
        <p14:creationId xmlns:p14="http://schemas.microsoft.com/office/powerpoint/2010/main" val="24467332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Arial" panose="020B0604020202020204"/>
                <a:ea typeface="Arial" panose="020B0604020202020204"/>
                <a:cs typeface="Arial" panose="020B0604020202020204"/>
                <a:sym typeface="Arial" panose="020B06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lvl="1"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lvl="2"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lvl="3"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lvl="4"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lvl="5"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lvl="6"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lvl="7"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lvl="8"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extLst>
      <p:ext uri="{BB962C8B-B14F-4D97-AF65-F5344CB8AC3E}">
        <p14:creationId xmlns:p14="http://schemas.microsoft.com/office/powerpoint/2010/main" val="3094313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Arial" panose="020B0604020202020204"/>
                <a:ea typeface="Arial" panose="020B0604020202020204"/>
                <a:cs typeface="Arial" panose="020B0604020202020204"/>
                <a:sym typeface="Arial" panose="020B06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lvl="1"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lvl="2"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lvl="3"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lvl="4"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lvl="5"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lvl="6"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lvl="7"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lvl="8"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extLst>
      <p:ext uri="{BB962C8B-B14F-4D97-AF65-F5344CB8AC3E}">
        <p14:creationId xmlns:p14="http://schemas.microsoft.com/office/powerpoint/2010/main" val="4493054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838200" y="1005840"/>
            <a:ext cx="10515600" cy="68484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Arial" panose="020B0604020202020204"/>
                <a:ea typeface="Arial" panose="020B0604020202020204"/>
                <a:cs typeface="Arial" panose="020B0604020202020204"/>
                <a:sym typeface="Arial" panose="020B06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Arial" panose="020B0604020202020204"/>
                <a:ea typeface="Arial" panose="020B0604020202020204"/>
                <a:cs typeface="Arial" panose="020B0604020202020204"/>
                <a:sym typeface="Arial" panose="020B0604020202020204"/>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Arial" panose="020B0604020202020204"/>
                <a:ea typeface="Arial" panose="020B0604020202020204"/>
                <a:cs typeface="Arial" panose="020B0604020202020204"/>
                <a:sym typeface="Arial" panose="020B0604020202020204"/>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lvl="1"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lvl="2"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lvl="3"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lvl="4"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lvl="5"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lvl="6"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lvl="7"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lvl="8"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pic>
        <p:nvPicPr>
          <p:cNvPr id="40" name="Google Shape;40;p6"/>
          <p:cNvPicPr preferRelativeResize="0"/>
          <p:nvPr/>
        </p:nvPicPr>
        <p:blipFill rotWithShape="1">
          <a:blip r:embed="rId2"/>
          <a:srcRect/>
          <a:stretch>
            <a:fillRect/>
          </a:stretch>
        </p:blipFill>
        <p:spPr>
          <a:xfrm>
            <a:off x="0" y="0"/>
            <a:ext cx="12192000" cy="6858000"/>
          </a:xfrm>
          <a:prstGeom prst="rect">
            <a:avLst/>
          </a:prstGeom>
          <a:noFill/>
          <a:ln>
            <a:noFill/>
          </a:ln>
        </p:spPr>
      </p:pic>
    </p:spTree>
    <p:extLst>
      <p:ext uri="{BB962C8B-B14F-4D97-AF65-F5344CB8AC3E}">
        <p14:creationId xmlns:p14="http://schemas.microsoft.com/office/powerpoint/2010/main" val="895461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6"/>
        <p:cNvGrpSpPr/>
        <p:nvPr/>
      </p:nvGrpSpPr>
      <p:grpSpPr>
        <a:xfrm>
          <a:off x="0" y="0"/>
          <a:ext cx="0" cy="0"/>
          <a:chOff x="0" y="0"/>
          <a:chExt cx="0" cy="0"/>
        </a:xfrm>
      </p:grpSpPr>
      <p:sp>
        <p:nvSpPr>
          <p:cNvPr id="47" name="Google Shape;47;p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atin typeface="Arial" panose="020B0604020202020204"/>
                <a:ea typeface="Arial" panose="020B0604020202020204"/>
                <a:cs typeface="Arial" panose="020B0604020202020204"/>
                <a:sym typeface="Arial" panose="020B06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latin typeface="Arial" panose="020B0604020202020204"/>
                <a:ea typeface="Arial" panose="020B0604020202020204"/>
                <a:cs typeface="Arial" panose="020B0604020202020204"/>
                <a:sym typeface="Arial" panose="020B0604020202020204"/>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9" name="Google Shape;49;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lvl="1"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lvl="2"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lvl="3"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lvl="4"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lvl="5"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lvl="6"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lvl="7"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lvl="8"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extLst>
      <p:ext uri="{BB962C8B-B14F-4D97-AF65-F5344CB8AC3E}">
        <p14:creationId xmlns:p14="http://schemas.microsoft.com/office/powerpoint/2010/main" val="4092009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Arial" panose="020B0604020202020204"/>
                <a:ea typeface="Arial" panose="020B0604020202020204"/>
                <a:cs typeface="Arial" panose="020B0604020202020204"/>
                <a:sym typeface="Arial" panose="020B06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Arial" panose="020B0604020202020204"/>
                <a:ea typeface="Arial" panose="020B0604020202020204"/>
                <a:cs typeface="Arial" panose="020B0604020202020204"/>
                <a:sym typeface="Arial" panose="020B0604020202020204"/>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Arial" panose="020B0604020202020204"/>
                <a:ea typeface="Arial" panose="020B0604020202020204"/>
                <a:cs typeface="Arial" panose="020B0604020202020204"/>
                <a:sym typeface="Arial" panose="020B0604020202020204"/>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Arial" panose="020B0604020202020204"/>
                <a:ea typeface="Arial" panose="020B0604020202020204"/>
                <a:cs typeface="Arial" panose="020B0604020202020204"/>
                <a:sym typeface="Arial" panose="020B0604020202020204"/>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Arial" panose="020B0604020202020204"/>
                <a:ea typeface="Arial" panose="020B0604020202020204"/>
                <a:cs typeface="Arial" panose="020B0604020202020204"/>
                <a:sym typeface="Arial" panose="020B0604020202020204"/>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lvl="1"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lvl="2"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lvl="3"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lvl="4"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lvl="5"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lvl="6"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lvl="7"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lvl="8"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extLst>
      <p:ext uri="{BB962C8B-B14F-4D97-AF65-F5344CB8AC3E}">
        <p14:creationId xmlns:p14="http://schemas.microsoft.com/office/powerpoint/2010/main" val="37064235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atin typeface="Arial" panose="020B0604020202020204"/>
                <a:ea typeface="Arial" panose="020B0604020202020204"/>
                <a:cs typeface="Arial" panose="020B0604020202020204"/>
                <a:sym typeface="Arial" panose="020B06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atin typeface="Arial" panose="020B0604020202020204"/>
                <a:ea typeface="Arial" panose="020B0604020202020204"/>
                <a:cs typeface="Arial" panose="020B0604020202020204"/>
                <a:sym typeface="Arial" panose="020B0604020202020204"/>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Arial" panose="020B0604020202020204"/>
                <a:ea typeface="Arial" panose="020B0604020202020204"/>
                <a:cs typeface="Arial" panose="020B0604020202020204"/>
                <a:sym typeface="Arial" panose="020B0604020202020204"/>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lvl="1"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lvl="2"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lvl="3"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lvl="4"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lvl="5"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lvl="6"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lvl="7"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lvl="8"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extLst>
      <p:ext uri="{BB962C8B-B14F-4D97-AF65-F5344CB8AC3E}">
        <p14:creationId xmlns:p14="http://schemas.microsoft.com/office/powerpoint/2010/main" val="37655161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atin typeface="Arial" panose="020B0604020202020204"/>
                <a:ea typeface="Arial" panose="020B0604020202020204"/>
                <a:cs typeface="Arial" panose="020B0604020202020204"/>
                <a:sym typeface="Arial" panose="020B06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a:spLocks noGrp="1"/>
          </p:cNvSpPr>
          <p:nvPr>
            <p:ph type="pic" idx="2"/>
          </p:nvPr>
        </p:nvSpPr>
        <p:spPr>
          <a:xfrm>
            <a:off x="5183188" y="987425"/>
            <a:ext cx="6172200" cy="4873625"/>
          </a:xfrm>
          <a:prstGeom prst="rect">
            <a:avLst/>
          </a:prstGeom>
          <a:noFill/>
          <a:ln>
            <a:noFill/>
          </a:ln>
        </p:spPr>
      </p:sp>
      <p:sp>
        <p:nvSpPr>
          <p:cNvPr id="71" name="Google Shape;71;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Arial" panose="020B0604020202020204"/>
                <a:ea typeface="Arial" panose="020B0604020202020204"/>
                <a:cs typeface="Arial" panose="020B0604020202020204"/>
                <a:sym typeface="Arial" panose="020B0604020202020204"/>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lvl="1"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lvl="2"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lvl="3"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lvl="4"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lvl="5"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lvl="6"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lvl="7"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lvl="8"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extLst>
      <p:ext uri="{BB962C8B-B14F-4D97-AF65-F5344CB8AC3E}">
        <p14:creationId xmlns:p14="http://schemas.microsoft.com/office/powerpoint/2010/main" val="18316176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Arial" panose="020B0604020202020204"/>
                <a:ea typeface="Arial" panose="020B0604020202020204"/>
                <a:cs typeface="Arial" panose="020B0604020202020204"/>
                <a:sym typeface="Arial" panose="020B06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Arial" panose="020B0604020202020204"/>
                <a:ea typeface="Arial" panose="020B0604020202020204"/>
                <a:cs typeface="Arial" panose="020B0604020202020204"/>
                <a:sym typeface="Arial" panose="020B0604020202020204"/>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lvl="1"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lvl="2"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lvl="3"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lvl="4"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lvl="5"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lvl="6"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lvl="7"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lvl="8"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extLst>
      <p:ext uri="{BB962C8B-B14F-4D97-AF65-F5344CB8AC3E}">
        <p14:creationId xmlns:p14="http://schemas.microsoft.com/office/powerpoint/2010/main" val="33163767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1"/>
        <p:cNvGrpSpPr/>
        <p:nvPr/>
      </p:nvGrpSpPr>
      <p:grpSpPr>
        <a:xfrm>
          <a:off x="0" y="0"/>
          <a:ext cx="0" cy="0"/>
          <a:chOff x="0" y="0"/>
          <a:chExt cx="0" cy="0"/>
        </a:xfrm>
      </p:grpSpPr>
      <p:sp>
        <p:nvSpPr>
          <p:cNvPr id="82" name="Google Shape;82;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atin typeface="Arial" panose="020B0604020202020204"/>
                <a:ea typeface="Arial" panose="020B0604020202020204"/>
                <a:cs typeface="Arial" panose="020B0604020202020204"/>
                <a:sym typeface="Arial" panose="020B06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Arial" panose="020B0604020202020204"/>
                <a:ea typeface="Arial" panose="020B0604020202020204"/>
                <a:cs typeface="Arial" panose="020B0604020202020204"/>
                <a:sym typeface="Arial" panose="020B0604020202020204"/>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lvl="1"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lvl="2"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lvl="3"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lvl="4"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lvl="5"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lvl="6"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lvl="7"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lvl="8" indent="0" algn="r">
              <a:lnSpc>
                <a:spcPct val="100000"/>
              </a:lnSpc>
              <a:spcBef>
                <a:spcPts val="0"/>
              </a:spcBef>
              <a:spcAft>
                <a:spcPts val="0"/>
              </a:spcAft>
              <a:buSzPts val="12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extLst>
      <p:ext uri="{BB962C8B-B14F-4D97-AF65-F5344CB8AC3E}">
        <p14:creationId xmlns:p14="http://schemas.microsoft.com/office/powerpoint/2010/main" val="17620266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12635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1"/>
        <p:cNvGrpSpPr/>
        <p:nvPr/>
      </p:nvGrpSpPr>
      <p:grpSpPr>
        <a:xfrm>
          <a:off x="0" y="0"/>
          <a:ext cx="0" cy="0"/>
          <a:chOff x="0" y="0"/>
          <a:chExt cx="0" cy="0"/>
        </a:xfrm>
      </p:grpSpPr>
      <p:sp>
        <p:nvSpPr>
          <p:cNvPr id="42" name="Google Shape;4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sz="1200" b="0" i="0" u="none" strike="noStrike" cap="none">
                <a:solidFill>
                  <a:srgbClr val="888888"/>
                </a:solidFill>
                <a:latin typeface="Arial"/>
                <a:ea typeface="Arial"/>
                <a:cs typeface="Arial"/>
                <a:sym typeface="Arial"/>
              </a:defRPr>
            </a:lvl1pPr>
            <a:lvl2pPr marL="0" lvl="1" indent="0" algn="r">
              <a:lnSpc>
                <a:spcPct val="100000"/>
              </a:lnSpc>
              <a:spcBef>
                <a:spcPts val="0"/>
              </a:spcBef>
              <a:spcAft>
                <a:spcPts val="0"/>
              </a:spcAft>
              <a:buSzPts val="1200"/>
              <a:buNone/>
              <a:defRPr sz="1200" b="0" i="0" u="none" strike="noStrike" cap="none">
                <a:solidFill>
                  <a:srgbClr val="888888"/>
                </a:solidFill>
                <a:latin typeface="Arial"/>
                <a:ea typeface="Arial"/>
                <a:cs typeface="Arial"/>
                <a:sym typeface="Arial"/>
              </a:defRPr>
            </a:lvl2pPr>
            <a:lvl3pPr marL="0" lvl="2" indent="0" algn="r">
              <a:lnSpc>
                <a:spcPct val="100000"/>
              </a:lnSpc>
              <a:spcBef>
                <a:spcPts val="0"/>
              </a:spcBef>
              <a:spcAft>
                <a:spcPts val="0"/>
              </a:spcAft>
              <a:buSzPts val="1200"/>
              <a:buNone/>
              <a:defRPr sz="1200" b="0" i="0" u="none" strike="noStrike" cap="none">
                <a:solidFill>
                  <a:srgbClr val="888888"/>
                </a:solidFill>
                <a:latin typeface="Arial"/>
                <a:ea typeface="Arial"/>
                <a:cs typeface="Arial"/>
                <a:sym typeface="Arial"/>
              </a:defRPr>
            </a:lvl3pPr>
            <a:lvl4pPr marL="0" lvl="3" indent="0" algn="r">
              <a:lnSpc>
                <a:spcPct val="100000"/>
              </a:lnSpc>
              <a:spcBef>
                <a:spcPts val="0"/>
              </a:spcBef>
              <a:spcAft>
                <a:spcPts val="0"/>
              </a:spcAft>
              <a:buSzPts val="1200"/>
              <a:buNone/>
              <a:defRPr sz="1200" b="0" i="0" u="none" strike="noStrike" cap="none">
                <a:solidFill>
                  <a:srgbClr val="888888"/>
                </a:solidFill>
                <a:latin typeface="Arial"/>
                <a:ea typeface="Arial"/>
                <a:cs typeface="Arial"/>
                <a:sym typeface="Arial"/>
              </a:defRPr>
            </a:lvl4pPr>
            <a:lvl5pPr marL="0" lvl="4" indent="0" algn="r">
              <a:lnSpc>
                <a:spcPct val="100000"/>
              </a:lnSpc>
              <a:spcBef>
                <a:spcPts val="0"/>
              </a:spcBef>
              <a:spcAft>
                <a:spcPts val="0"/>
              </a:spcAft>
              <a:buSzPts val="1200"/>
              <a:buNone/>
              <a:defRPr sz="1200" b="0" i="0" u="none" strike="noStrike" cap="none">
                <a:solidFill>
                  <a:srgbClr val="888888"/>
                </a:solidFill>
                <a:latin typeface="Arial"/>
                <a:ea typeface="Arial"/>
                <a:cs typeface="Arial"/>
                <a:sym typeface="Arial"/>
              </a:defRPr>
            </a:lvl5pPr>
            <a:lvl6pPr marL="0" lvl="5" indent="0" algn="r">
              <a:lnSpc>
                <a:spcPct val="100000"/>
              </a:lnSpc>
              <a:spcBef>
                <a:spcPts val="0"/>
              </a:spcBef>
              <a:spcAft>
                <a:spcPts val="0"/>
              </a:spcAft>
              <a:buSzPts val="1200"/>
              <a:buNone/>
              <a:defRPr sz="1200" b="0" i="0" u="none" strike="noStrike" cap="none">
                <a:solidFill>
                  <a:srgbClr val="888888"/>
                </a:solidFill>
                <a:latin typeface="Arial"/>
                <a:ea typeface="Arial"/>
                <a:cs typeface="Arial"/>
                <a:sym typeface="Arial"/>
              </a:defRPr>
            </a:lvl6pPr>
            <a:lvl7pPr marL="0" lvl="6" indent="0" algn="r">
              <a:lnSpc>
                <a:spcPct val="100000"/>
              </a:lnSpc>
              <a:spcBef>
                <a:spcPts val="0"/>
              </a:spcBef>
              <a:spcAft>
                <a:spcPts val="0"/>
              </a:spcAft>
              <a:buSzPts val="1200"/>
              <a:buNone/>
              <a:defRPr sz="1200" b="0" i="0" u="none" strike="noStrike" cap="none">
                <a:solidFill>
                  <a:srgbClr val="888888"/>
                </a:solidFill>
                <a:latin typeface="Arial"/>
                <a:ea typeface="Arial"/>
                <a:cs typeface="Arial"/>
                <a:sym typeface="Arial"/>
              </a:defRPr>
            </a:lvl7pPr>
            <a:lvl8pPr marL="0" lvl="7" indent="0" algn="r">
              <a:lnSpc>
                <a:spcPct val="100000"/>
              </a:lnSpc>
              <a:spcBef>
                <a:spcPts val="0"/>
              </a:spcBef>
              <a:spcAft>
                <a:spcPts val="0"/>
              </a:spcAft>
              <a:buSzPts val="1200"/>
              <a:buNone/>
              <a:defRPr sz="1200" b="0" i="0" u="none" strike="noStrike" cap="none">
                <a:solidFill>
                  <a:srgbClr val="888888"/>
                </a:solidFill>
                <a:latin typeface="Arial"/>
                <a:ea typeface="Arial"/>
                <a:cs typeface="Arial"/>
                <a:sym typeface="Arial"/>
              </a:defRPr>
            </a:lvl8pPr>
            <a:lvl9pPr marL="0" lvl="8" indent="0" algn="r">
              <a:lnSpc>
                <a:spcPct val="100000"/>
              </a:lnSpc>
              <a:spcBef>
                <a:spcPts val="0"/>
              </a:spcBef>
              <a:spcAft>
                <a:spcPts val="0"/>
              </a:spcAft>
              <a:buSzPts val="1200"/>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5" name="Google Shape;45;p7"/>
          <p:cNvPicPr preferRelativeResize="0"/>
          <p:nvPr/>
        </p:nvPicPr>
        <p:blipFill rotWithShape="1">
          <a:blip r:embed="rId2">
            <a:alphaModFix/>
          </a:blip>
          <a:srcRect/>
          <a:stretch/>
        </p:blipFill>
        <p:spPr>
          <a:xfrm>
            <a:off x="0" y="0"/>
            <a:ext cx="12192000" cy="6858000"/>
          </a:xfrm>
          <a:prstGeom prst="rect">
            <a:avLst/>
          </a:prstGeom>
          <a:noFill/>
          <a:ln>
            <a:noFill/>
          </a:ln>
        </p:spPr>
      </p:pic>
    </p:spTree>
    <p:extLst>
      <p:ext uri="{BB962C8B-B14F-4D97-AF65-F5344CB8AC3E}">
        <p14:creationId xmlns:p14="http://schemas.microsoft.com/office/powerpoint/2010/main" val="2434724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4"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extLst>
      <p:ext uri="{BB962C8B-B14F-4D97-AF65-F5344CB8AC3E}">
        <p14:creationId xmlns:p14="http://schemas.microsoft.com/office/powerpoint/2010/main" val="4217446555"/>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minhngoc.8bit.co.uk/images/maiphao.gif"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4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8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8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8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39.jpeg"/><Relationship Id="rId4" Type="http://schemas.openxmlformats.org/officeDocument/2006/relationships/image" Target="../media/image38.jpe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https://www.researchgate.net/profile/Hooman_Shababi/publication/262169277/figure/fig2/AS:392510338813953@1470593165355/Hierarchy-of-needs-between-different-cultural-groups.png" TargetMode="External"/><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0.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1.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1.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1.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1.xml"/></Relationships>
</file>

<file path=ppt/slides/_rels/slide17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94.xml"/><Relationship Id="rId1" Type="http://schemas.openxmlformats.org/officeDocument/2006/relationships/slideLayout" Target="../slideLayouts/slideLayout11.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1.xml"/></Relationships>
</file>

<file path=ppt/slides/_rels/slide17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96.xml"/><Relationship Id="rId1" Type="http://schemas.openxmlformats.org/officeDocument/2006/relationships/slideLayout" Target="../slideLayouts/slideLayout11.xml"/><Relationship Id="rId5" Type="http://schemas.openxmlformats.org/officeDocument/2006/relationships/image" Target="../media/image46.jpeg"/><Relationship Id="rId4" Type="http://schemas.openxmlformats.org/officeDocument/2006/relationships/image" Target="../media/image45.jpeg"/></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1.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1.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1.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1.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1.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1.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1.xml"/></Relationships>
</file>

<file path=ppt/slides/_rels/slide18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4.xml"/><Relationship Id="rId1" Type="http://schemas.openxmlformats.org/officeDocument/2006/relationships/slideLayout" Target="../slideLayouts/slideLayout1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1.xml"/></Relationships>
</file>

<file path=ppt/slides/_rels/slide19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7.xml"/><Relationship Id="rId1" Type="http://schemas.openxmlformats.org/officeDocument/2006/relationships/slideLayout" Target="../slideLayouts/slideLayout1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1.xml"/></Relationships>
</file>

<file path=ppt/slides/_rels/slide19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2.xml"/><Relationship Id="rId1" Type="http://schemas.openxmlformats.org/officeDocument/2006/relationships/slideLayout" Target="../slideLayouts/slideLayout13.xml"/><Relationship Id="rId4" Type="http://schemas.openxmlformats.org/officeDocument/2006/relationships/hyperlink" Target="http://www.sric-bi.cor/VALS/" TargetMode="Externa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0.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4.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0.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1.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1.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1.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1.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1.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1.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1.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1.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1.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11.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1.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1.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11.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1.xml"/></Relationships>
</file>

<file path=ppt/slides/_rels/slide244.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160.xml"/><Relationship Id="rId1" Type="http://schemas.openxmlformats.org/officeDocument/2006/relationships/slideLayout" Target="../slideLayouts/slideLayout21.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1.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11.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10.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11.xml"/></Relationships>
</file>

<file path=ppt/slides/_rels/slide24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5.xml"/><Relationship Id="rId1" Type="http://schemas.openxmlformats.org/officeDocument/2006/relationships/slideLayout" Target="../slideLayouts/slideLayout11.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1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10.xml"/></Relationships>
</file>

<file path=ppt/slides/_rels/slide25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8.xml"/><Relationship Id="rId1" Type="http://schemas.openxmlformats.org/officeDocument/2006/relationships/slideLayout" Target="../slideLayouts/slideLayout11.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0.xml"/></Relationships>
</file>

<file path=ppt/slides/_rels/slide26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1.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1.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10.xml"/></Relationships>
</file>

<file path=ppt/slides/_rels/slide272.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11.xml"/></Relationships>
</file>

<file path=ppt/slides/_rels/slide273.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11.xml"/></Relationships>
</file>

<file path=ppt/slides/_rels/slide274.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10.xml"/></Relationships>
</file>

<file path=ppt/slides/_rels/slide275.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11.xml"/></Relationships>
</file>

<file path=ppt/slides/_rels/slide276.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11.xml"/></Relationships>
</file>

<file path=ppt/slides/_rels/slide277.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11.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11.xml"/></Relationships>
</file>

<file path=ppt/slides/_rels/slide279.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11.xml"/></Relationships>
</file>

<file path=ppt/slides/_rels/slide280.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11.xml"/></Relationships>
</file>

<file path=ppt/slides/_rels/slide281.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11.xml"/></Relationships>
</file>

<file path=ppt/slides/_rels/slide282.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10.xml"/></Relationships>
</file>

<file path=ppt/slides/_rels/slide28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82.xml"/><Relationship Id="rId1" Type="http://schemas.openxmlformats.org/officeDocument/2006/relationships/slideLayout" Target="../slideLayouts/slideLayout1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84.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11.xml"/></Relationships>
</file>

<file path=ppt/slides/_rels/slide285.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11.xml"/></Relationships>
</file>

<file path=ppt/slides/_rels/slide286.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11.xml"/></Relationships>
</file>

<file path=ppt/slides/_rels/slide287.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11.xml"/></Relationships>
</file>

<file path=ppt/slides/_rels/slide288.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11.xml"/></Relationships>
</file>

<file path=ppt/slides/_rels/slide28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1.xml"/></Relationships>
</file>

<file path=ppt/slides/_rels/slide290.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10.xml"/></Relationships>
</file>

<file path=ppt/slides/_rels/slide291.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1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3.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11.xml"/></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11.xml"/></Relationships>
</file>

<file path=ppt/slides/_rels/slide29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96.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11.xml"/></Relationships>
</file>

<file path=ppt/slides/_rels/slide297.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11.xml"/></Relationships>
</file>

<file path=ppt/slides/_rels/slide298.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11.xml"/></Relationships>
</file>

<file path=ppt/slides/_rels/slide299.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11.xml"/></Relationships>
</file>

<file path=ppt/slides/_rels/slide300.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11.xml"/></Relationships>
</file>

<file path=ppt/slides/_rels/slide301.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11.xml"/></Relationships>
</file>

<file path=ppt/slides/_rels/slide302.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ctrTitle"/>
          </p:nvPr>
        </p:nvSpPr>
        <p:spPr>
          <a:xfrm>
            <a:off x="1524000" y="1568167"/>
            <a:ext cx="9144000" cy="212055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4800"/>
              <a:buFont typeface="Calibri"/>
              <a:buNone/>
            </a:pPr>
            <a:br>
              <a:rPr lang="en-US" sz="4800" b="1"/>
            </a:br>
            <a:br>
              <a:rPr lang="en-US" sz="4800" b="1"/>
            </a:br>
            <a:r>
              <a:rPr lang="en-US" sz="4800" b="1">
                <a:latin typeface="Arial"/>
                <a:ea typeface="Arial"/>
                <a:cs typeface="Arial"/>
                <a:sym typeface="Arial"/>
              </a:rPr>
              <a:t>BÀI GIẢNG</a:t>
            </a:r>
            <a:br>
              <a:rPr lang="en-US" sz="4800" b="1"/>
            </a:br>
            <a:br>
              <a:rPr lang="en-US" sz="4800" b="1"/>
            </a:br>
            <a:r>
              <a:rPr lang="en-US" sz="4800" b="1">
                <a:latin typeface="Arial"/>
                <a:ea typeface="Arial"/>
                <a:cs typeface="Arial"/>
                <a:sym typeface="Arial"/>
              </a:rPr>
              <a:t>HÀNH VI KHÁCH HÀNG</a:t>
            </a:r>
            <a:endParaRPr sz="4800" b="1">
              <a:latin typeface="Arial"/>
              <a:ea typeface="Arial"/>
              <a:cs typeface="Arial"/>
              <a:sym typeface="Arial"/>
            </a:endParaRPr>
          </a:p>
        </p:txBody>
      </p:sp>
      <p:sp>
        <p:nvSpPr>
          <p:cNvPr id="92" name="Google Shape;92;p14"/>
          <p:cNvSpPr txBox="1">
            <a:spLocks noGrp="1"/>
          </p:cNvSpPr>
          <p:nvPr>
            <p:ph type="subTitle" idx="1"/>
          </p:nvPr>
        </p:nvSpPr>
        <p:spPr>
          <a:xfrm>
            <a:off x="2628900" y="3556659"/>
            <a:ext cx="9144000" cy="1911928"/>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3600"/>
              <a:buNone/>
            </a:pPr>
            <a:br>
              <a:rPr lang="en-US" sz="3600" b="1"/>
            </a:br>
            <a:r>
              <a:rPr lang="en-US" sz="3600" b="1">
                <a:latin typeface="Arial"/>
                <a:ea typeface="Arial"/>
                <a:cs typeface="Arial"/>
                <a:sym typeface="Arial"/>
              </a:rPr>
              <a:t>Khoa/ Bộ môn phụ trách học phần:</a:t>
            </a:r>
            <a:endParaRPr/>
          </a:p>
          <a:p>
            <a:pPr marL="0" lvl="0" indent="0" algn="ctr" rtl="0">
              <a:lnSpc>
                <a:spcPct val="90000"/>
              </a:lnSpc>
              <a:spcBef>
                <a:spcPts val="1000"/>
              </a:spcBef>
              <a:spcAft>
                <a:spcPts val="0"/>
              </a:spcAft>
              <a:buClr>
                <a:schemeClr val="dk1"/>
              </a:buClr>
              <a:buSzPts val="3600"/>
              <a:buNone/>
            </a:pPr>
            <a:r>
              <a:rPr lang="en-US" sz="3600" b="1">
                <a:latin typeface="Arial"/>
                <a:ea typeface="Arial"/>
                <a:cs typeface="Arial"/>
                <a:sym typeface="Arial"/>
              </a:rPr>
              <a:t>Khoa Marketing</a:t>
            </a:r>
            <a:endParaRPr sz="3600" b="1">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a:off x="355600" y="365125"/>
            <a:ext cx="109982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b="1">
                <a:latin typeface="Arial"/>
                <a:ea typeface="Arial"/>
                <a:cs typeface="Arial"/>
                <a:sym typeface="Arial"/>
              </a:rPr>
              <a:t>THÔNG TIN CHUNG VỀ MÔN HỌC </a:t>
            </a:r>
            <a:br>
              <a:rPr lang="en-US" sz="3600" b="1">
                <a:latin typeface="Arial"/>
                <a:ea typeface="Arial"/>
                <a:cs typeface="Arial"/>
                <a:sym typeface="Arial"/>
              </a:rPr>
            </a:br>
            <a:endParaRPr sz="3600">
              <a:latin typeface="Arial"/>
              <a:ea typeface="Arial"/>
              <a:cs typeface="Arial"/>
              <a:sym typeface="Arial"/>
            </a:endParaRPr>
          </a:p>
        </p:txBody>
      </p:sp>
      <p:sp>
        <p:nvSpPr>
          <p:cNvPr id="98" name="Google Shape;98;p15"/>
          <p:cNvSpPr txBox="1">
            <a:spLocks noGrp="1"/>
          </p:cNvSpPr>
          <p:nvPr>
            <p:ph type="body" idx="1"/>
          </p:nvPr>
        </p:nvSpPr>
        <p:spPr>
          <a:xfrm>
            <a:off x="838200" y="1435100"/>
            <a:ext cx="10515600" cy="4741863"/>
          </a:xfrm>
          <a:prstGeom prst="rect">
            <a:avLst/>
          </a:prstGeom>
          <a:noFill/>
          <a:ln>
            <a:noFill/>
          </a:ln>
        </p:spPr>
        <p:txBody>
          <a:bodyPr spcFirstLastPara="1" wrap="square" lIns="91425" tIns="45700" rIns="91425" bIns="45700" anchor="t" anchorCtr="0">
            <a:normAutofit/>
          </a:bodyPr>
          <a:lstStyle/>
          <a:p>
            <a:pPr marL="514350" lvl="0" indent="-514350" algn="l" rtl="0">
              <a:lnSpc>
                <a:spcPct val="170000"/>
              </a:lnSpc>
              <a:spcBef>
                <a:spcPts val="0"/>
              </a:spcBef>
              <a:spcAft>
                <a:spcPts val="0"/>
              </a:spcAft>
              <a:buClr>
                <a:schemeClr val="dk1"/>
              </a:buClr>
              <a:buSzPts val="3400"/>
              <a:buFont typeface="Arial"/>
              <a:buAutoNum type="arabicPeriod"/>
            </a:pPr>
            <a:r>
              <a:rPr lang="en-US" sz="3400" err="1">
                <a:solidFill>
                  <a:schemeClr val="dk1"/>
                </a:solidFill>
                <a:latin typeface="Arial"/>
                <a:ea typeface="Arial"/>
                <a:cs typeface="Arial"/>
                <a:sym typeface="Arial"/>
              </a:rPr>
              <a:t>Số</a:t>
            </a:r>
            <a:r>
              <a:rPr lang="en-US" sz="3400">
                <a:solidFill>
                  <a:schemeClr val="dk1"/>
                </a:solidFill>
                <a:latin typeface="Arial"/>
                <a:ea typeface="Arial"/>
                <a:cs typeface="Arial"/>
                <a:sym typeface="Arial"/>
              </a:rPr>
              <a:t> </a:t>
            </a:r>
            <a:r>
              <a:rPr lang="en-US" sz="3400" err="1">
                <a:solidFill>
                  <a:schemeClr val="dk1"/>
                </a:solidFill>
                <a:latin typeface="Arial"/>
                <a:ea typeface="Arial"/>
                <a:cs typeface="Arial"/>
                <a:sym typeface="Arial"/>
              </a:rPr>
              <a:t>tín</a:t>
            </a:r>
            <a:r>
              <a:rPr lang="en-US" sz="3400">
                <a:solidFill>
                  <a:schemeClr val="dk1"/>
                </a:solidFill>
                <a:latin typeface="Arial"/>
                <a:ea typeface="Arial"/>
                <a:cs typeface="Arial"/>
                <a:sym typeface="Arial"/>
              </a:rPr>
              <a:t> </a:t>
            </a:r>
            <a:r>
              <a:rPr lang="en-US" sz="3400" err="1">
                <a:solidFill>
                  <a:schemeClr val="dk1"/>
                </a:solidFill>
                <a:latin typeface="Arial"/>
                <a:ea typeface="Arial"/>
                <a:cs typeface="Arial"/>
                <a:sym typeface="Arial"/>
              </a:rPr>
              <a:t>chỉ</a:t>
            </a:r>
            <a:r>
              <a:rPr lang="en-US" sz="3400">
                <a:solidFill>
                  <a:schemeClr val="dk1"/>
                </a:solidFill>
                <a:latin typeface="Arial"/>
                <a:ea typeface="Arial"/>
                <a:cs typeface="Arial"/>
                <a:sym typeface="Arial"/>
              </a:rPr>
              <a:t>: 3 </a:t>
            </a:r>
            <a:r>
              <a:rPr lang="en-US" sz="3400" err="1">
                <a:solidFill>
                  <a:schemeClr val="dk1"/>
                </a:solidFill>
                <a:latin typeface="Arial"/>
                <a:ea typeface="Arial"/>
                <a:cs typeface="Arial"/>
                <a:sym typeface="Arial"/>
              </a:rPr>
              <a:t>tín</a:t>
            </a:r>
            <a:r>
              <a:rPr lang="en-US" sz="3400">
                <a:solidFill>
                  <a:schemeClr val="dk1"/>
                </a:solidFill>
                <a:latin typeface="Arial"/>
                <a:ea typeface="Arial"/>
                <a:cs typeface="Arial"/>
                <a:sym typeface="Arial"/>
              </a:rPr>
              <a:t> </a:t>
            </a:r>
            <a:r>
              <a:rPr lang="en-US" sz="3400" err="1">
                <a:solidFill>
                  <a:schemeClr val="dk1"/>
                </a:solidFill>
                <a:latin typeface="Arial"/>
                <a:ea typeface="Arial"/>
                <a:cs typeface="Arial"/>
                <a:sym typeface="Arial"/>
              </a:rPr>
              <a:t>chỉ</a:t>
            </a:r>
            <a:r>
              <a:rPr lang="en-US" sz="3400">
                <a:solidFill>
                  <a:schemeClr val="dk1"/>
                </a:solidFill>
                <a:latin typeface="Arial"/>
                <a:ea typeface="Arial"/>
                <a:cs typeface="Arial"/>
                <a:sym typeface="Arial"/>
              </a:rPr>
              <a:t> (</a:t>
            </a:r>
            <a:r>
              <a:rPr lang="en-US" sz="3400" err="1">
                <a:solidFill>
                  <a:schemeClr val="dk1"/>
                </a:solidFill>
                <a:latin typeface="Arial"/>
                <a:ea typeface="Arial"/>
                <a:cs typeface="Arial"/>
                <a:sym typeface="Arial"/>
              </a:rPr>
              <a:t>tương</a:t>
            </a:r>
            <a:r>
              <a:rPr lang="en-US" sz="3400">
                <a:solidFill>
                  <a:schemeClr val="dk1"/>
                </a:solidFill>
                <a:latin typeface="Arial"/>
                <a:ea typeface="Arial"/>
                <a:cs typeface="Arial"/>
                <a:sym typeface="Arial"/>
              </a:rPr>
              <a:t> </a:t>
            </a:r>
            <a:r>
              <a:rPr lang="en-US" sz="3400" err="1">
                <a:solidFill>
                  <a:schemeClr val="dk1"/>
                </a:solidFill>
                <a:latin typeface="Arial"/>
                <a:ea typeface="Arial"/>
                <a:cs typeface="Arial"/>
                <a:sym typeface="Arial"/>
              </a:rPr>
              <a:t>đương</a:t>
            </a:r>
            <a:r>
              <a:rPr lang="en-US" sz="3400">
                <a:solidFill>
                  <a:schemeClr val="dk1"/>
                </a:solidFill>
                <a:latin typeface="Arial"/>
                <a:ea typeface="Arial"/>
                <a:cs typeface="Arial"/>
                <a:sym typeface="Arial"/>
              </a:rPr>
              <a:t> 45 </a:t>
            </a:r>
            <a:r>
              <a:rPr lang="en-US" sz="3400" err="1">
                <a:solidFill>
                  <a:schemeClr val="dk1"/>
                </a:solidFill>
                <a:latin typeface="Arial"/>
                <a:ea typeface="Arial"/>
                <a:cs typeface="Arial"/>
                <a:sym typeface="Arial"/>
              </a:rPr>
              <a:t>tiết</a:t>
            </a:r>
            <a:r>
              <a:rPr lang="en-US" sz="3400">
                <a:solidFill>
                  <a:schemeClr val="dk1"/>
                </a:solidFill>
                <a:latin typeface="Arial"/>
                <a:ea typeface="Arial"/>
                <a:cs typeface="Arial"/>
                <a:sym typeface="Arial"/>
              </a:rPr>
              <a:t>)</a:t>
            </a:r>
            <a:endParaRPr>
              <a:solidFill>
                <a:schemeClr val="dk1"/>
              </a:solidFill>
            </a:endParaRPr>
          </a:p>
          <a:p>
            <a:pPr marL="514350" lvl="0" indent="-514350" algn="l" rtl="0">
              <a:lnSpc>
                <a:spcPct val="170000"/>
              </a:lnSpc>
              <a:spcBef>
                <a:spcPts val="1000"/>
              </a:spcBef>
              <a:spcAft>
                <a:spcPts val="0"/>
              </a:spcAft>
              <a:buClr>
                <a:schemeClr val="dk1"/>
              </a:buClr>
              <a:buSzPts val="3400"/>
              <a:buFont typeface="Arial"/>
              <a:buAutoNum type="arabicPeriod"/>
            </a:pPr>
            <a:r>
              <a:rPr lang="en-US" sz="3400" err="1">
                <a:solidFill>
                  <a:schemeClr val="dk1"/>
                </a:solidFill>
                <a:latin typeface="Arial"/>
                <a:ea typeface="Arial"/>
                <a:cs typeface="Arial"/>
                <a:sym typeface="Arial"/>
              </a:rPr>
              <a:t>Kết</a:t>
            </a:r>
            <a:r>
              <a:rPr lang="en-US" sz="3400">
                <a:solidFill>
                  <a:schemeClr val="dk1"/>
                </a:solidFill>
                <a:latin typeface="Arial"/>
                <a:ea typeface="Arial"/>
                <a:cs typeface="Arial"/>
                <a:sym typeface="Arial"/>
              </a:rPr>
              <a:t> </a:t>
            </a:r>
            <a:r>
              <a:rPr lang="en-US" sz="3400" err="1">
                <a:solidFill>
                  <a:schemeClr val="dk1"/>
                </a:solidFill>
                <a:latin typeface="Arial"/>
                <a:ea typeface="Arial"/>
                <a:cs typeface="Arial"/>
                <a:sym typeface="Arial"/>
              </a:rPr>
              <a:t>cấu</a:t>
            </a:r>
            <a:r>
              <a:rPr lang="en-US" sz="3400">
                <a:solidFill>
                  <a:schemeClr val="dk1"/>
                </a:solidFill>
                <a:latin typeface="Arial"/>
                <a:ea typeface="Arial"/>
                <a:cs typeface="Arial"/>
                <a:sym typeface="Arial"/>
              </a:rPr>
              <a:t> </a:t>
            </a:r>
            <a:r>
              <a:rPr lang="en-US" sz="3400" err="1">
                <a:solidFill>
                  <a:schemeClr val="dk1"/>
                </a:solidFill>
                <a:latin typeface="Arial"/>
                <a:ea typeface="Arial"/>
                <a:cs typeface="Arial"/>
                <a:sym typeface="Arial"/>
              </a:rPr>
              <a:t>môn</a:t>
            </a:r>
            <a:r>
              <a:rPr lang="en-US" sz="3400">
                <a:solidFill>
                  <a:schemeClr val="dk1"/>
                </a:solidFill>
                <a:latin typeface="Arial"/>
                <a:ea typeface="Arial"/>
                <a:cs typeface="Arial"/>
                <a:sym typeface="Arial"/>
              </a:rPr>
              <a:t> </a:t>
            </a:r>
            <a:r>
              <a:rPr lang="en-US" sz="3400" err="1">
                <a:solidFill>
                  <a:schemeClr val="dk1"/>
                </a:solidFill>
                <a:latin typeface="Arial"/>
                <a:ea typeface="Arial"/>
                <a:cs typeface="Arial"/>
                <a:sym typeface="Arial"/>
              </a:rPr>
              <a:t>học</a:t>
            </a:r>
            <a:r>
              <a:rPr lang="en-US" sz="3400">
                <a:solidFill>
                  <a:schemeClr val="dk1"/>
                </a:solidFill>
                <a:latin typeface="Arial"/>
                <a:ea typeface="Arial"/>
                <a:cs typeface="Arial"/>
                <a:sym typeface="Arial"/>
              </a:rPr>
              <a:t> : bao </a:t>
            </a:r>
            <a:r>
              <a:rPr lang="en-US" sz="3400" err="1">
                <a:solidFill>
                  <a:schemeClr val="dk1"/>
                </a:solidFill>
                <a:latin typeface="Arial"/>
                <a:ea typeface="Arial"/>
                <a:cs typeface="Arial"/>
                <a:sym typeface="Arial"/>
              </a:rPr>
              <a:t>gồm</a:t>
            </a:r>
            <a:r>
              <a:rPr lang="en-US" sz="3400">
                <a:solidFill>
                  <a:schemeClr val="dk1"/>
                </a:solidFill>
                <a:latin typeface="Arial"/>
                <a:ea typeface="Arial"/>
                <a:cs typeface="Arial"/>
                <a:sym typeface="Arial"/>
              </a:rPr>
              <a:t> </a:t>
            </a:r>
            <a:r>
              <a:rPr lang="en-US" sz="3400"/>
              <a:t>7 </a:t>
            </a:r>
            <a:r>
              <a:rPr lang="en-US" sz="3400" err="1">
                <a:solidFill>
                  <a:schemeClr val="dk1"/>
                </a:solidFill>
                <a:latin typeface="Arial"/>
                <a:ea typeface="Arial"/>
                <a:cs typeface="Arial"/>
                <a:sym typeface="Arial"/>
              </a:rPr>
              <a:t>chương</a:t>
            </a:r>
            <a:endParaRPr>
              <a:solidFill>
                <a:schemeClr val="dk1"/>
              </a:solidFill>
            </a:endParaRPr>
          </a:p>
          <a:p>
            <a:pPr marL="514350" lvl="0" indent="-514350" algn="l" rtl="0">
              <a:lnSpc>
                <a:spcPct val="170000"/>
              </a:lnSpc>
              <a:spcBef>
                <a:spcPts val="1000"/>
              </a:spcBef>
              <a:spcAft>
                <a:spcPts val="0"/>
              </a:spcAft>
              <a:buClr>
                <a:schemeClr val="dk1"/>
              </a:buClr>
              <a:buSzPts val="3400"/>
              <a:buFont typeface="Arial"/>
              <a:buAutoNum type="arabicPeriod"/>
            </a:pPr>
            <a:r>
              <a:rPr lang="en-US" sz="3400" err="1">
                <a:solidFill>
                  <a:schemeClr val="dk1"/>
                </a:solidFill>
                <a:latin typeface="Arial"/>
                <a:ea typeface="Arial"/>
                <a:cs typeface="Arial"/>
                <a:sym typeface="Arial"/>
              </a:rPr>
              <a:t>Điều</a:t>
            </a:r>
            <a:r>
              <a:rPr lang="en-US" sz="3400">
                <a:solidFill>
                  <a:schemeClr val="dk1"/>
                </a:solidFill>
                <a:latin typeface="Arial"/>
                <a:ea typeface="Arial"/>
                <a:cs typeface="Arial"/>
                <a:sym typeface="Arial"/>
              </a:rPr>
              <a:t> </a:t>
            </a:r>
            <a:r>
              <a:rPr lang="en-US" sz="3400" err="1">
                <a:solidFill>
                  <a:schemeClr val="dk1"/>
                </a:solidFill>
                <a:latin typeface="Arial"/>
                <a:ea typeface="Arial"/>
                <a:cs typeface="Arial"/>
                <a:sym typeface="Arial"/>
              </a:rPr>
              <a:t>kiện</a:t>
            </a:r>
            <a:r>
              <a:rPr lang="en-US" sz="3400">
                <a:solidFill>
                  <a:schemeClr val="dk1"/>
                </a:solidFill>
                <a:latin typeface="Arial"/>
                <a:ea typeface="Arial"/>
                <a:cs typeface="Arial"/>
                <a:sym typeface="Arial"/>
              </a:rPr>
              <a:t>: </a:t>
            </a:r>
            <a:r>
              <a:rPr lang="en-US" sz="3400" err="1">
                <a:solidFill>
                  <a:schemeClr val="dk1"/>
                </a:solidFill>
                <a:latin typeface="Arial"/>
                <a:ea typeface="Arial"/>
                <a:cs typeface="Arial"/>
                <a:sym typeface="Arial"/>
              </a:rPr>
              <a:t>Sinh</a:t>
            </a:r>
            <a:r>
              <a:rPr lang="en-US" sz="3400">
                <a:solidFill>
                  <a:schemeClr val="dk1"/>
                </a:solidFill>
                <a:latin typeface="Arial"/>
                <a:ea typeface="Arial"/>
                <a:cs typeface="Arial"/>
                <a:sym typeface="Arial"/>
              </a:rPr>
              <a:t> </a:t>
            </a:r>
            <a:r>
              <a:rPr lang="en-US" sz="3400" err="1">
                <a:solidFill>
                  <a:schemeClr val="dk1"/>
                </a:solidFill>
                <a:latin typeface="Arial"/>
                <a:ea typeface="Arial"/>
                <a:cs typeface="Arial"/>
                <a:sym typeface="Arial"/>
              </a:rPr>
              <a:t>viên</a:t>
            </a:r>
            <a:r>
              <a:rPr lang="en-US" sz="3400">
                <a:solidFill>
                  <a:schemeClr val="dk1"/>
                </a:solidFill>
                <a:latin typeface="Arial"/>
                <a:ea typeface="Arial"/>
                <a:cs typeface="Arial"/>
                <a:sym typeface="Arial"/>
              </a:rPr>
              <a:t> </a:t>
            </a:r>
            <a:r>
              <a:rPr lang="en-US" sz="3400" err="1">
                <a:solidFill>
                  <a:schemeClr val="dk1"/>
                </a:solidFill>
                <a:latin typeface="Arial"/>
                <a:ea typeface="Arial"/>
                <a:cs typeface="Arial"/>
                <a:sym typeface="Arial"/>
              </a:rPr>
              <a:t>phải</a:t>
            </a:r>
            <a:r>
              <a:rPr lang="en-US" sz="3400">
                <a:solidFill>
                  <a:schemeClr val="dk1"/>
                </a:solidFill>
                <a:latin typeface="Arial"/>
                <a:ea typeface="Arial"/>
                <a:cs typeface="Arial"/>
                <a:sym typeface="Arial"/>
              </a:rPr>
              <a:t> </a:t>
            </a:r>
            <a:r>
              <a:rPr lang="en-US" sz="3400" err="1">
                <a:solidFill>
                  <a:schemeClr val="dk1"/>
                </a:solidFill>
                <a:latin typeface="Arial"/>
                <a:ea typeface="Arial"/>
                <a:cs typeface="Arial"/>
                <a:sym typeface="Arial"/>
              </a:rPr>
              <a:t>hoàn</a:t>
            </a:r>
            <a:r>
              <a:rPr lang="en-US" sz="3400">
                <a:solidFill>
                  <a:schemeClr val="dk1"/>
                </a:solidFill>
                <a:latin typeface="Arial"/>
                <a:ea typeface="Arial"/>
                <a:cs typeface="Arial"/>
                <a:sym typeface="Arial"/>
              </a:rPr>
              <a:t> </a:t>
            </a:r>
            <a:r>
              <a:rPr lang="en-US" sz="3400" err="1">
                <a:solidFill>
                  <a:schemeClr val="dk1"/>
                </a:solidFill>
                <a:latin typeface="Arial"/>
                <a:ea typeface="Arial"/>
                <a:cs typeface="Arial"/>
                <a:sym typeface="Arial"/>
              </a:rPr>
              <a:t>thành</a:t>
            </a:r>
            <a:r>
              <a:rPr lang="en-US" sz="3400">
                <a:solidFill>
                  <a:schemeClr val="dk1"/>
                </a:solidFill>
                <a:latin typeface="Arial"/>
                <a:ea typeface="Arial"/>
                <a:cs typeface="Arial"/>
                <a:sym typeface="Arial"/>
              </a:rPr>
              <a:t> </a:t>
            </a:r>
            <a:r>
              <a:rPr lang="en-US" sz="3400" err="1">
                <a:solidFill>
                  <a:schemeClr val="dk1"/>
                </a:solidFill>
                <a:latin typeface="Arial"/>
                <a:ea typeface="Arial"/>
                <a:cs typeface="Arial"/>
                <a:sym typeface="Arial"/>
              </a:rPr>
              <a:t>môn</a:t>
            </a:r>
            <a:r>
              <a:rPr lang="en-US" sz="3400">
                <a:solidFill>
                  <a:schemeClr val="dk1"/>
                </a:solidFill>
                <a:latin typeface="Arial"/>
                <a:ea typeface="Arial"/>
                <a:cs typeface="Arial"/>
                <a:sym typeface="Arial"/>
              </a:rPr>
              <a:t> </a:t>
            </a:r>
            <a:r>
              <a:rPr lang="en-US" sz="3400" err="1">
                <a:solidFill>
                  <a:schemeClr val="dk1"/>
                </a:solidFill>
                <a:latin typeface="Arial"/>
                <a:ea typeface="Arial"/>
                <a:cs typeface="Arial"/>
                <a:sym typeface="Arial"/>
              </a:rPr>
              <a:t>học</a:t>
            </a:r>
            <a:r>
              <a:rPr lang="en-US" sz="3400">
                <a:solidFill>
                  <a:schemeClr val="dk1"/>
                </a:solidFill>
                <a:latin typeface="Arial"/>
                <a:ea typeface="Arial"/>
                <a:cs typeface="Arial"/>
                <a:sym typeface="Arial"/>
              </a:rPr>
              <a:t>:  </a:t>
            </a:r>
            <a:r>
              <a:rPr lang="en-US" sz="3400" err="1">
                <a:solidFill>
                  <a:schemeClr val="dk1"/>
                </a:solidFill>
                <a:latin typeface="Arial"/>
                <a:ea typeface="Arial"/>
                <a:cs typeface="Arial"/>
                <a:sym typeface="Arial"/>
              </a:rPr>
              <a:t>Nguyên</a:t>
            </a:r>
            <a:r>
              <a:rPr lang="en-US" sz="3400">
                <a:solidFill>
                  <a:schemeClr val="dk1"/>
                </a:solidFill>
                <a:latin typeface="Arial"/>
                <a:ea typeface="Arial"/>
                <a:cs typeface="Arial"/>
                <a:sym typeface="Arial"/>
              </a:rPr>
              <a:t> </a:t>
            </a:r>
            <a:r>
              <a:rPr lang="en-US" sz="3400" err="1">
                <a:solidFill>
                  <a:schemeClr val="dk1"/>
                </a:solidFill>
                <a:latin typeface="Arial"/>
                <a:ea typeface="Arial"/>
                <a:cs typeface="Arial"/>
                <a:sym typeface="Arial"/>
              </a:rPr>
              <a:t>lý</a:t>
            </a:r>
            <a:r>
              <a:rPr lang="en-US" sz="3400">
                <a:solidFill>
                  <a:schemeClr val="dk1"/>
                </a:solidFill>
                <a:latin typeface="Arial"/>
                <a:ea typeface="Arial"/>
                <a:cs typeface="Arial"/>
                <a:sym typeface="Arial"/>
              </a:rPr>
              <a:t> Marketing</a:t>
            </a:r>
            <a:endParaRPr>
              <a:solidFill>
                <a:schemeClr val="dk1"/>
              </a:solidFill>
            </a:endParaRPr>
          </a:p>
          <a:p>
            <a:pPr marL="1041400" lvl="1" indent="-330200" algn="l" rtl="0">
              <a:lnSpc>
                <a:spcPct val="90000"/>
              </a:lnSpc>
              <a:spcBef>
                <a:spcPts val="500"/>
              </a:spcBef>
              <a:spcAft>
                <a:spcPts val="0"/>
              </a:spcAft>
              <a:buClr>
                <a:schemeClr val="dk1"/>
              </a:buClr>
              <a:buSzPts val="2000"/>
              <a:buFont typeface="Arial"/>
              <a:buNone/>
            </a:pPr>
            <a:endParaRPr sz="2000">
              <a:solidFill>
                <a:schemeClr val="dk1"/>
              </a:solidFill>
              <a:latin typeface="Arial"/>
              <a:ea typeface="Arial"/>
              <a:cs typeface="Arial"/>
              <a:sym typeface="Arial"/>
            </a:endParaRPr>
          </a:p>
          <a:p>
            <a:pPr marL="692150" lvl="0" indent="-336550" algn="l" rtl="0">
              <a:lnSpc>
                <a:spcPct val="90000"/>
              </a:lnSpc>
              <a:spcBef>
                <a:spcPts val="1000"/>
              </a:spcBef>
              <a:spcAft>
                <a:spcPts val="0"/>
              </a:spcAft>
              <a:buClr>
                <a:schemeClr val="dk1"/>
              </a:buClr>
              <a:buSzPts val="2800"/>
              <a:buFont typeface="Arial"/>
              <a:buNone/>
            </a:pP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790575" y="584201"/>
            <a:ext cx="10515600" cy="53975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600"/>
              <a:buFont typeface="Arial"/>
              <a:buNone/>
            </a:pPr>
            <a:r>
              <a:rPr lang="en-US" sz="3600" b="1"/>
              <a:t>CHUẨN ĐẦU RA </a:t>
            </a:r>
            <a:r>
              <a:rPr lang="en-US" sz="3600" b="1">
                <a:latin typeface="Arial"/>
                <a:ea typeface="Arial"/>
                <a:cs typeface="Arial"/>
                <a:sym typeface="Arial"/>
              </a:rPr>
              <a:t>CỦA HỌC PHẦN</a:t>
            </a:r>
            <a:endParaRPr sz="3600">
              <a:latin typeface="Arial"/>
              <a:ea typeface="Arial"/>
              <a:cs typeface="Arial"/>
              <a:sym typeface="Arial"/>
            </a:endParaRPr>
          </a:p>
        </p:txBody>
      </p:sp>
      <p:graphicFrame>
        <p:nvGraphicFramePr>
          <p:cNvPr id="104" name="Google Shape;104;p16"/>
          <p:cNvGraphicFramePr/>
          <p:nvPr>
            <p:extLst>
              <p:ext uri="{D42A27DB-BD31-4B8C-83A1-F6EECF244321}">
                <p14:modId xmlns:p14="http://schemas.microsoft.com/office/powerpoint/2010/main" val="1187277609"/>
              </p:ext>
            </p:extLst>
          </p:nvPr>
        </p:nvGraphicFramePr>
        <p:xfrm>
          <a:off x="336867" y="1609727"/>
          <a:ext cx="11423015" cy="5014109"/>
        </p:xfrm>
        <a:graphic>
          <a:graphicData uri="http://schemas.openxmlformats.org/drawingml/2006/table">
            <a:tbl>
              <a:tblPr firstRow="1" firstCol="1" bandRow="1">
                <a:noFill/>
                <a:tableStyleId>{392FFC7F-709E-4CD3-A213-31C4887D7C04}</a:tableStyleId>
              </a:tblPr>
              <a:tblGrid>
                <a:gridCol w="2320609">
                  <a:extLst>
                    <a:ext uri="{9D8B030D-6E8A-4147-A177-3AD203B41FA5}">
                      <a16:colId xmlns:a16="http://schemas.microsoft.com/office/drawing/2014/main" val="20000"/>
                    </a:ext>
                  </a:extLst>
                </a:gridCol>
                <a:gridCol w="9102406">
                  <a:extLst>
                    <a:ext uri="{9D8B030D-6E8A-4147-A177-3AD203B41FA5}">
                      <a16:colId xmlns:a16="http://schemas.microsoft.com/office/drawing/2014/main" val="20001"/>
                    </a:ext>
                  </a:extLst>
                </a:gridCol>
              </a:tblGrid>
              <a:tr h="338508">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latin typeface="Arial"/>
                          <a:ea typeface="Arial"/>
                          <a:cs typeface="Arial"/>
                          <a:sym typeface="Arial"/>
                        </a:rPr>
                        <a:t>CLO</a:t>
                      </a:r>
                      <a:endParaRPr sz="2400" b="1" u="none" strike="noStrike" cap="none">
                        <a:latin typeface="Arial"/>
                        <a:ea typeface="Arial"/>
                        <a:cs typeface="Arial"/>
                        <a:sym typeface="Arial"/>
                      </a:endParaRPr>
                    </a:p>
                  </a:txBody>
                  <a:tcPr marL="68575" marR="68575" marT="0" marB="0" anchor="ct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latin typeface="Arial"/>
                          <a:ea typeface="Arial"/>
                          <a:cs typeface="Arial"/>
                          <a:sym typeface="Arial"/>
                        </a:rPr>
                        <a:t>CHUẨN</a:t>
                      </a:r>
                      <a:r>
                        <a:rPr lang="en-US" sz="2400" u="none" strike="noStrike" cap="none" baseline="0">
                          <a:latin typeface="Arial"/>
                          <a:ea typeface="Arial"/>
                          <a:cs typeface="Arial"/>
                          <a:sym typeface="Arial"/>
                        </a:rPr>
                        <a:t> ĐẦU RA CỦA HỌC PHẦN</a:t>
                      </a:r>
                      <a:endParaRPr sz="2400" u="none" strike="noStrike" cap="none">
                        <a:latin typeface="Arial"/>
                        <a:ea typeface="Arial"/>
                        <a:cs typeface="Arial"/>
                        <a:sym typeface="Arial"/>
                      </a:endParaRPr>
                    </a:p>
                  </a:txBody>
                  <a:tcPr marL="68575" marR="68575" marT="0" marB="0" anchor="ctr"/>
                </a:tc>
                <a:extLst>
                  <a:ext uri="{0D108BD9-81ED-4DB2-BD59-A6C34878D82A}">
                    <a16:rowId xmlns:a16="http://schemas.microsoft.com/office/drawing/2014/main" val="10000"/>
                  </a:ext>
                </a:extLst>
              </a:tr>
              <a:tr h="964208">
                <a:tc>
                  <a:txBody>
                    <a:bodyPr/>
                    <a:lstStyle/>
                    <a:p>
                      <a:pPr marL="0" marR="0" lvl="0" indent="0" algn="ctr" rtl="0">
                        <a:lnSpc>
                          <a:spcPct val="150000"/>
                        </a:lnSpc>
                        <a:spcBef>
                          <a:spcPts val="0"/>
                        </a:spcBef>
                        <a:spcAft>
                          <a:spcPts val="0"/>
                        </a:spcAft>
                        <a:buClr>
                          <a:srgbClr val="000000"/>
                        </a:buClr>
                        <a:buSzPts val="2400"/>
                        <a:buFont typeface="Arial"/>
                        <a:buNone/>
                      </a:pPr>
                      <a:r>
                        <a:rPr lang="en-US" sz="2400" u="none" strike="noStrike" cap="none">
                          <a:latin typeface="Arial"/>
                          <a:ea typeface="Arial"/>
                          <a:cs typeface="Arial"/>
                          <a:sym typeface="Arial"/>
                        </a:rPr>
                        <a:t>CLO1</a:t>
                      </a:r>
                      <a:endParaRPr sz="2400" u="none" strike="noStrike" cap="none">
                        <a:latin typeface="Arial"/>
                        <a:ea typeface="Arial"/>
                        <a:cs typeface="Arial"/>
                        <a:sym typeface="Arial"/>
                      </a:endParaRPr>
                    </a:p>
                  </a:txBody>
                  <a:tcPr marL="68575" marR="68575" marT="0" marB="0" anchor="ctr"/>
                </a:tc>
                <a:tc>
                  <a:txBody>
                    <a:bodyPr/>
                    <a:lstStyle/>
                    <a:p>
                      <a:pPr marL="0" marR="0" lvl="0" indent="0" algn="just" rtl="0">
                        <a:lnSpc>
                          <a:spcPct val="150000"/>
                        </a:lnSpc>
                        <a:spcBef>
                          <a:spcPts val="0"/>
                        </a:spcBef>
                        <a:spcAft>
                          <a:spcPts val="0"/>
                        </a:spcAft>
                        <a:buClr>
                          <a:srgbClr val="000000"/>
                        </a:buClr>
                        <a:buSzPts val="2400"/>
                        <a:buFont typeface="Arial"/>
                        <a:buNone/>
                      </a:pPr>
                      <a:r>
                        <a:rPr lang="en-US" sz="2400" u="none" strike="noStrike" cap="none" err="1">
                          <a:latin typeface="Arial"/>
                          <a:ea typeface="Arial"/>
                          <a:cs typeface="Arial"/>
                          <a:sym typeface="Arial"/>
                        </a:rPr>
                        <a:t>Trình</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bày</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các</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khái</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niệm</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về</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khách</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hàng</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hành</a:t>
                      </a:r>
                      <a:r>
                        <a:rPr lang="en-US" sz="2400" u="none" strike="noStrike" cap="none" baseline="0">
                          <a:latin typeface="Arial"/>
                          <a:ea typeface="Arial"/>
                          <a:cs typeface="Arial"/>
                          <a:sym typeface="Arial"/>
                        </a:rPr>
                        <a:t> vi </a:t>
                      </a:r>
                      <a:r>
                        <a:rPr lang="en-US" sz="2400" u="none" strike="noStrike" cap="none" baseline="0" err="1">
                          <a:latin typeface="Arial"/>
                          <a:ea typeface="Arial"/>
                          <a:cs typeface="Arial"/>
                          <a:sym typeface="Arial"/>
                        </a:rPr>
                        <a:t>khách</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hàng</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văn</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hóa</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xã</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hội</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cá</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nhân</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và</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tâm</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lý</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trong</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nghiên</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cứu</a:t>
                      </a:r>
                      <a:r>
                        <a:rPr lang="en-US" sz="2400" u="none" strike="noStrike" cap="none" baseline="0">
                          <a:latin typeface="Arial"/>
                          <a:ea typeface="Arial"/>
                          <a:cs typeface="Arial"/>
                          <a:sym typeface="Arial"/>
                        </a:rPr>
                        <a:t> </a:t>
                      </a:r>
                      <a:r>
                        <a:rPr lang="vi-VN" sz="2400" u="none" strike="noStrike" cap="none" baseline="0">
                          <a:latin typeface="Arial"/>
                          <a:ea typeface="Arial"/>
                          <a:cs typeface="Arial"/>
                          <a:sym typeface="Arial"/>
                        </a:rPr>
                        <a:t>hành</a:t>
                      </a:r>
                      <a:r>
                        <a:rPr lang="en-US" sz="2400" u="none" strike="noStrike" cap="none" baseline="0">
                          <a:latin typeface="Arial"/>
                          <a:ea typeface="Arial"/>
                          <a:cs typeface="Arial"/>
                          <a:sym typeface="Arial"/>
                        </a:rPr>
                        <a:t> vi </a:t>
                      </a:r>
                      <a:r>
                        <a:rPr lang="vi-VN" sz="2400" u="none" strike="noStrike" cap="none" baseline="0">
                          <a:latin typeface="Arial"/>
                          <a:ea typeface="Arial"/>
                          <a:cs typeface="Arial"/>
                          <a:sym typeface="Arial"/>
                        </a:rPr>
                        <a:t>KH</a:t>
                      </a:r>
                      <a:endParaRPr sz="2400" u="none" strike="noStrike" cap="none">
                        <a:latin typeface="Arial"/>
                        <a:ea typeface="Arial"/>
                        <a:cs typeface="Arial"/>
                        <a:sym typeface="Arial"/>
                      </a:endParaRPr>
                    </a:p>
                  </a:txBody>
                  <a:tcPr marL="68575" marR="68575" marT="0" marB="0" anchor="ctr"/>
                </a:tc>
                <a:extLst>
                  <a:ext uri="{0D108BD9-81ED-4DB2-BD59-A6C34878D82A}">
                    <a16:rowId xmlns:a16="http://schemas.microsoft.com/office/drawing/2014/main" val="10001"/>
                  </a:ext>
                </a:extLst>
              </a:tr>
              <a:tr h="1009608">
                <a:tc>
                  <a:txBody>
                    <a:bodyPr/>
                    <a:lstStyle/>
                    <a:p>
                      <a:pPr marL="0" marR="0" lvl="0" indent="0" algn="ctr" rtl="0">
                        <a:lnSpc>
                          <a:spcPct val="150000"/>
                        </a:lnSpc>
                        <a:spcBef>
                          <a:spcPts val="0"/>
                        </a:spcBef>
                        <a:spcAft>
                          <a:spcPts val="0"/>
                        </a:spcAft>
                        <a:buClr>
                          <a:srgbClr val="000000"/>
                        </a:buClr>
                        <a:buSzPts val="2400"/>
                        <a:buFont typeface="Arial"/>
                        <a:buNone/>
                      </a:pPr>
                      <a:r>
                        <a:rPr lang="en-US" sz="2400" u="none" strike="noStrike" cap="none">
                          <a:latin typeface="Arial"/>
                          <a:ea typeface="Arial"/>
                          <a:cs typeface="Arial"/>
                          <a:sym typeface="Arial"/>
                        </a:rPr>
                        <a:t>CLO2</a:t>
                      </a:r>
                      <a:endParaRPr sz="2400" u="none" strike="noStrike" cap="none">
                        <a:latin typeface="Arial"/>
                        <a:ea typeface="Arial"/>
                        <a:cs typeface="Arial"/>
                        <a:sym typeface="Arial"/>
                      </a:endParaRPr>
                    </a:p>
                  </a:txBody>
                  <a:tcPr marL="68575" marR="68575" marT="0" marB="0" anchor="ctr"/>
                </a:tc>
                <a:tc>
                  <a:txBody>
                    <a:bodyPr/>
                    <a:lstStyle/>
                    <a:p>
                      <a:pPr marL="0" marR="0" lvl="0" indent="0" algn="just" rtl="0">
                        <a:lnSpc>
                          <a:spcPct val="150000"/>
                        </a:lnSpc>
                        <a:spcBef>
                          <a:spcPts val="0"/>
                        </a:spcBef>
                        <a:spcAft>
                          <a:spcPts val="0"/>
                        </a:spcAft>
                        <a:buClr>
                          <a:srgbClr val="000000"/>
                        </a:buClr>
                        <a:buSzPts val="2400"/>
                        <a:buFont typeface="Arial"/>
                        <a:buNone/>
                      </a:pPr>
                      <a:r>
                        <a:rPr lang="en-US" sz="2400" u="none" strike="noStrike" cap="none" err="1">
                          <a:latin typeface="Arial"/>
                          <a:ea typeface="Arial"/>
                          <a:cs typeface="Arial"/>
                          <a:sym typeface="Arial"/>
                        </a:rPr>
                        <a:t>Phân</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tích</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các</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yếu</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tố</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ảnh</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hưởng</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đến</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hành</a:t>
                      </a:r>
                      <a:r>
                        <a:rPr lang="en-US" sz="2400" u="none" strike="noStrike" cap="none" baseline="0">
                          <a:latin typeface="Arial"/>
                          <a:ea typeface="Arial"/>
                          <a:cs typeface="Arial"/>
                          <a:sym typeface="Arial"/>
                        </a:rPr>
                        <a:t> vi </a:t>
                      </a:r>
                      <a:r>
                        <a:rPr lang="en-US" sz="2400" u="none" strike="noStrike" cap="none" baseline="0" err="1">
                          <a:latin typeface="Arial"/>
                          <a:ea typeface="Arial"/>
                          <a:cs typeface="Arial"/>
                          <a:sym typeface="Arial"/>
                        </a:rPr>
                        <a:t>khách</a:t>
                      </a:r>
                      <a:r>
                        <a:rPr lang="en-US" sz="2400" u="none" strike="noStrike" cap="none" baseline="0">
                          <a:latin typeface="Arial"/>
                          <a:ea typeface="Arial"/>
                          <a:cs typeface="Arial"/>
                          <a:sym typeface="Arial"/>
                        </a:rPr>
                        <a:t> </a:t>
                      </a:r>
                      <a:r>
                        <a:rPr lang="vi-VN" sz="2400" u="none" strike="noStrike" cap="none" baseline="0">
                          <a:latin typeface="Arial"/>
                          <a:ea typeface="Arial"/>
                          <a:cs typeface="Arial"/>
                          <a:sym typeface="Arial"/>
                        </a:rPr>
                        <a:t>hà</a:t>
                      </a:r>
                      <a:r>
                        <a:rPr lang="en-US" sz="2400" u="none" strike="noStrike" cap="none" baseline="0">
                          <a:latin typeface="Arial"/>
                          <a:ea typeface="Arial"/>
                          <a:cs typeface="Arial"/>
                          <a:sym typeface="Arial"/>
                        </a:rPr>
                        <a:t>ng </a:t>
                      </a:r>
                      <a:r>
                        <a:rPr lang="en-US" sz="2400" u="none" strike="noStrike" cap="none" baseline="0" err="1">
                          <a:latin typeface="Arial"/>
                          <a:ea typeface="Arial"/>
                          <a:cs typeface="Arial"/>
                          <a:sym typeface="Arial"/>
                        </a:rPr>
                        <a:t>và</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quá</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trình</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ra</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quyết</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định</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mua</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của</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khách</a:t>
                      </a:r>
                      <a:r>
                        <a:rPr lang="en-US" sz="2400" u="none" strike="noStrike" cap="none" baseline="0">
                          <a:latin typeface="Arial"/>
                          <a:ea typeface="Arial"/>
                          <a:cs typeface="Arial"/>
                          <a:sym typeface="Arial"/>
                        </a:rPr>
                        <a:t> </a:t>
                      </a:r>
                      <a:r>
                        <a:rPr lang="en-US" sz="2400" u="none" strike="noStrike" cap="none" baseline="0" err="1">
                          <a:latin typeface="Arial"/>
                          <a:ea typeface="Arial"/>
                          <a:cs typeface="Arial"/>
                          <a:sym typeface="Arial"/>
                        </a:rPr>
                        <a:t>hàng</a:t>
                      </a:r>
                      <a:endParaRPr sz="2400" u="none" strike="noStrike" cap="none">
                        <a:latin typeface="Arial"/>
                        <a:ea typeface="Arial"/>
                        <a:cs typeface="Arial"/>
                        <a:sym typeface="Arial"/>
                      </a:endParaRPr>
                    </a:p>
                  </a:txBody>
                  <a:tcPr marL="68575" marR="68575" marT="0" marB="0"/>
                </a:tc>
                <a:extLst>
                  <a:ext uri="{0D108BD9-81ED-4DB2-BD59-A6C34878D82A}">
                    <a16:rowId xmlns:a16="http://schemas.microsoft.com/office/drawing/2014/main" val="10002"/>
                  </a:ext>
                </a:extLst>
              </a:tr>
              <a:tr h="1526291">
                <a:tc>
                  <a:txBody>
                    <a:bodyPr/>
                    <a:lstStyle/>
                    <a:p>
                      <a:pPr marL="0" marR="0" lvl="0" indent="0" algn="ctr" rtl="0">
                        <a:lnSpc>
                          <a:spcPct val="150000"/>
                        </a:lnSpc>
                        <a:spcBef>
                          <a:spcPts val="0"/>
                        </a:spcBef>
                        <a:spcAft>
                          <a:spcPts val="0"/>
                        </a:spcAft>
                        <a:buClr>
                          <a:srgbClr val="000000"/>
                        </a:buClr>
                        <a:buSzPts val="2400"/>
                        <a:buFont typeface="Arial"/>
                        <a:buNone/>
                      </a:pPr>
                      <a:r>
                        <a:rPr lang="en-US" sz="2400" u="none" strike="noStrike" cap="none">
                          <a:latin typeface="Arial"/>
                          <a:ea typeface="Arial"/>
                          <a:cs typeface="Arial"/>
                          <a:sym typeface="Arial"/>
                        </a:rPr>
                        <a:t>CLO3</a:t>
                      </a:r>
                      <a:endParaRPr sz="2400" u="none" strike="noStrike" cap="none">
                        <a:latin typeface="Arial"/>
                        <a:ea typeface="Arial"/>
                        <a:cs typeface="Arial"/>
                        <a:sym typeface="Arial"/>
                      </a:endParaRPr>
                    </a:p>
                  </a:txBody>
                  <a:tcPr marL="68575" marR="68575" marT="0" marB="0" anchor="ctr"/>
                </a:tc>
                <a:tc>
                  <a:txBody>
                    <a:bodyPr/>
                    <a:lstStyle/>
                    <a:p>
                      <a:pPr marL="0" marR="0" lvl="0" indent="0" algn="just" rtl="0">
                        <a:lnSpc>
                          <a:spcPct val="150000"/>
                        </a:lnSpc>
                        <a:spcBef>
                          <a:spcPts val="0"/>
                        </a:spcBef>
                        <a:spcAft>
                          <a:spcPts val="0"/>
                        </a:spcAft>
                        <a:buClr>
                          <a:srgbClr val="000000"/>
                        </a:buClr>
                        <a:buSzPts val="2400"/>
                        <a:buFont typeface="Arial"/>
                        <a:buNone/>
                      </a:pPr>
                      <a:r>
                        <a:rPr lang="en-US" sz="2400" b="0" i="0" u="none" strike="noStrike" cap="none" spc="0" err="1">
                          <a:solidFill>
                            <a:schemeClr val="dk1"/>
                          </a:solidFill>
                          <a:effectLst/>
                          <a:latin typeface="+mj-lt"/>
                          <a:ea typeface="Calibri"/>
                          <a:cs typeface="Calibri"/>
                          <a:sym typeface="Arial"/>
                        </a:rPr>
                        <a:t>Vận</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dụng</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các</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kiến</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thức</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này</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để</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phân</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tích</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tình</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huống</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tiêu</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dùng</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và</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xây</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dựng</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chiến</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lược</a:t>
                      </a:r>
                      <a:r>
                        <a:rPr lang="en-US" sz="2400" b="0" i="0" u="none" strike="noStrike" cap="none" spc="0">
                          <a:solidFill>
                            <a:schemeClr val="dk1"/>
                          </a:solidFill>
                          <a:effectLst/>
                          <a:latin typeface="+mj-lt"/>
                          <a:ea typeface="Calibri"/>
                          <a:cs typeface="Calibri"/>
                          <a:sym typeface="Arial"/>
                        </a:rPr>
                        <a:t> marketing </a:t>
                      </a:r>
                      <a:r>
                        <a:rPr lang="en-US" sz="2400" b="0" i="0" u="none" strike="noStrike" cap="none" spc="0" err="1">
                          <a:solidFill>
                            <a:schemeClr val="dk1"/>
                          </a:solidFill>
                          <a:effectLst/>
                          <a:latin typeface="+mj-lt"/>
                          <a:ea typeface="Calibri"/>
                          <a:cs typeface="Calibri"/>
                          <a:sym typeface="Arial"/>
                        </a:rPr>
                        <a:t>hiệu</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quả</a:t>
                      </a:r>
                      <a:r>
                        <a:rPr lang="vi-VN" sz="2400" b="0" i="0" u="none" strike="noStrike" cap="none" spc="0">
                          <a:solidFill>
                            <a:schemeClr val="dk1"/>
                          </a:solidFill>
                          <a:effectLst/>
                          <a:latin typeface="+mj-lt"/>
                          <a:ea typeface="Calibri"/>
                          <a:cs typeface="Calibri"/>
                          <a:sym typeface="Arial"/>
                        </a:rPr>
                        <a:t> </a:t>
                      </a:r>
                      <a:r>
                        <a:rPr lang="vi-VN" sz="2400" b="0" i="0" u="none" strike="noStrike" cap="none" spc="0">
                          <a:solidFill>
                            <a:schemeClr val="dk1"/>
                          </a:solidFill>
                          <a:effectLst/>
                          <a:latin typeface="+mn-lt"/>
                          <a:ea typeface="Calibri"/>
                          <a:cs typeface="Calibri"/>
                          <a:sym typeface="Arial"/>
                        </a:rPr>
                        <a:t>đảm bảo phù hợp với đạo đức kinh doanh</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nhằm</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tác</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động</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đến</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hành</a:t>
                      </a:r>
                      <a:r>
                        <a:rPr lang="en-US" sz="2400" b="0" i="0" u="none" strike="noStrike" cap="none" spc="0">
                          <a:solidFill>
                            <a:schemeClr val="dk1"/>
                          </a:solidFill>
                          <a:effectLst/>
                          <a:latin typeface="+mj-lt"/>
                          <a:ea typeface="Calibri"/>
                          <a:cs typeface="Calibri"/>
                          <a:sym typeface="Arial"/>
                        </a:rPr>
                        <a:t> vi </a:t>
                      </a:r>
                      <a:r>
                        <a:rPr lang="en-US" sz="2400" b="0" i="0" u="none" strike="noStrike" cap="none" spc="0" err="1">
                          <a:solidFill>
                            <a:schemeClr val="dk1"/>
                          </a:solidFill>
                          <a:effectLst/>
                          <a:latin typeface="+mj-lt"/>
                          <a:ea typeface="Calibri"/>
                          <a:cs typeface="Calibri"/>
                          <a:sym typeface="Arial"/>
                        </a:rPr>
                        <a:t>mua</a:t>
                      </a:r>
                      <a:r>
                        <a:rPr lang="en-US" sz="2400" b="0" i="0" u="none" strike="noStrike" cap="none" spc="0">
                          <a:solidFill>
                            <a:schemeClr val="dk1"/>
                          </a:solidFill>
                          <a:effectLst/>
                          <a:latin typeface="+mj-lt"/>
                          <a:ea typeface="Calibri"/>
                          <a:cs typeface="Calibri"/>
                          <a:sym typeface="Arial"/>
                        </a:rPr>
                        <a:t> </a:t>
                      </a:r>
                      <a:r>
                        <a:rPr lang="en-US" sz="2400" b="0" i="0" u="none" strike="noStrike" cap="none" spc="0" err="1">
                          <a:solidFill>
                            <a:schemeClr val="dk1"/>
                          </a:solidFill>
                          <a:effectLst/>
                          <a:latin typeface="+mj-lt"/>
                          <a:ea typeface="Calibri"/>
                          <a:cs typeface="Calibri"/>
                          <a:sym typeface="Arial"/>
                        </a:rPr>
                        <a:t>của</a:t>
                      </a:r>
                      <a:r>
                        <a:rPr lang="en-US" sz="2400" b="0" i="0" u="none" strike="noStrike" cap="none" spc="0">
                          <a:solidFill>
                            <a:schemeClr val="dk1"/>
                          </a:solidFill>
                          <a:effectLst/>
                          <a:latin typeface="+mj-lt"/>
                          <a:ea typeface="Calibri"/>
                          <a:cs typeface="Calibri"/>
                          <a:sym typeface="Arial"/>
                        </a:rPr>
                        <a:t> </a:t>
                      </a:r>
                      <a:r>
                        <a:rPr lang="vi-VN" sz="2400" b="0" i="0" u="none" strike="noStrike" cap="none" spc="0">
                          <a:solidFill>
                            <a:schemeClr val="dk1"/>
                          </a:solidFill>
                          <a:effectLst/>
                          <a:latin typeface="+mj-lt"/>
                          <a:ea typeface="Calibri"/>
                          <a:cs typeface="Calibri"/>
                          <a:sym typeface="Arial"/>
                        </a:rPr>
                        <a:t>KH</a:t>
                      </a:r>
                      <a:endParaRPr sz="2400" u="none" strike="noStrike" cap="none">
                        <a:latin typeface="+mj-lt"/>
                        <a:ea typeface="Arial"/>
                        <a:cs typeface="Arial"/>
                        <a:sym typeface="Arial"/>
                      </a:endParaRPr>
                    </a:p>
                  </a:txBody>
                  <a:tcPr marL="68575" marR="68575" marT="0" marB="0"/>
                </a:tc>
                <a:extLst>
                  <a:ext uri="{0D108BD9-81ED-4DB2-BD59-A6C34878D82A}">
                    <a16:rowId xmlns:a16="http://schemas.microsoft.com/office/drawing/2014/main" val="10003"/>
                  </a:ext>
                </a:extLst>
              </a:tr>
              <a:tr h="1009608">
                <a:tc>
                  <a:txBody>
                    <a:bodyPr/>
                    <a:lstStyle/>
                    <a:p>
                      <a:pPr marL="0" marR="0" lvl="0" indent="0" algn="ctr" rtl="0">
                        <a:lnSpc>
                          <a:spcPct val="150000"/>
                        </a:lnSpc>
                        <a:spcBef>
                          <a:spcPts val="0"/>
                        </a:spcBef>
                        <a:spcAft>
                          <a:spcPts val="0"/>
                        </a:spcAft>
                        <a:buClr>
                          <a:srgbClr val="000000"/>
                        </a:buClr>
                        <a:buSzPts val="2400"/>
                        <a:buFont typeface="Arial"/>
                        <a:buNone/>
                      </a:pPr>
                      <a:r>
                        <a:rPr lang="vi-VN" sz="2400" u="none" strike="noStrike" cap="none">
                          <a:latin typeface="Arial"/>
                          <a:ea typeface="Arial"/>
                          <a:cs typeface="Arial"/>
                          <a:sym typeface="Arial"/>
                        </a:rPr>
                        <a:t>CLO4</a:t>
                      </a:r>
                      <a:endParaRPr sz="2400" u="none" strike="noStrike" cap="none">
                        <a:latin typeface="Arial"/>
                        <a:ea typeface="Arial"/>
                        <a:cs typeface="Arial"/>
                        <a:sym typeface="Arial"/>
                      </a:endParaRPr>
                    </a:p>
                  </a:txBody>
                  <a:tcPr marL="68575" marR="68575" marT="0" marB="0" anchor="ctr"/>
                </a:tc>
                <a:tc>
                  <a:txBody>
                    <a:bodyPr/>
                    <a:lstStyle/>
                    <a:p>
                      <a:pPr marL="0" marR="0" lvl="0" indent="0" algn="just" rtl="0">
                        <a:lnSpc>
                          <a:spcPct val="150000"/>
                        </a:lnSpc>
                        <a:spcBef>
                          <a:spcPts val="0"/>
                        </a:spcBef>
                        <a:spcAft>
                          <a:spcPts val="0"/>
                        </a:spcAft>
                        <a:buClr>
                          <a:srgbClr val="000000"/>
                        </a:buClr>
                        <a:buSzPts val="2400"/>
                        <a:buFont typeface="Arial"/>
                        <a:buNone/>
                      </a:pPr>
                      <a:r>
                        <a:rPr lang="vi-VN" sz="2400" b="0" i="0" u="none" strike="noStrike" cap="none" spc="0">
                          <a:solidFill>
                            <a:schemeClr val="dk1"/>
                          </a:solidFill>
                          <a:effectLst/>
                          <a:latin typeface="+mn-lt"/>
                          <a:ea typeface="Calibri"/>
                          <a:cs typeface="Calibri"/>
                          <a:sym typeface="Arial"/>
                        </a:rPr>
                        <a:t>Vận dụng thành thạo các công cụ số để phân tích hành vi KH</a:t>
                      </a:r>
                      <a:endParaRPr sz="2400" u="none" strike="noStrike" cap="none">
                        <a:latin typeface="+mn-lt"/>
                        <a:ea typeface="Arial"/>
                        <a:cs typeface="Arial"/>
                        <a:sym typeface="Arial"/>
                      </a:endParaRPr>
                    </a:p>
                  </a:txBody>
                  <a:tcPr marL="68575" marR="68575" marT="0" marB="0" anchor="ctr"/>
                </a:tc>
                <a:extLst>
                  <a:ext uri="{0D108BD9-81ED-4DB2-BD59-A6C34878D82A}">
                    <a16:rowId xmlns:a16="http://schemas.microsoft.com/office/drawing/2014/main" val="8094022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txBox="1">
            <a:spLocks noGrp="1"/>
          </p:cNvSpPr>
          <p:nvPr>
            <p:ph type="ctrTitle"/>
          </p:nvPr>
        </p:nvSpPr>
        <p:spPr>
          <a:xfrm>
            <a:off x="542925" y="1389413"/>
            <a:ext cx="11231980" cy="3544537"/>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chemeClr val="dk1"/>
              </a:buClr>
              <a:buSzPts val="4800"/>
              <a:buFont typeface="Calibri"/>
              <a:buNone/>
            </a:pPr>
            <a:br>
              <a:rPr lang="en-US" sz="4800" b="1"/>
            </a:br>
            <a:br>
              <a:rPr lang="en-US" sz="4800" b="1"/>
            </a:br>
            <a:r>
              <a:rPr lang="en-US" sz="4800" b="1">
                <a:latin typeface="Arial"/>
                <a:ea typeface="Arial"/>
                <a:cs typeface="Arial"/>
                <a:sym typeface="Arial"/>
              </a:rPr>
              <a:t>CHƯƠNG 1</a:t>
            </a:r>
            <a:br>
              <a:rPr lang="en-US" sz="5400" b="1">
                <a:latin typeface="Arial"/>
                <a:ea typeface="Arial"/>
                <a:cs typeface="Arial"/>
                <a:sym typeface="Arial"/>
              </a:rPr>
            </a:br>
            <a:r>
              <a:rPr lang="en-US" sz="4800" b="1">
                <a:latin typeface="Arial"/>
                <a:ea typeface="Arial"/>
                <a:cs typeface="Arial"/>
                <a:sym typeface="Arial"/>
              </a:rPr>
              <a:t>TỔNG QUAN VỀ HÀNH VI </a:t>
            </a:r>
            <a:br>
              <a:rPr lang="en-US" sz="4800" b="1">
                <a:latin typeface="Arial"/>
                <a:ea typeface="Arial"/>
                <a:cs typeface="Arial"/>
                <a:sym typeface="Arial"/>
              </a:rPr>
            </a:br>
            <a:r>
              <a:rPr lang="en-US" sz="4800" b="1">
                <a:latin typeface="Arial"/>
                <a:ea typeface="Arial"/>
                <a:cs typeface="Arial"/>
                <a:sym typeface="Arial"/>
              </a:rPr>
              <a:t>KHÁCH HÀNG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title"/>
          </p:nvPr>
        </p:nvSpPr>
        <p:spPr>
          <a:xfrm>
            <a:off x="350520" y="80010"/>
            <a:ext cx="10515600" cy="140953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b="1">
                <a:latin typeface="Arial"/>
                <a:ea typeface="Arial"/>
                <a:cs typeface="Arial"/>
                <a:sym typeface="Arial"/>
              </a:rPr>
              <a:t>MỤC TIÊU CHƯƠNG 1</a:t>
            </a:r>
            <a:endParaRPr/>
          </a:p>
        </p:txBody>
      </p:sp>
      <p:sp>
        <p:nvSpPr>
          <p:cNvPr id="115" name="Google Shape;115;p18"/>
          <p:cNvSpPr txBox="1">
            <a:spLocks noGrp="1"/>
          </p:cNvSpPr>
          <p:nvPr>
            <p:ph type="body" idx="1"/>
          </p:nvPr>
        </p:nvSpPr>
        <p:spPr>
          <a:xfrm>
            <a:off x="-142237" y="1004983"/>
            <a:ext cx="11983717" cy="6925511"/>
          </a:xfrm>
          <a:prstGeom prst="rect">
            <a:avLst/>
          </a:prstGeom>
          <a:noFill/>
          <a:ln>
            <a:noFill/>
          </a:ln>
        </p:spPr>
        <p:txBody>
          <a:bodyPr spcFirstLastPara="1" wrap="square" lIns="91425" tIns="45700" rIns="91425" bIns="45700" anchor="t" anchorCtr="0">
            <a:normAutofit fontScale="25000" lnSpcReduction="20000"/>
          </a:bodyPr>
          <a:lstStyle/>
          <a:p>
            <a:pPr marL="0" lvl="0" indent="0" algn="l" rtl="0">
              <a:lnSpc>
                <a:spcPct val="90000"/>
              </a:lnSpc>
              <a:spcBef>
                <a:spcPts val="0"/>
              </a:spcBef>
              <a:spcAft>
                <a:spcPts val="0"/>
              </a:spcAft>
              <a:buClr>
                <a:schemeClr val="dk1"/>
              </a:buClr>
              <a:buSzPct val="100000"/>
              <a:buNone/>
            </a:pPr>
            <a:endParaRPr sz="4900"/>
          </a:p>
          <a:p>
            <a:pPr marL="1016000" lvl="1" indent="-558800" algn="l" rtl="0">
              <a:lnSpc>
                <a:spcPct val="170000"/>
              </a:lnSpc>
              <a:spcBef>
                <a:spcPts val="500"/>
              </a:spcBef>
              <a:spcAft>
                <a:spcPts val="0"/>
              </a:spcAft>
              <a:buClr>
                <a:schemeClr val="dk1"/>
              </a:buClr>
              <a:buSzPct val="100000"/>
              <a:buFont typeface="Noto Sans Symbols"/>
              <a:buChar char="⮚"/>
            </a:pPr>
            <a:r>
              <a:rPr lang="en-US" sz="10800" err="1">
                <a:latin typeface="Arial"/>
                <a:ea typeface="Arial"/>
                <a:cs typeface="Arial"/>
                <a:sym typeface="Arial"/>
              </a:rPr>
              <a:t>Phân</a:t>
            </a:r>
            <a:r>
              <a:rPr lang="en-US" sz="10800">
                <a:latin typeface="Arial"/>
                <a:ea typeface="Arial"/>
                <a:cs typeface="Arial"/>
                <a:sym typeface="Arial"/>
              </a:rPr>
              <a:t> </a:t>
            </a:r>
            <a:r>
              <a:rPr lang="en-US" sz="10800" err="1">
                <a:latin typeface="Arial"/>
                <a:ea typeface="Arial"/>
                <a:cs typeface="Arial"/>
                <a:sym typeface="Arial"/>
              </a:rPr>
              <a:t>biệt</a:t>
            </a:r>
            <a:r>
              <a:rPr lang="en-US" sz="10800">
                <a:latin typeface="Arial"/>
                <a:ea typeface="Arial"/>
                <a:cs typeface="Arial"/>
                <a:sym typeface="Arial"/>
              </a:rPr>
              <a:t> </a:t>
            </a:r>
            <a:r>
              <a:rPr lang="en-US" sz="10800" err="1">
                <a:latin typeface="Arial"/>
                <a:ea typeface="Arial"/>
                <a:cs typeface="Arial"/>
                <a:sym typeface="Arial"/>
              </a:rPr>
              <a:t>được</a:t>
            </a:r>
            <a:r>
              <a:rPr lang="en-US" sz="10800">
                <a:latin typeface="Arial"/>
                <a:ea typeface="Arial"/>
                <a:cs typeface="Arial"/>
                <a:sym typeface="Arial"/>
              </a:rPr>
              <a:t> KH </a:t>
            </a:r>
            <a:r>
              <a:rPr lang="en-US" sz="10800" err="1">
                <a:latin typeface="Arial"/>
                <a:ea typeface="Arial"/>
                <a:cs typeface="Arial"/>
                <a:sym typeface="Arial"/>
              </a:rPr>
              <a:t>cá</a:t>
            </a:r>
            <a:r>
              <a:rPr lang="en-US" sz="10800">
                <a:latin typeface="Arial"/>
                <a:ea typeface="Arial"/>
                <a:cs typeface="Arial"/>
                <a:sym typeface="Arial"/>
              </a:rPr>
              <a:t> </a:t>
            </a:r>
            <a:r>
              <a:rPr lang="en-US" sz="10800" err="1">
                <a:latin typeface="Arial"/>
                <a:ea typeface="Arial"/>
                <a:cs typeface="Arial"/>
                <a:sym typeface="Arial"/>
              </a:rPr>
              <a:t>nhân</a:t>
            </a:r>
            <a:r>
              <a:rPr lang="en-US" sz="10800">
                <a:latin typeface="Arial"/>
                <a:ea typeface="Arial"/>
                <a:cs typeface="Arial"/>
                <a:sym typeface="Arial"/>
              </a:rPr>
              <a:t> </a:t>
            </a:r>
            <a:r>
              <a:rPr lang="en-US" sz="10800" err="1">
                <a:latin typeface="Arial"/>
                <a:ea typeface="Arial"/>
                <a:cs typeface="Arial"/>
                <a:sym typeface="Arial"/>
              </a:rPr>
              <a:t>và</a:t>
            </a:r>
            <a:r>
              <a:rPr lang="en-US" sz="10800">
                <a:latin typeface="Arial"/>
                <a:ea typeface="Arial"/>
                <a:cs typeface="Arial"/>
                <a:sym typeface="Arial"/>
              </a:rPr>
              <a:t> </a:t>
            </a:r>
            <a:r>
              <a:rPr lang="en-US" sz="10800" err="1">
                <a:latin typeface="Arial"/>
                <a:ea typeface="Arial"/>
                <a:cs typeface="Arial"/>
                <a:sym typeface="Arial"/>
              </a:rPr>
              <a:t>tổ</a:t>
            </a:r>
            <a:r>
              <a:rPr lang="en-US" sz="10800">
                <a:latin typeface="Arial"/>
                <a:ea typeface="Arial"/>
                <a:cs typeface="Arial"/>
                <a:sym typeface="Arial"/>
              </a:rPr>
              <a:t> </a:t>
            </a:r>
            <a:r>
              <a:rPr lang="en-US" sz="10800" err="1">
                <a:latin typeface="Arial"/>
                <a:ea typeface="Arial"/>
                <a:cs typeface="Arial"/>
                <a:sym typeface="Arial"/>
              </a:rPr>
              <a:t>chức</a:t>
            </a:r>
            <a:r>
              <a:rPr lang="en-US" sz="10800">
                <a:latin typeface="Arial"/>
                <a:ea typeface="Arial"/>
                <a:cs typeface="Arial"/>
                <a:sym typeface="Arial"/>
              </a:rPr>
              <a:t>, </a:t>
            </a:r>
            <a:r>
              <a:rPr lang="en-US" sz="10800" err="1">
                <a:latin typeface="Arial"/>
                <a:ea typeface="Arial"/>
                <a:cs typeface="Arial"/>
                <a:sym typeface="Arial"/>
              </a:rPr>
              <a:t>giữa</a:t>
            </a:r>
            <a:r>
              <a:rPr lang="en-US" sz="10800">
                <a:latin typeface="Arial"/>
                <a:ea typeface="Arial"/>
                <a:cs typeface="Arial"/>
                <a:sym typeface="Arial"/>
              </a:rPr>
              <a:t> KH </a:t>
            </a:r>
            <a:r>
              <a:rPr lang="en-US" sz="10800" err="1">
                <a:latin typeface="Arial"/>
                <a:ea typeface="Arial"/>
                <a:cs typeface="Arial"/>
                <a:sym typeface="Arial"/>
              </a:rPr>
              <a:t>và</a:t>
            </a:r>
            <a:r>
              <a:rPr lang="en-US" sz="10800">
                <a:latin typeface="Arial"/>
                <a:ea typeface="Arial"/>
                <a:cs typeface="Arial"/>
                <a:sym typeface="Arial"/>
              </a:rPr>
              <a:t> </a:t>
            </a:r>
            <a:r>
              <a:rPr lang="en-US" sz="10800" err="1">
                <a:latin typeface="Arial"/>
                <a:ea typeface="Arial"/>
                <a:cs typeface="Arial"/>
                <a:sym typeface="Arial"/>
              </a:rPr>
              <a:t>người</a:t>
            </a:r>
            <a:r>
              <a:rPr lang="en-US" sz="10800">
                <a:latin typeface="Arial"/>
                <a:ea typeface="Arial"/>
                <a:cs typeface="Arial"/>
                <a:sym typeface="Arial"/>
              </a:rPr>
              <a:t> </a:t>
            </a:r>
            <a:r>
              <a:rPr lang="en-US" sz="10800" err="1">
                <a:latin typeface="Arial"/>
                <a:ea typeface="Arial"/>
                <a:cs typeface="Arial"/>
                <a:sym typeface="Arial"/>
              </a:rPr>
              <a:t>mua</a:t>
            </a:r>
            <a:r>
              <a:rPr lang="en-US" sz="10800">
                <a:latin typeface="Arial"/>
                <a:ea typeface="Arial"/>
                <a:cs typeface="Arial"/>
                <a:sym typeface="Arial"/>
              </a:rPr>
              <a:t>.</a:t>
            </a:r>
            <a:endParaRPr sz="10800">
              <a:latin typeface="Arial"/>
              <a:ea typeface="Arial"/>
              <a:cs typeface="Arial"/>
              <a:sym typeface="Arial"/>
            </a:endParaRPr>
          </a:p>
          <a:p>
            <a:pPr marL="1016000" lvl="1" indent="-558800">
              <a:lnSpc>
                <a:spcPct val="170000"/>
              </a:lnSpc>
              <a:buSzPct val="100000"/>
              <a:buFont typeface="Noto Sans Symbols"/>
              <a:buChar char="⮚"/>
            </a:pPr>
            <a:r>
              <a:rPr lang="vi-VN" sz="10800">
                <a:latin typeface="Arial"/>
                <a:ea typeface="Arial"/>
                <a:cs typeface="Arial"/>
                <a:sym typeface="Arial"/>
              </a:rPr>
              <a:t>Nắm bắt cụ thể nội dung và phương pháp nghiên cứu hành vi KH</a:t>
            </a:r>
            <a:endParaRPr lang="vi-VN" sz="9600">
              <a:latin typeface="Arial"/>
              <a:ea typeface="Arial"/>
              <a:cs typeface="Arial"/>
              <a:sym typeface="Arial"/>
            </a:endParaRPr>
          </a:p>
          <a:p>
            <a:pPr marL="1016000" lvl="1" indent="-558800" algn="l" rtl="0">
              <a:lnSpc>
                <a:spcPct val="170000"/>
              </a:lnSpc>
              <a:spcBef>
                <a:spcPts val="500"/>
              </a:spcBef>
              <a:spcAft>
                <a:spcPts val="0"/>
              </a:spcAft>
              <a:buClr>
                <a:schemeClr val="dk1"/>
              </a:buClr>
              <a:buSzPct val="100000"/>
              <a:buFont typeface="Noto Sans Symbols"/>
              <a:buChar char="⮚"/>
            </a:pPr>
            <a:r>
              <a:rPr lang="en-US" sz="10800" err="1">
                <a:latin typeface="Arial"/>
                <a:ea typeface="Arial"/>
                <a:cs typeface="Arial"/>
                <a:sym typeface="Arial"/>
              </a:rPr>
              <a:t>Mô</a:t>
            </a:r>
            <a:r>
              <a:rPr lang="en-US" sz="10800">
                <a:latin typeface="Arial"/>
                <a:ea typeface="Arial"/>
                <a:cs typeface="Arial"/>
                <a:sym typeface="Arial"/>
              </a:rPr>
              <a:t> </a:t>
            </a:r>
            <a:r>
              <a:rPr lang="en-US" sz="10800" err="1">
                <a:latin typeface="Arial"/>
                <a:ea typeface="Arial"/>
                <a:cs typeface="Arial"/>
                <a:sym typeface="Arial"/>
              </a:rPr>
              <a:t>tả</a:t>
            </a:r>
            <a:r>
              <a:rPr lang="en-US" sz="10800">
                <a:latin typeface="Arial"/>
                <a:ea typeface="Arial"/>
                <a:cs typeface="Arial"/>
                <a:sym typeface="Arial"/>
              </a:rPr>
              <a:t> </a:t>
            </a:r>
            <a:r>
              <a:rPr lang="en-US" sz="10800" err="1">
                <a:latin typeface="Arial"/>
                <a:ea typeface="Arial"/>
                <a:cs typeface="Arial"/>
                <a:sym typeface="Arial"/>
              </a:rPr>
              <a:t>được</a:t>
            </a:r>
            <a:r>
              <a:rPr lang="en-US" sz="10800">
                <a:latin typeface="Arial"/>
                <a:ea typeface="Arial"/>
                <a:cs typeface="Arial"/>
                <a:sym typeface="Arial"/>
              </a:rPr>
              <a:t> </a:t>
            </a:r>
            <a:r>
              <a:rPr lang="en-US" sz="10800" err="1">
                <a:latin typeface="Arial"/>
                <a:ea typeface="Arial"/>
                <a:cs typeface="Arial"/>
                <a:sym typeface="Arial"/>
              </a:rPr>
              <a:t>tổng</a:t>
            </a:r>
            <a:r>
              <a:rPr lang="en-US" sz="10800">
                <a:latin typeface="Arial"/>
                <a:ea typeface="Arial"/>
                <a:cs typeface="Arial"/>
                <a:sym typeface="Arial"/>
              </a:rPr>
              <a:t> </a:t>
            </a:r>
            <a:r>
              <a:rPr lang="en-US" sz="10800" err="1">
                <a:latin typeface="Arial"/>
                <a:ea typeface="Arial"/>
                <a:cs typeface="Arial"/>
                <a:sym typeface="Arial"/>
              </a:rPr>
              <a:t>quát</a:t>
            </a:r>
            <a:r>
              <a:rPr lang="en-US" sz="10800">
                <a:latin typeface="Arial"/>
                <a:ea typeface="Arial"/>
                <a:cs typeface="Arial"/>
                <a:sym typeface="Arial"/>
              </a:rPr>
              <a:t> </a:t>
            </a:r>
            <a:r>
              <a:rPr lang="en-US" sz="10800" err="1">
                <a:latin typeface="Arial"/>
                <a:ea typeface="Arial"/>
                <a:cs typeface="Arial"/>
                <a:sym typeface="Arial"/>
              </a:rPr>
              <a:t>các</a:t>
            </a:r>
            <a:r>
              <a:rPr lang="en-US" sz="10800">
                <a:latin typeface="Arial"/>
                <a:ea typeface="Arial"/>
                <a:cs typeface="Arial"/>
                <a:sym typeface="Arial"/>
              </a:rPr>
              <a:t> </a:t>
            </a:r>
            <a:r>
              <a:rPr lang="en-US" sz="10800" err="1">
                <a:latin typeface="Arial"/>
                <a:ea typeface="Arial"/>
                <a:cs typeface="Arial"/>
                <a:sym typeface="Arial"/>
              </a:rPr>
              <a:t>yếu</a:t>
            </a:r>
            <a:r>
              <a:rPr lang="en-US" sz="10800">
                <a:latin typeface="Arial"/>
                <a:ea typeface="Arial"/>
                <a:cs typeface="Arial"/>
                <a:sym typeface="Arial"/>
              </a:rPr>
              <a:t> </a:t>
            </a:r>
            <a:r>
              <a:rPr lang="en-US" sz="10800" err="1">
                <a:latin typeface="Arial"/>
                <a:ea typeface="Arial"/>
                <a:cs typeface="Arial"/>
                <a:sym typeface="Arial"/>
              </a:rPr>
              <a:t>tố</a:t>
            </a:r>
            <a:r>
              <a:rPr lang="en-US" sz="10800">
                <a:latin typeface="Arial"/>
                <a:ea typeface="Arial"/>
                <a:cs typeface="Arial"/>
                <a:sym typeface="Arial"/>
              </a:rPr>
              <a:t> </a:t>
            </a:r>
            <a:r>
              <a:rPr lang="en-US" sz="10800" err="1">
                <a:latin typeface="Arial"/>
                <a:ea typeface="Arial"/>
                <a:cs typeface="Arial"/>
                <a:sym typeface="Arial"/>
              </a:rPr>
              <a:t>ảnh</a:t>
            </a:r>
            <a:r>
              <a:rPr lang="en-US" sz="10800">
                <a:latin typeface="Arial"/>
                <a:ea typeface="Arial"/>
                <a:cs typeface="Arial"/>
                <a:sym typeface="Arial"/>
              </a:rPr>
              <a:t> </a:t>
            </a:r>
            <a:r>
              <a:rPr lang="en-US" sz="10800" err="1">
                <a:latin typeface="Arial"/>
                <a:ea typeface="Arial"/>
                <a:cs typeface="Arial"/>
                <a:sym typeface="Arial"/>
              </a:rPr>
              <a:t>hưởng</a:t>
            </a:r>
            <a:r>
              <a:rPr lang="en-US" sz="10800">
                <a:latin typeface="Arial"/>
                <a:ea typeface="Arial"/>
                <a:cs typeface="Arial"/>
                <a:sym typeface="Arial"/>
              </a:rPr>
              <a:t> </a:t>
            </a:r>
            <a:r>
              <a:rPr lang="en-US" sz="10800" err="1">
                <a:latin typeface="Arial"/>
                <a:ea typeface="Arial"/>
                <a:cs typeface="Arial"/>
                <a:sym typeface="Arial"/>
              </a:rPr>
              <a:t>đến</a:t>
            </a:r>
            <a:r>
              <a:rPr lang="en-US" sz="10800">
                <a:latin typeface="Arial"/>
                <a:ea typeface="Arial"/>
                <a:cs typeface="Arial"/>
                <a:sym typeface="Arial"/>
              </a:rPr>
              <a:t> </a:t>
            </a:r>
            <a:r>
              <a:rPr lang="en-US" sz="10800" err="1">
                <a:latin typeface="Arial"/>
                <a:ea typeface="Arial"/>
                <a:cs typeface="Arial"/>
                <a:sym typeface="Arial"/>
              </a:rPr>
              <a:t>hành</a:t>
            </a:r>
            <a:r>
              <a:rPr lang="en-US" sz="10800">
                <a:latin typeface="Arial"/>
                <a:ea typeface="Arial"/>
                <a:cs typeface="Arial"/>
                <a:sym typeface="Arial"/>
              </a:rPr>
              <a:t> vi </a:t>
            </a:r>
            <a:r>
              <a:rPr lang="en-US" sz="10800" err="1">
                <a:latin typeface="Arial"/>
                <a:ea typeface="Arial"/>
                <a:cs typeface="Arial"/>
                <a:sym typeface="Arial"/>
              </a:rPr>
              <a:t>của</a:t>
            </a:r>
            <a:r>
              <a:rPr lang="en-US" sz="10800">
                <a:latin typeface="Arial"/>
                <a:ea typeface="Arial"/>
                <a:cs typeface="Arial"/>
                <a:sym typeface="Arial"/>
              </a:rPr>
              <a:t> KH.</a:t>
            </a:r>
            <a:endParaRPr lang="vi-VN" sz="10800">
              <a:latin typeface="Arial"/>
              <a:ea typeface="Arial"/>
              <a:cs typeface="Arial"/>
              <a:sym typeface="Arial"/>
            </a:endParaRPr>
          </a:p>
          <a:p>
            <a:pPr marL="1016000" lvl="1" indent="-558800">
              <a:lnSpc>
                <a:spcPct val="170000"/>
              </a:lnSpc>
              <a:buSzPct val="100000"/>
              <a:buFont typeface="Noto Sans Symbols"/>
              <a:buChar char="⮚"/>
            </a:pPr>
            <a:r>
              <a:rPr lang="vi-VN" sz="10800">
                <a:latin typeface="Arial"/>
                <a:ea typeface="Arial"/>
                <a:cs typeface="Arial"/>
                <a:sym typeface="Arial"/>
              </a:rPr>
              <a:t>Phân tích được vai trò của nghiên cứu hành vi KH với việc thiết kế chiến lược Marketing của các DN</a:t>
            </a:r>
            <a:endParaRPr sz="10800">
              <a:latin typeface="Arial"/>
              <a:ea typeface="Arial"/>
              <a:cs typeface="Arial"/>
              <a:sym typeface="Arial"/>
            </a:endParaRPr>
          </a:p>
          <a:p>
            <a:pPr marL="1016000" lvl="1" indent="-558800" algn="l" rtl="0">
              <a:lnSpc>
                <a:spcPct val="170000"/>
              </a:lnSpc>
              <a:spcBef>
                <a:spcPts val="500"/>
              </a:spcBef>
              <a:spcAft>
                <a:spcPts val="0"/>
              </a:spcAft>
              <a:buClr>
                <a:schemeClr val="dk1"/>
              </a:buClr>
              <a:buSzPct val="100000"/>
              <a:buFont typeface="Noto Sans Symbols"/>
              <a:buChar char="⮚"/>
            </a:pPr>
            <a:r>
              <a:rPr lang="en-US" sz="10800" err="1">
                <a:latin typeface="Arial"/>
                <a:ea typeface="Arial"/>
                <a:cs typeface="Arial"/>
                <a:sym typeface="Arial"/>
              </a:rPr>
              <a:t>Giải</a:t>
            </a:r>
            <a:r>
              <a:rPr lang="en-US" sz="10800">
                <a:latin typeface="Arial"/>
                <a:ea typeface="Arial"/>
                <a:cs typeface="Arial"/>
                <a:sym typeface="Arial"/>
              </a:rPr>
              <a:t> </a:t>
            </a:r>
            <a:r>
              <a:rPr lang="en-US" sz="10800" err="1">
                <a:latin typeface="Arial"/>
                <a:ea typeface="Arial"/>
                <a:cs typeface="Arial"/>
                <a:sym typeface="Arial"/>
              </a:rPr>
              <a:t>thích</a:t>
            </a:r>
            <a:r>
              <a:rPr lang="en-US" sz="10800">
                <a:latin typeface="Arial"/>
                <a:ea typeface="Arial"/>
                <a:cs typeface="Arial"/>
                <a:sym typeface="Arial"/>
              </a:rPr>
              <a:t> </a:t>
            </a:r>
            <a:r>
              <a:rPr lang="en-US" sz="10800" err="1">
                <a:latin typeface="Arial"/>
                <a:ea typeface="Arial"/>
                <a:cs typeface="Arial"/>
                <a:sym typeface="Arial"/>
              </a:rPr>
              <a:t>được</a:t>
            </a:r>
            <a:r>
              <a:rPr lang="en-US" sz="10800">
                <a:latin typeface="Arial"/>
                <a:ea typeface="Arial"/>
                <a:cs typeface="Arial"/>
                <a:sym typeface="Arial"/>
              </a:rPr>
              <a:t> </a:t>
            </a:r>
            <a:r>
              <a:rPr lang="en-US" sz="10800" err="1">
                <a:latin typeface="Arial"/>
                <a:ea typeface="Arial"/>
                <a:cs typeface="Arial"/>
                <a:sym typeface="Arial"/>
              </a:rPr>
              <a:t>mối</a:t>
            </a:r>
            <a:r>
              <a:rPr lang="en-US" sz="10800">
                <a:latin typeface="Arial"/>
                <a:ea typeface="Arial"/>
                <a:cs typeface="Arial"/>
                <a:sym typeface="Arial"/>
              </a:rPr>
              <a:t> </a:t>
            </a:r>
            <a:r>
              <a:rPr lang="en-US" sz="10800" err="1">
                <a:latin typeface="Arial"/>
                <a:ea typeface="Arial"/>
                <a:cs typeface="Arial"/>
                <a:sym typeface="Arial"/>
              </a:rPr>
              <a:t>quan</a:t>
            </a:r>
            <a:r>
              <a:rPr lang="en-US" sz="10800">
                <a:latin typeface="Arial"/>
                <a:ea typeface="Arial"/>
                <a:cs typeface="Arial"/>
                <a:sym typeface="Arial"/>
              </a:rPr>
              <a:t> </a:t>
            </a:r>
            <a:r>
              <a:rPr lang="en-US" sz="10800" err="1">
                <a:latin typeface="Arial"/>
                <a:ea typeface="Arial"/>
                <a:cs typeface="Arial"/>
                <a:sym typeface="Arial"/>
              </a:rPr>
              <a:t>hệ</a:t>
            </a:r>
            <a:r>
              <a:rPr lang="en-US" sz="10800">
                <a:latin typeface="Arial"/>
                <a:ea typeface="Arial"/>
                <a:cs typeface="Arial"/>
                <a:sym typeface="Arial"/>
              </a:rPr>
              <a:t> </a:t>
            </a:r>
            <a:r>
              <a:rPr lang="en-US" sz="10800" err="1">
                <a:latin typeface="Arial"/>
                <a:ea typeface="Arial"/>
                <a:cs typeface="Arial"/>
                <a:sym typeface="Arial"/>
              </a:rPr>
              <a:t>giữa</a:t>
            </a:r>
            <a:r>
              <a:rPr lang="en-US" sz="10800">
                <a:latin typeface="Arial"/>
                <a:ea typeface="Arial"/>
                <a:cs typeface="Arial"/>
                <a:sym typeface="Arial"/>
              </a:rPr>
              <a:t> </a:t>
            </a:r>
            <a:r>
              <a:rPr lang="en-US" sz="10800" err="1">
                <a:latin typeface="Arial"/>
                <a:ea typeface="Arial"/>
                <a:cs typeface="Arial"/>
                <a:sym typeface="Arial"/>
              </a:rPr>
              <a:t>hành</a:t>
            </a:r>
            <a:r>
              <a:rPr lang="en-US" sz="10800">
                <a:latin typeface="Arial"/>
                <a:ea typeface="Arial"/>
                <a:cs typeface="Arial"/>
                <a:sym typeface="Arial"/>
              </a:rPr>
              <a:t> vi KH </a:t>
            </a:r>
            <a:r>
              <a:rPr lang="en-US" sz="10800" err="1">
                <a:latin typeface="Arial"/>
                <a:ea typeface="Arial"/>
                <a:cs typeface="Arial"/>
                <a:sym typeface="Arial"/>
              </a:rPr>
              <a:t>và</a:t>
            </a:r>
            <a:r>
              <a:rPr lang="en-US" sz="10800">
                <a:latin typeface="Arial"/>
                <a:ea typeface="Arial"/>
                <a:cs typeface="Arial"/>
                <a:sym typeface="Arial"/>
              </a:rPr>
              <a:t> </a:t>
            </a:r>
            <a:r>
              <a:rPr lang="en-US" sz="10800" err="1">
                <a:latin typeface="Arial"/>
                <a:ea typeface="Arial"/>
                <a:cs typeface="Arial"/>
                <a:sym typeface="Arial"/>
              </a:rPr>
              <a:t>chiến</a:t>
            </a:r>
            <a:r>
              <a:rPr lang="en-US" sz="10800">
                <a:latin typeface="Arial"/>
                <a:ea typeface="Arial"/>
                <a:cs typeface="Arial"/>
                <a:sym typeface="Arial"/>
              </a:rPr>
              <a:t> </a:t>
            </a:r>
            <a:r>
              <a:rPr lang="en-US" sz="10800" err="1">
                <a:latin typeface="Arial"/>
                <a:ea typeface="Arial"/>
                <a:cs typeface="Arial"/>
                <a:sym typeface="Arial"/>
              </a:rPr>
              <a:t>lược</a:t>
            </a:r>
            <a:r>
              <a:rPr lang="en-US" sz="10800">
                <a:latin typeface="Arial"/>
                <a:ea typeface="Arial"/>
                <a:cs typeface="Arial"/>
                <a:sym typeface="Arial"/>
              </a:rPr>
              <a:t> Marketing.</a:t>
            </a:r>
            <a:endParaRPr sz="10800">
              <a:latin typeface="Arial"/>
              <a:ea typeface="Arial"/>
              <a:cs typeface="Arial"/>
              <a:sym typeface="Arial"/>
            </a:endParaRPr>
          </a:p>
          <a:p>
            <a:pPr marL="1016000" lvl="1" indent="-558800" algn="l" rtl="0">
              <a:lnSpc>
                <a:spcPct val="170000"/>
              </a:lnSpc>
              <a:spcBef>
                <a:spcPts val="500"/>
              </a:spcBef>
              <a:spcAft>
                <a:spcPts val="0"/>
              </a:spcAft>
              <a:buClr>
                <a:schemeClr val="dk1"/>
              </a:buClr>
              <a:buSzPct val="100000"/>
              <a:buFont typeface="Noto Sans Symbols"/>
              <a:buChar char="⮚"/>
            </a:pPr>
            <a:r>
              <a:rPr lang="en-US" sz="10800" err="1">
                <a:latin typeface="Arial"/>
                <a:ea typeface="Arial"/>
                <a:cs typeface="Arial"/>
                <a:sym typeface="Arial"/>
              </a:rPr>
              <a:t>Áp</a:t>
            </a:r>
            <a:r>
              <a:rPr lang="en-US" sz="10800">
                <a:latin typeface="Arial"/>
                <a:ea typeface="Arial"/>
                <a:cs typeface="Arial"/>
                <a:sym typeface="Arial"/>
              </a:rPr>
              <a:t> </a:t>
            </a:r>
            <a:r>
              <a:rPr lang="en-US" sz="10800" err="1">
                <a:latin typeface="Arial"/>
                <a:ea typeface="Arial"/>
                <a:cs typeface="Arial"/>
                <a:sym typeface="Arial"/>
              </a:rPr>
              <a:t>dụng</a:t>
            </a:r>
            <a:r>
              <a:rPr lang="en-US" sz="10800">
                <a:latin typeface="Arial"/>
                <a:ea typeface="Arial"/>
                <a:cs typeface="Arial"/>
                <a:sym typeface="Arial"/>
              </a:rPr>
              <a:t> </a:t>
            </a:r>
            <a:r>
              <a:rPr lang="en-US" sz="10800" err="1">
                <a:latin typeface="Arial"/>
                <a:ea typeface="Arial"/>
                <a:cs typeface="Arial"/>
                <a:sym typeface="Arial"/>
              </a:rPr>
              <a:t>được</a:t>
            </a:r>
            <a:r>
              <a:rPr lang="en-US" sz="10800">
                <a:latin typeface="Arial"/>
                <a:ea typeface="Arial"/>
                <a:cs typeface="Arial"/>
                <a:sym typeface="Arial"/>
              </a:rPr>
              <a:t> </a:t>
            </a:r>
            <a:r>
              <a:rPr lang="en-US" sz="10800" err="1">
                <a:latin typeface="Arial"/>
                <a:ea typeface="Arial"/>
                <a:cs typeface="Arial"/>
                <a:sym typeface="Arial"/>
              </a:rPr>
              <a:t>sự</a:t>
            </a:r>
            <a:r>
              <a:rPr lang="en-US" sz="10800">
                <a:latin typeface="Arial"/>
                <a:ea typeface="Arial"/>
                <a:cs typeface="Arial"/>
                <a:sym typeface="Arial"/>
              </a:rPr>
              <a:t> </a:t>
            </a:r>
            <a:r>
              <a:rPr lang="en-US" sz="10800" err="1">
                <a:latin typeface="Arial"/>
                <a:ea typeface="Arial"/>
                <a:cs typeface="Arial"/>
                <a:sym typeface="Arial"/>
              </a:rPr>
              <a:t>hiểu</a:t>
            </a:r>
            <a:r>
              <a:rPr lang="en-US" sz="10800">
                <a:latin typeface="Arial"/>
                <a:ea typeface="Arial"/>
                <a:cs typeface="Arial"/>
                <a:sym typeface="Arial"/>
              </a:rPr>
              <a:t> </a:t>
            </a:r>
            <a:r>
              <a:rPr lang="en-US" sz="10800" err="1">
                <a:latin typeface="Arial"/>
                <a:ea typeface="Arial"/>
                <a:cs typeface="Arial"/>
                <a:sym typeface="Arial"/>
              </a:rPr>
              <a:t>biết</a:t>
            </a:r>
            <a:r>
              <a:rPr lang="en-US" sz="10800">
                <a:latin typeface="Arial"/>
                <a:ea typeface="Arial"/>
                <a:cs typeface="Arial"/>
                <a:sym typeface="Arial"/>
              </a:rPr>
              <a:t> </a:t>
            </a:r>
            <a:r>
              <a:rPr lang="en-US" sz="10800" err="1">
                <a:latin typeface="Arial"/>
                <a:ea typeface="Arial"/>
                <a:cs typeface="Arial"/>
                <a:sym typeface="Arial"/>
              </a:rPr>
              <a:t>về</a:t>
            </a:r>
            <a:r>
              <a:rPr lang="en-US" sz="10800">
                <a:latin typeface="Arial"/>
                <a:ea typeface="Arial"/>
                <a:cs typeface="Arial"/>
                <a:sym typeface="Arial"/>
              </a:rPr>
              <a:t> </a:t>
            </a:r>
            <a:r>
              <a:rPr lang="en-US" sz="10800" err="1">
                <a:latin typeface="Arial"/>
                <a:ea typeface="Arial"/>
                <a:cs typeface="Arial"/>
                <a:sym typeface="Arial"/>
              </a:rPr>
              <a:t>hành</a:t>
            </a:r>
            <a:r>
              <a:rPr lang="en-US" sz="10800">
                <a:latin typeface="Arial"/>
                <a:ea typeface="Arial"/>
                <a:cs typeface="Arial"/>
                <a:sym typeface="Arial"/>
              </a:rPr>
              <a:t> vi KH </a:t>
            </a:r>
            <a:r>
              <a:rPr lang="en-US" sz="10800" err="1">
                <a:latin typeface="Arial"/>
                <a:ea typeface="Arial"/>
                <a:cs typeface="Arial"/>
                <a:sym typeface="Arial"/>
              </a:rPr>
              <a:t>vào</a:t>
            </a:r>
            <a:r>
              <a:rPr lang="en-US" sz="10800">
                <a:latin typeface="Arial"/>
                <a:ea typeface="Arial"/>
                <a:cs typeface="Arial"/>
                <a:sym typeface="Arial"/>
              </a:rPr>
              <a:t> </a:t>
            </a:r>
            <a:r>
              <a:rPr lang="en-US" sz="10800" err="1">
                <a:latin typeface="Arial"/>
                <a:ea typeface="Arial"/>
                <a:cs typeface="Arial"/>
                <a:sym typeface="Arial"/>
              </a:rPr>
              <a:t>chiến</a:t>
            </a:r>
            <a:r>
              <a:rPr lang="en-US" sz="10800">
                <a:latin typeface="Arial"/>
                <a:ea typeface="Arial"/>
                <a:cs typeface="Arial"/>
                <a:sym typeface="Arial"/>
              </a:rPr>
              <a:t> </a:t>
            </a:r>
            <a:r>
              <a:rPr lang="en-US" sz="10800" err="1">
                <a:latin typeface="Arial"/>
                <a:ea typeface="Arial"/>
                <a:cs typeface="Arial"/>
                <a:sym typeface="Arial"/>
              </a:rPr>
              <a:t>lược</a:t>
            </a:r>
            <a:r>
              <a:rPr lang="en-US" sz="10800">
                <a:latin typeface="Arial"/>
                <a:ea typeface="Arial"/>
                <a:cs typeface="Arial"/>
                <a:sym typeface="Arial"/>
              </a:rPr>
              <a:t> marketing.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b="1">
                <a:latin typeface="Arial"/>
                <a:ea typeface="Arial"/>
                <a:cs typeface="Arial"/>
                <a:sym typeface="Arial"/>
              </a:rPr>
              <a:t>NỘI DUNG CHƯƠNG 1</a:t>
            </a:r>
            <a:endParaRPr/>
          </a:p>
        </p:txBody>
      </p:sp>
      <p:sp>
        <p:nvSpPr>
          <p:cNvPr id="121" name="Google Shape;121;p19"/>
          <p:cNvSpPr txBox="1">
            <a:spLocks noGrp="1"/>
          </p:cNvSpPr>
          <p:nvPr>
            <p:ph type="body" idx="1"/>
          </p:nvPr>
        </p:nvSpPr>
        <p:spPr>
          <a:xfrm>
            <a:off x="720436" y="1540042"/>
            <a:ext cx="10825019" cy="463692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None/>
            </a:pPr>
            <a:r>
              <a:rPr lang="en-US" sz="3200">
                <a:sym typeface="Arial"/>
              </a:rPr>
              <a:t>1.1. </a:t>
            </a:r>
            <a:r>
              <a:rPr lang="en-US" sz="3200" err="1">
                <a:sym typeface="Arial"/>
              </a:rPr>
              <a:t>Khái</a:t>
            </a:r>
            <a:r>
              <a:rPr lang="en-US" sz="3200">
                <a:sym typeface="Arial"/>
              </a:rPr>
              <a:t> </a:t>
            </a:r>
            <a:r>
              <a:rPr lang="en-US" sz="3200" err="1">
                <a:sym typeface="Arial"/>
              </a:rPr>
              <a:t>quát</a:t>
            </a:r>
            <a:r>
              <a:rPr lang="en-US" sz="3200">
                <a:sym typeface="Arial"/>
              </a:rPr>
              <a:t> </a:t>
            </a:r>
            <a:r>
              <a:rPr lang="en-US" sz="3200" err="1">
                <a:sym typeface="Arial"/>
              </a:rPr>
              <a:t>về</a:t>
            </a:r>
            <a:r>
              <a:rPr lang="en-US" sz="3200">
                <a:sym typeface="Arial"/>
              </a:rPr>
              <a:t> </a:t>
            </a:r>
            <a:r>
              <a:rPr lang="en-US" sz="3200" err="1">
                <a:sym typeface="Arial"/>
              </a:rPr>
              <a:t>hành</a:t>
            </a:r>
            <a:r>
              <a:rPr lang="en-US" sz="3200">
                <a:sym typeface="Arial"/>
              </a:rPr>
              <a:t> vi </a:t>
            </a:r>
            <a:r>
              <a:rPr lang="en-US" sz="3200" err="1">
                <a:sym typeface="Arial"/>
              </a:rPr>
              <a:t>khách</a:t>
            </a:r>
            <a:r>
              <a:rPr lang="en-US" sz="3200">
                <a:sym typeface="Arial"/>
              </a:rPr>
              <a:t> </a:t>
            </a:r>
            <a:r>
              <a:rPr lang="en-US" sz="3200" err="1">
                <a:sym typeface="Arial"/>
              </a:rPr>
              <a:t>hàng</a:t>
            </a:r>
            <a:endParaRPr sz="3200"/>
          </a:p>
          <a:p>
            <a:pPr marL="0" lvl="0" indent="0" algn="l" rtl="0">
              <a:lnSpc>
                <a:spcPct val="90000"/>
              </a:lnSpc>
              <a:spcBef>
                <a:spcPts val="1000"/>
              </a:spcBef>
              <a:spcAft>
                <a:spcPts val="0"/>
              </a:spcAft>
              <a:buClr>
                <a:schemeClr val="dk1"/>
              </a:buClr>
              <a:buSzPts val="3600"/>
              <a:buNone/>
            </a:pPr>
            <a:r>
              <a:rPr lang="en-US" sz="3200">
                <a:sym typeface="Arial"/>
              </a:rPr>
              <a:t>1.2. </a:t>
            </a:r>
            <a:r>
              <a:rPr lang="vi-VN" sz="3200">
                <a:sym typeface="Arial"/>
              </a:rPr>
              <a:t>Phân loại khách hàng</a:t>
            </a:r>
          </a:p>
          <a:p>
            <a:pPr marL="0" lvl="0" indent="0" algn="l" rtl="0">
              <a:lnSpc>
                <a:spcPct val="90000"/>
              </a:lnSpc>
              <a:spcBef>
                <a:spcPts val="1000"/>
              </a:spcBef>
              <a:spcAft>
                <a:spcPts val="0"/>
              </a:spcAft>
              <a:buClr>
                <a:schemeClr val="dk1"/>
              </a:buClr>
              <a:buSzPts val="3600"/>
              <a:buNone/>
            </a:pPr>
            <a:r>
              <a:rPr lang="vi-VN" sz="3200"/>
              <a:t>1.3 Các yếu tố ảnh hưởng đến hành vi khách hàng</a:t>
            </a:r>
            <a:endParaRPr lang="vi-VN" sz="3200">
              <a:sym typeface="Arial"/>
            </a:endParaRPr>
          </a:p>
          <a:p>
            <a:pPr marL="0" lvl="0" indent="0" algn="l" rtl="0">
              <a:lnSpc>
                <a:spcPct val="90000"/>
              </a:lnSpc>
              <a:spcBef>
                <a:spcPts val="1000"/>
              </a:spcBef>
              <a:spcAft>
                <a:spcPts val="0"/>
              </a:spcAft>
              <a:buClr>
                <a:schemeClr val="dk1"/>
              </a:buClr>
              <a:buSzPts val="3600"/>
              <a:buNone/>
            </a:pPr>
            <a:r>
              <a:rPr lang="en-US" sz="3200">
                <a:sym typeface="Arial"/>
              </a:rPr>
              <a:t>1.</a:t>
            </a:r>
            <a:r>
              <a:rPr lang="vi-VN" sz="3200">
                <a:sym typeface="Arial"/>
              </a:rPr>
              <a:t>4</a:t>
            </a:r>
            <a:r>
              <a:rPr lang="en-US" sz="3200">
                <a:sym typeface="Arial"/>
              </a:rPr>
              <a:t> </a:t>
            </a:r>
            <a:r>
              <a:rPr lang="vi-VN" sz="3200">
                <a:sym typeface="Arial"/>
              </a:rPr>
              <a:t>Nội dung và phương pháp nghiên cứu hành vi KH</a:t>
            </a:r>
          </a:p>
          <a:p>
            <a:pPr marL="0" lvl="0" indent="0" algn="l" rtl="0">
              <a:lnSpc>
                <a:spcPct val="100000"/>
              </a:lnSpc>
              <a:spcBef>
                <a:spcPts val="1000"/>
              </a:spcBef>
              <a:spcAft>
                <a:spcPts val="0"/>
              </a:spcAft>
              <a:buClr>
                <a:schemeClr val="dk1"/>
              </a:buClr>
              <a:buSzPts val="3600"/>
              <a:buNone/>
            </a:pPr>
            <a:r>
              <a:rPr lang="en-US" sz="3200">
                <a:sym typeface="Arial"/>
              </a:rPr>
              <a:t>1.</a:t>
            </a:r>
            <a:r>
              <a:rPr lang="vi-VN" sz="3200">
                <a:sym typeface="Arial"/>
              </a:rPr>
              <a:t>5</a:t>
            </a:r>
            <a:r>
              <a:rPr lang="en-US" sz="3200">
                <a:sym typeface="Arial"/>
              </a:rPr>
              <a:t>. </a:t>
            </a:r>
            <a:r>
              <a:rPr lang="vi-VN" sz="3200"/>
              <a:t>Vai trò của nghiên cứu hành vi khách hàng trong hoạt 	động kinh doanh</a:t>
            </a:r>
            <a:endParaRPr sz="3200"/>
          </a:p>
          <a:p>
            <a:pPr marL="228600" lvl="0" indent="-50800" algn="l" rtl="0">
              <a:lnSpc>
                <a:spcPct val="90000"/>
              </a:lnSpc>
              <a:spcBef>
                <a:spcPts val="1000"/>
              </a:spcBef>
              <a:spcAft>
                <a:spcPts val="0"/>
              </a:spcAft>
              <a:buClr>
                <a:schemeClr val="dk1"/>
              </a:buClr>
              <a:buSzPts val="2800"/>
              <a:buNone/>
            </a:pPr>
            <a:endParaRPr sz="3200"/>
          </a:p>
        </p:txBody>
      </p:sp>
      <p:pic>
        <p:nvPicPr>
          <p:cNvPr id="122" name="Google Shape;122;p19" descr="Thấu hiểu khách hàng qua thói quen tiêu dùng, tiêu dùng ra sao? | Tạp chí  Kinh tế và Dự báo"/>
          <p:cNvPicPr preferRelativeResize="0"/>
          <p:nvPr/>
        </p:nvPicPr>
        <p:blipFill rotWithShape="1">
          <a:blip r:embed="rId3">
            <a:alphaModFix/>
          </a:blip>
          <a:srcRect/>
          <a:stretch/>
        </p:blipFill>
        <p:spPr>
          <a:xfrm>
            <a:off x="8616142" y="4630885"/>
            <a:ext cx="3215640" cy="187706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ctrTitle"/>
          </p:nvPr>
        </p:nvSpPr>
        <p:spPr>
          <a:xfrm>
            <a:off x="2157033" y="2868929"/>
            <a:ext cx="10034967" cy="1120141"/>
          </a:xfrm>
          <a:prstGeom prst="rect">
            <a:avLst/>
          </a:prstGeom>
          <a:noFill/>
          <a:ln>
            <a:noFill/>
          </a:ln>
        </p:spPr>
        <p:txBody>
          <a:bodyPr spcFirstLastPara="1" wrap="square" lIns="91425" tIns="45700" rIns="91425" bIns="45700" anchor="b" anchorCtr="0">
            <a:normAutofit fontScale="90000"/>
          </a:bodyPr>
          <a:lstStyle/>
          <a:p>
            <a:pPr marL="0" lvl="1" indent="0" algn="l" rtl="0">
              <a:lnSpc>
                <a:spcPct val="100000"/>
              </a:lnSpc>
              <a:spcBef>
                <a:spcPts val="0"/>
              </a:spcBef>
              <a:spcAft>
                <a:spcPts val="0"/>
              </a:spcAft>
              <a:buSzPts val="1400"/>
              <a:buNone/>
            </a:pPr>
            <a:r>
              <a:rPr lang="en-US" sz="3600" b="1">
                <a:latin typeface="Arial"/>
                <a:ea typeface="Arial"/>
                <a:cs typeface="Arial"/>
                <a:sym typeface="Arial"/>
              </a:rPr>
              <a:t>1.1. KHÁI QUÁT VỀ HÀNH VI </a:t>
            </a:r>
            <a:r>
              <a:rPr lang="en-US" sz="3600" b="1"/>
              <a:t>KHÁCH HÀNG</a:t>
            </a:r>
            <a:br>
              <a:rPr lang="en-US" sz="1800" b="1"/>
            </a:br>
            <a:endParaRPr sz="3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a:spLocks noGrp="1"/>
          </p:cNvSpPr>
          <p:nvPr>
            <p:ph type="body" idx="1"/>
          </p:nvPr>
        </p:nvSpPr>
        <p:spPr>
          <a:xfrm>
            <a:off x="621030" y="1146891"/>
            <a:ext cx="10408920" cy="4555409"/>
          </a:xfrm>
          <a:prstGeom prst="rect">
            <a:avLst/>
          </a:prstGeom>
          <a:noFill/>
          <a:ln>
            <a:noFill/>
          </a:ln>
        </p:spPr>
        <p:txBody>
          <a:bodyPr spcFirstLastPara="1" wrap="square" lIns="91425" tIns="45700" rIns="91425" bIns="45700" anchor="t" anchorCtr="0">
            <a:noAutofit/>
          </a:bodyPr>
          <a:lstStyle/>
          <a:p>
            <a:pPr marL="304800" lvl="0" indent="317500" algn="l" rtl="0">
              <a:lnSpc>
                <a:spcPct val="150000"/>
              </a:lnSpc>
              <a:spcBef>
                <a:spcPts val="0"/>
              </a:spcBef>
              <a:spcAft>
                <a:spcPts val="0"/>
              </a:spcAft>
              <a:buClr>
                <a:schemeClr val="dk1"/>
              </a:buClr>
              <a:buSzPts val="3200"/>
              <a:buNone/>
            </a:pPr>
            <a:br>
              <a:rPr lang="en-US" sz="3200" b="1">
                <a:latin typeface="Arial"/>
                <a:ea typeface="Arial"/>
                <a:cs typeface="Arial"/>
                <a:sym typeface="Arial"/>
              </a:rPr>
            </a:br>
            <a:r>
              <a:rPr lang="en-US">
                <a:latin typeface="Arial"/>
                <a:ea typeface="Arial"/>
                <a:cs typeface="Arial"/>
                <a:sym typeface="Arial"/>
              </a:rPr>
              <a:t>-  Bắt đầu vào năm 1980</a:t>
            </a:r>
            <a:endParaRPr/>
          </a:p>
          <a:p>
            <a:pPr marL="228600" lvl="0" indent="133350" algn="l" rtl="0">
              <a:lnSpc>
                <a:spcPct val="150000"/>
              </a:lnSpc>
              <a:spcBef>
                <a:spcPts val="1000"/>
              </a:spcBef>
              <a:spcAft>
                <a:spcPts val="0"/>
              </a:spcAft>
              <a:buClr>
                <a:schemeClr val="dk1"/>
              </a:buClr>
              <a:buSzPts val="2800"/>
              <a:buNone/>
            </a:pPr>
            <a:r>
              <a:rPr lang="en-US" i="1">
                <a:latin typeface="Arial"/>
                <a:ea typeface="Arial"/>
                <a:cs typeface="Arial"/>
                <a:sym typeface="Arial"/>
              </a:rPr>
              <a:t>- Có 2 trường phái nghiên cứu KH:</a:t>
            </a:r>
            <a:endParaRPr/>
          </a:p>
          <a:p>
            <a:pPr marL="1065213" lvl="0" indent="-442913" algn="l" rtl="0">
              <a:lnSpc>
                <a:spcPct val="150000"/>
              </a:lnSpc>
              <a:spcBef>
                <a:spcPts val="1000"/>
              </a:spcBef>
              <a:spcAft>
                <a:spcPts val="0"/>
              </a:spcAft>
              <a:buClr>
                <a:schemeClr val="dk1"/>
              </a:buClr>
              <a:buSzPts val="2800"/>
              <a:buChar char="•"/>
            </a:pPr>
            <a:r>
              <a:rPr lang="en-US" i="1">
                <a:latin typeface="Arial"/>
                <a:ea typeface="Arial"/>
                <a:cs typeface="Arial"/>
                <a:sym typeface="Arial"/>
              </a:rPr>
              <a:t>Trường phái tiếp cận thực chứng</a:t>
            </a:r>
            <a:endParaRPr/>
          </a:p>
          <a:p>
            <a:pPr marL="1065213" lvl="0" indent="-442913" algn="l" rtl="0">
              <a:lnSpc>
                <a:spcPct val="150000"/>
              </a:lnSpc>
              <a:spcBef>
                <a:spcPts val="1000"/>
              </a:spcBef>
              <a:spcAft>
                <a:spcPts val="0"/>
              </a:spcAft>
              <a:buClr>
                <a:schemeClr val="dk1"/>
              </a:buClr>
              <a:buSzPts val="2800"/>
              <a:buChar char="•"/>
            </a:pPr>
            <a:r>
              <a:rPr lang="en-US" i="1">
                <a:latin typeface="Arial"/>
                <a:ea typeface="Arial"/>
                <a:cs typeface="Arial"/>
                <a:sym typeface="Arial"/>
              </a:rPr>
              <a:t>Trường phái tiếp cận diễn giải</a:t>
            </a:r>
            <a:endParaRPr/>
          </a:p>
        </p:txBody>
      </p:sp>
      <p:pic>
        <p:nvPicPr>
          <p:cNvPr id="133" name="Google Shape;133;p21" descr="Người tiêu dùng kết nối: Luôn kết nối và chịu chi tiêu - Sài Gòn Tiếp Thị"/>
          <p:cNvPicPr preferRelativeResize="0"/>
          <p:nvPr/>
        </p:nvPicPr>
        <p:blipFill rotWithShape="1">
          <a:blip r:embed="rId3">
            <a:alphaModFix/>
          </a:blip>
          <a:srcRect/>
          <a:stretch/>
        </p:blipFill>
        <p:spPr>
          <a:xfrm>
            <a:off x="7615497" y="2394582"/>
            <a:ext cx="3492500" cy="2964356"/>
          </a:xfrm>
          <a:prstGeom prst="rect">
            <a:avLst/>
          </a:prstGeom>
          <a:noFill/>
          <a:ln>
            <a:noFill/>
          </a:ln>
        </p:spPr>
      </p:pic>
      <p:sp>
        <p:nvSpPr>
          <p:cNvPr id="134" name="Google Shape;134;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1">
                <a:latin typeface="Arial"/>
                <a:ea typeface="Arial"/>
                <a:cs typeface="Arial"/>
                <a:sym typeface="Arial"/>
              </a:rPr>
              <a:t>1.1.1.Nghiên cứu KH dưới góc độ một con người</a:t>
            </a:r>
            <a:endParaRPr sz="3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2"/>
          <p:cNvSpPr txBox="1">
            <a:spLocks noGrp="1"/>
          </p:cNvSpPr>
          <p:nvPr>
            <p:ph type="title"/>
          </p:nvPr>
        </p:nvSpPr>
        <p:spPr>
          <a:xfrm>
            <a:off x="217170" y="411481"/>
            <a:ext cx="11136630" cy="108129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Arial"/>
              <a:buNone/>
            </a:pPr>
            <a:r>
              <a:rPr lang="en-US" sz="3600" b="1">
                <a:latin typeface="Arial"/>
                <a:ea typeface="Arial"/>
                <a:cs typeface="Arial"/>
                <a:sym typeface="Arial"/>
              </a:rPr>
              <a:t>1.1.2 </a:t>
            </a:r>
            <a:r>
              <a:rPr lang="vi-VN" sz="3600" b="1">
                <a:latin typeface="Arial"/>
                <a:ea typeface="Arial"/>
                <a:cs typeface="Arial"/>
                <a:sym typeface="Arial"/>
              </a:rPr>
              <a:t>Phân biệt </a:t>
            </a:r>
            <a:r>
              <a:rPr lang="vi-VN" sz="3600" b="1"/>
              <a:t>n</a:t>
            </a:r>
            <a:r>
              <a:rPr lang="en-US" sz="3600" b="1" err="1">
                <a:latin typeface="Arial"/>
                <a:ea typeface="Arial"/>
                <a:cs typeface="Arial"/>
                <a:sym typeface="Arial"/>
              </a:rPr>
              <a:t>gười</a:t>
            </a:r>
            <a:r>
              <a:rPr lang="en-US" sz="3600" b="1">
                <a:latin typeface="Arial"/>
                <a:ea typeface="Arial"/>
                <a:cs typeface="Arial"/>
                <a:sym typeface="Arial"/>
              </a:rPr>
              <a:t> </a:t>
            </a:r>
            <a:r>
              <a:rPr lang="en-US" sz="3600" b="1" err="1">
                <a:latin typeface="Arial"/>
                <a:ea typeface="Arial"/>
                <a:cs typeface="Arial"/>
                <a:sym typeface="Arial"/>
              </a:rPr>
              <a:t>mua</a:t>
            </a:r>
            <a:r>
              <a:rPr lang="en-US" sz="3600" b="1">
                <a:latin typeface="Arial"/>
                <a:ea typeface="Arial"/>
                <a:cs typeface="Arial"/>
                <a:sym typeface="Arial"/>
              </a:rPr>
              <a:t>, </a:t>
            </a:r>
            <a:r>
              <a:rPr lang="vi-VN" sz="3600" b="1">
                <a:latin typeface="Arial"/>
                <a:ea typeface="Arial"/>
                <a:cs typeface="Arial"/>
                <a:sym typeface="Arial"/>
              </a:rPr>
              <a:t>NTD </a:t>
            </a:r>
            <a:r>
              <a:rPr lang="en-US" sz="3600" b="1" err="1">
                <a:latin typeface="Arial"/>
                <a:ea typeface="Arial"/>
                <a:cs typeface="Arial"/>
                <a:sym typeface="Arial"/>
              </a:rPr>
              <a:t>và</a:t>
            </a:r>
            <a:r>
              <a:rPr lang="en-US" sz="3600" b="1">
                <a:latin typeface="Arial"/>
                <a:ea typeface="Arial"/>
                <a:cs typeface="Arial"/>
                <a:sym typeface="Arial"/>
              </a:rPr>
              <a:t> KH</a:t>
            </a:r>
            <a:br>
              <a:rPr lang="en-US" b="1">
                <a:latin typeface="Arial"/>
                <a:ea typeface="Arial"/>
                <a:cs typeface="Arial"/>
                <a:sym typeface="Arial"/>
              </a:rPr>
            </a:br>
            <a:endParaRPr/>
          </a:p>
        </p:txBody>
      </p:sp>
      <p:sp>
        <p:nvSpPr>
          <p:cNvPr id="140" name="Google Shape;140;p22"/>
          <p:cNvSpPr txBox="1">
            <a:spLocks noGrp="1"/>
          </p:cNvSpPr>
          <p:nvPr>
            <p:ph type="body" idx="1"/>
          </p:nvPr>
        </p:nvSpPr>
        <p:spPr>
          <a:xfrm>
            <a:off x="794395" y="1096407"/>
            <a:ext cx="10515600" cy="792741"/>
          </a:xfrm>
          <a:prstGeom prst="rect">
            <a:avLst/>
          </a:prstGeom>
          <a:noFill/>
          <a:ln>
            <a:noFill/>
          </a:ln>
        </p:spPr>
        <p:txBody>
          <a:bodyPr spcFirstLastPara="1" wrap="square" lIns="91425" tIns="45700" rIns="91425" bIns="45700" anchor="t" anchorCtr="0">
            <a:normAutofit fontScale="92500" lnSpcReduction="20000"/>
          </a:bodyPr>
          <a:lstStyle/>
          <a:p>
            <a:pPr marL="0" lvl="0" indent="0" algn="ctr" rtl="0">
              <a:lnSpc>
                <a:spcPct val="90000"/>
              </a:lnSpc>
              <a:spcBef>
                <a:spcPts val="0"/>
              </a:spcBef>
              <a:spcAft>
                <a:spcPts val="0"/>
              </a:spcAft>
              <a:buClr>
                <a:schemeClr val="dk1"/>
              </a:buClr>
              <a:buSzPts val="2400"/>
              <a:buNone/>
            </a:pPr>
            <a:endParaRPr sz="2400" b="1">
              <a:latin typeface="Arial"/>
              <a:ea typeface="Arial"/>
              <a:cs typeface="Arial"/>
              <a:sym typeface="Arial"/>
            </a:endParaRPr>
          </a:p>
          <a:p>
            <a:pPr marL="0" lvl="0" indent="0" algn="ctr" rtl="0">
              <a:lnSpc>
                <a:spcPct val="90000"/>
              </a:lnSpc>
              <a:spcBef>
                <a:spcPts val="1000"/>
              </a:spcBef>
              <a:spcAft>
                <a:spcPts val="0"/>
              </a:spcAft>
              <a:buClr>
                <a:schemeClr val="dk1"/>
              </a:buClr>
              <a:buSzPts val="2800"/>
              <a:buNone/>
            </a:pPr>
            <a:r>
              <a:rPr lang="en-US" b="1" err="1">
                <a:latin typeface="Arial"/>
                <a:ea typeface="Arial"/>
                <a:cs typeface="Arial"/>
                <a:sym typeface="Arial"/>
              </a:rPr>
              <a:t>Bảng</a:t>
            </a:r>
            <a:r>
              <a:rPr lang="en-US" b="1">
                <a:latin typeface="Arial"/>
                <a:ea typeface="Arial"/>
                <a:cs typeface="Arial"/>
                <a:sym typeface="Arial"/>
              </a:rPr>
              <a:t> 1.1. So </a:t>
            </a:r>
            <a:r>
              <a:rPr lang="en-US" b="1" err="1">
                <a:latin typeface="Arial"/>
                <a:ea typeface="Arial"/>
                <a:cs typeface="Arial"/>
                <a:sym typeface="Arial"/>
              </a:rPr>
              <a:t>sánh</a:t>
            </a:r>
            <a:r>
              <a:rPr lang="en-US" b="1">
                <a:latin typeface="Arial"/>
                <a:ea typeface="Arial"/>
                <a:cs typeface="Arial"/>
                <a:sym typeface="Arial"/>
              </a:rPr>
              <a:t> </a:t>
            </a:r>
            <a:r>
              <a:rPr lang="en-US" b="1"/>
              <a:t>NTD</a:t>
            </a:r>
            <a:r>
              <a:rPr lang="en-US" b="1">
                <a:latin typeface="Arial"/>
                <a:ea typeface="Arial"/>
                <a:cs typeface="Arial"/>
                <a:sym typeface="Arial"/>
              </a:rPr>
              <a:t>, </a:t>
            </a:r>
            <a:r>
              <a:rPr lang="en-US" b="1" err="1">
                <a:latin typeface="Arial"/>
                <a:ea typeface="Arial"/>
                <a:cs typeface="Arial"/>
                <a:sym typeface="Arial"/>
              </a:rPr>
              <a:t>Khách</a:t>
            </a:r>
            <a:r>
              <a:rPr lang="en-US" b="1">
                <a:latin typeface="Arial"/>
                <a:ea typeface="Arial"/>
                <a:cs typeface="Arial"/>
                <a:sym typeface="Arial"/>
              </a:rPr>
              <a:t> </a:t>
            </a:r>
            <a:r>
              <a:rPr lang="en-US" b="1" err="1">
                <a:latin typeface="Arial"/>
                <a:ea typeface="Arial"/>
                <a:cs typeface="Arial"/>
                <a:sym typeface="Arial"/>
              </a:rPr>
              <a:t>hàng</a:t>
            </a:r>
            <a:r>
              <a:rPr lang="en-US" b="1">
                <a:latin typeface="Arial"/>
                <a:ea typeface="Arial"/>
                <a:cs typeface="Arial"/>
                <a:sym typeface="Arial"/>
              </a:rPr>
              <a:t> </a:t>
            </a:r>
            <a:r>
              <a:rPr lang="en-US" b="1" err="1">
                <a:latin typeface="Arial"/>
                <a:ea typeface="Arial"/>
                <a:cs typeface="Arial"/>
                <a:sym typeface="Arial"/>
              </a:rPr>
              <a:t>và</a:t>
            </a:r>
            <a:r>
              <a:rPr lang="en-US" b="1">
                <a:latin typeface="Arial"/>
                <a:ea typeface="Arial"/>
                <a:cs typeface="Arial"/>
                <a:sym typeface="Arial"/>
              </a:rPr>
              <a:t> </a:t>
            </a:r>
            <a:r>
              <a:rPr lang="en-US" b="1" err="1">
                <a:latin typeface="Arial"/>
                <a:ea typeface="Arial"/>
                <a:cs typeface="Arial"/>
                <a:sym typeface="Arial"/>
              </a:rPr>
              <a:t>người</a:t>
            </a:r>
            <a:r>
              <a:rPr lang="en-US" b="1">
                <a:latin typeface="Arial"/>
                <a:ea typeface="Arial"/>
                <a:cs typeface="Arial"/>
                <a:sym typeface="Arial"/>
              </a:rPr>
              <a:t> </a:t>
            </a:r>
            <a:r>
              <a:rPr lang="en-US" b="1" err="1">
                <a:latin typeface="Arial"/>
                <a:ea typeface="Arial"/>
                <a:cs typeface="Arial"/>
                <a:sym typeface="Arial"/>
              </a:rPr>
              <a:t>mua</a:t>
            </a:r>
            <a:endParaRPr/>
          </a:p>
        </p:txBody>
      </p:sp>
      <p:graphicFrame>
        <p:nvGraphicFramePr>
          <p:cNvPr id="141" name="Google Shape;141;p22"/>
          <p:cNvGraphicFramePr/>
          <p:nvPr/>
        </p:nvGraphicFramePr>
        <p:xfrm>
          <a:off x="388620" y="2081730"/>
          <a:ext cx="11327150" cy="4217135"/>
        </p:xfrm>
        <a:graphic>
          <a:graphicData uri="http://schemas.openxmlformats.org/drawingml/2006/table">
            <a:tbl>
              <a:tblPr firstRow="1" bandRow="1">
                <a:noFill/>
                <a:tableStyleId>{4A6342F4-E3B8-4AE7-892F-69534030CBAD}</a:tableStyleId>
              </a:tblPr>
              <a:tblGrid>
                <a:gridCol w="1291600">
                  <a:extLst>
                    <a:ext uri="{9D8B030D-6E8A-4147-A177-3AD203B41FA5}">
                      <a16:colId xmlns:a16="http://schemas.microsoft.com/office/drawing/2014/main" val="20000"/>
                    </a:ext>
                  </a:extLst>
                </a:gridCol>
                <a:gridCol w="3234700">
                  <a:extLst>
                    <a:ext uri="{9D8B030D-6E8A-4147-A177-3AD203B41FA5}">
                      <a16:colId xmlns:a16="http://schemas.microsoft.com/office/drawing/2014/main" val="20001"/>
                    </a:ext>
                  </a:extLst>
                </a:gridCol>
                <a:gridCol w="3291850">
                  <a:extLst>
                    <a:ext uri="{9D8B030D-6E8A-4147-A177-3AD203B41FA5}">
                      <a16:colId xmlns:a16="http://schemas.microsoft.com/office/drawing/2014/main" val="20002"/>
                    </a:ext>
                  </a:extLst>
                </a:gridCol>
                <a:gridCol w="3509000">
                  <a:extLst>
                    <a:ext uri="{9D8B030D-6E8A-4147-A177-3AD203B41FA5}">
                      <a16:colId xmlns:a16="http://schemas.microsoft.com/office/drawing/2014/main" val="20003"/>
                    </a:ext>
                  </a:extLst>
                </a:gridCol>
              </a:tblGrid>
              <a:tr h="999550">
                <a:tc>
                  <a:txBody>
                    <a:bodyPr/>
                    <a:lstStyle/>
                    <a:p>
                      <a:pPr marL="0" marR="0" lvl="0" indent="0" algn="ctr" rtl="0">
                        <a:lnSpc>
                          <a:spcPct val="100000"/>
                        </a:lnSpc>
                        <a:spcBef>
                          <a:spcPts val="0"/>
                        </a:spcBef>
                        <a:spcAft>
                          <a:spcPts val="0"/>
                        </a:spcAft>
                        <a:buClr>
                          <a:srgbClr val="000000"/>
                        </a:buClr>
                        <a:buSzPts val="2000"/>
                        <a:buFont typeface="Arial"/>
                        <a:buNone/>
                      </a:pPr>
                      <a:r>
                        <a:rPr lang="en-US" sz="2000" b="1" u="none" strike="noStrike" cap="none">
                          <a:latin typeface="Arial"/>
                          <a:ea typeface="Arial"/>
                          <a:cs typeface="Arial"/>
                          <a:sym typeface="Arial"/>
                        </a:rPr>
                        <a:t>Tiêu chí so sánh</a:t>
                      </a:r>
                      <a:endParaRPr sz="14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b="1" u="none" strike="noStrike" cap="none">
                          <a:latin typeface="Arial"/>
                          <a:ea typeface="Arial"/>
                          <a:cs typeface="Arial"/>
                          <a:sym typeface="Arial"/>
                        </a:rPr>
                        <a:t>Người tiêu dùng</a:t>
                      </a:r>
                      <a:endParaRPr sz="1400" u="none" strike="noStrike" cap="none"/>
                    </a:p>
                    <a:p>
                      <a:pPr marL="0" marR="0" lvl="0" indent="0" algn="ctr" rtl="0">
                        <a:lnSpc>
                          <a:spcPct val="100000"/>
                        </a:lnSpc>
                        <a:spcBef>
                          <a:spcPts val="0"/>
                        </a:spcBef>
                        <a:spcAft>
                          <a:spcPts val="0"/>
                        </a:spcAft>
                        <a:buClr>
                          <a:srgbClr val="000000"/>
                        </a:buClr>
                        <a:buSzPts val="2000"/>
                        <a:buFont typeface="Arial"/>
                        <a:buNone/>
                      </a:pPr>
                      <a:r>
                        <a:rPr lang="en-US" sz="2000" b="1" u="none" strike="noStrike" cap="none">
                          <a:latin typeface="Arial"/>
                          <a:ea typeface="Arial"/>
                          <a:cs typeface="Arial"/>
                          <a:sym typeface="Arial"/>
                        </a:rPr>
                        <a:t>(Consumer)</a:t>
                      </a:r>
                      <a:endParaRPr sz="14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b="1" u="none" strike="noStrike" cap="none">
                          <a:latin typeface="Arial"/>
                          <a:ea typeface="Arial"/>
                          <a:cs typeface="Arial"/>
                          <a:sym typeface="Arial"/>
                        </a:rPr>
                        <a:t>Khách hàng</a:t>
                      </a:r>
                      <a:endParaRPr sz="1400" u="none" strike="noStrike" cap="none"/>
                    </a:p>
                    <a:p>
                      <a:pPr marL="0" marR="0" lvl="0" indent="0" algn="ctr" rtl="0">
                        <a:lnSpc>
                          <a:spcPct val="100000"/>
                        </a:lnSpc>
                        <a:spcBef>
                          <a:spcPts val="0"/>
                        </a:spcBef>
                        <a:spcAft>
                          <a:spcPts val="0"/>
                        </a:spcAft>
                        <a:buClr>
                          <a:srgbClr val="000000"/>
                        </a:buClr>
                        <a:buSzPts val="2000"/>
                        <a:buFont typeface="Arial"/>
                        <a:buNone/>
                      </a:pPr>
                      <a:r>
                        <a:rPr lang="en-US" sz="2000" b="1" u="none" strike="noStrike" cap="none">
                          <a:latin typeface="Arial"/>
                          <a:ea typeface="Arial"/>
                          <a:cs typeface="Arial"/>
                          <a:sym typeface="Arial"/>
                        </a:rPr>
                        <a:t>(Customer)</a:t>
                      </a:r>
                      <a:endParaRPr sz="14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b="1" u="none" strike="noStrike" cap="none">
                          <a:latin typeface="Arial"/>
                          <a:ea typeface="Arial"/>
                          <a:cs typeface="Arial"/>
                          <a:sym typeface="Arial"/>
                        </a:rPr>
                        <a:t>Người mua</a:t>
                      </a:r>
                      <a:endParaRPr sz="1400" u="none" strike="noStrike" cap="none"/>
                    </a:p>
                    <a:p>
                      <a:pPr marL="0" marR="0" lvl="0" indent="0" algn="ctr" rtl="0">
                        <a:lnSpc>
                          <a:spcPct val="100000"/>
                        </a:lnSpc>
                        <a:spcBef>
                          <a:spcPts val="0"/>
                        </a:spcBef>
                        <a:spcAft>
                          <a:spcPts val="0"/>
                        </a:spcAft>
                        <a:buClr>
                          <a:srgbClr val="000000"/>
                        </a:buClr>
                        <a:buSzPts val="2000"/>
                        <a:buFont typeface="Arial"/>
                        <a:buNone/>
                      </a:pPr>
                      <a:r>
                        <a:rPr lang="en-US" sz="2000" b="1" u="none" strike="noStrike" cap="none">
                          <a:latin typeface="Arial"/>
                          <a:ea typeface="Arial"/>
                          <a:cs typeface="Arial"/>
                          <a:sym typeface="Arial"/>
                        </a:rPr>
                        <a:t>(Buyer)</a:t>
                      </a:r>
                      <a:endParaRPr sz="1400" u="none" strike="noStrike" cap="none"/>
                    </a:p>
                  </a:txBody>
                  <a:tcPr marL="91450" marR="91450" marT="45725" marB="45725" anchor="ctr"/>
                </a:tc>
                <a:extLst>
                  <a:ext uri="{0D108BD9-81ED-4DB2-BD59-A6C34878D82A}">
                    <a16:rowId xmlns:a16="http://schemas.microsoft.com/office/drawing/2014/main" val="10000"/>
                  </a:ext>
                </a:extLst>
              </a:tr>
              <a:tr h="7677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Arial"/>
                          <a:ea typeface="Arial"/>
                          <a:cs typeface="Arial"/>
                          <a:sym typeface="Arial"/>
                        </a:rPr>
                        <a:t>Mô tả</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Arial"/>
                          <a:ea typeface="Arial"/>
                          <a:cs typeface="Arial"/>
                          <a:sym typeface="Arial"/>
                        </a:rPr>
                        <a:t>Người sử dụng sản phẩm cho cá nhân hoặc gia đình</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err="1">
                          <a:latin typeface="Arial"/>
                          <a:ea typeface="Arial"/>
                          <a:cs typeface="Arial"/>
                          <a:sym typeface="Arial"/>
                        </a:rPr>
                        <a:t>Cá</a:t>
                      </a:r>
                      <a:r>
                        <a:rPr lang="en-US" sz="1800" u="none" strike="noStrike" cap="none">
                          <a:latin typeface="Arial"/>
                          <a:ea typeface="Arial"/>
                          <a:cs typeface="Arial"/>
                          <a:sym typeface="Arial"/>
                        </a:rPr>
                        <a:t> </a:t>
                      </a:r>
                      <a:r>
                        <a:rPr lang="en-US" sz="1800" u="none" strike="noStrike" cap="none" err="1"/>
                        <a:t>nhân</a:t>
                      </a:r>
                      <a:r>
                        <a:rPr lang="en-US" sz="1800" u="none" strike="noStrike" cap="none">
                          <a:latin typeface="Arial"/>
                          <a:ea typeface="Arial"/>
                          <a:cs typeface="Arial"/>
                          <a:sym typeface="Arial"/>
                        </a:rPr>
                        <a:t> </a:t>
                      </a:r>
                      <a:r>
                        <a:rPr lang="en-US" sz="1800" u="none" strike="noStrike" cap="none" err="1">
                          <a:latin typeface="Arial"/>
                          <a:ea typeface="Arial"/>
                          <a:cs typeface="Arial"/>
                          <a:sym typeface="Arial"/>
                        </a:rPr>
                        <a:t>hoặc</a:t>
                      </a:r>
                      <a:r>
                        <a:rPr lang="en-US" sz="1800" u="none" strike="noStrike" cap="none">
                          <a:latin typeface="Arial"/>
                          <a:ea typeface="Arial"/>
                          <a:cs typeface="Arial"/>
                          <a:sym typeface="Arial"/>
                        </a:rPr>
                        <a:t> </a:t>
                      </a:r>
                      <a:r>
                        <a:rPr lang="en-US" sz="1800" u="none" strike="noStrike" cap="none" err="1">
                          <a:latin typeface="Arial"/>
                          <a:ea typeface="Arial"/>
                          <a:cs typeface="Arial"/>
                          <a:sym typeface="Arial"/>
                        </a:rPr>
                        <a:t>tổ</a:t>
                      </a:r>
                      <a:r>
                        <a:rPr lang="en-US" sz="1800" u="none" strike="noStrike" cap="none">
                          <a:latin typeface="Arial"/>
                          <a:ea typeface="Arial"/>
                          <a:cs typeface="Arial"/>
                          <a:sym typeface="Arial"/>
                        </a:rPr>
                        <a:t> </a:t>
                      </a:r>
                      <a:r>
                        <a:rPr lang="en-US" sz="1800" u="none" strike="noStrike" cap="none" err="1">
                          <a:latin typeface="Arial"/>
                          <a:ea typeface="Arial"/>
                          <a:cs typeface="Arial"/>
                          <a:sym typeface="Arial"/>
                        </a:rPr>
                        <a:t>chức</a:t>
                      </a:r>
                      <a:r>
                        <a:rPr lang="en-US" sz="1800" u="none" strike="noStrike" cap="none">
                          <a:latin typeface="Arial"/>
                          <a:ea typeface="Arial"/>
                          <a:cs typeface="Arial"/>
                          <a:sym typeface="Arial"/>
                        </a:rPr>
                        <a:t> </a:t>
                      </a:r>
                      <a:r>
                        <a:rPr lang="en-US" sz="1800" u="none" strike="noStrike" cap="none" err="1">
                          <a:latin typeface="Arial"/>
                          <a:ea typeface="Arial"/>
                          <a:cs typeface="Arial"/>
                          <a:sym typeface="Arial"/>
                        </a:rPr>
                        <a:t>sẽ</a:t>
                      </a:r>
                      <a:r>
                        <a:rPr lang="en-US" sz="1800" u="none" strike="noStrike" cap="none">
                          <a:latin typeface="Arial"/>
                          <a:ea typeface="Arial"/>
                          <a:cs typeface="Arial"/>
                          <a:sym typeface="Arial"/>
                        </a:rPr>
                        <a:t> </a:t>
                      </a:r>
                      <a:r>
                        <a:rPr lang="en-US" sz="1800" u="none" strike="noStrike" cap="none" err="1">
                          <a:latin typeface="Arial"/>
                          <a:ea typeface="Arial"/>
                          <a:cs typeface="Arial"/>
                          <a:sym typeface="Arial"/>
                        </a:rPr>
                        <a:t>mua</a:t>
                      </a:r>
                      <a:r>
                        <a:rPr lang="en-US" sz="1800" u="none" strike="noStrike" cap="none">
                          <a:latin typeface="Arial"/>
                          <a:ea typeface="Arial"/>
                          <a:cs typeface="Arial"/>
                          <a:sym typeface="Arial"/>
                        </a:rPr>
                        <a:t>, </a:t>
                      </a:r>
                      <a:r>
                        <a:rPr lang="en-US" sz="1800" u="none" strike="noStrike" cap="none" err="1">
                          <a:latin typeface="Arial"/>
                          <a:ea typeface="Arial"/>
                          <a:cs typeface="Arial"/>
                          <a:sym typeface="Arial"/>
                        </a:rPr>
                        <a:t>mua</a:t>
                      </a:r>
                      <a:r>
                        <a:rPr lang="en-US" sz="1800" u="none" strike="noStrike" cap="none">
                          <a:latin typeface="Arial"/>
                          <a:ea typeface="Arial"/>
                          <a:cs typeface="Arial"/>
                          <a:sym typeface="Arial"/>
                        </a:rPr>
                        <a:t> hay </a:t>
                      </a:r>
                      <a:r>
                        <a:rPr lang="en-US" sz="1800" u="none" strike="noStrike" cap="none" err="1">
                          <a:latin typeface="Arial"/>
                          <a:ea typeface="Arial"/>
                          <a:cs typeface="Arial"/>
                          <a:sym typeface="Arial"/>
                        </a:rPr>
                        <a:t>đã</a:t>
                      </a:r>
                      <a:r>
                        <a:rPr lang="en-US" sz="1800" u="none" strike="noStrike" cap="none">
                          <a:latin typeface="Arial"/>
                          <a:ea typeface="Arial"/>
                          <a:cs typeface="Arial"/>
                          <a:sym typeface="Arial"/>
                        </a:rPr>
                        <a:t> </a:t>
                      </a:r>
                      <a:r>
                        <a:rPr lang="en-US" sz="1800" u="none" strike="noStrike" cap="none" err="1">
                          <a:latin typeface="Arial"/>
                          <a:ea typeface="Arial"/>
                          <a:cs typeface="Arial"/>
                          <a:sym typeface="Arial"/>
                        </a:rPr>
                        <a:t>mua</a:t>
                      </a:r>
                      <a:r>
                        <a:rPr lang="en-US" sz="1800" u="none" strike="noStrike" cap="none">
                          <a:latin typeface="Arial"/>
                          <a:ea typeface="Arial"/>
                          <a:cs typeface="Arial"/>
                          <a:sym typeface="Arial"/>
                        </a:rPr>
                        <a:t> </a:t>
                      </a:r>
                      <a:r>
                        <a:rPr lang="en-US" sz="1800" u="none" strike="noStrike" cap="none" err="1">
                          <a:latin typeface="Arial"/>
                          <a:ea typeface="Arial"/>
                          <a:cs typeface="Arial"/>
                          <a:sym typeface="Arial"/>
                        </a:rPr>
                        <a:t>nhiều</a:t>
                      </a:r>
                      <a:r>
                        <a:rPr lang="en-US" sz="1800" u="none" strike="noStrike" cap="none">
                          <a:latin typeface="Arial"/>
                          <a:ea typeface="Arial"/>
                          <a:cs typeface="Arial"/>
                          <a:sym typeface="Arial"/>
                        </a:rPr>
                        <a:t> </a:t>
                      </a:r>
                      <a:r>
                        <a:rPr lang="en-US" sz="1800" u="none" strike="noStrike" cap="none" err="1">
                          <a:latin typeface="Arial"/>
                          <a:ea typeface="Arial"/>
                          <a:cs typeface="Arial"/>
                          <a:sym typeface="Arial"/>
                        </a:rPr>
                        <a:t>lần</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Arial"/>
                          <a:ea typeface="Arial"/>
                          <a:cs typeface="Arial"/>
                          <a:sym typeface="Arial"/>
                        </a:rPr>
                        <a:t>Cá nhân hay người đại diện cho tổ chức thực hiện hành vi mua</a:t>
                      </a:r>
                      <a:endParaRPr sz="1400" u="none" strike="noStrike" cap="none"/>
                    </a:p>
                  </a:txBody>
                  <a:tcPr marL="91450" marR="91450" marT="45725" marB="45725" anchor="ctr"/>
                </a:tc>
                <a:extLst>
                  <a:ext uri="{0D108BD9-81ED-4DB2-BD59-A6C34878D82A}">
                    <a16:rowId xmlns:a16="http://schemas.microsoft.com/office/drawing/2014/main" val="10001"/>
                  </a:ext>
                </a:extLst>
              </a:tr>
              <a:tr h="7677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Arial"/>
                          <a:ea typeface="Arial"/>
                          <a:cs typeface="Arial"/>
                          <a:sym typeface="Arial"/>
                        </a:rPr>
                        <a:t>Mục đích</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Arial"/>
                          <a:ea typeface="Arial"/>
                          <a:cs typeface="Arial"/>
                          <a:sym typeface="Arial"/>
                        </a:rPr>
                        <a:t>Sử dụng cho cá nhân hay gia đình, không bán lại</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Arial"/>
                          <a:ea typeface="Arial"/>
                          <a:cs typeface="Arial"/>
                          <a:sym typeface="Arial"/>
                        </a:rPr>
                        <a:t>Mua dùng cho cá nhân, gia đình hay tổ chức hoặc bán lại</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latin typeface="Arial"/>
                          <a:ea typeface="Arial"/>
                          <a:cs typeface="Arial"/>
                          <a:sym typeface="Arial"/>
                        </a:rPr>
                        <a:t>Mua dùng cho cá nhân, gia đình hay tổ chức hoặc bán lại</a:t>
                      </a:r>
                      <a:endParaRPr sz="1400" u="none" strike="noStrike" cap="none"/>
                    </a:p>
                  </a:txBody>
                  <a:tcPr marL="91450" marR="91450" marT="45725" marB="45725" anchor="ctr"/>
                </a:tc>
                <a:extLst>
                  <a:ext uri="{0D108BD9-81ED-4DB2-BD59-A6C34878D82A}">
                    <a16:rowId xmlns:a16="http://schemas.microsoft.com/office/drawing/2014/main" val="10002"/>
                  </a:ext>
                </a:extLst>
              </a:tr>
              <a:tr h="7677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Arial"/>
                          <a:ea typeface="Arial"/>
                          <a:cs typeface="Arial"/>
                          <a:sym typeface="Arial"/>
                        </a:rPr>
                        <a:t>Hành vi mua</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Arial"/>
                          <a:ea typeface="Arial"/>
                          <a:cs typeface="Arial"/>
                          <a:sym typeface="Arial"/>
                        </a:rPr>
                        <a:t>Có </a:t>
                      </a:r>
                      <a:r>
                        <a:rPr lang="en-US" sz="1800" u="none" strike="noStrike" cap="none"/>
                        <a:t>thể</a:t>
                      </a:r>
                      <a:r>
                        <a:rPr lang="en-US" sz="1800" u="none" strike="noStrike" cap="none">
                          <a:latin typeface="Arial"/>
                          <a:ea typeface="Arial"/>
                          <a:cs typeface="Arial"/>
                          <a:sym typeface="Arial"/>
                        </a:rPr>
                        <a:t> </a:t>
                      </a:r>
                      <a:r>
                        <a:rPr lang="en-US" sz="1800" u="none" strike="noStrike" cap="none"/>
                        <a:t>thực</a:t>
                      </a:r>
                      <a:r>
                        <a:rPr lang="en-US" sz="1800" u="none" strike="noStrike" cap="none">
                          <a:latin typeface="Arial"/>
                          <a:ea typeface="Arial"/>
                          <a:cs typeface="Arial"/>
                          <a:sym typeface="Arial"/>
                        </a:rPr>
                        <a:t> hiện hoặc không thực hiện hành vi mua </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Arial"/>
                          <a:ea typeface="Arial"/>
                          <a:cs typeface="Arial"/>
                          <a:sym typeface="Arial"/>
                        </a:rPr>
                        <a:t>Thực hiện hành vi mua</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Arial"/>
                          <a:ea typeface="Arial"/>
                          <a:cs typeface="Arial"/>
                          <a:sym typeface="Arial"/>
                        </a:rPr>
                        <a:t>Thực hiện hành vi mua</a:t>
                      </a:r>
                      <a:endParaRPr sz="1400" u="none" strike="noStrike" cap="none"/>
                    </a:p>
                  </a:txBody>
                  <a:tcPr marL="91450" marR="91450" marT="45725" marB="45725" anchor="ctr"/>
                </a:tc>
                <a:extLst>
                  <a:ext uri="{0D108BD9-81ED-4DB2-BD59-A6C34878D82A}">
                    <a16:rowId xmlns:a16="http://schemas.microsoft.com/office/drawing/2014/main" val="10003"/>
                  </a:ext>
                </a:extLst>
              </a:tr>
              <a:tr h="7677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Arial"/>
                          <a:ea typeface="Arial"/>
                          <a:cs typeface="Arial"/>
                          <a:sym typeface="Arial"/>
                        </a:rPr>
                        <a:t>Loại hành vi</a:t>
                      </a:r>
                      <a:endParaRPr sz="18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Arial"/>
                          <a:ea typeface="Arial"/>
                          <a:cs typeface="Arial"/>
                          <a:sym typeface="Arial"/>
                        </a:rPr>
                        <a:t>Cá nhân hoặc nhóm cá nhân</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Arial"/>
                          <a:ea typeface="Arial"/>
                          <a:cs typeface="Arial"/>
                          <a:sym typeface="Arial"/>
                        </a:rPr>
                        <a:t>Cá nhân hoặc tổ chức</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err="1">
                          <a:latin typeface="Arial"/>
                          <a:ea typeface="Arial"/>
                          <a:cs typeface="Arial"/>
                          <a:sym typeface="Arial"/>
                        </a:rPr>
                        <a:t>Cá</a:t>
                      </a:r>
                      <a:r>
                        <a:rPr lang="en-US" sz="1800" u="none" strike="noStrike" cap="none">
                          <a:latin typeface="Arial"/>
                          <a:ea typeface="Arial"/>
                          <a:cs typeface="Arial"/>
                          <a:sym typeface="Arial"/>
                        </a:rPr>
                        <a:t> </a:t>
                      </a:r>
                      <a:r>
                        <a:rPr lang="en-US" sz="1800" u="none" strike="noStrike" cap="none" err="1">
                          <a:latin typeface="Arial"/>
                          <a:ea typeface="Arial"/>
                          <a:cs typeface="Arial"/>
                          <a:sym typeface="Arial"/>
                        </a:rPr>
                        <a:t>nhân</a:t>
                      </a:r>
                      <a:r>
                        <a:rPr lang="en-US" sz="1800" u="none" strike="noStrike" cap="none">
                          <a:latin typeface="Arial"/>
                          <a:ea typeface="Arial"/>
                          <a:cs typeface="Arial"/>
                          <a:sym typeface="Arial"/>
                        </a:rPr>
                        <a:t> </a:t>
                      </a:r>
                      <a:r>
                        <a:rPr lang="en-US" sz="1800" u="none" strike="noStrike" cap="none" err="1">
                          <a:latin typeface="Arial"/>
                          <a:ea typeface="Arial"/>
                          <a:cs typeface="Arial"/>
                          <a:sym typeface="Arial"/>
                        </a:rPr>
                        <a:t>hoặc</a:t>
                      </a:r>
                      <a:r>
                        <a:rPr lang="en-US" sz="1800" u="none" strike="noStrike" cap="none">
                          <a:latin typeface="Arial"/>
                          <a:ea typeface="Arial"/>
                          <a:cs typeface="Arial"/>
                          <a:sym typeface="Arial"/>
                        </a:rPr>
                        <a:t> </a:t>
                      </a:r>
                      <a:r>
                        <a:rPr lang="en-US" sz="1800" u="none" strike="noStrike" cap="none" err="1">
                          <a:latin typeface="Arial"/>
                          <a:ea typeface="Arial"/>
                          <a:cs typeface="Arial"/>
                          <a:sym typeface="Arial"/>
                        </a:rPr>
                        <a:t>tổ</a:t>
                      </a:r>
                      <a:r>
                        <a:rPr lang="en-US" sz="1800" u="none" strike="noStrike" cap="none">
                          <a:latin typeface="Arial"/>
                          <a:ea typeface="Arial"/>
                          <a:cs typeface="Arial"/>
                          <a:sym typeface="Arial"/>
                        </a:rPr>
                        <a:t> </a:t>
                      </a:r>
                      <a:r>
                        <a:rPr lang="en-US" sz="1800" u="none" strike="noStrike" cap="none" err="1">
                          <a:latin typeface="Arial"/>
                          <a:ea typeface="Arial"/>
                          <a:cs typeface="Arial"/>
                          <a:sym typeface="Arial"/>
                        </a:rPr>
                        <a:t>chức</a:t>
                      </a:r>
                      <a:endParaRPr sz="1400" u="none" strike="noStrike" cap="none"/>
                    </a:p>
                  </a:txBody>
                  <a:tcPr marL="91450" marR="91450" marT="45725" marB="45725"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6"/>
          <p:cNvSpPr txBox="1">
            <a:spLocks noGrp="1"/>
          </p:cNvSpPr>
          <p:nvPr>
            <p:ph type="title"/>
          </p:nvPr>
        </p:nvSpPr>
        <p:spPr>
          <a:xfrm>
            <a:off x="838200" y="157356"/>
            <a:ext cx="10515600" cy="110909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1">
                <a:latin typeface="Arial"/>
                <a:ea typeface="Arial"/>
                <a:cs typeface="Arial"/>
                <a:sym typeface="Arial"/>
              </a:rPr>
              <a:t> </a:t>
            </a:r>
            <a:r>
              <a:rPr lang="en-US" sz="3200" b="1" err="1"/>
              <a:t>C</a:t>
            </a:r>
            <a:r>
              <a:rPr lang="en-US" sz="3200" b="1" err="1">
                <a:latin typeface="Arial"/>
                <a:ea typeface="Arial"/>
                <a:cs typeface="Arial"/>
                <a:sym typeface="Arial"/>
              </a:rPr>
              <a:t>ác</a:t>
            </a:r>
            <a:r>
              <a:rPr lang="en-US" sz="3200" b="1">
                <a:latin typeface="Arial"/>
                <a:ea typeface="Arial"/>
                <a:cs typeface="Arial"/>
                <a:sym typeface="Arial"/>
              </a:rPr>
              <a:t> </a:t>
            </a:r>
            <a:r>
              <a:rPr lang="en-US" sz="3200" b="1" err="1">
                <a:latin typeface="Arial"/>
                <a:ea typeface="Arial"/>
                <a:cs typeface="Arial"/>
                <a:sym typeface="Arial"/>
              </a:rPr>
              <a:t>vấn</a:t>
            </a:r>
            <a:r>
              <a:rPr lang="en-US" sz="3200" b="1">
                <a:latin typeface="Arial"/>
                <a:ea typeface="Arial"/>
                <a:cs typeface="Arial"/>
                <a:sym typeface="Arial"/>
              </a:rPr>
              <a:t> </a:t>
            </a:r>
            <a:r>
              <a:rPr lang="en-US" sz="3200" b="1" err="1">
                <a:latin typeface="Arial"/>
                <a:ea typeface="Arial"/>
                <a:cs typeface="Arial"/>
                <a:sym typeface="Arial"/>
              </a:rPr>
              <a:t>đề</a:t>
            </a:r>
            <a:r>
              <a:rPr lang="en-US" sz="3200" b="1">
                <a:latin typeface="Arial"/>
                <a:ea typeface="Arial"/>
                <a:cs typeface="Arial"/>
                <a:sym typeface="Arial"/>
              </a:rPr>
              <a:t> </a:t>
            </a:r>
            <a:r>
              <a:rPr lang="en-US" sz="3200" b="1" err="1">
                <a:latin typeface="Arial"/>
                <a:ea typeface="Arial"/>
                <a:cs typeface="Arial"/>
                <a:sym typeface="Arial"/>
              </a:rPr>
              <a:t>nẩy</a:t>
            </a:r>
            <a:r>
              <a:rPr lang="en-US" sz="3200" b="1">
                <a:latin typeface="Arial"/>
                <a:ea typeface="Arial"/>
                <a:cs typeface="Arial"/>
                <a:sym typeface="Arial"/>
              </a:rPr>
              <a:t> </a:t>
            </a:r>
            <a:r>
              <a:rPr lang="en-US" sz="3200" b="1" err="1">
                <a:latin typeface="Arial"/>
                <a:ea typeface="Arial"/>
                <a:cs typeface="Arial"/>
                <a:sym typeface="Arial"/>
              </a:rPr>
              <a:t>sinh</a:t>
            </a:r>
            <a:r>
              <a:rPr lang="en-US" sz="3200" b="1">
                <a:latin typeface="Arial"/>
                <a:ea typeface="Arial"/>
                <a:cs typeface="Arial"/>
                <a:sym typeface="Arial"/>
              </a:rPr>
              <a:t> </a:t>
            </a:r>
            <a:r>
              <a:rPr lang="en-US" sz="3200" b="1" err="1">
                <a:latin typeface="Arial"/>
                <a:ea typeface="Arial"/>
                <a:cs typeface="Arial"/>
                <a:sym typeface="Arial"/>
              </a:rPr>
              <a:t>trong</a:t>
            </a:r>
            <a:r>
              <a:rPr lang="en-US" sz="3200" b="1">
                <a:latin typeface="Arial"/>
                <a:ea typeface="Arial"/>
                <a:cs typeface="Arial"/>
                <a:sym typeface="Arial"/>
              </a:rPr>
              <a:t> </a:t>
            </a:r>
            <a:r>
              <a:rPr lang="en-US" sz="3200" b="1" err="1">
                <a:latin typeface="Arial"/>
                <a:ea typeface="Arial"/>
                <a:cs typeface="Arial"/>
                <a:sym typeface="Arial"/>
              </a:rPr>
              <a:t>quá</a:t>
            </a:r>
            <a:r>
              <a:rPr lang="en-US" sz="3200" b="1">
                <a:latin typeface="Arial"/>
                <a:ea typeface="Arial"/>
                <a:cs typeface="Arial"/>
                <a:sym typeface="Arial"/>
              </a:rPr>
              <a:t> </a:t>
            </a:r>
            <a:r>
              <a:rPr lang="en-US" sz="3200" b="1" err="1">
                <a:latin typeface="Arial"/>
                <a:ea typeface="Arial"/>
                <a:cs typeface="Arial"/>
                <a:sym typeface="Arial"/>
              </a:rPr>
              <a:t>trình</a:t>
            </a:r>
            <a:r>
              <a:rPr lang="en-US" sz="3200" b="1">
                <a:latin typeface="Arial"/>
                <a:ea typeface="Arial"/>
                <a:cs typeface="Arial"/>
                <a:sym typeface="Arial"/>
              </a:rPr>
              <a:t> </a:t>
            </a:r>
            <a:r>
              <a:rPr lang="en-US" sz="3200" b="1" err="1">
                <a:latin typeface="Arial"/>
                <a:ea typeface="Arial"/>
                <a:cs typeface="Arial"/>
                <a:sym typeface="Arial"/>
              </a:rPr>
              <a:t>tiêu</a:t>
            </a:r>
            <a:r>
              <a:rPr lang="en-US" sz="3200" b="1">
                <a:latin typeface="Arial"/>
                <a:ea typeface="Arial"/>
                <a:cs typeface="Arial"/>
                <a:sym typeface="Arial"/>
              </a:rPr>
              <a:t> </a:t>
            </a:r>
            <a:r>
              <a:rPr lang="en-US" sz="3200" b="1" err="1">
                <a:latin typeface="Arial"/>
                <a:ea typeface="Arial"/>
                <a:cs typeface="Arial"/>
                <a:sym typeface="Arial"/>
              </a:rPr>
              <a:t>thụ</a:t>
            </a:r>
            <a:r>
              <a:rPr lang="en-US" sz="3200" b="1">
                <a:latin typeface="Arial"/>
                <a:ea typeface="Arial"/>
                <a:cs typeface="Arial"/>
                <a:sym typeface="Arial"/>
              </a:rPr>
              <a:t> </a:t>
            </a:r>
            <a:br>
              <a:rPr lang="en-US" sz="3200" b="1">
                <a:latin typeface="Arial"/>
                <a:ea typeface="Arial"/>
                <a:cs typeface="Arial"/>
                <a:sym typeface="Arial"/>
              </a:rPr>
            </a:br>
            <a:endParaRPr sz="3200"/>
          </a:p>
        </p:txBody>
      </p:sp>
      <p:sp>
        <p:nvSpPr>
          <p:cNvPr id="167" name="Google Shape;167;p26"/>
          <p:cNvSpPr txBox="1">
            <a:spLocks noGrp="1"/>
          </p:cNvSpPr>
          <p:nvPr>
            <p:ph type="body" idx="1"/>
          </p:nvPr>
        </p:nvSpPr>
        <p:spPr>
          <a:xfrm>
            <a:off x="617220" y="1028700"/>
            <a:ext cx="10736580" cy="5150049"/>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b="1">
              <a:latin typeface="Arial"/>
              <a:ea typeface="Arial"/>
              <a:cs typeface="Arial"/>
              <a:sym typeface="Arial"/>
            </a:endParaRPr>
          </a:p>
          <a:p>
            <a:pPr marL="0" lvl="0" indent="0" algn="l" rtl="0">
              <a:lnSpc>
                <a:spcPct val="90000"/>
              </a:lnSpc>
              <a:spcBef>
                <a:spcPts val="1000"/>
              </a:spcBef>
              <a:spcAft>
                <a:spcPts val="0"/>
              </a:spcAft>
              <a:buClr>
                <a:schemeClr val="dk1"/>
              </a:buClr>
              <a:buSzPts val="2800"/>
              <a:buNone/>
            </a:pPr>
            <a:endParaRPr/>
          </a:p>
        </p:txBody>
      </p:sp>
      <p:cxnSp>
        <p:nvCxnSpPr>
          <p:cNvPr id="168" name="Google Shape;168;p26"/>
          <p:cNvCxnSpPr>
            <a:stCxn id="169" idx="3"/>
            <a:endCxn id="170" idx="1"/>
          </p:cNvCxnSpPr>
          <p:nvPr/>
        </p:nvCxnSpPr>
        <p:spPr>
          <a:xfrm>
            <a:off x="5054220" y="5246503"/>
            <a:ext cx="441900" cy="1200"/>
          </a:xfrm>
          <a:prstGeom prst="straightConnector1">
            <a:avLst/>
          </a:prstGeom>
          <a:noFill/>
          <a:ln w="9525" cap="flat" cmpd="sng">
            <a:solidFill>
              <a:srgbClr val="000000"/>
            </a:solidFill>
            <a:prstDash val="solid"/>
            <a:round/>
            <a:headEnd type="triangle" w="med" len="med"/>
            <a:tailEnd type="triangle" w="med" len="med"/>
          </a:ln>
        </p:spPr>
      </p:cxnSp>
      <p:cxnSp>
        <p:nvCxnSpPr>
          <p:cNvPr id="171" name="Google Shape;171;p26"/>
          <p:cNvCxnSpPr/>
          <p:nvPr/>
        </p:nvCxnSpPr>
        <p:spPr>
          <a:xfrm flipH="1">
            <a:off x="6746611" y="3649794"/>
            <a:ext cx="10225" cy="15474"/>
          </a:xfrm>
          <a:prstGeom prst="straightConnector1">
            <a:avLst/>
          </a:prstGeom>
          <a:noFill/>
          <a:ln w="9525" cap="flat" cmpd="sng">
            <a:solidFill>
              <a:srgbClr val="000000"/>
            </a:solidFill>
            <a:prstDash val="solid"/>
            <a:round/>
            <a:headEnd type="none" w="sm" len="sm"/>
            <a:tailEnd type="triangle" w="med" len="med"/>
          </a:ln>
        </p:spPr>
      </p:cxnSp>
      <p:grpSp>
        <p:nvGrpSpPr>
          <p:cNvPr id="172" name="Google Shape;172;p26"/>
          <p:cNvGrpSpPr/>
          <p:nvPr/>
        </p:nvGrpSpPr>
        <p:grpSpPr>
          <a:xfrm>
            <a:off x="852539" y="879331"/>
            <a:ext cx="9725391" cy="5718505"/>
            <a:chOff x="852539" y="879331"/>
            <a:chExt cx="9725391" cy="5718505"/>
          </a:xfrm>
        </p:grpSpPr>
        <p:sp>
          <p:nvSpPr>
            <p:cNvPr id="173" name="Google Shape;173;p26"/>
            <p:cNvSpPr txBox="1"/>
            <p:nvPr/>
          </p:nvSpPr>
          <p:spPr>
            <a:xfrm>
              <a:off x="1892472" y="1420248"/>
              <a:ext cx="3136306" cy="1292867"/>
            </a:xfrm>
            <a:prstGeom prst="rect">
              <a:avLst/>
            </a:prstGeom>
            <a:noFill/>
            <a:ln w="9525" cap="flat" cmpd="sng">
              <a:solidFill>
                <a:srgbClr val="000000"/>
              </a:solidFill>
              <a:prstDash val="solid"/>
              <a:miter lim="8000"/>
              <a:headEnd type="none" w="sm" len="sm"/>
              <a:tailEnd type="none" w="sm" len="sm"/>
            </a:ln>
          </p:spPr>
          <p:txBody>
            <a:bodyPr spcFirstLastPara="1" wrap="square" lIns="0" tIns="0" rIns="0" bIns="0" anchor="t" anchorCtr="0">
              <a:noAutofit/>
            </a:bodyPr>
            <a:lstStyle/>
            <a:p>
              <a:pPr marL="57150" marR="0" lvl="0" indent="0" algn="l" rtl="0">
                <a:lnSpc>
                  <a:spcPct val="125000"/>
                </a:lnSpc>
                <a:spcBef>
                  <a:spcPts val="0"/>
                </a:spcBef>
                <a:spcAft>
                  <a:spcPts val="0"/>
                </a:spcAft>
                <a:buClr>
                  <a:srgbClr val="000000"/>
                </a:buClr>
                <a:buSzPts val="1400"/>
                <a:buFont typeface="Arial"/>
                <a:buNone/>
              </a:pPr>
              <a:r>
                <a:rPr lang="en-US" sz="1400" b="1" i="0" u="none" strike="noStrike" cap="none" err="1">
                  <a:solidFill>
                    <a:srgbClr val="000000"/>
                  </a:solidFill>
                  <a:latin typeface="Arial"/>
                  <a:ea typeface="Arial"/>
                  <a:cs typeface="Arial"/>
                  <a:sym typeface="Arial"/>
                </a:rPr>
                <a:t>khách</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hàng</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quyết</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định</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sản</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phẩm</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họ</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cần</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như</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thế</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nào</a:t>
              </a:r>
              <a:r>
                <a:rPr lang="en-US" sz="1400" b="1" i="0" u="none" strike="noStrike" cap="none">
                  <a:solidFill>
                    <a:srgbClr val="000000"/>
                  </a:solidFill>
                  <a:latin typeface="Arial"/>
                  <a:ea typeface="Arial"/>
                  <a:cs typeface="Arial"/>
                  <a:sym typeface="Arial"/>
                </a:rPr>
                <a:t>?</a:t>
              </a:r>
              <a:endParaRPr sz="1400" b="1" i="0" u="none" strike="noStrike" cap="none">
                <a:solidFill>
                  <a:srgbClr val="000000"/>
                </a:solidFill>
                <a:latin typeface="Arial"/>
                <a:ea typeface="Arial"/>
                <a:cs typeface="Arial"/>
                <a:sym typeface="Arial"/>
              </a:endParaRPr>
            </a:p>
            <a:p>
              <a:pPr marL="54610" marR="0" lvl="0" indent="0" algn="l" rtl="0">
                <a:lnSpc>
                  <a:spcPct val="125000"/>
                </a:lnSpc>
                <a:spcBef>
                  <a:spcPts val="600"/>
                </a:spcBef>
                <a:spcAft>
                  <a:spcPts val="0"/>
                </a:spcAft>
                <a:buClr>
                  <a:srgbClr val="000000"/>
                </a:buClr>
                <a:buSzPts val="1400"/>
                <a:buFont typeface="Arial"/>
                <a:buNone/>
              </a:pPr>
              <a:r>
                <a:rPr lang="en-US" sz="1400" b="1" i="0" u="none" strike="noStrike" cap="none" err="1">
                  <a:solidFill>
                    <a:srgbClr val="000000"/>
                  </a:solidFill>
                  <a:latin typeface="Arial"/>
                  <a:ea typeface="Arial"/>
                  <a:cs typeface="Arial"/>
                  <a:sym typeface="Arial"/>
                </a:rPr>
                <a:t>Nguồn</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thông</a:t>
              </a:r>
              <a:r>
                <a:rPr lang="en-US" sz="1400" b="1" i="0" u="none" strike="noStrike" cap="none">
                  <a:solidFill>
                    <a:srgbClr val="000000"/>
                  </a:solidFill>
                  <a:latin typeface="Arial"/>
                  <a:ea typeface="Arial"/>
                  <a:cs typeface="Arial"/>
                  <a:sym typeface="Arial"/>
                </a:rPr>
                <a:t> tin </a:t>
              </a:r>
              <a:r>
                <a:rPr lang="en-US" sz="1400" b="1" i="0" u="none" strike="noStrike" cap="none" err="1">
                  <a:solidFill>
                    <a:srgbClr val="000000"/>
                  </a:solidFill>
                  <a:latin typeface="Arial"/>
                  <a:ea typeface="Arial"/>
                  <a:cs typeface="Arial"/>
                  <a:sym typeface="Arial"/>
                </a:rPr>
                <a:t>nào</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tốt</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nhất</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về</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các</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lựa</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chọn</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khác</a:t>
              </a:r>
              <a:r>
                <a:rPr lang="en-US" sz="1400" b="1" i="0" u="none" strike="noStrike" cap="none">
                  <a:solidFill>
                    <a:srgbClr val="000000"/>
                  </a:solidFill>
                  <a:latin typeface="Arial"/>
                  <a:ea typeface="Arial"/>
                  <a:cs typeface="Arial"/>
                  <a:sym typeface="Arial"/>
                </a:rPr>
                <a:t> </a:t>
              </a:r>
              <a:r>
                <a:rPr lang="en-US" sz="1400" b="1" i="0" u="none" strike="noStrike" cap="none" err="1">
                  <a:solidFill>
                    <a:srgbClr val="000000"/>
                  </a:solidFill>
                  <a:latin typeface="Arial"/>
                  <a:ea typeface="Arial"/>
                  <a:cs typeface="Arial"/>
                  <a:sym typeface="Arial"/>
                </a:rPr>
                <a:t>nhau</a:t>
              </a:r>
              <a:endParaRPr sz="1400" b="1" i="0" u="none" strike="noStrike" cap="none">
                <a:solidFill>
                  <a:srgbClr val="000000"/>
                </a:solidFill>
                <a:latin typeface="Arial"/>
                <a:ea typeface="Arial"/>
                <a:cs typeface="Arial"/>
                <a:sym typeface="Arial"/>
              </a:endParaRPr>
            </a:p>
          </p:txBody>
        </p:sp>
        <p:sp>
          <p:nvSpPr>
            <p:cNvPr id="174" name="Google Shape;174;p26" descr="dùng"/>
            <p:cNvSpPr txBox="1"/>
            <p:nvPr/>
          </p:nvSpPr>
          <p:spPr>
            <a:xfrm>
              <a:off x="5525307" y="1399156"/>
              <a:ext cx="3243539" cy="1334659"/>
            </a:xfrm>
            <a:prstGeom prst="rect">
              <a:avLst/>
            </a:prstGeom>
            <a:noFill/>
            <a:ln w="9525" cap="flat" cmpd="sng">
              <a:solidFill>
                <a:srgbClr val="000000"/>
              </a:solidFill>
              <a:prstDash val="solid"/>
              <a:miter lim="8000"/>
              <a:headEnd type="none" w="sm" len="sm"/>
              <a:tailEnd type="none" w="sm" len="sm"/>
            </a:ln>
          </p:spPr>
          <p:txBody>
            <a:bodyPr spcFirstLastPara="1" wrap="square" lIns="0" tIns="0" rIns="0" bIns="0" anchor="t" anchorCtr="0">
              <a:noAutofit/>
            </a:bodyPr>
            <a:lstStyle/>
            <a:p>
              <a:pPr marL="57150" marR="0" lvl="0" indent="0" algn="l" rtl="0">
                <a:lnSpc>
                  <a:spcPct val="12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Thái độ của khách hàng về các sản phẩm thay đổi như thế nào?</a:t>
              </a:r>
              <a:endParaRPr sz="1400" b="1" i="0" u="none" strike="noStrike" cap="none">
                <a:solidFill>
                  <a:srgbClr val="000000"/>
                </a:solidFill>
                <a:latin typeface="Arial"/>
                <a:ea typeface="Arial"/>
                <a:cs typeface="Arial"/>
                <a:sym typeface="Arial"/>
              </a:endParaRPr>
            </a:p>
            <a:p>
              <a:pPr marL="54610" marR="0" lvl="0" indent="0" algn="l" rtl="0">
                <a:lnSpc>
                  <a:spcPct val="125000"/>
                </a:lnSpc>
                <a:spcBef>
                  <a:spcPts val="60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khách hàng sử dụng dấu hiệu nào để biết sản phẩm vượt trội</a:t>
              </a:r>
              <a:endParaRPr sz="1400" b="1" i="0" u="none" strike="noStrike" cap="none">
                <a:solidFill>
                  <a:srgbClr val="000000"/>
                </a:solidFill>
                <a:latin typeface="Arial"/>
                <a:ea typeface="Arial"/>
                <a:cs typeface="Arial"/>
                <a:sym typeface="Arial"/>
              </a:endParaRPr>
            </a:p>
          </p:txBody>
        </p:sp>
        <p:sp>
          <p:nvSpPr>
            <p:cNvPr id="175" name="Google Shape;175;p26"/>
            <p:cNvSpPr txBox="1"/>
            <p:nvPr/>
          </p:nvSpPr>
          <p:spPr>
            <a:xfrm>
              <a:off x="1863230" y="3031126"/>
              <a:ext cx="3190990" cy="1183850"/>
            </a:xfrm>
            <a:prstGeom prst="rect">
              <a:avLst/>
            </a:prstGeom>
            <a:noFill/>
            <a:ln w="9525" cap="flat" cmpd="sng">
              <a:solidFill>
                <a:srgbClr val="000000"/>
              </a:solidFill>
              <a:prstDash val="solid"/>
              <a:miter lim="8000"/>
              <a:headEnd type="none" w="sm" len="sm"/>
              <a:tailEnd type="none" w="sm" len="sm"/>
            </a:ln>
          </p:spPr>
          <p:txBody>
            <a:bodyPr spcFirstLastPara="1" wrap="square" lIns="0" tIns="0" rIns="0" bIns="0" anchor="t" anchorCtr="0">
              <a:noAutofit/>
            </a:bodyPr>
            <a:lstStyle/>
            <a:p>
              <a:pPr marL="57150" marR="0" lvl="0" indent="0" algn="l" rtl="0">
                <a:lnSpc>
                  <a:spcPct val="12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Mua một sản phẩm có tạo trải nghiệm căng thẳng hay thú vị? Điều gì quá trình mua thể hiện khách hàng?</a:t>
              </a:r>
              <a:endParaRPr sz="1400" b="1" i="0" u="none" strike="noStrike" cap="none">
                <a:solidFill>
                  <a:srgbClr val="000000"/>
                </a:solidFill>
                <a:latin typeface="Arial"/>
                <a:ea typeface="Arial"/>
                <a:cs typeface="Arial"/>
                <a:sym typeface="Arial"/>
              </a:endParaRPr>
            </a:p>
            <a:p>
              <a:pPr marL="0" marR="0" lvl="0" indent="0" algn="l" rtl="0">
                <a:lnSpc>
                  <a:spcPct val="125000"/>
                </a:lnSpc>
                <a:spcBef>
                  <a:spcPts val="60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 </a:t>
              </a:r>
              <a:endParaRPr sz="1400" b="1" i="0" u="none" strike="noStrike" cap="none">
                <a:solidFill>
                  <a:srgbClr val="000000"/>
                </a:solidFill>
                <a:latin typeface="Arial"/>
                <a:ea typeface="Arial"/>
                <a:cs typeface="Arial"/>
                <a:sym typeface="Arial"/>
              </a:endParaRPr>
            </a:p>
          </p:txBody>
        </p:sp>
        <p:sp>
          <p:nvSpPr>
            <p:cNvPr id="176" name="Google Shape;176;p26"/>
            <p:cNvSpPr txBox="1"/>
            <p:nvPr/>
          </p:nvSpPr>
          <p:spPr>
            <a:xfrm>
              <a:off x="5525306" y="3082242"/>
              <a:ext cx="3243547" cy="1080464"/>
            </a:xfrm>
            <a:prstGeom prst="rect">
              <a:avLst/>
            </a:prstGeom>
            <a:noFill/>
            <a:ln w="9525" cap="flat" cmpd="sng">
              <a:solidFill>
                <a:srgbClr val="000000"/>
              </a:solidFill>
              <a:prstDash val="solid"/>
              <a:miter lim="8000"/>
              <a:headEnd type="none" w="sm" len="sm"/>
              <a:tailEnd type="none" w="sm" len="sm"/>
            </a:ln>
          </p:spPr>
          <p:txBody>
            <a:bodyPr spcFirstLastPara="1" wrap="square" lIns="0" tIns="0" rIns="0" bIns="0" anchor="t" anchorCtr="0">
              <a:noAutofit/>
            </a:bodyPr>
            <a:lstStyle/>
            <a:p>
              <a:pPr marL="54610" marR="0" lvl="0" indent="0" algn="l" rtl="0">
                <a:lnSpc>
                  <a:spcPct val="12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Các yếu tố tình thế như thời gian, không gian hoặc trưng bày hàng ảnh hưởng đến quyết định mua</a:t>
              </a:r>
              <a:endParaRPr sz="1400" b="1" i="0" u="none" strike="noStrike" cap="none">
                <a:solidFill>
                  <a:srgbClr val="000000"/>
                </a:solidFill>
                <a:latin typeface="Arial"/>
                <a:ea typeface="Arial"/>
                <a:cs typeface="Arial"/>
                <a:sym typeface="Arial"/>
              </a:endParaRPr>
            </a:p>
          </p:txBody>
        </p:sp>
        <p:sp>
          <p:nvSpPr>
            <p:cNvPr id="169" name="Google Shape;169;p26"/>
            <p:cNvSpPr txBox="1"/>
            <p:nvPr/>
          </p:nvSpPr>
          <p:spPr>
            <a:xfrm>
              <a:off x="1863229" y="4519441"/>
              <a:ext cx="3190991" cy="1454124"/>
            </a:xfrm>
            <a:prstGeom prst="rect">
              <a:avLst/>
            </a:prstGeom>
            <a:noFill/>
            <a:ln w="9525" cap="flat" cmpd="sng">
              <a:solidFill>
                <a:srgbClr val="000000"/>
              </a:solidFill>
              <a:prstDash val="solid"/>
              <a:miter lim="8000"/>
              <a:headEnd type="none" w="sm" len="sm"/>
              <a:tailEnd type="none" w="sm" len="sm"/>
            </a:ln>
          </p:spPr>
          <p:txBody>
            <a:bodyPr spcFirstLastPara="1" wrap="square" lIns="0" tIns="0" rIns="0" bIns="0" anchor="t" anchorCtr="0">
              <a:noAutofit/>
            </a:bodyPr>
            <a:lstStyle/>
            <a:p>
              <a:pPr marL="57150" marR="0" lvl="0" indent="0" algn="l" rtl="0">
                <a:lnSpc>
                  <a:spcPct val="12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Sản phẩm có mang lại niềm vui hoặc thể hiện chức năng của nó?</a:t>
              </a:r>
              <a:endParaRPr sz="1400" b="1" i="0" u="none" strike="noStrike" cap="none">
                <a:solidFill>
                  <a:srgbClr val="000000"/>
                </a:solidFill>
                <a:latin typeface="Arial"/>
                <a:ea typeface="Arial"/>
                <a:cs typeface="Arial"/>
                <a:sym typeface="Arial"/>
              </a:endParaRPr>
            </a:p>
            <a:p>
              <a:pPr marL="57150" marR="0" lvl="0" indent="0" algn="l" rtl="0">
                <a:lnSpc>
                  <a:spcPct val="125000"/>
                </a:lnSpc>
                <a:spcBef>
                  <a:spcPts val="60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Sản phẩm tác động đến môi trường như thế nào trong hoạt động</a:t>
              </a:r>
              <a:endParaRPr sz="1400" b="1" i="0" u="none" strike="noStrike" cap="none">
                <a:solidFill>
                  <a:srgbClr val="000000"/>
                </a:solidFill>
                <a:latin typeface="Arial"/>
                <a:ea typeface="Arial"/>
                <a:cs typeface="Arial"/>
                <a:sym typeface="Arial"/>
              </a:endParaRPr>
            </a:p>
          </p:txBody>
        </p:sp>
        <p:sp>
          <p:nvSpPr>
            <p:cNvPr id="177" name="Google Shape;177;p26"/>
            <p:cNvSpPr txBox="1"/>
            <p:nvPr/>
          </p:nvSpPr>
          <p:spPr>
            <a:xfrm>
              <a:off x="5496132" y="4497072"/>
              <a:ext cx="3301888" cy="1500427"/>
            </a:xfrm>
            <a:prstGeom prst="rect">
              <a:avLst/>
            </a:prstGeom>
            <a:noFill/>
            <a:ln w="9525" cap="flat" cmpd="sng">
              <a:solidFill>
                <a:srgbClr val="000000"/>
              </a:solidFill>
              <a:prstDash val="solid"/>
              <a:miter lim="8000"/>
              <a:headEnd type="none" w="sm" len="sm"/>
              <a:tailEnd type="none" w="sm" len="sm"/>
            </a:ln>
          </p:spPr>
          <p:txBody>
            <a:bodyPr spcFirstLastPara="1" wrap="square" lIns="0" tIns="0" rIns="0" bIns="0" anchor="t" anchorCtr="0">
              <a:noAutofit/>
            </a:bodyPr>
            <a:lstStyle/>
            <a:p>
              <a:pPr marL="54610" marR="0" lvl="0" indent="0" algn="l" rtl="0">
                <a:lnSpc>
                  <a:spcPct val="12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Điều gì xác định khách hàng có hài lòng với sản phẩm? Liệu họ có mua lại.</a:t>
              </a:r>
              <a:endParaRPr sz="1400" b="1" i="0" u="none" strike="noStrike" cap="none">
                <a:solidFill>
                  <a:srgbClr val="000000"/>
                </a:solidFill>
                <a:latin typeface="Arial"/>
                <a:ea typeface="Arial"/>
                <a:cs typeface="Arial"/>
                <a:sym typeface="Arial"/>
              </a:endParaRPr>
            </a:p>
            <a:p>
              <a:pPr marL="54610" marR="0" lvl="0" indent="0" algn="l" rtl="0">
                <a:lnSpc>
                  <a:spcPct val="125000"/>
                </a:lnSpc>
                <a:spcBef>
                  <a:spcPts val="60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Mọi người nói với người khác như thế nào về quyết định mua sản phẩm</a:t>
              </a:r>
              <a:endParaRPr sz="1400" b="1" i="0" u="none" strike="noStrike" cap="none">
                <a:solidFill>
                  <a:srgbClr val="000000"/>
                </a:solidFill>
                <a:latin typeface="Arial"/>
                <a:ea typeface="Arial"/>
                <a:cs typeface="Arial"/>
                <a:sym typeface="Arial"/>
              </a:endParaRPr>
            </a:p>
          </p:txBody>
        </p:sp>
        <p:cxnSp>
          <p:nvCxnSpPr>
            <p:cNvPr id="178" name="Google Shape;178;p26"/>
            <p:cNvCxnSpPr>
              <a:stCxn id="173" idx="3"/>
              <a:endCxn id="174" idx="1"/>
            </p:cNvCxnSpPr>
            <p:nvPr/>
          </p:nvCxnSpPr>
          <p:spPr>
            <a:xfrm rot="10800000" flipH="1">
              <a:off x="5028778" y="2066382"/>
              <a:ext cx="496500" cy="300"/>
            </a:xfrm>
            <a:prstGeom prst="straightConnector1">
              <a:avLst/>
            </a:prstGeom>
            <a:noFill/>
            <a:ln w="9525" cap="flat" cmpd="sng">
              <a:solidFill>
                <a:srgbClr val="000000"/>
              </a:solidFill>
              <a:prstDash val="solid"/>
              <a:round/>
              <a:headEnd type="triangle" w="med" len="med"/>
              <a:tailEnd type="triangle" w="med" len="med"/>
            </a:ln>
          </p:spPr>
        </p:cxnSp>
        <p:cxnSp>
          <p:nvCxnSpPr>
            <p:cNvPr id="179" name="Google Shape;179;p26"/>
            <p:cNvCxnSpPr>
              <a:stCxn id="175" idx="2"/>
              <a:endCxn id="169" idx="0"/>
            </p:cNvCxnSpPr>
            <p:nvPr/>
          </p:nvCxnSpPr>
          <p:spPr>
            <a:xfrm>
              <a:off x="3458725" y="4214976"/>
              <a:ext cx="0" cy="304500"/>
            </a:xfrm>
            <a:prstGeom prst="straightConnector1">
              <a:avLst/>
            </a:prstGeom>
            <a:noFill/>
            <a:ln w="9525" cap="flat" cmpd="sng">
              <a:solidFill>
                <a:srgbClr val="000000"/>
              </a:solidFill>
              <a:prstDash val="solid"/>
              <a:round/>
              <a:headEnd type="none" w="sm" len="sm"/>
              <a:tailEnd type="triangle" w="med" len="med"/>
            </a:ln>
          </p:spPr>
        </p:cxnSp>
        <p:cxnSp>
          <p:nvCxnSpPr>
            <p:cNvPr id="180" name="Google Shape;180;p26"/>
            <p:cNvCxnSpPr>
              <a:stCxn id="176" idx="2"/>
              <a:endCxn id="170" idx="0"/>
            </p:cNvCxnSpPr>
            <p:nvPr/>
          </p:nvCxnSpPr>
          <p:spPr>
            <a:xfrm>
              <a:off x="7147080" y="4162706"/>
              <a:ext cx="0" cy="334800"/>
            </a:xfrm>
            <a:prstGeom prst="straightConnector1">
              <a:avLst/>
            </a:prstGeom>
            <a:noFill/>
            <a:ln w="9525" cap="flat" cmpd="sng">
              <a:solidFill>
                <a:srgbClr val="000000"/>
              </a:solidFill>
              <a:prstDash val="solid"/>
              <a:round/>
              <a:headEnd type="none" w="sm" len="sm"/>
              <a:tailEnd type="triangle" w="med" len="med"/>
            </a:ln>
          </p:spPr>
        </p:cxnSp>
        <p:sp>
          <p:nvSpPr>
            <p:cNvPr id="181" name="Google Shape;181;p26"/>
            <p:cNvSpPr txBox="1"/>
            <p:nvPr/>
          </p:nvSpPr>
          <p:spPr>
            <a:xfrm>
              <a:off x="1863229" y="897002"/>
              <a:ext cx="3102526" cy="506642"/>
            </a:xfrm>
            <a:prstGeom prst="rect">
              <a:avLst/>
            </a:prstGeom>
            <a:noFill/>
            <a:ln>
              <a:noFill/>
            </a:ln>
          </p:spPr>
          <p:txBody>
            <a:bodyPr spcFirstLastPara="1" wrap="square" lIns="0" tIns="0" rIns="0" bIns="0" anchor="t" anchorCtr="0">
              <a:noAutofit/>
            </a:bodyPr>
            <a:lstStyle/>
            <a:p>
              <a:pPr marL="54610" marR="0" lvl="0" indent="0" algn="ctr" rtl="0">
                <a:lnSpc>
                  <a:spcPct val="125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Quan điểm khách hàng</a:t>
              </a:r>
              <a:endParaRPr sz="1600" b="1" i="0" u="none" strike="noStrike" cap="none">
                <a:solidFill>
                  <a:srgbClr val="000000"/>
                </a:solidFill>
                <a:latin typeface="Arial"/>
                <a:ea typeface="Arial"/>
                <a:cs typeface="Arial"/>
                <a:sym typeface="Arial"/>
              </a:endParaRPr>
            </a:p>
          </p:txBody>
        </p:sp>
        <p:sp>
          <p:nvSpPr>
            <p:cNvPr id="182" name="Google Shape;182;p26"/>
            <p:cNvSpPr txBox="1"/>
            <p:nvPr/>
          </p:nvSpPr>
          <p:spPr>
            <a:xfrm>
              <a:off x="5715234" y="879331"/>
              <a:ext cx="2733592" cy="506642"/>
            </a:xfrm>
            <a:prstGeom prst="rect">
              <a:avLst/>
            </a:prstGeom>
            <a:noFill/>
            <a:ln>
              <a:noFill/>
            </a:ln>
          </p:spPr>
          <p:txBody>
            <a:bodyPr spcFirstLastPara="1" wrap="square" lIns="0" tIns="0" rIns="0" bIns="0" anchor="t" anchorCtr="0">
              <a:noAutofit/>
            </a:bodyPr>
            <a:lstStyle/>
            <a:p>
              <a:pPr marL="54610" marR="0" lvl="0" indent="0" algn="ctr" rtl="0">
                <a:lnSpc>
                  <a:spcPct val="125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Quan điểm của marketer</a:t>
              </a:r>
              <a:endParaRPr sz="1600" b="1" i="0" u="none" strike="noStrike" cap="none">
                <a:solidFill>
                  <a:srgbClr val="000000"/>
                </a:solidFill>
                <a:latin typeface="Arial"/>
                <a:ea typeface="Arial"/>
                <a:cs typeface="Arial"/>
                <a:sym typeface="Arial"/>
              </a:endParaRPr>
            </a:p>
          </p:txBody>
        </p:sp>
        <p:sp>
          <p:nvSpPr>
            <p:cNvPr id="183" name="Google Shape;183;p26"/>
            <p:cNvSpPr txBox="1"/>
            <p:nvPr/>
          </p:nvSpPr>
          <p:spPr>
            <a:xfrm>
              <a:off x="986842" y="1594574"/>
              <a:ext cx="724928" cy="700234"/>
            </a:xfrm>
            <a:prstGeom prst="rect">
              <a:avLst/>
            </a:prstGeom>
            <a:noFill/>
            <a:ln>
              <a:noFill/>
            </a:ln>
          </p:spPr>
          <p:txBody>
            <a:bodyPr spcFirstLastPara="1" wrap="square" lIns="0" tIns="0" rIns="0" bIns="0" anchor="t" anchorCtr="0">
              <a:noAutofit/>
            </a:bodyPr>
            <a:lstStyle/>
            <a:p>
              <a:pPr marL="54610" marR="0" lvl="0" indent="0" algn="ctr" rtl="0">
                <a:lnSpc>
                  <a:spcPct val="12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Trước mua</a:t>
              </a:r>
              <a:endParaRPr sz="1400" b="1" i="0" u="none" strike="noStrike" cap="none">
                <a:solidFill>
                  <a:srgbClr val="000000"/>
                </a:solidFill>
                <a:latin typeface="Arial"/>
                <a:ea typeface="Arial"/>
                <a:cs typeface="Arial"/>
                <a:sym typeface="Arial"/>
              </a:endParaRPr>
            </a:p>
          </p:txBody>
        </p:sp>
        <p:sp>
          <p:nvSpPr>
            <p:cNvPr id="184" name="Google Shape;184;p26"/>
            <p:cNvSpPr txBox="1"/>
            <p:nvPr/>
          </p:nvSpPr>
          <p:spPr>
            <a:xfrm>
              <a:off x="939826" y="3143341"/>
              <a:ext cx="696123" cy="816969"/>
            </a:xfrm>
            <a:prstGeom prst="rect">
              <a:avLst/>
            </a:prstGeom>
            <a:noFill/>
            <a:ln>
              <a:noFill/>
            </a:ln>
          </p:spPr>
          <p:txBody>
            <a:bodyPr spcFirstLastPara="1" wrap="square" lIns="0" tIns="0" rIns="0" bIns="0" anchor="t" anchorCtr="0">
              <a:noAutofit/>
            </a:bodyPr>
            <a:lstStyle/>
            <a:p>
              <a:pPr marL="54610" marR="0" lvl="0" indent="0" algn="ctr" rtl="0">
                <a:lnSpc>
                  <a:spcPct val="12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Khi mua</a:t>
              </a:r>
              <a:endParaRPr sz="1400" b="1" i="0" u="none" strike="noStrike" cap="none">
                <a:solidFill>
                  <a:srgbClr val="000000"/>
                </a:solidFill>
                <a:latin typeface="Arial"/>
                <a:ea typeface="Arial"/>
                <a:cs typeface="Arial"/>
                <a:sym typeface="Arial"/>
              </a:endParaRPr>
            </a:p>
          </p:txBody>
        </p:sp>
        <p:sp>
          <p:nvSpPr>
            <p:cNvPr id="185" name="Google Shape;185;p26"/>
            <p:cNvSpPr txBox="1"/>
            <p:nvPr/>
          </p:nvSpPr>
          <p:spPr>
            <a:xfrm>
              <a:off x="939826" y="4808843"/>
              <a:ext cx="696123" cy="719874"/>
            </a:xfrm>
            <a:prstGeom prst="rect">
              <a:avLst/>
            </a:prstGeom>
            <a:noFill/>
            <a:ln>
              <a:noFill/>
            </a:ln>
          </p:spPr>
          <p:txBody>
            <a:bodyPr spcFirstLastPara="1" wrap="square" lIns="0" tIns="0" rIns="0" bIns="0" anchor="t" anchorCtr="0">
              <a:noAutofit/>
            </a:bodyPr>
            <a:lstStyle/>
            <a:p>
              <a:pPr marL="54610" marR="0" lvl="0" indent="0" algn="ctr" rtl="0">
                <a:lnSpc>
                  <a:spcPct val="12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Sau mua</a:t>
              </a:r>
              <a:endParaRPr sz="1400" b="1" i="0" u="none" strike="noStrike" cap="none">
                <a:solidFill>
                  <a:srgbClr val="000000"/>
                </a:solidFill>
                <a:latin typeface="Arial"/>
                <a:ea typeface="Arial"/>
                <a:cs typeface="Arial"/>
                <a:sym typeface="Arial"/>
              </a:endParaRPr>
            </a:p>
          </p:txBody>
        </p:sp>
        <p:sp>
          <p:nvSpPr>
            <p:cNvPr id="186" name="Google Shape;186;p26"/>
            <p:cNvSpPr txBox="1"/>
            <p:nvPr/>
          </p:nvSpPr>
          <p:spPr>
            <a:xfrm>
              <a:off x="852539" y="6251587"/>
              <a:ext cx="9725391" cy="346249"/>
            </a:xfrm>
            <a:prstGeom prst="rect">
              <a:avLst/>
            </a:prstGeom>
            <a:solidFill>
              <a:srgbClr val="FFFFFF"/>
            </a:solidFill>
            <a:ln>
              <a:noFill/>
            </a:ln>
          </p:spPr>
          <p:txBody>
            <a:bodyPr spcFirstLastPara="1" wrap="square" lIns="0" tIns="0" rIns="0" bIns="0" anchor="t" anchorCtr="0">
              <a:spAutoFit/>
            </a:bodyPr>
            <a:lstStyle/>
            <a:p>
              <a:pPr marL="0" marR="0" lvl="0" indent="0" algn="ctr" rtl="0">
                <a:lnSpc>
                  <a:spcPct val="125000"/>
                </a:lnSpc>
                <a:spcBef>
                  <a:spcPts val="0"/>
                </a:spcBef>
                <a:spcAft>
                  <a:spcPts val="0"/>
                </a:spcAft>
                <a:buClr>
                  <a:srgbClr val="000000"/>
                </a:buClr>
                <a:buSzPts val="1800"/>
                <a:buFont typeface="Arial"/>
                <a:buNone/>
              </a:pPr>
              <a:r>
                <a:rPr lang="en-US" sz="1800" b="1" i="0" u="none" strike="noStrike" cap="none" err="1">
                  <a:solidFill>
                    <a:srgbClr val="000000"/>
                  </a:solidFill>
                  <a:latin typeface="Arial"/>
                  <a:ea typeface="Arial"/>
                  <a:cs typeface="Arial"/>
                  <a:sym typeface="Arial"/>
                </a:rPr>
                <a:t>Hình</a:t>
              </a:r>
              <a:r>
                <a:rPr lang="en-US" sz="1800" b="1" i="0" u="none" strike="noStrike" cap="none">
                  <a:solidFill>
                    <a:srgbClr val="000000"/>
                  </a:solidFill>
                  <a:latin typeface="Arial"/>
                  <a:ea typeface="Arial"/>
                  <a:cs typeface="Arial"/>
                  <a:sym typeface="Arial"/>
                </a:rPr>
                <a:t> 1.1: </a:t>
              </a:r>
              <a:r>
                <a:rPr lang="en-US" sz="1800" b="1" i="0" u="none" strike="noStrike" cap="none" err="1">
                  <a:solidFill>
                    <a:srgbClr val="000000"/>
                  </a:solidFill>
                  <a:latin typeface="Arial"/>
                  <a:ea typeface="Arial"/>
                  <a:cs typeface="Arial"/>
                  <a:sym typeface="Arial"/>
                </a:rPr>
                <a:t>Các</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vấn</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đề</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nẩy</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sinh</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trong</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quá</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trình</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tiêu</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thụ</a:t>
              </a:r>
              <a:endParaRPr sz="1800" b="1" i="0" u="none" strike="noStrike" cap="none">
                <a:solidFill>
                  <a:srgbClr val="000000"/>
                </a:solidFill>
                <a:latin typeface="Arial"/>
                <a:ea typeface="Arial"/>
                <a:cs typeface="Arial"/>
                <a:sym typeface="Arial"/>
              </a:endParaRPr>
            </a:p>
          </p:txBody>
        </p:sp>
        <p:cxnSp>
          <p:nvCxnSpPr>
            <p:cNvPr id="187" name="Google Shape;187;p26"/>
            <p:cNvCxnSpPr>
              <a:stCxn id="175" idx="3"/>
              <a:endCxn id="176" idx="1"/>
            </p:cNvCxnSpPr>
            <p:nvPr/>
          </p:nvCxnSpPr>
          <p:spPr>
            <a:xfrm rot="10800000" flipH="1">
              <a:off x="5054220" y="3622451"/>
              <a:ext cx="471000" cy="600"/>
            </a:xfrm>
            <a:prstGeom prst="straightConnector1">
              <a:avLst/>
            </a:prstGeom>
            <a:noFill/>
            <a:ln w="9525" cap="flat" cmpd="sng">
              <a:solidFill>
                <a:srgbClr val="000000"/>
              </a:solidFill>
              <a:prstDash val="solid"/>
              <a:round/>
              <a:headEnd type="triangle" w="med" len="med"/>
              <a:tailEnd type="triangle" w="med" len="med"/>
            </a:ln>
          </p:spPr>
        </p:cxnSp>
      </p:grpSp>
      <p:cxnSp>
        <p:nvCxnSpPr>
          <p:cNvPr id="188" name="Google Shape;188;p26"/>
          <p:cNvCxnSpPr>
            <a:stCxn id="174" idx="2"/>
            <a:endCxn id="176" idx="0"/>
          </p:cNvCxnSpPr>
          <p:nvPr/>
        </p:nvCxnSpPr>
        <p:spPr>
          <a:xfrm>
            <a:off x="7147077" y="2733815"/>
            <a:ext cx="0" cy="348300"/>
          </a:xfrm>
          <a:prstGeom prst="straightConnector1">
            <a:avLst/>
          </a:prstGeom>
          <a:noFill/>
          <a:ln w="9525" cap="flat" cmpd="sng">
            <a:solidFill>
              <a:srgbClr val="000000"/>
            </a:solidFill>
            <a:prstDash val="solid"/>
            <a:round/>
            <a:headEnd type="none" w="sm" len="sm"/>
            <a:tailEnd type="triangle" w="med" len="med"/>
          </a:ln>
        </p:spPr>
      </p:cxnSp>
      <p:pic>
        <p:nvPicPr>
          <p:cNvPr id="189" name="Google Shape;189;p26" descr="Sản xuất xanh trong xu hướng tiêu dùng xanh, phát triển bền vững"/>
          <p:cNvPicPr preferRelativeResize="0"/>
          <p:nvPr/>
        </p:nvPicPr>
        <p:blipFill rotWithShape="1">
          <a:blip r:embed="rId3">
            <a:alphaModFix/>
          </a:blip>
          <a:srcRect/>
          <a:stretch/>
        </p:blipFill>
        <p:spPr>
          <a:xfrm>
            <a:off x="8872441" y="2579602"/>
            <a:ext cx="2977888" cy="2286000"/>
          </a:xfrm>
          <a:prstGeom prst="rect">
            <a:avLst/>
          </a:prstGeom>
          <a:noFill/>
          <a:ln>
            <a:noFill/>
          </a:ln>
        </p:spPr>
      </p:pic>
      <p:sp>
        <p:nvSpPr>
          <p:cNvPr id="170" name="Google Shape;170;p26"/>
          <p:cNvSpPr/>
          <p:nvPr/>
        </p:nvSpPr>
        <p:spPr>
          <a:xfrm>
            <a:off x="5496132" y="4497587"/>
            <a:ext cx="3301888" cy="1500427"/>
          </a:xfrm>
          <a:prstGeom prst="rect">
            <a:avLst/>
          </a:prstGeom>
          <a:solidFill>
            <a:schemeClr val="lt1"/>
          </a:solidFill>
          <a:ln w="9525"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err="1">
                <a:solidFill>
                  <a:schemeClr val="dk1"/>
                </a:solidFill>
                <a:latin typeface="Arial"/>
                <a:ea typeface="Arial"/>
                <a:cs typeface="Arial"/>
                <a:sym typeface="Arial"/>
              </a:rPr>
              <a:t>Điều</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gì</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xác</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định</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khách</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hàng</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có</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hài</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lòng</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với</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sản</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phẩm</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Liệu</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họ</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có</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mua</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lại</a:t>
            </a:r>
            <a:endParaRPr sz="1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err="1">
                <a:solidFill>
                  <a:schemeClr val="dk1"/>
                </a:solidFill>
                <a:latin typeface="Arial"/>
                <a:ea typeface="Arial"/>
                <a:cs typeface="Arial"/>
                <a:sym typeface="Arial"/>
              </a:rPr>
              <a:t>Mọi</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người</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nói</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với</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người</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khác</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như</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thế</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nào</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về</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quyết</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định</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mua</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sản</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phẩm</a:t>
            </a:r>
            <a:endParaRPr sz="1600" b="1" i="0" u="none" strike="noStrike" cap="none">
              <a:solidFill>
                <a:schemeClr val="dk1"/>
              </a:solidFill>
              <a:latin typeface="Arial"/>
              <a:ea typeface="Arial"/>
              <a:cs typeface="Arial"/>
              <a:sym typeface="Arial"/>
            </a:endParaRPr>
          </a:p>
        </p:txBody>
      </p:sp>
      <p:cxnSp>
        <p:nvCxnSpPr>
          <p:cNvPr id="190" name="Google Shape;190;p26"/>
          <p:cNvCxnSpPr>
            <a:stCxn id="173" idx="2"/>
            <a:endCxn id="175" idx="0"/>
          </p:cNvCxnSpPr>
          <p:nvPr/>
        </p:nvCxnSpPr>
        <p:spPr>
          <a:xfrm flipH="1">
            <a:off x="3458825" y="2713115"/>
            <a:ext cx="1800" cy="318000"/>
          </a:xfrm>
          <a:prstGeom prst="straightConnector1">
            <a:avLst/>
          </a:prstGeom>
          <a:noFill/>
          <a:ln w="9525" cap="flat" cmpd="sng">
            <a:solidFill>
              <a:srgbClr val="000000"/>
            </a:solidFill>
            <a:prstDash val="solid"/>
            <a:round/>
            <a:headEnd type="none" w="sm" len="sm"/>
            <a:tailEnd type="triangl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1" err="1"/>
              <a:t>Khái</a:t>
            </a:r>
            <a:r>
              <a:rPr lang="en-US" sz="3200" b="1"/>
              <a:t> </a:t>
            </a:r>
            <a:r>
              <a:rPr lang="en-US" sz="3200" b="1" err="1"/>
              <a:t>niệm</a:t>
            </a:r>
            <a:r>
              <a:rPr lang="en-US" sz="3200" b="1"/>
              <a:t> </a:t>
            </a:r>
            <a:r>
              <a:rPr lang="en-US" sz="3200" b="1" err="1"/>
              <a:t>về</a:t>
            </a:r>
            <a:r>
              <a:rPr lang="en-US" sz="3200" b="1">
                <a:latin typeface="Arial"/>
                <a:ea typeface="Arial"/>
                <a:cs typeface="Arial"/>
                <a:sym typeface="Arial"/>
              </a:rPr>
              <a:t> </a:t>
            </a:r>
            <a:r>
              <a:rPr lang="en-US" sz="3200" b="1" err="1">
                <a:latin typeface="Arial"/>
                <a:ea typeface="Arial"/>
                <a:cs typeface="Arial"/>
                <a:sym typeface="Arial"/>
              </a:rPr>
              <a:t>Hành</a:t>
            </a:r>
            <a:r>
              <a:rPr lang="en-US" sz="3200" b="1">
                <a:latin typeface="Arial"/>
                <a:ea typeface="Arial"/>
                <a:cs typeface="Arial"/>
                <a:sym typeface="Arial"/>
              </a:rPr>
              <a:t> vi </a:t>
            </a:r>
            <a:r>
              <a:rPr lang="en-US" sz="3200" b="1" err="1">
                <a:latin typeface="Arial"/>
                <a:ea typeface="Arial"/>
                <a:cs typeface="Arial"/>
                <a:sym typeface="Arial"/>
              </a:rPr>
              <a:t>khách</a:t>
            </a:r>
            <a:r>
              <a:rPr lang="en-US" sz="3200" b="1">
                <a:latin typeface="Arial"/>
                <a:ea typeface="Arial"/>
                <a:cs typeface="Arial"/>
                <a:sym typeface="Arial"/>
              </a:rPr>
              <a:t> </a:t>
            </a:r>
            <a:r>
              <a:rPr lang="en-US" sz="3200" b="1" err="1">
                <a:latin typeface="Arial"/>
                <a:ea typeface="Arial"/>
                <a:cs typeface="Arial"/>
                <a:sym typeface="Arial"/>
              </a:rPr>
              <a:t>hàng</a:t>
            </a:r>
            <a:br>
              <a:rPr lang="en-US" sz="3200" b="1">
                <a:latin typeface="Arial"/>
                <a:ea typeface="Arial"/>
                <a:cs typeface="Arial"/>
                <a:sym typeface="Arial"/>
              </a:rPr>
            </a:br>
            <a:endParaRPr sz="3200"/>
          </a:p>
        </p:txBody>
      </p:sp>
      <p:sp>
        <p:nvSpPr>
          <p:cNvPr id="160" name="Google Shape;160;p25"/>
          <p:cNvSpPr txBox="1">
            <a:spLocks noGrp="1"/>
          </p:cNvSpPr>
          <p:nvPr>
            <p:ph type="body" idx="1"/>
          </p:nvPr>
        </p:nvSpPr>
        <p:spPr>
          <a:xfrm>
            <a:off x="838200" y="1348740"/>
            <a:ext cx="10515600" cy="4485323"/>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chemeClr val="dk1"/>
              </a:buClr>
              <a:buSzPts val="2800"/>
              <a:buNone/>
            </a:pPr>
            <a:r>
              <a:rPr lang="en-US" err="1">
                <a:latin typeface="Arial"/>
                <a:ea typeface="Arial"/>
                <a:cs typeface="Arial"/>
                <a:sym typeface="Arial"/>
              </a:rPr>
              <a:t>Hành</a:t>
            </a:r>
            <a:r>
              <a:rPr lang="en-US">
                <a:latin typeface="Arial"/>
                <a:ea typeface="Arial"/>
                <a:cs typeface="Arial"/>
                <a:sym typeface="Arial"/>
              </a:rPr>
              <a:t> vi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khách</a:t>
            </a:r>
            <a:r>
              <a:rPr lang="en-US">
                <a:latin typeface="Arial"/>
                <a:ea typeface="Arial"/>
                <a:cs typeface="Arial"/>
                <a:sym typeface="Arial"/>
              </a:rPr>
              <a:t> </a:t>
            </a:r>
            <a:r>
              <a:rPr lang="en-US" err="1">
                <a:latin typeface="Arial"/>
                <a:ea typeface="Arial"/>
                <a:cs typeface="Arial"/>
                <a:sym typeface="Arial"/>
              </a:rPr>
              <a:t>hàng</a:t>
            </a:r>
            <a:r>
              <a:rPr lang="en-US">
                <a:latin typeface="Arial"/>
                <a:ea typeface="Arial"/>
                <a:cs typeface="Arial"/>
                <a:sym typeface="Arial"/>
              </a:rPr>
              <a:t> </a:t>
            </a:r>
            <a:r>
              <a:rPr lang="en-US" err="1">
                <a:latin typeface="Arial"/>
                <a:ea typeface="Arial"/>
                <a:cs typeface="Arial"/>
                <a:sym typeface="Arial"/>
              </a:rPr>
              <a:t>là</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hoạt</a:t>
            </a:r>
            <a:r>
              <a:rPr lang="en-US">
                <a:latin typeface="Arial"/>
                <a:ea typeface="Arial"/>
                <a:cs typeface="Arial"/>
                <a:sym typeface="Arial"/>
              </a:rPr>
              <a:t> </a:t>
            </a:r>
            <a:r>
              <a:rPr lang="en-US" err="1">
                <a:latin typeface="Arial"/>
                <a:ea typeface="Arial"/>
                <a:cs typeface="Arial"/>
                <a:sym typeface="Arial"/>
              </a:rPr>
              <a:t>động</a:t>
            </a:r>
            <a:r>
              <a:rPr lang="en-US">
                <a:latin typeface="Arial"/>
                <a:ea typeface="Arial"/>
                <a:cs typeface="Arial"/>
                <a:sym typeface="Arial"/>
              </a:rPr>
              <a:t> </a:t>
            </a:r>
            <a:r>
              <a:rPr lang="en-US" err="1">
                <a:latin typeface="Arial"/>
                <a:ea typeface="Arial"/>
                <a:cs typeface="Arial"/>
                <a:sym typeface="Arial"/>
              </a:rPr>
              <a:t>tinh</a:t>
            </a:r>
            <a:r>
              <a:rPr lang="en-US">
                <a:latin typeface="Arial"/>
                <a:ea typeface="Arial"/>
                <a:cs typeface="Arial"/>
                <a:sym typeface="Arial"/>
              </a:rPr>
              <a:t> </a:t>
            </a:r>
            <a:r>
              <a:rPr lang="en-US" err="1">
                <a:latin typeface="Arial"/>
                <a:ea typeface="Arial"/>
                <a:cs typeface="Arial"/>
                <a:sym typeface="Arial"/>
              </a:rPr>
              <a:t>thần</a:t>
            </a:r>
            <a:r>
              <a:rPr lang="en-US">
                <a:latin typeface="Arial"/>
                <a:ea typeface="Arial"/>
                <a:cs typeface="Arial"/>
                <a:sym typeface="Arial"/>
              </a:rPr>
              <a:t>, </a:t>
            </a:r>
            <a:r>
              <a:rPr lang="en-US" err="1">
                <a:latin typeface="Arial"/>
                <a:ea typeface="Arial"/>
                <a:cs typeface="Arial"/>
                <a:sym typeface="Arial"/>
              </a:rPr>
              <a:t>cảm</a:t>
            </a:r>
            <a:r>
              <a:rPr lang="en-US">
                <a:latin typeface="Arial"/>
                <a:ea typeface="Arial"/>
                <a:cs typeface="Arial"/>
                <a:sym typeface="Arial"/>
              </a:rPr>
              <a:t> </a:t>
            </a:r>
            <a:r>
              <a:rPr lang="en-US" err="1">
                <a:latin typeface="Arial"/>
                <a:ea typeface="Arial"/>
                <a:cs typeface="Arial"/>
                <a:sym typeface="Arial"/>
              </a:rPr>
              <a:t>xúc</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thể</a:t>
            </a:r>
            <a:r>
              <a:rPr lang="en-US">
                <a:latin typeface="Arial"/>
                <a:ea typeface="Arial"/>
                <a:cs typeface="Arial"/>
                <a:sym typeface="Arial"/>
              </a:rPr>
              <a:t> </a:t>
            </a:r>
            <a:r>
              <a:rPr lang="en-US" err="1">
                <a:latin typeface="Arial"/>
                <a:ea typeface="Arial"/>
                <a:cs typeface="Arial"/>
                <a:sym typeface="Arial"/>
              </a:rPr>
              <a:t>chất</a:t>
            </a:r>
            <a:r>
              <a:rPr lang="en-US"/>
              <a:t> </a:t>
            </a:r>
            <a:r>
              <a:rPr lang="en-US" err="1"/>
              <a:t>của</a:t>
            </a:r>
            <a:r>
              <a:rPr lang="en-US">
                <a:latin typeface="Arial"/>
                <a:ea typeface="Arial"/>
                <a:cs typeface="Arial"/>
                <a:sym typeface="Arial"/>
              </a:rPr>
              <a:t> </a:t>
            </a:r>
            <a:r>
              <a:rPr lang="en-US" err="1">
                <a:latin typeface="Arial"/>
                <a:ea typeface="Arial"/>
                <a:cs typeface="Arial"/>
                <a:sym typeface="Arial"/>
              </a:rPr>
              <a:t>mọi</a:t>
            </a:r>
            <a:r>
              <a:rPr lang="en-US">
                <a:latin typeface="Arial"/>
                <a:ea typeface="Arial"/>
                <a:cs typeface="Arial"/>
                <a:sym typeface="Arial"/>
              </a:rPr>
              <a:t> </a:t>
            </a:r>
            <a:r>
              <a:rPr lang="en-US" err="1">
                <a:latin typeface="Arial"/>
                <a:ea typeface="Arial"/>
                <a:cs typeface="Arial"/>
                <a:sym typeface="Arial"/>
              </a:rPr>
              <a:t>người</a:t>
            </a:r>
            <a:r>
              <a:rPr lang="en-US">
                <a:latin typeface="Arial"/>
                <a:ea typeface="Arial"/>
                <a:cs typeface="Arial"/>
                <a:sym typeface="Arial"/>
              </a:rPr>
              <a:t> </a:t>
            </a:r>
            <a:r>
              <a:rPr lang="en-US" err="1">
                <a:latin typeface="Arial"/>
                <a:ea typeface="Arial"/>
                <a:cs typeface="Arial"/>
                <a:sym typeface="Arial"/>
              </a:rPr>
              <a:t>tham</a:t>
            </a:r>
            <a:r>
              <a:rPr lang="en-US">
                <a:latin typeface="Arial"/>
                <a:ea typeface="Arial"/>
                <a:cs typeface="Arial"/>
                <a:sym typeface="Arial"/>
              </a:rPr>
              <a:t> </a:t>
            </a:r>
            <a:r>
              <a:rPr lang="en-US" err="1">
                <a:latin typeface="Arial"/>
                <a:ea typeface="Arial"/>
                <a:cs typeface="Arial"/>
                <a:sym typeface="Arial"/>
              </a:rPr>
              <a:t>gia</a:t>
            </a:r>
            <a:r>
              <a:rPr lang="en-US">
                <a:latin typeface="Arial"/>
                <a:ea typeface="Arial"/>
                <a:cs typeface="Arial"/>
                <a:sym typeface="Arial"/>
              </a:rPr>
              <a:t> </a:t>
            </a:r>
            <a:r>
              <a:rPr lang="en-US" err="1">
                <a:latin typeface="Arial"/>
                <a:ea typeface="Arial"/>
                <a:cs typeface="Arial"/>
                <a:sym typeface="Arial"/>
              </a:rPr>
              <a:t>khi</a:t>
            </a:r>
            <a:r>
              <a:rPr lang="en-US">
                <a:latin typeface="Arial"/>
                <a:ea typeface="Arial"/>
                <a:cs typeface="Arial"/>
                <a:sym typeface="Arial"/>
              </a:rPr>
              <a:t> </a:t>
            </a:r>
            <a:r>
              <a:rPr lang="en-US" err="1">
                <a:latin typeface="Arial"/>
                <a:ea typeface="Arial"/>
                <a:cs typeface="Arial"/>
                <a:sym typeface="Arial"/>
              </a:rPr>
              <a:t>lựa</a:t>
            </a:r>
            <a:r>
              <a:rPr lang="en-US">
                <a:latin typeface="Arial"/>
                <a:ea typeface="Arial"/>
                <a:cs typeface="Arial"/>
                <a:sym typeface="Arial"/>
              </a:rPr>
              <a:t> </a:t>
            </a:r>
            <a:r>
              <a:rPr lang="en-US" err="1">
                <a:latin typeface="Arial"/>
                <a:ea typeface="Arial"/>
                <a:cs typeface="Arial"/>
                <a:sym typeface="Arial"/>
              </a:rPr>
              <a:t>chọn</a:t>
            </a:r>
            <a:r>
              <a:rPr lang="en-US">
                <a:latin typeface="Arial"/>
                <a:ea typeface="Arial"/>
                <a:cs typeface="Arial"/>
                <a:sym typeface="Arial"/>
              </a:rPr>
              <a:t>, </a:t>
            </a:r>
            <a:r>
              <a:rPr lang="en-US" err="1">
                <a:latin typeface="Arial"/>
                <a:ea typeface="Arial"/>
                <a:cs typeface="Arial"/>
                <a:sym typeface="Arial"/>
              </a:rPr>
              <a:t>mua</a:t>
            </a:r>
            <a:r>
              <a:rPr lang="en-US">
                <a:latin typeface="Arial"/>
                <a:ea typeface="Arial"/>
                <a:cs typeface="Arial"/>
                <a:sym typeface="Arial"/>
              </a:rPr>
              <a:t>, </a:t>
            </a:r>
            <a:r>
              <a:rPr lang="en-US" err="1">
                <a:latin typeface="Arial"/>
                <a:ea typeface="Arial"/>
                <a:cs typeface="Arial"/>
                <a:sym typeface="Arial"/>
              </a:rPr>
              <a:t>sử</a:t>
            </a:r>
            <a:r>
              <a:rPr lang="en-US">
                <a:latin typeface="Arial"/>
                <a:ea typeface="Arial"/>
                <a:cs typeface="Arial"/>
                <a:sym typeface="Arial"/>
              </a:rPr>
              <a:t> </a:t>
            </a:r>
            <a:r>
              <a:rPr lang="en-US" err="1">
                <a:latin typeface="Arial"/>
                <a:ea typeface="Arial"/>
                <a:cs typeface="Arial"/>
                <a:sym typeface="Arial"/>
              </a:rPr>
              <a:t>dụng</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xử</a:t>
            </a:r>
            <a:r>
              <a:rPr lang="en-US">
                <a:latin typeface="Arial"/>
                <a:ea typeface="Arial"/>
                <a:cs typeface="Arial"/>
                <a:sym typeface="Arial"/>
              </a:rPr>
              <a:t> </a:t>
            </a:r>
            <a:r>
              <a:rPr lang="en-US" err="1">
                <a:latin typeface="Arial"/>
                <a:ea typeface="Arial"/>
                <a:cs typeface="Arial"/>
                <a:sym typeface="Arial"/>
              </a:rPr>
              <a:t>lý</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sản</a:t>
            </a:r>
            <a:r>
              <a:rPr lang="en-US">
                <a:latin typeface="Arial"/>
                <a:ea typeface="Arial"/>
                <a:cs typeface="Arial"/>
                <a:sym typeface="Arial"/>
              </a:rPr>
              <a:t> </a:t>
            </a:r>
            <a:r>
              <a:rPr lang="en-US" err="1">
                <a:latin typeface="Arial"/>
                <a:ea typeface="Arial"/>
                <a:cs typeface="Arial"/>
                <a:sym typeface="Arial"/>
              </a:rPr>
              <a:t>phẩm</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dịch</a:t>
            </a:r>
            <a:r>
              <a:rPr lang="en-US">
                <a:latin typeface="Arial"/>
                <a:ea typeface="Arial"/>
                <a:cs typeface="Arial"/>
                <a:sym typeface="Arial"/>
              </a:rPr>
              <a:t> </a:t>
            </a:r>
            <a:r>
              <a:rPr lang="en-US" err="1">
                <a:latin typeface="Arial"/>
                <a:ea typeface="Arial"/>
                <a:cs typeface="Arial"/>
                <a:sym typeface="Arial"/>
              </a:rPr>
              <a:t>vụ</a:t>
            </a:r>
            <a:r>
              <a:rPr lang="en-US">
                <a:latin typeface="Arial"/>
                <a:ea typeface="Arial"/>
                <a:cs typeface="Arial"/>
                <a:sym typeface="Arial"/>
              </a:rPr>
              <a:t> </a:t>
            </a:r>
            <a:r>
              <a:rPr lang="en-US" err="1">
                <a:latin typeface="Arial"/>
                <a:ea typeface="Arial"/>
                <a:cs typeface="Arial"/>
                <a:sym typeface="Arial"/>
              </a:rPr>
              <a:t>để</a:t>
            </a:r>
            <a:r>
              <a:rPr lang="en-US">
                <a:latin typeface="Arial"/>
                <a:ea typeface="Arial"/>
                <a:cs typeface="Arial"/>
                <a:sym typeface="Arial"/>
              </a:rPr>
              <a:t> </a:t>
            </a:r>
            <a:r>
              <a:rPr lang="en-US" err="1">
                <a:latin typeface="Arial"/>
                <a:ea typeface="Arial"/>
                <a:cs typeface="Arial"/>
                <a:sym typeface="Arial"/>
              </a:rPr>
              <a:t>thỏa</a:t>
            </a:r>
            <a:r>
              <a:rPr lang="en-US">
                <a:latin typeface="Arial"/>
                <a:ea typeface="Arial"/>
                <a:cs typeface="Arial"/>
                <a:sym typeface="Arial"/>
              </a:rPr>
              <a:t> </a:t>
            </a:r>
            <a:r>
              <a:rPr lang="en-US" err="1">
                <a:latin typeface="Arial"/>
                <a:ea typeface="Arial"/>
                <a:cs typeface="Arial"/>
                <a:sym typeface="Arial"/>
              </a:rPr>
              <a:t>mãn</a:t>
            </a:r>
            <a:r>
              <a:rPr lang="en-US">
                <a:latin typeface="Arial"/>
                <a:ea typeface="Arial"/>
                <a:cs typeface="Arial"/>
                <a:sym typeface="Arial"/>
              </a:rPr>
              <a:t> </a:t>
            </a:r>
            <a:r>
              <a:rPr lang="en-US" err="1">
                <a:latin typeface="Arial"/>
                <a:ea typeface="Arial"/>
                <a:cs typeface="Arial"/>
                <a:sym typeface="Arial"/>
              </a:rPr>
              <a:t>nhu</a:t>
            </a:r>
            <a:r>
              <a:rPr lang="en-US">
                <a:latin typeface="Arial"/>
                <a:ea typeface="Arial"/>
                <a:cs typeface="Arial"/>
                <a:sym typeface="Arial"/>
              </a:rPr>
              <a:t> </a:t>
            </a:r>
            <a:r>
              <a:rPr lang="en-US" err="1">
                <a:latin typeface="Arial"/>
                <a:ea typeface="Arial"/>
                <a:cs typeface="Arial"/>
                <a:sym typeface="Arial"/>
              </a:rPr>
              <a:t>cầu</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mong</a:t>
            </a:r>
            <a:r>
              <a:rPr lang="en-US">
                <a:latin typeface="Arial"/>
                <a:ea typeface="Arial"/>
                <a:cs typeface="Arial"/>
                <a:sym typeface="Arial"/>
              </a:rPr>
              <a:t> </a:t>
            </a:r>
            <a:r>
              <a:rPr lang="en-US" err="1">
                <a:latin typeface="Arial"/>
                <a:ea typeface="Arial"/>
                <a:cs typeface="Arial"/>
                <a:sym typeface="Arial"/>
              </a:rPr>
              <a:t>muốn</a:t>
            </a:r>
            <a:r>
              <a:rPr lang="en-US">
                <a:latin typeface="Arial"/>
                <a:ea typeface="Arial"/>
                <a:cs typeface="Arial"/>
                <a:sym typeface="Arial"/>
              </a:rPr>
              <a:t> (</a:t>
            </a:r>
            <a:r>
              <a:rPr lang="en-US" err="1">
                <a:latin typeface="Arial"/>
                <a:ea typeface="Arial"/>
                <a:cs typeface="Arial"/>
                <a:sym typeface="Arial"/>
              </a:rPr>
              <a:t>Wilkie</a:t>
            </a:r>
            <a:r>
              <a:rPr lang="en-US">
                <a:latin typeface="Arial"/>
                <a:ea typeface="Arial"/>
                <a:cs typeface="Arial"/>
                <a:sym typeface="Arial"/>
              </a:rPr>
              <a:t>, 1994</a:t>
            </a:r>
            <a:r>
              <a:rPr lang="en-US"/>
              <a:t>).</a:t>
            </a:r>
            <a:endParaRPr/>
          </a:p>
          <a:p>
            <a:pPr marL="0" lvl="0" indent="0" algn="l" rtl="0">
              <a:lnSpc>
                <a:spcPct val="90000"/>
              </a:lnSpc>
              <a:spcBef>
                <a:spcPts val="1000"/>
              </a:spcBef>
              <a:spcAft>
                <a:spcPts val="0"/>
              </a:spcAft>
              <a:buClr>
                <a:schemeClr val="dk1"/>
              </a:buClr>
              <a:buSzPts val="3200"/>
              <a:buNone/>
            </a:pPr>
            <a:endParaRPr sz="3200" b="1">
              <a:latin typeface="Arial"/>
              <a:ea typeface="Arial"/>
              <a:cs typeface="Arial"/>
              <a:sym typeface="Arial"/>
            </a:endParaRPr>
          </a:p>
        </p:txBody>
      </p:sp>
      <p:pic>
        <p:nvPicPr>
          <p:cNvPr id="161" name="Google Shape;161;p25" descr="ĐỀ CƯƠNG HÀNH VI NGƯỜI TIÊU DÙNG PHẦN 1"/>
          <p:cNvPicPr preferRelativeResize="0"/>
          <p:nvPr/>
        </p:nvPicPr>
        <p:blipFill rotWithShape="1">
          <a:blip r:embed="rId3">
            <a:alphaModFix/>
          </a:blip>
          <a:srcRect/>
          <a:stretch/>
        </p:blipFill>
        <p:spPr>
          <a:xfrm>
            <a:off x="6515435" y="4031582"/>
            <a:ext cx="3492500" cy="2324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subTitle" idx="1"/>
          </p:nvPr>
        </p:nvSpPr>
        <p:spPr>
          <a:xfrm>
            <a:off x="1773152" y="2821911"/>
            <a:ext cx="9144000" cy="904269"/>
          </a:xfrm>
        </p:spPr>
        <p:txBody>
          <a:bodyPr>
            <a:normAutofit/>
          </a:bodyPr>
          <a:lstStyle/>
          <a:p>
            <a:pPr marL="114300" indent="0">
              <a:buNone/>
            </a:pPr>
            <a:r>
              <a:rPr lang="en-US" sz="3600" b="1"/>
              <a:t>1.</a:t>
            </a:r>
            <a:r>
              <a:rPr lang="vi-VN" sz="3600" b="1"/>
              <a:t>2</a:t>
            </a:r>
            <a:r>
              <a:rPr lang="en-US" sz="3600" b="1"/>
              <a:t>.</a:t>
            </a:r>
            <a:r>
              <a:rPr lang="vi-VN" sz="3600" b="1"/>
              <a:t> PHÂN LOẠI</a:t>
            </a:r>
            <a:r>
              <a:rPr lang="en-US" sz="3600" b="1"/>
              <a:t> KHÁCH HÀNG</a:t>
            </a:r>
            <a:endParaRPr lang="en-US" sz="3600"/>
          </a:p>
        </p:txBody>
      </p:sp>
    </p:spTree>
    <p:extLst>
      <p:ext uri="{BB962C8B-B14F-4D97-AF65-F5344CB8AC3E}">
        <p14:creationId xmlns:p14="http://schemas.microsoft.com/office/powerpoint/2010/main" val="1912400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p:cNvSpPr txBox="1">
            <a:spLocks noGrp="1"/>
          </p:cNvSpPr>
          <p:nvPr>
            <p:ph type="body" idx="1"/>
          </p:nvPr>
        </p:nvSpPr>
        <p:spPr>
          <a:xfrm>
            <a:off x="551873" y="241444"/>
            <a:ext cx="2699327" cy="552932"/>
          </a:xfrm>
          <a:prstGeom prst="rect">
            <a:avLst/>
          </a:prstGeom>
          <a:solidFill>
            <a:schemeClr val="accent6">
              <a:lumMod val="20000"/>
              <a:lumOff val="80000"/>
            </a:schemeClr>
          </a:solidFill>
        </p:spPr>
        <p:txBody>
          <a:bodyPr wrap="square" anchor="t">
            <a:spAutoFit/>
          </a:bodyPr>
          <a:lstStyle/>
          <a:p>
            <a:pPr marL="114300" indent="0" algn="l">
              <a:buNone/>
            </a:pPr>
            <a:r>
              <a:rPr sz="2400" b="1">
                <a:solidFill>
                  <a:srgbClr val="2B5B91"/>
                </a:solidFill>
                <a:latin typeface="+mn-lt"/>
                <a:cs typeface="Times New Roman" panose="02020603050405020304" pitchFamily="18" charset="0"/>
              </a:rPr>
              <a:t>Theo </a:t>
            </a:r>
            <a:r>
              <a:rPr sz="2400" b="1" err="1">
                <a:solidFill>
                  <a:srgbClr val="2B5B91"/>
                </a:solidFill>
                <a:latin typeface="+mn-lt"/>
                <a:cs typeface="Times New Roman" panose="02020603050405020304" pitchFamily="18" charset="0"/>
              </a:rPr>
              <a:t>đối</a:t>
            </a:r>
            <a:r>
              <a:rPr sz="2400" b="1">
                <a:solidFill>
                  <a:srgbClr val="2B5B91"/>
                </a:solidFill>
                <a:latin typeface="+mn-lt"/>
                <a:cs typeface="Times New Roman" panose="02020603050405020304" pitchFamily="18" charset="0"/>
              </a:rPr>
              <a:t> </a:t>
            </a:r>
            <a:r>
              <a:rPr sz="2400" b="1" err="1">
                <a:solidFill>
                  <a:srgbClr val="2B5B91"/>
                </a:solidFill>
                <a:latin typeface="+mn-lt"/>
                <a:cs typeface="Times New Roman" panose="02020603050405020304" pitchFamily="18" charset="0"/>
              </a:rPr>
              <a:t>tượng</a:t>
            </a:r>
            <a:endParaRPr lang="en-US" sz="2400" b="1">
              <a:solidFill>
                <a:srgbClr val="2B5B91"/>
              </a:solidFill>
              <a:latin typeface="+mn-lt"/>
              <a:cs typeface="Times New Roman" panose="02020603050405020304" pitchFamily="18" charset="0"/>
            </a:endParaRPr>
          </a:p>
        </p:txBody>
      </p:sp>
      <p:sp>
        <p:nvSpPr>
          <p:cNvPr id="8" name="TextBox 7"/>
          <p:cNvSpPr txBox="1"/>
          <p:nvPr/>
        </p:nvSpPr>
        <p:spPr>
          <a:xfrm>
            <a:off x="755072" y="1142042"/>
            <a:ext cx="2108199" cy="4401205"/>
          </a:xfrm>
          <a:prstGeom prst="rect">
            <a:avLst/>
          </a:prstGeom>
          <a:solidFill>
            <a:schemeClr val="accent2">
              <a:lumMod val="40000"/>
              <a:lumOff val="60000"/>
            </a:schemeClr>
          </a:solidFill>
        </p:spPr>
        <p:style>
          <a:lnRef idx="1">
            <a:schemeClr val="accent2"/>
          </a:lnRef>
          <a:fillRef idx="3">
            <a:schemeClr val="accent2"/>
          </a:fillRef>
          <a:effectRef idx="2">
            <a:schemeClr val="accent2"/>
          </a:effectRef>
          <a:fontRef idx="minor">
            <a:schemeClr val="lt1"/>
          </a:fontRef>
        </p:style>
        <p:txBody>
          <a:bodyPr wrap="square" anchor="t">
            <a:spAutoFit/>
          </a:bodyPr>
          <a:lstStyle/>
          <a:p>
            <a:pPr algn="l"/>
            <a:r>
              <a:rPr sz="2800" b="0">
                <a:solidFill>
                  <a:srgbClr val="232B34"/>
                </a:solidFill>
                <a:cs typeface="Times New Roman" panose="02020603050405020304" pitchFamily="18" charset="0"/>
              </a:rPr>
              <a:t>KH </a:t>
            </a:r>
            <a:r>
              <a:rPr sz="2800" b="0" err="1">
                <a:solidFill>
                  <a:srgbClr val="232B34"/>
                </a:solidFill>
                <a:cs typeface="Times New Roman" panose="02020603050405020304" pitchFamily="18" charset="0"/>
              </a:rPr>
              <a:t>cá</a:t>
            </a:r>
            <a:r>
              <a:rPr sz="2800" b="0">
                <a:solidFill>
                  <a:srgbClr val="232B34"/>
                </a:solidFill>
                <a:cs typeface="Times New Roman" panose="02020603050405020304" pitchFamily="18" charset="0"/>
              </a:rPr>
              <a:t> </a:t>
            </a:r>
            <a:r>
              <a:rPr sz="2800" b="0" err="1">
                <a:solidFill>
                  <a:srgbClr val="232B34"/>
                </a:solidFill>
                <a:cs typeface="Times New Roman" panose="02020603050405020304" pitchFamily="18" charset="0"/>
              </a:rPr>
              <a:t>nhân</a:t>
            </a:r>
            <a:r>
              <a:rPr sz="2800" b="0">
                <a:solidFill>
                  <a:srgbClr val="232B34"/>
                </a:solidFill>
                <a:cs typeface="Times New Roman" panose="02020603050405020304" pitchFamily="18" charset="0"/>
              </a:rPr>
              <a:t>
• </a:t>
            </a:r>
            <a:r>
              <a:rPr sz="2800" b="0" err="1">
                <a:solidFill>
                  <a:srgbClr val="232B34"/>
                </a:solidFill>
                <a:cs typeface="Times New Roman" panose="02020603050405020304" pitchFamily="18" charset="0"/>
              </a:rPr>
              <a:t>Cá</a:t>
            </a:r>
            <a:r>
              <a:rPr sz="2800" b="0">
                <a:solidFill>
                  <a:srgbClr val="232B34"/>
                </a:solidFill>
                <a:cs typeface="Times New Roman" panose="02020603050405020304" pitchFamily="18" charset="0"/>
              </a:rPr>
              <a:t> </a:t>
            </a:r>
            <a:r>
              <a:rPr sz="2800" b="0" err="1">
                <a:solidFill>
                  <a:srgbClr val="232B34"/>
                </a:solidFill>
                <a:cs typeface="Times New Roman" panose="02020603050405020304" pitchFamily="18" charset="0"/>
              </a:rPr>
              <a:t>nhân</a:t>
            </a:r>
            <a:r>
              <a:rPr sz="2800" b="0">
                <a:solidFill>
                  <a:srgbClr val="232B34"/>
                </a:solidFill>
                <a:cs typeface="Times New Roman" panose="02020603050405020304" pitchFamily="18" charset="0"/>
              </a:rPr>
              <a:t> / </a:t>
            </a:r>
            <a:r>
              <a:rPr sz="2800" b="0" err="1">
                <a:solidFill>
                  <a:srgbClr val="232B34"/>
                </a:solidFill>
                <a:cs typeface="Times New Roman" panose="02020603050405020304" pitchFamily="18" charset="0"/>
              </a:rPr>
              <a:t>hộ</a:t>
            </a:r>
            <a:r>
              <a:rPr sz="2800" b="0">
                <a:solidFill>
                  <a:srgbClr val="232B34"/>
                </a:solidFill>
                <a:cs typeface="Times New Roman" panose="02020603050405020304" pitchFamily="18" charset="0"/>
              </a:rPr>
              <a:t> </a:t>
            </a:r>
            <a:r>
              <a:rPr sz="2800" b="0" err="1">
                <a:solidFill>
                  <a:srgbClr val="232B34"/>
                </a:solidFill>
                <a:cs typeface="Times New Roman" panose="02020603050405020304" pitchFamily="18" charset="0"/>
              </a:rPr>
              <a:t>gia</a:t>
            </a:r>
            <a:r>
              <a:rPr sz="2800" b="0">
                <a:solidFill>
                  <a:srgbClr val="232B34"/>
                </a:solidFill>
                <a:cs typeface="Times New Roman" panose="02020603050405020304" pitchFamily="18" charset="0"/>
              </a:rPr>
              <a:t> </a:t>
            </a:r>
            <a:r>
              <a:rPr sz="2800" b="0" err="1">
                <a:solidFill>
                  <a:srgbClr val="232B34"/>
                </a:solidFill>
                <a:cs typeface="Times New Roman" panose="02020603050405020304" pitchFamily="18" charset="0"/>
              </a:rPr>
              <a:t>đình</a:t>
            </a:r>
            <a:r>
              <a:rPr sz="2800" b="0">
                <a:solidFill>
                  <a:srgbClr val="232B34"/>
                </a:solidFill>
                <a:cs typeface="Times New Roman" panose="02020603050405020304" pitchFamily="18" charset="0"/>
              </a:rPr>
              <a:t>
KH </a:t>
            </a:r>
            <a:r>
              <a:rPr sz="2800" b="0" err="1">
                <a:solidFill>
                  <a:srgbClr val="232B34"/>
                </a:solidFill>
                <a:cs typeface="Times New Roman" panose="02020603050405020304" pitchFamily="18" charset="0"/>
              </a:rPr>
              <a:t>tổ</a:t>
            </a:r>
            <a:r>
              <a:rPr sz="2800" b="0">
                <a:solidFill>
                  <a:srgbClr val="232B34"/>
                </a:solidFill>
                <a:cs typeface="Times New Roman" panose="02020603050405020304" pitchFamily="18" charset="0"/>
              </a:rPr>
              <a:t> </a:t>
            </a:r>
            <a:r>
              <a:rPr sz="2800" b="0" err="1">
                <a:solidFill>
                  <a:srgbClr val="232B34"/>
                </a:solidFill>
                <a:cs typeface="Times New Roman" panose="02020603050405020304" pitchFamily="18" charset="0"/>
              </a:rPr>
              <a:t>chức</a:t>
            </a:r>
            <a:r>
              <a:rPr sz="2800" b="0">
                <a:solidFill>
                  <a:srgbClr val="232B34"/>
                </a:solidFill>
                <a:cs typeface="Times New Roman" panose="02020603050405020304" pitchFamily="18" charset="0"/>
              </a:rPr>
              <a:t>
• </a:t>
            </a:r>
            <a:r>
              <a:rPr sz="2800" b="0" err="1">
                <a:solidFill>
                  <a:srgbClr val="232B34"/>
                </a:solidFill>
                <a:cs typeface="Times New Roman" panose="02020603050405020304" pitchFamily="18" charset="0"/>
              </a:rPr>
              <a:t>Doanh</a:t>
            </a:r>
            <a:r>
              <a:rPr sz="2800" b="0">
                <a:solidFill>
                  <a:srgbClr val="232B34"/>
                </a:solidFill>
                <a:cs typeface="Times New Roman" panose="02020603050405020304" pitchFamily="18" charset="0"/>
              </a:rPr>
              <a:t> </a:t>
            </a:r>
            <a:r>
              <a:rPr sz="2800" b="0" err="1">
                <a:solidFill>
                  <a:srgbClr val="232B34"/>
                </a:solidFill>
                <a:cs typeface="Times New Roman" panose="02020603050405020304" pitchFamily="18" charset="0"/>
              </a:rPr>
              <a:t>nghiệp</a:t>
            </a:r>
            <a:r>
              <a:rPr sz="2800" b="0">
                <a:solidFill>
                  <a:srgbClr val="232B34"/>
                </a:solidFill>
                <a:cs typeface="Times New Roman" panose="02020603050405020304" pitchFamily="18" charset="0"/>
              </a:rPr>
              <a:t> / </a:t>
            </a:r>
            <a:r>
              <a:rPr sz="2800" b="0" err="1">
                <a:solidFill>
                  <a:srgbClr val="232B34"/>
                </a:solidFill>
                <a:cs typeface="Times New Roman" panose="02020603050405020304" pitchFamily="18" charset="0"/>
              </a:rPr>
              <a:t>tổ</a:t>
            </a:r>
            <a:r>
              <a:rPr sz="2800" b="0">
                <a:solidFill>
                  <a:srgbClr val="232B34"/>
                </a:solidFill>
                <a:cs typeface="Times New Roman" panose="02020603050405020304" pitchFamily="18" charset="0"/>
              </a:rPr>
              <a:t> </a:t>
            </a:r>
            <a:r>
              <a:rPr sz="2800" b="0" err="1">
                <a:solidFill>
                  <a:srgbClr val="232B34"/>
                </a:solidFill>
                <a:cs typeface="Times New Roman" panose="02020603050405020304" pitchFamily="18" charset="0"/>
              </a:rPr>
              <a:t>chức</a:t>
            </a:r>
            <a:r>
              <a:rPr sz="2800" b="0">
                <a:solidFill>
                  <a:srgbClr val="232B34"/>
                </a:solidFill>
                <a:cs typeface="Times New Roman" panose="02020603050405020304" pitchFamily="18" charset="0"/>
              </a:rPr>
              <a:t> </a:t>
            </a:r>
            <a:r>
              <a:rPr sz="2800" b="0" err="1">
                <a:solidFill>
                  <a:srgbClr val="232B34"/>
                </a:solidFill>
                <a:cs typeface="Times New Roman" panose="02020603050405020304" pitchFamily="18" charset="0"/>
              </a:rPr>
              <a:t>mua</a:t>
            </a:r>
            <a:r>
              <a:rPr sz="2800" b="0">
                <a:solidFill>
                  <a:srgbClr val="232B34"/>
                </a:solidFill>
                <a:cs typeface="Times New Roman" panose="02020603050405020304" pitchFamily="18" charset="0"/>
              </a:rPr>
              <a:t> </a:t>
            </a:r>
            <a:r>
              <a:rPr sz="2800" b="0" err="1">
                <a:solidFill>
                  <a:srgbClr val="232B34"/>
                </a:solidFill>
                <a:cs typeface="Times New Roman" panose="02020603050405020304" pitchFamily="18" charset="0"/>
              </a:rPr>
              <a:t>hàng</a:t>
            </a:r>
            <a:endParaRPr lang="en-US" sz="2800" b="0">
              <a:solidFill>
                <a:srgbClr val="232B34"/>
              </a:solidFill>
              <a:cs typeface="Times New Roman" panose="02020603050405020304" pitchFamily="18" charset="0"/>
            </a:endParaRPr>
          </a:p>
          <a:p>
            <a:pPr algn="l"/>
            <a:endParaRPr sz="2800" b="0">
              <a:solidFill>
                <a:srgbClr val="232B34"/>
              </a:solidFill>
              <a:cs typeface="Times New Roman" panose="02020603050405020304" pitchFamily="18" charset="0"/>
            </a:endParaRPr>
          </a:p>
        </p:txBody>
      </p:sp>
      <p:sp>
        <p:nvSpPr>
          <p:cNvPr id="9" name="Title 4"/>
          <p:cNvSpPr txBox="1">
            <a:spLocks/>
          </p:cNvSpPr>
          <p:nvPr/>
        </p:nvSpPr>
        <p:spPr>
          <a:xfrm>
            <a:off x="3990108" y="241011"/>
            <a:ext cx="2613891" cy="608331"/>
          </a:xfrm>
          <a:prstGeom prst="rect">
            <a:avLst/>
          </a:prstGeom>
          <a:solidFill>
            <a:schemeClr val="accent6">
              <a:lumMod val="20000"/>
              <a:lumOff val="80000"/>
            </a:schemeClr>
          </a:solid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spc="0">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spc="0">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spc="0">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9pPr>
          </a:lstStyle>
          <a:p>
            <a:pPr marL="114300" indent="0">
              <a:buFont typeface="Arial"/>
              <a:buNone/>
            </a:pPr>
            <a:r>
              <a:rPr lang="vi-VN" b="1">
                <a:solidFill>
                  <a:srgbClr val="2B5B91"/>
                </a:solidFill>
                <a:latin typeface="+mn-lt"/>
                <a:cs typeface="Times New Roman" panose="02020603050405020304" pitchFamily="18" charset="0"/>
              </a:rPr>
              <a:t>Theo </a:t>
            </a:r>
            <a:r>
              <a:rPr lang="en-US" b="1" err="1">
                <a:solidFill>
                  <a:srgbClr val="2B5B91"/>
                </a:solidFill>
                <a:latin typeface="+mn-lt"/>
                <a:cs typeface="Times New Roman" panose="02020603050405020304" pitchFamily="18" charset="0"/>
              </a:rPr>
              <a:t>vai</a:t>
            </a:r>
            <a:r>
              <a:rPr lang="en-US" b="1">
                <a:solidFill>
                  <a:srgbClr val="2B5B91"/>
                </a:solidFill>
                <a:latin typeface="+mn-lt"/>
                <a:cs typeface="Times New Roman" panose="02020603050405020304" pitchFamily="18" charset="0"/>
              </a:rPr>
              <a:t> </a:t>
            </a:r>
            <a:r>
              <a:rPr lang="en-US" b="1" err="1">
                <a:solidFill>
                  <a:srgbClr val="2B5B91"/>
                </a:solidFill>
                <a:latin typeface="+mn-lt"/>
                <a:cs typeface="Times New Roman" panose="02020603050405020304" pitchFamily="18" charset="0"/>
              </a:rPr>
              <a:t>trò</a:t>
            </a:r>
            <a:endParaRPr lang="vi-VN" b="1">
              <a:solidFill>
                <a:srgbClr val="2B5B91"/>
              </a:solidFill>
              <a:latin typeface="+mn-lt"/>
              <a:cs typeface="Times New Roman" panose="02020603050405020304" pitchFamily="18" charset="0"/>
            </a:endParaRPr>
          </a:p>
        </p:txBody>
      </p:sp>
      <p:sp>
        <p:nvSpPr>
          <p:cNvPr id="10" name="TextBox 9"/>
          <p:cNvSpPr txBox="1"/>
          <p:nvPr/>
        </p:nvSpPr>
        <p:spPr>
          <a:xfrm>
            <a:off x="4259696" y="1172820"/>
            <a:ext cx="2161309" cy="4401205"/>
          </a:xfrm>
          <a:prstGeom prst="rect">
            <a:avLst/>
          </a:prstGeom>
          <a:solidFill>
            <a:schemeClr val="accent2">
              <a:lumMod val="40000"/>
              <a:lumOff val="60000"/>
            </a:schemeClr>
          </a:solidFill>
        </p:spPr>
        <p:txBody>
          <a:bodyPr wrap="square" anchor="t">
            <a:spAutoFit/>
          </a:bodyPr>
          <a:lstStyle/>
          <a:p>
            <a:pPr marL="457200" indent="-457200">
              <a:buFont typeface="Arial" panose="020B0604020202020204" pitchFamily="34" charset="0"/>
              <a:buChar char="•"/>
            </a:pPr>
            <a:r>
              <a:rPr sz="2800" b="0" err="1">
                <a:solidFill>
                  <a:srgbClr val="232B34"/>
                </a:solidFill>
                <a:latin typeface="+mn-lt"/>
                <a:cs typeface="Times New Roman" panose="02020603050405020304" pitchFamily="18" charset="0"/>
              </a:rPr>
              <a:t>Người</a:t>
            </a:r>
            <a:r>
              <a:rPr sz="2800" b="0">
                <a:solidFill>
                  <a:srgbClr val="232B34"/>
                </a:solidFill>
                <a:latin typeface="+mn-lt"/>
                <a:cs typeface="Times New Roman" panose="02020603050405020304" pitchFamily="18" charset="0"/>
              </a:rPr>
              <a:t> </a:t>
            </a:r>
            <a:r>
              <a:rPr sz="2800" b="0" err="1">
                <a:solidFill>
                  <a:srgbClr val="232B34"/>
                </a:solidFill>
                <a:latin typeface="+mn-lt"/>
                <a:cs typeface="Times New Roman" panose="02020603050405020304" pitchFamily="18" charset="0"/>
              </a:rPr>
              <a:t>tiêu</a:t>
            </a:r>
            <a:r>
              <a:rPr sz="2800" b="0">
                <a:solidFill>
                  <a:srgbClr val="232B34"/>
                </a:solidFill>
                <a:latin typeface="+mn-lt"/>
                <a:cs typeface="Times New Roman" panose="02020603050405020304" pitchFamily="18" charset="0"/>
              </a:rPr>
              <a:t> </a:t>
            </a:r>
            <a:r>
              <a:rPr sz="2800" b="0" err="1">
                <a:solidFill>
                  <a:srgbClr val="232B34"/>
                </a:solidFill>
                <a:latin typeface="+mn-lt"/>
                <a:cs typeface="Times New Roman" panose="02020603050405020304" pitchFamily="18" charset="0"/>
              </a:rPr>
              <a:t>dùng</a:t>
            </a:r>
            <a:r>
              <a:rPr sz="2800" b="0">
                <a:solidFill>
                  <a:srgbClr val="232B34"/>
                </a:solidFill>
                <a:latin typeface="+mn-lt"/>
                <a:cs typeface="Times New Roman" panose="02020603050405020304" pitchFamily="18" charset="0"/>
              </a:rPr>
              <a:t>
</a:t>
            </a:r>
            <a:r>
              <a:rPr sz="2800" b="0" err="1">
                <a:solidFill>
                  <a:srgbClr val="232B34"/>
                </a:solidFill>
                <a:latin typeface="+mn-lt"/>
                <a:cs typeface="Times New Roman" panose="02020603050405020304" pitchFamily="18" charset="0"/>
              </a:rPr>
              <a:t>Người</a:t>
            </a:r>
            <a:r>
              <a:rPr sz="2800" b="0">
                <a:solidFill>
                  <a:srgbClr val="232B34"/>
                </a:solidFill>
                <a:latin typeface="+mn-lt"/>
                <a:cs typeface="Times New Roman" panose="02020603050405020304" pitchFamily="18" charset="0"/>
              </a:rPr>
              <a:t> </a:t>
            </a:r>
            <a:r>
              <a:rPr sz="2800" b="0" err="1">
                <a:solidFill>
                  <a:srgbClr val="232B34"/>
                </a:solidFill>
                <a:latin typeface="+mn-lt"/>
                <a:cs typeface="Times New Roman" panose="02020603050405020304" pitchFamily="18" charset="0"/>
              </a:rPr>
              <a:t>mua</a:t>
            </a:r>
            <a:r>
              <a:rPr sz="2800" b="0">
                <a:solidFill>
                  <a:srgbClr val="232B34"/>
                </a:solidFill>
                <a:latin typeface="+mn-lt"/>
                <a:cs typeface="Times New Roman" panose="02020603050405020304" pitchFamily="18" charset="0"/>
              </a:rPr>
              <a:t>
</a:t>
            </a:r>
            <a:r>
              <a:rPr sz="2800" b="0" err="1">
                <a:solidFill>
                  <a:srgbClr val="232B34"/>
                </a:solidFill>
                <a:latin typeface="+mn-lt"/>
                <a:cs typeface="Times New Roman" panose="02020603050405020304" pitchFamily="18" charset="0"/>
              </a:rPr>
              <a:t>Khách</a:t>
            </a:r>
            <a:r>
              <a:rPr sz="2800" b="0">
                <a:solidFill>
                  <a:srgbClr val="232B34"/>
                </a:solidFill>
                <a:latin typeface="+mn-lt"/>
                <a:cs typeface="Times New Roman" panose="02020603050405020304" pitchFamily="18" charset="0"/>
              </a:rPr>
              <a:t> </a:t>
            </a:r>
            <a:r>
              <a:rPr sz="2800" b="0" err="1">
                <a:solidFill>
                  <a:srgbClr val="232B34"/>
                </a:solidFill>
                <a:latin typeface="+mn-lt"/>
                <a:cs typeface="Times New Roman" panose="02020603050405020304" pitchFamily="18" charset="0"/>
              </a:rPr>
              <a:t>hàng</a:t>
            </a:r>
            <a:endParaRPr lang="en-US" sz="2800">
              <a:solidFill>
                <a:srgbClr val="232B34"/>
              </a:solidFill>
              <a:latin typeface="+mn-lt"/>
              <a:cs typeface="Times New Roman" panose="02020603050405020304" pitchFamily="18" charset="0"/>
            </a:endParaRPr>
          </a:p>
          <a:p>
            <a:pPr lvl="3"/>
            <a:r>
              <a:rPr sz="2800" b="0" err="1">
                <a:solidFill>
                  <a:srgbClr val="232B34"/>
                </a:solidFill>
                <a:latin typeface="+mn-lt"/>
                <a:cs typeface="Times New Roman" panose="02020603050405020304" pitchFamily="18" charset="0"/>
              </a:rPr>
              <a:t>Một</a:t>
            </a:r>
            <a:r>
              <a:rPr sz="2800" b="0">
                <a:solidFill>
                  <a:srgbClr val="232B34"/>
                </a:solidFill>
                <a:latin typeface="+mn-lt"/>
                <a:cs typeface="Times New Roman" panose="02020603050405020304" pitchFamily="18" charset="0"/>
              </a:rPr>
              <a:t> </a:t>
            </a:r>
            <a:r>
              <a:rPr sz="2800" b="0" err="1">
                <a:solidFill>
                  <a:srgbClr val="232B34"/>
                </a:solidFill>
                <a:latin typeface="+mn-lt"/>
                <a:cs typeface="Times New Roman" panose="02020603050405020304" pitchFamily="18" charset="0"/>
              </a:rPr>
              <a:t>cá</a:t>
            </a:r>
            <a:r>
              <a:rPr sz="2800" b="0">
                <a:solidFill>
                  <a:srgbClr val="232B34"/>
                </a:solidFill>
                <a:latin typeface="+mn-lt"/>
                <a:cs typeface="Times New Roman" panose="02020603050405020304" pitchFamily="18" charset="0"/>
              </a:rPr>
              <a:t> </a:t>
            </a:r>
            <a:r>
              <a:rPr sz="2800" b="0" err="1">
                <a:solidFill>
                  <a:srgbClr val="232B34"/>
                </a:solidFill>
                <a:latin typeface="+mn-lt"/>
                <a:cs typeface="Times New Roman" panose="02020603050405020304" pitchFamily="18" charset="0"/>
              </a:rPr>
              <a:t>nhân</a:t>
            </a:r>
            <a:r>
              <a:rPr sz="2800" b="0">
                <a:solidFill>
                  <a:srgbClr val="232B34"/>
                </a:solidFill>
                <a:latin typeface="+mn-lt"/>
                <a:cs typeface="Times New Roman" panose="02020603050405020304" pitchFamily="18" charset="0"/>
              </a:rPr>
              <a:t> </a:t>
            </a:r>
            <a:r>
              <a:rPr sz="2800" b="0" err="1">
                <a:solidFill>
                  <a:srgbClr val="232B34"/>
                </a:solidFill>
                <a:latin typeface="+mn-lt"/>
                <a:cs typeface="Times New Roman" panose="02020603050405020304" pitchFamily="18" charset="0"/>
              </a:rPr>
              <a:t>có</a:t>
            </a:r>
            <a:r>
              <a:rPr sz="2800" b="0">
                <a:solidFill>
                  <a:srgbClr val="232B34"/>
                </a:solidFill>
                <a:latin typeface="+mn-lt"/>
                <a:cs typeface="Times New Roman" panose="02020603050405020304" pitchFamily="18" charset="0"/>
              </a:rPr>
              <a:t> </a:t>
            </a:r>
            <a:r>
              <a:rPr sz="2800" b="0" err="1">
                <a:solidFill>
                  <a:srgbClr val="232B34"/>
                </a:solidFill>
                <a:latin typeface="+mn-lt"/>
                <a:cs typeface="Times New Roman" panose="02020603050405020304" pitchFamily="18" charset="0"/>
              </a:rPr>
              <a:t>thể</a:t>
            </a:r>
            <a:r>
              <a:rPr sz="2800" b="0">
                <a:solidFill>
                  <a:srgbClr val="232B34"/>
                </a:solidFill>
                <a:latin typeface="+mn-lt"/>
                <a:cs typeface="Times New Roman" panose="02020603050405020304" pitchFamily="18" charset="0"/>
              </a:rPr>
              <a:t> </a:t>
            </a:r>
            <a:r>
              <a:rPr sz="2800" b="0" err="1">
                <a:solidFill>
                  <a:srgbClr val="232B34"/>
                </a:solidFill>
                <a:latin typeface="+mn-lt"/>
                <a:cs typeface="Times New Roman" panose="02020603050405020304" pitchFamily="18" charset="0"/>
              </a:rPr>
              <a:t>đảm</a:t>
            </a:r>
            <a:r>
              <a:rPr sz="2800" b="0">
                <a:solidFill>
                  <a:srgbClr val="232B34"/>
                </a:solidFill>
                <a:latin typeface="+mn-lt"/>
                <a:cs typeface="Times New Roman" panose="02020603050405020304" pitchFamily="18" charset="0"/>
              </a:rPr>
              <a:t> </a:t>
            </a:r>
            <a:r>
              <a:rPr sz="2800" b="0" err="1">
                <a:solidFill>
                  <a:srgbClr val="232B34"/>
                </a:solidFill>
                <a:latin typeface="+mn-lt"/>
                <a:cs typeface="Times New Roman" panose="02020603050405020304" pitchFamily="18" charset="0"/>
              </a:rPr>
              <a:t>nhiệm</a:t>
            </a:r>
            <a:r>
              <a:rPr sz="2800" b="0">
                <a:solidFill>
                  <a:srgbClr val="232B34"/>
                </a:solidFill>
                <a:latin typeface="+mn-lt"/>
                <a:cs typeface="Times New Roman" panose="02020603050405020304" pitchFamily="18" charset="0"/>
              </a:rPr>
              <a:t> </a:t>
            </a:r>
            <a:r>
              <a:rPr sz="2800" b="0" err="1">
                <a:solidFill>
                  <a:srgbClr val="232B34"/>
                </a:solidFill>
                <a:latin typeface="+mn-lt"/>
                <a:cs typeface="Times New Roman" panose="02020603050405020304" pitchFamily="18" charset="0"/>
              </a:rPr>
              <a:t>nhiều</a:t>
            </a:r>
            <a:r>
              <a:rPr sz="2800" b="0">
                <a:solidFill>
                  <a:srgbClr val="232B34"/>
                </a:solidFill>
                <a:latin typeface="+mn-lt"/>
                <a:cs typeface="Times New Roman" panose="02020603050405020304" pitchFamily="18" charset="0"/>
              </a:rPr>
              <a:t> </a:t>
            </a:r>
            <a:r>
              <a:rPr sz="2800" b="0" err="1">
                <a:solidFill>
                  <a:srgbClr val="232B34"/>
                </a:solidFill>
                <a:latin typeface="+mn-lt"/>
                <a:cs typeface="Times New Roman" panose="02020603050405020304" pitchFamily="18" charset="0"/>
              </a:rPr>
              <a:t>vai</a:t>
            </a:r>
            <a:r>
              <a:rPr sz="2800" b="0">
                <a:solidFill>
                  <a:srgbClr val="232B34"/>
                </a:solidFill>
                <a:latin typeface="+mn-lt"/>
                <a:cs typeface="Times New Roman" panose="02020603050405020304" pitchFamily="18" charset="0"/>
              </a:rPr>
              <a:t> </a:t>
            </a:r>
            <a:r>
              <a:rPr sz="2800" b="0" err="1">
                <a:solidFill>
                  <a:srgbClr val="232B34"/>
                </a:solidFill>
                <a:latin typeface="+mn-lt"/>
                <a:cs typeface="Times New Roman" panose="02020603050405020304" pitchFamily="18" charset="0"/>
              </a:rPr>
              <a:t>trò</a:t>
            </a:r>
            <a:r>
              <a:rPr sz="2800" b="0">
                <a:solidFill>
                  <a:srgbClr val="232B34"/>
                </a:solidFill>
                <a:latin typeface="+mn-lt"/>
                <a:cs typeface="Times New Roman" panose="02020603050405020304" pitchFamily="18" charset="0"/>
              </a:rPr>
              <a:t>.</a:t>
            </a:r>
            <a:endParaRPr lang="en-US" sz="2800" b="0">
              <a:solidFill>
                <a:srgbClr val="232B34"/>
              </a:solidFill>
              <a:latin typeface="+mn-lt"/>
              <a:cs typeface="Times New Roman" panose="02020603050405020304" pitchFamily="18" charset="0"/>
            </a:endParaRPr>
          </a:p>
        </p:txBody>
      </p:sp>
      <p:sp>
        <p:nvSpPr>
          <p:cNvPr id="11" name="Title 4"/>
          <p:cNvSpPr txBox="1">
            <a:spLocks/>
          </p:cNvSpPr>
          <p:nvPr/>
        </p:nvSpPr>
        <p:spPr>
          <a:xfrm>
            <a:off x="7148945" y="231342"/>
            <a:ext cx="3131128" cy="580631"/>
          </a:xfrm>
          <a:prstGeom prst="rect">
            <a:avLst/>
          </a:prstGeom>
          <a:solidFill>
            <a:schemeClr val="accent6">
              <a:lumMod val="20000"/>
              <a:lumOff val="80000"/>
            </a:schemeClr>
          </a:solid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spc="0">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spc="0">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spc="0">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9pPr>
          </a:lstStyle>
          <a:p>
            <a:pPr marL="114300" indent="0">
              <a:buFont typeface="Arial"/>
              <a:buNone/>
            </a:pPr>
            <a:r>
              <a:rPr lang="vi-VN" sz="2600" b="1">
                <a:solidFill>
                  <a:srgbClr val="2B5B91"/>
                </a:solidFill>
                <a:latin typeface="+mn-lt"/>
                <a:cs typeface="Times New Roman" panose="02020603050405020304" pitchFamily="18" charset="0"/>
              </a:rPr>
              <a:t>Theo</a:t>
            </a:r>
            <a:r>
              <a:rPr lang="en-US" sz="2600" b="1">
                <a:solidFill>
                  <a:srgbClr val="2B5B91"/>
                </a:solidFill>
                <a:latin typeface="+mn-lt"/>
                <a:cs typeface="Times New Roman" panose="02020603050405020304" pitchFamily="18" charset="0"/>
              </a:rPr>
              <a:t> </a:t>
            </a:r>
            <a:r>
              <a:rPr lang="en-US" sz="2600" b="1" err="1">
                <a:solidFill>
                  <a:srgbClr val="2B5B91"/>
                </a:solidFill>
                <a:latin typeface="+mn-lt"/>
                <a:cs typeface="Times New Roman" panose="02020603050405020304" pitchFamily="18" charset="0"/>
              </a:rPr>
              <a:t>mối</a:t>
            </a:r>
            <a:r>
              <a:rPr lang="en-US" sz="2600" b="1">
                <a:solidFill>
                  <a:srgbClr val="2B5B91"/>
                </a:solidFill>
                <a:latin typeface="+mn-lt"/>
                <a:cs typeface="Times New Roman" panose="02020603050405020304" pitchFamily="18" charset="0"/>
              </a:rPr>
              <a:t> </a:t>
            </a:r>
            <a:r>
              <a:rPr lang="en-US" sz="2600" b="1" err="1">
                <a:solidFill>
                  <a:srgbClr val="2B5B91"/>
                </a:solidFill>
                <a:latin typeface="+mn-lt"/>
                <a:cs typeface="Times New Roman" panose="02020603050405020304" pitchFamily="18" charset="0"/>
              </a:rPr>
              <a:t>quan</a:t>
            </a:r>
            <a:r>
              <a:rPr lang="en-US" sz="2600" b="1">
                <a:solidFill>
                  <a:srgbClr val="2B5B91"/>
                </a:solidFill>
                <a:latin typeface="+mn-lt"/>
                <a:cs typeface="Times New Roman" panose="02020603050405020304" pitchFamily="18" charset="0"/>
              </a:rPr>
              <a:t> </a:t>
            </a:r>
            <a:r>
              <a:rPr lang="en-US" sz="2600" b="1" err="1">
                <a:solidFill>
                  <a:srgbClr val="2B5B91"/>
                </a:solidFill>
                <a:latin typeface="+mn-lt"/>
                <a:cs typeface="Times New Roman" panose="02020603050405020304" pitchFamily="18" charset="0"/>
              </a:rPr>
              <a:t>hệ</a:t>
            </a:r>
            <a:endParaRPr lang="vi-VN" sz="2600" b="1">
              <a:solidFill>
                <a:srgbClr val="2B5B91"/>
              </a:solidFill>
              <a:latin typeface="+mn-lt"/>
              <a:cs typeface="Times New Roman" panose="02020603050405020304" pitchFamily="18" charset="0"/>
            </a:endParaRPr>
          </a:p>
        </p:txBody>
      </p:sp>
      <p:sp>
        <p:nvSpPr>
          <p:cNvPr id="12" name="TextBox 11"/>
          <p:cNvSpPr txBox="1"/>
          <p:nvPr/>
        </p:nvSpPr>
        <p:spPr>
          <a:xfrm>
            <a:off x="7723910" y="1249765"/>
            <a:ext cx="2103581" cy="4832092"/>
          </a:xfrm>
          <a:prstGeom prst="rect">
            <a:avLst/>
          </a:prstGeom>
          <a:solidFill>
            <a:schemeClr val="accent2">
              <a:lumMod val="40000"/>
              <a:lumOff val="60000"/>
            </a:schemeClr>
          </a:solidFill>
        </p:spPr>
        <p:txBody>
          <a:bodyPr wrap="square" anchor="t">
            <a:spAutoFit/>
          </a:bodyPr>
          <a:lstStyle/>
          <a:p>
            <a:pPr algn="ctr"/>
            <a:r>
              <a:rPr lang="en-US" sz="2800" err="1">
                <a:solidFill>
                  <a:srgbClr val="232B34"/>
                </a:solidFill>
                <a:latin typeface="+mn-lt"/>
                <a:cs typeface="Times New Roman" panose="02020603050405020304" pitchFamily="18" charset="0"/>
              </a:rPr>
              <a:t>Có</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thể</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xem</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xét</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các</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giai</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đoạn</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quan</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hệ</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từ</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khách</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hàng</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tiềm</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năng</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đến</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khách</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hàng</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gắn</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bó</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và</a:t>
            </a:r>
            <a:endParaRPr lang="en-US" sz="2800">
              <a:solidFill>
                <a:srgbClr val="232B34"/>
              </a:solidFill>
              <a:latin typeface="+mn-lt"/>
              <a:cs typeface="Times New Roman" panose="02020603050405020304" pitchFamily="18" charset="0"/>
            </a:endParaRPr>
          </a:p>
          <a:p>
            <a:pPr algn="ct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ủng</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hộ</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doanh</a:t>
            </a:r>
            <a:r>
              <a:rPr lang="en-US" sz="2800">
                <a:solidFill>
                  <a:srgbClr val="232B34"/>
                </a:solidFill>
                <a:latin typeface="+mn-lt"/>
                <a:cs typeface="Times New Roman" panose="02020603050405020304" pitchFamily="18" charset="0"/>
              </a:rPr>
              <a:t> </a:t>
            </a:r>
            <a:r>
              <a:rPr lang="en-US" sz="2800" err="1">
                <a:solidFill>
                  <a:srgbClr val="232B34"/>
                </a:solidFill>
                <a:latin typeface="+mn-lt"/>
                <a:cs typeface="Times New Roman" panose="02020603050405020304" pitchFamily="18" charset="0"/>
              </a:rPr>
              <a:t>nghiệp</a:t>
            </a:r>
            <a:r>
              <a:rPr lang="en-US" sz="2800">
                <a:solidFill>
                  <a:srgbClr val="232B34"/>
                </a:solidFill>
                <a:latin typeface="+mn-lt"/>
                <a:cs typeface="Times New Roman" panose="02020603050405020304" pitchFamily="18" charset="0"/>
              </a:rPr>
              <a:t>.</a:t>
            </a:r>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1993" y="2244437"/>
            <a:ext cx="1616364" cy="2798617"/>
          </a:xfrm>
          <a:prstGeom prst="rect">
            <a:avLst/>
          </a:prstGeom>
        </p:spPr>
      </p:pic>
    </p:spTree>
    <p:extLst>
      <p:ext uri="{BB962C8B-B14F-4D97-AF65-F5344CB8AC3E}">
        <p14:creationId xmlns:p14="http://schemas.microsoft.com/office/powerpoint/2010/main" val="2746405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0"/>
          <p:cNvSpPr txBox="1">
            <a:spLocks noGrp="1"/>
          </p:cNvSpPr>
          <p:nvPr>
            <p:ph type="body" idx="1"/>
          </p:nvPr>
        </p:nvSpPr>
        <p:spPr>
          <a:xfrm>
            <a:off x="838200" y="657726"/>
            <a:ext cx="10515600" cy="551923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r>
              <a:rPr lang="en-US" sz="3200" b="1">
                <a:latin typeface="Arial"/>
                <a:ea typeface="Arial"/>
                <a:cs typeface="Arial"/>
                <a:sym typeface="Arial"/>
              </a:rPr>
              <a:t> </a:t>
            </a:r>
            <a:r>
              <a:rPr lang="vi-VN" sz="3200" b="1" err="1"/>
              <a:t>K</a:t>
            </a:r>
            <a:r>
              <a:rPr lang="en-US" sz="3200" b="1" err="1">
                <a:latin typeface="Arial"/>
                <a:ea typeface="Arial"/>
                <a:cs typeface="Arial"/>
                <a:sym typeface="Arial"/>
              </a:rPr>
              <a:t>hách</a:t>
            </a:r>
            <a:r>
              <a:rPr lang="en-US" sz="3200" b="1">
                <a:latin typeface="Arial"/>
                <a:ea typeface="Arial"/>
                <a:cs typeface="Arial"/>
                <a:sym typeface="Arial"/>
              </a:rPr>
              <a:t> </a:t>
            </a:r>
            <a:r>
              <a:rPr lang="en-US" sz="3200" b="1" err="1">
                <a:latin typeface="Arial"/>
                <a:ea typeface="Arial"/>
                <a:cs typeface="Arial"/>
                <a:sym typeface="Arial"/>
              </a:rPr>
              <a:t>hàng</a:t>
            </a:r>
            <a:r>
              <a:rPr lang="en-US" sz="3200" b="1">
                <a:latin typeface="Arial"/>
                <a:ea typeface="Arial"/>
                <a:cs typeface="Arial"/>
                <a:sym typeface="Arial"/>
              </a:rPr>
              <a:t> </a:t>
            </a:r>
            <a:r>
              <a:rPr lang="en-US" sz="3200" b="1" err="1">
                <a:latin typeface="Arial"/>
                <a:ea typeface="Arial"/>
                <a:cs typeface="Arial"/>
                <a:sym typeface="Arial"/>
              </a:rPr>
              <a:t>cá</a:t>
            </a:r>
            <a:r>
              <a:rPr lang="en-US" sz="3200" b="1">
                <a:latin typeface="Arial"/>
                <a:ea typeface="Arial"/>
                <a:cs typeface="Arial"/>
                <a:sym typeface="Arial"/>
              </a:rPr>
              <a:t> </a:t>
            </a:r>
            <a:r>
              <a:rPr lang="en-US" sz="3200" b="1" err="1">
                <a:latin typeface="Arial"/>
                <a:ea typeface="Arial"/>
                <a:cs typeface="Arial"/>
                <a:sym typeface="Arial"/>
              </a:rPr>
              <a:t>nhân</a:t>
            </a:r>
            <a:r>
              <a:rPr lang="en-US" sz="3200" b="1">
                <a:latin typeface="Arial"/>
                <a:ea typeface="Arial"/>
                <a:cs typeface="Arial"/>
                <a:sym typeface="Arial"/>
              </a:rPr>
              <a:t> </a:t>
            </a:r>
            <a:r>
              <a:rPr lang="en-US" sz="3200" b="1" err="1">
                <a:latin typeface="Arial"/>
                <a:ea typeface="Arial"/>
                <a:cs typeface="Arial"/>
                <a:sym typeface="Arial"/>
              </a:rPr>
              <a:t>và</a:t>
            </a:r>
            <a:r>
              <a:rPr lang="en-US" sz="3200" b="1">
                <a:latin typeface="Arial"/>
                <a:ea typeface="Arial"/>
                <a:cs typeface="Arial"/>
                <a:sym typeface="Arial"/>
              </a:rPr>
              <a:t> </a:t>
            </a:r>
            <a:r>
              <a:rPr lang="en-US" sz="3200" b="1" err="1">
                <a:latin typeface="Arial"/>
                <a:ea typeface="Arial"/>
                <a:cs typeface="Arial"/>
                <a:sym typeface="Arial"/>
              </a:rPr>
              <a:t>tổ</a:t>
            </a:r>
            <a:r>
              <a:rPr lang="en-US" sz="3200" b="1">
                <a:latin typeface="Arial"/>
                <a:ea typeface="Arial"/>
                <a:cs typeface="Arial"/>
                <a:sym typeface="Arial"/>
              </a:rPr>
              <a:t> </a:t>
            </a:r>
            <a:r>
              <a:rPr lang="en-US" sz="3200" b="1" err="1">
                <a:latin typeface="Arial"/>
                <a:ea typeface="Arial"/>
                <a:cs typeface="Arial"/>
                <a:sym typeface="Arial"/>
              </a:rPr>
              <a:t>chức</a:t>
            </a:r>
            <a:endParaRPr sz="3200" b="1">
              <a:latin typeface="Arial"/>
              <a:ea typeface="Arial"/>
              <a:cs typeface="Arial"/>
              <a:sym typeface="Arial"/>
            </a:endParaRPr>
          </a:p>
          <a:p>
            <a:pPr marL="0" lvl="0" indent="0" algn="ctr" rtl="0">
              <a:lnSpc>
                <a:spcPct val="90000"/>
              </a:lnSpc>
              <a:spcBef>
                <a:spcPts val="1000"/>
              </a:spcBef>
              <a:spcAft>
                <a:spcPts val="0"/>
              </a:spcAft>
              <a:buClr>
                <a:schemeClr val="dk1"/>
              </a:buClr>
              <a:buSzPts val="3200"/>
              <a:buNone/>
            </a:pPr>
            <a:r>
              <a:rPr lang="en-US" sz="3200" b="1">
                <a:latin typeface="Arial"/>
                <a:ea typeface="Arial"/>
                <a:cs typeface="Arial"/>
                <a:sym typeface="Arial"/>
              </a:rPr>
              <a:t> </a:t>
            </a:r>
            <a:r>
              <a:rPr lang="en-US" sz="2400" b="1" err="1">
                <a:latin typeface="Arial"/>
                <a:ea typeface="Arial"/>
                <a:cs typeface="Arial"/>
                <a:sym typeface="Arial"/>
              </a:rPr>
              <a:t>Bảng</a:t>
            </a:r>
            <a:r>
              <a:rPr lang="en-US" sz="2400" b="1">
                <a:latin typeface="Arial"/>
                <a:ea typeface="Arial"/>
                <a:cs typeface="Arial"/>
                <a:sym typeface="Arial"/>
              </a:rPr>
              <a:t> 1.</a:t>
            </a:r>
            <a:r>
              <a:rPr lang="vi-VN" sz="2400" b="1">
                <a:latin typeface="Arial"/>
                <a:ea typeface="Arial"/>
                <a:cs typeface="Arial"/>
                <a:sym typeface="Arial"/>
              </a:rPr>
              <a:t>2</a:t>
            </a:r>
            <a:r>
              <a:rPr lang="en-US" sz="2400" b="1">
                <a:latin typeface="Arial"/>
                <a:ea typeface="Arial"/>
                <a:cs typeface="Arial"/>
                <a:sym typeface="Arial"/>
              </a:rPr>
              <a:t> </a:t>
            </a:r>
            <a:r>
              <a:rPr lang="en-US" sz="2400" b="1" err="1">
                <a:latin typeface="Arial"/>
                <a:ea typeface="Arial"/>
                <a:cs typeface="Arial"/>
                <a:sym typeface="Arial"/>
              </a:rPr>
              <a:t>Sự</a:t>
            </a:r>
            <a:r>
              <a:rPr lang="en-US" sz="2400" b="1">
                <a:latin typeface="Arial"/>
                <a:ea typeface="Arial"/>
                <a:cs typeface="Arial"/>
                <a:sym typeface="Arial"/>
              </a:rPr>
              <a:t> </a:t>
            </a:r>
            <a:r>
              <a:rPr lang="en-US" sz="2400" b="1" err="1">
                <a:latin typeface="Arial"/>
                <a:ea typeface="Arial"/>
                <a:cs typeface="Arial"/>
                <a:sym typeface="Arial"/>
              </a:rPr>
              <a:t>khác</a:t>
            </a:r>
            <a:r>
              <a:rPr lang="en-US" sz="2400" b="1">
                <a:latin typeface="Arial"/>
                <a:ea typeface="Arial"/>
                <a:cs typeface="Arial"/>
                <a:sym typeface="Arial"/>
              </a:rPr>
              <a:t> </a:t>
            </a:r>
            <a:r>
              <a:rPr lang="en-US" sz="2400" b="1" err="1">
                <a:latin typeface="Arial"/>
                <a:ea typeface="Arial"/>
                <a:cs typeface="Arial"/>
                <a:sym typeface="Arial"/>
              </a:rPr>
              <a:t>nhau</a:t>
            </a:r>
            <a:r>
              <a:rPr lang="en-US" sz="2400" b="1">
                <a:latin typeface="Arial"/>
                <a:ea typeface="Arial"/>
                <a:cs typeface="Arial"/>
                <a:sym typeface="Arial"/>
              </a:rPr>
              <a:t> </a:t>
            </a:r>
            <a:r>
              <a:rPr lang="en-US" sz="2400" b="1" err="1">
                <a:latin typeface="Arial"/>
                <a:ea typeface="Arial"/>
                <a:cs typeface="Arial"/>
                <a:sym typeface="Arial"/>
              </a:rPr>
              <a:t>giữa</a:t>
            </a:r>
            <a:r>
              <a:rPr lang="en-US" sz="2400" b="1">
                <a:latin typeface="Arial"/>
                <a:ea typeface="Arial"/>
                <a:cs typeface="Arial"/>
                <a:sym typeface="Arial"/>
              </a:rPr>
              <a:t> KH </a:t>
            </a:r>
            <a:r>
              <a:rPr lang="en-US" sz="2400" b="1" err="1">
                <a:latin typeface="Arial"/>
                <a:ea typeface="Arial"/>
                <a:cs typeface="Arial"/>
                <a:sym typeface="Arial"/>
              </a:rPr>
              <a:t>cá</a:t>
            </a:r>
            <a:r>
              <a:rPr lang="en-US" sz="2400" b="1">
                <a:latin typeface="Arial"/>
                <a:ea typeface="Arial"/>
                <a:cs typeface="Arial"/>
                <a:sym typeface="Arial"/>
              </a:rPr>
              <a:t> </a:t>
            </a:r>
            <a:r>
              <a:rPr lang="en-US" sz="2400" b="1" err="1">
                <a:latin typeface="Arial"/>
                <a:ea typeface="Arial"/>
                <a:cs typeface="Arial"/>
                <a:sym typeface="Arial"/>
              </a:rPr>
              <a:t>nhân</a:t>
            </a:r>
            <a:r>
              <a:rPr lang="en-US" sz="2400" b="1">
                <a:latin typeface="Arial"/>
                <a:ea typeface="Arial"/>
                <a:cs typeface="Arial"/>
                <a:sym typeface="Arial"/>
              </a:rPr>
              <a:t> </a:t>
            </a:r>
            <a:r>
              <a:rPr lang="en-US" sz="2400" b="1" err="1">
                <a:latin typeface="Arial"/>
                <a:ea typeface="Arial"/>
                <a:cs typeface="Arial"/>
                <a:sym typeface="Arial"/>
              </a:rPr>
              <a:t>và</a:t>
            </a:r>
            <a:r>
              <a:rPr lang="en-US" sz="2400" b="1">
                <a:latin typeface="Arial"/>
                <a:ea typeface="Arial"/>
                <a:cs typeface="Arial"/>
                <a:sym typeface="Arial"/>
              </a:rPr>
              <a:t> </a:t>
            </a:r>
            <a:r>
              <a:rPr lang="en-US" sz="2400" b="1" err="1">
                <a:latin typeface="Arial"/>
                <a:ea typeface="Arial"/>
                <a:cs typeface="Arial"/>
                <a:sym typeface="Arial"/>
              </a:rPr>
              <a:t>tổ</a:t>
            </a:r>
            <a:r>
              <a:rPr lang="en-US" sz="2400" b="1">
                <a:latin typeface="Arial"/>
                <a:ea typeface="Arial"/>
                <a:cs typeface="Arial"/>
                <a:sym typeface="Arial"/>
              </a:rPr>
              <a:t> </a:t>
            </a:r>
            <a:r>
              <a:rPr lang="en-US" sz="2400" b="1" err="1">
                <a:latin typeface="Arial"/>
                <a:ea typeface="Arial"/>
                <a:cs typeface="Arial"/>
                <a:sym typeface="Arial"/>
              </a:rPr>
              <a:t>chức</a:t>
            </a:r>
            <a:endParaRPr sz="2400"/>
          </a:p>
        </p:txBody>
      </p:sp>
      <p:graphicFrame>
        <p:nvGraphicFramePr>
          <p:cNvPr id="244" name="Google Shape;244;p30"/>
          <p:cNvGraphicFramePr/>
          <p:nvPr>
            <p:extLst>
              <p:ext uri="{D42A27DB-BD31-4B8C-83A1-F6EECF244321}">
                <p14:modId xmlns:p14="http://schemas.microsoft.com/office/powerpoint/2010/main" val="797285069"/>
              </p:ext>
            </p:extLst>
          </p:nvPr>
        </p:nvGraphicFramePr>
        <p:xfrm>
          <a:off x="971550" y="1941095"/>
          <a:ext cx="10382250" cy="3932975"/>
        </p:xfrm>
        <a:graphic>
          <a:graphicData uri="http://schemas.openxmlformats.org/drawingml/2006/table">
            <a:tbl>
              <a:tblPr firstRow="1" bandRow="1">
                <a:noFill/>
                <a:tableStyleId>{4A6342F4-E3B8-4AE7-892F-69534030CBAD}</a:tableStyleId>
              </a:tblPr>
              <a:tblGrid>
                <a:gridCol w="2697475">
                  <a:extLst>
                    <a:ext uri="{9D8B030D-6E8A-4147-A177-3AD203B41FA5}">
                      <a16:colId xmlns:a16="http://schemas.microsoft.com/office/drawing/2014/main" val="20000"/>
                    </a:ext>
                  </a:extLst>
                </a:gridCol>
                <a:gridCol w="4034800">
                  <a:extLst>
                    <a:ext uri="{9D8B030D-6E8A-4147-A177-3AD203B41FA5}">
                      <a16:colId xmlns:a16="http://schemas.microsoft.com/office/drawing/2014/main" val="20001"/>
                    </a:ext>
                  </a:extLst>
                </a:gridCol>
                <a:gridCol w="3649975">
                  <a:extLst>
                    <a:ext uri="{9D8B030D-6E8A-4147-A177-3AD203B41FA5}">
                      <a16:colId xmlns:a16="http://schemas.microsoft.com/office/drawing/2014/main" val="20002"/>
                    </a:ext>
                  </a:extLst>
                </a:gridCol>
              </a:tblGrid>
              <a:tr h="650700">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err="1"/>
                        <a:t>Tiêu</a:t>
                      </a:r>
                      <a:r>
                        <a:rPr lang="en-US" sz="2400" b="1" u="none" strike="noStrike" cap="none"/>
                        <a:t> </a:t>
                      </a:r>
                      <a:r>
                        <a:rPr lang="en-US" sz="2400" b="1" u="none" strike="noStrike" cap="none" err="1"/>
                        <a:t>chí</a:t>
                      </a:r>
                      <a:endParaRPr sz="2400" b="1" u="none" strike="noStrike" cap="none">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t>KH </a:t>
                      </a:r>
                      <a:r>
                        <a:rPr lang="en-US" sz="2400" b="1" u="none" strike="noStrike" cap="none" err="1"/>
                        <a:t>cá</a:t>
                      </a:r>
                      <a:r>
                        <a:rPr lang="en-US" sz="2400" b="1" u="none" strike="noStrike" cap="none"/>
                        <a:t> </a:t>
                      </a:r>
                      <a:r>
                        <a:rPr lang="en-US" sz="2400" b="1" u="none" strike="noStrike" cap="none" err="1"/>
                        <a:t>nhân</a:t>
                      </a:r>
                      <a:endParaRPr sz="2400" b="1" u="none" strike="noStrike" cap="none">
                        <a:latin typeface="Arial"/>
                        <a:ea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t>KH </a:t>
                      </a:r>
                      <a:r>
                        <a:rPr lang="en-US" sz="2400" b="1" u="none" strike="noStrike" cap="none" err="1"/>
                        <a:t>tổ</a:t>
                      </a:r>
                      <a:r>
                        <a:rPr lang="en-US" sz="2400" b="1" u="none" strike="noStrike" cap="none"/>
                        <a:t> </a:t>
                      </a:r>
                      <a:r>
                        <a:rPr lang="en-US" sz="2400" b="1" u="none" strike="noStrike" cap="none" err="1"/>
                        <a:t>chức</a:t>
                      </a:r>
                      <a:endParaRPr sz="2400" b="1"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0"/>
                  </a:ext>
                </a:extLst>
              </a:tr>
              <a:tr h="885725">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Đối tượng mục tiêu</a:t>
                      </a:r>
                      <a:endParaRPr sz="24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Cá nhân và hộ gia đình</a:t>
                      </a:r>
                      <a:endParaRPr sz="24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Tổ chức, Doanh nghiệp kinh doanh</a:t>
                      </a:r>
                      <a:endParaRPr sz="24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885725">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Mục đích mua</a:t>
                      </a:r>
                      <a:endParaRPr sz="24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Sở hữu hay tiêu dùng cho nhu cầu cá nhân </a:t>
                      </a:r>
                      <a:endParaRPr sz="24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Bán lại, sử dụng cho tổ chức</a:t>
                      </a:r>
                      <a:endParaRPr sz="24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r h="885725">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Số lượng mua</a:t>
                      </a:r>
                      <a:endParaRPr sz="24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Số lượng nhỏ</a:t>
                      </a:r>
                      <a:endParaRPr sz="24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Số lượng lớn</a:t>
                      </a:r>
                      <a:endParaRPr sz="1400" u="none" strike="noStrike" cap="none"/>
                    </a:p>
                    <a:p>
                      <a:pPr marL="0" marR="0" lvl="0" indent="0" algn="l" rtl="0">
                        <a:lnSpc>
                          <a:spcPct val="100000"/>
                        </a:lnSpc>
                        <a:spcBef>
                          <a:spcPts val="0"/>
                        </a:spcBef>
                        <a:spcAft>
                          <a:spcPts val="0"/>
                        </a:spcAft>
                        <a:buClr>
                          <a:srgbClr val="000000"/>
                        </a:buClr>
                        <a:buSzPts val="2400"/>
                        <a:buFont typeface="Arial"/>
                        <a:buNone/>
                      </a:pPr>
                      <a:endParaRPr sz="24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3"/>
                  </a:ext>
                </a:extLst>
              </a:tr>
              <a:tr h="625100">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Ngân sách</a:t>
                      </a:r>
                      <a:endParaRPr sz="24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Cá nhân</a:t>
                      </a:r>
                      <a:endParaRPr sz="2400" u="none" strike="noStrike" cap="none">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err="1"/>
                        <a:t>Tổ</a:t>
                      </a:r>
                      <a:r>
                        <a:rPr lang="en-US" sz="2400" u="none" strike="noStrike" cap="none"/>
                        <a:t> </a:t>
                      </a:r>
                      <a:r>
                        <a:rPr lang="en-US" sz="2400" u="none" strike="noStrike" cap="none" err="1"/>
                        <a:t>chức</a:t>
                      </a:r>
                      <a:r>
                        <a:rPr lang="en-US" sz="2400" u="none" strike="noStrike" cap="none"/>
                        <a:t>, </a:t>
                      </a:r>
                      <a:r>
                        <a:rPr lang="en-US" sz="2400" u="none" strike="noStrike" cap="none" err="1"/>
                        <a:t>nhà</a:t>
                      </a:r>
                      <a:r>
                        <a:rPr lang="en-US" sz="2400" u="none" strike="noStrike" cap="none"/>
                        <a:t> </a:t>
                      </a:r>
                      <a:r>
                        <a:rPr lang="en-US" sz="2400" u="none" strike="noStrike" cap="none" err="1"/>
                        <a:t>nước</a:t>
                      </a:r>
                      <a:endParaRPr sz="24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609600" y="325756"/>
            <a:ext cx="10728158" cy="891539"/>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Arial"/>
              <a:buNone/>
            </a:pPr>
            <a:r>
              <a:rPr lang="en-US" sz="3600" b="1">
                <a:latin typeface="Arial"/>
                <a:ea typeface="Arial"/>
                <a:cs typeface="Arial"/>
                <a:sym typeface="Arial"/>
              </a:rPr>
              <a:t> </a:t>
            </a:r>
            <a:r>
              <a:rPr lang="en-US" sz="3600" b="1" err="1">
                <a:latin typeface="Arial"/>
                <a:ea typeface="Arial"/>
                <a:cs typeface="Arial"/>
                <a:sym typeface="Arial"/>
              </a:rPr>
              <a:t>Phân</a:t>
            </a:r>
            <a:r>
              <a:rPr lang="en-US" sz="3600" b="1">
                <a:latin typeface="Arial"/>
                <a:ea typeface="Arial"/>
                <a:cs typeface="Arial"/>
                <a:sym typeface="Arial"/>
              </a:rPr>
              <a:t> </a:t>
            </a:r>
            <a:r>
              <a:rPr lang="en-US" sz="3600" b="1" err="1">
                <a:latin typeface="Arial"/>
                <a:ea typeface="Arial"/>
                <a:cs typeface="Arial"/>
                <a:sym typeface="Arial"/>
              </a:rPr>
              <a:t>loại</a:t>
            </a:r>
            <a:r>
              <a:rPr lang="en-US" sz="3600" b="1">
                <a:latin typeface="Arial"/>
                <a:ea typeface="Arial"/>
                <a:cs typeface="Arial"/>
                <a:sym typeface="Arial"/>
              </a:rPr>
              <a:t> </a:t>
            </a:r>
            <a:r>
              <a:rPr lang="en-US" sz="3600" b="1" err="1">
                <a:latin typeface="Arial"/>
                <a:ea typeface="Arial"/>
                <a:cs typeface="Arial"/>
                <a:sym typeface="Arial"/>
              </a:rPr>
              <a:t>khách</a:t>
            </a:r>
            <a:r>
              <a:rPr lang="en-US" sz="3600" b="1">
                <a:latin typeface="Arial"/>
                <a:ea typeface="Arial"/>
                <a:cs typeface="Arial"/>
                <a:sym typeface="Arial"/>
              </a:rPr>
              <a:t> </a:t>
            </a:r>
            <a:r>
              <a:rPr lang="en-US" sz="3600" b="1" err="1">
                <a:latin typeface="Arial"/>
                <a:ea typeface="Arial"/>
                <a:cs typeface="Arial"/>
                <a:sym typeface="Arial"/>
              </a:rPr>
              <a:t>hàng</a:t>
            </a:r>
            <a:r>
              <a:rPr lang="en-US" sz="3600" b="1">
                <a:latin typeface="Arial"/>
                <a:ea typeface="Arial"/>
                <a:cs typeface="Arial"/>
                <a:sym typeface="Arial"/>
              </a:rPr>
              <a:t> </a:t>
            </a:r>
            <a:r>
              <a:rPr lang="en-US" sz="3600" b="1" err="1">
                <a:latin typeface="Arial"/>
                <a:ea typeface="Arial"/>
                <a:cs typeface="Arial"/>
                <a:sym typeface="Arial"/>
              </a:rPr>
              <a:t>cá</a:t>
            </a:r>
            <a:r>
              <a:rPr lang="en-US" sz="3600" b="1">
                <a:latin typeface="Arial"/>
                <a:ea typeface="Arial"/>
                <a:cs typeface="Arial"/>
                <a:sym typeface="Arial"/>
              </a:rPr>
              <a:t> </a:t>
            </a:r>
            <a:r>
              <a:rPr lang="en-US" sz="3600" b="1" err="1">
                <a:latin typeface="Arial"/>
                <a:ea typeface="Arial"/>
                <a:cs typeface="Arial"/>
                <a:sym typeface="Arial"/>
              </a:rPr>
              <a:t>nhân</a:t>
            </a:r>
            <a:br>
              <a:rPr lang="en-US" sz="3200" b="1"/>
            </a:br>
            <a:endParaRPr sz="3200"/>
          </a:p>
        </p:txBody>
      </p:sp>
      <p:sp>
        <p:nvSpPr>
          <p:cNvPr id="147" name="Google Shape;147;p23"/>
          <p:cNvSpPr txBox="1">
            <a:spLocks noGrp="1"/>
          </p:cNvSpPr>
          <p:nvPr>
            <p:ph type="body" idx="1"/>
          </p:nvPr>
        </p:nvSpPr>
        <p:spPr>
          <a:xfrm>
            <a:off x="838200" y="492046"/>
            <a:ext cx="10744200" cy="512484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sz="2400" b="1">
              <a:latin typeface="Arial"/>
              <a:ea typeface="Arial"/>
              <a:cs typeface="Arial"/>
              <a:sym typeface="Arial"/>
            </a:endParaRPr>
          </a:p>
          <a:p>
            <a:pPr marL="0" lvl="0" indent="0" algn="ctr" rtl="0">
              <a:lnSpc>
                <a:spcPct val="90000"/>
              </a:lnSpc>
              <a:spcBef>
                <a:spcPts val="1000"/>
              </a:spcBef>
              <a:spcAft>
                <a:spcPts val="0"/>
              </a:spcAft>
              <a:buClr>
                <a:schemeClr val="dk1"/>
              </a:buClr>
              <a:buSzPts val="2400"/>
              <a:buNone/>
            </a:pPr>
            <a:r>
              <a:rPr lang="en-US" sz="2400" b="1" err="1">
                <a:latin typeface="Arial"/>
                <a:ea typeface="Arial"/>
                <a:cs typeface="Arial"/>
                <a:sym typeface="Arial"/>
              </a:rPr>
              <a:t>Bảng</a:t>
            </a:r>
            <a:r>
              <a:rPr lang="en-US" sz="2400" b="1">
                <a:latin typeface="Arial"/>
                <a:ea typeface="Arial"/>
                <a:cs typeface="Arial"/>
                <a:sym typeface="Arial"/>
              </a:rPr>
              <a:t> 1.</a:t>
            </a:r>
            <a:r>
              <a:rPr lang="vi-VN" sz="2400" b="1">
                <a:latin typeface="Arial"/>
                <a:ea typeface="Arial"/>
                <a:cs typeface="Arial"/>
                <a:sym typeface="Arial"/>
              </a:rPr>
              <a:t>3</a:t>
            </a:r>
            <a:r>
              <a:rPr lang="en-US" sz="2400" b="1">
                <a:latin typeface="Arial"/>
                <a:ea typeface="Arial"/>
                <a:cs typeface="Arial"/>
                <a:sym typeface="Arial"/>
              </a:rPr>
              <a:t> </a:t>
            </a:r>
            <a:r>
              <a:rPr lang="en-US" sz="2400" b="1" err="1">
                <a:latin typeface="Arial"/>
                <a:ea typeface="Arial"/>
                <a:cs typeface="Arial"/>
                <a:sym typeface="Arial"/>
              </a:rPr>
              <a:t>Phân</a:t>
            </a:r>
            <a:r>
              <a:rPr lang="en-US" sz="2400" b="1">
                <a:latin typeface="Arial"/>
                <a:ea typeface="Arial"/>
                <a:cs typeface="Arial"/>
                <a:sym typeface="Arial"/>
              </a:rPr>
              <a:t> </a:t>
            </a:r>
            <a:r>
              <a:rPr lang="en-US" sz="2400" b="1" err="1">
                <a:latin typeface="Arial"/>
                <a:ea typeface="Arial"/>
                <a:cs typeface="Arial"/>
                <a:sym typeface="Arial"/>
              </a:rPr>
              <a:t>loại</a:t>
            </a:r>
            <a:r>
              <a:rPr lang="en-US" sz="2400" b="1">
                <a:latin typeface="Arial"/>
                <a:ea typeface="Arial"/>
                <a:cs typeface="Arial"/>
                <a:sym typeface="Arial"/>
              </a:rPr>
              <a:t> </a:t>
            </a:r>
            <a:r>
              <a:rPr lang="en-US" sz="2400" b="1" err="1">
                <a:latin typeface="Arial"/>
                <a:ea typeface="Arial"/>
                <a:cs typeface="Arial"/>
                <a:sym typeface="Arial"/>
              </a:rPr>
              <a:t>khách</a:t>
            </a:r>
            <a:r>
              <a:rPr lang="en-US" sz="2400" b="1">
                <a:latin typeface="Arial"/>
                <a:ea typeface="Arial"/>
                <a:cs typeface="Arial"/>
                <a:sym typeface="Arial"/>
              </a:rPr>
              <a:t> </a:t>
            </a:r>
            <a:r>
              <a:rPr lang="en-US" sz="2400" b="1" err="1">
                <a:latin typeface="Arial"/>
                <a:ea typeface="Arial"/>
                <a:cs typeface="Arial"/>
                <a:sym typeface="Arial"/>
              </a:rPr>
              <a:t>hàng</a:t>
            </a:r>
            <a:r>
              <a:rPr lang="en-US" sz="2400" b="1">
                <a:latin typeface="Arial"/>
                <a:ea typeface="Arial"/>
                <a:cs typeface="Arial"/>
                <a:sym typeface="Arial"/>
              </a:rPr>
              <a:t> </a:t>
            </a:r>
            <a:r>
              <a:rPr lang="en-US" sz="2400" b="1" err="1">
                <a:latin typeface="Arial"/>
                <a:ea typeface="Arial"/>
                <a:cs typeface="Arial"/>
                <a:sym typeface="Arial"/>
              </a:rPr>
              <a:t>cá</a:t>
            </a:r>
            <a:r>
              <a:rPr lang="en-US" sz="2400" b="1">
                <a:latin typeface="Arial"/>
                <a:ea typeface="Arial"/>
                <a:cs typeface="Arial"/>
                <a:sym typeface="Arial"/>
              </a:rPr>
              <a:t> </a:t>
            </a:r>
            <a:r>
              <a:rPr lang="en-US" sz="2400" b="1" err="1">
                <a:latin typeface="Arial"/>
                <a:ea typeface="Arial"/>
                <a:cs typeface="Arial"/>
                <a:sym typeface="Arial"/>
              </a:rPr>
              <a:t>nhân</a:t>
            </a:r>
            <a:endParaRPr/>
          </a:p>
        </p:txBody>
      </p:sp>
      <p:graphicFrame>
        <p:nvGraphicFramePr>
          <p:cNvPr id="148" name="Google Shape;148;p23"/>
          <p:cNvGraphicFramePr/>
          <p:nvPr/>
        </p:nvGraphicFramePr>
        <p:xfrm>
          <a:off x="251460" y="1407397"/>
          <a:ext cx="11601450" cy="5124825"/>
        </p:xfrm>
        <a:graphic>
          <a:graphicData uri="http://schemas.openxmlformats.org/drawingml/2006/table">
            <a:tbl>
              <a:tblPr firstRow="1" bandRow="1">
                <a:noFill/>
                <a:tableStyleId>{4A6342F4-E3B8-4AE7-892F-69534030CBAD}</a:tableStyleId>
              </a:tblPr>
              <a:tblGrid>
                <a:gridCol w="3771900">
                  <a:extLst>
                    <a:ext uri="{9D8B030D-6E8A-4147-A177-3AD203B41FA5}">
                      <a16:colId xmlns:a16="http://schemas.microsoft.com/office/drawing/2014/main" val="20000"/>
                    </a:ext>
                  </a:extLst>
                </a:gridCol>
                <a:gridCol w="7829550">
                  <a:extLst>
                    <a:ext uri="{9D8B030D-6E8A-4147-A177-3AD203B41FA5}">
                      <a16:colId xmlns:a16="http://schemas.microsoft.com/office/drawing/2014/main" val="20001"/>
                    </a:ext>
                  </a:extLst>
                </a:gridCol>
              </a:tblGrid>
              <a:tr h="534225">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latin typeface="Arial"/>
                          <a:ea typeface="Arial"/>
                          <a:cs typeface="Arial"/>
                          <a:sym typeface="Arial"/>
                        </a:rPr>
                        <a:t>Thuật ngữ </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latin typeface="Arial"/>
                          <a:ea typeface="Arial"/>
                          <a:cs typeface="Arial"/>
                          <a:sym typeface="Arial"/>
                        </a:rPr>
                        <a:t>Nội hàm</a:t>
                      </a:r>
                      <a:endParaRPr sz="1400" u="none" strike="noStrike" cap="none"/>
                    </a:p>
                  </a:txBody>
                  <a:tcPr marL="91450" marR="91450" marT="45725" marB="45725"/>
                </a:tc>
                <a:extLst>
                  <a:ext uri="{0D108BD9-81ED-4DB2-BD59-A6C34878D82A}">
                    <a16:rowId xmlns:a16="http://schemas.microsoft.com/office/drawing/2014/main" val="10000"/>
                  </a:ext>
                </a:extLst>
              </a:tr>
              <a:tr h="561525">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Khách hàng mục tiêu (Suspect)</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Khách hàng chung, những người / tổ chức trong phân khúc KH mục tiêu của DN</a:t>
                      </a:r>
                      <a:endParaRPr sz="1400" u="none" strike="noStrike" cap="none"/>
                    </a:p>
                  </a:txBody>
                  <a:tcPr marL="91450" marR="91450" marT="45725" marB="45725" anchor="ctr"/>
                </a:tc>
                <a:extLst>
                  <a:ext uri="{0D108BD9-81ED-4DB2-BD59-A6C34878D82A}">
                    <a16:rowId xmlns:a16="http://schemas.microsoft.com/office/drawing/2014/main" val="10001"/>
                  </a:ext>
                </a:extLst>
              </a:tr>
              <a:tr h="561525">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Khách hàng tiềm năng (Prospect)</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Khách hàng đã có nhu cầu phù hợp với sản phẩm, dịch vụ của DN</a:t>
                      </a:r>
                      <a:endParaRPr sz="1400" u="none" strike="noStrike" cap="none"/>
                    </a:p>
                  </a:txBody>
                  <a:tcPr marL="91450" marR="91450" marT="45725" marB="45725" anchor="ctr"/>
                </a:tc>
                <a:extLst>
                  <a:ext uri="{0D108BD9-81ED-4DB2-BD59-A6C34878D82A}">
                    <a16:rowId xmlns:a16="http://schemas.microsoft.com/office/drawing/2014/main" val="10002"/>
                  </a:ext>
                </a:extLst>
              </a:tr>
              <a:tr h="561525">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Khách hàng triển vọng (Lead)</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Người có nhu cầu và khả năng thanh toán, đã tiếp cận DN để tìm hiểu sản phẩm</a:t>
                      </a:r>
                      <a:endParaRPr sz="1400" u="none" strike="noStrike" cap="none"/>
                    </a:p>
                  </a:txBody>
                  <a:tcPr marL="91450" marR="91450" marT="45725" marB="45725" anchor="ctr"/>
                </a:tc>
                <a:extLst>
                  <a:ext uri="{0D108BD9-81ED-4DB2-BD59-A6C34878D82A}">
                    <a16:rowId xmlns:a16="http://schemas.microsoft.com/office/drawing/2014/main" val="10003"/>
                  </a:ext>
                </a:extLst>
              </a:tr>
              <a:tr h="561525">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Khách hàng trung thành (Client)</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Người đã mua, sử dụng sản phẩm dịch vụ của DN từ 2 lần trở lên</a:t>
                      </a:r>
                      <a:endParaRPr sz="1400" u="none" strike="noStrike" cap="none"/>
                    </a:p>
                  </a:txBody>
                  <a:tcPr marL="91450" marR="91450" marT="45725" marB="45725" anchor="ctr"/>
                </a:tc>
                <a:extLst>
                  <a:ext uri="{0D108BD9-81ED-4DB2-BD59-A6C34878D82A}">
                    <a16:rowId xmlns:a16="http://schemas.microsoft.com/office/drawing/2014/main" val="10004"/>
                  </a:ext>
                </a:extLst>
              </a:tr>
              <a:tr h="561525">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Khách hàng/ người hỗ trợ (Supporter)</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err="1">
                          <a:latin typeface="Arial"/>
                          <a:ea typeface="Arial"/>
                          <a:cs typeface="Arial"/>
                          <a:sym typeface="Arial"/>
                        </a:rPr>
                        <a:t>Người</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đã</a:t>
                      </a:r>
                      <a:r>
                        <a:rPr lang="en-US" sz="1600" u="none" strike="noStrike" cap="none">
                          <a:latin typeface="Arial"/>
                          <a:ea typeface="Arial"/>
                          <a:cs typeface="Arial"/>
                          <a:sym typeface="Arial"/>
                        </a:rPr>
                        <a:t> mua, </a:t>
                      </a:r>
                      <a:r>
                        <a:rPr lang="en-US" sz="1600" u="none" strike="noStrike" cap="none" err="1">
                          <a:latin typeface="Arial"/>
                          <a:ea typeface="Arial"/>
                          <a:cs typeface="Arial"/>
                          <a:sym typeface="Arial"/>
                        </a:rPr>
                        <a:t>sử</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dụng</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và</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giới</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thiệu</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sản</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phẩm</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dịch</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vụ</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của</a:t>
                      </a:r>
                      <a:r>
                        <a:rPr lang="en-US" sz="1600" u="none" strike="noStrike" cap="none">
                          <a:latin typeface="Arial"/>
                          <a:ea typeface="Arial"/>
                          <a:cs typeface="Arial"/>
                          <a:sym typeface="Arial"/>
                        </a:rPr>
                        <a:t> DN </a:t>
                      </a:r>
                      <a:r>
                        <a:rPr lang="en-US" sz="1600" u="none" strike="noStrike" cap="none" err="1">
                          <a:latin typeface="Arial"/>
                          <a:ea typeface="Arial"/>
                          <a:cs typeface="Arial"/>
                          <a:sym typeface="Arial"/>
                        </a:rPr>
                        <a:t>cho</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người</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khác</a:t>
                      </a:r>
                      <a:endParaRPr sz="1400" u="none" strike="noStrike" cap="none"/>
                    </a:p>
                  </a:txBody>
                  <a:tcPr marL="91450" marR="91450" marT="45725" marB="45725" anchor="ctr"/>
                </a:tc>
                <a:extLst>
                  <a:ext uri="{0D108BD9-81ED-4DB2-BD59-A6C34878D82A}">
                    <a16:rowId xmlns:a16="http://schemas.microsoft.com/office/drawing/2014/main" val="10005"/>
                  </a:ext>
                </a:extLst>
              </a:tr>
              <a:tr h="561525">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Khách hàng/ người biện hộ(Advocate)</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Người đã mua, sử dụng, biện hộ và bảo vệ cho sản phẩm, thương hiệu của DN</a:t>
                      </a:r>
                      <a:endParaRPr sz="1400" u="none" strike="noStrike" cap="none"/>
                    </a:p>
                  </a:txBody>
                  <a:tcPr marL="91450" marR="91450" marT="45725" marB="45725" anchor="ctr"/>
                </a:tc>
                <a:extLst>
                  <a:ext uri="{0D108BD9-81ED-4DB2-BD59-A6C34878D82A}">
                    <a16:rowId xmlns:a16="http://schemas.microsoft.com/office/drawing/2014/main" val="10006"/>
                  </a:ext>
                </a:extLst>
              </a:tr>
              <a:tr h="659925">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Khách hàng là thành viên  (Member)</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600"/>
                        <a:buFont typeface="Arial"/>
                        <a:buNone/>
                      </a:pPr>
                      <a:r>
                        <a:rPr lang="en-US" sz="1600" u="none" strike="noStrike" cap="none">
                          <a:latin typeface="Arial"/>
                          <a:ea typeface="Arial"/>
                          <a:cs typeface="Arial"/>
                          <a:sym typeface="Arial"/>
                        </a:rPr>
                        <a:t>Người đã mua, sử dụng, biện hộ và là thành viên hội nhóm sử dụng sản phẩm, của DN</a:t>
                      </a:r>
                      <a:endParaRPr sz="1400" u="none" strike="noStrike" cap="none"/>
                    </a:p>
                  </a:txBody>
                  <a:tcPr marL="91450" marR="91450" marT="45725" marB="45725" anchor="ctr"/>
                </a:tc>
                <a:extLst>
                  <a:ext uri="{0D108BD9-81ED-4DB2-BD59-A6C34878D82A}">
                    <a16:rowId xmlns:a16="http://schemas.microsoft.com/office/drawing/2014/main" val="10007"/>
                  </a:ext>
                </a:extLst>
              </a:tr>
              <a:tr h="561525">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Khách hàng và là đối tác  (Parner)</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err="1"/>
                        <a:t>Người</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đã</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mua</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sử</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dụng</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và</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là</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đối</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tác</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phân</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phối</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hoặc</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hỗ</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trợ</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doanh</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nghiệp</a:t>
                      </a:r>
                      <a:endParaRPr sz="1400" u="none" strike="noStrike" cap="none"/>
                    </a:p>
                  </a:txBody>
                  <a:tcPr marL="91450" marR="91450" marT="45725" marB="45725" anchor="ct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p:cNvSpPr txBox="1">
            <a:spLocks noGrp="1"/>
          </p:cNvSpPr>
          <p:nvPr>
            <p:ph type="subTitle" idx="1"/>
          </p:nvPr>
        </p:nvSpPr>
        <p:spPr>
          <a:xfrm>
            <a:off x="369455" y="2916469"/>
            <a:ext cx="11453090" cy="809711"/>
          </a:xfrm>
          <a:prstGeom prst="rect">
            <a:avLst/>
          </a:prstGeom>
          <a:noFill/>
          <a:ln>
            <a:noFill/>
          </a:ln>
        </p:spPr>
        <p:txBody>
          <a:bodyPr spcFirstLastPara="1" wrap="square" lIns="91425" tIns="45700" rIns="91425" bIns="45700" anchor="t" anchorCtr="0">
            <a:normAutofit fontScale="77500" lnSpcReduction="20000"/>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spc="0">
                <a:solidFill>
                  <a:schemeClr val="dk1"/>
                </a:solidFill>
                <a:latin typeface="Arial"/>
                <a:ea typeface="Arial"/>
                <a:cs typeface="Arial"/>
                <a:sym typeface="Arial"/>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spc="0">
                <a:solidFill>
                  <a:schemeClr val="dk1"/>
                </a:solidFill>
                <a:latin typeface="Calibri"/>
                <a:ea typeface="Calibri"/>
                <a:cs typeface="Calibri"/>
                <a:sym typeface="Calibri"/>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spc="0">
                <a:solidFill>
                  <a:schemeClr val="dk1"/>
                </a:solidFill>
                <a:latin typeface="Calibri"/>
                <a:ea typeface="Calibri"/>
                <a:cs typeface="Calibri"/>
                <a:sym typeface="Calibri"/>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spc="0">
                <a:solidFill>
                  <a:schemeClr val="dk1"/>
                </a:solidFill>
                <a:latin typeface="Calibri"/>
                <a:ea typeface="Calibri"/>
                <a:cs typeface="Calibri"/>
                <a:sym typeface="Calibri"/>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spc="0">
                <a:solidFill>
                  <a:schemeClr val="dk1"/>
                </a:solidFill>
                <a:latin typeface="Calibri"/>
                <a:ea typeface="Calibri"/>
                <a:cs typeface="Calibri"/>
                <a:sym typeface="Calibri"/>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spc="0">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spc="0">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spc="0">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spc="0">
                <a:solidFill>
                  <a:schemeClr val="dk1"/>
                </a:solidFill>
                <a:latin typeface="Calibri"/>
                <a:ea typeface="Calibri"/>
                <a:cs typeface="Calibri"/>
                <a:sym typeface="Calibri"/>
              </a:defRPr>
            </a:lvl9pPr>
          </a:lstStyle>
          <a:p>
            <a:pPr marL="114300" indent="0"/>
            <a:r>
              <a:rPr lang="en-US" sz="3600" b="1"/>
              <a:t>1.3.</a:t>
            </a:r>
            <a:r>
              <a:rPr lang="vi-VN" sz="3600" b="1"/>
              <a:t> </a:t>
            </a:r>
            <a:r>
              <a:rPr lang="en-US" sz="3600" b="1"/>
              <a:t>CÁC YẾU TỐ ẢNH HƯỞNG ĐẾN</a:t>
            </a:r>
            <a:r>
              <a:rPr lang="vi-VN" sz="3600" b="1"/>
              <a:t> HÀNH VI </a:t>
            </a:r>
            <a:r>
              <a:rPr lang="en-US" sz="3600" b="1"/>
              <a:t>KHÁCH HÀNG</a:t>
            </a:r>
            <a:endParaRPr lang="en-US" sz="3600"/>
          </a:p>
        </p:txBody>
      </p:sp>
    </p:spTree>
    <p:extLst>
      <p:ext uri="{BB962C8B-B14F-4D97-AF65-F5344CB8AC3E}">
        <p14:creationId xmlns:p14="http://schemas.microsoft.com/office/powerpoint/2010/main" val="3305589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24"/>
        <p:cNvGrpSpPr/>
        <p:nvPr/>
      </p:nvGrpSpPr>
      <p:grpSpPr>
        <a:xfrm>
          <a:off x="0" y="0"/>
          <a:ext cx="0" cy="0"/>
          <a:chOff x="0" y="0"/>
          <a:chExt cx="0" cy="0"/>
        </a:xfrm>
      </p:grpSpPr>
      <p:sp>
        <p:nvSpPr>
          <p:cNvPr id="3125" name="Google Shape;3125;p400"/>
          <p:cNvSpPr txBox="1">
            <a:spLocks noGrp="1"/>
          </p:cNvSpPr>
          <p:nvPr>
            <p:ph type="title"/>
          </p:nvPr>
        </p:nvSpPr>
        <p:spPr>
          <a:xfrm>
            <a:off x="262890" y="365125"/>
            <a:ext cx="10389870" cy="11207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1800"/>
              <a:buNone/>
            </a:pPr>
            <a:r>
              <a:rPr lang="vi-VN" sz="3200" b="1">
                <a:latin typeface="Arial"/>
                <a:ea typeface="Arial"/>
                <a:cs typeface="Arial"/>
                <a:sym typeface="Arial"/>
              </a:rPr>
              <a:t>1.3.1 Các </a:t>
            </a:r>
            <a:r>
              <a:rPr lang="en-US" sz="3200" b="1" err="1">
                <a:latin typeface="Arial"/>
                <a:ea typeface="Arial"/>
                <a:cs typeface="Arial"/>
                <a:sym typeface="Arial"/>
              </a:rPr>
              <a:t>yếu</a:t>
            </a:r>
            <a:r>
              <a:rPr lang="en-US" sz="3200" b="1">
                <a:latin typeface="Arial"/>
                <a:ea typeface="Arial"/>
                <a:cs typeface="Arial"/>
                <a:sym typeface="Arial"/>
              </a:rPr>
              <a:t> </a:t>
            </a:r>
            <a:r>
              <a:rPr lang="en-US" sz="3200" b="1" err="1">
                <a:latin typeface="Arial"/>
                <a:ea typeface="Arial"/>
                <a:cs typeface="Arial"/>
                <a:sym typeface="Arial"/>
              </a:rPr>
              <a:t>tố</a:t>
            </a:r>
            <a:r>
              <a:rPr lang="en-US" sz="3200" b="1">
                <a:latin typeface="Arial"/>
                <a:ea typeface="Arial"/>
                <a:cs typeface="Arial"/>
                <a:sym typeface="Arial"/>
              </a:rPr>
              <a:t> </a:t>
            </a:r>
            <a:r>
              <a:rPr lang="vi-VN" sz="3200" b="1">
                <a:latin typeface="Arial"/>
                <a:ea typeface="Arial"/>
                <a:cs typeface="Arial"/>
                <a:sym typeface="Arial"/>
              </a:rPr>
              <a:t>ảnh hưởng đến hành vi mua </a:t>
            </a:r>
            <a:r>
              <a:rPr lang="en-US" sz="3200" b="1" err="1">
                <a:latin typeface="Arial"/>
                <a:ea typeface="Arial"/>
                <a:cs typeface="Arial"/>
                <a:sym typeface="Arial"/>
              </a:rPr>
              <a:t>của</a:t>
            </a:r>
            <a:r>
              <a:rPr lang="en-US" sz="3200" b="1">
                <a:latin typeface="Arial"/>
                <a:ea typeface="Arial"/>
                <a:cs typeface="Arial"/>
                <a:sym typeface="Arial"/>
              </a:rPr>
              <a:t> </a:t>
            </a:r>
            <a:r>
              <a:rPr lang="en-US" sz="3200" b="1" err="1">
                <a:latin typeface="Arial"/>
                <a:ea typeface="Arial"/>
                <a:cs typeface="Arial"/>
                <a:sym typeface="Arial"/>
              </a:rPr>
              <a:t>khách</a:t>
            </a:r>
            <a:r>
              <a:rPr lang="en-US" sz="3200" b="1">
                <a:latin typeface="Arial"/>
                <a:ea typeface="Arial"/>
                <a:cs typeface="Arial"/>
                <a:sym typeface="Arial"/>
              </a:rPr>
              <a:t> </a:t>
            </a:r>
            <a:r>
              <a:rPr lang="en-US" sz="3200" b="1" err="1">
                <a:latin typeface="Arial"/>
                <a:ea typeface="Arial"/>
                <a:cs typeface="Arial"/>
                <a:sym typeface="Arial"/>
              </a:rPr>
              <a:t>hàng</a:t>
            </a:r>
            <a:r>
              <a:rPr lang="en-US" sz="3200" b="1">
                <a:latin typeface="Arial"/>
                <a:ea typeface="Arial"/>
                <a:cs typeface="Arial"/>
                <a:sym typeface="Arial"/>
              </a:rPr>
              <a:t> </a:t>
            </a:r>
            <a:r>
              <a:rPr lang="en-US" sz="3200" b="1" err="1">
                <a:latin typeface="Arial"/>
                <a:ea typeface="Arial"/>
                <a:cs typeface="Arial"/>
                <a:sym typeface="Arial"/>
              </a:rPr>
              <a:t>tổ</a:t>
            </a:r>
            <a:r>
              <a:rPr lang="en-US" sz="3200" b="1">
                <a:latin typeface="Arial"/>
                <a:ea typeface="Arial"/>
                <a:cs typeface="Arial"/>
                <a:sym typeface="Arial"/>
              </a:rPr>
              <a:t> </a:t>
            </a:r>
            <a:r>
              <a:rPr lang="en-US" sz="3200" b="1" err="1">
                <a:latin typeface="Arial"/>
                <a:ea typeface="Arial"/>
                <a:cs typeface="Arial"/>
                <a:sym typeface="Arial"/>
              </a:rPr>
              <a:t>chức</a:t>
            </a:r>
            <a:br>
              <a:rPr lang="en-US" sz="3200" b="1">
                <a:latin typeface="Arial"/>
                <a:ea typeface="Arial"/>
                <a:cs typeface="Arial"/>
                <a:sym typeface="Arial"/>
              </a:rPr>
            </a:br>
            <a:r>
              <a:rPr lang="en-US" sz="3200" b="1">
                <a:latin typeface="Arial"/>
                <a:ea typeface="Arial"/>
                <a:cs typeface="Arial"/>
                <a:sym typeface="Arial"/>
              </a:rPr>
              <a:t> </a:t>
            </a:r>
            <a:endParaRPr sz="3200" b="1">
              <a:latin typeface="Arial"/>
              <a:ea typeface="Arial"/>
              <a:cs typeface="Arial"/>
              <a:sym typeface="Arial"/>
            </a:endParaRPr>
          </a:p>
        </p:txBody>
      </p:sp>
      <p:sp>
        <p:nvSpPr>
          <p:cNvPr id="4" name="Text Placeholder 3">
            <a:extLst>
              <a:ext uri="{FF2B5EF4-FFF2-40B4-BE49-F238E27FC236}">
                <a16:creationId xmlns:a16="http://schemas.microsoft.com/office/drawing/2014/main" id="{D07DE9DB-8E2D-CAA0-486C-7700E1B27385}"/>
              </a:ext>
            </a:extLst>
          </p:cNvPr>
          <p:cNvSpPr txBox="1">
            <a:spLocks noGrp="1"/>
          </p:cNvSpPr>
          <p:nvPr>
            <p:ph type="body" idx="1"/>
          </p:nvPr>
        </p:nvSpPr>
        <p:spPr>
          <a:xfrm>
            <a:off x="742949" y="1685926"/>
            <a:ext cx="10763251" cy="4704196"/>
          </a:xfrm>
          <a:prstGeom prst="rect">
            <a:avLst/>
          </a:prstGeom>
          <a:noFill/>
        </p:spPr>
        <p:txBody>
          <a:bodyPr wrap="square">
            <a:spAutoFit/>
          </a:bodyPr>
          <a:lstStyle/>
          <a:p>
            <a:pPr marL="457200" indent="-457200">
              <a:lnSpc>
                <a:spcPct val="107000"/>
              </a:lnSpc>
              <a:spcAft>
                <a:spcPts val="800"/>
              </a:spcAft>
              <a:buFont typeface="Wingdings" panose="05000000000000000000" pitchFamily="2" charset="2"/>
              <a:buChar char="§"/>
            </a:pPr>
            <a:r>
              <a:rPr lang="en-US" sz="3200" kern="100" err="1">
                <a:effectLst/>
                <a:latin typeface="+mn-lt"/>
                <a:ea typeface="Aptos" panose="020B0004020202020204" pitchFamily="34" charset="0"/>
                <a:cs typeface="Times New Roman" panose="02020603050405020304" pitchFamily="18" charset="0"/>
              </a:rPr>
              <a:t>Những</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người</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tham</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gia</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vào</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quá</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trình</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mua</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hàng</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của</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các</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tổ</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chức</a:t>
            </a:r>
            <a:endParaRPr lang="en-US" sz="3200" kern="100">
              <a:effectLst/>
              <a:latin typeface="+mn-lt"/>
              <a:ea typeface="Aptos" panose="020B0004020202020204" pitchFamily="34" charset="0"/>
              <a:cs typeface="Times New Roman" panose="02020603050405020304" pitchFamily="18" charset="0"/>
            </a:endParaRPr>
          </a:p>
          <a:p>
            <a:pPr marL="457200" indent="-457200">
              <a:lnSpc>
                <a:spcPct val="107000"/>
              </a:lnSpc>
              <a:spcAft>
                <a:spcPts val="800"/>
              </a:spcAft>
              <a:buFont typeface="Wingdings" panose="05000000000000000000" pitchFamily="2" charset="2"/>
              <a:buChar char="§"/>
            </a:pPr>
            <a:r>
              <a:rPr lang="en-US" sz="3200" kern="100" err="1">
                <a:effectLst/>
                <a:latin typeface="+mn-lt"/>
                <a:ea typeface="Aptos" panose="020B0004020202020204" pitchFamily="34" charset="0"/>
                <a:cs typeface="Times New Roman" panose="02020603050405020304" pitchFamily="18" charset="0"/>
              </a:rPr>
              <a:t>Số</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lượng</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người</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tham</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gia</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mua</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và</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ảnh</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hưởng</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mua</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cơ</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bản</a:t>
            </a:r>
            <a:endParaRPr lang="en-US" sz="3200" kern="100">
              <a:effectLst/>
              <a:latin typeface="+mn-lt"/>
              <a:ea typeface="Aptos" panose="020B0004020202020204" pitchFamily="34" charset="0"/>
              <a:cs typeface="Times New Roman" panose="02020603050405020304" pitchFamily="18" charset="0"/>
            </a:endParaRPr>
          </a:p>
          <a:p>
            <a:pPr marL="457200" indent="-457200">
              <a:lnSpc>
                <a:spcPct val="107000"/>
              </a:lnSpc>
              <a:spcAft>
                <a:spcPts val="800"/>
              </a:spcAft>
              <a:buFont typeface="Wingdings" panose="05000000000000000000" pitchFamily="2" charset="2"/>
              <a:buChar char="§"/>
            </a:pPr>
            <a:r>
              <a:rPr lang="en-US" sz="3200" kern="100">
                <a:effectLst/>
                <a:latin typeface="+mn-lt"/>
                <a:ea typeface="Aptos" panose="020B0004020202020204" pitchFamily="34" charset="0"/>
                <a:cs typeface="Times New Roman" panose="02020603050405020304" pitchFamily="18" charset="0"/>
              </a:rPr>
              <a:t>Trung </a:t>
            </a:r>
            <a:r>
              <a:rPr lang="en-US" sz="3200" kern="100" err="1">
                <a:effectLst/>
                <a:latin typeface="+mn-lt"/>
                <a:ea typeface="Aptos" panose="020B0004020202020204" pitchFamily="34" charset="0"/>
                <a:cs typeface="Times New Roman" panose="02020603050405020304" pitchFamily="18" charset="0"/>
              </a:rPr>
              <a:t>tâm</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mua</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hàng</a:t>
            </a:r>
            <a:endParaRPr lang="en-US" sz="3200" kern="100">
              <a:effectLst/>
              <a:latin typeface="+mn-lt"/>
              <a:ea typeface="Aptos" panose="020B0004020202020204" pitchFamily="34" charset="0"/>
              <a:cs typeface="Times New Roman" panose="02020603050405020304" pitchFamily="18" charset="0"/>
            </a:endParaRPr>
          </a:p>
          <a:p>
            <a:pPr marL="457200" indent="-457200">
              <a:lnSpc>
                <a:spcPct val="107000"/>
              </a:lnSpc>
              <a:spcAft>
                <a:spcPts val="800"/>
              </a:spcAft>
              <a:buFont typeface="Wingdings" panose="05000000000000000000" pitchFamily="2" charset="2"/>
              <a:buChar char="§"/>
            </a:pPr>
            <a:r>
              <a:rPr lang="en-US" sz="3200" kern="100" err="1">
                <a:effectLst/>
                <a:latin typeface="+mn-lt"/>
                <a:ea typeface="Aptos" panose="020B0004020202020204" pitchFamily="34" charset="0"/>
                <a:cs typeface="Times New Roman" panose="02020603050405020304" pitchFamily="18" charset="0"/>
              </a:rPr>
              <a:t>Một</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số</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hoạt</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động</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và</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quyết</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định</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của</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bộ</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phận</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cung</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ứng</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hàng</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hóa</a:t>
            </a:r>
            <a:r>
              <a:rPr lang="en-US" sz="3200" kern="100">
                <a:effectLst/>
                <a:latin typeface="+mn-lt"/>
                <a:ea typeface="Aptos" panose="020B0004020202020204" pitchFamily="34" charset="0"/>
                <a:cs typeface="Times New Roman" panose="02020603050405020304" pitchFamily="18" charset="0"/>
              </a:rPr>
              <a:t>/</a:t>
            </a:r>
            <a:r>
              <a:rPr lang="en-US" sz="3200" kern="100" err="1">
                <a:effectLst/>
                <a:latin typeface="+mn-lt"/>
                <a:ea typeface="Aptos" panose="020B0004020202020204" pitchFamily="34" charset="0"/>
                <a:cs typeface="Times New Roman" panose="02020603050405020304" pitchFamily="18" charset="0"/>
              </a:rPr>
              <a:t>thu</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mua</a:t>
            </a:r>
            <a:endParaRPr lang="en-US" sz="3200" kern="100">
              <a:effectLst/>
              <a:latin typeface="+mn-l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24822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idx="1"/>
          </p:nvPr>
        </p:nvSpPr>
        <p:spPr>
          <a:xfrm>
            <a:off x="1163929" y="1333888"/>
            <a:ext cx="3140364" cy="1579247"/>
          </a:xfrm>
          <a:prstGeom prst="roundRect">
            <a:avLst/>
          </a:prstGeom>
          <a:solidFill>
            <a:schemeClr val="accent5">
              <a:lumMod val="40000"/>
              <a:lumOff val="6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t"/>
          <a:lstStyle/>
          <a:p>
            <a:pPr marL="114300" indent="0">
              <a:buNone/>
            </a:pPr>
            <a:r>
              <a:rPr lang="en-US" b="1" err="1">
                <a:ln>
                  <a:solidFill>
                    <a:schemeClr val="accent5">
                      <a:lumMod val="40000"/>
                      <a:lumOff val="60000"/>
                    </a:schemeClr>
                  </a:solidFill>
                </a:ln>
                <a:solidFill>
                  <a:srgbClr val="FF0000"/>
                </a:solidFill>
              </a:rPr>
              <a:t>Văn</a:t>
            </a:r>
            <a:r>
              <a:rPr lang="en-US" b="1">
                <a:ln>
                  <a:solidFill>
                    <a:schemeClr val="accent5">
                      <a:lumMod val="40000"/>
                      <a:lumOff val="60000"/>
                    </a:schemeClr>
                  </a:solidFill>
                </a:ln>
                <a:solidFill>
                  <a:srgbClr val="FF0000"/>
                </a:solidFill>
              </a:rPr>
              <a:t> </a:t>
            </a:r>
            <a:r>
              <a:rPr lang="en-US" b="1" err="1">
                <a:ln>
                  <a:solidFill>
                    <a:schemeClr val="accent5">
                      <a:lumMod val="40000"/>
                      <a:lumOff val="60000"/>
                    </a:schemeClr>
                  </a:solidFill>
                </a:ln>
                <a:solidFill>
                  <a:srgbClr val="FF0000"/>
                </a:solidFill>
              </a:rPr>
              <a:t>hóa</a:t>
            </a:r>
            <a:endParaRPr lang="en-US" b="1">
              <a:ln>
                <a:solidFill>
                  <a:schemeClr val="accent5">
                    <a:lumMod val="40000"/>
                    <a:lumOff val="60000"/>
                  </a:schemeClr>
                </a:solidFill>
              </a:ln>
              <a:solidFill>
                <a:srgbClr val="FF0000"/>
              </a:solidFill>
            </a:endParaRPr>
          </a:p>
          <a:p>
            <a:pPr marL="114300" indent="0">
              <a:buNone/>
            </a:pPr>
            <a:endParaRPr lang="en-US" b="1">
              <a:ln>
                <a:solidFill>
                  <a:schemeClr val="accent5">
                    <a:lumMod val="40000"/>
                    <a:lumOff val="60000"/>
                  </a:schemeClr>
                </a:solidFill>
              </a:ln>
              <a:solidFill>
                <a:srgbClr val="FF0000"/>
              </a:solidFill>
            </a:endParaRPr>
          </a:p>
        </p:txBody>
      </p:sp>
      <p:sp>
        <p:nvSpPr>
          <p:cNvPr id="7" name="TextBox 6"/>
          <p:cNvSpPr txBox="1"/>
          <p:nvPr/>
        </p:nvSpPr>
        <p:spPr>
          <a:xfrm>
            <a:off x="1080894" y="1985752"/>
            <a:ext cx="3094182" cy="646331"/>
          </a:xfrm>
          <a:prstGeom prst="rect">
            <a:avLst/>
          </a:prstGeom>
          <a:noFill/>
        </p:spPr>
        <p:txBody>
          <a:bodyPr wrap="square" anchor="t">
            <a:spAutoFit/>
          </a:bodyPr>
          <a:lstStyle/>
          <a:p>
            <a:pPr algn="ctr"/>
            <a:r>
              <a:rPr sz="1800" b="0" err="1">
                <a:solidFill>
                  <a:srgbClr val="232B34"/>
                </a:solidFill>
                <a:latin typeface="Aptos"/>
              </a:rPr>
              <a:t>Văn</a:t>
            </a:r>
            <a:r>
              <a:rPr sz="1800" b="0">
                <a:solidFill>
                  <a:srgbClr val="232B34"/>
                </a:solidFill>
                <a:latin typeface="Aptos"/>
              </a:rPr>
              <a:t> </a:t>
            </a:r>
            <a:r>
              <a:rPr sz="1800" b="0" err="1">
                <a:solidFill>
                  <a:srgbClr val="232B34"/>
                </a:solidFill>
                <a:latin typeface="Aptos"/>
              </a:rPr>
              <a:t>hóa</a:t>
            </a:r>
            <a:r>
              <a:rPr sz="1800" b="0">
                <a:solidFill>
                  <a:srgbClr val="232B34"/>
                </a:solidFill>
                <a:latin typeface="Aptos"/>
              </a:rPr>
              <a:t>, </a:t>
            </a:r>
            <a:r>
              <a:rPr lang="vi-VN" sz="1800">
                <a:solidFill>
                  <a:srgbClr val="232B34"/>
                </a:solidFill>
                <a:latin typeface="Aptos"/>
              </a:rPr>
              <a:t>văn hóa tiêu dùng, </a:t>
            </a:r>
            <a:r>
              <a:rPr lang="en-US" sz="1800" err="1">
                <a:solidFill>
                  <a:srgbClr val="232B34"/>
                </a:solidFill>
                <a:latin typeface="Aptos"/>
              </a:rPr>
              <a:t>nhánh</a:t>
            </a:r>
            <a:r>
              <a:rPr sz="1800" b="0">
                <a:solidFill>
                  <a:srgbClr val="232B34"/>
                </a:solidFill>
                <a:latin typeface="Aptos"/>
              </a:rPr>
              <a:t> </a:t>
            </a:r>
            <a:r>
              <a:rPr sz="1800" b="0" err="1">
                <a:solidFill>
                  <a:srgbClr val="232B34"/>
                </a:solidFill>
                <a:latin typeface="Aptos"/>
              </a:rPr>
              <a:t>văn</a:t>
            </a:r>
            <a:r>
              <a:rPr sz="1800" b="0">
                <a:solidFill>
                  <a:srgbClr val="232B34"/>
                </a:solidFill>
                <a:latin typeface="Aptos"/>
              </a:rPr>
              <a:t> </a:t>
            </a:r>
            <a:r>
              <a:rPr sz="1800" b="0" err="1">
                <a:solidFill>
                  <a:srgbClr val="232B34"/>
                </a:solidFill>
                <a:latin typeface="Aptos"/>
              </a:rPr>
              <a:t>hóa</a:t>
            </a:r>
            <a:r>
              <a:rPr sz="1800" b="0">
                <a:solidFill>
                  <a:srgbClr val="232B34"/>
                </a:solidFill>
                <a:latin typeface="Aptos"/>
              </a:rPr>
              <a:t>, </a:t>
            </a:r>
          </a:p>
        </p:txBody>
      </p:sp>
      <p:sp>
        <p:nvSpPr>
          <p:cNvPr id="8" name="Text Placeholder 5"/>
          <p:cNvSpPr txBox="1">
            <a:spLocks/>
          </p:cNvSpPr>
          <p:nvPr/>
        </p:nvSpPr>
        <p:spPr>
          <a:xfrm>
            <a:off x="6636325" y="1285116"/>
            <a:ext cx="3140364" cy="1579247"/>
          </a:xfrm>
          <a:prstGeom prst="roundRect">
            <a:avLst/>
          </a:prstGeom>
          <a:solidFill>
            <a:schemeClr val="accent5">
              <a:lumMod val="40000"/>
              <a:lumOff val="60000"/>
            </a:schemeClr>
          </a:solidFill>
          <a:ln w="9525" cap="flat" cmpd="sng" algn="ctr">
            <a:solidFill>
              <a:schemeClr val="accent6">
                <a:lumMod val="40000"/>
                <a:lumOff val="60000"/>
              </a:schemeClr>
            </a:solidFill>
            <a:prstDash val="solid"/>
          </a:ln>
        </p:spPr>
        <p:style>
          <a:lnRef idx="1">
            <a:schemeClr val="accent1"/>
          </a:lnRef>
          <a:fillRef idx="3">
            <a:schemeClr val="accent1"/>
          </a:fillRef>
          <a:effectRef idx="2">
            <a:schemeClr val="accent1"/>
          </a:effectRef>
          <a:fontRef idx="minor">
            <a:schemeClr val="lt1"/>
          </a:fontRef>
        </p:style>
        <p:txBody>
          <a:bodyPr spcFirstLastPara="1" wrap="square" lIns="91425" tIns="45700" rIns="91425" bIns="45700" rtlCol="0" anchor="ctr"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spc="0">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spc="0">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spc="0">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9pPr>
          </a:lstStyle>
          <a:p>
            <a:pPr marL="114300" indent="0">
              <a:buFont typeface="Arial"/>
              <a:buNone/>
            </a:pPr>
            <a:r>
              <a:rPr lang="vi-VN" b="1">
                <a:ln>
                  <a:solidFill>
                    <a:schemeClr val="accent5">
                      <a:lumMod val="40000"/>
                      <a:lumOff val="60000"/>
                    </a:schemeClr>
                  </a:solidFill>
                </a:ln>
                <a:solidFill>
                  <a:srgbClr val="FF0000"/>
                </a:solidFill>
              </a:rPr>
              <a:t>Xã hội</a:t>
            </a:r>
            <a:endParaRPr lang="en-US" b="1">
              <a:ln>
                <a:solidFill>
                  <a:schemeClr val="accent5">
                    <a:lumMod val="40000"/>
                    <a:lumOff val="60000"/>
                  </a:schemeClr>
                </a:solidFill>
              </a:ln>
              <a:solidFill>
                <a:srgbClr val="FF0000"/>
              </a:solidFill>
            </a:endParaRPr>
          </a:p>
          <a:p>
            <a:pPr marL="114300" indent="0">
              <a:buNone/>
            </a:pPr>
            <a:r>
              <a:rPr lang="en-US" sz="1900" err="1">
                <a:solidFill>
                  <a:srgbClr val="232B34"/>
                </a:solidFill>
                <a:latin typeface="Aptos"/>
              </a:rPr>
              <a:t>Nhóm</a:t>
            </a:r>
            <a:r>
              <a:rPr lang="en-US" sz="1900">
                <a:solidFill>
                  <a:srgbClr val="232B34"/>
                </a:solidFill>
                <a:latin typeface="Aptos"/>
              </a:rPr>
              <a:t> </a:t>
            </a:r>
            <a:r>
              <a:rPr lang="en-US" sz="1900" err="1">
                <a:solidFill>
                  <a:srgbClr val="232B34"/>
                </a:solidFill>
                <a:latin typeface="Aptos"/>
              </a:rPr>
              <a:t>tham</a:t>
            </a:r>
            <a:r>
              <a:rPr lang="en-US" sz="1900">
                <a:solidFill>
                  <a:srgbClr val="232B34"/>
                </a:solidFill>
                <a:latin typeface="Aptos"/>
              </a:rPr>
              <a:t> </a:t>
            </a:r>
            <a:r>
              <a:rPr lang="en-US" sz="1900" err="1">
                <a:solidFill>
                  <a:srgbClr val="232B34"/>
                </a:solidFill>
                <a:latin typeface="Aptos"/>
              </a:rPr>
              <a:t>khảo</a:t>
            </a:r>
            <a:r>
              <a:rPr lang="en-US" sz="1900">
                <a:solidFill>
                  <a:srgbClr val="232B34"/>
                </a:solidFill>
                <a:latin typeface="Aptos"/>
              </a:rPr>
              <a:t>, </a:t>
            </a:r>
            <a:r>
              <a:rPr lang="en-US" sz="1900" err="1">
                <a:solidFill>
                  <a:srgbClr val="232B34"/>
                </a:solidFill>
                <a:latin typeface="Aptos"/>
              </a:rPr>
              <a:t>gia</a:t>
            </a:r>
            <a:r>
              <a:rPr lang="vi-VN" sz="1900">
                <a:solidFill>
                  <a:srgbClr val="232B34"/>
                </a:solidFill>
                <a:latin typeface="Aptos"/>
              </a:rPr>
              <a:t> </a:t>
            </a:r>
            <a:r>
              <a:rPr lang="en-US" sz="1900" err="1">
                <a:solidFill>
                  <a:srgbClr val="232B34"/>
                </a:solidFill>
                <a:latin typeface="Aptos"/>
              </a:rPr>
              <a:t>đình</a:t>
            </a:r>
            <a:r>
              <a:rPr lang="en-US" sz="1900">
                <a:solidFill>
                  <a:srgbClr val="232B34"/>
                </a:solidFill>
                <a:latin typeface="Aptos"/>
              </a:rPr>
              <a:t>, </a:t>
            </a:r>
            <a:r>
              <a:rPr lang="en-US" sz="1900" err="1">
                <a:solidFill>
                  <a:srgbClr val="232B34"/>
                </a:solidFill>
                <a:latin typeface="Aptos"/>
              </a:rPr>
              <a:t>giai</a:t>
            </a:r>
            <a:r>
              <a:rPr lang="en-US" sz="1900">
                <a:solidFill>
                  <a:srgbClr val="232B34"/>
                </a:solidFill>
                <a:latin typeface="Aptos"/>
              </a:rPr>
              <a:t> </a:t>
            </a:r>
            <a:r>
              <a:rPr lang="en-US" sz="1900" err="1">
                <a:solidFill>
                  <a:srgbClr val="232B34"/>
                </a:solidFill>
                <a:latin typeface="Aptos"/>
              </a:rPr>
              <a:t>tầng</a:t>
            </a:r>
            <a:endParaRPr lang="en-US" sz="1900">
              <a:solidFill>
                <a:srgbClr val="232B34"/>
              </a:solidFill>
              <a:latin typeface="Aptos"/>
            </a:endParaRPr>
          </a:p>
          <a:p>
            <a:pPr marL="114300" indent="0">
              <a:buFont typeface="Arial"/>
              <a:buNone/>
            </a:pPr>
            <a:endParaRPr lang="en-US" b="1">
              <a:ln>
                <a:solidFill>
                  <a:schemeClr val="accent5">
                    <a:lumMod val="40000"/>
                    <a:lumOff val="60000"/>
                  </a:schemeClr>
                </a:solidFill>
              </a:ln>
              <a:solidFill>
                <a:srgbClr val="FF0000"/>
              </a:solidFill>
            </a:endParaRPr>
          </a:p>
        </p:txBody>
      </p:sp>
      <p:sp>
        <p:nvSpPr>
          <p:cNvPr id="9" name="Text Placeholder 5"/>
          <p:cNvSpPr txBox="1">
            <a:spLocks/>
          </p:cNvSpPr>
          <p:nvPr/>
        </p:nvSpPr>
        <p:spPr>
          <a:xfrm>
            <a:off x="1214729" y="3937645"/>
            <a:ext cx="3140364" cy="1579247"/>
          </a:xfrm>
          <a:prstGeom prst="roundRect">
            <a:avLst/>
          </a:prstGeom>
          <a:solidFill>
            <a:schemeClr val="accent5">
              <a:lumMod val="40000"/>
              <a:lumOff val="60000"/>
            </a:schemeClr>
          </a:solidFill>
          <a:ln w="9525" cap="flat" cmpd="sng" algn="ctr">
            <a:solidFill>
              <a:schemeClr val="accent6">
                <a:lumMod val="40000"/>
                <a:lumOff val="60000"/>
              </a:schemeClr>
            </a:solidFill>
            <a:prstDash val="solid"/>
          </a:ln>
        </p:spPr>
        <p:style>
          <a:lnRef idx="1">
            <a:schemeClr val="accent1"/>
          </a:lnRef>
          <a:fillRef idx="3">
            <a:schemeClr val="accent1"/>
          </a:fillRef>
          <a:effectRef idx="2">
            <a:schemeClr val="accent1"/>
          </a:effectRef>
          <a:fontRef idx="minor">
            <a:schemeClr val="lt1"/>
          </a:fontRef>
        </p:style>
        <p:txBody>
          <a:bodyPr spcFirstLastPara="1" wrap="square" lIns="91425" tIns="45700" rIns="91425" bIns="45700" rtlCol="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spc="0">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spc="0">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spc="0">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9pPr>
          </a:lstStyle>
          <a:p>
            <a:pPr marL="114300" indent="0">
              <a:buFont typeface="Arial"/>
              <a:buNone/>
            </a:pPr>
            <a:r>
              <a:rPr lang="vi-VN" b="1">
                <a:ln>
                  <a:solidFill>
                    <a:schemeClr val="accent5">
                      <a:lumMod val="40000"/>
                      <a:lumOff val="60000"/>
                    </a:schemeClr>
                  </a:solidFill>
                </a:ln>
                <a:solidFill>
                  <a:srgbClr val="FF0000"/>
                </a:solidFill>
              </a:rPr>
              <a:t>Tâm lý</a:t>
            </a:r>
            <a:endParaRPr lang="en-US" b="1">
              <a:ln>
                <a:solidFill>
                  <a:schemeClr val="accent5">
                    <a:lumMod val="40000"/>
                    <a:lumOff val="60000"/>
                  </a:schemeClr>
                </a:solidFill>
              </a:ln>
              <a:solidFill>
                <a:srgbClr val="FF0000"/>
              </a:solidFill>
            </a:endParaRPr>
          </a:p>
          <a:p>
            <a:pPr marL="114300" indent="0">
              <a:buFont typeface="Arial"/>
              <a:buNone/>
            </a:pPr>
            <a:endParaRPr lang="en-US" b="1">
              <a:ln>
                <a:solidFill>
                  <a:schemeClr val="accent5">
                    <a:lumMod val="40000"/>
                    <a:lumOff val="60000"/>
                  </a:schemeClr>
                </a:solidFill>
              </a:ln>
              <a:solidFill>
                <a:srgbClr val="FF0000"/>
              </a:solidFill>
            </a:endParaRPr>
          </a:p>
        </p:txBody>
      </p:sp>
      <p:sp>
        <p:nvSpPr>
          <p:cNvPr id="10" name="Text Placeholder 5"/>
          <p:cNvSpPr txBox="1">
            <a:spLocks/>
          </p:cNvSpPr>
          <p:nvPr/>
        </p:nvSpPr>
        <p:spPr>
          <a:xfrm>
            <a:off x="6636325" y="4025288"/>
            <a:ext cx="3140364" cy="1662666"/>
          </a:xfrm>
          <a:prstGeom prst="roundRect">
            <a:avLst/>
          </a:prstGeom>
          <a:solidFill>
            <a:schemeClr val="accent5">
              <a:lumMod val="40000"/>
              <a:lumOff val="60000"/>
            </a:schemeClr>
          </a:solidFill>
          <a:ln w="9525" cap="flat" cmpd="sng" algn="ctr">
            <a:solidFill>
              <a:schemeClr val="accent6">
                <a:lumMod val="40000"/>
                <a:lumOff val="60000"/>
              </a:schemeClr>
            </a:solidFill>
            <a:prstDash val="solid"/>
          </a:ln>
        </p:spPr>
        <p:style>
          <a:lnRef idx="1">
            <a:schemeClr val="accent1"/>
          </a:lnRef>
          <a:fillRef idx="3">
            <a:schemeClr val="accent1"/>
          </a:fillRef>
          <a:effectRef idx="2">
            <a:schemeClr val="accent1"/>
          </a:effectRef>
          <a:fontRef idx="minor">
            <a:schemeClr val="lt1"/>
          </a:fontRef>
        </p:style>
        <p:txBody>
          <a:bodyPr spcFirstLastPara="1" wrap="square" lIns="91425" tIns="45700" rIns="91425" bIns="45700" rtlCol="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spc="0">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spc="0">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spc="0">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9pPr>
          </a:lstStyle>
          <a:p>
            <a:pPr marL="114300" indent="0">
              <a:buNone/>
            </a:pPr>
            <a:r>
              <a:rPr lang="en-US" b="1" err="1">
                <a:ln>
                  <a:solidFill>
                    <a:schemeClr val="accent5">
                      <a:lumMod val="40000"/>
                      <a:lumOff val="60000"/>
                    </a:schemeClr>
                  </a:solidFill>
                </a:ln>
                <a:solidFill>
                  <a:srgbClr val="FF0000"/>
                </a:solidFill>
              </a:rPr>
              <a:t>Cá</a:t>
            </a:r>
            <a:r>
              <a:rPr lang="en-US" b="1">
                <a:ln>
                  <a:solidFill>
                    <a:schemeClr val="accent5">
                      <a:lumMod val="40000"/>
                      <a:lumOff val="60000"/>
                    </a:schemeClr>
                  </a:solidFill>
                </a:ln>
                <a:solidFill>
                  <a:srgbClr val="FF0000"/>
                </a:solidFill>
              </a:rPr>
              <a:t> </a:t>
            </a:r>
            <a:r>
              <a:rPr lang="en-US" b="1" err="1">
                <a:ln>
                  <a:solidFill>
                    <a:schemeClr val="accent5">
                      <a:lumMod val="40000"/>
                      <a:lumOff val="60000"/>
                    </a:schemeClr>
                  </a:solidFill>
                </a:ln>
                <a:solidFill>
                  <a:srgbClr val="FF0000"/>
                </a:solidFill>
              </a:rPr>
              <a:t>nhân</a:t>
            </a:r>
            <a:endParaRPr lang="en-US" b="1">
              <a:ln>
                <a:solidFill>
                  <a:schemeClr val="accent5">
                    <a:lumMod val="40000"/>
                    <a:lumOff val="60000"/>
                  </a:schemeClr>
                </a:solidFill>
              </a:ln>
              <a:solidFill>
                <a:srgbClr val="FF0000"/>
              </a:solidFill>
            </a:endParaRPr>
          </a:p>
        </p:txBody>
      </p:sp>
      <p:sp>
        <p:nvSpPr>
          <p:cNvPr id="11" name="TextBox 10"/>
          <p:cNvSpPr txBox="1"/>
          <p:nvPr/>
        </p:nvSpPr>
        <p:spPr>
          <a:xfrm>
            <a:off x="1214729" y="4537684"/>
            <a:ext cx="2826513" cy="646331"/>
          </a:xfrm>
          <a:prstGeom prst="rect">
            <a:avLst/>
          </a:prstGeom>
          <a:noFill/>
        </p:spPr>
        <p:txBody>
          <a:bodyPr wrap="square" anchor="t">
            <a:spAutoFit/>
          </a:bodyPr>
          <a:lstStyle/>
          <a:p>
            <a:pPr algn="ctr"/>
            <a:r>
              <a:rPr sz="1800" b="0" err="1">
                <a:solidFill>
                  <a:srgbClr val="232B34"/>
                </a:solidFill>
                <a:latin typeface="Aptos"/>
              </a:rPr>
              <a:t>Tuổi</a:t>
            </a:r>
            <a:r>
              <a:rPr sz="1800" b="0">
                <a:solidFill>
                  <a:srgbClr val="232B34"/>
                </a:solidFill>
                <a:latin typeface="Aptos"/>
              </a:rPr>
              <a:t>, </a:t>
            </a:r>
            <a:r>
              <a:rPr sz="1800" b="0" err="1">
                <a:solidFill>
                  <a:srgbClr val="232B34"/>
                </a:solidFill>
                <a:latin typeface="Aptos"/>
              </a:rPr>
              <a:t>nghề</a:t>
            </a:r>
            <a:r>
              <a:rPr sz="1800" b="0">
                <a:solidFill>
                  <a:srgbClr val="232B34"/>
                </a:solidFill>
                <a:latin typeface="Aptos"/>
              </a:rPr>
              <a:t> </a:t>
            </a:r>
            <a:r>
              <a:rPr sz="1800" b="0" err="1">
                <a:solidFill>
                  <a:srgbClr val="232B34"/>
                </a:solidFill>
                <a:latin typeface="Aptos"/>
              </a:rPr>
              <a:t>nghiệp</a:t>
            </a:r>
            <a:r>
              <a:rPr sz="1800" b="0">
                <a:solidFill>
                  <a:srgbClr val="232B34"/>
                </a:solidFill>
                <a:latin typeface="Aptos"/>
              </a:rPr>
              <a:t>, </a:t>
            </a:r>
            <a:r>
              <a:rPr lang="vi-VN" sz="1800">
                <a:solidFill>
                  <a:srgbClr val="232B34"/>
                </a:solidFill>
                <a:latin typeface="Aptos"/>
              </a:rPr>
              <a:t>cá tính và</a:t>
            </a:r>
            <a:r>
              <a:rPr sz="1800" b="0">
                <a:solidFill>
                  <a:srgbClr val="232B34"/>
                </a:solidFill>
                <a:latin typeface="Aptos"/>
              </a:rPr>
              <a:t> </a:t>
            </a:r>
            <a:r>
              <a:rPr sz="1800" b="0" err="1">
                <a:solidFill>
                  <a:srgbClr val="232B34"/>
                </a:solidFill>
                <a:latin typeface="Aptos"/>
              </a:rPr>
              <a:t>lối</a:t>
            </a:r>
            <a:r>
              <a:rPr sz="1800" b="0">
                <a:solidFill>
                  <a:srgbClr val="232B34"/>
                </a:solidFill>
                <a:latin typeface="Aptos"/>
              </a:rPr>
              <a:t> </a:t>
            </a:r>
            <a:r>
              <a:rPr sz="1800" b="0" err="1">
                <a:solidFill>
                  <a:srgbClr val="232B34"/>
                </a:solidFill>
                <a:latin typeface="Aptos"/>
              </a:rPr>
              <a:t>sống</a:t>
            </a:r>
            <a:endParaRPr sz="1800" b="0">
              <a:solidFill>
                <a:srgbClr val="232B34"/>
              </a:solidFill>
              <a:latin typeface="Aptos"/>
            </a:endParaRPr>
          </a:p>
        </p:txBody>
      </p:sp>
      <p:sp>
        <p:nvSpPr>
          <p:cNvPr id="12" name="Oval 11"/>
          <p:cNvSpPr/>
          <p:nvPr/>
        </p:nvSpPr>
        <p:spPr>
          <a:xfrm>
            <a:off x="4175076" y="2667958"/>
            <a:ext cx="2788920" cy="1417320"/>
          </a:xfrm>
          <a:prstGeom prst="ellipse">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2400" b="1"/>
              <a:t>Hành vi khách hàng</a:t>
            </a:r>
            <a:endParaRPr sz="2400" b="1"/>
          </a:p>
        </p:txBody>
      </p:sp>
      <p:sp>
        <p:nvSpPr>
          <p:cNvPr id="13" name="TextBox 12"/>
          <p:cNvSpPr txBox="1"/>
          <p:nvPr/>
        </p:nvSpPr>
        <p:spPr>
          <a:xfrm>
            <a:off x="6585524" y="4653104"/>
            <a:ext cx="3241965" cy="646331"/>
          </a:xfrm>
          <a:prstGeom prst="rect">
            <a:avLst/>
          </a:prstGeom>
          <a:noFill/>
        </p:spPr>
        <p:txBody>
          <a:bodyPr wrap="square" anchor="t">
            <a:spAutoFit/>
          </a:bodyPr>
          <a:lstStyle/>
          <a:p>
            <a:pPr algn="ctr"/>
            <a:r>
              <a:rPr sz="1800" b="0" err="1">
                <a:solidFill>
                  <a:srgbClr val="232B34"/>
                </a:solidFill>
                <a:latin typeface="Aptos"/>
              </a:rPr>
              <a:t>Nhận</a:t>
            </a:r>
            <a:r>
              <a:rPr sz="1800" b="0">
                <a:solidFill>
                  <a:srgbClr val="232B34"/>
                </a:solidFill>
                <a:latin typeface="Aptos"/>
              </a:rPr>
              <a:t> </a:t>
            </a:r>
            <a:r>
              <a:rPr sz="1800" b="0" err="1">
                <a:solidFill>
                  <a:srgbClr val="232B34"/>
                </a:solidFill>
                <a:latin typeface="Aptos"/>
              </a:rPr>
              <a:t>thức</a:t>
            </a:r>
            <a:r>
              <a:rPr sz="1800" b="0">
                <a:solidFill>
                  <a:srgbClr val="232B34"/>
                </a:solidFill>
                <a:latin typeface="Aptos"/>
              </a:rPr>
              <a:t>, </a:t>
            </a:r>
            <a:r>
              <a:rPr sz="1800" b="0" err="1">
                <a:solidFill>
                  <a:srgbClr val="232B34"/>
                </a:solidFill>
                <a:latin typeface="Aptos"/>
              </a:rPr>
              <a:t>học</a:t>
            </a:r>
            <a:r>
              <a:rPr sz="1800" b="0">
                <a:solidFill>
                  <a:srgbClr val="232B34"/>
                </a:solidFill>
                <a:latin typeface="Aptos"/>
              </a:rPr>
              <a:t> </a:t>
            </a:r>
            <a:r>
              <a:rPr sz="1800" b="0" err="1">
                <a:solidFill>
                  <a:srgbClr val="232B34"/>
                </a:solidFill>
                <a:latin typeface="Aptos"/>
              </a:rPr>
              <a:t>tập</a:t>
            </a:r>
            <a:r>
              <a:rPr sz="1800" b="0">
                <a:solidFill>
                  <a:srgbClr val="232B34"/>
                </a:solidFill>
                <a:latin typeface="Aptos"/>
              </a:rPr>
              <a:t>, </a:t>
            </a:r>
            <a:r>
              <a:rPr sz="1800" b="0" err="1">
                <a:solidFill>
                  <a:srgbClr val="232B34"/>
                </a:solidFill>
                <a:latin typeface="Aptos"/>
              </a:rPr>
              <a:t>động</a:t>
            </a:r>
            <a:r>
              <a:rPr sz="1800" b="0">
                <a:solidFill>
                  <a:srgbClr val="232B34"/>
                </a:solidFill>
                <a:latin typeface="Aptos"/>
              </a:rPr>
              <a:t> </a:t>
            </a:r>
            <a:r>
              <a:rPr sz="1800" b="0" err="1">
                <a:solidFill>
                  <a:srgbClr val="232B34"/>
                </a:solidFill>
                <a:latin typeface="Aptos"/>
              </a:rPr>
              <a:t>cơ</a:t>
            </a:r>
            <a:r>
              <a:rPr sz="1800" b="0">
                <a:solidFill>
                  <a:srgbClr val="232B34"/>
                </a:solidFill>
                <a:latin typeface="Aptos"/>
              </a:rPr>
              <a:t>, </a:t>
            </a:r>
            <a:r>
              <a:rPr sz="1800" b="0" err="1">
                <a:solidFill>
                  <a:srgbClr val="232B34"/>
                </a:solidFill>
                <a:latin typeface="Aptos"/>
              </a:rPr>
              <a:t>cảm</a:t>
            </a:r>
            <a:r>
              <a:rPr sz="1800" b="0">
                <a:solidFill>
                  <a:srgbClr val="232B34"/>
                </a:solidFill>
                <a:latin typeface="Aptos"/>
              </a:rPr>
              <a:t> </a:t>
            </a:r>
            <a:r>
              <a:rPr sz="1800" b="0" err="1">
                <a:solidFill>
                  <a:srgbClr val="232B34"/>
                </a:solidFill>
                <a:latin typeface="Aptos"/>
              </a:rPr>
              <a:t>xúc</a:t>
            </a:r>
            <a:r>
              <a:rPr sz="1800" b="0">
                <a:solidFill>
                  <a:srgbClr val="232B34"/>
                </a:solidFill>
                <a:latin typeface="Aptos"/>
              </a:rPr>
              <a:t>, </a:t>
            </a:r>
            <a:r>
              <a:rPr sz="1800" b="0" err="1">
                <a:solidFill>
                  <a:srgbClr val="232B34"/>
                </a:solidFill>
                <a:latin typeface="Aptos"/>
              </a:rPr>
              <a:t>thái</a:t>
            </a:r>
            <a:r>
              <a:rPr sz="1800" b="0">
                <a:solidFill>
                  <a:srgbClr val="232B34"/>
                </a:solidFill>
                <a:latin typeface="Aptos"/>
              </a:rPr>
              <a:t> </a:t>
            </a:r>
            <a:r>
              <a:rPr sz="1800" b="0" err="1">
                <a:solidFill>
                  <a:srgbClr val="232B34"/>
                </a:solidFill>
                <a:latin typeface="Aptos"/>
              </a:rPr>
              <a:t>độ</a:t>
            </a:r>
            <a:endParaRPr sz="1800" b="0">
              <a:solidFill>
                <a:srgbClr val="232B34"/>
              </a:solidFill>
              <a:latin typeface="Aptos"/>
            </a:endParaRPr>
          </a:p>
        </p:txBody>
      </p:sp>
      <p:sp>
        <p:nvSpPr>
          <p:cNvPr id="3" name="TextBox 2"/>
          <p:cNvSpPr txBox="1"/>
          <p:nvPr/>
        </p:nvSpPr>
        <p:spPr>
          <a:xfrm>
            <a:off x="266701" y="162256"/>
            <a:ext cx="10706100" cy="523220"/>
          </a:xfrm>
          <a:prstGeom prst="rect">
            <a:avLst/>
          </a:prstGeom>
          <a:noFill/>
        </p:spPr>
        <p:txBody>
          <a:bodyPr wrap="square" rtlCol="0">
            <a:spAutoFit/>
          </a:bodyPr>
          <a:lstStyle/>
          <a:p>
            <a:r>
              <a:rPr lang="vi-VN" sz="2800" b="1"/>
              <a:t>1.3.2 Các yếu tố ảnh hưởng đến hành vi mua của KH cá nhân</a:t>
            </a:r>
            <a:endParaRPr lang="en-US" sz="2800" b="1"/>
          </a:p>
        </p:txBody>
      </p:sp>
    </p:spTree>
    <p:extLst>
      <p:ext uri="{BB962C8B-B14F-4D97-AF65-F5344CB8AC3E}">
        <p14:creationId xmlns:p14="http://schemas.microsoft.com/office/powerpoint/2010/main" val="3973112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7"/>
          <p:cNvSpPr txBox="1">
            <a:spLocks noGrp="1"/>
          </p:cNvSpPr>
          <p:nvPr>
            <p:ph type="title"/>
          </p:nvPr>
        </p:nvSpPr>
        <p:spPr>
          <a:xfrm>
            <a:off x="342901" y="394757"/>
            <a:ext cx="11010899" cy="8440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200"/>
              <a:buFont typeface="Arial"/>
              <a:buNone/>
            </a:pPr>
            <a:r>
              <a:rPr lang="en-US" sz="2800" b="1">
                <a:sym typeface="Arial"/>
              </a:rPr>
              <a:t>1.3.</a:t>
            </a:r>
            <a:r>
              <a:rPr lang="vi-VN" sz="2800" b="1">
                <a:sym typeface="Arial"/>
              </a:rPr>
              <a:t>1</a:t>
            </a:r>
            <a:r>
              <a:rPr lang="en-US" sz="2800" b="1">
                <a:sym typeface="Arial"/>
              </a:rPr>
              <a:t> </a:t>
            </a:r>
            <a:r>
              <a:rPr lang="en-US" sz="2800" b="1" err="1">
                <a:sym typeface="Arial"/>
              </a:rPr>
              <a:t>Các</a:t>
            </a:r>
            <a:r>
              <a:rPr lang="en-US" sz="2800" b="1">
                <a:sym typeface="Arial"/>
              </a:rPr>
              <a:t> </a:t>
            </a:r>
            <a:r>
              <a:rPr lang="en-US" sz="2800" b="1" err="1">
                <a:sym typeface="Arial"/>
              </a:rPr>
              <a:t>yếu</a:t>
            </a:r>
            <a:r>
              <a:rPr lang="en-US" sz="2800" b="1">
                <a:sym typeface="Arial"/>
              </a:rPr>
              <a:t> </a:t>
            </a:r>
            <a:r>
              <a:rPr lang="en-US" sz="2800" b="1" err="1">
                <a:sym typeface="Arial"/>
              </a:rPr>
              <a:t>tố</a:t>
            </a:r>
            <a:r>
              <a:rPr lang="en-US" sz="2800" b="1">
                <a:sym typeface="Arial"/>
              </a:rPr>
              <a:t> </a:t>
            </a:r>
            <a:r>
              <a:rPr lang="en-US" sz="2800" b="1" err="1">
                <a:sym typeface="Arial"/>
              </a:rPr>
              <a:t>ảnh</a:t>
            </a:r>
            <a:r>
              <a:rPr lang="en-US" sz="2800" b="1">
                <a:sym typeface="Arial"/>
              </a:rPr>
              <a:t> </a:t>
            </a:r>
            <a:r>
              <a:rPr lang="en-US" sz="2800" b="1" err="1">
                <a:sym typeface="Arial"/>
              </a:rPr>
              <a:t>hưởng</a:t>
            </a:r>
            <a:r>
              <a:rPr lang="en-US" sz="2800" b="1">
                <a:sym typeface="Arial"/>
              </a:rPr>
              <a:t> </a:t>
            </a:r>
            <a:r>
              <a:rPr lang="en-US" sz="2800" b="1" err="1">
                <a:sym typeface="Arial"/>
              </a:rPr>
              <a:t>đến</a:t>
            </a:r>
            <a:r>
              <a:rPr lang="en-US" sz="2800" b="1">
                <a:sym typeface="Arial"/>
              </a:rPr>
              <a:t> </a:t>
            </a:r>
            <a:r>
              <a:rPr lang="en-US" sz="2800" b="1" err="1">
                <a:sym typeface="Arial"/>
              </a:rPr>
              <a:t>hành</a:t>
            </a:r>
            <a:r>
              <a:rPr lang="en-US" sz="2800" b="1">
                <a:sym typeface="Arial"/>
              </a:rPr>
              <a:t> vi </a:t>
            </a:r>
            <a:r>
              <a:rPr lang="en-US" sz="2800" b="1" err="1">
                <a:sym typeface="Arial"/>
              </a:rPr>
              <a:t>của</a:t>
            </a:r>
            <a:r>
              <a:rPr lang="en-US" sz="2800" b="1">
                <a:sym typeface="Arial"/>
              </a:rPr>
              <a:t> KH</a:t>
            </a:r>
            <a:r>
              <a:rPr lang="vi-VN" sz="2800" b="1">
                <a:sym typeface="Arial"/>
              </a:rPr>
              <a:t> cá nhân</a:t>
            </a:r>
            <a:br>
              <a:rPr lang="en-US" sz="2800" b="1">
                <a:sym typeface="Arial"/>
              </a:rPr>
            </a:br>
            <a:endParaRPr sz="2800"/>
          </a:p>
        </p:txBody>
      </p:sp>
      <p:sp>
        <p:nvSpPr>
          <p:cNvPr id="196" name="Google Shape;196;p27"/>
          <p:cNvSpPr txBox="1">
            <a:spLocks noGrp="1"/>
          </p:cNvSpPr>
          <p:nvPr>
            <p:ph type="body" idx="1"/>
          </p:nvPr>
        </p:nvSpPr>
        <p:spPr>
          <a:xfrm>
            <a:off x="464591" y="744664"/>
            <a:ext cx="10515600" cy="467810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endParaRPr sz="3200" b="1">
              <a:latin typeface="Arial"/>
              <a:ea typeface="Arial"/>
              <a:cs typeface="Arial"/>
              <a:sym typeface="Arial"/>
            </a:endParaRPr>
          </a:p>
          <a:p>
            <a:pPr marL="0" lvl="0" indent="0" algn="l" rtl="0">
              <a:lnSpc>
                <a:spcPct val="90000"/>
              </a:lnSpc>
              <a:spcBef>
                <a:spcPts val="1000"/>
              </a:spcBef>
              <a:spcAft>
                <a:spcPts val="0"/>
              </a:spcAft>
              <a:buClr>
                <a:schemeClr val="dk1"/>
              </a:buClr>
              <a:buSzPts val="3200"/>
              <a:buNone/>
            </a:pPr>
            <a:endParaRPr sz="3200" b="1">
              <a:latin typeface="Arial"/>
              <a:ea typeface="Arial"/>
              <a:cs typeface="Arial"/>
              <a:sym typeface="Arial"/>
            </a:endParaRPr>
          </a:p>
          <a:p>
            <a:pPr marL="0" lvl="0" indent="0" algn="l" rtl="0">
              <a:lnSpc>
                <a:spcPct val="90000"/>
              </a:lnSpc>
              <a:spcBef>
                <a:spcPts val="1000"/>
              </a:spcBef>
              <a:spcAft>
                <a:spcPts val="0"/>
              </a:spcAft>
              <a:buClr>
                <a:schemeClr val="dk1"/>
              </a:buClr>
              <a:buSzPts val="3200"/>
              <a:buNone/>
            </a:pPr>
            <a:endParaRPr sz="3200" b="1">
              <a:latin typeface="Arial"/>
              <a:ea typeface="Arial"/>
              <a:cs typeface="Arial"/>
              <a:sym typeface="Arial"/>
            </a:endParaRPr>
          </a:p>
          <a:p>
            <a:pPr marL="0" lvl="0" indent="0" algn="l" rtl="0">
              <a:lnSpc>
                <a:spcPct val="90000"/>
              </a:lnSpc>
              <a:spcBef>
                <a:spcPts val="1000"/>
              </a:spcBef>
              <a:spcAft>
                <a:spcPts val="0"/>
              </a:spcAft>
              <a:buClr>
                <a:schemeClr val="dk1"/>
              </a:buClr>
              <a:buSzPts val="3200"/>
              <a:buNone/>
            </a:pPr>
            <a:endParaRPr sz="3200" b="1">
              <a:latin typeface="Arial"/>
              <a:ea typeface="Arial"/>
              <a:cs typeface="Arial"/>
              <a:sym typeface="Arial"/>
            </a:endParaRPr>
          </a:p>
        </p:txBody>
      </p:sp>
      <p:grpSp>
        <p:nvGrpSpPr>
          <p:cNvPr id="197" name="Google Shape;197;p27"/>
          <p:cNvGrpSpPr/>
          <p:nvPr/>
        </p:nvGrpSpPr>
        <p:grpSpPr>
          <a:xfrm>
            <a:off x="2346434" y="1408612"/>
            <a:ext cx="5785485" cy="4098121"/>
            <a:chOff x="1086" y="6771"/>
            <a:chExt cx="7218" cy="4660"/>
          </a:xfrm>
        </p:grpSpPr>
        <p:sp>
          <p:nvSpPr>
            <p:cNvPr id="198" name="Google Shape;198;p27"/>
            <p:cNvSpPr txBox="1"/>
            <p:nvPr/>
          </p:nvSpPr>
          <p:spPr>
            <a:xfrm>
              <a:off x="3780" y="6790"/>
              <a:ext cx="1728" cy="836"/>
            </a:xfrm>
            <a:prstGeom prst="rect">
              <a:avLst/>
            </a:prstGeom>
            <a:noFill/>
            <a:ln w="9525" cap="flat"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Nghiên cứu marketing</a:t>
              </a:r>
              <a:endParaRPr sz="1400" b="1" i="0" u="none" strike="noStrike" cap="none">
                <a:solidFill>
                  <a:srgbClr val="000000"/>
                </a:solidFill>
                <a:latin typeface="Arial"/>
                <a:ea typeface="Arial"/>
                <a:cs typeface="Arial"/>
                <a:sym typeface="Arial"/>
              </a:endParaRPr>
            </a:p>
          </p:txBody>
        </p:sp>
        <p:sp>
          <p:nvSpPr>
            <p:cNvPr id="199" name="Google Shape;199;p27"/>
            <p:cNvSpPr txBox="1"/>
            <p:nvPr/>
          </p:nvSpPr>
          <p:spPr>
            <a:xfrm>
              <a:off x="3780" y="8224"/>
              <a:ext cx="1728" cy="714"/>
            </a:xfrm>
            <a:prstGeom prst="rect">
              <a:avLst/>
            </a:prstGeom>
            <a:noFill/>
            <a:ln w="9525" cap="flat"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Chiến lược</a:t>
              </a:r>
              <a:endParaRPr sz="1400" b="1" i="0" u="none" strike="noStrike" cap="none">
                <a:solidFill>
                  <a:srgbClr val="000000"/>
                </a:solidFill>
                <a:latin typeface="Arial"/>
                <a:ea typeface="Arial"/>
                <a:cs typeface="Arial"/>
                <a:sym typeface="Arial"/>
              </a:endParaRPr>
            </a:p>
          </p:txBody>
        </p:sp>
        <p:sp>
          <p:nvSpPr>
            <p:cNvPr id="200" name="Google Shape;200;p27"/>
            <p:cNvSpPr txBox="1"/>
            <p:nvPr/>
          </p:nvSpPr>
          <p:spPr>
            <a:xfrm>
              <a:off x="3780" y="9656"/>
              <a:ext cx="1728" cy="1396"/>
            </a:xfrm>
            <a:prstGeom prst="rect">
              <a:avLst/>
            </a:prstGeom>
            <a:noFill/>
            <a:ln w="9525" cap="flat"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khách hàng</a:t>
              </a:r>
              <a:endParaRPr sz="1400" b="1" i="0" u="none" strike="noStrike" cap="none">
                <a:solidFill>
                  <a:srgbClr val="000000"/>
                </a:solidFill>
                <a:latin typeface="Arial"/>
                <a:ea typeface="Arial"/>
                <a:cs typeface="Arial"/>
                <a:sym typeface="Arial"/>
              </a:endParaRPr>
            </a:p>
          </p:txBody>
        </p:sp>
        <p:sp>
          <p:nvSpPr>
            <p:cNvPr id="201" name="Google Shape;201;p27"/>
            <p:cNvSpPr txBox="1"/>
            <p:nvPr/>
          </p:nvSpPr>
          <p:spPr>
            <a:xfrm>
              <a:off x="6413" y="7224"/>
              <a:ext cx="1728" cy="703"/>
            </a:xfrm>
            <a:prstGeom prst="rect">
              <a:avLst/>
            </a:prstGeom>
            <a:noFill/>
            <a:ln w="9525" cap="flat"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Tìm kiếm thông tin</a:t>
              </a:r>
              <a:endParaRPr sz="1400" b="1" i="0" u="none" strike="noStrike" cap="none">
                <a:solidFill>
                  <a:srgbClr val="000000"/>
                </a:solidFill>
                <a:latin typeface="Arial"/>
                <a:ea typeface="Arial"/>
                <a:cs typeface="Arial"/>
                <a:sym typeface="Arial"/>
              </a:endParaRPr>
            </a:p>
          </p:txBody>
        </p:sp>
        <p:sp>
          <p:nvSpPr>
            <p:cNvPr id="202" name="Google Shape;202;p27"/>
            <p:cNvSpPr txBox="1"/>
            <p:nvPr/>
          </p:nvSpPr>
          <p:spPr>
            <a:xfrm>
              <a:off x="6413" y="8190"/>
              <a:ext cx="1728" cy="714"/>
            </a:xfrm>
            <a:prstGeom prst="rect">
              <a:avLst/>
            </a:prstGeom>
            <a:noFill/>
            <a:ln w="9525" cap="flat"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Lựa chọn</a:t>
              </a:r>
              <a:endParaRPr sz="1400" b="1" i="0" u="none" strike="noStrike" cap="none">
                <a:solidFill>
                  <a:srgbClr val="000000"/>
                </a:solidFill>
                <a:latin typeface="Arial"/>
                <a:ea typeface="Arial"/>
                <a:cs typeface="Arial"/>
                <a:sym typeface="Arial"/>
              </a:endParaRPr>
            </a:p>
          </p:txBody>
        </p:sp>
        <p:sp>
          <p:nvSpPr>
            <p:cNvPr id="203" name="Google Shape;203;p27"/>
            <p:cNvSpPr txBox="1"/>
            <p:nvPr/>
          </p:nvSpPr>
          <p:spPr>
            <a:xfrm>
              <a:off x="6413" y="9157"/>
              <a:ext cx="1728" cy="703"/>
            </a:xfrm>
            <a:prstGeom prst="rect">
              <a:avLst/>
            </a:prstGeom>
            <a:noFill/>
            <a:ln w="9525" cap="flat"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Ưu tiên</a:t>
              </a:r>
              <a:endParaRPr sz="1400" b="1" i="0" u="none" strike="noStrike" cap="none">
                <a:solidFill>
                  <a:srgbClr val="000000"/>
                </a:solidFill>
                <a:latin typeface="Arial"/>
                <a:ea typeface="Arial"/>
                <a:cs typeface="Arial"/>
                <a:sym typeface="Arial"/>
              </a:endParaRPr>
            </a:p>
          </p:txBody>
        </p:sp>
        <p:sp>
          <p:nvSpPr>
            <p:cNvPr id="204" name="Google Shape;204;p27"/>
            <p:cNvSpPr txBox="1"/>
            <p:nvPr/>
          </p:nvSpPr>
          <p:spPr>
            <a:xfrm>
              <a:off x="6413" y="10114"/>
              <a:ext cx="1728" cy="714"/>
            </a:xfrm>
            <a:prstGeom prst="rect">
              <a:avLst/>
            </a:prstGeom>
            <a:noFill/>
            <a:ln w="9525" cap="flat"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Truyền thông</a:t>
              </a:r>
              <a:endParaRPr sz="1400" b="1" i="0" u="none" strike="noStrike" cap="none">
                <a:solidFill>
                  <a:srgbClr val="000000"/>
                </a:solidFill>
                <a:latin typeface="Arial"/>
                <a:ea typeface="Arial"/>
                <a:cs typeface="Arial"/>
                <a:sym typeface="Arial"/>
              </a:endParaRPr>
            </a:p>
          </p:txBody>
        </p:sp>
        <p:cxnSp>
          <p:nvCxnSpPr>
            <p:cNvPr id="205" name="Google Shape;205;p27"/>
            <p:cNvCxnSpPr/>
            <p:nvPr/>
          </p:nvCxnSpPr>
          <p:spPr>
            <a:xfrm>
              <a:off x="2831" y="10828"/>
              <a:ext cx="949" cy="0"/>
            </a:xfrm>
            <a:prstGeom prst="straightConnector1">
              <a:avLst/>
            </a:prstGeom>
            <a:noFill/>
            <a:ln w="19050" cap="flat" cmpd="sng">
              <a:solidFill>
                <a:srgbClr val="000000"/>
              </a:solidFill>
              <a:prstDash val="solid"/>
              <a:round/>
              <a:headEnd type="triangle" w="med" len="med"/>
              <a:tailEnd type="triangle" w="med" len="med"/>
            </a:ln>
          </p:spPr>
        </p:cxnSp>
        <p:cxnSp>
          <p:nvCxnSpPr>
            <p:cNvPr id="206" name="Google Shape;206;p27"/>
            <p:cNvCxnSpPr/>
            <p:nvPr/>
          </p:nvCxnSpPr>
          <p:spPr>
            <a:xfrm>
              <a:off x="2843" y="9996"/>
              <a:ext cx="924" cy="585"/>
            </a:xfrm>
            <a:prstGeom prst="straightConnector1">
              <a:avLst/>
            </a:prstGeom>
            <a:noFill/>
            <a:ln w="19050" cap="flat" cmpd="sng">
              <a:solidFill>
                <a:srgbClr val="000000"/>
              </a:solidFill>
              <a:prstDash val="solid"/>
              <a:round/>
              <a:headEnd type="triangle" w="med" len="med"/>
              <a:tailEnd type="triangle" w="med" len="med"/>
            </a:ln>
          </p:spPr>
        </p:cxnSp>
        <p:cxnSp>
          <p:nvCxnSpPr>
            <p:cNvPr id="207" name="Google Shape;207;p27"/>
            <p:cNvCxnSpPr/>
            <p:nvPr/>
          </p:nvCxnSpPr>
          <p:spPr>
            <a:xfrm>
              <a:off x="2827" y="9032"/>
              <a:ext cx="947" cy="1332"/>
            </a:xfrm>
            <a:prstGeom prst="straightConnector1">
              <a:avLst/>
            </a:prstGeom>
            <a:noFill/>
            <a:ln w="19050" cap="flat" cmpd="sng">
              <a:solidFill>
                <a:srgbClr val="000000"/>
              </a:solidFill>
              <a:prstDash val="solid"/>
              <a:round/>
              <a:headEnd type="triangle" w="med" len="med"/>
              <a:tailEnd type="triangle" w="med" len="med"/>
            </a:ln>
          </p:spPr>
        </p:cxnSp>
        <p:cxnSp>
          <p:nvCxnSpPr>
            <p:cNvPr id="208" name="Google Shape;208;p27"/>
            <p:cNvCxnSpPr/>
            <p:nvPr/>
          </p:nvCxnSpPr>
          <p:spPr>
            <a:xfrm>
              <a:off x="2827" y="8096"/>
              <a:ext cx="963" cy="1988"/>
            </a:xfrm>
            <a:prstGeom prst="straightConnector1">
              <a:avLst/>
            </a:prstGeom>
            <a:noFill/>
            <a:ln w="19050" cap="flat" cmpd="sng">
              <a:solidFill>
                <a:srgbClr val="000000"/>
              </a:solidFill>
              <a:prstDash val="solid"/>
              <a:round/>
              <a:headEnd type="triangle" w="med" len="med"/>
              <a:tailEnd type="triangle" w="med" len="med"/>
            </a:ln>
          </p:spPr>
        </p:cxnSp>
        <p:cxnSp>
          <p:nvCxnSpPr>
            <p:cNvPr id="209" name="Google Shape;209;p27"/>
            <p:cNvCxnSpPr/>
            <p:nvPr/>
          </p:nvCxnSpPr>
          <p:spPr>
            <a:xfrm>
              <a:off x="2814" y="7113"/>
              <a:ext cx="966" cy="2677"/>
            </a:xfrm>
            <a:prstGeom prst="straightConnector1">
              <a:avLst/>
            </a:prstGeom>
            <a:noFill/>
            <a:ln w="19050" cap="flat" cmpd="sng">
              <a:solidFill>
                <a:srgbClr val="000000"/>
              </a:solidFill>
              <a:prstDash val="solid"/>
              <a:round/>
              <a:headEnd type="triangle" w="med" len="med"/>
              <a:tailEnd type="triangle" w="med" len="med"/>
            </a:ln>
          </p:spPr>
        </p:cxnSp>
        <p:cxnSp>
          <p:nvCxnSpPr>
            <p:cNvPr id="210" name="Google Shape;210;p27"/>
            <p:cNvCxnSpPr/>
            <p:nvPr/>
          </p:nvCxnSpPr>
          <p:spPr>
            <a:xfrm>
              <a:off x="4652" y="8938"/>
              <a:ext cx="0" cy="718"/>
            </a:xfrm>
            <a:prstGeom prst="straightConnector1">
              <a:avLst/>
            </a:prstGeom>
            <a:noFill/>
            <a:ln w="19050" cap="flat" cmpd="sng">
              <a:solidFill>
                <a:srgbClr val="000000"/>
              </a:solidFill>
              <a:prstDash val="solid"/>
              <a:round/>
              <a:headEnd type="triangle" w="med" len="med"/>
              <a:tailEnd type="triangle" w="med" len="med"/>
            </a:ln>
          </p:spPr>
        </p:cxnSp>
        <p:cxnSp>
          <p:nvCxnSpPr>
            <p:cNvPr id="211" name="Google Shape;211;p27"/>
            <p:cNvCxnSpPr/>
            <p:nvPr/>
          </p:nvCxnSpPr>
          <p:spPr>
            <a:xfrm>
              <a:off x="4652" y="7626"/>
              <a:ext cx="1" cy="585"/>
            </a:xfrm>
            <a:prstGeom prst="straightConnector1">
              <a:avLst/>
            </a:prstGeom>
            <a:noFill/>
            <a:ln w="19050" cap="flat" cmpd="sng">
              <a:solidFill>
                <a:srgbClr val="000000"/>
              </a:solidFill>
              <a:prstDash val="solid"/>
              <a:round/>
              <a:headEnd type="triangle" w="med" len="med"/>
              <a:tailEnd type="triangle" w="med" len="med"/>
            </a:ln>
          </p:spPr>
        </p:cxnSp>
        <p:cxnSp>
          <p:nvCxnSpPr>
            <p:cNvPr id="212" name="Google Shape;212;p27"/>
            <p:cNvCxnSpPr/>
            <p:nvPr/>
          </p:nvCxnSpPr>
          <p:spPr>
            <a:xfrm>
              <a:off x="5508" y="10622"/>
              <a:ext cx="916" cy="1"/>
            </a:xfrm>
            <a:prstGeom prst="straightConnector1">
              <a:avLst/>
            </a:prstGeom>
            <a:noFill/>
            <a:ln w="19050" cap="flat" cmpd="sng">
              <a:solidFill>
                <a:srgbClr val="000000"/>
              </a:solidFill>
              <a:prstDash val="solid"/>
              <a:round/>
              <a:headEnd type="none" w="sm" len="sm"/>
              <a:tailEnd type="triangle" w="med" len="med"/>
            </a:ln>
          </p:spPr>
        </p:cxnSp>
        <p:cxnSp>
          <p:nvCxnSpPr>
            <p:cNvPr id="213" name="Google Shape;213;p27"/>
            <p:cNvCxnSpPr/>
            <p:nvPr/>
          </p:nvCxnSpPr>
          <p:spPr>
            <a:xfrm rot="10800000" flipH="1">
              <a:off x="5508" y="7581"/>
              <a:ext cx="905" cy="2232"/>
            </a:xfrm>
            <a:prstGeom prst="straightConnector1">
              <a:avLst/>
            </a:prstGeom>
            <a:noFill/>
            <a:ln w="19050" cap="flat" cmpd="sng">
              <a:solidFill>
                <a:srgbClr val="000000"/>
              </a:solidFill>
              <a:prstDash val="solid"/>
              <a:round/>
              <a:headEnd type="none" w="sm" len="sm"/>
              <a:tailEnd type="triangle" w="med" len="med"/>
            </a:ln>
          </p:spPr>
        </p:cxnSp>
        <p:cxnSp>
          <p:nvCxnSpPr>
            <p:cNvPr id="214" name="Google Shape;214;p27"/>
            <p:cNvCxnSpPr/>
            <p:nvPr/>
          </p:nvCxnSpPr>
          <p:spPr>
            <a:xfrm rot="10800000" flipH="1">
              <a:off x="5508" y="8553"/>
              <a:ext cx="900" cy="1603"/>
            </a:xfrm>
            <a:prstGeom prst="straightConnector1">
              <a:avLst/>
            </a:prstGeom>
            <a:noFill/>
            <a:ln w="19050" cap="flat" cmpd="sng">
              <a:solidFill>
                <a:srgbClr val="000000"/>
              </a:solidFill>
              <a:prstDash val="solid"/>
              <a:round/>
              <a:headEnd type="none" w="sm" len="sm"/>
              <a:tailEnd type="triangle" w="med" len="med"/>
            </a:ln>
          </p:spPr>
        </p:cxnSp>
        <p:cxnSp>
          <p:nvCxnSpPr>
            <p:cNvPr id="215" name="Google Shape;215;p27"/>
            <p:cNvCxnSpPr/>
            <p:nvPr/>
          </p:nvCxnSpPr>
          <p:spPr>
            <a:xfrm rot="10800000" flipH="1">
              <a:off x="5508" y="9523"/>
              <a:ext cx="885" cy="959"/>
            </a:xfrm>
            <a:prstGeom prst="straightConnector1">
              <a:avLst/>
            </a:prstGeom>
            <a:noFill/>
            <a:ln w="19050" cap="flat" cmpd="sng">
              <a:solidFill>
                <a:srgbClr val="000000"/>
              </a:solidFill>
              <a:prstDash val="solid"/>
              <a:round/>
              <a:headEnd type="none" w="sm" len="sm"/>
              <a:tailEnd type="triangle" w="med" len="med"/>
            </a:ln>
          </p:spPr>
        </p:cxnSp>
        <p:cxnSp>
          <p:nvCxnSpPr>
            <p:cNvPr id="216" name="Google Shape;216;p27"/>
            <p:cNvCxnSpPr/>
            <p:nvPr/>
          </p:nvCxnSpPr>
          <p:spPr>
            <a:xfrm rot="10800000">
              <a:off x="5492" y="6998"/>
              <a:ext cx="2792" cy="0"/>
            </a:xfrm>
            <a:prstGeom prst="straightConnector1">
              <a:avLst/>
            </a:prstGeom>
            <a:noFill/>
            <a:ln w="19050" cap="flat" cmpd="sng">
              <a:solidFill>
                <a:srgbClr val="000000"/>
              </a:solidFill>
              <a:prstDash val="solid"/>
              <a:round/>
              <a:headEnd type="none" w="sm" len="sm"/>
              <a:tailEnd type="triangle" w="med" len="med"/>
            </a:ln>
          </p:spPr>
        </p:cxnSp>
        <p:cxnSp>
          <p:nvCxnSpPr>
            <p:cNvPr id="217" name="Google Shape;217;p27"/>
            <p:cNvCxnSpPr/>
            <p:nvPr/>
          </p:nvCxnSpPr>
          <p:spPr>
            <a:xfrm>
              <a:off x="8288" y="7009"/>
              <a:ext cx="0" cy="4285"/>
            </a:xfrm>
            <a:prstGeom prst="straightConnector1">
              <a:avLst/>
            </a:prstGeom>
            <a:noFill/>
            <a:ln w="19050" cap="flat" cmpd="sng">
              <a:solidFill>
                <a:srgbClr val="000000"/>
              </a:solidFill>
              <a:prstDash val="solid"/>
              <a:round/>
              <a:headEnd type="none" w="sm" len="sm"/>
              <a:tailEnd type="none" w="sm" len="sm"/>
            </a:ln>
          </p:spPr>
        </p:cxnSp>
        <p:cxnSp>
          <p:nvCxnSpPr>
            <p:cNvPr id="218" name="Google Shape;218;p27"/>
            <p:cNvCxnSpPr/>
            <p:nvPr/>
          </p:nvCxnSpPr>
          <p:spPr>
            <a:xfrm flipH="1">
              <a:off x="4772" y="11270"/>
              <a:ext cx="3532" cy="9"/>
            </a:xfrm>
            <a:prstGeom prst="straightConnector1">
              <a:avLst/>
            </a:prstGeom>
            <a:noFill/>
            <a:ln w="19050" cap="flat" cmpd="sng">
              <a:solidFill>
                <a:srgbClr val="000000"/>
              </a:solidFill>
              <a:prstDash val="solid"/>
              <a:round/>
              <a:headEnd type="none" w="sm" len="sm"/>
              <a:tailEnd type="none" w="sm" len="sm"/>
            </a:ln>
          </p:spPr>
        </p:cxnSp>
        <p:cxnSp>
          <p:nvCxnSpPr>
            <p:cNvPr id="219" name="Google Shape;219;p27"/>
            <p:cNvCxnSpPr/>
            <p:nvPr/>
          </p:nvCxnSpPr>
          <p:spPr>
            <a:xfrm>
              <a:off x="4772" y="11052"/>
              <a:ext cx="0" cy="227"/>
            </a:xfrm>
            <a:prstGeom prst="straightConnector1">
              <a:avLst/>
            </a:prstGeom>
            <a:noFill/>
            <a:ln w="19050" cap="flat" cmpd="sng">
              <a:solidFill>
                <a:srgbClr val="000000"/>
              </a:solidFill>
              <a:prstDash val="solid"/>
              <a:round/>
              <a:headEnd type="none" w="sm" len="sm"/>
              <a:tailEnd type="none" w="sm" len="sm"/>
            </a:ln>
          </p:spPr>
        </p:cxnSp>
        <p:sp>
          <p:nvSpPr>
            <p:cNvPr id="220" name="Google Shape;220;p27"/>
            <p:cNvSpPr txBox="1"/>
            <p:nvPr/>
          </p:nvSpPr>
          <p:spPr>
            <a:xfrm>
              <a:off x="1086" y="6771"/>
              <a:ext cx="1728" cy="703"/>
            </a:xfrm>
            <a:prstGeom prst="rect">
              <a:avLst/>
            </a:prstGeom>
            <a:noFill/>
            <a:ln w="9525" cap="flat"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Clr>
                  <a:srgbClr val="191300"/>
                </a:buClr>
                <a:buSzPts val="1400"/>
                <a:buFont typeface="Arial"/>
                <a:buNone/>
              </a:pPr>
              <a:r>
                <a:rPr lang="en-US" sz="1400" b="1" i="0" u="none" strike="noStrike" cap="none">
                  <a:solidFill>
                    <a:srgbClr val="191300"/>
                  </a:solidFill>
                  <a:latin typeface="Arial"/>
                  <a:ea typeface="Arial"/>
                  <a:cs typeface="Arial"/>
                  <a:sym typeface="Arial"/>
                </a:rPr>
                <a:t>Cảm nhận</a:t>
              </a:r>
              <a:endParaRPr sz="1400" b="1" i="0" u="none" strike="noStrike" cap="none">
                <a:solidFill>
                  <a:srgbClr val="191300"/>
                </a:solidFill>
                <a:latin typeface="Arial"/>
                <a:ea typeface="Arial"/>
                <a:cs typeface="Arial"/>
                <a:sym typeface="Arial"/>
              </a:endParaRPr>
            </a:p>
          </p:txBody>
        </p:sp>
        <p:sp>
          <p:nvSpPr>
            <p:cNvPr id="221" name="Google Shape;221;p27"/>
            <p:cNvSpPr txBox="1"/>
            <p:nvPr/>
          </p:nvSpPr>
          <p:spPr>
            <a:xfrm>
              <a:off x="1103" y="7733"/>
              <a:ext cx="1728" cy="703"/>
            </a:xfrm>
            <a:prstGeom prst="rect">
              <a:avLst/>
            </a:prstGeom>
            <a:noFill/>
            <a:ln w="9525" cap="flat"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Nhận thức</a:t>
              </a:r>
              <a:endParaRPr sz="1400" b="1" i="0" u="none" strike="noStrike" cap="none">
                <a:solidFill>
                  <a:srgbClr val="000000"/>
                </a:solidFill>
                <a:latin typeface="Arial"/>
                <a:ea typeface="Arial"/>
                <a:cs typeface="Arial"/>
                <a:sym typeface="Arial"/>
              </a:endParaRPr>
            </a:p>
          </p:txBody>
        </p:sp>
        <p:sp>
          <p:nvSpPr>
            <p:cNvPr id="222" name="Google Shape;222;p27"/>
            <p:cNvSpPr txBox="1"/>
            <p:nvPr/>
          </p:nvSpPr>
          <p:spPr>
            <a:xfrm>
              <a:off x="1103" y="8665"/>
              <a:ext cx="1728" cy="714"/>
            </a:xfrm>
            <a:prstGeom prst="rect">
              <a:avLst/>
            </a:prstGeom>
            <a:noFill/>
            <a:ln w="9525" cap="flat"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Ảnh hưởng</a:t>
              </a:r>
              <a:endParaRPr sz="1400" b="1" i="0" u="none" strike="noStrike" cap="none">
                <a:solidFill>
                  <a:srgbClr val="000000"/>
                </a:solidFill>
                <a:latin typeface="Arial"/>
                <a:ea typeface="Arial"/>
                <a:cs typeface="Arial"/>
                <a:sym typeface="Arial"/>
              </a:endParaRPr>
            </a:p>
          </p:txBody>
        </p:sp>
        <p:sp>
          <p:nvSpPr>
            <p:cNvPr id="223" name="Google Shape;223;p27"/>
            <p:cNvSpPr txBox="1"/>
            <p:nvPr/>
          </p:nvSpPr>
          <p:spPr>
            <a:xfrm>
              <a:off x="1103" y="9610"/>
              <a:ext cx="1728" cy="703"/>
            </a:xfrm>
            <a:prstGeom prst="rect">
              <a:avLst/>
            </a:prstGeom>
            <a:noFill/>
            <a:ln w="9525" cap="flat"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Lòng tin</a:t>
              </a:r>
              <a:endParaRPr sz="1400" b="1" i="0" u="none" strike="noStrike" cap="none">
                <a:solidFill>
                  <a:srgbClr val="000000"/>
                </a:solidFill>
                <a:latin typeface="Arial"/>
                <a:ea typeface="Arial"/>
                <a:cs typeface="Arial"/>
                <a:sym typeface="Arial"/>
              </a:endParaRPr>
            </a:p>
          </p:txBody>
        </p:sp>
        <p:sp>
          <p:nvSpPr>
            <p:cNvPr id="224" name="Google Shape;224;p27"/>
            <p:cNvSpPr txBox="1"/>
            <p:nvPr/>
          </p:nvSpPr>
          <p:spPr>
            <a:xfrm>
              <a:off x="1103" y="10542"/>
              <a:ext cx="1728" cy="889"/>
            </a:xfrm>
            <a:prstGeom prst="rect">
              <a:avLst/>
            </a:prstGeom>
            <a:noFill/>
            <a:ln w="9525" cap="flat"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Ảnh hưởng xã hội và khác</a:t>
              </a:r>
              <a:endParaRPr sz="1400" b="1" i="0" u="none" strike="noStrike" cap="none">
                <a:solidFill>
                  <a:srgbClr val="000000"/>
                </a:solidFill>
                <a:latin typeface="Arial"/>
                <a:ea typeface="Arial"/>
                <a:cs typeface="Arial"/>
                <a:sym typeface="Arial"/>
              </a:endParaRPr>
            </a:p>
          </p:txBody>
        </p:sp>
      </p:grpSp>
      <p:sp>
        <p:nvSpPr>
          <p:cNvPr id="225" name="Google Shape;225;p27"/>
          <p:cNvSpPr/>
          <p:nvPr/>
        </p:nvSpPr>
        <p:spPr>
          <a:xfrm>
            <a:off x="4780547" y="5535332"/>
            <a:ext cx="3497180" cy="405752"/>
          </a:xfrm>
          <a:prstGeom prst="rect">
            <a:avLst/>
          </a:prstGeom>
          <a:noFill/>
          <a:ln>
            <a:noFill/>
          </a:ln>
        </p:spPr>
        <p:txBody>
          <a:bodyPr spcFirstLastPara="1" wrap="square" lIns="91425" tIns="45700" rIns="91425" bIns="45700" anchor="t" anchorCtr="0">
            <a:noAutofit/>
          </a:bodyPr>
          <a:lstStyle/>
          <a:p>
            <a:pPr marL="0" marR="0" lvl="0" indent="0" algn="r" rtl="0">
              <a:lnSpc>
                <a:spcPct val="125000"/>
              </a:lnSpc>
              <a:spcBef>
                <a:spcPts val="0"/>
              </a:spcBef>
              <a:spcAft>
                <a:spcPts val="0"/>
              </a:spcAft>
              <a:buClr>
                <a:srgbClr val="000000"/>
              </a:buClr>
              <a:buSzPts val="1800"/>
              <a:buFont typeface="Arial"/>
              <a:buNone/>
            </a:pPr>
            <a:r>
              <a:rPr lang="en-US" sz="1800" b="0" i="1" u="none" strike="noStrike" cap="none">
                <a:solidFill>
                  <a:srgbClr val="000000"/>
                </a:solidFill>
                <a:latin typeface="Arial"/>
                <a:ea typeface="Arial"/>
                <a:cs typeface="Arial"/>
                <a:sym typeface="Arial"/>
              </a:rPr>
              <a:t>Nguồn Lars Pemer, 1999-2018</a:t>
            </a:r>
            <a:endParaRPr sz="1800" b="0" i="0" u="none" strike="noStrike" cap="none">
              <a:solidFill>
                <a:srgbClr val="000000"/>
              </a:solidFill>
              <a:latin typeface="Times New Roman"/>
              <a:ea typeface="Times New Roman"/>
              <a:cs typeface="Times New Roman"/>
              <a:sym typeface="Times New Roman"/>
            </a:endParaRPr>
          </a:p>
        </p:txBody>
      </p:sp>
      <p:sp>
        <p:nvSpPr>
          <p:cNvPr id="226" name="Google Shape;226;p27"/>
          <p:cNvSpPr txBox="1"/>
          <p:nvPr/>
        </p:nvSpPr>
        <p:spPr>
          <a:xfrm>
            <a:off x="466258" y="6053652"/>
            <a:ext cx="9672150" cy="384721"/>
          </a:xfrm>
          <a:prstGeom prst="rect">
            <a:avLst/>
          </a:prstGeom>
          <a:solidFill>
            <a:srgbClr val="FFFFFF"/>
          </a:solidFill>
          <a:ln>
            <a:noFill/>
          </a:ln>
        </p:spPr>
        <p:txBody>
          <a:bodyPr spcFirstLastPara="1" wrap="square" lIns="0" tIns="0" rIns="0" bIns="0" anchor="t" anchorCtr="0">
            <a:spAutoFit/>
          </a:bodyPr>
          <a:lstStyle/>
          <a:p>
            <a:pPr marL="0" marR="0" lvl="0" indent="0" algn="ctr" rtl="0">
              <a:lnSpc>
                <a:spcPct val="125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Hình 1.2: Các yếu tố ảnh hưởng đến hành vi khách hàng</a:t>
            </a:r>
            <a:endParaRPr sz="2000" b="1" i="0" u="none" strike="noStrike" cap="none">
              <a:solidFill>
                <a:srgbClr val="000000"/>
              </a:solidFill>
              <a:latin typeface="Arial"/>
              <a:ea typeface="Arial"/>
              <a:cs typeface="Arial"/>
              <a:sym typeface="Arial"/>
            </a:endParaRPr>
          </a:p>
        </p:txBody>
      </p:sp>
      <p:pic>
        <p:nvPicPr>
          <p:cNvPr id="227" name="Google Shape;227;p27" descr="Hành vi người tiêu dùng là gì? Tổng quan về hành vi người tiêu dùng"/>
          <p:cNvPicPr preferRelativeResize="0"/>
          <p:nvPr/>
        </p:nvPicPr>
        <p:blipFill rotWithShape="1">
          <a:blip r:embed="rId3">
            <a:alphaModFix/>
          </a:blip>
          <a:srcRect/>
          <a:stretch/>
        </p:blipFill>
        <p:spPr>
          <a:xfrm>
            <a:off x="8358170" y="2623700"/>
            <a:ext cx="2922810" cy="2095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9"/>
          <p:cNvSpPr txBox="1">
            <a:spLocks noGrp="1"/>
          </p:cNvSpPr>
          <p:nvPr>
            <p:ph type="title"/>
          </p:nvPr>
        </p:nvSpPr>
        <p:spPr>
          <a:xfrm>
            <a:off x="357909" y="138624"/>
            <a:ext cx="10515600" cy="89960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US" sz="2000" b="1" err="1">
                <a:sym typeface="Arial"/>
              </a:rPr>
              <a:t>Bảng</a:t>
            </a:r>
            <a:r>
              <a:rPr lang="en-US" sz="2000" b="1">
                <a:sym typeface="Arial"/>
              </a:rPr>
              <a:t> 1.</a:t>
            </a:r>
            <a:r>
              <a:rPr lang="vi-VN" sz="2000" b="1">
                <a:sym typeface="Arial"/>
              </a:rPr>
              <a:t>4 </a:t>
            </a:r>
            <a:r>
              <a:rPr lang="en-US" sz="2000" b="1" err="1">
                <a:sym typeface="Arial"/>
              </a:rPr>
              <a:t>Thay</a:t>
            </a:r>
            <a:r>
              <a:rPr lang="en-US" sz="2000" b="1">
                <a:sym typeface="Arial"/>
              </a:rPr>
              <a:t> </a:t>
            </a:r>
            <a:r>
              <a:rPr lang="en-US" sz="2000" b="1" err="1">
                <a:sym typeface="Arial"/>
              </a:rPr>
              <a:t>đổi</a:t>
            </a:r>
            <a:r>
              <a:rPr lang="en-US" sz="2000" b="1">
                <a:sym typeface="Arial"/>
              </a:rPr>
              <a:t> </a:t>
            </a:r>
            <a:r>
              <a:rPr lang="en-US" sz="2000" b="1" err="1">
                <a:sym typeface="Arial"/>
              </a:rPr>
              <a:t>hành</a:t>
            </a:r>
            <a:r>
              <a:rPr lang="en-US" sz="2000" b="1">
                <a:sym typeface="Arial"/>
              </a:rPr>
              <a:t> vi </a:t>
            </a:r>
            <a:r>
              <a:rPr lang="en-US" sz="2000" b="1" err="1">
                <a:sym typeface="Arial"/>
              </a:rPr>
              <a:t>khách</a:t>
            </a:r>
            <a:r>
              <a:rPr lang="en-US" sz="2000" b="1">
                <a:sym typeface="Arial"/>
              </a:rPr>
              <a:t> </a:t>
            </a:r>
            <a:r>
              <a:rPr lang="en-US" sz="2000" b="1" err="1">
                <a:sym typeface="Arial"/>
              </a:rPr>
              <a:t>hàng</a:t>
            </a:r>
            <a:r>
              <a:rPr lang="en-US" sz="2000" b="1">
                <a:sym typeface="Arial"/>
              </a:rPr>
              <a:t> </a:t>
            </a:r>
            <a:r>
              <a:rPr lang="en-US" sz="2000" b="1" err="1">
                <a:sym typeface="Arial"/>
              </a:rPr>
              <a:t>nói</a:t>
            </a:r>
            <a:r>
              <a:rPr lang="en-US" sz="2000" b="1">
                <a:sym typeface="Arial"/>
              </a:rPr>
              <a:t> </a:t>
            </a:r>
            <a:r>
              <a:rPr lang="en-US" sz="2000" b="1" err="1">
                <a:sym typeface="Arial"/>
              </a:rPr>
              <a:t>chung</a:t>
            </a:r>
            <a:r>
              <a:rPr lang="en-US" sz="2000" b="1">
                <a:sym typeface="Arial"/>
              </a:rPr>
              <a:t> </a:t>
            </a:r>
            <a:r>
              <a:rPr lang="en-US" sz="2000" b="1" err="1">
                <a:sym typeface="Arial"/>
              </a:rPr>
              <a:t>trên</a:t>
            </a:r>
            <a:r>
              <a:rPr lang="en-US" sz="2000" b="1">
                <a:sym typeface="Arial"/>
              </a:rPr>
              <a:t> </a:t>
            </a:r>
            <a:r>
              <a:rPr lang="en-US" sz="2000" b="1" err="1">
                <a:sym typeface="Arial"/>
              </a:rPr>
              <a:t>thế</a:t>
            </a:r>
            <a:r>
              <a:rPr lang="en-US" sz="2000" b="1">
                <a:sym typeface="Arial"/>
              </a:rPr>
              <a:t> </a:t>
            </a:r>
            <a:r>
              <a:rPr lang="en-US" sz="2000" b="1" err="1">
                <a:sym typeface="Arial"/>
              </a:rPr>
              <a:t>giới</a:t>
            </a:r>
            <a:br>
              <a:rPr lang="en-US" sz="2000" b="1"/>
            </a:br>
            <a:endParaRPr sz="2000"/>
          </a:p>
        </p:txBody>
      </p:sp>
      <p:graphicFrame>
        <p:nvGraphicFramePr>
          <p:cNvPr id="238" name="Google Shape;238;p29"/>
          <p:cNvGraphicFramePr/>
          <p:nvPr>
            <p:extLst>
              <p:ext uri="{D42A27DB-BD31-4B8C-83A1-F6EECF244321}">
                <p14:modId xmlns:p14="http://schemas.microsoft.com/office/powerpoint/2010/main" val="2909846289"/>
              </p:ext>
            </p:extLst>
          </p:nvPr>
        </p:nvGraphicFramePr>
        <p:xfrm>
          <a:off x="357909" y="967317"/>
          <a:ext cx="10830791" cy="5545568"/>
        </p:xfrm>
        <a:graphic>
          <a:graphicData uri="http://schemas.openxmlformats.org/drawingml/2006/table">
            <a:tbl>
              <a:tblPr firstRow="1" firstCol="1" bandRow="1">
                <a:noFill/>
                <a:tableStyleId>{4A6342F4-E3B8-4AE7-892F-69534030CBAD}</a:tableStyleId>
              </a:tblPr>
              <a:tblGrid>
                <a:gridCol w="3230404">
                  <a:extLst>
                    <a:ext uri="{9D8B030D-6E8A-4147-A177-3AD203B41FA5}">
                      <a16:colId xmlns:a16="http://schemas.microsoft.com/office/drawing/2014/main" val="20000"/>
                    </a:ext>
                  </a:extLst>
                </a:gridCol>
                <a:gridCol w="4048494">
                  <a:extLst>
                    <a:ext uri="{9D8B030D-6E8A-4147-A177-3AD203B41FA5}">
                      <a16:colId xmlns:a16="http://schemas.microsoft.com/office/drawing/2014/main" val="20001"/>
                    </a:ext>
                  </a:extLst>
                </a:gridCol>
                <a:gridCol w="3551893">
                  <a:extLst>
                    <a:ext uri="{9D8B030D-6E8A-4147-A177-3AD203B41FA5}">
                      <a16:colId xmlns:a16="http://schemas.microsoft.com/office/drawing/2014/main" val="20002"/>
                    </a:ext>
                  </a:extLst>
                </a:gridCol>
              </a:tblGrid>
              <a:tr h="380046">
                <a:tc>
                  <a:txBody>
                    <a:bodyPr/>
                    <a:lstStyle/>
                    <a:p>
                      <a:pPr marL="0" marR="0" lvl="0" indent="0" algn="ctr" rtl="0">
                        <a:lnSpc>
                          <a:spcPct val="125000"/>
                        </a:lnSpc>
                        <a:spcBef>
                          <a:spcPts val="0"/>
                        </a:spcBef>
                        <a:spcAft>
                          <a:spcPts val="0"/>
                        </a:spcAft>
                        <a:buClr>
                          <a:srgbClr val="000000"/>
                        </a:buClr>
                        <a:buSzPts val="1800"/>
                        <a:buFont typeface="Arial"/>
                        <a:buNone/>
                      </a:pPr>
                      <a:r>
                        <a:rPr lang="en-US" sz="1800" b="1" u="none" strike="noStrike" cap="none">
                          <a:solidFill>
                            <a:schemeClr val="dk1"/>
                          </a:solidFill>
                          <a:latin typeface="Arial"/>
                          <a:ea typeface="Arial"/>
                          <a:cs typeface="Arial"/>
                          <a:sym typeface="Arial"/>
                        </a:rPr>
                        <a:t>Thập kỷ 1980</a:t>
                      </a:r>
                      <a:endParaRPr sz="1800" b="1" u="none" strike="noStrike" cap="none">
                        <a:solidFill>
                          <a:schemeClr val="dk1"/>
                        </a:solidFill>
                        <a:latin typeface="Arial"/>
                        <a:ea typeface="Arial"/>
                        <a:cs typeface="Arial"/>
                        <a:sym typeface="Arial"/>
                      </a:endParaRPr>
                    </a:p>
                  </a:txBody>
                  <a:tcPr marL="38700" marR="38700" marT="0" marB="0"/>
                </a:tc>
                <a:tc>
                  <a:txBody>
                    <a:bodyPr/>
                    <a:lstStyle/>
                    <a:p>
                      <a:pPr marL="0" marR="0" lvl="0" indent="0" algn="ctr" rtl="0">
                        <a:lnSpc>
                          <a:spcPct val="125000"/>
                        </a:lnSpc>
                        <a:spcBef>
                          <a:spcPts val="0"/>
                        </a:spcBef>
                        <a:spcAft>
                          <a:spcPts val="0"/>
                        </a:spcAft>
                        <a:buClr>
                          <a:srgbClr val="000000"/>
                        </a:buClr>
                        <a:buSzPts val="1800"/>
                        <a:buFont typeface="Arial"/>
                        <a:buNone/>
                      </a:pPr>
                      <a:r>
                        <a:rPr lang="en-US" sz="1800" b="1" u="none" strike="noStrike" cap="none">
                          <a:solidFill>
                            <a:schemeClr val="dk1"/>
                          </a:solidFill>
                          <a:latin typeface="Arial"/>
                          <a:ea typeface="Arial"/>
                          <a:cs typeface="Arial"/>
                          <a:sym typeface="Arial"/>
                        </a:rPr>
                        <a:t>Thập kỷ 1990</a:t>
                      </a:r>
                      <a:endParaRPr sz="1800" b="1" u="none" strike="noStrike" cap="none">
                        <a:solidFill>
                          <a:schemeClr val="dk1"/>
                        </a:solidFill>
                        <a:latin typeface="Arial"/>
                        <a:ea typeface="Arial"/>
                        <a:cs typeface="Arial"/>
                        <a:sym typeface="Arial"/>
                      </a:endParaRPr>
                    </a:p>
                  </a:txBody>
                  <a:tcPr marL="38700" marR="38700" marT="0" marB="0"/>
                </a:tc>
                <a:tc>
                  <a:txBody>
                    <a:bodyPr/>
                    <a:lstStyle/>
                    <a:p>
                      <a:pPr marL="0" marR="0" lvl="0" indent="0" algn="ctr" rtl="0">
                        <a:lnSpc>
                          <a:spcPct val="125000"/>
                        </a:lnSpc>
                        <a:spcBef>
                          <a:spcPts val="0"/>
                        </a:spcBef>
                        <a:spcAft>
                          <a:spcPts val="0"/>
                        </a:spcAft>
                        <a:buClr>
                          <a:srgbClr val="000000"/>
                        </a:buClr>
                        <a:buSzPts val="1800"/>
                        <a:buFont typeface="Arial"/>
                        <a:buNone/>
                      </a:pPr>
                      <a:r>
                        <a:rPr lang="en-US" sz="1800" b="1" u="none" strike="noStrike" cap="none">
                          <a:solidFill>
                            <a:schemeClr val="dk1"/>
                          </a:solidFill>
                          <a:latin typeface="Arial"/>
                          <a:ea typeface="Arial"/>
                          <a:cs typeface="Arial"/>
                          <a:sym typeface="Arial"/>
                        </a:rPr>
                        <a:t>Thập kỷ 2000 - nay</a:t>
                      </a:r>
                      <a:endParaRPr sz="1800" b="1" u="none" strike="noStrike" cap="none">
                        <a:solidFill>
                          <a:schemeClr val="dk1"/>
                        </a:solidFill>
                        <a:latin typeface="Arial"/>
                        <a:ea typeface="Arial"/>
                        <a:cs typeface="Arial"/>
                        <a:sym typeface="Arial"/>
                      </a:endParaRPr>
                    </a:p>
                  </a:txBody>
                  <a:tcPr marL="38700" marR="38700" marT="0" marB="0"/>
                </a:tc>
                <a:extLst>
                  <a:ext uri="{0D108BD9-81ED-4DB2-BD59-A6C34878D82A}">
                    <a16:rowId xmlns:a16="http://schemas.microsoft.com/office/drawing/2014/main" val="10000"/>
                  </a:ext>
                </a:extLst>
              </a:tr>
              <a:tr h="861243">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KH chi tiêu mua hàng hóa và dịch vụ xa xỉ để thể hiện bản thân</a:t>
                      </a:r>
                      <a:endParaRPr sz="1600" b="0" u="none" strike="noStrike" cap="none">
                        <a:solidFill>
                          <a:schemeClr val="dk1"/>
                        </a:solidFill>
                        <a:latin typeface="Arial"/>
                        <a:ea typeface="Arial"/>
                        <a:cs typeface="Arial"/>
                        <a:sym typeface="Arial"/>
                      </a:endParaRPr>
                    </a:p>
                  </a:txBody>
                  <a:tcPr marL="38700" marR="38700" marT="0" marB="0" anchor="ctr"/>
                </a:tc>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KH ít thể hiện vật chất, địa vị hơn và ít tham gia vào thương hiệu.</a:t>
                      </a:r>
                      <a:endParaRPr sz="1600" b="0" u="none" strike="noStrike" cap="none">
                        <a:solidFill>
                          <a:schemeClr val="dk1"/>
                        </a:solidFill>
                        <a:latin typeface="Arial"/>
                        <a:ea typeface="Arial"/>
                        <a:cs typeface="Arial"/>
                        <a:sym typeface="Arial"/>
                      </a:endParaRPr>
                    </a:p>
                  </a:txBody>
                  <a:tcPr marL="38700" marR="38700" marT="0" marB="0" anchor="ctr"/>
                </a:tc>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KH chi tiêu thận trọng, nhưng nói chung là tốt cho KH</a:t>
                      </a:r>
                      <a:endParaRPr sz="1600" b="0" u="none" strike="noStrike" cap="none">
                        <a:solidFill>
                          <a:schemeClr val="dk1"/>
                        </a:solidFill>
                        <a:latin typeface="Arial"/>
                        <a:ea typeface="Arial"/>
                        <a:cs typeface="Arial"/>
                        <a:sym typeface="Arial"/>
                      </a:endParaRPr>
                    </a:p>
                  </a:txBody>
                  <a:tcPr marL="38700" marR="38700" marT="0" marB="0" anchor="ctr"/>
                </a:tc>
                <a:extLst>
                  <a:ext uri="{0D108BD9-81ED-4DB2-BD59-A6C34878D82A}">
                    <a16:rowId xmlns:a16="http://schemas.microsoft.com/office/drawing/2014/main" val="10001"/>
                  </a:ext>
                </a:extLst>
              </a:tr>
              <a:tr h="328509">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Hướng hình ảnh</a:t>
                      </a:r>
                      <a:endParaRPr sz="1600" b="0" u="none" strike="noStrike" cap="none">
                        <a:solidFill>
                          <a:schemeClr val="dk1"/>
                        </a:solidFill>
                        <a:latin typeface="Arial"/>
                        <a:ea typeface="Arial"/>
                        <a:cs typeface="Arial"/>
                        <a:sym typeface="Arial"/>
                      </a:endParaRPr>
                    </a:p>
                  </a:txBody>
                  <a:tcPr marL="38700" marR="38700" marT="0" marB="0" anchor="ctr"/>
                </a:tc>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err="1">
                          <a:solidFill>
                            <a:schemeClr val="dk1"/>
                          </a:solidFill>
                          <a:latin typeface="Arial"/>
                          <a:ea typeface="Arial"/>
                          <a:cs typeface="Arial"/>
                          <a:sym typeface="Arial"/>
                        </a:rPr>
                        <a:t>Định</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hướng</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giá</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trị</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và</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chất</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lượng</a:t>
                      </a:r>
                      <a:endParaRPr sz="1600" b="0" u="none" strike="noStrike" cap="none">
                        <a:solidFill>
                          <a:schemeClr val="dk1"/>
                        </a:solidFill>
                        <a:latin typeface="Arial"/>
                        <a:ea typeface="Arial"/>
                        <a:cs typeface="Arial"/>
                        <a:sym typeface="Arial"/>
                      </a:endParaRPr>
                    </a:p>
                  </a:txBody>
                  <a:tcPr marL="38700" marR="38700" marT="0" marB="0" anchor="ctr"/>
                </a:tc>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Linh hoạt không cứng nhắc.</a:t>
                      </a:r>
                      <a:endParaRPr sz="1600" b="0" u="none" strike="noStrike" cap="none">
                        <a:solidFill>
                          <a:schemeClr val="dk1"/>
                        </a:solidFill>
                        <a:latin typeface="Arial"/>
                        <a:ea typeface="Arial"/>
                        <a:cs typeface="Arial"/>
                        <a:sym typeface="Arial"/>
                      </a:endParaRPr>
                    </a:p>
                  </a:txBody>
                  <a:tcPr marL="38700" marR="38700" marT="0" marB="0" anchor="ctr"/>
                </a:tc>
                <a:extLst>
                  <a:ext uri="{0D108BD9-81ED-4DB2-BD59-A6C34878D82A}">
                    <a16:rowId xmlns:a16="http://schemas.microsoft.com/office/drawing/2014/main" val="10002"/>
                  </a:ext>
                </a:extLst>
              </a:tr>
              <a:tr h="328509">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Tin tưởng</a:t>
                      </a:r>
                      <a:endParaRPr sz="1600" b="0" u="none" strike="noStrike" cap="none">
                        <a:solidFill>
                          <a:schemeClr val="dk1"/>
                        </a:solidFill>
                        <a:latin typeface="Arial"/>
                        <a:ea typeface="Arial"/>
                        <a:cs typeface="Arial"/>
                        <a:sym typeface="Arial"/>
                      </a:endParaRPr>
                    </a:p>
                  </a:txBody>
                  <a:tcPr marL="38700" marR="38700" marT="0" marB="0" anchor="ctr"/>
                </a:tc>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err="1">
                          <a:solidFill>
                            <a:schemeClr val="dk1"/>
                          </a:solidFill>
                          <a:latin typeface="Arial"/>
                          <a:ea typeface="Arial"/>
                          <a:cs typeface="Arial"/>
                          <a:sym typeface="Arial"/>
                        </a:rPr>
                        <a:t>Hoài</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nghi</a:t>
                      </a:r>
                      <a:r>
                        <a:rPr lang="en-US" sz="1600" b="0" u="none" strike="noStrike" cap="none">
                          <a:solidFill>
                            <a:schemeClr val="dk1"/>
                          </a:solidFill>
                          <a:latin typeface="Arial"/>
                          <a:ea typeface="Arial"/>
                          <a:cs typeface="Arial"/>
                          <a:sym typeface="Arial"/>
                        </a:rPr>
                        <a:t> </a:t>
                      </a:r>
                      <a:endParaRPr sz="1600" b="0" u="none" strike="noStrike" cap="none">
                        <a:solidFill>
                          <a:schemeClr val="dk1"/>
                        </a:solidFill>
                        <a:latin typeface="Arial"/>
                        <a:ea typeface="Arial"/>
                        <a:cs typeface="Arial"/>
                        <a:sym typeface="Arial"/>
                      </a:endParaRPr>
                    </a:p>
                  </a:txBody>
                  <a:tcPr marL="38700" marR="38700" marT="0" marB="0" anchor="ctr"/>
                </a:tc>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Thái độ chứng minh </a:t>
                      </a:r>
                      <a:endParaRPr sz="1600" b="0" u="none" strike="noStrike" cap="none">
                        <a:solidFill>
                          <a:schemeClr val="dk1"/>
                        </a:solidFill>
                        <a:latin typeface="Arial"/>
                        <a:ea typeface="Arial"/>
                        <a:cs typeface="Arial"/>
                        <a:sym typeface="Arial"/>
                      </a:endParaRPr>
                    </a:p>
                  </a:txBody>
                  <a:tcPr marL="38700" marR="38700" marT="0" marB="0" anchor="ctr"/>
                </a:tc>
                <a:extLst>
                  <a:ext uri="{0D108BD9-81ED-4DB2-BD59-A6C34878D82A}">
                    <a16:rowId xmlns:a16="http://schemas.microsoft.com/office/drawing/2014/main" val="10003"/>
                  </a:ext>
                </a:extLst>
              </a:tr>
              <a:tr h="328509">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Trung thành với thương hiệu</a:t>
                      </a:r>
                      <a:endParaRPr sz="1600" b="0" u="none" strike="noStrike" cap="none">
                        <a:solidFill>
                          <a:schemeClr val="dk1"/>
                        </a:solidFill>
                        <a:latin typeface="Arial"/>
                        <a:ea typeface="Arial"/>
                        <a:cs typeface="Arial"/>
                        <a:sym typeface="Arial"/>
                      </a:endParaRPr>
                    </a:p>
                  </a:txBody>
                  <a:tcPr marL="38700" marR="38700" marT="0" marB="0" anchor="ctr"/>
                </a:tc>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Không thể hiện trung thành thương hiệu</a:t>
                      </a:r>
                      <a:endParaRPr sz="1600" b="0" u="none" strike="noStrike" cap="none">
                        <a:solidFill>
                          <a:schemeClr val="dk1"/>
                        </a:solidFill>
                        <a:latin typeface="Arial"/>
                        <a:ea typeface="Arial"/>
                        <a:cs typeface="Arial"/>
                        <a:sym typeface="Arial"/>
                      </a:endParaRPr>
                    </a:p>
                  </a:txBody>
                  <a:tcPr marL="38700" marR="38700" marT="0" marB="0" anchor="ctr"/>
                </a:tc>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Tin rằng luôn có điều gì đó tốt hơn</a:t>
                      </a:r>
                      <a:endParaRPr sz="1600" b="0" u="none" strike="noStrike" cap="none">
                        <a:solidFill>
                          <a:schemeClr val="dk1"/>
                        </a:solidFill>
                        <a:latin typeface="Arial"/>
                        <a:ea typeface="Arial"/>
                        <a:cs typeface="Arial"/>
                        <a:sym typeface="Arial"/>
                      </a:endParaRPr>
                    </a:p>
                  </a:txBody>
                  <a:tcPr marL="38700" marR="38700" marT="0" marB="0" anchor="ctr"/>
                </a:tc>
                <a:extLst>
                  <a:ext uri="{0D108BD9-81ED-4DB2-BD59-A6C34878D82A}">
                    <a16:rowId xmlns:a16="http://schemas.microsoft.com/office/drawing/2014/main" val="10004"/>
                  </a:ext>
                </a:extLst>
              </a:tr>
              <a:tr h="780227">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Người mua cảm xúc</a:t>
                      </a:r>
                      <a:endParaRPr sz="1600" b="0" u="none" strike="noStrike" cap="none">
                        <a:solidFill>
                          <a:schemeClr val="dk1"/>
                        </a:solidFill>
                        <a:latin typeface="Arial"/>
                        <a:ea typeface="Arial"/>
                        <a:cs typeface="Arial"/>
                        <a:sym typeface="Arial"/>
                      </a:endParaRPr>
                    </a:p>
                    <a:p>
                      <a:pPr marL="0" marR="0" lvl="0" indent="0" algn="just" rtl="0">
                        <a:lnSpc>
                          <a:spcPct val="125000"/>
                        </a:lnSpc>
                        <a:spcBef>
                          <a:spcPts val="80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 </a:t>
                      </a:r>
                      <a:endParaRPr sz="1600" b="0" u="none" strike="noStrike" cap="none">
                        <a:solidFill>
                          <a:schemeClr val="dk1"/>
                        </a:solidFill>
                        <a:latin typeface="Arial"/>
                        <a:ea typeface="Arial"/>
                        <a:cs typeface="Arial"/>
                        <a:sym typeface="Arial"/>
                      </a:endParaRPr>
                    </a:p>
                  </a:txBody>
                  <a:tcPr marL="38700" marR="38700" marT="0" marB="0" anchor="ctr"/>
                </a:tc>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err="1">
                          <a:solidFill>
                            <a:schemeClr val="dk1"/>
                          </a:solidFill>
                          <a:latin typeface="Arial"/>
                          <a:ea typeface="Arial"/>
                          <a:cs typeface="Arial"/>
                          <a:sym typeface="Arial"/>
                        </a:rPr>
                        <a:t>Người</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mua</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có</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hiểu</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biết</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hiểu</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tầm</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quan</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trọng</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của</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quyết</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định</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mua</a:t>
                      </a:r>
                      <a:r>
                        <a:rPr lang="en-US" sz="1600" b="0" u="none" strike="noStrike" cap="none">
                          <a:solidFill>
                            <a:schemeClr val="dk1"/>
                          </a:solidFill>
                          <a:latin typeface="Arial"/>
                          <a:ea typeface="Arial"/>
                          <a:cs typeface="Arial"/>
                          <a:sym typeface="Arial"/>
                        </a:rPr>
                        <a:t> </a:t>
                      </a:r>
                      <a:endParaRPr sz="1600" b="0" u="none" strike="noStrike" cap="none">
                        <a:solidFill>
                          <a:schemeClr val="dk1"/>
                        </a:solidFill>
                        <a:latin typeface="Arial"/>
                        <a:ea typeface="Arial"/>
                        <a:cs typeface="Arial"/>
                        <a:sym typeface="Arial"/>
                      </a:endParaRPr>
                    </a:p>
                  </a:txBody>
                  <a:tcPr marL="38700" marR="38700" marT="0" marB="0" anchor="ctr"/>
                </a:tc>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Người mua hiểu biết cao, có nhiều thông tin và người mua chuyên biệt</a:t>
                      </a:r>
                      <a:endParaRPr sz="1600" b="0" u="none" strike="noStrike" cap="none">
                        <a:solidFill>
                          <a:schemeClr val="dk1"/>
                        </a:solidFill>
                        <a:latin typeface="Arial"/>
                        <a:ea typeface="Arial"/>
                        <a:cs typeface="Arial"/>
                        <a:sym typeface="Arial"/>
                      </a:endParaRPr>
                    </a:p>
                  </a:txBody>
                  <a:tcPr marL="38700" marR="38700" marT="0" marB="0" anchor="ctr"/>
                </a:tc>
                <a:extLst>
                  <a:ext uri="{0D108BD9-81ED-4DB2-BD59-A6C34878D82A}">
                    <a16:rowId xmlns:a16="http://schemas.microsoft.com/office/drawing/2014/main" val="10005"/>
                  </a:ext>
                </a:extLst>
              </a:tr>
              <a:tr h="328509">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Những kẻ mộng mơ</a:t>
                      </a:r>
                      <a:endParaRPr sz="1600" b="0" u="none" strike="noStrike" cap="none">
                        <a:solidFill>
                          <a:schemeClr val="dk1"/>
                        </a:solidFill>
                        <a:latin typeface="Arial"/>
                        <a:ea typeface="Arial"/>
                        <a:cs typeface="Arial"/>
                        <a:sym typeface="Arial"/>
                      </a:endParaRPr>
                    </a:p>
                  </a:txBody>
                  <a:tcPr marL="38700" marR="38700" marT="0" marB="0" anchor="ctr"/>
                </a:tc>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khách hàng thực dụng</a:t>
                      </a:r>
                      <a:endParaRPr sz="1600" b="0" u="none" strike="noStrike" cap="none">
                        <a:solidFill>
                          <a:schemeClr val="dk1"/>
                        </a:solidFill>
                        <a:latin typeface="Arial"/>
                        <a:ea typeface="Arial"/>
                        <a:cs typeface="Arial"/>
                        <a:sym typeface="Arial"/>
                      </a:endParaRPr>
                    </a:p>
                  </a:txBody>
                  <a:tcPr marL="38700" marR="38700" marT="0" marB="0" anchor="ctr"/>
                </a:tc>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Tập trung vào nhu cầu cá nhân</a:t>
                      </a:r>
                      <a:endParaRPr sz="1600" b="0" u="none" strike="noStrike" cap="none">
                        <a:solidFill>
                          <a:schemeClr val="dk1"/>
                        </a:solidFill>
                        <a:latin typeface="Arial"/>
                        <a:ea typeface="Arial"/>
                        <a:cs typeface="Arial"/>
                        <a:sym typeface="Arial"/>
                      </a:endParaRPr>
                    </a:p>
                  </a:txBody>
                  <a:tcPr marL="38700" marR="38700" marT="0" marB="0" anchor="ctr"/>
                </a:tc>
                <a:extLst>
                  <a:ext uri="{0D108BD9-81ED-4DB2-BD59-A6C34878D82A}">
                    <a16:rowId xmlns:a16="http://schemas.microsoft.com/office/drawing/2014/main" val="10006"/>
                  </a:ext>
                </a:extLst>
              </a:tr>
              <a:tr h="780227">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Nuông chiều, bê tha</a:t>
                      </a:r>
                      <a:endParaRPr sz="1600" b="0" u="none" strike="noStrike" cap="none">
                        <a:solidFill>
                          <a:schemeClr val="dk1"/>
                        </a:solidFill>
                        <a:latin typeface="Arial"/>
                        <a:ea typeface="Arial"/>
                        <a:cs typeface="Arial"/>
                        <a:sym typeface="Arial"/>
                      </a:endParaRPr>
                    </a:p>
                    <a:p>
                      <a:pPr marL="0" marR="0" lvl="0" indent="0" algn="just" rtl="0">
                        <a:lnSpc>
                          <a:spcPct val="125000"/>
                        </a:lnSpc>
                        <a:spcBef>
                          <a:spcPts val="80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 </a:t>
                      </a:r>
                      <a:endParaRPr sz="1600" b="0" u="none" strike="noStrike" cap="none">
                        <a:solidFill>
                          <a:schemeClr val="dk1"/>
                        </a:solidFill>
                        <a:latin typeface="Arial"/>
                        <a:ea typeface="Arial"/>
                        <a:cs typeface="Arial"/>
                        <a:sym typeface="Arial"/>
                      </a:endParaRPr>
                    </a:p>
                  </a:txBody>
                  <a:tcPr marL="38700" marR="38700" marT="0" marB="0" anchor="ctr"/>
                </a:tc>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Quan tâm về sức khỏe và có ý thức</a:t>
                      </a:r>
                      <a:endParaRPr sz="1600" b="0" u="none" strike="noStrike" cap="none">
                        <a:solidFill>
                          <a:schemeClr val="dk1"/>
                        </a:solidFill>
                        <a:latin typeface="Arial"/>
                        <a:ea typeface="Arial"/>
                        <a:cs typeface="Arial"/>
                        <a:sym typeface="Arial"/>
                      </a:endParaRPr>
                    </a:p>
                  </a:txBody>
                  <a:tcPr marL="38700" marR="38700" marT="0" marB="0" anchor="ctr"/>
                </a:tc>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Quan tâm sức khỏe, dư dả, sợ hậu quả</a:t>
                      </a:r>
                      <a:endParaRPr sz="1600" b="0" u="none" strike="noStrike" cap="none">
                        <a:solidFill>
                          <a:schemeClr val="dk1"/>
                        </a:solidFill>
                        <a:latin typeface="Arial"/>
                        <a:ea typeface="Arial"/>
                        <a:cs typeface="Arial"/>
                        <a:sym typeface="Arial"/>
                      </a:endParaRPr>
                    </a:p>
                  </a:txBody>
                  <a:tcPr marL="38700" marR="38700" marT="0" marB="0" anchor="ctr"/>
                </a:tc>
                <a:extLst>
                  <a:ext uri="{0D108BD9-81ED-4DB2-BD59-A6C34878D82A}">
                    <a16:rowId xmlns:a16="http://schemas.microsoft.com/office/drawing/2014/main" val="10007"/>
                  </a:ext>
                </a:extLst>
              </a:tr>
              <a:tr h="861243">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Làm việc quá sức</a:t>
                      </a:r>
                      <a:endParaRPr sz="1600" b="0" u="none" strike="noStrike" cap="none">
                        <a:solidFill>
                          <a:schemeClr val="dk1"/>
                        </a:solidFill>
                        <a:latin typeface="Arial"/>
                        <a:ea typeface="Arial"/>
                        <a:cs typeface="Arial"/>
                        <a:sym typeface="Arial"/>
                      </a:endParaRPr>
                    </a:p>
                    <a:p>
                      <a:pPr marL="0" marR="0" lvl="0" indent="0" algn="just" rtl="0">
                        <a:lnSpc>
                          <a:spcPct val="125000"/>
                        </a:lnSpc>
                        <a:spcBef>
                          <a:spcPts val="80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 </a:t>
                      </a:r>
                      <a:endParaRPr sz="1600" b="0" u="none" strike="noStrike" cap="none">
                        <a:solidFill>
                          <a:schemeClr val="dk1"/>
                        </a:solidFill>
                        <a:latin typeface="Arial"/>
                        <a:ea typeface="Arial"/>
                        <a:cs typeface="Arial"/>
                        <a:sym typeface="Arial"/>
                      </a:endParaRPr>
                    </a:p>
                  </a:txBody>
                  <a:tcPr marL="38700" marR="38700" marT="0" marB="0" anchor="ctr"/>
                </a:tc>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Cháy hết mình, căng thẳng và đặt những giá trị to lớn lên trên tiện lợi và có nhiều thời gian </a:t>
                      </a:r>
                      <a:endParaRPr sz="1600" b="0" u="none" strike="noStrike" cap="none">
                        <a:solidFill>
                          <a:schemeClr val="dk1"/>
                        </a:solidFill>
                        <a:latin typeface="Arial"/>
                        <a:ea typeface="Arial"/>
                        <a:cs typeface="Arial"/>
                        <a:sym typeface="Arial"/>
                      </a:endParaRPr>
                    </a:p>
                  </a:txBody>
                  <a:tcPr marL="38700" marR="38700" marT="0" marB="0" anchor="ctr"/>
                </a:tc>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Tin cậy về công nghệ, viễn thông để tiết kiệm thời gian đưa ra quyết định mua hàng</a:t>
                      </a:r>
                      <a:endParaRPr sz="1600" b="0" u="none" strike="noStrike" cap="none">
                        <a:solidFill>
                          <a:schemeClr val="dk1"/>
                        </a:solidFill>
                        <a:latin typeface="Arial"/>
                        <a:ea typeface="Arial"/>
                        <a:cs typeface="Arial"/>
                        <a:sym typeface="Arial"/>
                      </a:endParaRPr>
                    </a:p>
                  </a:txBody>
                  <a:tcPr marL="38700" marR="38700" marT="0" marB="0" anchor="ctr"/>
                </a:tc>
                <a:extLst>
                  <a:ext uri="{0D108BD9-81ED-4DB2-BD59-A6C34878D82A}">
                    <a16:rowId xmlns:a16="http://schemas.microsoft.com/office/drawing/2014/main" val="10008"/>
                  </a:ext>
                </a:extLst>
              </a:tr>
              <a:tr h="545361">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Thế hệ bùng nổ dân số</a:t>
                      </a:r>
                      <a:endParaRPr sz="1600" b="0" u="none" strike="noStrike" cap="none">
                        <a:solidFill>
                          <a:schemeClr val="dk1"/>
                        </a:solidFill>
                        <a:latin typeface="Arial"/>
                        <a:ea typeface="Arial"/>
                        <a:cs typeface="Arial"/>
                        <a:sym typeface="Arial"/>
                      </a:endParaRPr>
                    </a:p>
                  </a:txBody>
                  <a:tcPr marL="38700" marR="38700" marT="0" marB="0" anchor="ctr"/>
                </a:tc>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Thế hệ có trách nhiệm và bùng nổ dân số</a:t>
                      </a:r>
                      <a:endParaRPr sz="1600" b="0" u="none" strike="noStrike" cap="none">
                        <a:solidFill>
                          <a:schemeClr val="dk1"/>
                        </a:solidFill>
                        <a:latin typeface="Arial"/>
                        <a:ea typeface="Arial"/>
                        <a:cs typeface="Arial"/>
                        <a:sym typeface="Arial"/>
                      </a:endParaRPr>
                    </a:p>
                  </a:txBody>
                  <a:tcPr marL="38700" marR="38700" marT="0" marB="0" anchor="ctr"/>
                </a:tc>
                <a:tc>
                  <a:txBody>
                    <a:bodyPr/>
                    <a:lstStyle/>
                    <a:p>
                      <a:pPr marL="0" marR="0" lvl="0" indent="0" algn="just" rtl="0">
                        <a:lnSpc>
                          <a:spcPct val="125000"/>
                        </a:lnSpc>
                        <a:spcBef>
                          <a:spcPts val="0"/>
                        </a:spcBef>
                        <a:spcAft>
                          <a:spcPts val="0"/>
                        </a:spcAft>
                        <a:buClr>
                          <a:srgbClr val="000000"/>
                        </a:buClr>
                        <a:buSzPts val="1600"/>
                        <a:buFont typeface="Arial"/>
                        <a:buNone/>
                      </a:pPr>
                      <a:r>
                        <a:rPr lang="en-US" sz="1600" b="0" u="none" strike="noStrike" cap="none" err="1">
                          <a:solidFill>
                            <a:schemeClr val="dk1"/>
                          </a:solidFill>
                          <a:latin typeface="Arial"/>
                          <a:ea typeface="Arial"/>
                          <a:cs typeface="Arial"/>
                          <a:sym typeface="Arial"/>
                        </a:rPr>
                        <a:t>Thế</a:t>
                      </a:r>
                      <a:r>
                        <a:rPr lang="en-US" sz="1600" b="0" u="none" strike="noStrike" cap="none">
                          <a:solidFill>
                            <a:schemeClr val="dk1"/>
                          </a:solidFill>
                          <a:latin typeface="Arial"/>
                          <a:ea typeface="Arial"/>
                          <a:cs typeface="Arial"/>
                          <a:sym typeface="Arial"/>
                        </a:rPr>
                        <a:t> </a:t>
                      </a:r>
                      <a:r>
                        <a:rPr lang="en-US" sz="1600" b="0" u="none" strike="noStrike" cap="none" err="1">
                          <a:solidFill>
                            <a:schemeClr val="dk1"/>
                          </a:solidFill>
                          <a:latin typeface="Arial"/>
                          <a:ea typeface="Arial"/>
                          <a:cs typeface="Arial"/>
                          <a:sym typeface="Arial"/>
                        </a:rPr>
                        <a:t>hệ</a:t>
                      </a:r>
                      <a:r>
                        <a:rPr lang="en-US" sz="1600" b="0" u="none" strike="noStrike" cap="none">
                          <a:solidFill>
                            <a:schemeClr val="dk1"/>
                          </a:solidFill>
                          <a:latin typeface="Arial"/>
                          <a:ea typeface="Arial"/>
                          <a:cs typeface="Arial"/>
                          <a:sym typeface="Arial"/>
                        </a:rPr>
                        <a:t> X </a:t>
                      </a:r>
                      <a:r>
                        <a:rPr lang="en-US" sz="1600" b="0" u="none" strike="noStrike" cap="none" err="1">
                          <a:solidFill>
                            <a:schemeClr val="dk1"/>
                          </a:solidFill>
                          <a:latin typeface="Arial"/>
                          <a:ea typeface="Arial"/>
                          <a:cs typeface="Arial"/>
                          <a:sym typeface="Arial"/>
                        </a:rPr>
                        <a:t>và</a:t>
                      </a:r>
                      <a:r>
                        <a:rPr lang="en-US" sz="1600" b="0" u="none" strike="noStrike" cap="none">
                          <a:solidFill>
                            <a:schemeClr val="dk1"/>
                          </a:solidFill>
                          <a:latin typeface="Arial"/>
                          <a:ea typeface="Arial"/>
                          <a:cs typeface="Arial"/>
                          <a:sym typeface="Arial"/>
                        </a:rPr>
                        <a:t> Y</a:t>
                      </a:r>
                      <a:endParaRPr sz="1600" b="0" u="none" strike="noStrike" cap="none">
                        <a:solidFill>
                          <a:schemeClr val="dk1"/>
                        </a:solidFill>
                        <a:latin typeface="Arial"/>
                        <a:ea typeface="Arial"/>
                        <a:cs typeface="Arial"/>
                        <a:sym typeface="Arial"/>
                      </a:endParaRPr>
                    </a:p>
                  </a:txBody>
                  <a:tcPr marL="38700" marR="38700" marT="0" marB="0" anchor="ctr"/>
                </a:tc>
                <a:extLst>
                  <a:ext uri="{0D108BD9-81ED-4DB2-BD59-A6C34878D82A}">
                    <a16:rowId xmlns:a16="http://schemas.microsoft.com/office/drawing/2014/main" val="10009"/>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5"/>
          <p:cNvSpPr txBox="1">
            <a:spLocks noGrp="1"/>
          </p:cNvSpPr>
          <p:nvPr>
            <p:ph type="ctrTitle"/>
          </p:nvPr>
        </p:nvSpPr>
        <p:spPr>
          <a:xfrm>
            <a:off x="417512" y="2698482"/>
            <a:ext cx="11774488" cy="1461035"/>
          </a:xfrm>
          <a:prstGeom prst="rect">
            <a:avLst/>
          </a:prstGeom>
          <a:noFill/>
          <a:ln>
            <a:noFill/>
          </a:ln>
        </p:spPr>
        <p:txBody>
          <a:bodyPr spcFirstLastPara="1" wrap="square" lIns="91425" tIns="45700" rIns="91425" bIns="45700" anchor="b" anchorCtr="0">
            <a:normAutofit/>
          </a:bodyPr>
          <a:lstStyle/>
          <a:p>
            <a:pPr marL="0" lvl="1" indent="0" algn="ctr" rtl="0">
              <a:lnSpc>
                <a:spcPct val="100000"/>
              </a:lnSpc>
              <a:spcBef>
                <a:spcPts val="0"/>
              </a:spcBef>
              <a:spcAft>
                <a:spcPts val="0"/>
              </a:spcAft>
              <a:buSzPts val="1400"/>
              <a:buNone/>
            </a:pPr>
            <a:r>
              <a:rPr lang="en-US" sz="3600" b="1">
                <a:latin typeface="Arial"/>
                <a:ea typeface="Arial"/>
                <a:cs typeface="Arial"/>
                <a:sym typeface="Arial"/>
              </a:rPr>
              <a:t>1.4. NGHIÊN CỨU HÀNH VI </a:t>
            </a:r>
            <a:r>
              <a:rPr lang="en-US" sz="3600" b="1"/>
              <a:t>KHÁCH HÀNG</a:t>
            </a:r>
            <a:r>
              <a:rPr lang="en-US" sz="3600" b="1">
                <a:latin typeface="Arial"/>
                <a:ea typeface="Arial"/>
                <a:cs typeface="Arial"/>
                <a:sym typeface="Arial"/>
              </a:rPr>
              <a:t> </a:t>
            </a:r>
            <a:br>
              <a:rPr lang="en-US" sz="1800" b="1"/>
            </a:br>
            <a:endParaRPr sz="3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6"/>
          <p:cNvSpPr txBox="1">
            <a:spLocks noGrp="1"/>
          </p:cNvSpPr>
          <p:nvPr>
            <p:ph type="body" idx="1"/>
          </p:nvPr>
        </p:nvSpPr>
        <p:spPr>
          <a:xfrm>
            <a:off x="601980" y="694215"/>
            <a:ext cx="10850880" cy="508603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r>
              <a:rPr lang="en-US" sz="3200" b="1">
                <a:latin typeface="Arial"/>
                <a:ea typeface="Arial"/>
                <a:cs typeface="Arial"/>
                <a:sym typeface="Arial"/>
              </a:rPr>
              <a:t>1.4.1. </a:t>
            </a:r>
            <a:r>
              <a:rPr lang="en-US" sz="3200" b="1" err="1">
                <a:latin typeface="Arial"/>
                <a:ea typeface="Arial"/>
                <a:cs typeface="Arial"/>
                <a:sym typeface="Arial"/>
              </a:rPr>
              <a:t>Nội</a:t>
            </a:r>
            <a:r>
              <a:rPr lang="en-US" sz="3200" b="1">
                <a:latin typeface="Arial"/>
                <a:ea typeface="Arial"/>
                <a:cs typeface="Arial"/>
                <a:sym typeface="Arial"/>
              </a:rPr>
              <a:t> dung </a:t>
            </a:r>
            <a:r>
              <a:rPr lang="en-US" sz="3200" b="1" err="1">
                <a:latin typeface="Arial"/>
                <a:ea typeface="Arial"/>
                <a:cs typeface="Arial"/>
                <a:sym typeface="Arial"/>
              </a:rPr>
              <a:t>nghiên</a:t>
            </a:r>
            <a:r>
              <a:rPr lang="en-US" sz="3200" b="1">
                <a:latin typeface="Arial"/>
                <a:ea typeface="Arial"/>
                <a:cs typeface="Arial"/>
                <a:sym typeface="Arial"/>
              </a:rPr>
              <a:t> </a:t>
            </a:r>
            <a:r>
              <a:rPr lang="en-US" sz="3200" b="1" err="1">
                <a:latin typeface="Arial"/>
                <a:ea typeface="Arial"/>
                <a:cs typeface="Arial"/>
                <a:sym typeface="Arial"/>
              </a:rPr>
              <a:t>cứu</a:t>
            </a:r>
            <a:r>
              <a:rPr lang="en-US" sz="3200" b="1">
                <a:latin typeface="Arial"/>
                <a:ea typeface="Arial"/>
                <a:cs typeface="Arial"/>
                <a:sym typeface="Arial"/>
              </a:rPr>
              <a:t> </a:t>
            </a:r>
            <a:r>
              <a:rPr lang="en-US" sz="3200" b="1" err="1">
                <a:latin typeface="Arial"/>
                <a:ea typeface="Arial"/>
                <a:cs typeface="Arial"/>
                <a:sym typeface="Arial"/>
              </a:rPr>
              <a:t>hành</a:t>
            </a:r>
            <a:r>
              <a:rPr lang="en-US" sz="3200" b="1">
                <a:latin typeface="Arial"/>
                <a:ea typeface="Arial"/>
                <a:cs typeface="Arial"/>
                <a:sym typeface="Arial"/>
              </a:rPr>
              <a:t> vi KH</a:t>
            </a:r>
            <a:endParaRPr/>
          </a:p>
          <a:p>
            <a:pPr marL="0" lvl="0" indent="0" algn="l" rtl="0">
              <a:lnSpc>
                <a:spcPct val="90000"/>
              </a:lnSpc>
              <a:spcBef>
                <a:spcPts val="1000"/>
              </a:spcBef>
              <a:spcAft>
                <a:spcPts val="0"/>
              </a:spcAft>
              <a:buClr>
                <a:schemeClr val="dk1"/>
              </a:buClr>
              <a:buSzPts val="3200"/>
              <a:buNone/>
            </a:pPr>
            <a:endParaRPr sz="3200" b="1">
              <a:latin typeface="Arial"/>
              <a:ea typeface="Arial"/>
              <a:cs typeface="Arial"/>
              <a:sym typeface="Arial"/>
            </a:endParaRPr>
          </a:p>
        </p:txBody>
      </p:sp>
      <p:sp>
        <p:nvSpPr>
          <p:cNvPr id="295" name="Google Shape;295;p36"/>
          <p:cNvSpPr/>
          <p:nvPr/>
        </p:nvSpPr>
        <p:spPr>
          <a:xfrm>
            <a:off x="5379720" y="2277586"/>
            <a:ext cx="4343400" cy="990600"/>
          </a:xfrm>
          <a:prstGeom prst="roundRect">
            <a:avLst>
              <a:gd name="adj" fmla="val 9106"/>
            </a:avLst>
          </a:prstGeom>
          <a:solidFill>
            <a:schemeClr val="accent2">
              <a:alpha val="49804"/>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r>
              <a:rPr lang="en-US" sz="2400" b="1" i="0" u="none" strike="noStrike" cap="none">
                <a:solidFill>
                  <a:schemeClr val="dk1"/>
                </a:solidFill>
                <a:latin typeface="Arial"/>
                <a:ea typeface="Arial"/>
                <a:cs typeface="Arial"/>
                <a:sym typeface="Arial"/>
              </a:rPr>
              <a:t>Những phản ứng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400"/>
              <a:buFont typeface="Arial"/>
              <a:buNone/>
            </a:pPr>
            <a:r>
              <a:rPr lang="en-US" sz="2400" b="1" i="0" u="none" strike="noStrike" cap="none">
                <a:solidFill>
                  <a:schemeClr val="dk1"/>
                </a:solidFill>
                <a:latin typeface="Arial"/>
                <a:ea typeface="Arial"/>
                <a:cs typeface="Arial"/>
                <a:sym typeface="Arial"/>
              </a:rPr>
              <a:t>của khách hàng</a:t>
            </a:r>
            <a:endParaRPr sz="2400" b="1" i="0" u="none" strike="noStrike" cap="none">
              <a:solidFill>
                <a:schemeClr val="dk1"/>
              </a:solidFill>
              <a:latin typeface="Arial"/>
              <a:ea typeface="Arial"/>
              <a:cs typeface="Arial"/>
              <a:sym typeface="Arial"/>
            </a:endParaRPr>
          </a:p>
        </p:txBody>
      </p:sp>
      <p:sp>
        <p:nvSpPr>
          <p:cNvPr id="296" name="Google Shape;296;p36"/>
          <p:cNvSpPr/>
          <p:nvPr/>
        </p:nvSpPr>
        <p:spPr>
          <a:xfrm>
            <a:off x="5379720" y="3420586"/>
            <a:ext cx="4343400" cy="990600"/>
          </a:xfrm>
          <a:prstGeom prst="roundRect">
            <a:avLst>
              <a:gd name="adj" fmla="val 9106"/>
            </a:avLst>
          </a:prstGeom>
          <a:solidFill>
            <a:schemeClr val="accent6">
              <a:alpha val="49804"/>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r>
              <a:rPr lang="en-US" sz="2400" b="1" i="0" u="none" strike="noStrike" cap="none">
                <a:solidFill>
                  <a:schemeClr val="dk1"/>
                </a:solidFill>
                <a:latin typeface="Arial"/>
                <a:ea typeface="Arial"/>
                <a:cs typeface="Arial"/>
                <a:sym typeface="Arial"/>
              </a:rPr>
              <a:t>Những yếu tố ảnh hưởng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400"/>
              <a:buFont typeface="Arial"/>
              <a:buNone/>
            </a:pPr>
            <a:r>
              <a:rPr lang="en-US" sz="2400" b="1" i="0" u="none" strike="noStrike" cap="none">
                <a:solidFill>
                  <a:schemeClr val="dk1"/>
                </a:solidFill>
                <a:latin typeface="Arial"/>
                <a:ea typeface="Arial"/>
                <a:cs typeface="Arial"/>
                <a:sym typeface="Arial"/>
              </a:rPr>
              <a:t>của hành vi khách hàng</a:t>
            </a:r>
            <a:endParaRPr sz="2400" b="1" i="0" u="none" strike="noStrike" cap="none">
              <a:solidFill>
                <a:schemeClr val="dk1"/>
              </a:solidFill>
              <a:latin typeface="Arial"/>
              <a:ea typeface="Arial"/>
              <a:cs typeface="Arial"/>
              <a:sym typeface="Arial"/>
            </a:endParaRPr>
          </a:p>
        </p:txBody>
      </p:sp>
      <p:sp>
        <p:nvSpPr>
          <p:cNvPr id="297" name="Google Shape;297;p36"/>
          <p:cNvSpPr/>
          <p:nvPr/>
        </p:nvSpPr>
        <p:spPr>
          <a:xfrm>
            <a:off x="5398770" y="4563586"/>
            <a:ext cx="4343400" cy="990600"/>
          </a:xfrm>
          <a:prstGeom prst="roundRect">
            <a:avLst>
              <a:gd name="adj" fmla="val 9106"/>
            </a:avLst>
          </a:prstGeom>
          <a:solidFill>
            <a:schemeClr val="accent5">
              <a:alpha val="49804"/>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r>
              <a:rPr lang="en-US" sz="2400" b="1" i="0" u="none" strike="noStrike" cap="none">
                <a:solidFill>
                  <a:schemeClr val="dk1"/>
                </a:solidFill>
                <a:latin typeface="Arial"/>
                <a:ea typeface="Arial"/>
                <a:cs typeface="Arial"/>
                <a:sym typeface="Arial"/>
              </a:rPr>
              <a:t>Những hoạt động marketing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400"/>
              <a:buFont typeface="Arial"/>
              <a:buNone/>
            </a:pPr>
            <a:r>
              <a:rPr lang="en-US" sz="2400" b="1" i="0" u="none" strike="noStrike" cap="none">
                <a:solidFill>
                  <a:schemeClr val="dk1"/>
                </a:solidFill>
                <a:latin typeface="Arial"/>
                <a:ea typeface="Arial"/>
                <a:cs typeface="Arial"/>
                <a:sym typeface="Arial"/>
              </a:rPr>
              <a:t>của doanh nghiệp</a:t>
            </a:r>
            <a:endParaRPr sz="2400" b="1" i="0" u="none" strike="noStrike" cap="none">
              <a:solidFill>
                <a:schemeClr val="dk1"/>
              </a:solidFill>
              <a:latin typeface="Arial"/>
              <a:ea typeface="Arial"/>
              <a:cs typeface="Arial"/>
              <a:sym typeface="Arial"/>
            </a:endParaRPr>
          </a:p>
        </p:txBody>
      </p:sp>
      <p:sp>
        <p:nvSpPr>
          <p:cNvPr id="298" name="Google Shape;298;p36"/>
          <p:cNvSpPr/>
          <p:nvPr/>
        </p:nvSpPr>
        <p:spPr>
          <a:xfrm>
            <a:off x="1196340" y="1667986"/>
            <a:ext cx="3962400" cy="4495800"/>
          </a:xfrm>
          <a:prstGeom prst="rightArrow">
            <a:avLst>
              <a:gd name="adj1" fmla="val 86065"/>
              <a:gd name="adj2" fmla="val 25000"/>
            </a:avLst>
          </a:prstGeom>
          <a:gradFill>
            <a:gsLst>
              <a:gs pos="0">
                <a:srgbClr val="000066">
                  <a:alpha val="49804"/>
                </a:srgbClr>
              </a:gs>
              <a:gs pos="100000">
                <a:srgbClr val="0066CC"/>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000"/>
              <a:buFont typeface="Arial"/>
              <a:buNone/>
            </a:pPr>
            <a:endParaRPr sz="2000" b="0" i="0" u="none" strike="noStrike" cap="none">
              <a:solidFill>
                <a:srgbClr val="000000"/>
              </a:solidFill>
              <a:latin typeface="Arial"/>
              <a:ea typeface="Arial"/>
              <a:cs typeface="Arial"/>
              <a:sym typeface="Arial"/>
            </a:endParaRPr>
          </a:p>
        </p:txBody>
      </p:sp>
      <p:sp>
        <p:nvSpPr>
          <p:cNvPr id="299" name="Google Shape;299;p36"/>
          <p:cNvSpPr/>
          <p:nvPr/>
        </p:nvSpPr>
        <p:spPr>
          <a:xfrm>
            <a:off x="1417320" y="2353786"/>
            <a:ext cx="2819400" cy="3200400"/>
          </a:xfrm>
          <a:prstGeom prst="roundRect">
            <a:avLst>
              <a:gd name="adj" fmla="val 9106"/>
            </a:avLst>
          </a:prstGeom>
          <a:gradFill>
            <a:gsLst>
              <a:gs pos="0">
                <a:srgbClr val="CCFFFF"/>
              </a:gs>
              <a:gs pos="100000">
                <a:srgbClr val="FFFFFF"/>
              </a:gs>
            </a:gsLst>
            <a:lin ang="5400000" scaled="0"/>
          </a:gradFill>
          <a:ln>
            <a:noFill/>
          </a:ln>
          <a:effectLst>
            <a:outerShdw dist="107763" dir="2700000" algn="ctr" rotWithShape="0">
              <a:srgbClr val="000000">
                <a:alpha val="4980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r>
              <a:rPr lang="en-US" sz="2400" b="1" i="0" u="none" strike="noStrike" cap="none">
                <a:solidFill>
                  <a:schemeClr val="dk1"/>
                </a:solidFill>
                <a:latin typeface="Arial"/>
                <a:ea typeface="Arial"/>
                <a:cs typeface="Arial"/>
                <a:sym typeface="Arial"/>
              </a:rPr>
              <a:t>Nội dung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480"/>
              </a:spcBef>
              <a:spcAft>
                <a:spcPts val="0"/>
              </a:spcAft>
              <a:buClr>
                <a:schemeClr val="dk1"/>
              </a:buClr>
              <a:buSzPts val="2400"/>
              <a:buFont typeface="Arial"/>
              <a:buNone/>
            </a:pPr>
            <a:r>
              <a:rPr lang="en-US" sz="2400" b="1" i="0" u="none" strike="noStrike" cap="none">
                <a:solidFill>
                  <a:schemeClr val="dk1"/>
                </a:solidFill>
                <a:latin typeface="Arial"/>
                <a:ea typeface="Arial"/>
                <a:cs typeface="Arial"/>
                <a:sym typeface="Arial"/>
              </a:rPr>
              <a:t>nghiên cứu</a:t>
            </a:r>
            <a:endParaRPr sz="2400" b="1" i="0" u="none" strike="noStrike" cap="non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7"/>
          <p:cNvSpPr txBox="1">
            <a:spLocks noGrp="1"/>
          </p:cNvSpPr>
          <p:nvPr>
            <p:ph type="body" idx="1"/>
          </p:nvPr>
        </p:nvSpPr>
        <p:spPr>
          <a:xfrm>
            <a:off x="838200" y="898358"/>
            <a:ext cx="10515600" cy="527860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r>
              <a:rPr lang="en-US" sz="3200" b="1">
                <a:latin typeface="Arial"/>
                <a:ea typeface="Arial"/>
                <a:cs typeface="Arial"/>
                <a:sym typeface="Arial"/>
              </a:rPr>
              <a:t>1.4.1. </a:t>
            </a:r>
            <a:r>
              <a:rPr lang="en-US" sz="3200" b="1" err="1">
                <a:latin typeface="Arial"/>
                <a:ea typeface="Arial"/>
                <a:cs typeface="Arial"/>
                <a:sym typeface="Arial"/>
              </a:rPr>
              <a:t>Nội</a:t>
            </a:r>
            <a:r>
              <a:rPr lang="en-US" sz="3200" b="1">
                <a:latin typeface="Arial"/>
                <a:ea typeface="Arial"/>
                <a:cs typeface="Arial"/>
                <a:sym typeface="Arial"/>
              </a:rPr>
              <a:t> dung </a:t>
            </a:r>
            <a:r>
              <a:rPr lang="en-US" sz="3200" b="1" err="1">
                <a:latin typeface="Arial"/>
                <a:ea typeface="Arial"/>
                <a:cs typeface="Arial"/>
                <a:sym typeface="Arial"/>
              </a:rPr>
              <a:t>nghiên</a:t>
            </a:r>
            <a:r>
              <a:rPr lang="en-US" sz="3200" b="1">
                <a:latin typeface="Arial"/>
                <a:ea typeface="Arial"/>
                <a:cs typeface="Arial"/>
                <a:sym typeface="Arial"/>
              </a:rPr>
              <a:t> </a:t>
            </a:r>
            <a:r>
              <a:rPr lang="en-US" sz="3200" b="1" err="1">
                <a:latin typeface="Arial"/>
                <a:ea typeface="Arial"/>
                <a:cs typeface="Arial"/>
                <a:sym typeface="Arial"/>
              </a:rPr>
              <a:t>cứu</a:t>
            </a:r>
            <a:r>
              <a:rPr lang="en-US" sz="3200" b="1">
                <a:latin typeface="Arial"/>
                <a:ea typeface="Arial"/>
                <a:cs typeface="Arial"/>
                <a:sym typeface="Arial"/>
              </a:rPr>
              <a:t> </a:t>
            </a:r>
            <a:r>
              <a:rPr lang="en-US" sz="3200" b="1" err="1">
                <a:latin typeface="Arial"/>
                <a:ea typeface="Arial"/>
                <a:cs typeface="Arial"/>
                <a:sym typeface="Arial"/>
              </a:rPr>
              <a:t>hành</a:t>
            </a:r>
            <a:r>
              <a:rPr lang="en-US" sz="3200" b="1">
                <a:latin typeface="Arial"/>
                <a:ea typeface="Arial"/>
                <a:cs typeface="Arial"/>
                <a:sym typeface="Arial"/>
              </a:rPr>
              <a:t> vi KH</a:t>
            </a:r>
            <a:endParaRPr/>
          </a:p>
          <a:p>
            <a:pPr marL="0" lvl="0" indent="0" algn="l" rtl="0">
              <a:lnSpc>
                <a:spcPct val="90000"/>
              </a:lnSpc>
              <a:spcBef>
                <a:spcPts val="1000"/>
              </a:spcBef>
              <a:spcAft>
                <a:spcPts val="0"/>
              </a:spcAft>
              <a:buClr>
                <a:schemeClr val="dk1"/>
              </a:buClr>
              <a:buSzPts val="2800"/>
              <a:buNone/>
            </a:pPr>
            <a:endParaRPr/>
          </a:p>
        </p:txBody>
      </p:sp>
      <p:sp>
        <p:nvSpPr>
          <p:cNvPr id="305" name="Google Shape;305;p37"/>
          <p:cNvSpPr/>
          <p:nvPr/>
        </p:nvSpPr>
        <p:spPr>
          <a:xfrm>
            <a:off x="1143000" y="1691640"/>
            <a:ext cx="3352800" cy="4485323"/>
          </a:xfrm>
          <a:prstGeom prst="rightArrow">
            <a:avLst>
              <a:gd name="adj1" fmla="val 86065"/>
              <a:gd name="adj2" fmla="val 25000"/>
            </a:avLst>
          </a:prstGeom>
          <a:gradFill>
            <a:gsLst>
              <a:gs pos="0">
                <a:srgbClr val="000066">
                  <a:alpha val="49804"/>
                </a:srgbClr>
              </a:gs>
              <a:gs pos="100000">
                <a:srgbClr val="0066CC"/>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000"/>
              <a:buFont typeface="Arial"/>
              <a:buNone/>
            </a:pPr>
            <a:endParaRPr sz="2000" b="0" i="0" u="none" strike="noStrike" cap="none">
              <a:solidFill>
                <a:srgbClr val="000000"/>
              </a:solidFill>
              <a:latin typeface="Arial"/>
              <a:ea typeface="Arial"/>
              <a:cs typeface="Arial"/>
              <a:sym typeface="Arial"/>
            </a:endParaRPr>
          </a:p>
        </p:txBody>
      </p:sp>
      <p:sp>
        <p:nvSpPr>
          <p:cNvPr id="306" name="Google Shape;306;p37"/>
          <p:cNvSpPr/>
          <p:nvPr/>
        </p:nvSpPr>
        <p:spPr>
          <a:xfrm>
            <a:off x="1314450" y="2574131"/>
            <a:ext cx="2438400" cy="2720340"/>
          </a:xfrm>
          <a:prstGeom prst="roundRect">
            <a:avLst>
              <a:gd name="adj" fmla="val 9106"/>
            </a:avLst>
          </a:prstGeom>
          <a:gradFill>
            <a:gsLst>
              <a:gs pos="0">
                <a:srgbClr val="CCFFFF"/>
              </a:gs>
              <a:gs pos="100000">
                <a:srgbClr val="FFFFFF"/>
              </a:gs>
            </a:gsLst>
            <a:lin ang="5400000" scaled="0"/>
          </a:gradFill>
          <a:ln>
            <a:noFill/>
          </a:ln>
          <a:effectLst>
            <a:outerShdw dist="107763" dir="2700000" algn="ctr" rotWithShape="0">
              <a:srgbClr val="000000">
                <a:alpha val="4980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Một số nội dung nghiên cứu thường được thực hiện</a:t>
            </a:r>
            <a:endParaRPr sz="2000" b="1" i="0" u="none" strike="noStrike" cap="none">
              <a:solidFill>
                <a:schemeClr val="dk1"/>
              </a:solidFill>
              <a:latin typeface="Arial"/>
              <a:ea typeface="Arial"/>
              <a:cs typeface="Arial"/>
              <a:sym typeface="Arial"/>
            </a:endParaRPr>
          </a:p>
        </p:txBody>
      </p:sp>
      <p:sp>
        <p:nvSpPr>
          <p:cNvPr id="307" name="Google Shape;307;p37"/>
          <p:cNvSpPr/>
          <p:nvPr/>
        </p:nvSpPr>
        <p:spPr>
          <a:xfrm>
            <a:off x="4667250" y="1875473"/>
            <a:ext cx="4724400" cy="838200"/>
          </a:xfrm>
          <a:prstGeom prst="roundRect">
            <a:avLst>
              <a:gd name="adj" fmla="val 9106"/>
            </a:avLst>
          </a:prstGeom>
          <a:solidFill>
            <a:schemeClr val="accent2">
              <a:alpha val="49804"/>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Đặc điểm của khách hàng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đối với một sản phẩm</a:t>
            </a:r>
            <a:endParaRPr sz="2000" b="1" i="0" u="none" strike="noStrike" cap="none">
              <a:solidFill>
                <a:schemeClr val="dk1"/>
              </a:solidFill>
              <a:latin typeface="Arial"/>
              <a:ea typeface="Arial"/>
              <a:cs typeface="Arial"/>
              <a:sym typeface="Arial"/>
            </a:endParaRPr>
          </a:p>
        </p:txBody>
      </p:sp>
      <p:sp>
        <p:nvSpPr>
          <p:cNvPr id="308" name="Google Shape;308;p37"/>
          <p:cNvSpPr/>
          <p:nvPr/>
        </p:nvSpPr>
        <p:spPr>
          <a:xfrm>
            <a:off x="4667250" y="3018473"/>
            <a:ext cx="4724400" cy="838200"/>
          </a:xfrm>
          <a:prstGeom prst="roundRect">
            <a:avLst>
              <a:gd name="adj" fmla="val 9106"/>
            </a:avLst>
          </a:prstGeom>
          <a:solidFill>
            <a:schemeClr val="accent6">
              <a:alpha val="49804"/>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Thói quen tiêu dùng của khách hàng</a:t>
            </a:r>
            <a:endParaRPr sz="2000" b="1" i="0" u="none" strike="noStrike" cap="none">
              <a:solidFill>
                <a:schemeClr val="dk1"/>
              </a:solidFill>
              <a:latin typeface="Arial"/>
              <a:ea typeface="Arial"/>
              <a:cs typeface="Arial"/>
              <a:sym typeface="Arial"/>
            </a:endParaRPr>
          </a:p>
        </p:txBody>
      </p:sp>
      <p:sp>
        <p:nvSpPr>
          <p:cNvPr id="309" name="Google Shape;309;p37"/>
          <p:cNvSpPr/>
          <p:nvPr/>
        </p:nvSpPr>
        <p:spPr>
          <a:xfrm>
            <a:off x="4667250" y="4161473"/>
            <a:ext cx="4724400" cy="838200"/>
          </a:xfrm>
          <a:prstGeom prst="roundRect">
            <a:avLst>
              <a:gd name="adj" fmla="val 9106"/>
            </a:avLst>
          </a:prstGeom>
          <a:solidFill>
            <a:schemeClr val="accent5">
              <a:alpha val="49804"/>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Nhận thức của khách hàng đối với</a:t>
            </a:r>
            <a:endParaRPr sz="20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 sản phẩm/nhãn hiệu/bao bì …</a:t>
            </a:r>
            <a:endParaRPr sz="1400" b="0" i="0" u="none" strike="noStrike" cap="none">
              <a:solidFill>
                <a:srgbClr val="000000"/>
              </a:solidFill>
              <a:latin typeface="Arial"/>
              <a:ea typeface="Arial"/>
              <a:cs typeface="Arial"/>
              <a:sym typeface="Arial"/>
            </a:endParaRPr>
          </a:p>
        </p:txBody>
      </p:sp>
      <p:sp>
        <p:nvSpPr>
          <p:cNvPr id="310" name="Google Shape;310;p37"/>
          <p:cNvSpPr/>
          <p:nvPr/>
        </p:nvSpPr>
        <p:spPr>
          <a:xfrm>
            <a:off x="4667250" y="5304473"/>
            <a:ext cx="4724400" cy="838200"/>
          </a:xfrm>
          <a:prstGeom prst="roundRect">
            <a:avLst>
              <a:gd name="adj" fmla="val 9106"/>
            </a:avLst>
          </a:prstGeom>
          <a:solidFill>
            <a:schemeClr val="accent3">
              <a:alpha val="49804"/>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Thói quen tiếp nhận các thông điệp QC</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8"/>
          <p:cNvSpPr txBox="1">
            <a:spLocks noGrp="1"/>
          </p:cNvSpPr>
          <p:nvPr>
            <p:ph type="body" idx="1"/>
          </p:nvPr>
        </p:nvSpPr>
        <p:spPr>
          <a:xfrm>
            <a:off x="720090" y="818147"/>
            <a:ext cx="10515600" cy="52054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r>
              <a:rPr lang="en-US" sz="3200" b="1">
                <a:latin typeface="Arial"/>
                <a:ea typeface="Arial"/>
                <a:cs typeface="Arial"/>
                <a:sym typeface="Arial"/>
              </a:rPr>
              <a:t>1.4.2. </a:t>
            </a:r>
            <a:r>
              <a:rPr lang="en-US" sz="3200" b="1" err="1">
                <a:latin typeface="Arial"/>
                <a:ea typeface="Arial"/>
                <a:cs typeface="Arial"/>
                <a:sym typeface="Arial"/>
              </a:rPr>
              <a:t>Phương</a:t>
            </a:r>
            <a:r>
              <a:rPr lang="en-US" sz="3200" b="1">
                <a:latin typeface="Arial"/>
                <a:ea typeface="Arial"/>
                <a:cs typeface="Arial"/>
                <a:sym typeface="Arial"/>
              </a:rPr>
              <a:t> </a:t>
            </a:r>
            <a:r>
              <a:rPr lang="en-US" sz="3200" b="1" err="1">
                <a:latin typeface="Arial"/>
                <a:ea typeface="Arial"/>
                <a:cs typeface="Arial"/>
                <a:sym typeface="Arial"/>
              </a:rPr>
              <a:t>pháp</a:t>
            </a:r>
            <a:r>
              <a:rPr lang="en-US" sz="3200" b="1">
                <a:latin typeface="Arial"/>
                <a:ea typeface="Arial"/>
                <a:cs typeface="Arial"/>
                <a:sym typeface="Arial"/>
              </a:rPr>
              <a:t> </a:t>
            </a:r>
            <a:r>
              <a:rPr lang="en-US" sz="3200" b="1" err="1">
                <a:latin typeface="Arial"/>
                <a:ea typeface="Arial"/>
                <a:cs typeface="Arial"/>
                <a:sym typeface="Arial"/>
              </a:rPr>
              <a:t>nghiên</a:t>
            </a:r>
            <a:r>
              <a:rPr lang="en-US" sz="3200" b="1">
                <a:latin typeface="Arial"/>
                <a:ea typeface="Arial"/>
                <a:cs typeface="Arial"/>
                <a:sym typeface="Arial"/>
              </a:rPr>
              <a:t> </a:t>
            </a:r>
            <a:r>
              <a:rPr lang="en-US" sz="3200" b="1" err="1">
                <a:latin typeface="Arial"/>
                <a:ea typeface="Arial"/>
                <a:cs typeface="Arial"/>
                <a:sym typeface="Arial"/>
              </a:rPr>
              <a:t>cứu</a:t>
            </a:r>
            <a:r>
              <a:rPr lang="en-US" sz="3200" b="1">
                <a:latin typeface="Arial"/>
                <a:ea typeface="Arial"/>
                <a:cs typeface="Arial"/>
                <a:sym typeface="Arial"/>
              </a:rPr>
              <a:t> </a:t>
            </a:r>
            <a:r>
              <a:rPr lang="en-US" sz="3200" b="1" err="1">
                <a:latin typeface="Arial"/>
                <a:ea typeface="Arial"/>
                <a:cs typeface="Arial"/>
                <a:sym typeface="Arial"/>
              </a:rPr>
              <a:t>hành</a:t>
            </a:r>
            <a:r>
              <a:rPr lang="en-US" sz="3200" b="1">
                <a:latin typeface="Arial"/>
                <a:ea typeface="Arial"/>
                <a:cs typeface="Arial"/>
                <a:sym typeface="Arial"/>
              </a:rPr>
              <a:t> vi  </a:t>
            </a:r>
            <a:endParaRPr/>
          </a:p>
        </p:txBody>
      </p:sp>
      <p:sp>
        <p:nvSpPr>
          <p:cNvPr id="316" name="Google Shape;316;p38"/>
          <p:cNvSpPr/>
          <p:nvPr/>
        </p:nvSpPr>
        <p:spPr>
          <a:xfrm>
            <a:off x="3739023" y="1716958"/>
            <a:ext cx="4163978" cy="461665"/>
          </a:xfrm>
          <a:prstGeom prst="rect">
            <a:avLst/>
          </a:prstGeom>
          <a:noFill/>
          <a:ln w="28575" cap="flat" cmpd="sng">
            <a:solidFill>
              <a:srgbClr val="00206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r>
              <a:rPr lang="en-US" sz="2400" b="1" i="0" u="none" strike="noStrike" cap="none">
                <a:solidFill>
                  <a:schemeClr val="dk1"/>
                </a:solidFill>
                <a:latin typeface="Arial"/>
                <a:ea typeface="Arial"/>
                <a:cs typeface="Arial"/>
                <a:sym typeface="Arial"/>
              </a:rPr>
              <a:t>Phương pháp nghiên cứu </a:t>
            </a:r>
            <a:endParaRPr sz="1400" b="0" i="0" u="none" strike="noStrike" cap="none">
              <a:solidFill>
                <a:srgbClr val="000000"/>
              </a:solidFill>
              <a:latin typeface="Arial"/>
              <a:ea typeface="Arial"/>
              <a:cs typeface="Arial"/>
              <a:sym typeface="Arial"/>
            </a:endParaRPr>
          </a:p>
        </p:txBody>
      </p:sp>
      <p:grpSp>
        <p:nvGrpSpPr>
          <p:cNvPr id="317" name="Google Shape;317;p38"/>
          <p:cNvGrpSpPr/>
          <p:nvPr/>
        </p:nvGrpSpPr>
        <p:grpSpPr>
          <a:xfrm>
            <a:off x="566927" y="2452216"/>
            <a:ext cx="10904981" cy="3415696"/>
            <a:chOff x="866" y="11741"/>
            <a:chExt cx="10553" cy="3100"/>
          </a:xfrm>
        </p:grpSpPr>
        <p:sp>
          <p:nvSpPr>
            <p:cNvPr id="318" name="Google Shape;318;p38"/>
            <p:cNvSpPr txBox="1"/>
            <p:nvPr/>
          </p:nvSpPr>
          <p:spPr>
            <a:xfrm>
              <a:off x="3324" y="11741"/>
              <a:ext cx="5253" cy="496"/>
            </a:xfrm>
            <a:prstGeom prst="rect">
              <a:avLst/>
            </a:prstGeom>
            <a:solidFill>
              <a:srgbClr val="FFFFFF"/>
            </a:solidFill>
            <a:ln w="28575" cap="flat" cmpd="sng">
              <a:solidFill>
                <a:srgbClr val="00206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2060"/>
                </a:buClr>
                <a:buSzPts val="2400"/>
                <a:buFont typeface="Arial"/>
                <a:buNone/>
              </a:pPr>
              <a:r>
                <a:rPr lang="en-US" sz="2400" b="1" i="0" u="none" strike="noStrike" cap="none">
                  <a:solidFill>
                    <a:srgbClr val="002060"/>
                  </a:solidFill>
                  <a:latin typeface="Arial"/>
                  <a:ea typeface="Arial"/>
                  <a:cs typeface="Arial"/>
                  <a:sym typeface="Arial"/>
                </a:rPr>
                <a:t>Thu thập thông tin về khách hàng</a:t>
              </a:r>
              <a:endParaRPr sz="2400" b="1" i="0" u="none" strike="noStrike" cap="none">
                <a:solidFill>
                  <a:srgbClr val="002060"/>
                </a:solidFill>
                <a:latin typeface="Arial"/>
                <a:ea typeface="Arial"/>
                <a:cs typeface="Arial"/>
                <a:sym typeface="Arial"/>
              </a:endParaRPr>
            </a:p>
          </p:txBody>
        </p:sp>
        <p:sp>
          <p:nvSpPr>
            <p:cNvPr id="319" name="Google Shape;319;p38"/>
            <p:cNvSpPr txBox="1"/>
            <p:nvPr/>
          </p:nvSpPr>
          <p:spPr>
            <a:xfrm>
              <a:off x="6274" y="12778"/>
              <a:ext cx="2635" cy="1089"/>
            </a:xfrm>
            <a:prstGeom prst="rect">
              <a:avLst/>
            </a:prstGeom>
            <a:solidFill>
              <a:srgbClr val="FFFFFF"/>
            </a:solidFill>
            <a:ln w="28575" cap="flat" cmpd="sng">
              <a:solidFill>
                <a:srgbClr val="00206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1800"/>
                <a:buFont typeface="Arial"/>
                <a:buNone/>
              </a:pPr>
              <a:r>
                <a:rPr lang="en-US" sz="1800" b="1" i="0" u="none" strike="noStrike" cap="none">
                  <a:solidFill>
                    <a:srgbClr val="0070C0"/>
                  </a:solidFill>
                  <a:latin typeface="Arial"/>
                  <a:ea typeface="Arial"/>
                  <a:cs typeface="Arial"/>
                  <a:sym typeface="Arial"/>
                </a:rPr>
                <a:t>Điều tra: khách hàng, nhân viên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70C0"/>
                </a:buClr>
                <a:buSzPts val="1800"/>
                <a:buFont typeface="Arial"/>
                <a:buNone/>
              </a:pPr>
              <a:r>
                <a:rPr lang="en-US" sz="1800" b="1" i="0" u="none" strike="noStrike" cap="none">
                  <a:solidFill>
                    <a:srgbClr val="0070C0"/>
                  </a:solidFill>
                  <a:latin typeface="Arial"/>
                  <a:ea typeface="Arial"/>
                  <a:cs typeface="Arial"/>
                  <a:sym typeface="Arial"/>
                </a:rPr>
                <a:t>bán hàng, đại lý, người bán lẻ</a:t>
              </a:r>
              <a:endParaRPr sz="18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sz="1800" b="1" i="0" u="none" strike="noStrike" cap="none">
                <a:solidFill>
                  <a:srgbClr val="0000FF"/>
                </a:solidFill>
                <a:latin typeface="Times New Roman"/>
                <a:ea typeface="Times New Roman"/>
                <a:cs typeface="Times New Roman"/>
                <a:sym typeface="Times New Roman"/>
              </a:endParaRPr>
            </a:p>
          </p:txBody>
        </p:sp>
        <p:sp>
          <p:nvSpPr>
            <p:cNvPr id="320" name="Google Shape;320;p38"/>
            <p:cNvSpPr txBox="1"/>
            <p:nvPr/>
          </p:nvSpPr>
          <p:spPr>
            <a:xfrm>
              <a:off x="6601" y="14346"/>
              <a:ext cx="1396" cy="471"/>
            </a:xfrm>
            <a:prstGeom prst="rect">
              <a:avLst/>
            </a:prstGeom>
            <a:solidFill>
              <a:srgbClr val="FFFFFF"/>
            </a:solidFill>
            <a:ln w="28575" cap="flat" cmpd="sng">
              <a:solidFill>
                <a:srgbClr val="00206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1800"/>
                <a:buFont typeface="Arial"/>
                <a:buNone/>
              </a:pPr>
              <a:r>
                <a:rPr lang="en-US" sz="1800" b="1" i="0" u="none" strike="noStrike" cap="none">
                  <a:solidFill>
                    <a:srgbClr val="0070C0"/>
                  </a:solidFill>
                  <a:latin typeface="Arial"/>
                  <a:ea typeface="Arial"/>
                  <a:cs typeface="Arial"/>
                  <a:sym typeface="Arial"/>
                </a:rPr>
                <a:t>Điện thoại</a:t>
              </a:r>
              <a:endParaRPr sz="1800" b="1" i="0" u="none" strike="noStrike" cap="none">
                <a:solidFill>
                  <a:srgbClr val="0070C0"/>
                </a:solidFill>
                <a:latin typeface="Arial"/>
                <a:ea typeface="Arial"/>
                <a:cs typeface="Arial"/>
                <a:sym typeface="Arial"/>
              </a:endParaRPr>
            </a:p>
          </p:txBody>
        </p:sp>
        <p:sp>
          <p:nvSpPr>
            <p:cNvPr id="321" name="Google Shape;321;p38"/>
            <p:cNvSpPr txBox="1"/>
            <p:nvPr/>
          </p:nvSpPr>
          <p:spPr>
            <a:xfrm>
              <a:off x="8382" y="14329"/>
              <a:ext cx="1417" cy="471"/>
            </a:xfrm>
            <a:prstGeom prst="rect">
              <a:avLst/>
            </a:prstGeom>
            <a:solidFill>
              <a:srgbClr val="FFFFFF"/>
            </a:solidFill>
            <a:ln w="28575" cap="flat" cmpd="sng">
              <a:solidFill>
                <a:srgbClr val="00206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1800"/>
                <a:buFont typeface="Arial"/>
                <a:buNone/>
              </a:pPr>
              <a:r>
                <a:rPr lang="en-US" sz="1800" b="1" i="0" u="none" strike="noStrike" cap="none">
                  <a:solidFill>
                    <a:srgbClr val="0070C0"/>
                  </a:solidFill>
                  <a:latin typeface="Arial"/>
                  <a:ea typeface="Arial"/>
                  <a:cs typeface="Arial"/>
                  <a:sym typeface="Arial"/>
                </a:rPr>
                <a:t>Trực tiếp</a:t>
              </a:r>
              <a:endParaRPr sz="1800" b="1" i="0" u="none" strike="noStrike" cap="none">
                <a:solidFill>
                  <a:srgbClr val="0070C0"/>
                </a:solidFill>
                <a:latin typeface="Arial"/>
                <a:ea typeface="Arial"/>
                <a:cs typeface="Arial"/>
                <a:sym typeface="Arial"/>
              </a:endParaRPr>
            </a:p>
          </p:txBody>
        </p:sp>
        <p:sp>
          <p:nvSpPr>
            <p:cNvPr id="322" name="Google Shape;322;p38"/>
            <p:cNvSpPr txBox="1"/>
            <p:nvPr/>
          </p:nvSpPr>
          <p:spPr>
            <a:xfrm>
              <a:off x="9308" y="12763"/>
              <a:ext cx="2111" cy="1099"/>
            </a:xfrm>
            <a:prstGeom prst="rect">
              <a:avLst/>
            </a:prstGeom>
            <a:solidFill>
              <a:srgbClr val="FFFFFF"/>
            </a:solidFill>
            <a:ln w="28575" cap="flat" cmpd="sng">
              <a:solidFill>
                <a:srgbClr val="00206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1800"/>
                <a:buFont typeface="Arial"/>
                <a:buNone/>
              </a:pPr>
              <a:r>
                <a:rPr lang="en-US" sz="1800" b="1" i="0" u="none" strike="noStrike" cap="none">
                  <a:solidFill>
                    <a:srgbClr val="0070C0"/>
                  </a:solidFill>
                  <a:latin typeface="Arial"/>
                  <a:ea typeface="Arial"/>
                  <a:cs typeface="Arial"/>
                  <a:sym typeface="Arial"/>
                </a:rPr>
                <a:t>Thông tin thứ cấp: sách báo, các nghiên cứu khác</a:t>
              </a:r>
              <a:endParaRPr sz="18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sz="1800" b="1" i="0" u="none" strike="noStrike" cap="none">
                <a:solidFill>
                  <a:srgbClr val="0000FF"/>
                </a:solidFill>
                <a:latin typeface="Times New Roman"/>
                <a:ea typeface="Times New Roman"/>
                <a:cs typeface="Times New Roman"/>
                <a:sym typeface="Times New Roman"/>
              </a:endParaRPr>
            </a:p>
          </p:txBody>
        </p:sp>
        <p:sp>
          <p:nvSpPr>
            <p:cNvPr id="323" name="Google Shape;323;p38"/>
            <p:cNvSpPr txBox="1"/>
            <p:nvPr/>
          </p:nvSpPr>
          <p:spPr>
            <a:xfrm>
              <a:off x="4924" y="14370"/>
              <a:ext cx="1396" cy="471"/>
            </a:xfrm>
            <a:prstGeom prst="rect">
              <a:avLst/>
            </a:prstGeom>
            <a:solidFill>
              <a:srgbClr val="FFFFFF"/>
            </a:solidFill>
            <a:ln w="28575" cap="flat" cmpd="sng">
              <a:solidFill>
                <a:srgbClr val="00206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1800"/>
                <a:buFont typeface="Arial"/>
                <a:buNone/>
              </a:pPr>
              <a:r>
                <a:rPr lang="en-US" sz="1800" b="1" i="0" u="none" strike="noStrike" cap="none">
                  <a:solidFill>
                    <a:srgbClr val="0070C0"/>
                  </a:solidFill>
                  <a:latin typeface="Arial"/>
                  <a:ea typeface="Arial"/>
                  <a:cs typeface="Arial"/>
                  <a:sym typeface="Arial"/>
                </a:rPr>
                <a:t>Thư</a:t>
              </a:r>
              <a:endParaRPr sz="1800" b="1" i="0" u="none" strike="noStrike" cap="none">
                <a:solidFill>
                  <a:srgbClr val="0070C0"/>
                </a:solidFill>
                <a:latin typeface="Arial"/>
                <a:ea typeface="Arial"/>
                <a:cs typeface="Arial"/>
                <a:sym typeface="Arial"/>
              </a:endParaRPr>
            </a:p>
          </p:txBody>
        </p:sp>
        <p:sp>
          <p:nvSpPr>
            <p:cNvPr id="324" name="Google Shape;324;p38"/>
            <p:cNvSpPr txBox="1"/>
            <p:nvPr/>
          </p:nvSpPr>
          <p:spPr>
            <a:xfrm>
              <a:off x="866" y="12761"/>
              <a:ext cx="2482" cy="1123"/>
            </a:xfrm>
            <a:prstGeom prst="rect">
              <a:avLst/>
            </a:prstGeom>
            <a:solidFill>
              <a:srgbClr val="FFFFFF"/>
            </a:solidFill>
            <a:ln w="28575" cap="flat" cmpd="sng">
              <a:solidFill>
                <a:srgbClr val="00206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1800"/>
                <a:buFont typeface="Arial"/>
                <a:buNone/>
              </a:pPr>
              <a:r>
                <a:rPr lang="en-US" sz="1800" b="1" i="0" u="none" strike="noStrike" cap="none">
                  <a:solidFill>
                    <a:srgbClr val="0070C0"/>
                  </a:solidFill>
                  <a:latin typeface="Arial"/>
                  <a:ea typeface="Arial"/>
                  <a:cs typeface="Arial"/>
                  <a:sym typeface="Arial"/>
                </a:rPr>
                <a:t>Quan sát những hành vi và hiện tượng xung quanh khách hàng  </a:t>
              </a:r>
              <a:endParaRPr sz="1400" b="0" i="0" u="none" strike="noStrike" cap="none">
                <a:solidFill>
                  <a:srgbClr val="000000"/>
                </a:solidFill>
                <a:latin typeface="Arial"/>
                <a:ea typeface="Arial"/>
                <a:cs typeface="Arial"/>
                <a:sym typeface="Arial"/>
              </a:endParaRPr>
            </a:p>
          </p:txBody>
        </p:sp>
        <p:cxnSp>
          <p:nvCxnSpPr>
            <p:cNvPr id="325" name="Google Shape;325;p38"/>
            <p:cNvCxnSpPr/>
            <p:nvPr/>
          </p:nvCxnSpPr>
          <p:spPr>
            <a:xfrm>
              <a:off x="6218" y="12234"/>
              <a:ext cx="8" cy="568"/>
            </a:xfrm>
            <a:prstGeom prst="straightConnector1">
              <a:avLst/>
            </a:prstGeom>
            <a:noFill/>
            <a:ln w="9525" cap="flat" cmpd="sng">
              <a:solidFill>
                <a:schemeClr val="lt1"/>
              </a:solidFill>
              <a:prstDash val="solid"/>
              <a:round/>
              <a:headEnd type="none" w="sm" len="sm"/>
              <a:tailEnd type="triangle" w="med" len="med"/>
            </a:ln>
          </p:spPr>
        </p:cxnSp>
        <p:cxnSp>
          <p:nvCxnSpPr>
            <p:cNvPr id="326" name="Google Shape;326;p38"/>
            <p:cNvCxnSpPr/>
            <p:nvPr/>
          </p:nvCxnSpPr>
          <p:spPr>
            <a:xfrm flipH="1">
              <a:off x="6244" y="14078"/>
              <a:ext cx="7" cy="647"/>
            </a:xfrm>
            <a:prstGeom prst="straightConnector1">
              <a:avLst/>
            </a:prstGeom>
            <a:noFill/>
            <a:ln w="9525" cap="flat" cmpd="sng">
              <a:solidFill>
                <a:schemeClr val="lt1"/>
              </a:solidFill>
              <a:prstDash val="solid"/>
              <a:round/>
              <a:headEnd type="none" w="sm" len="sm"/>
              <a:tailEnd type="triangle" w="med" len="med"/>
            </a:ln>
          </p:spPr>
        </p:cxnSp>
        <p:cxnSp>
          <p:nvCxnSpPr>
            <p:cNvPr id="327" name="Google Shape;327;p38"/>
            <p:cNvCxnSpPr/>
            <p:nvPr/>
          </p:nvCxnSpPr>
          <p:spPr>
            <a:xfrm>
              <a:off x="6286" y="13695"/>
              <a:ext cx="3412" cy="540"/>
            </a:xfrm>
            <a:prstGeom prst="straightConnector1">
              <a:avLst/>
            </a:prstGeom>
            <a:noFill/>
            <a:ln w="9525" cap="flat" cmpd="sng">
              <a:solidFill>
                <a:schemeClr val="lt1"/>
              </a:solidFill>
              <a:prstDash val="solid"/>
              <a:round/>
              <a:headEnd type="none" w="sm" len="sm"/>
              <a:tailEnd type="triangle" w="med" len="med"/>
            </a:ln>
          </p:spPr>
        </p:cxnSp>
        <p:cxnSp>
          <p:nvCxnSpPr>
            <p:cNvPr id="328" name="Google Shape;328;p38"/>
            <p:cNvCxnSpPr/>
            <p:nvPr/>
          </p:nvCxnSpPr>
          <p:spPr>
            <a:xfrm flipH="1">
              <a:off x="2738" y="13969"/>
              <a:ext cx="3521" cy="540"/>
            </a:xfrm>
            <a:prstGeom prst="straightConnector1">
              <a:avLst/>
            </a:prstGeom>
            <a:noFill/>
            <a:ln w="9525" cap="flat" cmpd="sng">
              <a:solidFill>
                <a:schemeClr val="lt1"/>
              </a:solidFill>
              <a:prstDash val="solid"/>
              <a:round/>
              <a:headEnd type="none" w="sm" len="sm"/>
              <a:tailEnd type="triangle" w="med" len="med"/>
            </a:ln>
          </p:spPr>
        </p:cxnSp>
        <p:cxnSp>
          <p:nvCxnSpPr>
            <p:cNvPr id="329" name="Google Shape;329;p38"/>
            <p:cNvCxnSpPr/>
            <p:nvPr/>
          </p:nvCxnSpPr>
          <p:spPr>
            <a:xfrm>
              <a:off x="2699" y="12195"/>
              <a:ext cx="8" cy="568"/>
            </a:xfrm>
            <a:prstGeom prst="straightConnector1">
              <a:avLst/>
            </a:prstGeom>
            <a:noFill/>
            <a:ln w="9525" cap="flat" cmpd="sng">
              <a:solidFill>
                <a:schemeClr val="lt1"/>
              </a:solidFill>
              <a:prstDash val="solid"/>
              <a:round/>
              <a:headEnd type="none" w="sm" len="sm"/>
              <a:tailEnd type="triangle" w="med" len="med"/>
            </a:ln>
          </p:spPr>
        </p:cxnSp>
        <p:cxnSp>
          <p:nvCxnSpPr>
            <p:cNvPr id="330" name="Google Shape;330;p38"/>
            <p:cNvCxnSpPr/>
            <p:nvPr/>
          </p:nvCxnSpPr>
          <p:spPr>
            <a:xfrm>
              <a:off x="9690" y="12221"/>
              <a:ext cx="8" cy="568"/>
            </a:xfrm>
            <a:prstGeom prst="straightConnector1">
              <a:avLst/>
            </a:prstGeom>
            <a:noFill/>
            <a:ln w="9525" cap="flat" cmpd="sng">
              <a:solidFill>
                <a:schemeClr val="lt1"/>
              </a:solidFill>
              <a:prstDash val="solid"/>
              <a:round/>
              <a:headEnd type="none" w="sm" len="sm"/>
              <a:tailEnd type="triangle" w="med" len="med"/>
            </a:ln>
          </p:spPr>
        </p:cxnSp>
      </p:grpSp>
      <p:sp>
        <p:nvSpPr>
          <p:cNvPr id="331" name="Google Shape;331;p38"/>
          <p:cNvSpPr txBox="1"/>
          <p:nvPr/>
        </p:nvSpPr>
        <p:spPr>
          <a:xfrm>
            <a:off x="3446924" y="3621264"/>
            <a:ext cx="2072529" cy="1200329"/>
          </a:xfrm>
          <a:prstGeom prst="rect">
            <a:avLst/>
          </a:prstGeom>
          <a:noFill/>
          <a:ln w="2857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70C0"/>
              </a:buClr>
              <a:buSzPts val="1800"/>
              <a:buFont typeface="Arial"/>
              <a:buNone/>
            </a:pPr>
            <a:r>
              <a:rPr lang="en-US" sz="1800" b="1" i="0" u="none" strike="noStrike" cap="none">
                <a:solidFill>
                  <a:srgbClr val="0070C0"/>
                </a:solidFill>
                <a:latin typeface="Arial"/>
                <a:ea typeface="Arial"/>
                <a:cs typeface="Arial"/>
                <a:sym typeface="Arial"/>
              </a:rPr>
              <a:t>Phương pháp  thực nghiệm: tìm kiếm mối quan hệ nhân quả</a:t>
            </a:r>
            <a:endParaRPr sz="1400" b="0" i="0" u="none" strike="noStrike" cap="none">
              <a:solidFill>
                <a:srgbClr val="000000"/>
              </a:solidFill>
              <a:latin typeface="Arial"/>
              <a:ea typeface="Arial"/>
              <a:cs typeface="Arial"/>
              <a:sym typeface="Arial"/>
            </a:endParaRPr>
          </a:p>
        </p:txBody>
      </p:sp>
      <p:cxnSp>
        <p:nvCxnSpPr>
          <p:cNvPr id="332" name="Google Shape;332;p38"/>
          <p:cNvCxnSpPr>
            <a:stCxn id="316" idx="2"/>
          </p:cNvCxnSpPr>
          <p:nvPr/>
        </p:nvCxnSpPr>
        <p:spPr>
          <a:xfrm>
            <a:off x="5821012" y="2178623"/>
            <a:ext cx="0" cy="280200"/>
          </a:xfrm>
          <a:prstGeom prst="straightConnector1">
            <a:avLst/>
          </a:prstGeom>
          <a:noFill/>
          <a:ln w="28575" cap="flat" cmpd="sng">
            <a:solidFill>
              <a:srgbClr val="002060"/>
            </a:solidFill>
            <a:prstDash val="solid"/>
            <a:miter lim="8000"/>
            <a:headEnd type="none" w="sm" len="sm"/>
            <a:tailEnd type="triangle" w="med" len="med"/>
          </a:ln>
        </p:spPr>
      </p:cxnSp>
      <p:cxnSp>
        <p:nvCxnSpPr>
          <p:cNvPr id="333" name="Google Shape;333;p38"/>
          <p:cNvCxnSpPr>
            <a:endCxn id="329" idx="1"/>
          </p:cNvCxnSpPr>
          <p:nvPr/>
        </p:nvCxnSpPr>
        <p:spPr>
          <a:xfrm flipH="1">
            <a:off x="2469207" y="3014165"/>
            <a:ext cx="3359400" cy="564000"/>
          </a:xfrm>
          <a:prstGeom prst="straightConnector1">
            <a:avLst/>
          </a:prstGeom>
          <a:noFill/>
          <a:ln w="28575" cap="flat" cmpd="sng">
            <a:solidFill>
              <a:srgbClr val="002060"/>
            </a:solidFill>
            <a:prstDash val="solid"/>
            <a:miter lim="8000"/>
            <a:headEnd type="none" w="sm" len="sm"/>
            <a:tailEnd type="triangle" w="med" len="med"/>
          </a:ln>
        </p:spPr>
      </p:cxnSp>
      <p:cxnSp>
        <p:nvCxnSpPr>
          <p:cNvPr id="334" name="Google Shape;334;p38"/>
          <p:cNvCxnSpPr>
            <a:endCxn id="331" idx="0"/>
          </p:cNvCxnSpPr>
          <p:nvPr/>
        </p:nvCxnSpPr>
        <p:spPr>
          <a:xfrm flipH="1">
            <a:off x="4483189" y="3026364"/>
            <a:ext cx="1388700" cy="594900"/>
          </a:xfrm>
          <a:prstGeom prst="straightConnector1">
            <a:avLst/>
          </a:prstGeom>
          <a:noFill/>
          <a:ln w="28575" cap="flat" cmpd="sng">
            <a:solidFill>
              <a:srgbClr val="002060"/>
            </a:solidFill>
            <a:prstDash val="solid"/>
            <a:miter lim="8000"/>
            <a:headEnd type="none" w="sm" len="sm"/>
            <a:tailEnd type="triangle" w="med" len="med"/>
          </a:ln>
        </p:spPr>
      </p:cxnSp>
      <p:cxnSp>
        <p:nvCxnSpPr>
          <p:cNvPr id="335" name="Google Shape;335;p38"/>
          <p:cNvCxnSpPr/>
          <p:nvPr/>
        </p:nvCxnSpPr>
        <p:spPr>
          <a:xfrm>
            <a:off x="5898592" y="3041760"/>
            <a:ext cx="1793798" cy="540954"/>
          </a:xfrm>
          <a:prstGeom prst="straightConnector1">
            <a:avLst/>
          </a:prstGeom>
          <a:noFill/>
          <a:ln w="28575" cap="flat" cmpd="sng">
            <a:solidFill>
              <a:srgbClr val="002060"/>
            </a:solidFill>
            <a:prstDash val="solid"/>
            <a:miter lim="8000"/>
            <a:headEnd type="none" w="sm" len="sm"/>
            <a:tailEnd type="triangle" w="med" len="med"/>
          </a:ln>
        </p:spPr>
      </p:cxnSp>
      <p:cxnSp>
        <p:nvCxnSpPr>
          <p:cNvPr id="336" name="Google Shape;336;p38"/>
          <p:cNvCxnSpPr/>
          <p:nvPr/>
        </p:nvCxnSpPr>
        <p:spPr>
          <a:xfrm>
            <a:off x="5898592" y="3041760"/>
            <a:ext cx="4491283" cy="449439"/>
          </a:xfrm>
          <a:prstGeom prst="straightConnector1">
            <a:avLst/>
          </a:prstGeom>
          <a:noFill/>
          <a:ln w="28575" cap="flat" cmpd="sng">
            <a:solidFill>
              <a:srgbClr val="002060"/>
            </a:solidFill>
            <a:prstDash val="solid"/>
            <a:miter lim="8000"/>
            <a:headEnd type="none" w="sm" len="sm"/>
            <a:tailEnd type="triangle" w="med" len="med"/>
          </a:ln>
        </p:spPr>
      </p:cxnSp>
      <p:cxnSp>
        <p:nvCxnSpPr>
          <p:cNvPr id="337" name="Google Shape;337;p38"/>
          <p:cNvCxnSpPr/>
          <p:nvPr/>
        </p:nvCxnSpPr>
        <p:spPr>
          <a:xfrm>
            <a:off x="7195144" y="4821593"/>
            <a:ext cx="0" cy="459053"/>
          </a:xfrm>
          <a:prstGeom prst="straightConnector1">
            <a:avLst/>
          </a:prstGeom>
          <a:noFill/>
          <a:ln w="28575" cap="flat" cmpd="sng">
            <a:solidFill>
              <a:srgbClr val="002060"/>
            </a:solidFill>
            <a:prstDash val="solid"/>
            <a:miter lim="8000"/>
            <a:headEnd type="none" w="sm" len="sm"/>
            <a:tailEnd type="triangle" w="med" len="med"/>
          </a:ln>
        </p:spPr>
      </p:cxnSp>
      <p:cxnSp>
        <p:nvCxnSpPr>
          <p:cNvPr id="338" name="Google Shape;338;p38"/>
          <p:cNvCxnSpPr/>
          <p:nvPr/>
        </p:nvCxnSpPr>
        <p:spPr>
          <a:xfrm flipH="1">
            <a:off x="5623605" y="4844172"/>
            <a:ext cx="1430238" cy="495400"/>
          </a:xfrm>
          <a:prstGeom prst="straightConnector1">
            <a:avLst/>
          </a:prstGeom>
          <a:noFill/>
          <a:ln w="28575" cap="flat" cmpd="sng">
            <a:solidFill>
              <a:srgbClr val="002060"/>
            </a:solidFill>
            <a:prstDash val="solid"/>
            <a:miter lim="8000"/>
            <a:headEnd type="none" w="sm" len="sm"/>
            <a:tailEnd type="triangle" w="med" len="med"/>
          </a:ln>
        </p:spPr>
      </p:cxnSp>
      <p:cxnSp>
        <p:nvCxnSpPr>
          <p:cNvPr id="339" name="Google Shape;339;p38"/>
          <p:cNvCxnSpPr/>
          <p:nvPr/>
        </p:nvCxnSpPr>
        <p:spPr>
          <a:xfrm>
            <a:off x="7348308" y="4821593"/>
            <a:ext cx="1254560" cy="451453"/>
          </a:xfrm>
          <a:prstGeom prst="straightConnector1">
            <a:avLst/>
          </a:prstGeom>
          <a:noFill/>
          <a:ln w="28575" cap="flat" cmpd="sng">
            <a:solidFill>
              <a:srgbClr val="002060"/>
            </a:solidFill>
            <a:prstDash val="solid"/>
            <a:miter lim="8000"/>
            <a:headEnd type="none" w="sm" len="sm"/>
            <a:tailEnd type="triangle" w="med" len="med"/>
          </a:ln>
        </p:spPr>
      </p:cxnSp>
      <p:sp>
        <p:nvSpPr>
          <p:cNvPr id="340" name="Google Shape;340;p38"/>
          <p:cNvSpPr txBox="1"/>
          <p:nvPr/>
        </p:nvSpPr>
        <p:spPr>
          <a:xfrm>
            <a:off x="3125629" y="6102859"/>
            <a:ext cx="7018020" cy="4137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Hình 1.4 Các công cụ thu thập thông tin về hành vi KH</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84745" y="2105819"/>
            <a:ext cx="9374910" cy="1655762"/>
          </a:xfrm>
        </p:spPr>
        <p:txBody>
          <a:bodyPr>
            <a:noAutofit/>
          </a:bodyPr>
          <a:lstStyle/>
          <a:p>
            <a:pPr>
              <a:lnSpc>
                <a:spcPct val="150000"/>
              </a:lnSpc>
            </a:pPr>
            <a:r>
              <a:rPr lang="vi-VN" sz="3600" b="1"/>
              <a:t>1.5 VAI TRÒ CỦA NGHIÊN CỨU HÀNH VI TRONG HOẠT ĐỘNG </a:t>
            </a:r>
            <a:r>
              <a:rPr lang="en-US" sz="3600" b="1"/>
              <a:t>KINH DOANH</a:t>
            </a:r>
          </a:p>
        </p:txBody>
      </p:sp>
    </p:spTree>
    <p:extLst>
      <p:ext uri="{BB962C8B-B14F-4D97-AF65-F5344CB8AC3E}">
        <p14:creationId xmlns:p14="http://schemas.microsoft.com/office/powerpoint/2010/main" val="9783317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134600" cy="1325563"/>
          </a:xfrm>
        </p:spPr>
        <p:txBody>
          <a:bodyPr>
            <a:normAutofit/>
          </a:bodyPr>
          <a:lstStyle/>
          <a:p>
            <a:pPr algn="ctr"/>
            <a:r>
              <a:rPr lang="en-US" sz="3600" b="1" err="1">
                <a:solidFill>
                  <a:srgbClr val="0070C0"/>
                </a:solidFill>
              </a:rPr>
              <a:t>Vai</a:t>
            </a:r>
            <a:r>
              <a:rPr lang="en-US" sz="3600" b="1">
                <a:solidFill>
                  <a:srgbClr val="0070C0"/>
                </a:solidFill>
              </a:rPr>
              <a:t> </a:t>
            </a:r>
            <a:r>
              <a:rPr lang="en-US" sz="3600" b="1" err="1">
                <a:solidFill>
                  <a:srgbClr val="0070C0"/>
                </a:solidFill>
              </a:rPr>
              <a:t>trò</a:t>
            </a:r>
            <a:r>
              <a:rPr lang="en-US" sz="3600" b="1">
                <a:solidFill>
                  <a:srgbClr val="0070C0"/>
                </a:solidFill>
              </a:rPr>
              <a:t> </a:t>
            </a:r>
            <a:r>
              <a:rPr lang="en-US" sz="3600" b="1" err="1">
                <a:solidFill>
                  <a:srgbClr val="0070C0"/>
                </a:solidFill>
              </a:rPr>
              <a:t>của</a:t>
            </a:r>
            <a:r>
              <a:rPr lang="en-US" sz="3600" b="1">
                <a:solidFill>
                  <a:srgbClr val="0070C0"/>
                </a:solidFill>
              </a:rPr>
              <a:t> </a:t>
            </a:r>
            <a:r>
              <a:rPr lang="en-US" sz="3600" b="1" err="1">
                <a:solidFill>
                  <a:srgbClr val="0070C0"/>
                </a:solidFill>
              </a:rPr>
              <a:t>nghiên</a:t>
            </a:r>
            <a:r>
              <a:rPr lang="en-US" sz="3600" b="1">
                <a:solidFill>
                  <a:srgbClr val="0070C0"/>
                </a:solidFill>
              </a:rPr>
              <a:t> </a:t>
            </a:r>
            <a:r>
              <a:rPr lang="en-US" sz="3600" b="1" err="1">
                <a:solidFill>
                  <a:srgbClr val="0070C0"/>
                </a:solidFill>
              </a:rPr>
              <a:t>cứu</a:t>
            </a:r>
            <a:r>
              <a:rPr lang="en-US" sz="3600" b="1">
                <a:solidFill>
                  <a:srgbClr val="0070C0"/>
                </a:solidFill>
              </a:rPr>
              <a:t> </a:t>
            </a:r>
            <a:r>
              <a:rPr lang="en-US" sz="3600" b="1" err="1">
                <a:solidFill>
                  <a:srgbClr val="0070C0"/>
                </a:solidFill>
              </a:rPr>
              <a:t>hành</a:t>
            </a:r>
            <a:r>
              <a:rPr lang="en-US" sz="3600" b="1">
                <a:solidFill>
                  <a:srgbClr val="0070C0"/>
                </a:solidFill>
              </a:rPr>
              <a:t> vi </a:t>
            </a:r>
            <a:r>
              <a:rPr lang="en-US" sz="3600" b="1" err="1">
                <a:solidFill>
                  <a:srgbClr val="0070C0"/>
                </a:solidFill>
              </a:rPr>
              <a:t>trong</a:t>
            </a:r>
            <a:br>
              <a:rPr lang="en-US" sz="3600" b="1">
                <a:solidFill>
                  <a:srgbClr val="0070C0"/>
                </a:solidFill>
              </a:rPr>
            </a:br>
            <a:r>
              <a:rPr lang="en-US" sz="3600" b="1">
                <a:solidFill>
                  <a:srgbClr val="0070C0"/>
                </a:solidFill>
              </a:rPr>
              <a:t> </a:t>
            </a:r>
            <a:r>
              <a:rPr lang="en-US" sz="3600" b="1" err="1">
                <a:solidFill>
                  <a:srgbClr val="0070C0"/>
                </a:solidFill>
              </a:rPr>
              <a:t>hoạt</a:t>
            </a:r>
            <a:r>
              <a:rPr lang="en-US" sz="3600" b="1">
                <a:solidFill>
                  <a:srgbClr val="0070C0"/>
                </a:solidFill>
              </a:rPr>
              <a:t> </a:t>
            </a:r>
            <a:r>
              <a:rPr lang="en-US" sz="3600" b="1" err="1">
                <a:solidFill>
                  <a:srgbClr val="0070C0"/>
                </a:solidFill>
              </a:rPr>
              <a:t>động</a:t>
            </a:r>
            <a:r>
              <a:rPr lang="en-US" sz="3600" b="1">
                <a:solidFill>
                  <a:srgbClr val="0070C0"/>
                </a:solidFill>
              </a:rPr>
              <a:t> </a:t>
            </a:r>
            <a:r>
              <a:rPr lang="en-US" sz="3600" b="1" err="1">
                <a:solidFill>
                  <a:srgbClr val="0070C0"/>
                </a:solidFill>
              </a:rPr>
              <a:t>kinh</a:t>
            </a:r>
            <a:r>
              <a:rPr lang="en-US" sz="3600" b="1">
                <a:solidFill>
                  <a:srgbClr val="0070C0"/>
                </a:solidFill>
              </a:rPr>
              <a:t> </a:t>
            </a:r>
            <a:r>
              <a:rPr lang="en-US" sz="3600" b="1" err="1">
                <a:solidFill>
                  <a:srgbClr val="0070C0"/>
                </a:solidFill>
              </a:rPr>
              <a:t>doanh</a:t>
            </a:r>
            <a:endParaRPr lang="en-US" sz="3600" b="1">
              <a:solidFill>
                <a:srgbClr val="0070C0"/>
              </a:solidFill>
            </a:endParaRPr>
          </a:p>
        </p:txBody>
      </p:sp>
      <p:sp>
        <p:nvSpPr>
          <p:cNvPr id="6" name="TextBox 5"/>
          <p:cNvSpPr txBox="1"/>
          <p:nvPr/>
        </p:nvSpPr>
        <p:spPr>
          <a:xfrm>
            <a:off x="1363476" y="2112330"/>
            <a:ext cx="1874231" cy="615553"/>
          </a:xfrm>
          <a:prstGeom prst="rect">
            <a:avLst/>
          </a:prstGeom>
          <a:noFill/>
        </p:spPr>
        <p:txBody>
          <a:bodyPr wrap="none" anchor="t">
            <a:spAutoFit/>
          </a:bodyPr>
          <a:lstStyle/>
          <a:p>
            <a:pPr algn="l"/>
            <a:r>
              <a:rPr sz="1800" b="1" err="1">
                <a:solidFill>
                  <a:srgbClr val="FF0000"/>
                </a:solidFill>
                <a:latin typeface="+mj-lt"/>
              </a:rPr>
              <a:t>Hiểu</a:t>
            </a:r>
            <a:r>
              <a:rPr sz="1800" b="1">
                <a:solidFill>
                  <a:srgbClr val="FF0000"/>
                </a:solidFill>
                <a:latin typeface="+mj-lt"/>
              </a:rPr>
              <a:t> </a:t>
            </a:r>
            <a:r>
              <a:rPr sz="1800" b="1" err="1">
                <a:solidFill>
                  <a:srgbClr val="FF0000"/>
                </a:solidFill>
                <a:latin typeface="+mj-lt"/>
              </a:rPr>
              <a:t>thị</a:t>
            </a:r>
            <a:r>
              <a:rPr sz="1800" b="1">
                <a:solidFill>
                  <a:srgbClr val="FF0000"/>
                </a:solidFill>
                <a:latin typeface="+mj-lt"/>
              </a:rPr>
              <a:t> </a:t>
            </a:r>
            <a:r>
              <a:rPr sz="1800" b="1" err="1">
                <a:solidFill>
                  <a:srgbClr val="FF0000"/>
                </a:solidFill>
                <a:latin typeface="+mj-lt"/>
              </a:rPr>
              <a:t>trường</a:t>
            </a:r>
            <a:endParaRPr lang="en-US" sz="1800" b="1">
              <a:solidFill>
                <a:srgbClr val="FF0000"/>
              </a:solidFill>
              <a:latin typeface="+mj-lt"/>
            </a:endParaRPr>
          </a:p>
          <a:p>
            <a:pPr algn="l"/>
            <a:endParaRPr sz="1600" b="1">
              <a:solidFill>
                <a:srgbClr val="2B5B91"/>
              </a:solidFill>
              <a:latin typeface="Aptos"/>
            </a:endParaRPr>
          </a:p>
        </p:txBody>
      </p:sp>
      <p:sp>
        <p:nvSpPr>
          <p:cNvPr id="7" name="TextBox 6"/>
          <p:cNvSpPr txBox="1"/>
          <p:nvPr/>
        </p:nvSpPr>
        <p:spPr>
          <a:xfrm>
            <a:off x="1549724" y="2685110"/>
            <a:ext cx="1778030" cy="2277547"/>
          </a:xfrm>
          <a:prstGeom prst="rect">
            <a:avLst/>
          </a:prstGeom>
          <a:noFill/>
        </p:spPr>
        <p:txBody>
          <a:bodyPr wrap="square" anchor="t">
            <a:spAutoFit/>
          </a:bodyPr>
          <a:lstStyle/>
          <a:p>
            <a:pPr marL="285750" indent="-285750" algn="l">
              <a:buFontTx/>
              <a:buChar char="-"/>
            </a:pPr>
            <a:r>
              <a:rPr b="0" err="1">
                <a:solidFill>
                  <a:srgbClr val="232B34"/>
                </a:solidFill>
                <a:latin typeface="+mj-lt"/>
              </a:rPr>
              <a:t>Phân</a:t>
            </a:r>
            <a:r>
              <a:rPr b="0">
                <a:solidFill>
                  <a:srgbClr val="232B34"/>
                </a:solidFill>
                <a:latin typeface="+mj-lt"/>
              </a:rPr>
              <a:t> </a:t>
            </a:r>
            <a:r>
              <a:rPr b="0" err="1">
                <a:solidFill>
                  <a:srgbClr val="232B34"/>
                </a:solidFill>
                <a:latin typeface="+mj-lt"/>
              </a:rPr>
              <a:t>tích</a:t>
            </a:r>
            <a:r>
              <a:rPr b="0">
                <a:solidFill>
                  <a:srgbClr val="232B34"/>
                </a:solidFill>
                <a:latin typeface="+mj-lt"/>
              </a:rPr>
              <a:t> </a:t>
            </a:r>
            <a:r>
              <a:rPr b="0" err="1">
                <a:solidFill>
                  <a:srgbClr val="232B34"/>
                </a:solidFill>
                <a:latin typeface="+mj-lt"/>
              </a:rPr>
              <a:t>khách</a:t>
            </a:r>
            <a:r>
              <a:rPr b="0">
                <a:solidFill>
                  <a:srgbClr val="232B34"/>
                </a:solidFill>
                <a:latin typeface="+mj-lt"/>
              </a:rPr>
              <a:t> </a:t>
            </a:r>
            <a:r>
              <a:rPr b="0" err="1">
                <a:solidFill>
                  <a:srgbClr val="232B34"/>
                </a:solidFill>
                <a:latin typeface="+mj-lt"/>
              </a:rPr>
              <a:t>hàng</a:t>
            </a:r>
            <a:r>
              <a:rPr b="0">
                <a:solidFill>
                  <a:srgbClr val="232B34"/>
                </a:solidFill>
                <a:latin typeface="+mj-lt"/>
              </a:rPr>
              <a:t>
</a:t>
            </a:r>
            <a:r>
              <a:rPr lang="en-US" err="1">
                <a:solidFill>
                  <a:srgbClr val="232B34"/>
                </a:solidFill>
                <a:latin typeface="+mj-lt"/>
              </a:rPr>
              <a:t>Đ</a:t>
            </a:r>
            <a:r>
              <a:rPr b="0" err="1">
                <a:solidFill>
                  <a:srgbClr val="232B34"/>
                </a:solidFill>
                <a:latin typeface="+mj-lt"/>
              </a:rPr>
              <a:t>ối</a:t>
            </a:r>
            <a:r>
              <a:rPr b="0">
                <a:solidFill>
                  <a:srgbClr val="232B34"/>
                </a:solidFill>
                <a:latin typeface="+mj-lt"/>
              </a:rPr>
              <a:t> </a:t>
            </a:r>
            <a:r>
              <a:rPr b="0" err="1">
                <a:solidFill>
                  <a:srgbClr val="232B34"/>
                </a:solidFill>
                <a:latin typeface="+mj-lt"/>
              </a:rPr>
              <a:t>thủ</a:t>
            </a:r>
            <a:r>
              <a:rPr b="0">
                <a:solidFill>
                  <a:srgbClr val="232B34"/>
                </a:solidFill>
                <a:latin typeface="+mj-lt"/>
              </a:rPr>
              <a:t> </a:t>
            </a:r>
            <a:r>
              <a:rPr b="0" err="1">
                <a:solidFill>
                  <a:srgbClr val="232B34"/>
                </a:solidFill>
                <a:latin typeface="+mj-lt"/>
              </a:rPr>
              <a:t>cạnh</a:t>
            </a:r>
            <a:r>
              <a:rPr b="0">
                <a:solidFill>
                  <a:srgbClr val="232B34"/>
                </a:solidFill>
                <a:latin typeface="+mj-lt"/>
              </a:rPr>
              <a:t> </a:t>
            </a:r>
            <a:r>
              <a:rPr b="0" err="1">
                <a:solidFill>
                  <a:srgbClr val="232B34"/>
                </a:solidFill>
                <a:latin typeface="+mj-lt"/>
              </a:rPr>
              <a:t>tranh</a:t>
            </a:r>
            <a:r>
              <a:rPr b="0">
                <a:solidFill>
                  <a:srgbClr val="232B34"/>
                </a:solidFill>
                <a:latin typeface="+mj-lt"/>
              </a:rPr>
              <a:t>
</a:t>
            </a:r>
            <a:r>
              <a:rPr lang="en-US">
                <a:solidFill>
                  <a:srgbClr val="232B34"/>
                </a:solidFill>
                <a:latin typeface="+mj-lt"/>
              </a:rPr>
              <a:t> </a:t>
            </a:r>
            <a:r>
              <a:rPr lang="en-US" err="1">
                <a:solidFill>
                  <a:srgbClr val="232B34"/>
                </a:solidFill>
                <a:latin typeface="+mj-lt"/>
              </a:rPr>
              <a:t>M</a:t>
            </a:r>
            <a:r>
              <a:rPr b="0" err="1">
                <a:solidFill>
                  <a:srgbClr val="232B34"/>
                </a:solidFill>
                <a:latin typeface="+mj-lt"/>
              </a:rPr>
              <a:t>ôi</a:t>
            </a:r>
            <a:r>
              <a:rPr b="0">
                <a:solidFill>
                  <a:srgbClr val="232B34"/>
                </a:solidFill>
                <a:latin typeface="+mj-lt"/>
              </a:rPr>
              <a:t> </a:t>
            </a:r>
            <a:r>
              <a:rPr b="0" err="1">
                <a:solidFill>
                  <a:srgbClr val="232B34"/>
                </a:solidFill>
                <a:latin typeface="+mj-lt"/>
              </a:rPr>
              <a:t>trường</a:t>
            </a:r>
            <a:r>
              <a:rPr b="0">
                <a:solidFill>
                  <a:srgbClr val="232B34"/>
                </a:solidFill>
                <a:latin typeface="+mj-lt"/>
              </a:rPr>
              <a:t> </a:t>
            </a:r>
            <a:endParaRPr lang="vi-VN" b="0">
              <a:solidFill>
                <a:srgbClr val="232B34"/>
              </a:solidFill>
              <a:latin typeface="+mj-lt"/>
            </a:endParaRPr>
          </a:p>
          <a:p>
            <a:pPr marL="285750" indent="-285750" algn="l">
              <a:buFontTx/>
              <a:buChar char="-"/>
            </a:pPr>
            <a:endParaRPr lang="vi-VN" sz="1800">
              <a:solidFill>
                <a:srgbClr val="232B34"/>
              </a:solidFill>
              <a:latin typeface="+mj-lt"/>
            </a:endParaRPr>
          </a:p>
          <a:p>
            <a:pPr algn="l"/>
            <a:r>
              <a:rPr sz="1800" b="0" err="1">
                <a:solidFill>
                  <a:srgbClr val="232B34"/>
                </a:solidFill>
                <a:latin typeface="+mj-lt"/>
              </a:rPr>
              <a:t>Nhận</a:t>
            </a:r>
            <a:r>
              <a:rPr sz="1800" b="0">
                <a:solidFill>
                  <a:srgbClr val="232B34"/>
                </a:solidFill>
                <a:latin typeface="+mj-lt"/>
              </a:rPr>
              <a:t> </a:t>
            </a:r>
            <a:r>
              <a:rPr sz="1800" b="0" err="1">
                <a:solidFill>
                  <a:srgbClr val="232B34"/>
                </a:solidFill>
                <a:latin typeface="+mj-lt"/>
              </a:rPr>
              <a:t>diện</a:t>
            </a:r>
            <a:r>
              <a:rPr sz="1800" b="0">
                <a:solidFill>
                  <a:srgbClr val="232B34"/>
                </a:solidFill>
                <a:latin typeface="+mj-lt"/>
              </a:rPr>
              <a:t> </a:t>
            </a:r>
            <a:r>
              <a:rPr sz="1800" b="0" err="1">
                <a:solidFill>
                  <a:srgbClr val="232B34"/>
                </a:solidFill>
                <a:latin typeface="+mj-lt"/>
              </a:rPr>
              <a:t>cơ</a:t>
            </a:r>
            <a:r>
              <a:rPr sz="1800" b="0">
                <a:solidFill>
                  <a:srgbClr val="232B34"/>
                </a:solidFill>
                <a:latin typeface="+mj-lt"/>
              </a:rPr>
              <a:t> </a:t>
            </a:r>
            <a:r>
              <a:rPr sz="1800" b="0" err="1">
                <a:solidFill>
                  <a:srgbClr val="232B34"/>
                </a:solidFill>
                <a:latin typeface="+mj-lt"/>
              </a:rPr>
              <a:t>hội</a:t>
            </a:r>
            <a:r>
              <a:rPr sz="1800" b="0">
                <a:solidFill>
                  <a:srgbClr val="232B34"/>
                </a:solidFill>
                <a:latin typeface="+mj-lt"/>
              </a:rPr>
              <a:t> </a:t>
            </a:r>
            <a:r>
              <a:rPr sz="1800" b="0" err="1">
                <a:solidFill>
                  <a:srgbClr val="232B34"/>
                </a:solidFill>
                <a:latin typeface="+mj-lt"/>
              </a:rPr>
              <a:t>và</a:t>
            </a:r>
            <a:r>
              <a:rPr sz="1800" b="0">
                <a:solidFill>
                  <a:srgbClr val="232B34"/>
                </a:solidFill>
                <a:latin typeface="+mj-lt"/>
              </a:rPr>
              <a:t> </a:t>
            </a:r>
            <a:r>
              <a:rPr sz="1800" b="0" err="1">
                <a:solidFill>
                  <a:srgbClr val="232B34"/>
                </a:solidFill>
                <a:latin typeface="+mj-lt"/>
              </a:rPr>
              <a:t>thách</a:t>
            </a:r>
            <a:r>
              <a:rPr sz="1800" b="0">
                <a:solidFill>
                  <a:srgbClr val="232B34"/>
                </a:solidFill>
                <a:latin typeface="+mj-lt"/>
              </a:rPr>
              <a:t> </a:t>
            </a:r>
            <a:r>
              <a:rPr sz="1800" b="0" err="1">
                <a:solidFill>
                  <a:srgbClr val="232B34"/>
                </a:solidFill>
                <a:latin typeface="+mj-lt"/>
              </a:rPr>
              <a:t>thức</a:t>
            </a:r>
            <a:r>
              <a:rPr sz="1800" b="0">
                <a:solidFill>
                  <a:srgbClr val="232B34"/>
                </a:solidFill>
                <a:latin typeface="+mj-lt"/>
              </a:rPr>
              <a:t>.</a:t>
            </a:r>
          </a:p>
        </p:txBody>
      </p:sp>
      <p:grpSp>
        <p:nvGrpSpPr>
          <p:cNvPr id="26" name="Group 25"/>
          <p:cNvGrpSpPr/>
          <p:nvPr/>
        </p:nvGrpSpPr>
        <p:grpSpPr>
          <a:xfrm>
            <a:off x="1232636" y="2008802"/>
            <a:ext cx="2511687" cy="2984631"/>
            <a:chOff x="631952" y="2000250"/>
            <a:chExt cx="2358898" cy="2977382"/>
          </a:xfrm>
        </p:grpSpPr>
        <p:sp>
          <p:nvSpPr>
            <p:cNvPr id="8" name="Right Arrow 7"/>
            <p:cNvSpPr/>
            <p:nvPr/>
          </p:nvSpPr>
          <p:spPr>
            <a:xfrm>
              <a:off x="631952" y="4396510"/>
              <a:ext cx="326689" cy="129308"/>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13" name="Straight Connector 12"/>
            <p:cNvCxnSpPr/>
            <p:nvPr/>
          </p:nvCxnSpPr>
          <p:spPr>
            <a:xfrm flipV="1">
              <a:off x="631952" y="2000250"/>
              <a:ext cx="2358898" cy="9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631952" y="4972871"/>
              <a:ext cx="2358898" cy="4761"/>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631952" y="2009775"/>
              <a:ext cx="0" cy="2933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2990850" y="2009775"/>
              <a:ext cx="0" cy="2933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631952" y="2520092"/>
              <a:ext cx="2358898" cy="952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7" name="Group 26"/>
          <p:cNvGrpSpPr/>
          <p:nvPr/>
        </p:nvGrpSpPr>
        <p:grpSpPr>
          <a:xfrm>
            <a:off x="4492935" y="1999278"/>
            <a:ext cx="2358898" cy="2977382"/>
            <a:chOff x="631952" y="2000250"/>
            <a:chExt cx="2358898" cy="2977382"/>
          </a:xfrm>
        </p:grpSpPr>
        <p:sp>
          <p:nvSpPr>
            <p:cNvPr id="28" name="Right Arrow 27"/>
            <p:cNvSpPr/>
            <p:nvPr/>
          </p:nvSpPr>
          <p:spPr>
            <a:xfrm>
              <a:off x="631952" y="4396510"/>
              <a:ext cx="326689" cy="129308"/>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29" name="Straight Connector 28"/>
            <p:cNvCxnSpPr/>
            <p:nvPr/>
          </p:nvCxnSpPr>
          <p:spPr>
            <a:xfrm flipV="1">
              <a:off x="631952" y="2000250"/>
              <a:ext cx="2358898" cy="9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631952" y="4972871"/>
              <a:ext cx="2358898" cy="4761"/>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p:cNvCxnSpPr/>
            <p:nvPr/>
          </p:nvCxnSpPr>
          <p:spPr>
            <a:xfrm>
              <a:off x="631952" y="2009775"/>
              <a:ext cx="0" cy="2933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990850" y="2009775"/>
              <a:ext cx="0" cy="2933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631952" y="2520092"/>
              <a:ext cx="2358898" cy="9525"/>
            </a:xfrm>
            <a:prstGeom prst="line">
              <a:avLst/>
            </a:prstGeom>
          </p:spPr>
          <p:style>
            <a:lnRef idx="1">
              <a:schemeClr val="accent1"/>
            </a:lnRef>
            <a:fillRef idx="0">
              <a:schemeClr val="accent1"/>
            </a:fillRef>
            <a:effectRef idx="0">
              <a:schemeClr val="accent1"/>
            </a:effectRef>
            <a:fontRef idx="minor">
              <a:schemeClr val="tx1"/>
            </a:fontRef>
          </p:style>
        </p:cxnSp>
      </p:grpSp>
      <p:sp>
        <p:nvSpPr>
          <p:cNvPr id="34" name="Rectangle 33"/>
          <p:cNvSpPr/>
          <p:nvPr/>
        </p:nvSpPr>
        <p:spPr>
          <a:xfrm>
            <a:off x="4656279" y="2148116"/>
            <a:ext cx="1988045" cy="338554"/>
          </a:xfrm>
          <a:prstGeom prst="rect">
            <a:avLst/>
          </a:prstGeom>
        </p:spPr>
        <p:txBody>
          <a:bodyPr wrap="none">
            <a:spAutoFit/>
          </a:bodyPr>
          <a:lstStyle/>
          <a:p>
            <a:r>
              <a:rPr lang="en-US" sz="1600" b="1" err="1">
                <a:solidFill>
                  <a:srgbClr val="FF0000"/>
                </a:solidFill>
                <a:latin typeface="Aptos"/>
              </a:rPr>
              <a:t>Thiết</a:t>
            </a:r>
            <a:r>
              <a:rPr lang="en-US" sz="1600" b="1">
                <a:solidFill>
                  <a:srgbClr val="FF0000"/>
                </a:solidFill>
                <a:latin typeface="Aptos"/>
              </a:rPr>
              <a:t> </a:t>
            </a:r>
            <a:r>
              <a:rPr lang="en-US" sz="1600" b="1" err="1">
                <a:solidFill>
                  <a:srgbClr val="FF0000"/>
                </a:solidFill>
                <a:latin typeface="Aptos"/>
              </a:rPr>
              <a:t>kế</a:t>
            </a:r>
            <a:r>
              <a:rPr lang="en-US" sz="1600" b="1">
                <a:solidFill>
                  <a:srgbClr val="FF0000"/>
                </a:solidFill>
                <a:latin typeface="Aptos"/>
              </a:rPr>
              <a:t> Marketing</a:t>
            </a:r>
          </a:p>
        </p:txBody>
      </p:sp>
      <p:sp>
        <p:nvSpPr>
          <p:cNvPr id="35" name="TextBox 34"/>
          <p:cNvSpPr txBox="1"/>
          <p:nvPr/>
        </p:nvSpPr>
        <p:spPr>
          <a:xfrm>
            <a:off x="4529677" y="2656307"/>
            <a:ext cx="1989560" cy="892552"/>
          </a:xfrm>
          <a:prstGeom prst="rect">
            <a:avLst/>
          </a:prstGeom>
          <a:noFill/>
        </p:spPr>
        <p:txBody>
          <a:bodyPr wrap="square" anchor="t">
            <a:spAutoFit/>
          </a:bodyPr>
          <a:lstStyle/>
          <a:p>
            <a:pPr algn="ctr" defTabSz="457200">
              <a:buClrTx/>
              <a:buFontTx/>
              <a:buNone/>
            </a:pPr>
            <a:r>
              <a:rPr sz="1600" kern="1200" err="1">
                <a:solidFill>
                  <a:srgbClr val="232B34"/>
                </a:solidFill>
                <a:latin typeface="+mj-lt"/>
                <a:ea typeface="+mn-ea"/>
                <a:cs typeface="+mn-cs"/>
              </a:rPr>
              <a:t>Hiểu</a:t>
            </a:r>
            <a:r>
              <a:rPr sz="1600" kern="1200">
                <a:solidFill>
                  <a:srgbClr val="232B34"/>
                </a:solidFill>
                <a:latin typeface="+mj-lt"/>
                <a:ea typeface="+mn-ea"/>
                <a:cs typeface="+mn-cs"/>
              </a:rPr>
              <a:t> </a:t>
            </a:r>
            <a:r>
              <a:rPr sz="1600" kern="1200" err="1">
                <a:solidFill>
                  <a:srgbClr val="232B34"/>
                </a:solidFill>
                <a:latin typeface="+mj-lt"/>
                <a:ea typeface="+mn-ea"/>
                <a:cs typeface="+mn-cs"/>
              </a:rPr>
              <a:t>nhu</a:t>
            </a:r>
            <a:r>
              <a:rPr sz="1600" kern="1200">
                <a:solidFill>
                  <a:srgbClr val="232B34"/>
                </a:solidFill>
                <a:latin typeface="+mj-lt"/>
                <a:ea typeface="+mn-ea"/>
                <a:cs typeface="+mn-cs"/>
              </a:rPr>
              <a:t> </a:t>
            </a:r>
            <a:r>
              <a:rPr sz="1600" kern="1200" err="1">
                <a:solidFill>
                  <a:srgbClr val="232B34"/>
                </a:solidFill>
                <a:latin typeface="+mj-lt"/>
                <a:ea typeface="+mn-ea"/>
                <a:cs typeface="+mn-cs"/>
              </a:rPr>
              <a:t>cầu</a:t>
            </a:r>
            <a:r>
              <a:rPr sz="1600" kern="1200">
                <a:solidFill>
                  <a:srgbClr val="232B34"/>
                </a:solidFill>
                <a:latin typeface="+mj-lt"/>
                <a:ea typeface="+mn-ea"/>
                <a:cs typeface="+mn-cs"/>
              </a:rPr>
              <a:t> </a:t>
            </a:r>
            <a:r>
              <a:rPr sz="1600" kern="1200" err="1">
                <a:solidFill>
                  <a:srgbClr val="232B34"/>
                </a:solidFill>
                <a:latin typeface="+mj-lt"/>
                <a:ea typeface="+mn-ea"/>
                <a:cs typeface="+mn-cs"/>
              </a:rPr>
              <a:t>và</a:t>
            </a:r>
            <a:r>
              <a:rPr sz="1600" kern="1200">
                <a:solidFill>
                  <a:srgbClr val="232B34"/>
                </a:solidFill>
                <a:latin typeface="+mj-lt"/>
                <a:ea typeface="+mn-ea"/>
                <a:cs typeface="+mn-cs"/>
              </a:rPr>
              <a:t> </a:t>
            </a:r>
            <a:r>
              <a:rPr sz="1600" kern="1200" err="1">
                <a:solidFill>
                  <a:srgbClr val="232B34"/>
                </a:solidFill>
                <a:latin typeface="+mj-lt"/>
                <a:ea typeface="+mn-ea"/>
                <a:cs typeface="+mn-cs"/>
              </a:rPr>
              <a:t>hành</a:t>
            </a:r>
            <a:r>
              <a:rPr sz="1600" kern="1200">
                <a:solidFill>
                  <a:srgbClr val="232B34"/>
                </a:solidFill>
                <a:latin typeface="+mj-lt"/>
                <a:ea typeface="+mn-ea"/>
                <a:cs typeface="+mn-cs"/>
              </a:rPr>
              <a:t> vi</a:t>
            </a:r>
            <a:r>
              <a:rPr lang="en-US" sz="1600" kern="1200">
                <a:solidFill>
                  <a:srgbClr val="232B34"/>
                </a:solidFill>
                <a:latin typeface="+mj-lt"/>
                <a:ea typeface="+mn-ea"/>
                <a:cs typeface="+mn-cs"/>
              </a:rPr>
              <a:t> </a:t>
            </a:r>
            <a:r>
              <a:rPr lang="en-US" sz="1600" kern="1200" err="1">
                <a:solidFill>
                  <a:srgbClr val="232B34"/>
                </a:solidFill>
                <a:latin typeface="+mj-lt"/>
                <a:ea typeface="+mn-ea"/>
                <a:cs typeface="+mn-cs"/>
              </a:rPr>
              <a:t>khách</a:t>
            </a:r>
            <a:r>
              <a:rPr lang="en-US" sz="1600" kern="1200">
                <a:solidFill>
                  <a:srgbClr val="232B34"/>
                </a:solidFill>
                <a:latin typeface="+mj-lt"/>
                <a:ea typeface="+mn-ea"/>
                <a:cs typeface="+mn-cs"/>
              </a:rPr>
              <a:t> </a:t>
            </a:r>
            <a:r>
              <a:rPr lang="en-US" sz="1600" kern="1200" err="1">
                <a:solidFill>
                  <a:srgbClr val="232B34"/>
                </a:solidFill>
                <a:latin typeface="+mj-lt"/>
                <a:ea typeface="+mn-ea"/>
                <a:cs typeface="+mn-cs"/>
              </a:rPr>
              <a:t>hàng</a:t>
            </a:r>
            <a:r>
              <a:rPr sz="1800" kern="1200">
                <a:solidFill>
                  <a:srgbClr val="232B34"/>
                </a:solidFill>
                <a:latin typeface="Aptos"/>
                <a:ea typeface="+mn-ea"/>
                <a:cs typeface="+mn-cs"/>
              </a:rPr>
              <a:t>
</a:t>
            </a:r>
          </a:p>
        </p:txBody>
      </p:sp>
      <p:sp>
        <p:nvSpPr>
          <p:cNvPr id="36" name="Rectangle 35"/>
          <p:cNvSpPr/>
          <p:nvPr/>
        </p:nvSpPr>
        <p:spPr>
          <a:xfrm>
            <a:off x="4818240" y="3535558"/>
            <a:ext cx="2062108" cy="1477328"/>
          </a:xfrm>
          <a:prstGeom prst="rect">
            <a:avLst/>
          </a:prstGeom>
        </p:spPr>
        <p:txBody>
          <a:bodyPr wrap="square">
            <a:spAutoFit/>
          </a:bodyPr>
          <a:lstStyle/>
          <a:p>
            <a:r>
              <a:rPr lang="en-US" sz="1800" kern="1200" err="1">
                <a:solidFill>
                  <a:srgbClr val="232B34"/>
                </a:solidFill>
                <a:latin typeface="+mj-lt"/>
                <a:ea typeface="+mn-ea"/>
              </a:rPr>
              <a:t>Lựa</a:t>
            </a:r>
            <a:r>
              <a:rPr lang="en-US" sz="1800" kern="1200">
                <a:solidFill>
                  <a:srgbClr val="232B34"/>
                </a:solidFill>
                <a:latin typeface="+mj-lt"/>
                <a:ea typeface="+mn-ea"/>
              </a:rPr>
              <a:t> </a:t>
            </a:r>
            <a:r>
              <a:rPr lang="en-US" sz="1800" kern="1200" err="1">
                <a:solidFill>
                  <a:srgbClr val="232B34"/>
                </a:solidFill>
                <a:latin typeface="+mj-lt"/>
                <a:ea typeface="+mn-ea"/>
              </a:rPr>
              <a:t>chọn</a:t>
            </a:r>
            <a:r>
              <a:rPr lang="en-US" sz="1800" kern="1200">
                <a:solidFill>
                  <a:srgbClr val="232B34"/>
                </a:solidFill>
                <a:latin typeface="+mj-lt"/>
                <a:ea typeface="+mn-ea"/>
              </a:rPr>
              <a:t> </a:t>
            </a:r>
            <a:r>
              <a:rPr lang="en-US" sz="1800" kern="1200" err="1">
                <a:solidFill>
                  <a:srgbClr val="232B34"/>
                </a:solidFill>
                <a:latin typeface="+mj-lt"/>
                <a:ea typeface="+mn-ea"/>
              </a:rPr>
              <a:t>sản</a:t>
            </a:r>
            <a:r>
              <a:rPr lang="en-US" sz="1800" kern="1200">
                <a:solidFill>
                  <a:srgbClr val="232B34"/>
                </a:solidFill>
                <a:latin typeface="+mj-lt"/>
                <a:ea typeface="+mn-ea"/>
              </a:rPr>
              <a:t> </a:t>
            </a:r>
            <a:r>
              <a:rPr lang="en-US" sz="1800" kern="1200" err="1">
                <a:solidFill>
                  <a:srgbClr val="232B34"/>
                </a:solidFill>
                <a:latin typeface="+mj-lt"/>
                <a:ea typeface="+mn-ea"/>
              </a:rPr>
              <a:t>phẩm</a:t>
            </a:r>
            <a:r>
              <a:rPr lang="en-US" sz="1800" kern="1200">
                <a:solidFill>
                  <a:srgbClr val="232B34"/>
                </a:solidFill>
                <a:latin typeface="+mj-lt"/>
                <a:ea typeface="+mn-ea"/>
              </a:rPr>
              <a:t>, </a:t>
            </a:r>
            <a:r>
              <a:rPr lang="en-US" sz="1800" kern="1200" err="1">
                <a:solidFill>
                  <a:srgbClr val="232B34"/>
                </a:solidFill>
                <a:latin typeface="+mj-lt"/>
                <a:ea typeface="+mn-ea"/>
              </a:rPr>
              <a:t>giá</a:t>
            </a:r>
            <a:r>
              <a:rPr lang="en-US" sz="1800" kern="1200">
                <a:solidFill>
                  <a:srgbClr val="232B34"/>
                </a:solidFill>
                <a:latin typeface="+mj-lt"/>
                <a:ea typeface="+mn-ea"/>
              </a:rPr>
              <a:t>, </a:t>
            </a:r>
            <a:r>
              <a:rPr lang="en-US" sz="1800" kern="1200" err="1">
                <a:solidFill>
                  <a:srgbClr val="232B34"/>
                </a:solidFill>
                <a:latin typeface="+mj-lt"/>
                <a:ea typeface="+mn-ea"/>
              </a:rPr>
              <a:t>phân</a:t>
            </a:r>
            <a:r>
              <a:rPr lang="en-US" sz="1800" kern="1200">
                <a:solidFill>
                  <a:srgbClr val="232B34"/>
                </a:solidFill>
                <a:latin typeface="+mj-lt"/>
                <a:ea typeface="+mn-ea"/>
              </a:rPr>
              <a:t> </a:t>
            </a:r>
            <a:r>
              <a:rPr lang="en-US" sz="1800" kern="1200" err="1">
                <a:solidFill>
                  <a:srgbClr val="232B34"/>
                </a:solidFill>
                <a:latin typeface="+mj-lt"/>
                <a:ea typeface="+mn-ea"/>
              </a:rPr>
              <a:t>phối</a:t>
            </a:r>
            <a:r>
              <a:rPr lang="en-US" sz="1800" kern="1200">
                <a:solidFill>
                  <a:srgbClr val="232B34"/>
                </a:solidFill>
                <a:latin typeface="+mj-lt"/>
                <a:ea typeface="+mn-ea"/>
              </a:rPr>
              <a:t>, </a:t>
            </a:r>
            <a:r>
              <a:rPr lang="en-US" sz="1800" kern="1200" err="1">
                <a:solidFill>
                  <a:srgbClr val="232B34"/>
                </a:solidFill>
                <a:latin typeface="+mj-lt"/>
                <a:ea typeface="+mn-ea"/>
              </a:rPr>
              <a:t>dịch</a:t>
            </a:r>
            <a:r>
              <a:rPr lang="en-US" sz="1800" kern="1200">
                <a:solidFill>
                  <a:srgbClr val="232B34"/>
                </a:solidFill>
                <a:latin typeface="+mj-lt"/>
                <a:ea typeface="+mn-ea"/>
              </a:rPr>
              <a:t> </a:t>
            </a:r>
            <a:r>
              <a:rPr lang="en-US" sz="1800" kern="1200" err="1">
                <a:solidFill>
                  <a:srgbClr val="232B34"/>
                </a:solidFill>
                <a:latin typeface="+mj-lt"/>
                <a:ea typeface="+mn-ea"/>
              </a:rPr>
              <a:t>vụ</a:t>
            </a:r>
            <a:r>
              <a:rPr lang="en-US" sz="1800" kern="1200">
                <a:solidFill>
                  <a:srgbClr val="232B34"/>
                </a:solidFill>
                <a:latin typeface="+mj-lt"/>
                <a:ea typeface="+mn-ea"/>
              </a:rPr>
              <a:t> </a:t>
            </a:r>
            <a:r>
              <a:rPr lang="en-US" sz="1800" kern="1200" err="1">
                <a:solidFill>
                  <a:srgbClr val="232B34"/>
                </a:solidFill>
                <a:latin typeface="+mj-lt"/>
                <a:ea typeface="+mn-ea"/>
              </a:rPr>
              <a:t>và</a:t>
            </a:r>
            <a:r>
              <a:rPr lang="en-US" sz="1800" kern="1200">
                <a:solidFill>
                  <a:srgbClr val="232B34"/>
                </a:solidFill>
                <a:latin typeface="+mj-lt"/>
                <a:ea typeface="+mn-ea"/>
              </a:rPr>
              <a:t> </a:t>
            </a:r>
            <a:r>
              <a:rPr lang="en-US" sz="1800" kern="1200" err="1">
                <a:solidFill>
                  <a:srgbClr val="232B34"/>
                </a:solidFill>
                <a:latin typeface="+mj-lt"/>
                <a:ea typeface="+mn-ea"/>
              </a:rPr>
              <a:t>truyền</a:t>
            </a:r>
            <a:r>
              <a:rPr lang="en-US" sz="1800" kern="1200">
                <a:solidFill>
                  <a:srgbClr val="232B34"/>
                </a:solidFill>
                <a:latin typeface="+mj-lt"/>
                <a:ea typeface="+mn-ea"/>
              </a:rPr>
              <a:t> </a:t>
            </a:r>
            <a:r>
              <a:rPr lang="en-US" sz="1800" kern="1200" err="1">
                <a:solidFill>
                  <a:srgbClr val="232B34"/>
                </a:solidFill>
                <a:latin typeface="+mj-lt"/>
                <a:ea typeface="+mn-ea"/>
              </a:rPr>
              <a:t>thông</a:t>
            </a:r>
            <a:r>
              <a:rPr lang="en-US" sz="1800" kern="1200">
                <a:solidFill>
                  <a:srgbClr val="232B34"/>
                </a:solidFill>
                <a:latin typeface="+mj-lt"/>
                <a:ea typeface="+mn-ea"/>
              </a:rPr>
              <a:t> </a:t>
            </a:r>
            <a:r>
              <a:rPr lang="en-US" sz="1800" kern="1200" err="1">
                <a:solidFill>
                  <a:srgbClr val="232B34"/>
                </a:solidFill>
                <a:latin typeface="+mj-lt"/>
                <a:ea typeface="+mn-ea"/>
              </a:rPr>
              <a:t>phù</a:t>
            </a:r>
            <a:r>
              <a:rPr lang="en-US" sz="1800" kern="1200">
                <a:solidFill>
                  <a:srgbClr val="232B34"/>
                </a:solidFill>
                <a:latin typeface="+mj-lt"/>
                <a:ea typeface="+mn-ea"/>
              </a:rPr>
              <a:t> </a:t>
            </a:r>
            <a:r>
              <a:rPr lang="en-US" sz="1800" kern="1200" err="1">
                <a:solidFill>
                  <a:srgbClr val="232B34"/>
                </a:solidFill>
                <a:latin typeface="+mj-lt"/>
                <a:ea typeface="+mn-ea"/>
              </a:rPr>
              <a:t>hợp</a:t>
            </a:r>
            <a:endParaRPr lang="en-US" sz="1800">
              <a:latin typeface="+mj-lt"/>
            </a:endParaRPr>
          </a:p>
        </p:txBody>
      </p:sp>
      <p:grpSp>
        <p:nvGrpSpPr>
          <p:cNvPr id="37" name="Group 36"/>
          <p:cNvGrpSpPr/>
          <p:nvPr/>
        </p:nvGrpSpPr>
        <p:grpSpPr>
          <a:xfrm>
            <a:off x="7954267" y="1974646"/>
            <a:ext cx="2358898" cy="2977382"/>
            <a:chOff x="631952" y="2000250"/>
            <a:chExt cx="2358898" cy="2977382"/>
          </a:xfrm>
        </p:grpSpPr>
        <p:cxnSp>
          <p:nvCxnSpPr>
            <p:cNvPr id="39" name="Straight Connector 38"/>
            <p:cNvCxnSpPr/>
            <p:nvPr/>
          </p:nvCxnSpPr>
          <p:spPr>
            <a:xfrm flipV="1">
              <a:off x="631952" y="2000250"/>
              <a:ext cx="2358898" cy="9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631952" y="4972871"/>
              <a:ext cx="2358898" cy="4761"/>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p:cNvCxnSpPr/>
            <p:nvPr/>
          </p:nvCxnSpPr>
          <p:spPr>
            <a:xfrm>
              <a:off x="631952" y="2009775"/>
              <a:ext cx="0" cy="2933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2990850" y="2009775"/>
              <a:ext cx="0" cy="2933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631952" y="2520092"/>
              <a:ext cx="2358898" cy="9525"/>
            </a:xfrm>
            <a:prstGeom prst="line">
              <a:avLst/>
            </a:prstGeom>
          </p:spPr>
          <p:style>
            <a:lnRef idx="1">
              <a:schemeClr val="accent1"/>
            </a:lnRef>
            <a:fillRef idx="0">
              <a:schemeClr val="accent1"/>
            </a:fillRef>
            <a:effectRef idx="0">
              <a:schemeClr val="accent1"/>
            </a:effectRef>
            <a:fontRef idx="minor">
              <a:schemeClr val="tx1"/>
            </a:fontRef>
          </p:style>
        </p:cxnSp>
      </p:grpSp>
      <p:sp>
        <p:nvSpPr>
          <p:cNvPr id="44" name="TextBox 43"/>
          <p:cNvSpPr txBox="1"/>
          <p:nvPr/>
        </p:nvSpPr>
        <p:spPr>
          <a:xfrm>
            <a:off x="8018476" y="2021036"/>
            <a:ext cx="2076450" cy="553998"/>
          </a:xfrm>
          <a:prstGeom prst="rect">
            <a:avLst/>
          </a:prstGeom>
          <a:noFill/>
        </p:spPr>
        <p:txBody>
          <a:bodyPr wrap="square" anchor="t">
            <a:spAutoFit/>
          </a:bodyPr>
          <a:lstStyle/>
          <a:p>
            <a:pPr algn="ctr"/>
            <a:r>
              <a:rPr sz="1500" b="1">
                <a:solidFill>
                  <a:srgbClr val="FF0000"/>
                </a:solidFill>
                <a:latin typeface="Aptos"/>
              </a:rPr>
              <a:t>Ra </a:t>
            </a:r>
            <a:r>
              <a:rPr sz="1500" b="1" err="1">
                <a:solidFill>
                  <a:srgbClr val="FF0000"/>
                </a:solidFill>
                <a:latin typeface="Aptos"/>
              </a:rPr>
              <a:t>quyết</a:t>
            </a:r>
            <a:r>
              <a:rPr sz="1500" b="1">
                <a:solidFill>
                  <a:srgbClr val="FF0000"/>
                </a:solidFill>
                <a:latin typeface="Aptos"/>
              </a:rPr>
              <a:t> </a:t>
            </a:r>
            <a:r>
              <a:rPr sz="1500" b="1" err="1">
                <a:solidFill>
                  <a:srgbClr val="FF0000"/>
                </a:solidFill>
                <a:latin typeface="Aptos"/>
              </a:rPr>
              <a:t>định</a:t>
            </a:r>
            <a:r>
              <a:rPr sz="1500" b="1">
                <a:solidFill>
                  <a:srgbClr val="FF0000"/>
                </a:solidFill>
                <a:latin typeface="Aptos"/>
              </a:rPr>
              <a:t> </a:t>
            </a:r>
            <a:r>
              <a:rPr sz="1500" b="1" err="1">
                <a:solidFill>
                  <a:srgbClr val="FF0000"/>
                </a:solidFill>
                <a:latin typeface="Aptos"/>
              </a:rPr>
              <a:t>kinh</a:t>
            </a:r>
            <a:r>
              <a:rPr sz="1500" b="1">
                <a:solidFill>
                  <a:srgbClr val="FF0000"/>
                </a:solidFill>
                <a:latin typeface="Aptos"/>
              </a:rPr>
              <a:t> </a:t>
            </a:r>
            <a:r>
              <a:rPr sz="1500" b="1" err="1">
                <a:solidFill>
                  <a:srgbClr val="FF0000"/>
                </a:solidFill>
                <a:latin typeface="Aptos"/>
              </a:rPr>
              <a:t>doanh</a:t>
            </a:r>
            <a:endParaRPr sz="1500" b="1">
              <a:solidFill>
                <a:srgbClr val="FF0000"/>
              </a:solidFill>
              <a:latin typeface="Aptos"/>
            </a:endParaRPr>
          </a:p>
        </p:txBody>
      </p:sp>
      <p:sp>
        <p:nvSpPr>
          <p:cNvPr id="45" name="Rectangle 44"/>
          <p:cNvSpPr/>
          <p:nvPr/>
        </p:nvSpPr>
        <p:spPr>
          <a:xfrm>
            <a:off x="8073673" y="2866731"/>
            <a:ext cx="2089502" cy="1754326"/>
          </a:xfrm>
          <a:prstGeom prst="rect">
            <a:avLst/>
          </a:prstGeom>
        </p:spPr>
        <p:txBody>
          <a:bodyPr wrap="square">
            <a:spAutoFit/>
          </a:bodyPr>
          <a:lstStyle/>
          <a:p>
            <a:pPr algn="ctr"/>
            <a:r>
              <a:rPr lang="vi-VN" sz="1800">
                <a:solidFill>
                  <a:srgbClr val="232B34"/>
                </a:solidFill>
                <a:latin typeface="+mn-lt"/>
              </a:rPr>
              <a:t>Dữ liệu hành vi hỗ trợ phân khúc, lựa chọn thị trường mục tiêu và điều chỉnh chiến lược Marketing.</a:t>
            </a:r>
          </a:p>
        </p:txBody>
      </p:sp>
    </p:spTree>
    <p:extLst>
      <p:ext uri="{BB962C8B-B14F-4D97-AF65-F5344CB8AC3E}">
        <p14:creationId xmlns:p14="http://schemas.microsoft.com/office/powerpoint/2010/main" val="36154516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2"/>
          <p:cNvSpPr txBox="1">
            <a:spLocks noGrp="1"/>
          </p:cNvSpPr>
          <p:nvPr>
            <p:ph type="body" idx="1"/>
          </p:nvPr>
        </p:nvSpPr>
        <p:spPr>
          <a:xfrm>
            <a:off x="838200" y="591216"/>
            <a:ext cx="10515600" cy="558574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r>
              <a:rPr lang="en-US" sz="3200" b="1">
                <a:latin typeface="Arial"/>
                <a:ea typeface="Arial"/>
                <a:cs typeface="Arial"/>
                <a:sym typeface="Arial"/>
              </a:rPr>
              <a:t>1.5.1. </a:t>
            </a:r>
            <a:r>
              <a:rPr lang="en-US" sz="3200" b="1" err="1">
                <a:latin typeface="Arial"/>
                <a:ea typeface="Arial"/>
                <a:cs typeface="Arial"/>
                <a:sym typeface="Arial"/>
              </a:rPr>
              <a:t>Hành</a:t>
            </a:r>
            <a:r>
              <a:rPr lang="en-US" sz="3200" b="1">
                <a:latin typeface="Arial"/>
                <a:ea typeface="Arial"/>
                <a:cs typeface="Arial"/>
                <a:sym typeface="Arial"/>
              </a:rPr>
              <a:t> vi KH </a:t>
            </a:r>
            <a:r>
              <a:rPr lang="en-US" sz="3200" b="1" err="1">
                <a:latin typeface="Arial"/>
                <a:ea typeface="Arial"/>
                <a:cs typeface="Arial"/>
                <a:sym typeface="Arial"/>
              </a:rPr>
              <a:t>và</a:t>
            </a:r>
            <a:r>
              <a:rPr lang="en-US" sz="3200" b="1">
                <a:latin typeface="Arial"/>
                <a:ea typeface="Arial"/>
                <a:cs typeface="Arial"/>
                <a:sym typeface="Arial"/>
              </a:rPr>
              <a:t> </a:t>
            </a:r>
            <a:r>
              <a:rPr lang="en-US" sz="3200" b="1" err="1">
                <a:latin typeface="Arial"/>
                <a:ea typeface="Arial"/>
                <a:cs typeface="Arial"/>
                <a:sym typeface="Arial"/>
              </a:rPr>
              <a:t>chiến</a:t>
            </a:r>
            <a:r>
              <a:rPr lang="en-US" sz="3200" b="1">
                <a:latin typeface="Arial"/>
                <a:ea typeface="Arial"/>
                <a:cs typeface="Arial"/>
                <a:sym typeface="Arial"/>
              </a:rPr>
              <a:t> </a:t>
            </a:r>
            <a:r>
              <a:rPr lang="en-US" sz="3200" b="1" err="1">
                <a:latin typeface="Arial"/>
                <a:ea typeface="Arial"/>
                <a:cs typeface="Arial"/>
                <a:sym typeface="Arial"/>
              </a:rPr>
              <a:t>lược</a:t>
            </a:r>
            <a:r>
              <a:rPr lang="en-US" sz="3200" b="1">
                <a:latin typeface="Arial"/>
                <a:ea typeface="Arial"/>
                <a:cs typeface="Arial"/>
                <a:sym typeface="Arial"/>
              </a:rPr>
              <a:t> Marketing</a:t>
            </a:r>
            <a:endParaRPr/>
          </a:p>
          <a:p>
            <a:pPr marL="0" lvl="0" indent="0" algn="l" rtl="0">
              <a:lnSpc>
                <a:spcPct val="90000"/>
              </a:lnSpc>
              <a:spcBef>
                <a:spcPts val="1000"/>
              </a:spcBef>
              <a:spcAft>
                <a:spcPts val="0"/>
              </a:spcAft>
              <a:buClr>
                <a:schemeClr val="dk1"/>
              </a:buClr>
              <a:buSzPts val="3200"/>
              <a:buNone/>
            </a:pPr>
            <a:endParaRPr sz="3200" b="1">
              <a:latin typeface="Arial"/>
              <a:ea typeface="Arial"/>
              <a:cs typeface="Arial"/>
              <a:sym typeface="Arial"/>
            </a:endParaRPr>
          </a:p>
        </p:txBody>
      </p:sp>
      <p:sp>
        <p:nvSpPr>
          <p:cNvPr id="255" name="Google Shape;255;p32"/>
          <p:cNvSpPr txBox="1"/>
          <p:nvPr/>
        </p:nvSpPr>
        <p:spPr>
          <a:xfrm>
            <a:off x="1113590" y="1878898"/>
            <a:ext cx="2411238"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2000"/>
              <a:buFont typeface="Arial"/>
              <a:buNone/>
            </a:pPr>
            <a:r>
              <a:rPr lang="en-US" sz="2000" b="1" i="0" u="none" strike="noStrike" cap="none">
                <a:solidFill>
                  <a:srgbClr val="0000FF"/>
                </a:solidFill>
                <a:latin typeface="Arial"/>
                <a:ea typeface="Arial"/>
                <a:cs typeface="Arial"/>
                <a:sym typeface="Arial"/>
              </a:rPr>
              <a:t>Nghiên cứu HVKH</a:t>
            </a:r>
            <a:endParaRPr sz="1400" b="0" i="0" u="none" strike="noStrike" cap="none">
              <a:solidFill>
                <a:srgbClr val="000000"/>
              </a:solidFill>
              <a:latin typeface="Arial"/>
              <a:ea typeface="Arial"/>
              <a:cs typeface="Arial"/>
              <a:sym typeface="Arial"/>
            </a:endParaRPr>
          </a:p>
        </p:txBody>
      </p:sp>
      <p:pic>
        <p:nvPicPr>
          <p:cNvPr id="256" name="Google Shape;256;p32" descr="Picture1"/>
          <p:cNvPicPr preferRelativeResize="0"/>
          <p:nvPr/>
        </p:nvPicPr>
        <p:blipFill rotWithShape="1">
          <a:blip r:embed="rId3">
            <a:alphaModFix/>
          </a:blip>
          <a:srcRect/>
          <a:stretch/>
        </p:blipFill>
        <p:spPr>
          <a:xfrm>
            <a:off x="2947670" y="3475355"/>
            <a:ext cx="1003300" cy="1079500"/>
          </a:xfrm>
          <a:prstGeom prst="rect">
            <a:avLst/>
          </a:prstGeom>
          <a:noFill/>
          <a:ln>
            <a:noFill/>
          </a:ln>
        </p:spPr>
      </p:pic>
      <p:pic>
        <p:nvPicPr>
          <p:cNvPr id="257" name="Google Shape;257;p32" descr="Picture1"/>
          <p:cNvPicPr preferRelativeResize="0"/>
          <p:nvPr/>
        </p:nvPicPr>
        <p:blipFill rotWithShape="1">
          <a:blip r:embed="rId3">
            <a:alphaModFix/>
          </a:blip>
          <a:srcRect/>
          <a:stretch/>
        </p:blipFill>
        <p:spPr>
          <a:xfrm>
            <a:off x="5052695" y="1936115"/>
            <a:ext cx="1003300" cy="1079500"/>
          </a:xfrm>
          <a:prstGeom prst="rect">
            <a:avLst/>
          </a:prstGeom>
          <a:noFill/>
          <a:ln>
            <a:noFill/>
          </a:ln>
        </p:spPr>
      </p:pic>
      <p:pic>
        <p:nvPicPr>
          <p:cNvPr id="258" name="Google Shape;258;p32" descr="Picture1"/>
          <p:cNvPicPr preferRelativeResize="0"/>
          <p:nvPr/>
        </p:nvPicPr>
        <p:blipFill rotWithShape="1">
          <a:blip r:embed="rId3">
            <a:alphaModFix/>
          </a:blip>
          <a:srcRect/>
          <a:stretch/>
        </p:blipFill>
        <p:spPr>
          <a:xfrm>
            <a:off x="6379845" y="4732655"/>
            <a:ext cx="1003300" cy="1079500"/>
          </a:xfrm>
          <a:prstGeom prst="rect">
            <a:avLst/>
          </a:prstGeom>
          <a:noFill/>
          <a:ln>
            <a:noFill/>
          </a:ln>
        </p:spPr>
      </p:pic>
      <p:pic>
        <p:nvPicPr>
          <p:cNvPr id="259" name="Google Shape;259;p32" descr="Picture1"/>
          <p:cNvPicPr preferRelativeResize="0"/>
          <p:nvPr/>
        </p:nvPicPr>
        <p:blipFill rotWithShape="1">
          <a:blip r:embed="rId3">
            <a:alphaModFix/>
          </a:blip>
          <a:srcRect/>
          <a:stretch/>
        </p:blipFill>
        <p:spPr>
          <a:xfrm>
            <a:off x="3319145" y="5304155"/>
            <a:ext cx="1003300" cy="1079500"/>
          </a:xfrm>
          <a:prstGeom prst="rect">
            <a:avLst/>
          </a:prstGeom>
          <a:noFill/>
          <a:ln>
            <a:noFill/>
          </a:ln>
        </p:spPr>
      </p:pic>
      <p:sp>
        <p:nvSpPr>
          <p:cNvPr id="260" name="Google Shape;260;p32"/>
          <p:cNvSpPr/>
          <p:nvPr/>
        </p:nvSpPr>
        <p:spPr>
          <a:xfrm>
            <a:off x="1203432" y="2279654"/>
            <a:ext cx="3810000" cy="1066800"/>
          </a:xfrm>
          <a:custGeom>
            <a:avLst/>
            <a:gdLst/>
            <a:ahLst/>
            <a:cxnLst/>
            <a:rect l="l" t="t" r="r" b="b"/>
            <a:pathLst>
              <a:path w="2160" h="1008" extrusionOk="0">
                <a:moveTo>
                  <a:pt x="0" y="0"/>
                </a:moveTo>
                <a:lnTo>
                  <a:pt x="1200" y="0"/>
                </a:lnTo>
                <a:lnTo>
                  <a:pt x="2160" y="1008"/>
                </a:lnTo>
              </a:path>
            </a:pathLst>
          </a:custGeom>
          <a:noFill/>
          <a:ln w="9525" cap="flat" cmpd="sng">
            <a:solidFill>
              <a:srgbClr val="5F5F5F"/>
            </a:solidFill>
            <a:prstDash val="solid"/>
            <a:round/>
            <a:headEnd type="none" w="sm" len="sm"/>
            <a:tailEnd type="triangl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261" name="Google Shape;261;p32"/>
          <p:cNvSpPr/>
          <p:nvPr/>
        </p:nvSpPr>
        <p:spPr>
          <a:xfrm rot="-1358056">
            <a:off x="2845316" y="2091286"/>
            <a:ext cx="6615113" cy="3321455"/>
          </a:xfrm>
          <a:custGeom>
            <a:avLst/>
            <a:gdLst/>
            <a:ahLst/>
            <a:cxnLst/>
            <a:rect l="l" t="t" r="r" b="b"/>
            <a:pathLst>
              <a:path w="4040" h="1888" extrusionOk="0">
                <a:moveTo>
                  <a:pt x="2020" y="0"/>
                </a:moveTo>
                <a:lnTo>
                  <a:pt x="1854" y="4"/>
                </a:lnTo>
                <a:lnTo>
                  <a:pt x="1692" y="12"/>
                </a:lnTo>
                <a:lnTo>
                  <a:pt x="1534" y="28"/>
                </a:lnTo>
                <a:lnTo>
                  <a:pt x="1382" y="48"/>
                </a:lnTo>
                <a:lnTo>
                  <a:pt x="1234" y="74"/>
                </a:lnTo>
                <a:lnTo>
                  <a:pt x="1092" y="106"/>
                </a:lnTo>
                <a:lnTo>
                  <a:pt x="956" y="142"/>
                </a:lnTo>
                <a:lnTo>
                  <a:pt x="828" y="182"/>
                </a:lnTo>
                <a:lnTo>
                  <a:pt x="706" y="228"/>
                </a:lnTo>
                <a:lnTo>
                  <a:pt x="592" y="276"/>
                </a:lnTo>
                <a:lnTo>
                  <a:pt x="486" y="330"/>
                </a:lnTo>
                <a:lnTo>
                  <a:pt x="390" y="386"/>
                </a:lnTo>
                <a:lnTo>
                  <a:pt x="302" y="446"/>
                </a:lnTo>
                <a:lnTo>
                  <a:pt x="226" y="510"/>
                </a:lnTo>
                <a:lnTo>
                  <a:pt x="158" y="576"/>
                </a:lnTo>
                <a:lnTo>
                  <a:pt x="102" y="646"/>
                </a:lnTo>
                <a:lnTo>
                  <a:pt x="58" y="718"/>
                </a:lnTo>
                <a:lnTo>
                  <a:pt x="26" y="790"/>
                </a:lnTo>
                <a:lnTo>
                  <a:pt x="6" y="866"/>
                </a:lnTo>
                <a:lnTo>
                  <a:pt x="0" y="944"/>
                </a:lnTo>
                <a:lnTo>
                  <a:pt x="6" y="1022"/>
                </a:lnTo>
                <a:lnTo>
                  <a:pt x="26" y="1098"/>
                </a:lnTo>
                <a:lnTo>
                  <a:pt x="58" y="1170"/>
                </a:lnTo>
                <a:lnTo>
                  <a:pt x="102" y="1242"/>
                </a:lnTo>
                <a:lnTo>
                  <a:pt x="158" y="1312"/>
                </a:lnTo>
                <a:lnTo>
                  <a:pt x="226" y="1378"/>
                </a:lnTo>
                <a:lnTo>
                  <a:pt x="302" y="1442"/>
                </a:lnTo>
                <a:lnTo>
                  <a:pt x="390" y="1502"/>
                </a:lnTo>
                <a:lnTo>
                  <a:pt x="486" y="1558"/>
                </a:lnTo>
                <a:lnTo>
                  <a:pt x="592" y="1612"/>
                </a:lnTo>
                <a:lnTo>
                  <a:pt x="706" y="1660"/>
                </a:lnTo>
                <a:lnTo>
                  <a:pt x="828" y="1706"/>
                </a:lnTo>
                <a:lnTo>
                  <a:pt x="956" y="1746"/>
                </a:lnTo>
                <a:lnTo>
                  <a:pt x="1092" y="1782"/>
                </a:lnTo>
                <a:lnTo>
                  <a:pt x="1234" y="1814"/>
                </a:lnTo>
                <a:lnTo>
                  <a:pt x="1382" y="1840"/>
                </a:lnTo>
                <a:lnTo>
                  <a:pt x="1534" y="1860"/>
                </a:lnTo>
                <a:lnTo>
                  <a:pt x="1692" y="1876"/>
                </a:lnTo>
                <a:lnTo>
                  <a:pt x="1854" y="1884"/>
                </a:lnTo>
                <a:lnTo>
                  <a:pt x="2020" y="1888"/>
                </a:lnTo>
                <a:lnTo>
                  <a:pt x="2186" y="1884"/>
                </a:lnTo>
                <a:lnTo>
                  <a:pt x="2348" y="1876"/>
                </a:lnTo>
                <a:lnTo>
                  <a:pt x="2506" y="1860"/>
                </a:lnTo>
                <a:lnTo>
                  <a:pt x="2658" y="1840"/>
                </a:lnTo>
                <a:lnTo>
                  <a:pt x="2806" y="1814"/>
                </a:lnTo>
                <a:lnTo>
                  <a:pt x="2948" y="1782"/>
                </a:lnTo>
                <a:lnTo>
                  <a:pt x="3084" y="1746"/>
                </a:lnTo>
                <a:lnTo>
                  <a:pt x="3212" y="1706"/>
                </a:lnTo>
                <a:lnTo>
                  <a:pt x="3334" y="1660"/>
                </a:lnTo>
                <a:lnTo>
                  <a:pt x="3448" y="1612"/>
                </a:lnTo>
                <a:lnTo>
                  <a:pt x="3554" y="1558"/>
                </a:lnTo>
                <a:lnTo>
                  <a:pt x="3650" y="1502"/>
                </a:lnTo>
                <a:lnTo>
                  <a:pt x="3738" y="1442"/>
                </a:lnTo>
                <a:lnTo>
                  <a:pt x="3814" y="1378"/>
                </a:lnTo>
                <a:lnTo>
                  <a:pt x="3882" y="1312"/>
                </a:lnTo>
                <a:lnTo>
                  <a:pt x="3938" y="1242"/>
                </a:lnTo>
                <a:lnTo>
                  <a:pt x="3982" y="1170"/>
                </a:lnTo>
                <a:lnTo>
                  <a:pt x="4014" y="1098"/>
                </a:lnTo>
                <a:lnTo>
                  <a:pt x="4034" y="1022"/>
                </a:lnTo>
                <a:lnTo>
                  <a:pt x="4040" y="944"/>
                </a:lnTo>
                <a:lnTo>
                  <a:pt x="4034" y="866"/>
                </a:lnTo>
                <a:lnTo>
                  <a:pt x="4014" y="790"/>
                </a:lnTo>
                <a:lnTo>
                  <a:pt x="3982" y="718"/>
                </a:lnTo>
                <a:lnTo>
                  <a:pt x="3938" y="646"/>
                </a:lnTo>
                <a:lnTo>
                  <a:pt x="3882" y="576"/>
                </a:lnTo>
                <a:lnTo>
                  <a:pt x="3814" y="510"/>
                </a:lnTo>
                <a:lnTo>
                  <a:pt x="3738" y="446"/>
                </a:lnTo>
                <a:lnTo>
                  <a:pt x="3650" y="386"/>
                </a:lnTo>
                <a:lnTo>
                  <a:pt x="3554" y="330"/>
                </a:lnTo>
                <a:lnTo>
                  <a:pt x="3448" y="276"/>
                </a:lnTo>
                <a:lnTo>
                  <a:pt x="3334" y="228"/>
                </a:lnTo>
                <a:lnTo>
                  <a:pt x="3212" y="182"/>
                </a:lnTo>
                <a:lnTo>
                  <a:pt x="3084" y="142"/>
                </a:lnTo>
                <a:lnTo>
                  <a:pt x="2948" y="106"/>
                </a:lnTo>
                <a:lnTo>
                  <a:pt x="2806" y="74"/>
                </a:lnTo>
                <a:lnTo>
                  <a:pt x="2658" y="48"/>
                </a:lnTo>
                <a:lnTo>
                  <a:pt x="2506" y="28"/>
                </a:lnTo>
                <a:lnTo>
                  <a:pt x="2348" y="12"/>
                </a:lnTo>
                <a:lnTo>
                  <a:pt x="2186" y="4"/>
                </a:lnTo>
                <a:lnTo>
                  <a:pt x="2020" y="0"/>
                </a:lnTo>
                <a:close/>
                <a:moveTo>
                  <a:pt x="1922" y="1748"/>
                </a:moveTo>
                <a:lnTo>
                  <a:pt x="1762" y="1746"/>
                </a:lnTo>
                <a:lnTo>
                  <a:pt x="1606" y="1736"/>
                </a:lnTo>
                <a:lnTo>
                  <a:pt x="1454" y="1722"/>
                </a:lnTo>
                <a:lnTo>
                  <a:pt x="1306" y="1702"/>
                </a:lnTo>
                <a:lnTo>
                  <a:pt x="1164" y="1678"/>
                </a:lnTo>
                <a:lnTo>
                  <a:pt x="1028" y="1648"/>
                </a:lnTo>
                <a:lnTo>
                  <a:pt x="898" y="1614"/>
                </a:lnTo>
                <a:lnTo>
                  <a:pt x="776" y="1576"/>
                </a:lnTo>
                <a:lnTo>
                  <a:pt x="662" y="1532"/>
                </a:lnTo>
                <a:lnTo>
                  <a:pt x="554" y="1486"/>
                </a:lnTo>
                <a:lnTo>
                  <a:pt x="458" y="1436"/>
                </a:lnTo>
                <a:lnTo>
                  <a:pt x="370" y="1382"/>
                </a:lnTo>
                <a:lnTo>
                  <a:pt x="292" y="1326"/>
                </a:lnTo>
                <a:lnTo>
                  <a:pt x="224" y="1266"/>
                </a:lnTo>
                <a:lnTo>
                  <a:pt x="166" y="1204"/>
                </a:lnTo>
                <a:lnTo>
                  <a:pt x="122" y="1140"/>
                </a:lnTo>
                <a:lnTo>
                  <a:pt x="88" y="1074"/>
                </a:lnTo>
                <a:lnTo>
                  <a:pt x="68" y="1004"/>
                </a:lnTo>
                <a:lnTo>
                  <a:pt x="62" y="934"/>
                </a:lnTo>
                <a:lnTo>
                  <a:pt x="68" y="864"/>
                </a:lnTo>
                <a:lnTo>
                  <a:pt x="88" y="796"/>
                </a:lnTo>
                <a:lnTo>
                  <a:pt x="122" y="730"/>
                </a:lnTo>
                <a:lnTo>
                  <a:pt x="166" y="664"/>
                </a:lnTo>
                <a:lnTo>
                  <a:pt x="224" y="602"/>
                </a:lnTo>
                <a:lnTo>
                  <a:pt x="292" y="544"/>
                </a:lnTo>
                <a:lnTo>
                  <a:pt x="370" y="486"/>
                </a:lnTo>
                <a:lnTo>
                  <a:pt x="458" y="434"/>
                </a:lnTo>
                <a:lnTo>
                  <a:pt x="554" y="382"/>
                </a:lnTo>
                <a:lnTo>
                  <a:pt x="662" y="336"/>
                </a:lnTo>
                <a:lnTo>
                  <a:pt x="776" y="294"/>
                </a:lnTo>
                <a:lnTo>
                  <a:pt x="898" y="256"/>
                </a:lnTo>
                <a:lnTo>
                  <a:pt x="1028" y="222"/>
                </a:lnTo>
                <a:lnTo>
                  <a:pt x="1164" y="192"/>
                </a:lnTo>
                <a:lnTo>
                  <a:pt x="1306" y="166"/>
                </a:lnTo>
                <a:lnTo>
                  <a:pt x="1454" y="148"/>
                </a:lnTo>
                <a:lnTo>
                  <a:pt x="1606" y="132"/>
                </a:lnTo>
                <a:lnTo>
                  <a:pt x="1762" y="124"/>
                </a:lnTo>
                <a:lnTo>
                  <a:pt x="1922" y="120"/>
                </a:lnTo>
                <a:lnTo>
                  <a:pt x="2084" y="124"/>
                </a:lnTo>
                <a:lnTo>
                  <a:pt x="2240" y="132"/>
                </a:lnTo>
                <a:lnTo>
                  <a:pt x="2392" y="148"/>
                </a:lnTo>
                <a:lnTo>
                  <a:pt x="2540" y="166"/>
                </a:lnTo>
                <a:lnTo>
                  <a:pt x="2682" y="192"/>
                </a:lnTo>
                <a:lnTo>
                  <a:pt x="2818" y="222"/>
                </a:lnTo>
                <a:lnTo>
                  <a:pt x="2948" y="256"/>
                </a:lnTo>
                <a:lnTo>
                  <a:pt x="3070" y="294"/>
                </a:lnTo>
                <a:lnTo>
                  <a:pt x="3184" y="336"/>
                </a:lnTo>
                <a:lnTo>
                  <a:pt x="3292" y="382"/>
                </a:lnTo>
                <a:lnTo>
                  <a:pt x="3388" y="434"/>
                </a:lnTo>
                <a:lnTo>
                  <a:pt x="3476" y="486"/>
                </a:lnTo>
                <a:lnTo>
                  <a:pt x="3554" y="544"/>
                </a:lnTo>
                <a:lnTo>
                  <a:pt x="3622" y="602"/>
                </a:lnTo>
                <a:lnTo>
                  <a:pt x="3680" y="664"/>
                </a:lnTo>
                <a:lnTo>
                  <a:pt x="3724" y="730"/>
                </a:lnTo>
                <a:lnTo>
                  <a:pt x="3758" y="796"/>
                </a:lnTo>
                <a:lnTo>
                  <a:pt x="3778" y="864"/>
                </a:lnTo>
                <a:lnTo>
                  <a:pt x="3784" y="934"/>
                </a:lnTo>
                <a:lnTo>
                  <a:pt x="3778" y="1004"/>
                </a:lnTo>
                <a:lnTo>
                  <a:pt x="3758" y="1074"/>
                </a:lnTo>
                <a:lnTo>
                  <a:pt x="3724" y="1140"/>
                </a:lnTo>
                <a:lnTo>
                  <a:pt x="3680" y="1204"/>
                </a:lnTo>
                <a:lnTo>
                  <a:pt x="3622" y="1266"/>
                </a:lnTo>
                <a:lnTo>
                  <a:pt x="3554" y="1326"/>
                </a:lnTo>
                <a:lnTo>
                  <a:pt x="3476" y="1382"/>
                </a:lnTo>
                <a:lnTo>
                  <a:pt x="3388" y="1436"/>
                </a:lnTo>
                <a:lnTo>
                  <a:pt x="3292" y="1486"/>
                </a:lnTo>
                <a:lnTo>
                  <a:pt x="3184" y="1532"/>
                </a:lnTo>
                <a:lnTo>
                  <a:pt x="3070" y="1576"/>
                </a:lnTo>
                <a:lnTo>
                  <a:pt x="2948" y="1614"/>
                </a:lnTo>
                <a:lnTo>
                  <a:pt x="2818" y="1648"/>
                </a:lnTo>
                <a:lnTo>
                  <a:pt x="2682" y="1678"/>
                </a:lnTo>
                <a:lnTo>
                  <a:pt x="2540" y="1702"/>
                </a:lnTo>
                <a:lnTo>
                  <a:pt x="2392" y="1722"/>
                </a:lnTo>
                <a:lnTo>
                  <a:pt x="2240" y="1736"/>
                </a:lnTo>
                <a:lnTo>
                  <a:pt x="2084" y="1746"/>
                </a:lnTo>
                <a:lnTo>
                  <a:pt x="1922" y="1748"/>
                </a:lnTo>
                <a:close/>
              </a:path>
            </a:pathLst>
          </a:custGeom>
          <a:gradFill>
            <a:gsLst>
              <a:gs pos="0">
                <a:srgbClr val="656565"/>
              </a:gs>
              <a:gs pos="100000">
                <a:srgbClr val="DDDDDD"/>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262" name="Google Shape;262;p32"/>
          <p:cNvSpPr/>
          <p:nvPr/>
        </p:nvSpPr>
        <p:spPr>
          <a:xfrm>
            <a:off x="2724062" y="3178886"/>
            <a:ext cx="1829684" cy="1454150"/>
          </a:xfrm>
          <a:prstGeom prst="ellipse">
            <a:avLst/>
          </a:prstGeom>
          <a:solidFill>
            <a:srgbClr val="C4E0B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63" name="Google Shape;263;p32"/>
          <p:cNvSpPr txBox="1"/>
          <p:nvPr/>
        </p:nvSpPr>
        <p:spPr>
          <a:xfrm>
            <a:off x="2636521" y="3541433"/>
            <a:ext cx="1953983" cy="7016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Chiến lược chiêu thị</a:t>
            </a:r>
            <a:endParaRPr sz="2000" b="1" i="0" u="none" strike="noStrike" cap="none">
              <a:solidFill>
                <a:schemeClr val="dk1"/>
              </a:solidFill>
              <a:latin typeface="Arial"/>
              <a:ea typeface="Arial"/>
              <a:cs typeface="Arial"/>
              <a:sym typeface="Arial"/>
            </a:endParaRPr>
          </a:p>
        </p:txBody>
      </p:sp>
      <p:sp>
        <p:nvSpPr>
          <p:cNvPr id="264" name="Google Shape;264;p32"/>
          <p:cNvSpPr/>
          <p:nvPr/>
        </p:nvSpPr>
        <p:spPr>
          <a:xfrm>
            <a:off x="7889558" y="2221663"/>
            <a:ext cx="1828800" cy="1530350"/>
          </a:xfrm>
          <a:prstGeom prst="ellipse">
            <a:avLst/>
          </a:prstGeom>
          <a:solidFill>
            <a:srgbClr val="FEE5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65" name="Google Shape;265;p32"/>
          <p:cNvSpPr txBox="1"/>
          <p:nvPr/>
        </p:nvSpPr>
        <p:spPr>
          <a:xfrm>
            <a:off x="7751445" y="2627281"/>
            <a:ext cx="2054101"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Chiến lược</a:t>
            </a:r>
            <a:endParaRPr sz="20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 sản phẩm </a:t>
            </a:r>
            <a:endParaRPr sz="1400" b="0" i="0" u="none" strike="noStrike" cap="none">
              <a:solidFill>
                <a:srgbClr val="000000"/>
              </a:solidFill>
              <a:latin typeface="Arial"/>
              <a:ea typeface="Arial"/>
              <a:cs typeface="Arial"/>
              <a:sym typeface="Arial"/>
            </a:endParaRPr>
          </a:p>
        </p:txBody>
      </p:sp>
      <p:sp>
        <p:nvSpPr>
          <p:cNvPr id="266" name="Google Shape;266;p32"/>
          <p:cNvSpPr/>
          <p:nvPr/>
        </p:nvSpPr>
        <p:spPr>
          <a:xfrm>
            <a:off x="6894392" y="4178354"/>
            <a:ext cx="1778761" cy="1447800"/>
          </a:xfrm>
          <a:prstGeom prst="ellipse">
            <a:avLst/>
          </a:prstGeom>
          <a:solidFill>
            <a:srgbClr val="F7CAA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67" name="Google Shape;267;p32"/>
          <p:cNvSpPr txBox="1"/>
          <p:nvPr/>
        </p:nvSpPr>
        <p:spPr>
          <a:xfrm>
            <a:off x="7011908" y="4559991"/>
            <a:ext cx="1600200" cy="7016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Chiến lược giá cả</a:t>
            </a:r>
            <a:endParaRPr sz="2000" b="1" i="0" u="none" strike="noStrike" cap="none">
              <a:solidFill>
                <a:schemeClr val="dk1"/>
              </a:solidFill>
              <a:latin typeface="Arial"/>
              <a:ea typeface="Arial"/>
              <a:cs typeface="Arial"/>
              <a:sym typeface="Arial"/>
            </a:endParaRPr>
          </a:p>
        </p:txBody>
      </p:sp>
      <p:sp>
        <p:nvSpPr>
          <p:cNvPr id="268" name="Google Shape;268;p32"/>
          <p:cNvSpPr/>
          <p:nvPr/>
        </p:nvSpPr>
        <p:spPr>
          <a:xfrm>
            <a:off x="4216949" y="4895184"/>
            <a:ext cx="1839046" cy="1371600"/>
          </a:xfrm>
          <a:prstGeom prst="ellipse">
            <a:avLst/>
          </a:prstGeom>
          <a:solidFill>
            <a:srgbClr val="BBD6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69" name="Google Shape;269;p32"/>
          <p:cNvSpPr txBox="1"/>
          <p:nvPr/>
        </p:nvSpPr>
        <p:spPr>
          <a:xfrm>
            <a:off x="4322445" y="5242733"/>
            <a:ext cx="1676400" cy="7016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Chiến lược phân phối</a:t>
            </a:r>
            <a:endParaRPr sz="2000" b="1" i="0" u="none" strike="noStrike" cap="none">
              <a:solidFill>
                <a:schemeClr val="dk1"/>
              </a:solidFill>
              <a:latin typeface="Arial"/>
              <a:ea typeface="Arial"/>
              <a:cs typeface="Arial"/>
              <a:sym typeface="Arial"/>
            </a:endParaRPr>
          </a:p>
        </p:txBody>
      </p:sp>
      <p:pic>
        <p:nvPicPr>
          <p:cNvPr id="270" name="Google Shape;270;p32" descr="110206%20marketing%20tong%20hop[1]"/>
          <p:cNvPicPr preferRelativeResize="0"/>
          <p:nvPr/>
        </p:nvPicPr>
        <p:blipFill rotWithShape="1">
          <a:blip r:embed="rId4">
            <a:alphaModFix/>
          </a:blip>
          <a:srcRect/>
          <a:stretch/>
        </p:blipFill>
        <p:spPr>
          <a:xfrm>
            <a:off x="5077174" y="3206114"/>
            <a:ext cx="1839045" cy="1257777"/>
          </a:xfrm>
          <a:prstGeom prst="rect">
            <a:avLst/>
          </a:prstGeom>
          <a:noFill/>
          <a:ln>
            <a:noFill/>
          </a:ln>
        </p:spPr>
      </p:pic>
      <p:sp>
        <p:nvSpPr>
          <p:cNvPr id="271" name="Google Shape;271;p32"/>
          <p:cNvSpPr/>
          <p:nvPr/>
        </p:nvSpPr>
        <p:spPr>
          <a:xfrm>
            <a:off x="5103275" y="1625060"/>
            <a:ext cx="1897610" cy="1478857"/>
          </a:xfrm>
          <a:prstGeom prst="ellipse">
            <a:avLst/>
          </a:prstGeom>
          <a:solidFill>
            <a:srgbClr val="D0CE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72" name="Google Shape;272;p32"/>
          <p:cNvSpPr txBox="1"/>
          <p:nvPr/>
        </p:nvSpPr>
        <p:spPr>
          <a:xfrm>
            <a:off x="5147564" y="2031676"/>
            <a:ext cx="1828800" cy="7016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Phân đoạn thị trường</a:t>
            </a:r>
            <a:endParaRPr sz="2000" b="1" i="0" u="none" strike="noStrike" cap="none">
              <a:solidFill>
                <a:schemeClr val="dk1"/>
              </a:solidFill>
              <a:latin typeface="Arial"/>
              <a:ea typeface="Arial"/>
              <a:cs typeface="Arial"/>
              <a:sym typeface="Arial"/>
            </a:endParaRPr>
          </a:p>
        </p:txBody>
      </p:sp>
      <p:sp>
        <p:nvSpPr>
          <p:cNvPr id="273" name="Google Shape;273;p32"/>
          <p:cNvSpPr txBox="1"/>
          <p:nvPr/>
        </p:nvSpPr>
        <p:spPr>
          <a:xfrm>
            <a:off x="3395346" y="6197275"/>
            <a:ext cx="632301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91300"/>
              </a:buClr>
              <a:buSzPts val="2000"/>
              <a:buFont typeface="Arial"/>
              <a:buNone/>
            </a:pPr>
            <a:r>
              <a:rPr lang="en-US" sz="2000" b="1" i="0" u="none" strike="noStrike" cap="none">
                <a:solidFill>
                  <a:srgbClr val="191300"/>
                </a:solidFill>
                <a:latin typeface="Arial"/>
                <a:ea typeface="Arial"/>
                <a:cs typeface="Arial"/>
                <a:sym typeface="Arial"/>
              </a:rPr>
              <a:t>Hình 1.3. Hành vi KH và Chiến lược Marketing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3"/>
          <p:cNvSpPr txBox="1">
            <a:spLocks noGrp="1"/>
          </p:cNvSpPr>
          <p:nvPr>
            <p:ph type="body" idx="1"/>
          </p:nvPr>
        </p:nvSpPr>
        <p:spPr>
          <a:xfrm>
            <a:off x="804567" y="515007"/>
            <a:ext cx="11003280" cy="624314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r>
              <a:rPr lang="en-US" sz="3200" b="1">
                <a:latin typeface="Arial"/>
                <a:ea typeface="Arial"/>
                <a:cs typeface="Arial"/>
                <a:sym typeface="Arial"/>
              </a:rPr>
              <a:t>1.5.2. </a:t>
            </a:r>
            <a:r>
              <a:rPr lang="en-US" sz="3200" b="1" err="1">
                <a:latin typeface="Arial"/>
                <a:ea typeface="Arial"/>
                <a:cs typeface="Arial"/>
                <a:sym typeface="Arial"/>
              </a:rPr>
              <a:t>Thực</a:t>
            </a:r>
            <a:r>
              <a:rPr lang="en-US" sz="3200" b="1">
                <a:latin typeface="Arial"/>
                <a:ea typeface="Arial"/>
                <a:cs typeface="Arial"/>
                <a:sym typeface="Arial"/>
              </a:rPr>
              <a:t> </a:t>
            </a:r>
            <a:r>
              <a:rPr lang="en-US" sz="3200" b="1" err="1">
                <a:latin typeface="Arial"/>
                <a:ea typeface="Arial"/>
                <a:cs typeface="Arial"/>
                <a:sym typeface="Arial"/>
              </a:rPr>
              <a:t>hiện</a:t>
            </a:r>
            <a:r>
              <a:rPr lang="en-US" sz="3200" b="1">
                <a:latin typeface="Arial"/>
                <a:ea typeface="Arial"/>
                <a:cs typeface="Arial"/>
                <a:sym typeface="Arial"/>
              </a:rPr>
              <a:t> Marketing </a:t>
            </a:r>
            <a:r>
              <a:rPr lang="en-US" sz="3200" b="1" err="1">
                <a:latin typeface="Arial"/>
                <a:ea typeface="Arial"/>
                <a:cs typeface="Arial"/>
                <a:sym typeface="Arial"/>
              </a:rPr>
              <a:t>xã</a:t>
            </a:r>
            <a:r>
              <a:rPr lang="en-US" sz="3200" b="1">
                <a:latin typeface="Arial"/>
                <a:ea typeface="Arial"/>
                <a:cs typeface="Arial"/>
                <a:sym typeface="Arial"/>
              </a:rPr>
              <a:t> </a:t>
            </a:r>
            <a:r>
              <a:rPr lang="en-US" sz="3200" b="1" err="1">
                <a:latin typeface="Arial"/>
                <a:ea typeface="Arial"/>
                <a:cs typeface="Arial"/>
                <a:sym typeface="Arial"/>
              </a:rPr>
              <a:t>hội</a:t>
            </a:r>
            <a:endParaRPr/>
          </a:p>
          <a:p>
            <a:pPr marL="271463" lvl="0" indent="-271463" algn="l" rtl="0">
              <a:lnSpc>
                <a:spcPct val="150000"/>
              </a:lnSpc>
              <a:spcBef>
                <a:spcPts val="1000"/>
              </a:spcBef>
              <a:spcAft>
                <a:spcPts val="0"/>
              </a:spcAft>
              <a:buClr>
                <a:schemeClr val="dk1"/>
              </a:buClr>
              <a:buSzPts val="2800"/>
              <a:buNone/>
            </a:pPr>
            <a:r>
              <a:rPr lang="en-US">
                <a:latin typeface="Arial"/>
                <a:ea typeface="Arial"/>
                <a:cs typeface="Arial"/>
                <a:sym typeface="Arial"/>
              </a:rPr>
              <a:t>  Theo </a:t>
            </a:r>
            <a:r>
              <a:rPr lang="en-US" err="1">
                <a:latin typeface="Arial"/>
                <a:ea typeface="Arial"/>
                <a:cs typeface="Arial"/>
                <a:sym typeface="Arial"/>
              </a:rPr>
              <a:t>truyền</a:t>
            </a:r>
            <a:r>
              <a:rPr lang="en-US">
                <a:latin typeface="Arial"/>
                <a:ea typeface="Arial"/>
                <a:cs typeface="Arial"/>
                <a:sym typeface="Arial"/>
              </a:rPr>
              <a:t> </a:t>
            </a:r>
            <a:r>
              <a:rPr lang="en-US" err="1">
                <a:latin typeface="Arial"/>
                <a:ea typeface="Arial"/>
                <a:cs typeface="Arial"/>
                <a:sym typeface="Arial"/>
              </a:rPr>
              <a:t>thống</a:t>
            </a:r>
            <a:r>
              <a:rPr lang="en-US">
                <a:latin typeface="Arial"/>
                <a:ea typeface="Arial"/>
                <a:cs typeface="Arial"/>
                <a:sym typeface="Arial"/>
              </a:rPr>
              <a:t>, Marketing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liên</a:t>
            </a:r>
            <a:r>
              <a:rPr lang="en-US">
                <a:latin typeface="Arial"/>
                <a:ea typeface="Arial"/>
                <a:cs typeface="Arial"/>
                <a:sym typeface="Arial"/>
              </a:rPr>
              <a:t> </a:t>
            </a:r>
            <a:r>
              <a:rPr lang="en-US" err="1">
                <a:latin typeface="Arial"/>
                <a:ea typeface="Arial"/>
                <a:cs typeface="Arial"/>
                <a:sym typeface="Arial"/>
              </a:rPr>
              <a:t>quan</a:t>
            </a:r>
            <a:r>
              <a:rPr lang="en-US">
                <a:latin typeface="Arial"/>
                <a:ea typeface="Arial"/>
                <a:cs typeface="Arial"/>
                <a:sym typeface="Arial"/>
              </a:rPr>
              <a:t> </a:t>
            </a:r>
            <a:r>
              <a:rPr lang="en-US" err="1">
                <a:latin typeface="Arial"/>
                <a:ea typeface="Arial"/>
                <a:cs typeface="Arial"/>
                <a:sym typeface="Arial"/>
              </a:rPr>
              <a:t>đến</a:t>
            </a:r>
            <a:r>
              <a:rPr lang="en-US">
                <a:latin typeface="Arial"/>
                <a:ea typeface="Arial"/>
                <a:cs typeface="Arial"/>
                <a:sym typeface="Arial"/>
              </a:rPr>
              <a:t> </a:t>
            </a:r>
            <a:r>
              <a:rPr lang="en-US" err="1">
                <a:latin typeface="Arial"/>
                <a:ea typeface="Arial"/>
                <a:cs typeface="Arial"/>
                <a:sym typeface="Arial"/>
              </a:rPr>
              <a:t>việc</a:t>
            </a:r>
            <a:r>
              <a:rPr lang="en-US">
                <a:latin typeface="Arial"/>
                <a:ea typeface="Arial"/>
                <a:cs typeface="Arial"/>
                <a:sym typeface="Arial"/>
              </a:rPr>
              <a:t> </a:t>
            </a:r>
            <a:r>
              <a:rPr lang="en-US" err="1">
                <a:latin typeface="Arial"/>
                <a:ea typeface="Arial"/>
                <a:cs typeface="Arial"/>
                <a:sym typeface="Arial"/>
              </a:rPr>
              <a:t>sử</a:t>
            </a:r>
            <a:r>
              <a:rPr lang="en-US">
                <a:latin typeface="Arial"/>
                <a:ea typeface="Arial"/>
                <a:cs typeface="Arial"/>
                <a:sym typeface="Arial"/>
              </a:rPr>
              <a:t> </a:t>
            </a:r>
            <a:r>
              <a:rPr lang="en-US" err="1">
                <a:latin typeface="Arial"/>
                <a:ea typeface="Arial"/>
                <a:cs typeface="Arial"/>
                <a:sym typeface="Arial"/>
              </a:rPr>
              <a:t>dụng</a:t>
            </a:r>
            <a:r>
              <a:rPr lang="en-US">
                <a:latin typeface="Arial"/>
                <a:ea typeface="Arial"/>
                <a:cs typeface="Arial"/>
                <a:sym typeface="Arial"/>
              </a:rPr>
              <a:t> </a:t>
            </a:r>
            <a:r>
              <a:rPr lang="en-US" err="1">
                <a:latin typeface="Arial"/>
                <a:ea typeface="Arial"/>
                <a:cs typeface="Arial"/>
                <a:sym typeface="Arial"/>
              </a:rPr>
              <a:t>kiến</a:t>
            </a:r>
            <a:r>
              <a:rPr lang="en-US">
                <a:latin typeface="Arial"/>
                <a:ea typeface="Arial"/>
                <a:cs typeface="Arial"/>
                <a:sym typeface="Arial"/>
              </a:rPr>
              <a:t> ​​</a:t>
            </a:r>
            <a:r>
              <a:rPr lang="en-US" err="1">
                <a:latin typeface="Arial"/>
                <a:ea typeface="Arial"/>
                <a:cs typeface="Arial"/>
                <a:sym typeface="Arial"/>
              </a:rPr>
              <a:t>thức</a:t>
            </a:r>
            <a:r>
              <a:rPr lang="en-US">
                <a:latin typeface="Arial"/>
                <a:ea typeface="Arial"/>
                <a:cs typeface="Arial"/>
                <a:sym typeface="Arial"/>
              </a:rPr>
              <a:t>, </a:t>
            </a:r>
            <a:r>
              <a:rPr lang="en-US" err="1">
                <a:latin typeface="Arial"/>
                <a:ea typeface="Arial"/>
                <a:cs typeface="Arial"/>
                <a:sym typeface="Arial"/>
              </a:rPr>
              <a:t>khái</a:t>
            </a:r>
            <a:r>
              <a:rPr lang="en-US">
                <a:latin typeface="Arial"/>
                <a:ea typeface="Arial"/>
                <a:cs typeface="Arial"/>
                <a:sym typeface="Arial"/>
              </a:rPr>
              <a:t> </a:t>
            </a:r>
            <a:r>
              <a:rPr lang="en-US" err="1">
                <a:latin typeface="Arial"/>
                <a:ea typeface="Arial"/>
                <a:cs typeface="Arial"/>
                <a:sym typeface="Arial"/>
              </a:rPr>
              <a:t>niệm</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kỹ</a:t>
            </a:r>
            <a:r>
              <a:rPr lang="en-US">
                <a:latin typeface="Arial"/>
                <a:ea typeface="Arial"/>
                <a:cs typeface="Arial"/>
                <a:sym typeface="Arial"/>
              </a:rPr>
              <a:t> </a:t>
            </a:r>
            <a:r>
              <a:rPr lang="en-US" err="1">
                <a:latin typeface="Arial"/>
                <a:ea typeface="Arial"/>
                <a:cs typeface="Arial"/>
                <a:sym typeface="Arial"/>
              </a:rPr>
              <a:t>thuật</a:t>
            </a:r>
            <a:r>
              <a:rPr lang="en-US">
                <a:latin typeface="Arial"/>
                <a:ea typeface="Arial"/>
                <a:cs typeface="Arial"/>
                <a:sym typeface="Arial"/>
              </a:rPr>
              <a:t> marketing </a:t>
            </a:r>
            <a:r>
              <a:rPr lang="en-US" err="1">
                <a:latin typeface="Arial"/>
                <a:ea typeface="Arial"/>
                <a:cs typeface="Arial"/>
                <a:sym typeface="Arial"/>
              </a:rPr>
              <a:t>để</a:t>
            </a:r>
            <a:r>
              <a:rPr lang="en-US">
                <a:latin typeface="Arial"/>
                <a:ea typeface="Arial"/>
                <a:cs typeface="Arial"/>
                <a:sym typeface="Arial"/>
              </a:rPr>
              <a:t> </a:t>
            </a:r>
            <a:r>
              <a:rPr lang="en-US" err="1">
                <a:latin typeface="Arial"/>
                <a:ea typeface="Arial"/>
                <a:cs typeface="Arial"/>
                <a:sym typeface="Arial"/>
              </a:rPr>
              <a:t>nâng</a:t>
            </a:r>
            <a:r>
              <a:rPr lang="en-US">
                <a:latin typeface="Arial"/>
                <a:ea typeface="Arial"/>
                <a:cs typeface="Arial"/>
                <a:sym typeface="Arial"/>
              </a:rPr>
              <a:t> </a:t>
            </a:r>
            <a:r>
              <a:rPr lang="en-US" err="1">
                <a:latin typeface="Arial"/>
                <a:ea typeface="Arial"/>
                <a:cs typeface="Arial"/>
                <a:sym typeface="Arial"/>
              </a:rPr>
              <a:t>cao</a:t>
            </a:r>
            <a:r>
              <a:rPr lang="en-US">
                <a:latin typeface="Arial"/>
                <a:ea typeface="Arial"/>
                <a:cs typeface="Arial"/>
                <a:sym typeface="Arial"/>
              </a:rPr>
              <a:t> </a:t>
            </a:r>
            <a:r>
              <a:rPr lang="en-US" err="1">
                <a:latin typeface="Arial"/>
                <a:ea typeface="Arial"/>
                <a:cs typeface="Arial"/>
                <a:sym typeface="Arial"/>
              </a:rPr>
              <a:t>kiến</a:t>
            </a:r>
            <a:r>
              <a:rPr lang="en-US">
                <a:latin typeface="Arial"/>
                <a:ea typeface="Arial"/>
                <a:cs typeface="Arial"/>
                <a:sym typeface="Arial"/>
              </a:rPr>
              <a:t> </a:t>
            </a:r>
            <a:r>
              <a:rPr lang="en-US" err="1">
                <a:latin typeface="Arial"/>
                <a:ea typeface="Arial"/>
                <a:cs typeface="Arial"/>
                <a:sym typeface="Arial"/>
              </a:rPr>
              <a:t>thức</a:t>
            </a:r>
            <a:r>
              <a:rPr lang="en-US">
                <a:latin typeface="Arial"/>
                <a:ea typeface="Arial"/>
                <a:cs typeface="Arial"/>
                <a:sym typeface="Arial"/>
              </a:rPr>
              <a:t>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cũng</a:t>
            </a:r>
            <a:r>
              <a:rPr lang="en-US">
                <a:latin typeface="Arial"/>
                <a:ea typeface="Arial"/>
                <a:cs typeface="Arial"/>
                <a:sym typeface="Arial"/>
              </a:rPr>
              <a:t> </a:t>
            </a:r>
            <a:r>
              <a:rPr lang="en-US" err="1">
                <a:latin typeface="Arial"/>
                <a:ea typeface="Arial"/>
                <a:cs typeface="Arial"/>
                <a:sym typeface="Arial"/>
              </a:rPr>
              <a:t>như</a:t>
            </a:r>
            <a:r>
              <a:rPr lang="en-US">
                <a:latin typeface="Arial"/>
                <a:ea typeface="Arial"/>
                <a:cs typeface="Arial"/>
                <a:sym typeface="Arial"/>
              </a:rPr>
              <a:t> </a:t>
            </a:r>
            <a:r>
              <a:rPr lang="en-US" err="1">
                <a:latin typeface="Arial"/>
                <a:ea typeface="Arial"/>
                <a:cs typeface="Arial"/>
                <a:sym typeface="Arial"/>
              </a:rPr>
              <a:t>nắm</a:t>
            </a:r>
            <a:r>
              <a:rPr lang="en-US">
                <a:latin typeface="Arial"/>
                <a:ea typeface="Arial"/>
                <a:cs typeface="Arial"/>
                <a:sym typeface="Arial"/>
              </a:rPr>
              <a:t> </a:t>
            </a:r>
            <a:r>
              <a:rPr lang="en-US" err="1">
                <a:latin typeface="Arial"/>
                <a:ea typeface="Arial"/>
                <a:cs typeface="Arial"/>
                <a:sym typeface="Arial"/>
              </a:rPr>
              <a:t>bắt</a:t>
            </a:r>
            <a:r>
              <a:rPr lang="en-US">
                <a:latin typeface="Arial"/>
                <a:ea typeface="Arial"/>
                <a:cs typeface="Arial"/>
                <a:sym typeface="Arial"/>
              </a:rPr>
              <a:t> </a:t>
            </a:r>
            <a:r>
              <a:rPr lang="en-US" err="1">
                <a:latin typeface="Arial"/>
                <a:ea typeface="Arial"/>
                <a:cs typeface="Arial"/>
                <a:sym typeface="Arial"/>
              </a:rPr>
              <a:t>được</a:t>
            </a:r>
            <a:r>
              <a:rPr lang="en-US">
                <a:latin typeface="Arial"/>
                <a:ea typeface="Arial"/>
                <a:cs typeface="Arial"/>
                <a:sym typeface="Arial"/>
              </a:rPr>
              <a:t> </a:t>
            </a:r>
            <a:r>
              <a:rPr lang="en-US" err="1">
                <a:latin typeface="Arial"/>
                <a:ea typeface="Arial"/>
                <a:cs typeface="Arial"/>
                <a:sym typeface="Arial"/>
              </a:rPr>
              <a:t>hậu</a:t>
            </a:r>
            <a:r>
              <a:rPr lang="en-US">
                <a:latin typeface="Arial"/>
                <a:ea typeface="Arial"/>
                <a:cs typeface="Arial"/>
                <a:sym typeface="Arial"/>
              </a:rPr>
              <a:t> </a:t>
            </a:r>
            <a:r>
              <a:rPr lang="en-US" err="1">
                <a:latin typeface="Arial"/>
                <a:ea typeface="Arial"/>
                <a:cs typeface="Arial"/>
                <a:sym typeface="Arial"/>
              </a:rPr>
              <a:t>quả</a:t>
            </a:r>
            <a:r>
              <a:rPr lang="en-US">
                <a:latin typeface="Arial"/>
                <a:ea typeface="Arial"/>
                <a:cs typeface="Arial"/>
                <a:sym typeface="Arial"/>
              </a:rPr>
              <a:t>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chiến</a:t>
            </a:r>
            <a:r>
              <a:rPr lang="en-US">
                <a:latin typeface="Arial"/>
                <a:ea typeface="Arial"/>
                <a:cs typeface="Arial"/>
                <a:sym typeface="Arial"/>
              </a:rPr>
              <a:t> </a:t>
            </a:r>
            <a:r>
              <a:rPr lang="en-US" err="1">
                <a:latin typeface="Arial"/>
                <a:ea typeface="Arial"/>
                <a:cs typeface="Arial"/>
                <a:sym typeface="Arial"/>
              </a:rPr>
              <a:t>lược</a:t>
            </a:r>
            <a:r>
              <a:rPr lang="en-US">
                <a:latin typeface="Arial"/>
                <a:ea typeface="Arial"/>
                <a:cs typeface="Arial"/>
                <a:sym typeface="Arial"/>
              </a:rPr>
              <a:t>, </a:t>
            </a:r>
            <a:r>
              <a:rPr lang="en-US" err="1">
                <a:latin typeface="Arial"/>
                <a:ea typeface="Arial"/>
                <a:cs typeface="Arial"/>
                <a:sym typeface="Arial"/>
              </a:rPr>
              <a:t>quyết</a:t>
            </a:r>
            <a:r>
              <a:rPr lang="en-US">
                <a:latin typeface="Arial"/>
                <a:ea typeface="Arial"/>
                <a:cs typeface="Arial"/>
                <a:sym typeface="Arial"/>
              </a:rPr>
              <a:t> </a:t>
            </a:r>
            <a:r>
              <a:rPr lang="en-US" err="1">
                <a:latin typeface="Arial"/>
                <a:ea typeface="Arial"/>
                <a:cs typeface="Arial"/>
                <a:sym typeface="Arial"/>
              </a:rPr>
              <a:t>định</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hành</a:t>
            </a:r>
            <a:r>
              <a:rPr lang="en-US">
                <a:latin typeface="Arial"/>
                <a:ea typeface="Arial"/>
                <a:cs typeface="Arial"/>
                <a:sym typeface="Arial"/>
              </a:rPr>
              <a:t> </a:t>
            </a:r>
            <a:r>
              <a:rPr lang="en-US" err="1">
                <a:latin typeface="Arial"/>
                <a:ea typeface="Arial"/>
                <a:cs typeface="Arial"/>
                <a:sym typeface="Arial"/>
              </a:rPr>
              <a:t>động</a:t>
            </a:r>
            <a:r>
              <a:rPr lang="en-US">
                <a:latin typeface="Arial"/>
                <a:ea typeface="Arial"/>
                <a:cs typeface="Arial"/>
                <a:sym typeface="Arial"/>
              </a:rPr>
              <a:t>.</a:t>
            </a:r>
            <a:endParaRPr/>
          </a:p>
          <a:p>
            <a:pPr marL="457200" lvl="0" indent="-457200" algn="l" rtl="0">
              <a:lnSpc>
                <a:spcPct val="150000"/>
              </a:lnSpc>
              <a:spcBef>
                <a:spcPts val="1000"/>
              </a:spcBef>
              <a:spcAft>
                <a:spcPts val="0"/>
              </a:spcAft>
              <a:buClr>
                <a:schemeClr val="dk1"/>
              </a:buClr>
              <a:buSzPts val="2800"/>
              <a:buFont typeface="Arial"/>
              <a:buChar char="•"/>
            </a:pPr>
            <a:r>
              <a:rPr lang="en-US" err="1">
                <a:latin typeface="Arial"/>
                <a:ea typeface="Arial"/>
                <a:cs typeface="Arial"/>
                <a:sym typeface="Arial"/>
              </a:rPr>
              <a:t>Các</a:t>
            </a:r>
            <a:r>
              <a:rPr lang="en-US">
                <a:latin typeface="Arial"/>
                <a:ea typeface="Arial"/>
                <a:cs typeface="Arial"/>
                <a:sym typeface="Arial"/>
              </a:rPr>
              <a:t> DN </a:t>
            </a:r>
            <a:r>
              <a:rPr lang="en-US" err="1">
                <a:latin typeface="Arial"/>
                <a:ea typeface="Arial"/>
                <a:cs typeface="Arial"/>
                <a:sym typeface="Arial"/>
              </a:rPr>
              <a:t>đi</a:t>
            </a:r>
            <a:r>
              <a:rPr lang="en-US">
                <a:latin typeface="Arial"/>
                <a:ea typeface="Arial"/>
                <a:cs typeface="Arial"/>
                <a:sym typeface="Arial"/>
              </a:rPr>
              <a:t> </a:t>
            </a:r>
            <a:r>
              <a:rPr lang="en-US" err="1">
                <a:latin typeface="Arial"/>
                <a:ea typeface="Arial"/>
                <a:cs typeface="Arial"/>
                <a:sym typeface="Arial"/>
              </a:rPr>
              <a:t>theo</a:t>
            </a:r>
            <a:r>
              <a:rPr lang="en-US">
                <a:latin typeface="Arial"/>
                <a:ea typeface="Arial"/>
                <a:cs typeface="Arial"/>
                <a:sym typeface="Arial"/>
              </a:rPr>
              <a:t> </a:t>
            </a:r>
            <a:r>
              <a:rPr lang="en-US" err="1">
                <a:latin typeface="Arial"/>
                <a:ea typeface="Arial"/>
                <a:cs typeface="Arial"/>
                <a:sym typeface="Arial"/>
              </a:rPr>
              <a:t>hướng</a:t>
            </a:r>
            <a:r>
              <a:rPr lang="en-US">
                <a:latin typeface="Arial"/>
                <a:ea typeface="Arial"/>
                <a:cs typeface="Arial"/>
                <a:sym typeface="Arial"/>
              </a:rPr>
              <a:t> marketing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sẽ</a:t>
            </a:r>
            <a:r>
              <a:rPr lang="en-US">
                <a:latin typeface="Arial"/>
                <a:ea typeface="Arial"/>
                <a:cs typeface="Arial"/>
                <a:sym typeface="Arial"/>
              </a:rPr>
              <a:t> </a:t>
            </a:r>
            <a:r>
              <a:rPr lang="en-US" err="1">
                <a:latin typeface="Arial"/>
                <a:ea typeface="Arial"/>
                <a:cs typeface="Arial"/>
                <a:sym typeface="Arial"/>
              </a:rPr>
              <a:t>nhận</a:t>
            </a:r>
            <a:r>
              <a:rPr lang="en-US">
                <a:latin typeface="Arial"/>
                <a:ea typeface="Arial"/>
                <a:cs typeface="Arial"/>
                <a:sym typeface="Arial"/>
              </a:rPr>
              <a:t> </a:t>
            </a:r>
            <a:r>
              <a:rPr lang="en-US" err="1">
                <a:latin typeface="Arial"/>
                <a:ea typeface="Arial"/>
                <a:cs typeface="Arial"/>
                <a:sym typeface="Arial"/>
              </a:rPr>
              <a:t>được</a:t>
            </a:r>
            <a:r>
              <a:rPr lang="en-US">
                <a:latin typeface="Arial"/>
                <a:ea typeface="Arial"/>
                <a:cs typeface="Arial"/>
                <a:sym typeface="Arial"/>
              </a:rPr>
              <a:t> </a:t>
            </a:r>
            <a:r>
              <a:rPr lang="en-US" err="1">
                <a:latin typeface="Arial"/>
                <a:ea typeface="Arial"/>
                <a:cs typeface="Arial"/>
                <a:sym typeface="Arial"/>
              </a:rPr>
              <a:t>sự</a:t>
            </a:r>
            <a:r>
              <a:rPr lang="en-US">
                <a:latin typeface="Arial"/>
                <a:ea typeface="Arial"/>
                <a:cs typeface="Arial"/>
                <a:sym typeface="Arial"/>
              </a:rPr>
              <a:t> </a:t>
            </a:r>
            <a:r>
              <a:rPr lang="en-US" err="1">
                <a:latin typeface="Arial"/>
                <a:ea typeface="Arial"/>
                <a:cs typeface="Arial"/>
                <a:sym typeface="Arial"/>
              </a:rPr>
              <a:t>ủng</a:t>
            </a:r>
            <a:r>
              <a:rPr lang="en-US">
                <a:latin typeface="Arial"/>
                <a:ea typeface="Arial"/>
                <a:cs typeface="Arial"/>
                <a:sym typeface="Arial"/>
              </a:rPr>
              <a:t> </a:t>
            </a:r>
            <a:r>
              <a:rPr lang="en-US" err="1">
                <a:latin typeface="Arial"/>
                <a:ea typeface="Arial"/>
                <a:cs typeface="Arial"/>
                <a:sym typeface="Arial"/>
              </a:rPr>
              <a:t>hộ</a:t>
            </a:r>
            <a:r>
              <a:rPr lang="en-US">
                <a:latin typeface="Arial"/>
                <a:ea typeface="Arial"/>
                <a:cs typeface="Arial"/>
                <a:sym typeface="Arial"/>
              </a:rPr>
              <a:t> </a:t>
            </a:r>
            <a:r>
              <a:rPr lang="en-US" err="1">
                <a:latin typeface="Arial"/>
                <a:ea typeface="Arial"/>
                <a:cs typeface="Arial"/>
                <a:sym typeface="Arial"/>
              </a:rPr>
              <a:t>tích</a:t>
            </a:r>
            <a:r>
              <a:rPr lang="en-US">
                <a:latin typeface="Arial"/>
                <a:ea typeface="Arial"/>
                <a:cs typeface="Arial"/>
                <a:sym typeface="Arial"/>
              </a:rPr>
              <a:t> </a:t>
            </a:r>
            <a:r>
              <a:rPr lang="en-US" err="1">
                <a:latin typeface="Arial"/>
                <a:ea typeface="Arial"/>
                <a:cs typeface="Arial"/>
                <a:sym typeface="Arial"/>
              </a:rPr>
              <a:t>cực</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KH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đem</a:t>
            </a:r>
            <a:r>
              <a:rPr lang="en-US">
                <a:latin typeface="Arial"/>
                <a:ea typeface="Arial"/>
                <a:cs typeface="Arial"/>
                <a:sym typeface="Arial"/>
              </a:rPr>
              <a:t> </a:t>
            </a:r>
            <a:r>
              <a:rPr lang="en-US" err="1">
                <a:latin typeface="Arial"/>
                <a:ea typeface="Arial"/>
                <a:cs typeface="Arial"/>
                <a:sym typeface="Arial"/>
              </a:rPr>
              <a:t>lại</a:t>
            </a:r>
            <a:r>
              <a:rPr lang="en-US">
                <a:latin typeface="Arial"/>
                <a:ea typeface="Arial"/>
                <a:cs typeface="Arial"/>
                <a:sym typeface="Arial"/>
              </a:rPr>
              <a:t> </a:t>
            </a:r>
            <a:r>
              <a:rPr lang="en-US" err="1">
                <a:latin typeface="Arial"/>
                <a:ea typeface="Arial"/>
                <a:cs typeface="Arial"/>
                <a:sym typeface="Arial"/>
              </a:rPr>
              <a:t>hiệu</a:t>
            </a:r>
            <a:r>
              <a:rPr lang="en-US">
                <a:latin typeface="Arial"/>
                <a:ea typeface="Arial"/>
                <a:cs typeface="Arial"/>
                <a:sym typeface="Arial"/>
              </a:rPr>
              <a:t> </a:t>
            </a:r>
            <a:r>
              <a:rPr lang="en-US" err="1">
                <a:latin typeface="Arial"/>
                <a:ea typeface="Arial"/>
                <a:cs typeface="Arial"/>
                <a:sym typeface="Arial"/>
              </a:rPr>
              <a:t>quả</a:t>
            </a:r>
            <a:r>
              <a:rPr lang="en-US">
                <a:latin typeface="Arial"/>
                <a:ea typeface="Arial"/>
                <a:cs typeface="Arial"/>
                <a:sym typeface="Arial"/>
              </a:rPr>
              <a:t> </a:t>
            </a:r>
            <a:r>
              <a:rPr lang="en-US" err="1">
                <a:latin typeface="Arial"/>
                <a:ea typeface="Arial"/>
                <a:cs typeface="Arial"/>
                <a:sym typeface="Arial"/>
              </a:rPr>
              <a:t>cao</a:t>
            </a:r>
            <a:r>
              <a:rPr lang="en-US">
                <a:latin typeface="Arial"/>
                <a:ea typeface="Arial"/>
                <a:cs typeface="Arial"/>
                <a:sym typeface="Arial"/>
              </a:rPr>
              <a:t> </a:t>
            </a:r>
            <a:r>
              <a:rPr lang="en-US" err="1">
                <a:latin typeface="Arial"/>
                <a:ea typeface="Arial"/>
                <a:cs typeface="Arial"/>
                <a:sym typeface="Arial"/>
              </a:rPr>
              <a:t>hơn</a:t>
            </a:r>
            <a:r>
              <a:rPr lang="en-US">
                <a:latin typeface="Arial"/>
                <a:ea typeface="Arial"/>
                <a:cs typeface="Arial"/>
                <a:sym typeface="Arial"/>
              </a:rPr>
              <a:t>. </a:t>
            </a:r>
            <a:endParaRPr/>
          </a:p>
          <a:p>
            <a:pPr marL="457200" lvl="0" indent="-457200" algn="l" rtl="0">
              <a:lnSpc>
                <a:spcPct val="150000"/>
              </a:lnSpc>
              <a:spcBef>
                <a:spcPts val="1000"/>
              </a:spcBef>
              <a:spcAft>
                <a:spcPts val="0"/>
              </a:spcAft>
              <a:buClr>
                <a:schemeClr val="dk1"/>
              </a:buClr>
              <a:buSzPts val="2800"/>
              <a:buFont typeface="Arial"/>
              <a:buChar char="•"/>
            </a:pPr>
            <a:r>
              <a:rPr lang="en-US" err="1">
                <a:latin typeface="Arial"/>
                <a:ea typeface="Arial"/>
                <a:cs typeface="Arial"/>
                <a:sym typeface="Arial"/>
              </a:rPr>
              <a:t>Nghiên</a:t>
            </a:r>
            <a:r>
              <a:rPr lang="en-US">
                <a:latin typeface="Arial"/>
                <a:ea typeface="Arial"/>
                <a:cs typeface="Arial"/>
                <a:sym typeface="Arial"/>
              </a:rPr>
              <a:t> </a:t>
            </a:r>
            <a:r>
              <a:rPr lang="en-US" err="1">
                <a:latin typeface="Arial"/>
                <a:ea typeface="Arial"/>
                <a:cs typeface="Arial"/>
                <a:sym typeface="Arial"/>
              </a:rPr>
              <a:t>cứu</a:t>
            </a:r>
            <a:r>
              <a:rPr lang="en-US">
                <a:latin typeface="Arial"/>
                <a:ea typeface="Arial"/>
                <a:cs typeface="Arial"/>
                <a:sym typeface="Arial"/>
              </a:rPr>
              <a:t> </a:t>
            </a:r>
            <a:r>
              <a:rPr lang="en-US" err="1">
                <a:latin typeface="Arial"/>
                <a:ea typeface="Arial"/>
                <a:cs typeface="Arial"/>
                <a:sym typeface="Arial"/>
              </a:rPr>
              <a:t>hành</a:t>
            </a:r>
            <a:r>
              <a:rPr lang="en-US">
                <a:latin typeface="Arial"/>
                <a:ea typeface="Arial"/>
                <a:cs typeface="Arial"/>
                <a:sym typeface="Arial"/>
              </a:rPr>
              <a:t> vi KH </a:t>
            </a:r>
            <a:r>
              <a:rPr lang="en-US" err="1">
                <a:latin typeface="Arial"/>
                <a:ea typeface="Arial"/>
                <a:cs typeface="Arial"/>
                <a:sym typeface="Arial"/>
              </a:rPr>
              <a:t>giúp</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marketer </a:t>
            </a:r>
            <a:r>
              <a:rPr lang="en-US" err="1">
                <a:latin typeface="Arial"/>
                <a:ea typeface="Arial"/>
                <a:cs typeface="Arial"/>
                <a:sym typeface="Arial"/>
              </a:rPr>
              <a:t>hoạch</a:t>
            </a:r>
            <a:r>
              <a:rPr lang="en-US">
                <a:latin typeface="Arial"/>
                <a:ea typeface="Arial"/>
                <a:cs typeface="Arial"/>
                <a:sym typeface="Arial"/>
              </a:rPr>
              <a:t> </a:t>
            </a:r>
            <a:r>
              <a:rPr lang="en-US" err="1">
                <a:latin typeface="Arial"/>
                <a:ea typeface="Arial"/>
                <a:cs typeface="Arial"/>
                <a:sym typeface="Arial"/>
              </a:rPr>
              <a:t>định</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triển</a:t>
            </a:r>
            <a:r>
              <a:rPr lang="en-US">
                <a:latin typeface="Arial"/>
                <a:ea typeface="Arial"/>
                <a:cs typeface="Arial"/>
                <a:sym typeface="Arial"/>
              </a:rPr>
              <a:t> </a:t>
            </a:r>
            <a:r>
              <a:rPr lang="en-US" err="1">
                <a:latin typeface="Arial"/>
                <a:ea typeface="Arial"/>
                <a:cs typeface="Arial"/>
                <a:sym typeface="Arial"/>
              </a:rPr>
              <a:t>khai</a:t>
            </a:r>
            <a:r>
              <a:rPr lang="en-US">
                <a:latin typeface="Arial"/>
                <a:ea typeface="Arial"/>
                <a:cs typeface="Arial"/>
                <a:sym typeface="Arial"/>
              </a:rPr>
              <a:t> </a:t>
            </a:r>
            <a:r>
              <a:rPr lang="en-US" err="1">
                <a:latin typeface="Arial"/>
                <a:ea typeface="Arial"/>
                <a:cs typeface="Arial"/>
                <a:sym typeface="Arial"/>
              </a:rPr>
              <a:t>thực</a:t>
            </a:r>
            <a:r>
              <a:rPr lang="en-US">
                <a:latin typeface="Arial"/>
                <a:ea typeface="Arial"/>
                <a:cs typeface="Arial"/>
                <a:sym typeface="Arial"/>
              </a:rPr>
              <a:t> </a:t>
            </a:r>
            <a:r>
              <a:rPr lang="en-US" err="1">
                <a:latin typeface="Arial"/>
                <a:ea typeface="Arial"/>
                <a:cs typeface="Arial"/>
                <a:sym typeface="Arial"/>
              </a:rPr>
              <a:t>hiện</a:t>
            </a:r>
            <a:r>
              <a:rPr lang="en-US">
                <a:latin typeface="Arial"/>
                <a:ea typeface="Arial"/>
                <a:cs typeface="Arial"/>
                <a:sym typeface="Arial"/>
              </a:rPr>
              <a:t> Marketing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hiệu</a:t>
            </a:r>
            <a:r>
              <a:rPr lang="en-US">
                <a:latin typeface="Arial"/>
                <a:ea typeface="Arial"/>
                <a:cs typeface="Arial"/>
                <a:sym typeface="Arial"/>
              </a:rPr>
              <a:t> </a:t>
            </a:r>
            <a:r>
              <a:rPr lang="en-US" err="1">
                <a:latin typeface="Arial"/>
                <a:ea typeface="Arial"/>
                <a:cs typeface="Arial"/>
                <a:sym typeface="Arial"/>
              </a:rPr>
              <a:t>quả</a:t>
            </a:r>
            <a:r>
              <a:rPr lang="en-US">
                <a:latin typeface="Arial"/>
                <a:ea typeface="Arial"/>
                <a:cs typeface="Arial"/>
                <a:sym typeface="Arial"/>
              </a:rPr>
              <a:t>.</a:t>
            </a:r>
            <a:endParaRPr>
              <a:latin typeface="Arial"/>
              <a:ea typeface="Arial"/>
              <a:cs typeface="Arial"/>
              <a:sym typeface="Arial"/>
            </a:endParaRPr>
          </a:p>
          <a:p>
            <a:pPr marL="271463" lvl="0" indent="-271463" algn="l" rtl="0">
              <a:lnSpc>
                <a:spcPct val="150000"/>
              </a:lnSpc>
              <a:spcBef>
                <a:spcPts val="1000"/>
              </a:spcBef>
              <a:spcAft>
                <a:spcPts val="0"/>
              </a:spcAft>
              <a:buClr>
                <a:schemeClr val="dk1"/>
              </a:buClr>
              <a:buSzPts val="2800"/>
              <a:buNone/>
            </a:pPr>
            <a:endParaRPr>
              <a:latin typeface="Arial"/>
              <a:ea typeface="Arial"/>
              <a:cs typeface="Arial"/>
              <a:sym typeface="Arial"/>
            </a:endParaRPr>
          </a:p>
          <a:p>
            <a:pPr marL="0" lvl="0" indent="0" algn="l" rtl="0">
              <a:lnSpc>
                <a:spcPct val="90000"/>
              </a:lnSpc>
              <a:spcBef>
                <a:spcPts val="1000"/>
              </a:spcBef>
              <a:spcAft>
                <a:spcPts val="0"/>
              </a:spcAft>
              <a:buClr>
                <a:schemeClr val="dk1"/>
              </a:buClr>
              <a:buSzPts val="2800"/>
              <a:buNone/>
            </a:pPr>
            <a:endParaRPr>
              <a:latin typeface="Arial"/>
              <a:ea typeface="Arial"/>
              <a:cs typeface="Arial"/>
              <a:sym typeface="Arial"/>
            </a:endParaRPr>
          </a:p>
        </p:txBody>
      </p:sp>
      <p:pic>
        <p:nvPicPr>
          <p:cNvPr id="279" name="Google Shape;279;p33" descr="Marketing xã hội - Xu hướng mới của thời đại"/>
          <p:cNvPicPr preferRelativeResize="0"/>
          <p:nvPr/>
        </p:nvPicPr>
        <p:blipFill rotWithShape="1">
          <a:blip r:embed="rId3">
            <a:alphaModFix/>
          </a:blip>
          <a:srcRect/>
          <a:stretch/>
        </p:blipFill>
        <p:spPr>
          <a:xfrm>
            <a:off x="9912345" y="5857914"/>
            <a:ext cx="1976782" cy="97015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4"/>
          <p:cNvSpPr txBox="1">
            <a:spLocks noGrp="1"/>
          </p:cNvSpPr>
          <p:nvPr>
            <p:ph type="body" idx="1"/>
          </p:nvPr>
        </p:nvSpPr>
        <p:spPr>
          <a:xfrm>
            <a:off x="662940" y="545433"/>
            <a:ext cx="10690860" cy="631256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r>
              <a:rPr lang="en-US" sz="3200" b="1">
                <a:latin typeface="Arial"/>
                <a:ea typeface="Arial"/>
                <a:cs typeface="Arial"/>
                <a:sym typeface="Arial"/>
              </a:rPr>
              <a:t>1.5.3. </a:t>
            </a:r>
            <a:r>
              <a:rPr lang="en-US" sz="3200" b="1" err="1">
                <a:latin typeface="Arial"/>
                <a:ea typeface="Arial"/>
                <a:cs typeface="Arial"/>
                <a:sym typeface="Arial"/>
              </a:rPr>
              <a:t>Trở</a:t>
            </a:r>
            <a:r>
              <a:rPr lang="en-US" sz="3200" b="1">
                <a:latin typeface="Arial"/>
                <a:ea typeface="Arial"/>
                <a:cs typeface="Arial"/>
                <a:sym typeface="Arial"/>
              </a:rPr>
              <a:t> </a:t>
            </a:r>
            <a:r>
              <a:rPr lang="en-US" sz="3200" b="1" err="1">
                <a:latin typeface="Arial"/>
                <a:ea typeface="Arial"/>
                <a:cs typeface="Arial"/>
                <a:sym typeface="Arial"/>
              </a:rPr>
              <a:t>thành</a:t>
            </a:r>
            <a:r>
              <a:rPr lang="en-US" sz="3200" b="1">
                <a:latin typeface="Arial"/>
                <a:ea typeface="Arial"/>
                <a:cs typeface="Arial"/>
                <a:sym typeface="Arial"/>
              </a:rPr>
              <a:t> </a:t>
            </a:r>
            <a:r>
              <a:rPr lang="en-US" sz="3200" b="1" err="1">
                <a:latin typeface="Arial"/>
                <a:ea typeface="Arial"/>
                <a:cs typeface="Arial"/>
                <a:sym typeface="Arial"/>
              </a:rPr>
              <a:t>khách</a:t>
            </a:r>
            <a:r>
              <a:rPr lang="en-US" sz="3200" b="1">
                <a:latin typeface="Arial"/>
                <a:ea typeface="Arial"/>
                <a:cs typeface="Arial"/>
                <a:sym typeface="Arial"/>
              </a:rPr>
              <a:t> </a:t>
            </a:r>
            <a:r>
              <a:rPr lang="en-US" sz="3200" b="1" err="1">
                <a:latin typeface="Arial"/>
                <a:ea typeface="Arial"/>
                <a:cs typeface="Arial"/>
                <a:sym typeface="Arial"/>
              </a:rPr>
              <a:t>hàng</a:t>
            </a:r>
            <a:r>
              <a:rPr lang="en-US" sz="3200" b="1">
                <a:latin typeface="Arial"/>
                <a:ea typeface="Arial"/>
                <a:cs typeface="Arial"/>
                <a:sym typeface="Arial"/>
              </a:rPr>
              <a:t> </a:t>
            </a:r>
            <a:r>
              <a:rPr lang="en-US" sz="3200" b="1" err="1">
                <a:latin typeface="Arial"/>
                <a:ea typeface="Arial"/>
                <a:cs typeface="Arial"/>
                <a:sym typeface="Arial"/>
              </a:rPr>
              <a:t>thông</a:t>
            </a:r>
            <a:r>
              <a:rPr lang="en-US" sz="3200" b="1">
                <a:latin typeface="Arial"/>
                <a:ea typeface="Arial"/>
                <a:cs typeface="Arial"/>
                <a:sym typeface="Arial"/>
              </a:rPr>
              <a:t> </a:t>
            </a:r>
            <a:r>
              <a:rPr lang="en-US" sz="3200" b="1" err="1">
                <a:latin typeface="Arial"/>
                <a:ea typeface="Arial"/>
                <a:cs typeface="Arial"/>
                <a:sym typeface="Arial"/>
              </a:rPr>
              <a:t>thái</a:t>
            </a:r>
            <a:endParaRPr/>
          </a:p>
          <a:p>
            <a:pPr marL="592137" lvl="0" indent="-457200" algn="l" rtl="0">
              <a:lnSpc>
                <a:spcPct val="150000"/>
              </a:lnSpc>
              <a:spcBef>
                <a:spcPts val="1000"/>
              </a:spcBef>
              <a:spcAft>
                <a:spcPts val="0"/>
              </a:spcAft>
              <a:buClr>
                <a:schemeClr val="dk1"/>
              </a:buClr>
              <a:buSzPts val="2800"/>
              <a:buFont typeface="Arial"/>
              <a:buChar char="•"/>
            </a:pPr>
            <a:r>
              <a:rPr lang="en-US" err="1">
                <a:latin typeface="Arial"/>
                <a:ea typeface="Arial"/>
                <a:cs typeface="Arial"/>
                <a:sym typeface="Arial"/>
              </a:rPr>
              <a:t>Lợi</a:t>
            </a:r>
            <a:r>
              <a:rPr lang="en-US">
                <a:latin typeface="Arial"/>
                <a:ea typeface="Arial"/>
                <a:cs typeface="Arial"/>
                <a:sym typeface="Arial"/>
              </a:rPr>
              <a:t> </a:t>
            </a:r>
            <a:r>
              <a:rPr lang="en-US" err="1">
                <a:latin typeface="Arial"/>
                <a:ea typeface="Arial"/>
                <a:cs typeface="Arial"/>
                <a:sym typeface="Arial"/>
              </a:rPr>
              <a:t>ích</a:t>
            </a:r>
            <a:r>
              <a:rPr lang="en-US">
                <a:latin typeface="Arial"/>
                <a:ea typeface="Arial"/>
                <a:cs typeface="Arial"/>
                <a:sym typeface="Arial"/>
              </a:rPr>
              <a:t> </a:t>
            </a:r>
            <a:r>
              <a:rPr lang="en-US" err="1">
                <a:latin typeface="Arial"/>
                <a:ea typeface="Arial"/>
                <a:cs typeface="Arial"/>
                <a:sym typeface="Arial"/>
              </a:rPr>
              <a:t>cuối</a:t>
            </a:r>
            <a:r>
              <a:rPr lang="en-US">
                <a:latin typeface="Arial"/>
                <a:ea typeface="Arial"/>
                <a:cs typeface="Arial"/>
                <a:sym typeface="Arial"/>
              </a:rPr>
              <a:t> </a:t>
            </a:r>
            <a:r>
              <a:rPr lang="en-US" err="1">
                <a:latin typeface="Arial"/>
                <a:ea typeface="Arial"/>
                <a:cs typeface="Arial"/>
                <a:sym typeface="Arial"/>
              </a:rPr>
              <a:t>cùng</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nghiên</a:t>
            </a:r>
            <a:r>
              <a:rPr lang="en-US">
                <a:latin typeface="Arial"/>
                <a:ea typeface="Arial"/>
                <a:cs typeface="Arial"/>
                <a:sym typeface="Arial"/>
              </a:rPr>
              <a:t> </a:t>
            </a:r>
            <a:r>
              <a:rPr lang="en-US" err="1">
                <a:latin typeface="Arial"/>
                <a:ea typeface="Arial"/>
                <a:cs typeface="Arial"/>
                <a:sym typeface="Arial"/>
              </a:rPr>
              <a:t>cứu</a:t>
            </a:r>
            <a:r>
              <a:rPr lang="en-US">
                <a:latin typeface="Arial"/>
                <a:ea typeface="Arial"/>
                <a:cs typeface="Arial"/>
                <a:sym typeface="Arial"/>
              </a:rPr>
              <a:t> </a:t>
            </a:r>
            <a:r>
              <a:rPr lang="en-US" err="1">
                <a:latin typeface="Arial"/>
                <a:ea typeface="Arial"/>
                <a:cs typeface="Arial"/>
                <a:sym typeface="Arial"/>
              </a:rPr>
              <a:t>hành</a:t>
            </a:r>
            <a:r>
              <a:rPr lang="en-US">
                <a:latin typeface="Arial"/>
                <a:ea typeface="Arial"/>
                <a:cs typeface="Arial"/>
                <a:sym typeface="Arial"/>
              </a:rPr>
              <a:t> vi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khách</a:t>
            </a:r>
            <a:r>
              <a:rPr lang="en-US">
                <a:latin typeface="Arial"/>
                <a:ea typeface="Arial"/>
                <a:cs typeface="Arial"/>
                <a:sym typeface="Arial"/>
              </a:rPr>
              <a:t> </a:t>
            </a:r>
            <a:r>
              <a:rPr lang="en-US" err="1">
                <a:latin typeface="Arial"/>
                <a:ea typeface="Arial"/>
                <a:cs typeface="Arial"/>
                <a:sym typeface="Arial"/>
              </a:rPr>
              <a:t>hàng</a:t>
            </a:r>
            <a:r>
              <a:rPr lang="en-US">
                <a:latin typeface="Arial"/>
                <a:ea typeface="Arial"/>
                <a:cs typeface="Arial"/>
                <a:sym typeface="Arial"/>
              </a:rPr>
              <a:t>: </a:t>
            </a:r>
            <a:r>
              <a:rPr lang="en-US" err="1">
                <a:latin typeface="Arial"/>
                <a:ea typeface="Arial"/>
                <a:cs typeface="Arial"/>
                <a:sym typeface="Arial"/>
              </a:rPr>
              <a:t>chúng</a:t>
            </a:r>
            <a:r>
              <a:rPr lang="en-US">
                <a:latin typeface="Arial"/>
                <a:ea typeface="Arial"/>
                <a:cs typeface="Arial"/>
                <a:sym typeface="Arial"/>
              </a:rPr>
              <a:t> ta </a:t>
            </a:r>
            <a:r>
              <a:rPr lang="en-US" err="1">
                <a:latin typeface="Arial"/>
                <a:ea typeface="Arial"/>
                <a:cs typeface="Arial"/>
                <a:sym typeface="Arial"/>
              </a:rPr>
              <a:t>trở</a:t>
            </a:r>
            <a:r>
              <a:rPr lang="en-US">
                <a:latin typeface="Arial"/>
                <a:ea typeface="Arial"/>
                <a:cs typeface="Arial"/>
                <a:sym typeface="Arial"/>
              </a:rPr>
              <a:t> </a:t>
            </a:r>
            <a:r>
              <a:rPr lang="en-US" err="1">
                <a:latin typeface="Arial"/>
                <a:ea typeface="Arial"/>
                <a:cs typeface="Arial"/>
                <a:sym typeface="Arial"/>
              </a:rPr>
              <a:t>thành</a:t>
            </a:r>
            <a:r>
              <a:rPr lang="en-US">
                <a:latin typeface="Arial"/>
                <a:ea typeface="Arial"/>
                <a:cs typeface="Arial"/>
                <a:sym typeface="Arial"/>
              </a:rPr>
              <a:t> </a:t>
            </a:r>
            <a:r>
              <a:rPr lang="en-US" err="1">
                <a:latin typeface="Arial"/>
                <a:ea typeface="Arial"/>
                <a:cs typeface="Arial"/>
                <a:sym typeface="Arial"/>
              </a:rPr>
              <a:t>khách</a:t>
            </a:r>
            <a:r>
              <a:rPr lang="en-US">
                <a:latin typeface="Arial"/>
                <a:ea typeface="Arial"/>
                <a:cs typeface="Arial"/>
                <a:sym typeface="Arial"/>
              </a:rPr>
              <a:t> </a:t>
            </a:r>
            <a:r>
              <a:rPr lang="en-US" err="1">
                <a:latin typeface="Arial"/>
                <a:ea typeface="Arial"/>
                <a:cs typeface="Arial"/>
                <a:sym typeface="Arial"/>
              </a:rPr>
              <a:t>hàng</a:t>
            </a:r>
            <a:r>
              <a:rPr lang="en-US">
                <a:latin typeface="Arial"/>
                <a:ea typeface="Arial"/>
                <a:cs typeface="Arial"/>
                <a:sym typeface="Arial"/>
              </a:rPr>
              <a:t> </a:t>
            </a:r>
            <a:r>
              <a:rPr lang="en-US" err="1">
                <a:latin typeface="Arial"/>
                <a:ea typeface="Arial"/>
                <a:cs typeface="Arial"/>
                <a:sym typeface="Arial"/>
              </a:rPr>
              <a:t>tốt</a:t>
            </a:r>
            <a:r>
              <a:rPr lang="en-US">
                <a:latin typeface="Arial"/>
                <a:ea typeface="Arial"/>
                <a:cs typeface="Arial"/>
                <a:sym typeface="Arial"/>
              </a:rPr>
              <a:t> </a:t>
            </a:r>
            <a:r>
              <a:rPr lang="en-US" err="1">
                <a:latin typeface="Arial"/>
                <a:ea typeface="Arial"/>
                <a:cs typeface="Arial"/>
                <a:sym typeface="Arial"/>
              </a:rPr>
              <a:t>hơn</a:t>
            </a:r>
            <a:r>
              <a:rPr lang="en-US">
                <a:latin typeface="Arial"/>
                <a:ea typeface="Arial"/>
                <a:cs typeface="Arial"/>
                <a:sym typeface="Arial"/>
              </a:rPr>
              <a:t>.</a:t>
            </a:r>
            <a:endParaRPr/>
          </a:p>
          <a:p>
            <a:pPr marL="1049337" lvl="1" indent="-457200" algn="l" rtl="0">
              <a:lnSpc>
                <a:spcPct val="150000"/>
              </a:lnSpc>
              <a:spcBef>
                <a:spcPts val="1000"/>
              </a:spcBef>
              <a:spcAft>
                <a:spcPts val="0"/>
              </a:spcAft>
              <a:buSzPts val="2400"/>
              <a:buFont typeface="Arial"/>
              <a:buChar char="•"/>
            </a:pPr>
            <a:r>
              <a:rPr lang="en-US" i="1" err="1">
                <a:latin typeface="Arial"/>
                <a:ea typeface="Arial"/>
                <a:cs typeface="Arial"/>
                <a:sym typeface="Arial"/>
              </a:rPr>
              <a:t>Ví</a:t>
            </a:r>
            <a:r>
              <a:rPr lang="en-US" i="1">
                <a:latin typeface="Arial"/>
                <a:ea typeface="Arial"/>
                <a:cs typeface="Arial"/>
                <a:sym typeface="Arial"/>
              </a:rPr>
              <a:t> </a:t>
            </a:r>
            <a:r>
              <a:rPr lang="en-US" i="1" err="1">
                <a:latin typeface="Arial"/>
                <a:ea typeface="Arial"/>
                <a:cs typeface="Arial"/>
                <a:sym typeface="Arial"/>
              </a:rPr>
              <a:t>dụ</a:t>
            </a:r>
            <a:r>
              <a:rPr lang="en-US" i="1">
                <a:latin typeface="Arial"/>
                <a:ea typeface="Arial"/>
                <a:cs typeface="Arial"/>
                <a:sym typeface="Arial"/>
              </a:rPr>
              <a:t> : Mua </a:t>
            </a:r>
            <a:r>
              <a:rPr lang="en-US" i="1" err="1">
                <a:latin typeface="Arial"/>
                <a:ea typeface="Arial"/>
                <a:cs typeface="Arial"/>
                <a:sym typeface="Arial"/>
              </a:rPr>
              <a:t>một</a:t>
            </a:r>
            <a:r>
              <a:rPr lang="en-US" i="1">
                <a:latin typeface="Arial"/>
                <a:ea typeface="Arial"/>
                <a:cs typeface="Arial"/>
                <a:sym typeface="Arial"/>
              </a:rPr>
              <a:t> </a:t>
            </a:r>
            <a:r>
              <a:rPr lang="en-US" i="1" err="1">
                <a:latin typeface="Arial"/>
                <a:ea typeface="Arial"/>
                <a:cs typeface="Arial"/>
                <a:sym typeface="Arial"/>
              </a:rPr>
              <a:t>túi</a:t>
            </a:r>
            <a:r>
              <a:rPr lang="en-US" i="1">
                <a:latin typeface="Arial"/>
                <a:ea typeface="Arial"/>
                <a:cs typeface="Arial"/>
                <a:sym typeface="Arial"/>
              </a:rPr>
              <a:t> </a:t>
            </a:r>
            <a:r>
              <a:rPr lang="en-US" i="1" err="1">
                <a:latin typeface="Arial"/>
                <a:ea typeface="Arial"/>
                <a:cs typeface="Arial"/>
                <a:sym typeface="Arial"/>
              </a:rPr>
              <a:t>bột</a:t>
            </a:r>
            <a:r>
              <a:rPr lang="en-US" i="1">
                <a:latin typeface="Arial"/>
                <a:ea typeface="Arial"/>
                <a:cs typeface="Arial"/>
                <a:sym typeface="Arial"/>
              </a:rPr>
              <a:t> </a:t>
            </a:r>
            <a:r>
              <a:rPr lang="en-US" i="1" err="1">
                <a:latin typeface="Arial"/>
                <a:ea typeface="Arial"/>
                <a:cs typeface="Arial"/>
                <a:sym typeface="Arial"/>
              </a:rPr>
              <a:t>giặt</a:t>
            </a:r>
            <a:r>
              <a:rPr lang="en-US" i="1">
                <a:latin typeface="Arial"/>
                <a:ea typeface="Arial"/>
                <a:cs typeface="Arial"/>
                <a:sym typeface="Arial"/>
              </a:rPr>
              <a:t> 2kg </a:t>
            </a:r>
            <a:r>
              <a:rPr lang="en-US" i="1" err="1">
                <a:latin typeface="Arial"/>
                <a:ea typeface="Arial"/>
                <a:cs typeface="Arial"/>
                <a:sym typeface="Arial"/>
              </a:rPr>
              <a:t>thì</a:t>
            </a:r>
            <a:r>
              <a:rPr lang="en-US" i="1">
                <a:latin typeface="Arial"/>
                <a:ea typeface="Arial"/>
                <a:cs typeface="Arial"/>
                <a:sym typeface="Arial"/>
              </a:rPr>
              <a:t> </a:t>
            </a:r>
            <a:r>
              <a:rPr lang="en-US" i="1" err="1">
                <a:latin typeface="Arial"/>
                <a:ea typeface="Arial"/>
                <a:cs typeface="Arial"/>
                <a:sym typeface="Arial"/>
              </a:rPr>
              <a:t>giá</a:t>
            </a:r>
            <a:r>
              <a:rPr lang="en-US" i="1">
                <a:latin typeface="Arial"/>
                <a:ea typeface="Arial"/>
                <a:cs typeface="Arial"/>
                <a:sym typeface="Arial"/>
              </a:rPr>
              <a:t> </a:t>
            </a:r>
            <a:r>
              <a:rPr lang="en-US" i="1" err="1">
                <a:latin typeface="Arial"/>
                <a:ea typeface="Arial"/>
                <a:cs typeface="Arial"/>
                <a:sym typeface="Arial"/>
              </a:rPr>
              <a:t>phải</a:t>
            </a:r>
            <a:r>
              <a:rPr lang="en-US" i="1">
                <a:latin typeface="Arial"/>
                <a:ea typeface="Arial"/>
                <a:cs typeface="Arial"/>
                <a:sym typeface="Arial"/>
              </a:rPr>
              <a:t> </a:t>
            </a:r>
            <a:r>
              <a:rPr lang="en-US" i="1" err="1">
                <a:latin typeface="Arial"/>
                <a:ea typeface="Arial"/>
                <a:cs typeface="Arial"/>
                <a:sym typeface="Arial"/>
              </a:rPr>
              <a:t>trả</a:t>
            </a:r>
            <a:r>
              <a:rPr lang="en-US" i="1">
                <a:latin typeface="Arial"/>
                <a:ea typeface="Arial"/>
                <a:cs typeface="Arial"/>
                <a:sym typeface="Arial"/>
              </a:rPr>
              <a:t> </a:t>
            </a:r>
            <a:r>
              <a:rPr lang="en-US" i="1" err="1">
                <a:latin typeface="Arial"/>
                <a:ea typeface="Arial"/>
                <a:cs typeface="Arial"/>
                <a:sym typeface="Arial"/>
              </a:rPr>
              <a:t>ít</a:t>
            </a:r>
            <a:r>
              <a:rPr lang="en-US" i="1">
                <a:latin typeface="Arial"/>
                <a:ea typeface="Arial"/>
                <a:cs typeface="Arial"/>
                <a:sym typeface="Arial"/>
              </a:rPr>
              <a:t> </a:t>
            </a:r>
            <a:r>
              <a:rPr lang="en-US" i="1" err="1">
                <a:latin typeface="Arial"/>
                <a:ea typeface="Arial"/>
                <a:cs typeface="Arial"/>
                <a:sym typeface="Arial"/>
              </a:rPr>
              <a:t>hơn</a:t>
            </a:r>
            <a:r>
              <a:rPr lang="en-US" i="1">
                <a:latin typeface="Arial"/>
                <a:ea typeface="Arial"/>
                <a:cs typeface="Arial"/>
                <a:sym typeface="Arial"/>
              </a:rPr>
              <a:t> so </a:t>
            </a:r>
            <a:r>
              <a:rPr lang="en-US" i="1" err="1">
                <a:latin typeface="Arial"/>
                <a:ea typeface="Arial"/>
                <a:cs typeface="Arial"/>
                <a:sym typeface="Arial"/>
              </a:rPr>
              <a:t>với</a:t>
            </a:r>
            <a:r>
              <a:rPr lang="en-US" i="1">
                <a:latin typeface="Arial"/>
                <a:ea typeface="Arial"/>
                <a:cs typeface="Arial"/>
                <a:sym typeface="Arial"/>
              </a:rPr>
              <a:t> </a:t>
            </a:r>
            <a:r>
              <a:rPr lang="en-US" i="1" err="1">
                <a:latin typeface="Arial"/>
                <a:ea typeface="Arial"/>
                <a:cs typeface="Arial"/>
                <a:sym typeface="Arial"/>
              </a:rPr>
              <a:t>khi</a:t>
            </a:r>
            <a:r>
              <a:rPr lang="en-US" i="1">
                <a:latin typeface="Arial"/>
                <a:ea typeface="Arial"/>
                <a:cs typeface="Arial"/>
                <a:sym typeface="Arial"/>
              </a:rPr>
              <a:t> </a:t>
            </a:r>
            <a:r>
              <a:rPr lang="en-US" i="1" err="1">
                <a:latin typeface="Arial"/>
                <a:ea typeface="Arial"/>
                <a:cs typeface="Arial"/>
                <a:sym typeface="Arial"/>
              </a:rPr>
              <a:t>mua</a:t>
            </a:r>
            <a:r>
              <a:rPr lang="en-US" i="1">
                <a:latin typeface="Arial"/>
                <a:ea typeface="Arial"/>
                <a:cs typeface="Arial"/>
                <a:sym typeface="Arial"/>
              </a:rPr>
              <a:t> </a:t>
            </a:r>
            <a:r>
              <a:rPr lang="en-US" i="1" err="1">
                <a:latin typeface="Arial"/>
                <a:ea typeface="Arial"/>
                <a:cs typeface="Arial"/>
                <a:sym typeface="Arial"/>
              </a:rPr>
              <a:t>hai</a:t>
            </a:r>
            <a:r>
              <a:rPr lang="en-US" i="1">
                <a:latin typeface="Arial"/>
                <a:ea typeface="Arial"/>
                <a:cs typeface="Arial"/>
                <a:sym typeface="Arial"/>
              </a:rPr>
              <a:t> </a:t>
            </a:r>
            <a:r>
              <a:rPr lang="en-US" i="1" err="1">
                <a:latin typeface="Arial"/>
                <a:ea typeface="Arial"/>
                <a:cs typeface="Arial"/>
                <a:sym typeface="Arial"/>
              </a:rPr>
              <a:t>túi</a:t>
            </a:r>
            <a:r>
              <a:rPr lang="en-US" i="1">
                <a:latin typeface="Arial"/>
                <a:ea typeface="Arial"/>
                <a:cs typeface="Arial"/>
                <a:sym typeface="Arial"/>
              </a:rPr>
              <a:t> </a:t>
            </a:r>
            <a:r>
              <a:rPr lang="en-US" i="1" err="1">
                <a:latin typeface="Arial"/>
                <a:ea typeface="Arial"/>
                <a:cs typeface="Arial"/>
                <a:sym typeface="Arial"/>
              </a:rPr>
              <a:t>bột</a:t>
            </a:r>
            <a:r>
              <a:rPr lang="en-US" i="1">
                <a:latin typeface="Arial"/>
                <a:ea typeface="Arial"/>
                <a:cs typeface="Arial"/>
                <a:sym typeface="Arial"/>
              </a:rPr>
              <a:t> </a:t>
            </a:r>
            <a:r>
              <a:rPr lang="en-US" i="1" err="1">
                <a:latin typeface="Arial"/>
                <a:ea typeface="Arial"/>
                <a:cs typeface="Arial"/>
                <a:sym typeface="Arial"/>
              </a:rPr>
              <a:t>giặt</a:t>
            </a:r>
            <a:r>
              <a:rPr lang="en-US" i="1">
                <a:latin typeface="Arial"/>
                <a:ea typeface="Arial"/>
                <a:cs typeface="Arial"/>
                <a:sym typeface="Arial"/>
              </a:rPr>
              <a:t> 1 kg</a:t>
            </a:r>
            <a:endParaRPr i="1">
              <a:latin typeface="Arial"/>
              <a:ea typeface="Arial"/>
              <a:cs typeface="Arial"/>
              <a:sym typeface="Arial"/>
            </a:endParaRPr>
          </a:p>
          <a:p>
            <a:pPr marL="548322" lvl="0" indent="-457200" algn="l" rtl="0">
              <a:lnSpc>
                <a:spcPct val="150000"/>
              </a:lnSpc>
              <a:spcBef>
                <a:spcPts val="1000"/>
              </a:spcBef>
              <a:spcAft>
                <a:spcPts val="0"/>
              </a:spcAft>
              <a:buClr>
                <a:schemeClr val="dk1"/>
              </a:buClr>
              <a:buSzPts val="2800"/>
              <a:buFont typeface="Arial"/>
              <a:buChar char="•"/>
            </a:pPr>
            <a:r>
              <a:rPr lang="en-US" err="1">
                <a:latin typeface="Arial"/>
                <a:ea typeface="Arial"/>
                <a:cs typeface="Arial"/>
                <a:sym typeface="Arial"/>
              </a:rPr>
              <a:t>Hầu</a:t>
            </a:r>
            <a:r>
              <a:rPr lang="en-US">
                <a:latin typeface="Arial"/>
                <a:ea typeface="Arial"/>
                <a:cs typeface="Arial"/>
                <a:sym typeface="Arial"/>
              </a:rPr>
              <a:t> </a:t>
            </a:r>
            <a:r>
              <a:rPr lang="en-US" err="1">
                <a:latin typeface="Arial"/>
                <a:ea typeface="Arial"/>
                <a:cs typeface="Arial"/>
                <a:sym typeface="Arial"/>
              </a:rPr>
              <a:t>hết</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cá</a:t>
            </a:r>
            <a:r>
              <a:rPr lang="en-US">
                <a:latin typeface="Arial"/>
                <a:ea typeface="Arial"/>
                <a:cs typeface="Arial"/>
                <a:sym typeface="Arial"/>
              </a:rPr>
              <a:t> </a:t>
            </a:r>
            <a:r>
              <a:rPr lang="en-US" err="1">
                <a:latin typeface="Arial"/>
                <a:ea typeface="Arial"/>
                <a:cs typeface="Arial"/>
                <a:sym typeface="Arial"/>
              </a:rPr>
              <a:t>nhân</a:t>
            </a:r>
            <a:r>
              <a:rPr lang="en-US">
                <a:latin typeface="Arial"/>
                <a:ea typeface="Arial"/>
                <a:cs typeface="Arial"/>
                <a:sym typeface="Arial"/>
              </a:rPr>
              <a:t> </a:t>
            </a:r>
            <a:r>
              <a:rPr lang="en-US" err="1">
                <a:latin typeface="Arial"/>
                <a:ea typeface="Arial"/>
                <a:cs typeface="Arial"/>
                <a:sym typeface="Arial"/>
              </a:rPr>
              <a:t>trong</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dành</a:t>
            </a:r>
            <a:r>
              <a:rPr lang="en-US">
                <a:latin typeface="Arial"/>
                <a:ea typeface="Arial"/>
                <a:cs typeface="Arial"/>
                <a:sym typeface="Arial"/>
              </a:rPr>
              <a:t> </a:t>
            </a:r>
            <a:r>
              <a:rPr lang="en-US" err="1">
                <a:latin typeface="Arial"/>
                <a:ea typeface="Arial"/>
                <a:cs typeface="Arial"/>
                <a:sym typeface="Arial"/>
              </a:rPr>
              <a:t>nhiều</a:t>
            </a:r>
            <a:r>
              <a:rPr lang="en-US">
                <a:latin typeface="Arial"/>
                <a:ea typeface="Arial"/>
                <a:cs typeface="Arial"/>
                <a:sym typeface="Arial"/>
              </a:rPr>
              <a:t> </a:t>
            </a:r>
            <a:r>
              <a:rPr lang="en-US" err="1">
                <a:latin typeface="Arial"/>
                <a:ea typeface="Arial"/>
                <a:cs typeface="Arial"/>
                <a:sym typeface="Arial"/>
              </a:rPr>
              <a:t>thời</a:t>
            </a:r>
            <a:r>
              <a:rPr lang="en-US">
                <a:latin typeface="Arial"/>
                <a:ea typeface="Arial"/>
                <a:cs typeface="Arial"/>
                <a:sym typeface="Arial"/>
              </a:rPr>
              <a:t> </a:t>
            </a:r>
            <a:r>
              <a:rPr lang="en-US" err="1">
                <a:latin typeface="Arial"/>
                <a:ea typeface="Arial"/>
                <a:cs typeface="Arial"/>
                <a:sym typeface="Arial"/>
              </a:rPr>
              <a:t>gian</a:t>
            </a:r>
            <a:r>
              <a:rPr lang="en-US">
                <a:latin typeface="Arial"/>
                <a:ea typeface="Arial"/>
                <a:cs typeface="Arial"/>
                <a:sym typeface="Arial"/>
              </a:rPr>
              <a:t> </a:t>
            </a:r>
            <a:r>
              <a:rPr lang="en-US" err="1">
                <a:latin typeface="Arial"/>
                <a:ea typeface="Arial"/>
                <a:cs typeface="Arial"/>
                <a:sym typeface="Arial"/>
              </a:rPr>
              <a:t>tham</a:t>
            </a:r>
            <a:r>
              <a:rPr lang="en-US">
                <a:latin typeface="Arial"/>
                <a:ea typeface="Arial"/>
                <a:cs typeface="Arial"/>
                <a:sym typeface="Arial"/>
              </a:rPr>
              <a:t> </a:t>
            </a:r>
            <a:r>
              <a:rPr lang="en-US" err="1">
                <a:latin typeface="Arial"/>
                <a:ea typeface="Arial"/>
                <a:cs typeface="Arial"/>
                <a:sym typeface="Arial"/>
              </a:rPr>
              <a:t>gia</a:t>
            </a:r>
            <a:r>
              <a:rPr lang="en-US">
                <a:latin typeface="Arial"/>
                <a:ea typeface="Arial"/>
                <a:cs typeface="Arial"/>
                <a:sym typeface="Arial"/>
              </a:rPr>
              <a:t> </a:t>
            </a:r>
            <a:r>
              <a:rPr lang="en-US" err="1">
                <a:latin typeface="Arial"/>
                <a:ea typeface="Arial"/>
                <a:cs typeface="Arial"/>
                <a:sym typeface="Arial"/>
              </a:rPr>
              <a:t>tiêu</a:t>
            </a:r>
            <a:r>
              <a:rPr lang="en-US">
                <a:latin typeface="Arial"/>
                <a:ea typeface="Arial"/>
                <a:cs typeface="Arial"/>
                <a:sym typeface="Arial"/>
              </a:rPr>
              <a:t> </a:t>
            </a:r>
            <a:r>
              <a:rPr lang="en-US" err="1">
                <a:latin typeface="Arial"/>
                <a:ea typeface="Arial"/>
                <a:cs typeface="Arial"/>
                <a:sym typeface="Arial"/>
              </a:rPr>
              <a:t>dùng</a:t>
            </a:r>
            <a:r>
              <a:rPr lang="en-US">
                <a:latin typeface="Arial"/>
                <a:ea typeface="Arial"/>
                <a:cs typeface="Arial"/>
                <a:sym typeface="Arial"/>
              </a:rPr>
              <a:t> </a:t>
            </a:r>
            <a:r>
              <a:rPr lang="en-US" err="1">
                <a:latin typeface="Arial"/>
                <a:ea typeface="Arial"/>
                <a:cs typeface="Arial"/>
                <a:sym typeface="Arial"/>
              </a:rPr>
              <a:t>hơn</a:t>
            </a:r>
            <a:r>
              <a:rPr lang="en-US">
                <a:latin typeface="Arial"/>
                <a:ea typeface="Arial"/>
                <a:cs typeface="Arial"/>
                <a:sym typeface="Arial"/>
              </a:rPr>
              <a:t> </a:t>
            </a:r>
            <a:r>
              <a:rPr lang="en-US" err="1">
                <a:latin typeface="Arial"/>
                <a:ea typeface="Arial"/>
                <a:cs typeface="Arial"/>
                <a:sym typeface="Arial"/>
              </a:rPr>
              <a:t>bất</a:t>
            </a:r>
            <a:r>
              <a:rPr lang="en-US">
                <a:latin typeface="Arial"/>
                <a:ea typeface="Arial"/>
                <a:cs typeface="Arial"/>
                <a:sym typeface="Arial"/>
              </a:rPr>
              <a:t> </a:t>
            </a:r>
            <a:r>
              <a:rPr lang="en-US" err="1">
                <a:latin typeface="Arial"/>
                <a:ea typeface="Arial"/>
                <a:cs typeface="Arial"/>
                <a:sym typeface="Arial"/>
              </a:rPr>
              <a:t>kỳ</a:t>
            </a:r>
            <a:r>
              <a:rPr lang="en-US">
                <a:latin typeface="Arial"/>
                <a:ea typeface="Arial"/>
                <a:cs typeface="Arial"/>
                <a:sym typeface="Arial"/>
              </a:rPr>
              <a:t> </a:t>
            </a:r>
            <a:r>
              <a:rPr lang="en-US" err="1">
                <a:latin typeface="Arial"/>
                <a:ea typeface="Arial"/>
                <a:cs typeface="Arial"/>
                <a:sym typeface="Arial"/>
              </a:rPr>
              <a:t>hoạt</a:t>
            </a:r>
            <a:r>
              <a:rPr lang="en-US">
                <a:latin typeface="Arial"/>
                <a:ea typeface="Arial"/>
                <a:cs typeface="Arial"/>
                <a:sym typeface="Arial"/>
              </a:rPr>
              <a:t> </a:t>
            </a:r>
            <a:r>
              <a:rPr lang="en-US" err="1">
                <a:latin typeface="Arial"/>
                <a:ea typeface="Arial"/>
                <a:cs typeface="Arial"/>
                <a:sym typeface="Arial"/>
              </a:rPr>
              <a:t>động</a:t>
            </a:r>
            <a:r>
              <a:rPr lang="en-US">
                <a:latin typeface="Arial"/>
                <a:ea typeface="Arial"/>
                <a:cs typeface="Arial"/>
                <a:sym typeface="Arial"/>
              </a:rPr>
              <a:t> </a:t>
            </a:r>
            <a:r>
              <a:rPr lang="en-US" err="1">
                <a:latin typeface="Arial"/>
                <a:ea typeface="Arial"/>
                <a:cs typeface="Arial"/>
                <a:sym typeface="Arial"/>
              </a:rPr>
              <a:t>nào</a:t>
            </a:r>
            <a:r>
              <a:rPr lang="en-US">
                <a:latin typeface="Arial"/>
                <a:ea typeface="Arial"/>
                <a:cs typeface="Arial"/>
                <a:sym typeface="Arial"/>
              </a:rPr>
              <a:t> </a:t>
            </a:r>
            <a:r>
              <a:rPr lang="en-US" err="1">
                <a:latin typeface="Arial"/>
                <a:ea typeface="Arial"/>
                <a:cs typeface="Arial"/>
                <a:sym typeface="Arial"/>
              </a:rPr>
              <a:t>khác</a:t>
            </a:r>
            <a:r>
              <a:rPr lang="en-US">
                <a:latin typeface="Arial"/>
                <a:ea typeface="Arial"/>
                <a:cs typeface="Arial"/>
                <a:sym typeface="Arial"/>
              </a:rPr>
              <a:t>.</a:t>
            </a:r>
            <a:endParaRPr/>
          </a:p>
          <a:p>
            <a:pPr marL="548322" lvl="0" indent="-457200" algn="l" rtl="0">
              <a:lnSpc>
                <a:spcPct val="150000"/>
              </a:lnSpc>
              <a:spcBef>
                <a:spcPts val="1000"/>
              </a:spcBef>
              <a:spcAft>
                <a:spcPts val="0"/>
              </a:spcAft>
              <a:buClr>
                <a:schemeClr val="dk1"/>
              </a:buClr>
              <a:buSzPts val="2800"/>
              <a:buFont typeface="Arial"/>
              <a:buChar char="•"/>
            </a:pPr>
            <a:r>
              <a:rPr lang="en-US" err="1">
                <a:latin typeface="Arial"/>
                <a:ea typeface="Arial"/>
                <a:cs typeface="Arial"/>
                <a:sym typeface="Arial"/>
              </a:rPr>
              <a:t>Kiến</a:t>
            </a:r>
            <a:r>
              <a:rPr lang="en-US">
                <a:latin typeface="Arial"/>
                <a:ea typeface="Arial"/>
                <a:cs typeface="Arial"/>
                <a:sym typeface="Arial"/>
              </a:rPr>
              <a:t> </a:t>
            </a:r>
            <a:r>
              <a:rPr lang="en-US" err="1">
                <a:latin typeface="Arial"/>
                <a:ea typeface="Arial"/>
                <a:cs typeface="Arial"/>
                <a:sym typeface="Arial"/>
              </a:rPr>
              <a:t>thức</a:t>
            </a:r>
            <a:r>
              <a:rPr lang="en-US">
                <a:latin typeface="Arial"/>
                <a:ea typeface="Arial"/>
                <a:cs typeface="Arial"/>
                <a:sym typeface="Arial"/>
              </a:rPr>
              <a:t> </a:t>
            </a:r>
            <a:r>
              <a:rPr lang="en-US" err="1">
                <a:latin typeface="Arial"/>
                <a:ea typeface="Arial"/>
                <a:cs typeface="Arial"/>
                <a:sym typeface="Arial"/>
              </a:rPr>
              <a:t>về</a:t>
            </a:r>
            <a:r>
              <a:rPr lang="en-US">
                <a:latin typeface="Arial"/>
                <a:ea typeface="Arial"/>
                <a:cs typeface="Arial"/>
                <a:sym typeface="Arial"/>
              </a:rPr>
              <a:t> </a:t>
            </a:r>
            <a:r>
              <a:rPr lang="en-US" err="1">
                <a:latin typeface="Arial"/>
                <a:ea typeface="Arial"/>
                <a:cs typeface="Arial"/>
                <a:sym typeface="Arial"/>
              </a:rPr>
              <a:t>hành</a:t>
            </a:r>
            <a:r>
              <a:rPr lang="en-US">
                <a:latin typeface="Arial"/>
                <a:ea typeface="Arial"/>
                <a:cs typeface="Arial"/>
                <a:sym typeface="Arial"/>
              </a:rPr>
              <a:t> vi </a:t>
            </a:r>
            <a:r>
              <a:rPr lang="en-US" err="1">
                <a:latin typeface="Arial"/>
                <a:ea typeface="Arial"/>
                <a:cs typeface="Arial"/>
                <a:sym typeface="Arial"/>
              </a:rPr>
              <a:t>của</a:t>
            </a:r>
            <a:r>
              <a:rPr lang="en-US">
                <a:latin typeface="Arial"/>
                <a:ea typeface="Arial"/>
                <a:cs typeface="Arial"/>
                <a:sym typeface="Arial"/>
              </a:rPr>
              <a:t> KH </a:t>
            </a:r>
            <a:r>
              <a:rPr lang="en-US" err="1">
                <a:latin typeface="Arial"/>
                <a:ea typeface="Arial"/>
                <a:cs typeface="Arial"/>
                <a:sym typeface="Arial"/>
              </a:rPr>
              <a:t>nâng</a:t>
            </a:r>
            <a:r>
              <a:rPr lang="en-US">
                <a:latin typeface="Arial"/>
                <a:ea typeface="Arial"/>
                <a:cs typeface="Arial"/>
                <a:sym typeface="Arial"/>
              </a:rPr>
              <a:t> </a:t>
            </a:r>
            <a:r>
              <a:rPr lang="en-US" err="1">
                <a:latin typeface="Arial"/>
                <a:ea typeface="Arial"/>
                <a:cs typeface="Arial"/>
                <a:sym typeface="Arial"/>
              </a:rPr>
              <a:t>cao</a:t>
            </a:r>
            <a:r>
              <a:rPr lang="en-US">
                <a:latin typeface="Arial"/>
                <a:ea typeface="Arial"/>
                <a:cs typeface="Arial"/>
                <a:sym typeface="Arial"/>
              </a:rPr>
              <a:t> </a:t>
            </a:r>
            <a:r>
              <a:rPr lang="en-US" err="1">
                <a:latin typeface="Arial"/>
                <a:ea typeface="Arial"/>
                <a:cs typeface="Arial"/>
                <a:sym typeface="Arial"/>
              </a:rPr>
              <a:t>hiểu</a:t>
            </a:r>
            <a:r>
              <a:rPr lang="en-US">
                <a:latin typeface="Arial"/>
                <a:ea typeface="Arial"/>
                <a:cs typeface="Arial"/>
                <a:sym typeface="Arial"/>
              </a:rPr>
              <a:t> </a:t>
            </a:r>
            <a:r>
              <a:rPr lang="en-US" err="1">
                <a:latin typeface="Arial"/>
                <a:ea typeface="Arial"/>
                <a:cs typeface="Arial"/>
                <a:sym typeface="Arial"/>
              </a:rPr>
              <a:t>biết</a:t>
            </a:r>
            <a:r>
              <a:rPr lang="en-US">
                <a:latin typeface="Arial"/>
                <a:ea typeface="Arial"/>
                <a:cs typeface="Arial"/>
                <a:sym typeface="Arial"/>
              </a:rPr>
              <a:t> </a:t>
            </a:r>
            <a:r>
              <a:rPr lang="en-US" err="1">
                <a:latin typeface="Arial"/>
                <a:ea typeface="Arial"/>
                <a:cs typeface="Arial"/>
                <a:sym typeface="Arial"/>
              </a:rPr>
              <a:t>về</a:t>
            </a:r>
            <a:r>
              <a:rPr lang="en-US">
                <a:latin typeface="Arial"/>
                <a:ea typeface="Arial"/>
                <a:cs typeface="Arial"/>
                <a:sym typeface="Arial"/>
              </a:rPr>
              <a:t> </a:t>
            </a:r>
            <a:r>
              <a:rPr lang="en-US" err="1">
                <a:latin typeface="Arial"/>
                <a:ea typeface="Arial"/>
                <a:cs typeface="Arial"/>
                <a:sym typeface="Arial"/>
              </a:rPr>
              <a:t>môi</a:t>
            </a:r>
            <a:r>
              <a:rPr lang="en-US">
                <a:latin typeface="Arial"/>
                <a:ea typeface="Arial"/>
                <a:cs typeface="Arial"/>
                <a:sym typeface="Arial"/>
              </a:rPr>
              <a:t> </a:t>
            </a:r>
            <a:r>
              <a:rPr lang="en-US" err="1">
                <a:latin typeface="Arial"/>
                <a:ea typeface="Arial"/>
                <a:cs typeface="Arial"/>
                <a:sym typeface="Arial"/>
              </a:rPr>
              <a:t>trường</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bản</a:t>
            </a:r>
            <a:r>
              <a:rPr lang="en-US">
                <a:latin typeface="Arial"/>
                <a:ea typeface="Arial"/>
                <a:cs typeface="Arial"/>
                <a:sym typeface="Arial"/>
              </a:rPr>
              <a:t> </a:t>
            </a:r>
            <a:r>
              <a:rPr lang="en-US" err="1">
                <a:latin typeface="Arial"/>
                <a:ea typeface="Arial"/>
                <a:cs typeface="Arial"/>
                <a:sym typeface="Arial"/>
              </a:rPr>
              <a:t>thân</a:t>
            </a:r>
            <a:r>
              <a:rPr lang="en-US">
                <a:latin typeface="Arial"/>
                <a:ea typeface="Arial"/>
                <a:cs typeface="Arial"/>
                <a:sym typeface="Arial"/>
              </a:rPr>
              <a:t>. </a:t>
            </a:r>
            <a:endParaRPr/>
          </a:p>
          <a:p>
            <a:pPr marL="542925" lvl="0" indent="-287338" algn="l" rtl="0">
              <a:lnSpc>
                <a:spcPct val="150000"/>
              </a:lnSpc>
              <a:spcBef>
                <a:spcPts val="1000"/>
              </a:spcBef>
              <a:spcAft>
                <a:spcPts val="0"/>
              </a:spcAft>
              <a:buClr>
                <a:schemeClr val="dk1"/>
              </a:buClr>
              <a:buSzPts val="2800"/>
              <a:buFont typeface="Calibri"/>
              <a:buNone/>
            </a:pPr>
            <a:endParaRPr>
              <a:latin typeface="Arial"/>
              <a:ea typeface="Arial"/>
              <a:cs typeface="Arial"/>
              <a:sym typeface="Arial"/>
            </a:endParaRPr>
          </a:p>
          <a:p>
            <a:pPr marL="0" lvl="0" indent="0" algn="l" rtl="0">
              <a:lnSpc>
                <a:spcPct val="90000"/>
              </a:lnSpc>
              <a:spcBef>
                <a:spcPts val="1000"/>
              </a:spcBef>
              <a:spcAft>
                <a:spcPts val="0"/>
              </a:spcAft>
              <a:buClr>
                <a:schemeClr val="dk1"/>
              </a:buClr>
              <a:buSzPts val="3200"/>
              <a:buNone/>
            </a:pPr>
            <a:endParaRPr sz="3200" b="1">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60"/>
          <p:cNvSpPr txBox="1">
            <a:spLocks noGrp="1"/>
          </p:cNvSpPr>
          <p:nvPr>
            <p:ph type="title"/>
          </p:nvPr>
        </p:nvSpPr>
        <p:spPr>
          <a:xfrm>
            <a:off x="838200" y="111125"/>
            <a:ext cx="10515600" cy="86677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Arial"/>
              <a:buNone/>
            </a:pPr>
            <a:r>
              <a:rPr lang="en-US" sz="3600" b="1">
                <a:latin typeface="Arial"/>
                <a:ea typeface="Arial"/>
                <a:cs typeface="Arial"/>
                <a:sym typeface="Arial"/>
              </a:rPr>
              <a:t>CÂU HỎI THẢO LUẬN</a:t>
            </a:r>
            <a:endParaRPr/>
          </a:p>
        </p:txBody>
      </p:sp>
      <p:sp>
        <p:nvSpPr>
          <p:cNvPr id="497" name="Google Shape;497;p60"/>
          <p:cNvSpPr txBox="1">
            <a:spLocks noGrp="1"/>
          </p:cNvSpPr>
          <p:nvPr>
            <p:ph type="body" idx="1"/>
          </p:nvPr>
        </p:nvSpPr>
        <p:spPr>
          <a:xfrm>
            <a:off x="195072" y="859221"/>
            <a:ext cx="11704320" cy="6286500"/>
          </a:xfrm>
          <a:prstGeom prst="rect">
            <a:avLst/>
          </a:prstGeom>
          <a:noFill/>
          <a:ln>
            <a:noFill/>
          </a:ln>
        </p:spPr>
        <p:txBody>
          <a:bodyPr spcFirstLastPara="1" wrap="square" lIns="91425" tIns="45700" rIns="91425" bIns="45700" anchor="t" anchorCtr="0">
            <a:noAutofit/>
          </a:bodyPr>
          <a:lstStyle/>
          <a:p>
            <a:pPr marL="514350" lvl="0" indent="-514350" algn="l" rtl="0">
              <a:lnSpc>
                <a:spcPct val="120000"/>
              </a:lnSpc>
              <a:spcBef>
                <a:spcPts val="0"/>
              </a:spcBef>
              <a:spcAft>
                <a:spcPts val="0"/>
              </a:spcAft>
              <a:buClr>
                <a:schemeClr val="dk1"/>
              </a:buClr>
              <a:buSzPts val="2200"/>
              <a:buFont typeface="Calibri"/>
              <a:buAutoNum type="arabicPeriod"/>
            </a:pPr>
            <a:r>
              <a:rPr lang="en-US" sz="2200">
                <a:latin typeface="Arial"/>
                <a:ea typeface="Arial"/>
                <a:cs typeface="Arial"/>
                <a:sym typeface="Arial"/>
              </a:rPr>
              <a:t>Sự tác động của cuộc cách mạng công nghệ 4.0 đã thay đổi hành vi người tiêu </a:t>
            </a:r>
            <a:br>
              <a:rPr lang="en-US" sz="2200">
                <a:latin typeface="Arial"/>
                <a:ea typeface="Arial"/>
                <a:cs typeface="Arial"/>
                <a:sym typeface="Arial"/>
              </a:rPr>
            </a:br>
            <a:r>
              <a:rPr lang="en-US" sz="2200">
                <a:latin typeface="Arial"/>
                <a:ea typeface="Arial"/>
                <a:cs typeface="Arial"/>
                <a:sym typeface="Arial"/>
              </a:rPr>
              <a:t>dùng như thế nào? Cho ví dụ minh họa?</a:t>
            </a:r>
            <a:endParaRPr sz="2200">
              <a:latin typeface="Arial"/>
              <a:ea typeface="Arial"/>
              <a:cs typeface="Arial"/>
              <a:sym typeface="Arial"/>
            </a:endParaRPr>
          </a:p>
          <a:p>
            <a:pPr marL="514350" lvl="0" indent="-514350" algn="l" rtl="0">
              <a:lnSpc>
                <a:spcPct val="120000"/>
              </a:lnSpc>
              <a:spcBef>
                <a:spcPts val="1000"/>
              </a:spcBef>
              <a:spcAft>
                <a:spcPts val="0"/>
              </a:spcAft>
              <a:buClr>
                <a:schemeClr val="dk1"/>
              </a:buClr>
              <a:buSzPts val="2200"/>
              <a:buFont typeface="Calibri"/>
              <a:buAutoNum type="arabicPeriod"/>
            </a:pPr>
            <a:r>
              <a:rPr lang="en-US" sz="2200">
                <a:latin typeface="Arial"/>
                <a:ea typeface="Arial"/>
                <a:cs typeface="Arial"/>
                <a:sym typeface="Arial"/>
              </a:rPr>
              <a:t>Toàn cầu hóa và quá trình đô thị hóa đã tác động đến hành vi khách hàng như thế nào trong thời gian qua?</a:t>
            </a:r>
            <a:endParaRPr sz="2200">
              <a:latin typeface="Arial"/>
              <a:ea typeface="Arial"/>
              <a:cs typeface="Arial"/>
              <a:sym typeface="Arial"/>
            </a:endParaRPr>
          </a:p>
          <a:p>
            <a:pPr marL="514350" lvl="0" indent="-514350" algn="l" rtl="0">
              <a:lnSpc>
                <a:spcPct val="120000"/>
              </a:lnSpc>
              <a:spcBef>
                <a:spcPts val="1000"/>
              </a:spcBef>
              <a:spcAft>
                <a:spcPts val="0"/>
              </a:spcAft>
              <a:buClr>
                <a:schemeClr val="dk1"/>
              </a:buClr>
              <a:buSzPts val="2200"/>
              <a:buFont typeface="Calibri"/>
              <a:buAutoNum type="arabicPeriod"/>
            </a:pPr>
            <a:r>
              <a:rPr lang="en-US" sz="2200">
                <a:latin typeface="Arial"/>
                <a:ea typeface="Arial"/>
                <a:cs typeface="Arial"/>
                <a:sym typeface="Arial"/>
              </a:rPr>
              <a:t>Với sự phát triển mạnh mẽ của thương mại điện tử đã thay đổi cách khách hàng nhận thức, tìm kiếm thông tin và mua sắm như thế nào?</a:t>
            </a:r>
            <a:endParaRPr sz="2200">
              <a:latin typeface="Arial"/>
              <a:ea typeface="Arial"/>
              <a:cs typeface="Arial"/>
              <a:sym typeface="Arial"/>
            </a:endParaRPr>
          </a:p>
          <a:p>
            <a:pPr marL="514350" lvl="0" indent="-514350" algn="l" rtl="0">
              <a:lnSpc>
                <a:spcPct val="120000"/>
              </a:lnSpc>
              <a:spcBef>
                <a:spcPts val="1000"/>
              </a:spcBef>
              <a:spcAft>
                <a:spcPts val="0"/>
              </a:spcAft>
              <a:buClr>
                <a:schemeClr val="dk1"/>
              </a:buClr>
              <a:buSzPts val="2200"/>
              <a:buFont typeface="Calibri"/>
              <a:buAutoNum type="arabicPeriod"/>
            </a:pPr>
            <a:r>
              <a:rPr lang="en-US" sz="2200">
                <a:latin typeface="Arial"/>
                <a:ea typeface="Arial"/>
                <a:cs typeface="Arial"/>
                <a:sym typeface="Arial"/>
              </a:rPr>
              <a:t>Hành vi khách hàng của giới trẻ Việt Nam và giới trẻ các nước khác có gì giống và khác nhau? Lý do của sự giống và khác nhau này?</a:t>
            </a:r>
            <a:endParaRPr sz="2200">
              <a:latin typeface="Arial"/>
              <a:ea typeface="Arial"/>
              <a:cs typeface="Arial"/>
              <a:sym typeface="Arial"/>
            </a:endParaRPr>
          </a:p>
          <a:p>
            <a:pPr marL="514350" lvl="0" indent="-514350" algn="l" rtl="0">
              <a:lnSpc>
                <a:spcPct val="120000"/>
              </a:lnSpc>
              <a:spcBef>
                <a:spcPts val="1000"/>
              </a:spcBef>
              <a:spcAft>
                <a:spcPts val="0"/>
              </a:spcAft>
              <a:buClr>
                <a:schemeClr val="dk1"/>
              </a:buClr>
              <a:buSzPts val="2200"/>
              <a:buFont typeface="Calibri"/>
              <a:buAutoNum type="arabicPeriod"/>
            </a:pPr>
            <a:r>
              <a:rPr lang="en-US" sz="2200">
                <a:latin typeface="Arial"/>
                <a:ea typeface="Arial"/>
                <a:cs typeface="Arial"/>
                <a:sym typeface="Arial"/>
              </a:rPr>
              <a:t>Chiến lược marketing của các doanh nghiệp vừa và nhỏ thích ứng với hành vi khách hàng khác biệt như thế nào với các doanh nghiệp lớn, doanh nghiệp toàn cầu?</a:t>
            </a:r>
            <a:endParaRPr sz="2200">
              <a:latin typeface="Arial"/>
              <a:ea typeface="Arial"/>
              <a:cs typeface="Arial"/>
              <a:sym typeface="Arial"/>
            </a:endParaRPr>
          </a:p>
          <a:p>
            <a:pPr marL="514350" lvl="0" indent="-514350" algn="l" rtl="0">
              <a:lnSpc>
                <a:spcPct val="120000"/>
              </a:lnSpc>
              <a:spcBef>
                <a:spcPts val="1000"/>
              </a:spcBef>
              <a:spcAft>
                <a:spcPts val="0"/>
              </a:spcAft>
              <a:buClr>
                <a:schemeClr val="dk1"/>
              </a:buClr>
              <a:buSzPts val="2200"/>
              <a:buFont typeface="Calibri"/>
              <a:buAutoNum type="arabicPeriod"/>
            </a:pPr>
            <a:r>
              <a:rPr lang="en-US" sz="2200">
                <a:latin typeface="Arial"/>
                <a:ea typeface="Arial"/>
                <a:cs typeface="Arial"/>
                <a:sym typeface="Arial"/>
              </a:rPr>
              <a:t>Bạn nghĩ đóng góp của các mối quan hệ cá nhân trong một công ty kinh doanh phục vụ khách hàng như thế nào? Chi ví dụ cụ thể để giải thích?</a:t>
            </a:r>
            <a:r>
              <a:rPr lang="en-US" sz="2200" b="1">
                <a:latin typeface="Arial"/>
                <a:ea typeface="Arial"/>
                <a:cs typeface="Arial"/>
                <a:sym typeface="Arial"/>
              </a:rPr>
              <a:t> </a:t>
            </a:r>
            <a:endParaRPr sz="2200">
              <a:latin typeface="Arial"/>
              <a:ea typeface="Arial"/>
              <a:cs typeface="Arial"/>
              <a:sym typeface="Arial"/>
            </a:endParaRPr>
          </a:p>
          <a:p>
            <a:pPr marL="0" lvl="0" indent="0" algn="l" rtl="0">
              <a:lnSpc>
                <a:spcPct val="120000"/>
              </a:lnSpc>
              <a:spcBef>
                <a:spcPts val="1000"/>
              </a:spcBef>
              <a:spcAft>
                <a:spcPts val="0"/>
              </a:spcAft>
              <a:buClr>
                <a:schemeClr val="dk1"/>
              </a:buClr>
              <a:buSzPts val="2200"/>
              <a:buNone/>
            </a:pPr>
            <a:endParaRPr sz="2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61"/>
          <p:cNvSpPr txBox="1">
            <a:spLocks noGrp="1"/>
          </p:cNvSpPr>
          <p:nvPr>
            <p:ph type="ctrTitle"/>
          </p:nvPr>
        </p:nvSpPr>
        <p:spPr>
          <a:xfrm>
            <a:off x="208548" y="1163741"/>
            <a:ext cx="11774904" cy="3711976"/>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chemeClr val="dk1"/>
              </a:buClr>
              <a:buSzPts val="4800"/>
              <a:buFont typeface="Arial"/>
              <a:buNone/>
            </a:pPr>
            <a:r>
              <a:rPr lang="en-US" sz="4800" b="1">
                <a:latin typeface="Arial"/>
                <a:ea typeface="Arial"/>
                <a:cs typeface="Arial"/>
                <a:sym typeface="Arial"/>
              </a:rPr>
              <a:t>CHƯƠNG 2</a:t>
            </a:r>
            <a:br>
              <a:rPr lang="en-US" sz="5400" b="1">
                <a:latin typeface="Arial"/>
                <a:ea typeface="Arial"/>
                <a:cs typeface="Arial"/>
                <a:sym typeface="Arial"/>
              </a:rPr>
            </a:br>
            <a:r>
              <a:rPr lang="en-US" sz="4800" b="1">
                <a:latin typeface="Arial"/>
                <a:ea typeface="Arial"/>
                <a:cs typeface="Arial"/>
                <a:sym typeface="Arial"/>
              </a:rPr>
              <a:t>CÁC YẾU TỐ </a:t>
            </a:r>
            <a:r>
              <a:rPr lang="en-US" sz="4800" b="1"/>
              <a:t>BÊN NGOÀI</a:t>
            </a:r>
            <a:r>
              <a:rPr lang="en-US" sz="4800" b="1">
                <a:latin typeface="Arial"/>
                <a:ea typeface="Arial"/>
                <a:cs typeface="Arial"/>
                <a:sym typeface="Arial"/>
              </a:rPr>
              <a:t> ẢNH HƯỞNG ĐẾN HÀNH VI KH CÁ NHÂN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62"/>
          <p:cNvSpPr txBox="1">
            <a:spLocks noGrp="1"/>
          </p:cNvSpPr>
          <p:nvPr>
            <p:ph type="title"/>
          </p:nvPr>
        </p:nvSpPr>
        <p:spPr>
          <a:xfrm>
            <a:off x="434499" y="80010"/>
            <a:ext cx="10515600" cy="140953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b="1">
                <a:latin typeface="Arial"/>
                <a:ea typeface="Arial"/>
                <a:cs typeface="Arial"/>
                <a:sym typeface="Arial"/>
              </a:rPr>
              <a:t>MỤC TIÊU CHƯƠNG 2</a:t>
            </a:r>
            <a:endParaRPr/>
          </a:p>
        </p:txBody>
      </p:sp>
      <p:sp>
        <p:nvSpPr>
          <p:cNvPr id="508" name="Google Shape;508;p62"/>
          <p:cNvSpPr txBox="1">
            <a:spLocks noGrp="1"/>
          </p:cNvSpPr>
          <p:nvPr>
            <p:ph type="body" idx="1"/>
          </p:nvPr>
        </p:nvSpPr>
        <p:spPr>
          <a:xfrm>
            <a:off x="-91440" y="317500"/>
            <a:ext cx="11896725" cy="6925511"/>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800"/>
              <a:buNone/>
            </a:pPr>
            <a:endParaRPr/>
          </a:p>
          <a:p>
            <a:pPr marL="1016000" lvl="1" indent="-558800" algn="just" rtl="0">
              <a:lnSpc>
                <a:spcPct val="150000"/>
              </a:lnSpc>
              <a:spcBef>
                <a:spcPts val="0"/>
              </a:spcBef>
              <a:spcAft>
                <a:spcPts val="0"/>
              </a:spcAft>
              <a:buClr>
                <a:schemeClr val="dk1"/>
              </a:buClr>
              <a:buSzPts val="2800"/>
              <a:buFont typeface="Noto Sans Symbols"/>
              <a:buChar char="⮚"/>
            </a:pPr>
            <a:r>
              <a:rPr lang="en-US" sz="2800" err="1">
                <a:latin typeface="Arial"/>
                <a:ea typeface="Arial"/>
                <a:cs typeface="Arial"/>
                <a:sym typeface="Arial"/>
              </a:rPr>
              <a:t>Hiểu</a:t>
            </a:r>
            <a:r>
              <a:rPr lang="en-US" sz="2800">
                <a:latin typeface="Arial"/>
                <a:ea typeface="Arial"/>
                <a:cs typeface="Arial"/>
                <a:sym typeface="Arial"/>
              </a:rPr>
              <a:t> </a:t>
            </a:r>
            <a:r>
              <a:rPr lang="en-US" sz="2800" err="1">
                <a:latin typeface="Arial"/>
                <a:ea typeface="Arial"/>
                <a:cs typeface="Arial"/>
                <a:sym typeface="Arial"/>
              </a:rPr>
              <a:t>và</a:t>
            </a:r>
            <a:r>
              <a:rPr lang="en-US" sz="2800">
                <a:latin typeface="Arial"/>
                <a:ea typeface="Arial"/>
                <a:cs typeface="Arial"/>
                <a:sym typeface="Arial"/>
              </a:rPr>
              <a:t> </a:t>
            </a:r>
            <a:r>
              <a:rPr lang="en-US" sz="2800" err="1">
                <a:latin typeface="Arial"/>
                <a:ea typeface="Arial"/>
                <a:cs typeface="Arial"/>
                <a:sym typeface="Arial"/>
              </a:rPr>
              <a:t>phân</a:t>
            </a:r>
            <a:r>
              <a:rPr lang="en-US" sz="2800">
                <a:latin typeface="Arial"/>
                <a:ea typeface="Arial"/>
                <a:cs typeface="Arial"/>
                <a:sym typeface="Arial"/>
              </a:rPr>
              <a:t> </a:t>
            </a:r>
            <a:r>
              <a:rPr lang="en-US" sz="2800" err="1">
                <a:latin typeface="Arial"/>
                <a:ea typeface="Arial"/>
                <a:cs typeface="Arial"/>
                <a:sym typeface="Arial"/>
              </a:rPr>
              <a:t>biệt</a:t>
            </a:r>
            <a:r>
              <a:rPr lang="en-US" sz="2800">
                <a:latin typeface="Arial"/>
                <a:ea typeface="Arial"/>
                <a:cs typeface="Arial"/>
                <a:sym typeface="Arial"/>
              </a:rPr>
              <a:t> </a:t>
            </a:r>
            <a:r>
              <a:rPr lang="en-US" sz="2800" err="1">
                <a:latin typeface="Arial"/>
                <a:ea typeface="Arial"/>
                <a:cs typeface="Arial"/>
                <a:sym typeface="Arial"/>
              </a:rPr>
              <a:t>các</a:t>
            </a:r>
            <a:r>
              <a:rPr lang="en-US" sz="2800">
                <a:latin typeface="Arial"/>
                <a:ea typeface="Arial"/>
                <a:cs typeface="Arial"/>
                <a:sym typeface="Arial"/>
              </a:rPr>
              <a:t> </a:t>
            </a:r>
            <a:r>
              <a:rPr lang="en-US" sz="2800" err="1">
                <a:latin typeface="Arial"/>
                <a:ea typeface="Arial"/>
                <a:cs typeface="Arial"/>
                <a:sym typeface="Arial"/>
              </a:rPr>
              <a:t>khái</a:t>
            </a:r>
            <a:r>
              <a:rPr lang="en-US" sz="2800">
                <a:latin typeface="Arial"/>
                <a:ea typeface="Arial"/>
                <a:cs typeface="Arial"/>
                <a:sym typeface="Arial"/>
              </a:rPr>
              <a:t> </a:t>
            </a:r>
            <a:r>
              <a:rPr lang="en-US" sz="2800" err="1">
                <a:latin typeface="Arial"/>
                <a:ea typeface="Arial"/>
                <a:cs typeface="Arial"/>
                <a:sym typeface="Arial"/>
              </a:rPr>
              <a:t>niệm</a:t>
            </a:r>
            <a:r>
              <a:rPr lang="en-US" sz="2800">
                <a:latin typeface="Arial"/>
                <a:ea typeface="Arial"/>
                <a:cs typeface="Arial"/>
                <a:sym typeface="Arial"/>
              </a:rPr>
              <a:t> </a:t>
            </a:r>
            <a:r>
              <a:rPr lang="en-US" sz="2800" err="1">
                <a:latin typeface="Arial"/>
                <a:ea typeface="Arial"/>
                <a:cs typeface="Arial"/>
                <a:sym typeface="Arial"/>
              </a:rPr>
              <a:t>liên</a:t>
            </a:r>
            <a:r>
              <a:rPr lang="en-US" sz="2800">
                <a:latin typeface="Arial"/>
                <a:ea typeface="Arial"/>
                <a:cs typeface="Arial"/>
                <a:sym typeface="Arial"/>
              </a:rPr>
              <a:t> </a:t>
            </a:r>
            <a:r>
              <a:rPr lang="en-US" sz="2800" err="1">
                <a:latin typeface="Arial"/>
                <a:ea typeface="Arial"/>
                <a:cs typeface="Arial"/>
                <a:sym typeface="Arial"/>
              </a:rPr>
              <a:t>quan</a:t>
            </a:r>
            <a:r>
              <a:rPr lang="en-US" sz="2800">
                <a:latin typeface="Arial"/>
                <a:ea typeface="Arial"/>
                <a:cs typeface="Arial"/>
                <a:sym typeface="Arial"/>
              </a:rPr>
              <a:t> </a:t>
            </a:r>
            <a:r>
              <a:rPr lang="en-US" sz="2800" err="1">
                <a:latin typeface="Arial"/>
                <a:ea typeface="Arial"/>
                <a:cs typeface="Arial"/>
                <a:sym typeface="Arial"/>
              </a:rPr>
              <a:t>đến</a:t>
            </a:r>
            <a:r>
              <a:rPr lang="en-US" sz="2800">
                <a:latin typeface="Arial"/>
                <a:ea typeface="Arial"/>
                <a:cs typeface="Arial"/>
                <a:sym typeface="Arial"/>
              </a:rPr>
              <a:t> </a:t>
            </a:r>
            <a:r>
              <a:rPr lang="en-US" sz="2800" err="1">
                <a:latin typeface="Arial"/>
                <a:ea typeface="Arial"/>
                <a:cs typeface="Arial"/>
                <a:sym typeface="Arial"/>
              </a:rPr>
              <a:t>văn</a:t>
            </a:r>
            <a:r>
              <a:rPr lang="en-US" sz="2800">
                <a:latin typeface="Arial"/>
                <a:ea typeface="Arial"/>
                <a:cs typeface="Arial"/>
                <a:sym typeface="Arial"/>
              </a:rPr>
              <a:t> </a:t>
            </a:r>
            <a:r>
              <a:rPr lang="en-US" sz="2800" err="1">
                <a:latin typeface="Arial"/>
                <a:ea typeface="Arial"/>
                <a:cs typeface="Arial"/>
                <a:sym typeface="Arial"/>
              </a:rPr>
              <a:t>hóa</a:t>
            </a:r>
            <a:r>
              <a:rPr lang="en-US" sz="2800">
                <a:latin typeface="Arial"/>
                <a:ea typeface="Arial"/>
                <a:cs typeface="Arial"/>
                <a:sym typeface="Arial"/>
              </a:rPr>
              <a:t>.</a:t>
            </a:r>
            <a:endParaRPr>
              <a:latin typeface="Arial"/>
              <a:ea typeface="Arial"/>
              <a:cs typeface="Arial"/>
              <a:sym typeface="Arial"/>
            </a:endParaRPr>
          </a:p>
          <a:p>
            <a:pPr marL="1016000" lvl="1" indent="-558800" algn="just" rtl="0">
              <a:lnSpc>
                <a:spcPct val="100000"/>
              </a:lnSpc>
              <a:spcBef>
                <a:spcPts val="0"/>
              </a:spcBef>
              <a:spcAft>
                <a:spcPts val="0"/>
              </a:spcAft>
              <a:buClr>
                <a:schemeClr val="dk1"/>
              </a:buClr>
              <a:buSzPts val="2800"/>
              <a:buFont typeface="Noto Sans Symbols"/>
              <a:buChar char="⮚"/>
            </a:pPr>
            <a:r>
              <a:rPr lang="en-US" sz="2800" err="1">
                <a:latin typeface="Arial"/>
                <a:ea typeface="Arial"/>
                <a:cs typeface="Arial"/>
                <a:sym typeface="Arial"/>
              </a:rPr>
              <a:t>Phân</a:t>
            </a:r>
            <a:r>
              <a:rPr lang="en-US" sz="2800">
                <a:latin typeface="Arial"/>
                <a:ea typeface="Arial"/>
                <a:cs typeface="Arial"/>
                <a:sym typeface="Arial"/>
              </a:rPr>
              <a:t> </a:t>
            </a:r>
            <a:r>
              <a:rPr lang="en-US" sz="2800" err="1">
                <a:latin typeface="Arial"/>
                <a:ea typeface="Arial"/>
                <a:cs typeface="Arial"/>
                <a:sym typeface="Arial"/>
              </a:rPr>
              <a:t>tích</a:t>
            </a:r>
            <a:r>
              <a:rPr lang="en-US" sz="2800">
                <a:latin typeface="Arial"/>
                <a:ea typeface="Arial"/>
                <a:cs typeface="Arial"/>
                <a:sym typeface="Arial"/>
              </a:rPr>
              <a:t> </a:t>
            </a:r>
            <a:r>
              <a:rPr lang="en-US" sz="2800" err="1">
                <a:latin typeface="Arial"/>
                <a:ea typeface="Arial"/>
                <a:cs typeface="Arial"/>
                <a:sym typeface="Arial"/>
              </a:rPr>
              <a:t>và</a:t>
            </a:r>
            <a:r>
              <a:rPr lang="en-US" sz="2800">
                <a:latin typeface="Arial"/>
                <a:ea typeface="Arial"/>
                <a:cs typeface="Arial"/>
                <a:sym typeface="Arial"/>
              </a:rPr>
              <a:t> </a:t>
            </a:r>
            <a:r>
              <a:rPr lang="en-US" sz="2800" err="1">
                <a:latin typeface="Arial"/>
                <a:ea typeface="Arial"/>
                <a:cs typeface="Arial"/>
                <a:sym typeface="Arial"/>
              </a:rPr>
              <a:t>giải</a:t>
            </a:r>
            <a:r>
              <a:rPr lang="en-US" sz="2800">
                <a:latin typeface="Arial"/>
                <a:ea typeface="Arial"/>
                <a:cs typeface="Arial"/>
                <a:sym typeface="Arial"/>
              </a:rPr>
              <a:t> </a:t>
            </a:r>
            <a:r>
              <a:rPr lang="en-US" sz="2800" err="1">
                <a:latin typeface="Arial"/>
                <a:ea typeface="Arial"/>
                <a:cs typeface="Arial"/>
                <a:sym typeface="Arial"/>
              </a:rPr>
              <a:t>thích</a:t>
            </a:r>
            <a:r>
              <a:rPr lang="en-US" sz="2800">
                <a:latin typeface="Arial"/>
                <a:ea typeface="Arial"/>
                <a:cs typeface="Arial"/>
                <a:sym typeface="Arial"/>
              </a:rPr>
              <a:t> </a:t>
            </a:r>
            <a:r>
              <a:rPr lang="en-US" sz="2800" err="1">
                <a:latin typeface="Arial"/>
                <a:ea typeface="Arial"/>
                <a:cs typeface="Arial"/>
                <a:sym typeface="Arial"/>
              </a:rPr>
              <a:t>được</a:t>
            </a:r>
            <a:r>
              <a:rPr lang="en-US" sz="2800">
                <a:latin typeface="Arial"/>
                <a:ea typeface="Arial"/>
                <a:cs typeface="Arial"/>
                <a:sym typeface="Arial"/>
              </a:rPr>
              <a:t> </a:t>
            </a:r>
            <a:r>
              <a:rPr lang="en-US" sz="2800" err="1">
                <a:latin typeface="Arial"/>
                <a:ea typeface="Arial"/>
                <a:cs typeface="Arial"/>
                <a:sym typeface="Arial"/>
              </a:rPr>
              <a:t>các</a:t>
            </a:r>
            <a:r>
              <a:rPr lang="en-US" sz="2800">
                <a:latin typeface="Arial"/>
                <a:ea typeface="Arial"/>
                <a:cs typeface="Arial"/>
                <a:sym typeface="Arial"/>
              </a:rPr>
              <a:t> </a:t>
            </a:r>
            <a:r>
              <a:rPr lang="en-US" sz="2800" err="1">
                <a:latin typeface="Arial"/>
                <a:ea typeface="Arial"/>
                <a:cs typeface="Arial"/>
                <a:sym typeface="Arial"/>
              </a:rPr>
              <a:t>yếu</a:t>
            </a:r>
            <a:r>
              <a:rPr lang="en-US" sz="2800">
                <a:latin typeface="Arial"/>
                <a:ea typeface="Arial"/>
                <a:cs typeface="Arial"/>
                <a:sym typeface="Arial"/>
              </a:rPr>
              <a:t> </a:t>
            </a:r>
            <a:r>
              <a:rPr lang="en-US" sz="2800" err="1">
                <a:latin typeface="Arial"/>
                <a:ea typeface="Arial"/>
                <a:cs typeface="Arial"/>
                <a:sym typeface="Arial"/>
              </a:rPr>
              <a:t>tố</a:t>
            </a:r>
            <a:r>
              <a:rPr lang="en-US" sz="2800">
                <a:latin typeface="Arial"/>
                <a:ea typeface="Arial"/>
                <a:cs typeface="Arial"/>
                <a:sym typeface="Arial"/>
              </a:rPr>
              <a:t> </a:t>
            </a:r>
            <a:r>
              <a:rPr lang="en-US" sz="2800" err="1">
                <a:latin typeface="Arial"/>
                <a:ea typeface="Arial"/>
                <a:cs typeface="Arial"/>
                <a:sym typeface="Arial"/>
              </a:rPr>
              <a:t>văn</a:t>
            </a:r>
            <a:r>
              <a:rPr lang="en-US" sz="2800">
                <a:latin typeface="Arial"/>
                <a:ea typeface="Arial"/>
                <a:cs typeface="Arial"/>
                <a:sym typeface="Arial"/>
              </a:rPr>
              <a:t> </a:t>
            </a:r>
            <a:r>
              <a:rPr lang="en-US" sz="2800" err="1">
                <a:latin typeface="Arial"/>
                <a:ea typeface="Arial"/>
                <a:cs typeface="Arial"/>
                <a:sym typeface="Arial"/>
              </a:rPr>
              <a:t>hoá</a:t>
            </a:r>
            <a:r>
              <a:rPr lang="en-US" sz="2800">
                <a:latin typeface="Arial"/>
                <a:ea typeface="Arial"/>
                <a:cs typeface="Arial"/>
                <a:sym typeface="Arial"/>
              </a:rPr>
              <a:t> </a:t>
            </a:r>
            <a:r>
              <a:rPr lang="en-US" sz="2800" err="1">
                <a:latin typeface="Arial"/>
                <a:ea typeface="Arial"/>
                <a:cs typeface="Arial"/>
                <a:sym typeface="Arial"/>
              </a:rPr>
              <a:t>ảnh</a:t>
            </a:r>
            <a:r>
              <a:rPr lang="en-US" sz="2800">
                <a:latin typeface="Arial"/>
                <a:ea typeface="Arial"/>
                <a:cs typeface="Arial"/>
                <a:sym typeface="Arial"/>
              </a:rPr>
              <a:t> </a:t>
            </a:r>
            <a:r>
              <a:rPr lang="en-US" sz="2800" err="1">
                <a:latin typeface="Arial"/>
                <a:ea typeface="Arial"/>
                <a:cs typeface="Arial"/>
                <a:sym typeface="Arial"/>
              </a:rPr>
              <a:t>hưởng</a:t>
            </a:r>
            <a:r>
              <a:rPr lang="en-US" sz="2800">
                <a:latin typeface="Arial"/>
                <a:ea typeface="Arial"/>
                <a:cs typeface="Arial"/>
                <a:sym typeface="Arial"/>
              </a:rPr>
              <a:t> </a:t>
            </a:r>
            <a:r>
              <a:rPr lang="en-US" sz="2800" err="1">
                <a:latin typeface="Arial"/>
                <a:ea typeface="Arial"/>
                <a:cs typeface="Arial"/>
                <a:sym typeface="Arial"/>
              </a:rPr>
              <a:t>đến</a:t>
            </a:r>
            <a:r>
              <a:rPr lang="en-US" sz="2800">
                <a:latin typeface="Arial"/>
                <a:ea typeface="Arial"/>
                <a:cs typeface="Arial"/>
                <a:sym typeface="Arial"/>
              </a:rPr>
              <a:t> </a:t>
            </a:r>
            <a:r>
              <a:rPr lang="en-US" sz="2800" err="1">
                <a:latin typeface="Arial"/>
                <a:ea typeface="Arial"/>
                <a:cs typeface="Arial"/>
                <a:sym typeface="Arial"/>
              </a:rPr>
              <a:t>hành</a:t>
            </a:r>
            <a:r>
              <a:rPr lang="en-US" sz="2800">
                <a:latin typeface="Arial"/>
                <a:ea typeface="Arial"/>
                <a:cs typeface="Arial"/>
                <a:sym typeface="Arial"/>
              </a:rPr>
              <a:t> vi </a:t>
            </a:r>
            <a:r>
              <a:rPr lang="en-US" sz="2800" err="1">
                <a:latin typeface="Arial"/>
                <a:ea typeface="Arial"/>
                <a:cs typeface="Arial"/>
                <a:sym typeface="Arial"/>
              </a:rPr>
              <a:t>tiêu</a:t>
            </a:r>
            <a:r>
              <a:rPr lang="en-US" sz="2800">
                <a:latin typeface="Arial"/>
                <a:ea typeface="Arial"/>
                <a:cs typeface="Arial"/>
                <a:sym typeface="Arial"/>
              </a:rPr>
              <a:t> </a:t>
            </a:r>
            <a:r>
              <a:rPr lang="en-US" sz="2800" err="1">
                <a:latin typeface="Arial"/>
                <a:ea typeface="Arial"/>
                <a:cs typeface="Arial"/>
                <a:sym typeface="Arial"/>
              </a:rPr>
              <a:t>dùng</a:t>
            </a:r>
            <a:endParaRPr lang="en-US">
              <a:latin typeface="Arial"/>
              <a:ea typeface="Arial"/>
              <a:cs typeface="Arial"/>
              <a:sym typeface="Arial"/>
            </a:endParaRPr>
          </a:p>
          <a:p>
            <a:pPr marL="1016000" lvl="1" indent="-558800" algn="just" rtl="0">
              <a:lnSpc>
                <a:spcPct val="150000"/>
              </a:lnSpc>
              <a:spcBef>
                <a:spcPts val="0"/>
              </a:spcBef>
              <a:spcAft>
                <a:spcPts val="0"/>
              </a:spcAft>
              <a:buClr>
                <a:schemeClr val="dk1"/>
              </a:buClr>
              <a:buSzPts val="2800"/>
              <a:buFont typeface="Noto Sans Symbols"/>
              <a:buChar char="⮚"/>
            </a:pPr>
            <a:r>
              <a:rPr lang="vi-VN" sz="2800">
                <a:solidFill>
                  <a:srgbClr val="232B34"/>
                </a:solidFill>
                <a:latin typeface="+mn-lt"/>
              </a:rPr>
              <a:t>Giải thích ảnh hưởng của nhóm xã hội, nhóm tham khảo, gia đình và giai tầng</a:t>
            </a:r>
            <a:r>
              <a:rPr lang="en-US" sz="2800">
                <a:solidFill>
                  <a:srgbClr val="232B34"/>
                </a:solidFill>
                <a:latin typeface="+mn-lt"/>
              </a:rPr>
              <a:t> </a:t>
            </a:r>
            <a:r>
              <a:rPr lang="en-US" sz="2800" err="1">
                <a:solidFill>
                  <a:srgbClr val="232B34"/>
                </a:solidFill>
                <a:latin typeface="+mn-lt"/>
              </a:rPr>
              <a:t>đến</a:t>
            </a:r>
            <a:r>
              <a:rPr lang="en-US" sz="2800">
                <a:solidFill>
                  <a:srgbClr val="232B34"/>
                </a:solidFill>
                <a:latin typeface="+mn-lt"/>
              </a:rPr>
              <a:t> </a:t>
            </a:r>
            <a:r>
              <a:rPr lang="en-US" sz="2800" err="1">
                <a:solidFill>
                  <a:srgbClr val="232B34"/>
                </a:solidFill>
                <a:latin typeface="+mn-lt"/>
              </a:rPr>
              <a:t>hành</a:t>
            </a:r>
            <a:r>
              <a:rPr lang="en-US" sz="2800">
                <a:solidFill>
                  <a:srgbClr val="232B34"/>
                </a:solidFill>
                <a:latin typeface="+mn-lt"/>
              </a:rPr>
              <a:t> vi </a:t>
            </a:r>
            <a:r>
              <a:rPr lang="en-US" sz="2800" err="1">
                <a:solidFill>
                  <a:srgbClr val="232B34"/>
                </a:solidFill>
                <a:latin typeface="+mn-lt"/>
              </a:rPr>
              <a:t>tiêu</a:t>
            </a:r>
            <a:r>
              <a:rPr lang="en-US" sz="2800">
                <a:solidFill>
                  <a:srgbClr val="232B34"/>
                </a:solidFill>
                <a:latin typeface="+mn-lt"/>
              </a:rPr>
              <a:t> </a:t>
            </a:r>
            <a:r>
              <a:rPr lang="en-US" sz="2800" err="1">
                <a:solidFill>
                  <a:srgbClr val="232B34"/>
                </a:solidFill>
                <a:latin typeface="+mn-lt"/>
              </a:rPr>
              <a:t>dùng</a:t>
            </a:r>
            <a:endParaRPr lang="vi-VN" sz="2800">
              <a:solidFill>
                <a:srgbClr val="232B34"/>
              </a:solidFill>
              <a:latin typeface="+mn-lt"/>
            </a:endParaRPr>
          </a:p>
          <a:p>
            <a:pPr marL="1016000" lvl="1" indent="-558800" algn="just">
              <a:lnSpc>
                <a:spcPct val="150000"/>
              </a:lnSpc>
              <a:spcBef>
                <a:spcPts val="0"/>
              </a:spcBef>
              <a:buSzPts val="2800"/>
              <a:buFont typeface="Noto Sans Symbols"/>
              <a:buChar char="⮚"/>
            </a:pPr>
            <a:r>
              <a:rPr lang="en-US" sz="2800" err="1">
                <a:solidFill>
                  <a:srgbClr val="232B34"/>
                </a:solidFill>
                <a:latin typeface="Aptos"/>
              </a:rPr>
              <a:t>Nhận</a:t>
            </a:r>
            <a:r>
              <a:rPr lang="en-US" sz="2800">
                <a:solidFill>
                  <a:srgbClr val="232B34"/>
                </a:solidFill>
                <a:latin typeface="Aptos"/>
              </a:rPr>
              <a:t> </a:t>
            </a:r>
            <a:r>
              <a:rPr lang="en-US" sz="2800" err="1">
                <a:solidFill>
                  <a:srgbClr val="232B34"/>
                </a:solidFill>
                <a:latin typeface="Aptos"/>
              </a:rPr>
              <a:t>diện</a:t>
            </a:r>
            <a:r>
              <a:rPr lang="en-US" sz="2800">
                <a:solidFill>
                  <a:srgbClr val="232B34"/>
                </a:solidFill>
                <a:latin typeface="Aptos"/>
              </a:rPr>
              <a:t> </a:t>
            </a:r>
            <a:r>
              <a:rPr lang="en-US" sz="2800" err="1">
                <a:solidFill>
                  <a:srgbClr val="232B34"/>
                </a:solidFill>
                <a:latin typeface="Aptos"/>
              </a:rPr>
              <a:t>các</a:t>
            </a:r>
            <a:r>
              <a:rPr lang="en-US" sz="2800">
                <a:solidFill>
                  <a:srgbClr val="232B34"/>
                </a:solidFill>
                <a:latin typeface="Aptos"/>
              </a:rPr>
              <a:t> </a:t>
            </a:r>
            <a:r>
              <a:rPr lang="en-US" sz="2800" err="1">
                <a:solidFill>
                  <a:srgbClr val="232B34"/>
                </a:solidFill>
                <a:latin typeface="Aptos"/>
              </a:rPr>
              <a:t>tình</a:t>
            </a:r>
            <a:r>
              <a:rPr lang="en-US" sz="2800">
                <a:solidFill>
                  <a:srgbClr val="232B34"/>
                </a:solidFill>
                <a:latin typeface="Aptos"/>
              </a:rPr>
              <a:t> </a:t>
            </a:r>
            <a:r>
              <a:rPr lang="en-US" sz="2800" err="1">
                <a:solidFill>
                  <a:srgbClr val="232B34"/>
                </a:solidFill>
                <a:latin typeface="Aptos"/>
              </a:rPr>
              <a:t>huống</a:t>
            </a:r>
            <a:r>
              <a:rPr lang="en-US" sz="2800">
                <a:solidFill>
                  <a:srgbClr val="232B34"/>
                </a:solidFill>
                <a:latin typeface="Aptos"/>
              </a:rPr>
              <a:t> </a:t>
            </a:r>
            <a:r>
              <a:rPr lang="en-US" sz="2800" err="1">
                <a:solidFill>
                  <a:srgbClr val="232B34"/>
                </a:solidFill>
                <a:latin typeface="Aptos"/>
              </a:rPr>
              <a:t>có</a:t>
            </a:r>
            <a:r>
              <a:rPr lang="en-US" sz="2800">
                <a:solidFill>
                  <a:srgbClr val="232B34"/>
                </a:solidFill>
                <a:latin typeface="Aptos"/>
              </a:rPr>
              <a:t> </a:t>
            </a:r>
            <a:r>
              <a:rPr lang="en-US" sz="2800" err="1">
                <a:solidFill>
                  <a:srgbClr val="232B34"/>
                </a:solidFill>
                <a:latin typeface="Aptos"/>
              </a:rPr>
              <a:t>thể</a:t>
            </a:r>
            <a:r>
              <a:rPr lang="en-US" sz="2800">
                <a:solidFill>
                  <a:srgbClr val="232B34"/>
                </a:solidFill>
                <a:latin typeface="Aptos"/>
              </a:rPr>
              <a:t> </a:t>
            </a:r>
            <a:r>
              <a:rPr lang="en-US" sz="2800" err="1">
                <a:solidFill>
                  <a:srgbClr val="232B34"/>
                </a:solidFill>
                <a:latin typeface="Aptos"/>
              </a:rPr>
              <a:t>làm</a:t>
            </a:r>
            <a:r>
              <a:rPr lang="en-US" sz="2800">
                <a:solidFill>
                  <a:srgbClr val="232B34"/>
                </a:solidFill>
                <a:latin typeface="Aptos"/>
              </a:rPr>
              <a:t> </a:t>
            </a:r>
            <a:r>
              <a:rPr lang="en-US" sz="2800" err="1">
                <a:solidFill>
                  <a:srgbClr val="232B34"/>
                </a:solidFill>
                <a:latin typeface="Aptos"/>
              </a:rPr>
              <a:t>thay</a:t>
            </a:r>
            <a:r>
              <a:rPr lang="en-US" sz="2800">
                <a:solidFill>
                  <a:srgbClr val="232B34"/>
                </a:solidFill>
                <a:latin typeface="Aptos"/>
              </a:rPr>
              <a:t> </a:t>
            </a:r>
            <a:r>
              <a:rPr lang="en-US" sz="2800" err="1">
                <a:solidFill>
                  <a:srgbClr val="232B34"/>
                </a:solidFill>
                <a:latin typeface="Aptos"/>
              </a:rPr>
              <a:t>đổi</a:t>
            </a:r>
            <a:r>
              <a:rPr lang="en-US" sz="2800">
                <a:solidFill>
                  <a:srgbClr val="232B34"/>
                </a:solidFill>
                <a:latin typeface="Aptos"/>
              </a:rPr>
              <a:t> </a:t>
            </a:r>
            <a:r>
              <a:rPr lang="en-US" sz="2800" err="1">
                <a:solidFill>
                  <a:srgbClr val="232B34"/>
                </a:solidFill>
                <a:latin typeface="Aptos"/>
              </a:rPr>
              <a:t>hành</a:t>
            </a:r>
            <a:r>
              <a:rPr lang="en-US" sz="2800">
                <a:solidFill>
                  <a:srgbClr val="232B34"/>
                </a:solidFill>
                <a:latin typeface="Aptos"/>
              </a:rPr>
              <a:t> vi </a:t>
            </a:r>
            <a:r>
              <a:rPr lang="en-US" sz="2800" err="1">
                <a:solidFill>
                  <a:srgbClr val="232B34"/>
                </a:solidFill>
                <a:latin typeface="Aptos"/>
              </a:rPr>
              <a:t>mua</a:t>
            </a:r>
            <a:r>
              <a:rPr lang="en-US" sz="2800">
                <a:solidFill>
                  <a:srgbClr val="232B34"/>
                </a:solidFill>
                <a:latin typeface="Aptos"/>
              </a:rPr>
              <a:t> </a:t>
            </a:r>
            <a:r>
              <a:rPr lang="en-US" sz="2800" err="1">
                <a:solidFill>
                  <a:srgbClr val="232B34"/>
                </a:solidFill>
                <a:latin typeface="Aptos"/>
              </a:rPr>
              <a:t>và</a:t>
            </a:r>
            <a:r>
              <a:rPr lang="en-US" sz="2800">
                <a:solidFill>
                  <a:srgbClr val="232B34"/>
                </a:solidFill>
                <a:latin typeface="Aptos"/>
              </a:rPr>
              <a:t> </a:t>
            </a:r>
            <a:r>
              <a:rPr lang="en-US" sz="2800" err="1">
                <a:solidFill>
                  <a:srgbClr val="232B34"/>
                </a:solidFill>
                <a:latin typeface="Aptos"/>
              </a:rPr>
              <a:t>tiêu</a:t>
            </a:r>
            <a:r>
              <a:rPr lang="en-US" sz="2800">
                <a:solidFill>
                  <a:srgbClr val="232B34"/>
                </a:solidFill>
                <a:latin typeface="Aptos"/>
              </a:rPr>
              <a:t> </a:t>
            </a:r>
            <a:r>
              <a:rPr lang="en-US" sz="2800" err="1">
                <a:solidFill>
                  <a:srgbClr val="232B34"/>
                </a:solidFill>
                <a:latin typeface="Aptos"/>
              </a:rPr>
              <a:t>dùng</a:t>
            </a:r>
            <a:r>
              <a:rPr lang="en-US" sz="2800">
                <a:latin typeface="Arial"/>
                <a:ea typeface="Arial"/>
                <a:cs typeface="Arial"/>
                <a:sym typeface="Arial"/>
              </a:rPr>
              <a:t>.</a:t>
            </a:r>
            <a:endParaRPr lang="en-US">
              <a:latin typeface="Arial"/>
              <a:ea typeface="Arial"/>
              <a:cs typeface="Arial"/>
              <a:sym typeface="Arial"/>
            </a:endParaRPr>
          </a:p>
          <a:p>
            <a:pPr marL="1016000" lvl="1" indent="-558800" algn="just">
              <a:lnSpc>
                <a:spcPct val="150000"/>
              </a:lnSpc>
              <a:spcBef>
                <a:spcPts val="0"/>
              </a:spcBef>
              <a:buSzPts val="2800"/>
              <a:buFont typeface="Noto Sans Symbols"/>
              <a:buChar char="⮚"/>
            </a:pPr>
            <a:r>
              <a:rPr lang="en-US" sz="2800" err="1">
                <a:latin typeface="Arial"/>
                <a:ea typeface="Arial"/>
                <a:cs typeface="Arial"/>
                <a:sym typeface="Arial"/>
              </a:rPr>
              <a:t>Vận</a:t>
            </a:r>
            <a:r>
              <a:rPr lang="en-US" sz="2800">
                <a:latin typeface="Arial"/>
                <a:ea typeface="Arial"/>
                <a:cs typeface="Arial"/>
                <a:sym typeface="Arial"/>
              </a:rPr>
              <a:t> </a:t>
            </a:r>
            <a:r>
              <a:rPr lang="en-US" sz="2800" err="1">
                <a:latin typeface="Arial"/>
                <a:ea typeface="Arial"/>
                <a:cs typeface="Arial"/>
                <a:sym typeface="Arial"/>
              </a:rPr>
              <a:t>dụng</a:t>
            </a:r>
            <a:r>
              <a:rPr lang="en-US" sz="2800">
                <a:latin typeface="Arial"/>
                <a:ea typeface="Arial"/>
                <a:cs typeface="Arial"/>
                <a:sym typeface="Arial"/>
              </a:rPr>
              <a:t> </a:t>
            </a:r>
            <a:r>
              <a:rPr lang="en-US" sz="2800" err="1">
                <a:latin typeface="Arial"/>
                <a:ea typeface="Arial"/>
                <a:cs typeface="Arial"/>
                <a:sym typeface="Arial"/>
              </a:rPr>
              <a:t>sự</a:t>
            </a:r>
            <a:r>
              <a:rPr lang="en-US" sz="2800">
                <a:latin typeface="Arial"/>
                <a:ea typeface="Arial"/>
                <a:cs typeface="Arial"/>
                <a:sym typeface="Arial"/>
              </a:rPr>
              <a:t> </a:t>
            </a:r>
            <a:r>
              <a:rPr lang="en-US" sz="2800" err="1">
                <a:latin typeface="Arial"/>
                <a:ea typeface="Arial"/>
                <a:cs typeface="Arial"/>
                <a:sym typeface="Arial"/>
              </a:rPr>
              <a:t>hiểu</a:t>
            </a:r>
            <a:r>
              <a:rPr lang="en-US" sz="2800">
                <a:latin typeface="Arial"/>
                <a:ea typeface="Arial"/>
                <a:cs typeface="Arial"/>
                <a:sym typeface="Arial"/>
              </a:rPr>
              <a:t> </a:t>
            </a:r>
            <a:r>
              <a:rPr lang="en-US" sz="2800" err="1">
                <a:latin typeface="Arial"/>
                <a:ea typeface="Arial"/>
                <a:cs typeface="Arial"/>
                <a:sym typeface="Arial"/>
              </a:rPr>
              <a:t>biết</a:t>
            </a:r>
            <a:r>
              <a:rPr lang="en-US" sz="2800">
                <a:latin typeface="Arial"/>
                <a:ea typeface="Arial"/>
                <a:cs typeface="Arial"/>
                <a:sym typeface="Arial"/>
              </a:rPr>
              <a:t> </a:t>
            </a:r>
            <a:r>
              <a:rPr lang="en-US" sz="2800" err="1">
                <a:latin typeface="Arial"/>
                <a:ea typeface="Arial"/>
                <a:cs typeface="Arial"/>
                <a:sym typeface="Arial"/>
              </a:rPr>
              <a:t>về</a:t>
            </a:r>
            <a:r>
              <a:rPr lang="en-US" sz="2800">
                <a:latin typeface="Arial"/>
                <a:ea typeface="Arial"/>
                <a:cs typeface="Arial"/>
                <a:sym typeface="Arial"/>
              </a:rPr>
              <a:t> </a:t>
            </a:r>
            <a:r>
              <a:rPr lang="en-US" sz="2800" err="1">
                <a:latin typeface="Arial"/>
                <a:ea typeface="Arial"/>
                <a:cs typeface="Arial"/>
                <a:sym typeface="Arial"/>
              </a:rPr>
              <a:t>các</a:t>
            </a:r>
            <a:r>
              <a:rPr lang="en-US" sz="2800">
                <a:latin typeface="Arial"/>
                <a:ea typeface="Arial"/>
                <a:cs typeface="Arial"/>
                <a:sym typeface="Arial"/>
              </a:rPr>
              <a:t> </a:t>
            </a:r>
            <a:r>
              <a:rPr lang="en-US" sz="2800" err="1">
                <a:latin typeface="Arial"/>
                <a:ea typeface="Arial"/>
                <a:cs typeface="Arial"/>
                <a:sym typeface="Arial"/>
              </a:rPr>
              <a:t>yếu</a:t>
            </a:r>
            <a:r>
              <a:rPr lang="en-US" sz="2800">
                <a:latin typeface="Arial"/>
                <a:ea typeface="Arial"/>
                <a:cs typeface="Arial"/>
                <a:sym typeface="Arial"/>
              </a:rPr>
              <a:t> </a:t>
            </a:r>
            <a:r>
              <a:rPr lang="en-US" sz="2800" err="1">
                <a:latin typeface="Arial"/>
                <a:ea typeface="Arial"/>
                <a:cs typeface="Arial"/>
                <a:sym typeface="Arial"/>
              </a:rPr>
              <a:t>tố</a:t>
            </a:r>
            <a:r>
              <a:rPr lang="en-US" sz="2800">
                <a:latin typeface="Arial"/>
                <a:ea typeface="Arial"/>
                <a:cs typeface="Arial"/>
                <a:sym typeface="Arial"/>
              </a:rPr>
              <a:t> </a:t>
            </a:r>
            <a:r>
              <a:rPr lang="en-US" sz="2800" err="1">
                <a:latin typeface="Arial"/>
                <a:ea typeface="Arial"/>
                <a:cs typeface="Arial"/>
                <a:sym typeface="Arial"/>
              </a:rPr>
              <a:t>này</a:t>
            </a:r>
            <a:r>
              <a:rPr lang="en-US" sz="2800">
                <a:latin typeface="Arial"/>
                <a:ea typeface="Arial"/>
                <a:cs typeface="Arial"/>
                <a:sym typeface="Arial"/>
              </a:rPr>
              <a:t> </a:t>
            </a:r>
            <a:r>
              <a:rPr lang="en-US" sz="2800" err="1">
                <a:latin typeface="Arial"/>
                <a:ea typeface="Arial"/>
                <a:cs typeface="Arial"/>
                <a:sym typeface="Arial"/>
              </a:rPr>
              <a:t>để</a:t>
            </a:r>
            <a:r>
              <a:rPr lang="en-US" sz="2800">
                <a:latin typeface="Arial"/>
                <a:ea typeface="Arial"/>
                <a:cs typeface="Arial"/>
                <a:sym typeface="Arial"/>
              </a:rPr>
              <a:t> </a:t>
            </a:r>
            <a:r>
              <a:rPr lang="en-US" sz="2800" err="1">
                <a:latin typeface="Arial"/>
                <a:ea typeface="Arial"/>
                <a:cs typeface="Arial"/>
                <a:sym typeface="Arial"/>
              </a:rPr>
              <a:t>hoạch</a:t>
            </a:r>
            <a:r>
              <a:rPr lang="en-US" sz="2800">
                <a:latin typeface="Arial"/>
                <a:ea typeface="Arial"/>
                <a:cs typeface="Arial"/>
                <a:sym typeface="Arial"/>
              </a:rPr>
              <a:t> </a:t>
            </a:r>
            <a:r>
              <a:rPr lang="en-US" sz="2800" err="1">
                <a:latin typeface="Arial"/>
                <a:ea typeface="Arial"/>
                <a:cs typeface="Arial"/>
                <a:sym typeface="Arial"/>
              </a:rPr>
              <a:t>định</a:t>
            </a:r>
            <a:r>
              <a:rPr lang="en-US" sz="2800">
                <a:latin typeface="Arial"/>
                <a:ea typeface="Arial"/>
                <a:cs typeface="Arial"/>
                <a:sym typeface="Arial"/>
              </a:rPr>
              <a:t> </a:t>
            </a:r>
            <a:r>
              <a:rPr lang="en-US" sz="2800" err="1">
                <a:latin typeface="Arial"/>
                <a:ea typeface="Arial"/>
                <a:cs typeface="Arial"/>
                <a:sym typeface="Arial"/>
              </a:rPr>
              <a:t>các</a:t>
            </a:r>
            <a:r>
              <a:rPr lang="en-US" sz="2800">
                <a:latin typeface="Arial"/>
                <a:ea typeface="Arial"/>
                <a:cs typeface="Arial"/>
                <a:sym typeface="Arial"/>
              </a:rPr>
              <a:t> </a:t>
            </a:r>
            <a:r>
              <a:rPr lang="en-US" sz="2800" err="1">
                <a:latin typeface="Arial"/>
                <a:ea typeface="Arial"/>
                <a:cs typeface="Arial"/>
                <a:sym typeface="Arial"/>
              </a:rPr>
              <a:t>chiến</a:t>
            </a:r>
            <a:r>
              <a:rPr lang="en-US" sz="2800">
                <a:latin typeface="Arial"/>
                <a:ea typeface="Arial"/>
                <a:cs typeface="Arial"/>
                <a:sym typeface="Arial"/>
              </a:rPr>
              <a:t> </a:t>
            </a:r>
            <a:r>
              <a:rPr lang="en-US" sz="2800" err="1">
                <a:latin typeface="Arial"/>
                <a:ea typeface="Arial"/>
                <a:cs typeface="Arial"/>
                <a:sym typeface="Arial"/>
              </a:rPr>
              <a:t>lược</a:t>
            </a:r>
            <a:r>
              <a:rPr lang="en-US" sz="2800">
                <a:latin typeface="Arial"/>
                <a:ea typeface="Arial"/>
                <a:cs typeface="Arial"/>
                <a:sym typeface="Arial"/>
              </a:rPr>
              <a:t> Marketing. </a:t>
            </a:r>
            <a:endParaRPr sz="2800">
              <a:latin typeface="Arial"/>
              <a:ea typeface="Arial"/>
              <a:cs typeface="Arial"/>
              <a:sym typeface="Arial"/>
            </a:endParaRPr>
          </a:p>
          <a:p>
            <a:pPr marL="228600" lvl="0" indent="-50800" algn="just" rtl="0">
              <a:lnSpc>
                <a:spcPct val="150000"/>
              </a:lnSpc>
              <a:spcBef>
                <a:spcPts val="0"/>
              </a:spcBef>
              <a:spcAft>
                <a:spcPts val="0"/>
              </a:spcAft>
              <a:buClr>
                <a:schemeClr val="dk1"/>
              </a:buClr>
              <a:buSzPts val="2800"/>
              <a:buNone/>
            </a:pPr>
            <a:endParaRPr>
              <a:latin typeface="Arial" panose="020B0604020202020204" pitchFamily="34" charset="0"/>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63"/>
          <p:cNvSpPr txBox="1">
            <a:spLocks noGrp="1"/>
          </p:cNvSpPr>
          <p:nvPr>
            <p:ph type="title"/>
          </p:nvPr>
        </p:nvSpPr>
        <p:spPr>
          <a:xfrm>
            <a:off x="755650" y="65087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b="1">
                <a:latin typeface="Arial"/>
                <a:ea typeface="Arial"/>
                <a:cs typeface="Arial"/>
                <a:sym typeface="Arial"/>
              </a:rPr>
              <a:t>NỘI DUNG CHƯƠNG 2</a:t>
            </a:r>
            <a:endParaRPr/>
          </a:p>
        </p:txBody>
      </p:sp>
      <p:sp>
        <p:nvSpPr>
          <p:cNvPr id="514" name="Google Shape;514;p63"/>
          <p:cNvSpPr txBox="1">
            <a:spLocks noGrp="1"/>
          </p:cNvSpPr>
          <p:nvPr>
            <p:ph type="body" idx="1"/>
          </p:nvPr>
        </p:nvSpPr>
        <p:spPr>
          <a:xfrm>
            <a:off x="601980" y="1885949"/>
            <a:ext cx="10847070" cy="4290695"/>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chemeClr val="dk1"/>
              </a:buClr>
              <a:buSzPts val="3200"/>
              <a:buNone/>
            </a:pPr>
            <a:r>
              <a:rPr lang="en-US" sz="3200">
                <a:sym typeface="Arial"/>
              </a:rPr>
              <a:t>2.1. </a:t>
            </a:r>
            <a:r>
              <a:rPr lang="en-US" sz="3200" err="1"/>
              <a:t>Ảnh</a:t>
            </a:r>
            <a:r>
              <a:rPr lang="en-US" sz="3200"/>
              <a:t> </a:t>
            </a:r>
            <a:r>
              <a:rPr lang="en-US" sz="3200" err="1"/>
              <a:t>hưởng</a:t>
            </a:r>
            <a:r>
              <a:rPr lang="en-US" sz="3200"/>
              <a:t> </a:t>
            </a:r>
            <a:r>
              <a:rPr lang="en-US" sz="3200" err="1"/>
              <a:t>của</a:t>
            </a:r>
            <a:r>
              <a:rPr lang="en-US" sz="3200"/>
              <a:t> </a:t>
            </a:r>
            <a:r>
              <a:rPr lang="en-US" sz="3200" err="1"/>
              <a:t>văn</a:t>
            </a:r>
            <a:r>
              <a:rPr lang="en-US" sz="3200"/>
              <a:t> </a:t>
            </a:r>
            <a:r>
              <a:rPr lang="en-US" sz="3200" err="1"/>
              <a:t>hóa</a:t>
            </a:r>
            <a:r>
              <a:rPr lang="en-US" sz="3200"/>
              <a:t> </a:t>
            </a:r>
            <a:r>
              <a:rPr lang="en-US" sz="3200" err="1"/>
              <a:t>đến</a:t>
            </a:r>
            <a:r>
              <a:rPr lang="en-US" sz="3200"/>
              <a:t> </a:t>
            </a:r>
            <a:r>
              <a:rPr lang="en-US" sz="3200" err="1"/>
              <a:t>hành</a:t>
            </a:r>
            <a:r>
              <a:rPr lang="en-US" sz="3200"/>
              <a:t> vi </a:t>
            </a:r>
            <a:r>
              <a:rPr lang="en-US" sz="3200" err="1"/>
              <a:t>của</a:t>
            </a:r>
            <a:r>
              <a:rPr lang="en-US" sz="3200"/>
              <a:t> KH </a:t>
            </a:r>
            <a:r>
              <a:rPr lang="en-US" sz="3200" err="1"/>
              <a:t>cá</a:t>
            </a:r>
            <a:r>
              <a:rPr lang="en-US" sz="3200"/>
              <a:t> </a:t>
            </a:r>
            <a:r>
              <a:rPr lang="en-US" sz="3200" err="1"/>
              <a:t>nhân</a:t>
            </a:r>
            <a:endParaRPr sz="3200">
              <a:sym typeface="Arial"/>
            </a:endParaRPr>
          </a:p>
          <a:p>
            <a:pPr marL="0" indent="0" algn="just">
              <a:lnSpc>
                <a:spcPct val="150000"/>
              </a:lnSpc>
              <a:spcBef>
                <a:spcPts val="0"/>
              </a:spcBef>
              <a:buSzPts val="3200"/>
              <a:buNone/>
            </a:pPr>
            <a:r>
              <a:rPr lang="en-US" sz="3200">
                <a:sym typeface="Arial"/>
              </a:rPr>
              <a:t>2.2. </a:t>
            </a:r>
            <a:r>
              <a:rPr lang="vi-VN" sz="3200"/>
              <a:t>Ảnh hưởng của </a:t>
            </a:r>
            <a:r>
              <a:rPr lang="en-US" sz="3200" err="1"/>
              <a:t>yếu</a:t>
            </a:r>
            <a:r>
              <a:rPr lang="en-US" sz="3200"/>
              <a:t> </a:t>
            </a:r>
            <a:r>
              <a:rPr lang="en-US" sz="3200" err="1"/>
              <a:t>tố</a:t>
            </a:r>
            <a:r>
              <a:rPr lang="en-US" sz="3200"/>
              <a:t> </a:t>
            </a:r>
            <a:r>
              <a:rPr lang="en-US" sz="3200" err="1"/>
              <a:t>xã</a:t>
            </a:r>
            <a:r>
              <a:rPr lang="en-US" sz="3200"/>
              <a:t> </a:t>
            </a:r>
            <a:r>
              <a:rPr lang="en-US" sz="3200" err="1"/>
              <a:t>hội</a:t>
            </a:r>
            <a:r>
              <a:rPr lang="en-US" sz="3200"/>
              <a:t> </a:t>
            </a:r>
            <a:r>
              <a:rPr lang="vi-VN" sz="3200"/>
              <a:t>đến hành vi của KH cá nhân</a:t>
            </a:r>
          </a:p>
          <a:p>
            <a:pPr marL="0" lvl="0" indent="0" algn="just">
              <a:lnSpc>
                <a:spcPct val="150000"/>
              </a:lnSpc>
              <a:spcBef>
                <a:spcPts val="0"/>
              </a:spcBef>
              <a:buSzPts val="3200"/>
              <a:buNone/>
            </a:pPr>
            <a:r>
              <a:rPr lang="en-US" sz="3200">
                <a:sym typeface="Arial"/>
              </a:rPr>
              <a:t>2.3. </a:t>
            </a:r>
            <a:r>
              <a:rPr lang="en-US" sz="3200" err="1"/>
              <a:t>Ảnh</a:t>
            </a:r>
            <a:r>
              <a:rPr lang="en-US" sz="3200"/>
              <a:t> </a:t>
            </a:r>
            <a:r>
              <a:rPr lang="en-US" sz="3200" err="1"/>
              <a:t>hưởng</a:t>
            </a:r>
            <a:r>
              <a:rPr lang="en-US" sz="3200"/>
              <a:t> </a:t>
            </a:r>
            <a:r>
              <a:rPr lang="en-US" sz="3200" err="1"/>
              <a:t>của</a:t>
            </a:r>
            <a:r>
              <a:rPr lang="en-US" sz="3200"/>
              <a:t> </a:t>
            </a:r>
            <a:r>
              <a:rPr lang="en-US" sz="3200" err="1"/>
              <a:t>yếu</a:t>
            </a:r>
            <a:r>
              <a:rPr lang="en-US" sz="3200"/>
              <a:t> </a:t>
            </a:r>
            <a:r>
              <a:rPr lang="en-US" sz="3200" err="1"/>
              <a:t>tố</a:t>
            </a:r>
            <a:r>
              <a:rPr lang="en-US" sz="3200"/>
              <a:t> </a:t>
            </a:r>
            <a:r>
              <a:rPr lang="en-US" sz="3200" err="1"/>
              <a:t>tình</a:t>
            </a:r>
            <a:r>
              <a:rPr lang="en-US" sz="3200"/>
              <a:t> </a:t>
            </a:r>
            <a:r>
              <a:rPr lang="en-US" sz="3200" err="1"/>
              <a:t>huống</a:t>
            </a:r>
            <a:r>
              <a:rPr lang="en-US" sz="3200"/>
              <a:t> </a:t>
            </a:r>
            <a:r>
              <a:rPr lang="vi-VN" sz="3200"/>
              <a:t>đến hành vi của KH cá nhân</a:t>
            </a:r>
            <a:endParaRPr sz="3200">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4"/>
          <p:cNvSpPr txBox="1">
            <a:spLocks noGrp="1"/>
          </p:cNvSpPr>
          <p:nvPr>
            <p:ph type="ctrTitle"/>
          </p:nvPr>
        </p:nvSpPr>
        <p:spPr>
          <a:xfrm>
            <a:off x="417512" y="2979419"/>
            <a:ext cx="11774488" cy="1241659"/>
          </a:xfrm>
          <a:prstGeom prst="rect">
            <a:avLst/>
          </a:prstGeom>
          <a:noFill/>
          <a:ln>
            <a:noFill/>
          </a:ln>
        </p:spPr>
        <p:txBody>
          <a:bodyPr spcFirstLastPara="1" wrap="square" lIns="91425" tIns="45700" rIns="91425" bIns="45700" anchor="b" anchorCtr="0">
            <a:noAutofit/>
          </a:bodyPr>
          <a:lstStyle/>
          <a:p>
            <a:pPr marL="0" marR="0" lvl="0" indent="0" rtl="0">
              <a:lnSpc>
                <a:spcPct val="138888"/>
              </a:lnSpc>
              <a:spcBef>
                <a:spcPts val="0"/>
              </a:spcBef>
              <a:spcAft>
                <a:spcPts val="0"/>
              </a:spcAft>
              <a:buClr>
                <a:schemeClr val="dk1"/>
              </a:buClr>
              <a:buSzPts val="3600"/>
              <a:buFont typeface="Arial"/>
              <a:buNone/>
            </a:pPr>
            <a:r>
              <a:rPr lang="en-US" sz="3600" b="1">
                <a:latin typeface="Arial"/>
                <a:ea typeface="Arial"/>
                <a:cs typeface="Arial"/>
                <a:sym typeface="Arial"/>
              </a:rPr>
              <a:t>2.1. </a:t>
            </a:r>
            <a:r>
              <a:rPr lang="en-US" sz="3600" b="1"/>
              <a:t>ẢNH HƯỞNG CỦA YẾU TỐ</a:t>
            </a:r>
            <a:r>
              <a:rPr lang="en-US" sz="3600" b="1">
                <a:latin typeface="Arial"/>
                <a:ea typeface="Arial"/>
                <a:cs typeface="Arial"/>
                <a:sym typeface="Arial"/>
              </a:rPr>
              <a:t> VĂN HÓA ĐẾN </a:t>
            </a:r>
            <a:br>
              <a:rPr lang="vi-VN" sz="3600" b="1">
                <a:latin typeface="Arial"/>
                <a:ea typeface="Arial"/>
                <a:cs typeface="Arial"/>
                <a:sym typeface="Arial"/>
              </a:rPr>
            </a:br>
            <a:r>
              <a:rPr lang="vi-VN" sz="3600" b="1">
                <a:latin typeface="Arial"/>
                <a:ea typeface="Arial"/>
                <a:cs typeface="Arial"/>
                <a:sym typeface="Arial"/>
              </a:rPr>
              <a:t>KHÁCH HÀNG</a:t>
            </a:r>
            <a:r>
              <a:rPr lang="en-US" sz="3600" b="1">
                <a:latin typeface="Arial"/>
                <a:ea typeface="Arial"/>
                <a:cs typeface="Arial"/>
                <a:sym typeface="Arial"/>
              </a:rPr>
              <a:t> CÁ NHÂN</a:t>
            </a:r>
            <a:endParaRPr sz="3600" b="1">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6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1" u="none" strike="noStrike">
                <a:latin typeface="Arial"/>
                <a:ea typeface="Arial"/>
                <a:cs typeface="Arial"/>
                <a:sym typeface="Arial"/>
              </a:rPr>
              <a:t>2.1.1. Khái niệm văn hóa</a:t>
            </a:r>
            <a:endParaRPr sz="6000">
              <a:latin typeface="Arial"/>
              <a:ea typeface="Arial"/>
              <a:cs typeface="Arial"/>
              <a:sym typeface="Arial"/>
            </a:endParaRPr>
          </a:p>
        </p:txBody>
      </p:sp>
      <p:sp>
        <p:nvSpPr>
          <p:cNvPr id="525" name="Google Shape;525;p65"/>
          <p:cNvSpPr txBox="1">
            <a:spLocks noGrp="1"/>
          </p:cNvSpPr>
          <p:nvPr>
            <p:ph type="body" idx="1"/>
          </p:nvPr>
        </p:nvSpPr>
        <p:spPr>
          <a:xfrm>
            <a:off x="838200" y="1549400"/>
            <a:ext cx="10515600" cy="4351338"/>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800"/>
              <a:buNone/>
            </a:pPr>
            <a:r>
              <a:rPr lang="en-US">
                <a:latin typeface="Arial"/>
                <a:ea typeface="Arial"/>
                <a:cs typeface="Arial"/>
                <a:sym typeface="Arial"/>
              </a:rPr>
              <a:t>	</a:t>
            </a:r>
            <a:r>
              <a:rPr lang="en-US" err="1">
                <a:latin typeface="Arial"/>
                <a:ea typeface="Arial"/>
                <a:cs typeface="Arial"/>
                <a:sym typeface="Arial"/>
              </a:rPr>
              <a:t>Văn</a:t>
            </a:r>
            <a:r>
              <a:rPr lang="en-US">
                <a:latin typeface="Arial"/>
                <a:ea typeface="Arial"/>
                <a:cs typeface="Arial"/>
                <a:sym typeface="Arial"/>
              </a:rPr>
              <a:t> </a:t>
            </a:r>
            <a:r>
              <a:rPr lang="en-US" err="1">
                <a:latin typeface="Arial"/>
                <a:ea typeface="Arial"/>
                <a:cs typeface="Arial"/>
                <a:sym typeface="Arial"/>
              </a:rPr>
              <a:t>hóa</a:t>
            </a:r>
            <a:r>
              <a:rPr lang="en-US">
                <a:latin typeface="Arial"/>
                <a:ea typeface="Arial"/>
                <a:cs typeface="Arial"/>
                <a:sym typeface="Arial"/>
              </a:rPr>
              <a:t> </a:t>
            </a:r>
            <a:r>
              <a:rPr lang="en-US" err="1">
                <a:latin typeface="Arial"/>
                <a:ea typeface="Arial"/>
                <a:cs typeface="Arial"/>
                <a:sym typeface="Arial"/>
              </a:rPr>
              <a:t>là</a:t>
            </a:r>
            <a:r>
              <a:rPr lang="en-US">
                <a:latin typeface="Arial"/>
                <a:ea typeface="Arial"/>
                <a:cs typeface="Arial"/>
                <a:sym typeface="Arial"/>
              </a:rPr>
              <a:t> </a:t>
            </a:r>
            <a:r>
              <a:rPr lang="en-US" err="1">
                <a:latin typeface="Arial"/>
                <a:ea typeface="Arial"/>
                <a:cs typeface="Arial"/>
                <a:sym typeface="Arial"/>
              </a:rPr>
              <a:t>toàn</a:t>
            </a:r>
            <a:r>
              <a:rPr lang="en-US">
                <a:latin typeface="Arial"/>
                <a:ea typeface="Arial"/>
                <a:cs typeface="Arial"/>
                <a:sym typeface="Arial"/>
              </a:rPr>
              <a:t> </a:t>
            </a:r>
            <a:r>
              <a:rPr lang="en-US" err="1">
                <a:latin typeface="Arial"/>
                <a:ea typeface="Arial"/>
                <a:cs typeface="Arial"/>
                <a:sym typeface="Arial"/>
              </a:rPr>
              <a:t>bộ</a:t>
            </a:r>
            <a:r>
              <a:rPr lang="en-US">
                <a:latin typeface="Arial"/>
                <a:ea typeface="Arial"/>
                <a:cs typeface="Arial"/>
                <a:sym typeface="Arial"/>
              </a:rPr>
              <a:t> </a:t>
            </a:r>
            <a:r>
              <a:rPr lang="en-US" err="1">
                <a:latin typeface="Arial"/>
                <a:ea typeface="Arial"/>
                <a:cs typeface="Arial"/>
                <a:sym typeface="Arial"/>
              </a:rPr>
              <a:t>những</a:t>
            </a:r>
            <a:r>
              <a:rPr lang="en-US">
                <a:latin typeface="Arial"/>
                <a:ea typeface="Arial"/>
                <a:cs typeface="Arial"/>
                <a:sym typeface="Arial"/>
              </a:rPr>
              <a:t> </a:t>
            </a:r>
            <a:r>
              <a:rPr lang="en-US" err="1">
                <a:latin typeface="Arial"/>
                <a:ea typeface="Arial"/>
                <a:cs typeface="Arial"/>
                <a:sym typeface="Arial"/>
              </a:rPr>
              <a:t>niềm</a:t>
            </a:r>
            <a:r>
              <a:rPr lang="en-US">
                <a:latin typeface="Arial"/>
                <a:ea typeface="Arial"/>
                <a:cs typeface="Arial"/>
                <a:sym typeface="Arial"/>
              </a:rPr>
              <a:t> tin, </a:t>
            </a:r>
            <a:r>
              <a:rPr lang="en-US" err="1">
                <a:latin typeface="Arial"/>
                <a:ea typeface="Arial"/>
                <a:cs typeface="Arial"/>
                <a:sym typeface="Arial"/>
              </a:rPr>
              <a:t>giá</a:t>
            </a:r>
            <a:r>
              <a:rPr lang="en-US">
                <a:latin typeface="Arial"/>
                <a:ea typeface="Arial"/>
                <a:cs typeface="Arial"/>
                <a:sym typeface="Arial"/>
              </a:rPr>
              <a:t> </a:t>
            </a:r>
            <a:r>
              <a:rPr lang="en-US" err="1">
                <a:latin typeface="Arial"/>
                <a:ea typeface="Arial"/>
                <a:cs typeface="Arial"/>
                <a:sym typeface="Arial"/>
              </a:rPr>
              <a:t>trị</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những</a:t>
            </a:r>
            <a:r>
              <a:rPr lang="en-US">
                <a:latin typeface="Arial"/>
                <a:ea typeface="Arial"/>
                <a:cs typeface="Arial"/>
                <a:sym typeface="Arial"/>
              </a:rPr>
              <a:t> </a:t>
            </a:r>
            <a:r>
              <a:rPr lang="en-US" err="1">
                <a:latin typeface="Arial"/>
                <a:ea typeface="Arial"/>
                <a:cs typeface="Arial"/>
                <a:sym typeface="Arial"/>
              </a:rPr>
              <a:t>phong</a:t>
            </a:r>
            <a:r>
              <a:rPr lang="en-US">
                <a:latin typeface="Arial"/>
                <a:ea typeface="Arial"/>
                <a:cs typeface="Arial"/>
                <a:sym typeface="Arial"/>
              </a:rPr>
              <a:t> </a:t>
            </a:r>
            <a:r>
              <a:rPr lang="en-US" err="1">
                <a:latin typeface="Arial"/>
                <a:ea typeface="Arial"/>
                <a:cs typeface="Arial"/>
                <a:sym typeface="Arial"/>
              </a:rPr>
              <a:t>tục</a:t>
            </a:r>
            <a:r>
              <a:rPr lang="en-US">
                <a:latin typeface="Arial"/>
                <a:ea typeface="Arial"/>
                <a:cs typeface="Arial"/>
                <a:sym typeface="Arial"/>
              </a:rPr>
              <a:t> </a:t>
            </a:r>
            <a:r>
              <a:rPr lang="en-US" err="1">
                <a:latin typeface="Arial"/>
                <a:ea typeface="Arial"/>
                <a:cs typeface="Arial"/>
                <a:sym typeface="Arial"/>
              </a:rPr>
              <a:t>tập</a:t>
            </a:r>
            <a:r>
              <a:rPr lang="en-US">
                <a:latin typeface="Arial"/>
                <a:ea typeface="Arial"/>
                <a:cs typeface="Arial"/>
                <a:sym typeface="Arial"/>
              </a:rPr>
              <a:t> </a:t>
            </a:r>
            <a:r>
              <a:rPr lang="en-US" err="1">
                <a:latin typeface="Arial"/>
                <a:ea typeface="Arial"/>
                <a:cs typeface="Arial"/>
                <a:sym typeface="Arial"/>
              </a:rPr>
              <a:t>quán</a:t>
            </a:r>
            <a:r>
              <a:rPr lang="en-US">
                <a:latin typeface="Arial"/>
                <a:ea typeface="Arial"/>
                <a:cs typeface="Arial"/>
                <a:sym typeface="Arial"/>
              </a:rPr>
              <a:t> </a:t>
            </a:r>
            <a:r>
              <a:rPr lang="en-US" err="1">
                <a:latin typeface="Arial"/>
                <a:ea typeface="Arial"/>
                <a:cs typeface="Arial"/>
                <a:sym typeface="Arial"/>
              </a:rPr>
              <a:t>định</a:t>
            </a:r>
            <a:r>
              <a:rPr lang="en-US">
                <a:latin typeface="Arial"/>
                <a:ea typeface="Arial"/>
                <a:cs typeface="Arial"/>
                <a:sym typeface="Arial"/>
              </a:rPr>
              <a:t> </a:t>
            </a:r>
            <a:r>
              <a:rPr lang="en-US" err="1">
                <a:latin typeface="Arial"/>
                <a:ea typeface="Arial"/>
                <a:cs typeface="Arial"/>
                <a:sym typeface="Arial"/>
              </a:rPr>
              <a:t>hướng</a:t>
            </a:r>
            <a:r>
              <a:rPr lang="en-US">
                <a:latin typeface="Arial"/>
                <a:ea typeface="Arial"/>
                <a:cs typeface="Arial"/>
                <a:sym typeface="Arial"/>
              </a:rPr>
              <a:t> </a:t>
            </a:r>
            <a:r>
              <a:rPr lang="en-US" err="1">
                <a:latin typeface="Arial"/>
                <a:ea typeface="Arial"/>
                <a:cs typeface="Arial"/>
                <a:sym typeface="Arial"/>
              </a:rPr>
              <a:t>hành</a:t>
            </a:r>
            <a:r>
              <a:rPr lang="en-US">
                <a:latin typeface="Arial"/>
                <a:ea typeface="Arial"/>
                <a:cs typeface="Arial"/>
                <a:sym typeface="Arial"/>
              </a:rPr>
              <a:t> vi </a:t>
            </a:r>
            <a:r>
              <a:rPr lang="en-US" err="1">
                <a:latin typeface="Arial"/>
                <a:ea typeface="Arial"/>
                <a:cs typeface="Arial"/>
                <a:sym typeface="Arial"/>
              </a:rPr>
              <a:t>tiêu</a:t>
            </a:r>
            <a:r>
              <a:rPr lang="en-US">
                <a:latin typeface="Arial"/>
                <a:ea typeface="Arial"/>
                <a:cs typeface="Arial"/>
                <a:sym typeface="Arial"/>
              </a:rPr>
              <a:t> </a:t>
            </a:r>
            <a:r>
              <a:rPr lang="en-US" err="1">
                <a:latin typeface="Arial"/>
                <a:ea typeface="Arial"/>
                <a:cs typeface="Arial"/>
                <a:sym typeface="Arial"/>
              </a:rPr>
              <a:t>dùng</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thành</a:t>
            </a:r>
            <a:r>
              <a:rPr lang="en-US">
                <a:latin typeface="Arial"/>
                <a:ea typeface="Arial"/>
                <a:cs typeface="Arial"/>
                <a:sym typeface="Arial"/>
              </a:rPr>
              <a:t> </a:t>
            </a:r>
            <a:r>
              <a:rPr lang="en-US" err="1">
                <a:latin typeface="Arial"/>
                <a:ea typeface="Arial"/>
                <a:cs typeface="Arial"/>
                <a:sym typeface="Arial"/>
              </a:rPr>
              <a:t>viên</a:t>
            </a:r>
            <a:r>
              <a:rPr lang="en-US">
                <a:latin typeface="Arial"/>
                <a:ea typeface="Arial"/>
                <a:cs typeface="Arial"/>
                <a:sym typeface="Arial"/>
              </a:rPr>
              <a:t> </a:t>
            </a:r>
            <a:r>
              <a:rPr lang="en-US" err="1">
                <a:latin typeface="Arial"/>
                <a:ea typeface="Arial"/>
                <a:cs typeface="Arial"/>
                <a:sym typeface="Arial"/>
              </a:rPr>
              <a:t>trong</a:t>
            </a:r>
            <a:r>
              <a:rPr lang="en-US">
                <a:latin typeface="Arial"/>
                <a:ea typeface="Arial"/>
                <a:cs typeface="Arial"/>
                <a:sym typeface="Arial"/>
              </a:rPr>
              <a:t>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cụ</a:t>
            </a:r>
            <a:r>
              <a:rPr lang="en-US">
                <a:latin typeface="Arial"/>
                <a:ea typeface="Arial"/>
                <a:cs typeface="Arial"/>
                <a:sym typeface="Arial"/>
              </a:rPr>
              <a:t> </a:t>
            </a:r>
            <a:r>
              <a:rPr lang="en-US" err="1">
                <a:latin typeface="Arial"/>
                <a:ea typeface="Arial"/>
                <a:cs typeface="Arial"/>
                <a:sym typeface="Arial"/>
              </a:rPr>
              <a:t>thể</a:t>
            </a:r>
            <a:r>
              <a:rPr lang="en-US">
                <a:latin typeface="Arial"/>
                <a:ea typeface="Arial"/>
                <a:cs typeface="Arial"/>
                <a:sym typeface="Arial"/>
              </a:rPr>
              <a:t> (</a:t>
            </a:r>
            <a:r>
              <a:rPr lang="en-US" err="1">
                <a:latin typeface="Arial"/>
                <a:ea typeface="Arial"/>
                <a:cs typeface="Arial"/>
                <a:sym typeface="Arial"/>
              </a:rPr>
              <a:t>Schiffman</a:t>
            </a:r>
            <a:r>
              <a:rPr lang="en-US">
                <a:latin typeface="Arial"/>
                <a:ea typeface="Arial"/>
                <a:cs typeface="Arial"/>
                <a:sym typeface="Arial"/>
              </a:rPr>
              <a:t>, 2004).</a:t>
            </a:r>
            <a:endParaRPr>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1" u="none" strike="noStrike">
                <a:latin typeface="Arial"/>
                <a:ea typeface="Arial"/>
                <a:cs typeface="Arial"/>
                <a:sym typeface="Arial"/>
              </a:rPr>
              <a:t>2.1.2. Khái niệm văn hóa tiêu dùng</a:t>
            </a:r>
            <a:endParaRPr sz="6000">
              <a:latin typeface="Arial"/>
              <a:ea typeface="Arial"/>
              <a:cs typeface="Arial"/>
              <a:sym typeface="Arial"/>
            </a:endParaRPr>
          </a:p>
        </p:txBody>
      </p:sp>
      <p:sp>
        <p:nvSpPr>
          <p:cNvPr id="531" name="Google Shape;531;p6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800"/>
              <a:buNone/>
            </a:pPr>
            <a:r>
              <a:rPr lang="en-US">
                <a:latin typeface="Arial"/>
                <a:ea typeface="Arial"/>
                <a:cs typeface="Arial"/>
                <a:sym typeface="Arial"/>
              </a:rPr>
              <a:t>	Văn hóa tiêu dùng là những giá trị văn hóa và tập quán cơ bản của xã hội, những quan điểm, những mong muốn và những đặc điểm mà được nhận biết hoặc được xem là có xu hướng liên quan tới tiêu dùng</a:t>
            </a:r>
            <a:endParaRPr>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200"/>
              <a:buFont typeface="Arial"/>
              <a:buNone/>
            </a:pPr>
            <a:r>
              <a:rPr lang="en-US" sz="3200" b="1">
                <a:latin typeface="Arial"/>
                <a:ea typeface="Arial"/>
                <a:cs typeface="Arial"/>
                <a:sym typeface="Arial"/>
              </a:rPr>
              <a:t>2.</a:t>
            </a:r>
            <a:r>
              <a:rPr lang="vi-VN" sz="3200" b="1">
                <a:latin typeface="Arial"/>
                <a:ea typeface="Arial"/>
                <a:cs typeface="Arial"/>
                <a:sym typeface="Arial"/>
              </a:rPr>
              <a:t>1</a:t>
            </a:r>
            <a:r>
              <a:rPr lang="en-US" sz="3200" b="1">
                <a:latin typeface="Arial"/>
                <a:ea typeface="Arial"/>
                <a:cs typeface="Arial"/>
                <a:sym typeface="Arial"/>
              </a:rPr>
              <a:t>.</a:t>
            </a:r>
            <a:r>
              <a:rPr lang="vi-VN" sz="3200" b="1">
                <a:latin typeface="Arial"/>
                <a:ea typeface="Arial"/>
                <a:cs typeface="Arial"/>
                <a:sym typeface="Arial"/>
              </a:rPr>
              <a:t>3</a:t>
            </a:r>
            <a:r>
              <a:rPr lang="en-US" sz="3200" b="1">
                <a:latin typeface="Arial"/>
                <a:ea typeface="Arial"/>
                <a:cs typeface="Arial"/>
                <a:sym typeface="Arial"/>
              </a:rPr>
              <a:t>. </a:t>
            </a:r>
            <a:r>
              <a:rPr lang="en-US" sz="3200" b="1" err="1">
                <a:latin typeface="Arial"/>
                <a:ea typeface="Arial"/>
                <a:cs typeface="Arial"/>
                <a:sym typeface="Arial"/>
              </a:rPr>
              <a:t>Các</a:t>
            </a:r>
            <a:r>
              <a:rPr lang="en-US" sz="3200" b="1">
                <a:latin typeface="Arial"/>
                <a:ea typeface="Arial"/>
                <a:cs typeface="Arial"/>
                <a:sym typeface="Arial"/>
              </a:rPr>
              <a:t> </a:t>
            </a:r>
            <a:r>
              <a:rPr lang="en-US" sz="3200" b="1" err="1">
                <a:latin typeface="Arial"/>
                <a:ea typeface="Arial"/>
                <a:cs typeface="Arial"/>
                <a:sym typeface="Arial"/>
              </a:rPr>
              <a:t>yếu</a:t>
            </a:r>
            <a:r>
              <a:rPr lang="en-US" sz="3200" b="1">
                <a:latin typeface="Arial"/>
                <a:ea typeface="Arial"/>
                <a:cs typeface="Arial"/>
                <a:sym typeface="Arial"/>
              </a:rPr>
              <a:t> </a:t>
            </a:r>
            <a:r>
              <a:rPr lang="en-US" sz="3200" b="1" err="1">
                <a:latin typeface="Arial"/>
                <a:ea typeface="Arial"/>
                <a:cs typeface="Arial"/>
                <a:sym typeface="Arial"/>
              </a:rPr>
              <a:t>tố</a:t>
            </a:r>
            <a:r>
              <a:rPr lang="en-US" sz="3200" b="1">
                <a:latin typeface="Arial"/>
                <a:ea typeface="Arial"/>
                <a:cs typeface="Arial"/>
                <a:sym typeface="Arial"/>
              </a:rPr>
              <a:t> </a:t>
            </a:r>
            <a:r>
              <a:rPr lang="vi-VN" sz="3200" b="1"/>
              <a:t>văn hóa ảnh hưởng đến hành vi</a:t>
            </a:r>
            <a:br>
              <a:rPr lang="vi-VN" sz="3200" b="1"/>
            </a:br>
            <a:br>
              <a:rPr lang="vi-VN" sz="3200" b="1"/>
            </a:br>
            <a:r>
              <a:rPr lang="vi-VN" sz="3200" b="1"/>
              <a:t>2.1.3.1 </a:t>
            </a:r>
            <a:r>
              <a:rPr lang="en-US" sz="3200" b="1" err="1">
                <a:latin typeface="Arial"/>
                <a:ea typeface="Arial"/>
                <a:cs typeface="Arial"/>
                <a:sym typeface="Arial"/>
              </a:rPr>
              <a:t>Giá</a:t>
            </a:r>
            <a:r>
              <a:rPr lang="en-US" sz="3200" b="1">
                <a:latin typeface="Arial"/>
                <a:ea typeface="Arial"/>
                <a:cs typeface="Arial"/>
                <a:sym typeface="Arial"/>
              </a:rPr>
              <a:t> </a:t>
            </a:r>
            <a:r>
              <a:rPr lang="en-US" sz="3200" b="1" err="1">
                <a:latin typeface="Arial"/>
                <a:ea typeface="Arial"/>
                <a:cs typeface="Arial"/>
                <a:sym typeface="Arial"/>
              </a:rPr>
              <a:t>trị</a:t>
            </a:r>
            <a:r>
              <a:rPr lang="en-US" sz="3200" b="1">
                <a:latin typeface="Arial"/>
                <a:ea typeface="Arial"/>
                <a:cs typeface="Arial"/>
                <a:sym typeface="Arial"/>
              </a:rPr>
              <a:t> </a:t>
            </a:r>
            <a:r>
              <a:rPr lang="en-US" sz="3200" b="1" err="1">
                <a:latin typeface="Arial"/>
                <a:ea typeface="Arial"/>
                <a:cs typeface="Arial"/>
                <a:sym typeface="Arial"/>
              </a:rPr>
              <a:t>văn</a:t>
            </a:r>
            <a:r>
              <a:rPr lang="en-US" sz="3200" b="1">
                <a:latin typeface="Arial"/>
                <a:ea typeface="Arial"/>
                <a:cs typeface="Arial"/>
                <a:sym typeface="Arial"/>
              </a:rPr>
              <a:t> </a:t>
            </a:r>
            <a:r>
              <a:rPr lang="en-US" sz="3200" b="1" err="1">
                <a:latin typeface="Arial"/>
                <a:ea typeface="Arial"/>
                <a:cs typeface="Arial"/>
                <a:sym typeface="Arial"/>
              </a:rPr>
              <a:t>hóa</a:t>
            </a:r>
            <a:endParaRPr sz="3200" b="1">
              <a:latin typeface="Arial"/>
              <a:ea typeface="Arial"/>
              <a:cs typeface="Arial"/>
              <a:sym typeface="Arial"/>
            </a:endParaRPr>
          </a:p>
        </p:txBody>
      </p:sp>
      <p:sp>
        <p:nvSpPr>
          <p:cNvPr id="542" name="Google Shape;542;p68"/>
          <p:cNvSpPr/>
          <p:nvPr/>
        </p:nvSpPr>
        <p:spPr>
          <a:xfrm>
            <a:off x="606023" y="2114394"/>
            <a:ext cx="7669763" cy="2407997"/>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Giá</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trị</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văn</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hóa</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là</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những</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niềm</a:t>
            </a:r>
            <a:r>
              <a:rPr lang="en-US" sz="2800" b="0" i="0" u="none" strike="noStrike" cap="none">
                <a:solidFill>
                  <a:schemeClr val="dk1"/>
                </a:solidFill>
                <a:latin typeface="Arial"/>
                <a:ea typeface="Arial"/>
                <a:cs typeface="Arial"/>
                <a:sym typeface="Arial"/>
              </a:rPr>
              <a:t> tin </a:t>
            </a:r>
            <a:r>
              <a:rPr lang="en-US" sz="2800" b="0" i="0" u="none" strike="noStrike" cap="none" err="1">
                <a:solidFill>
                  <a:schemeClr val="dk1"/>
                </a:solidFill>
                <a:latin typeface="Arial"/>
                <a:ea typeface="Arial"/>
                <a:cs typeface="Arial"/>
                <a:sym typeface="Arial"/>
              </a:rPr>
              <a:t>được</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kế</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thừa</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và</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được</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lưu</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giữ</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những</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niềm</a:t>
            </a:r>
            <a:r>
              <a:rPr lang="en-US" sz="2800" b="0" i="0" u="none" strike="noStrike" cap="none">
                <a:solidFill>
                  <a:schemeClr val="dk1"/>
                </a:solidFill>
                <a:latin typeface="Arial"/>
                <a:ea typeface="Arial"/>
                <a:cs typeface="Arial"/>
                <a:sym typeface="Arial"/>
              </a:rPr>
              <a:t> tin </a:t>
            </a:r>
            <a:r>
              <a:rPr lang="en-US" sz="2800" b="0" i="0" u="none" strike="noStrike" cap="none" err="1">
                <a:solidFill>
                  <a:schemeClr val="dk1"/>
                </a:solidFill>
                <a:latin typeface="Arial"/>
                <a:ea typeface="Arial"/>
                <a:cs typeface="Arial"/>
                <a:sym typeface="Arial"/>
              </a:rPr>
              <a:t>ấy</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làm</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cho</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thái</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độ</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và</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cách</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xử</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thế</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của</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cá</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nhân</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có</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tính</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đặc</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thù</a:t>
            </a:r>
            <a:r>
              <a:rPr lang="en-US" sz="28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pic>
        <p:nvPicPr>
          <p:cNvPr id="543" name="Google Shape;543;p68" descr="taitu_1186543566[1]"/>
          <p:cNvPicPr preferRelativeResize="0"/>
          <p:nvPr/>
        </p:nvPicPr>
        <p:blipFill rotWithShape="1">
          <a:blip r:embed="rId3">
            <a:alphaModFix/>
          </a:blip>
          <a:srcRect/>
          <a:stretch/>
        </p:blipFill>
        <p:spPr>
          <a:xfrm>
            <a:off x="8433209" y="2281453"/>
            <a:ext cx="3323594" cy="277498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6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1">
                <a:latin typeface="Arial"/>
                <a:ea typeface="Arial"/>
                <a:cs typeface="Arial"/>
                <a:sym typeface="Arial"/>
              </a:rPr>
              <a:t>Ý nghĩa của giá trị văn hóa: </a:t>
            </a:r>
            <a:endParaRPr/>
          </a:p>
        </p:txBody>
      </p:sp>
      <p:sp>
        <p:nvSpPr>
          <p:cNvPr id="549" name="Google Shape;549;p69"/>
          <p:cNvSpPr/>
          <p:nvPr/>
        </p:nvSpPr>
        <p:spPr>
          <a:xfrm>
            <a:off x="754225" y="1778775"/>
            <a:ext cx="9826690" cy="4536819"/>
          </a:xfrm>
          <a:prstGeom prst="rect">
            <a:avLst/>
          </a:prstGeom>
          <a:noFill/>
          <a:ln>
            <a:noFill/>
          </a:ln>
        </p:spPr>
        <p:txBody>
          <a:bodyPr spcFirstLastPara="1" wrap="square" lIns="91425" tIns="45700" rIns="91425" bIns="45700" anchor="t" anchorCtr="0">
            <a:noAutofit/>
          </a:bodyPr>
          <a:lstStyle/>
          <a:p>
            <a:pPr marL="457200" marR="0" lvl="0" indent="-457200" algn="just" rtl="0">
              <a:lnSpc>
                <a:spcPct val="150000"/>
              </a:lnSpc>
              <a:spcBef>
                <a:spcPts val="0"/>
              </a:spcBef>
              <a:spcAft>
                <a:spcPts val="0"/>
              </a:spcAft>
              <a:buClr>
                <a:srgbClr val="000000"/>
              </a:buClr>
              <a:buSzPts val="2800"/>
              <a:buFont typeface="Noto Sans Symbols"/>
              <a:buChar char="✔"/>
            </a:pPr>
            <a:r>
              <a:rPr lang="en-US" sz="2800" b="0" i="0" u="none" strike="noStrike" cap="none">
                <a:solidFill>
                  <a:schemeClr val="dk1"/>
                </a:solidFill>
                <a:latin typeface="Arial"/>
                <a:ea typeface="Arial"/>
                <a:cs typeface="Arial"/>
                <a:sym typeface="Arial"/>
              </a:rPr>
              <a:t>Mỗi dân tộc có một hệ thống các giá trị văn hóa riêng.</a:t>
            </a:r>
            <a:endParaRPr sz="1400" b="0" i="0" u="none" strike="noStrike" cap="none">
              <a:solidFill>
                <a:srgbClr val="000000"/>
              </a:solidFill>
              <a:latin typeface="Arial"/>
              <a:ea typeface="Arial"/>
              <a:cs typeface="Arial"/>
              <a:sym typeface="Arial"/>
            </a:endParaRPr>
          </a:p>
          <a:p>
            <a:pPr marL="457200" marR="0" lvl="0" indent="-457200" algn="just" rtl="0">
              <a:lnSpc>
                <a:spcPct val="150000"/>
              </a:lnSpc>
              <a:spcBef>
                <a:spcPts val="0"/>
              </a:spcBef>
              <a:spcAft>
                <a:spcPts val="0"/>
              </a:spcAft>
              <a:buClr>
                <a:srgbClr val="000000"/>
              </a:buClr>
              <a:buSzPts val="2800"/>
              <a:buFont typeface="Noto Sans Symbols"/>
              <a:buChar char="✔"/>
            </a:pPr>
            <a:r>
              <a:rPr lang="en-US" sz="2800" b="0" i="0" u="none" strike="noStrike" cap="none">
                <a:solidFill>
                  <a:schemeClr val="dk1"/>
                </a:solidFill>
                <a:latin typeface="Arial"/>
                <a:ea typeface="Arial"/>
                <a:cs typeface="Arial"/>
                <a:sym typeface="Arial"/>
              </a:rPr>
              <a:t>Giá trị văn hóa khác nhau giữa các dân tộc tạo hành vi tiêu dùng khác nhau.</a:t>
            </a:r>
            <a:endParaRPr sz="1400" b="0" i="0" u="none" strike="noStrike" cap="none">
              <a:solidFill>
                <a:srgbClr val="000000"/>
              </a:solidFill>
              <a:latin typeface="Arial"/>
              <a:ea typeface="Arial"/>
              <a:cs typeface="Arial"/>
              <a:sym typeface="Arial"/>
            </a:endParaRPr>
          </a:p>
          <a:p>
            <a:pPr marL="457200" marR="0" lvl="0" indent="-457200" algn="just" rtl="0">
              <a:lnSpc>
                <a:spcPct val="150000"/>
              </a:lnSpc>
              <a:spcBef>
                <a:spcPts val="0"/>
              </a:spcBef>
              <a:spcAft>
                <a:spcPts val="0"/>
              </a:spcAft>
              <a:buClr>
                <a:srgbClr val="000000"/>
              </a:buClr>
              <a:buSzPts val="2800"/>
              <a:buFont typeface="Noto Sans Symbols"/>
              <a:buChar char="✔"/>
            </a:pPr>
            <a:r>
              <a:rPr lang="en-US" sz="2800" b="0" i="0" u="none" strike="noStrike" cap="none">
                <a:solidFill>
                  <a:schemeClr val="dk1"/>
                </a:solidFill>
                <a:latin typeface="Arial"/>
                <a:ea typeface="Arial"/>
                <a:cs typeface="Arial"/>
                <a:sym typeface="Arial"/>
              </a:rPr>
              <a:t>Các giá trị văn hóa có thể thay đổi.</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1">
                <a:latin typeface="Arial"/>
                <a:ea typeface="Arial"/>
                <a:cs typeface="Arial"/>
                <a:sym typeface="Arial"/>
              </a:rPr>
              <a:t>2.</a:t>
            </a:r>
            <a:r>
              <a:rPr lang="vi-VN" sz="3200" b="1">
                <a:latin typeface="Arial"/>
                <a:ea typeface="Arial"/>
                <a:cs typeface="Arial"/>
                <a:sym typeface="Arial"/>
              </a:rPr>
              <a:t>1</a:t>
            </a:r>
            <a:r>
              <a:rPr lang="en-US" sz="3200" b="1">
                <a:latin typeface="Arial"/>
                <a:ea typeface="Arial"/>
                <a:cs typeface="Arial"/>
                <a:sym typeface="Arial"/>
              </a:rPr>
              <a:t>.</a:t>
            </a:r>
            <a:r>
              <a:rPr lang="vi-VN" sz="3200" b="1">
                <a:latin typeface="Arial"/>
                <a:ea typeface="Arial"/>
                <a:cs typeface="Arial"/>
                <a:sym typeface="Arial"/>
              </a:rPr>
              <a:t>3.2</a:t>
            </a:r>
            <a:r>
              <a:rPr lang="en-US" sz="3200" b="1">
                <a:latin typeface="Arial"/>
                <a:ea typeface="Arial"/>
                <a:cs typeface="Arial"/>
                <a:sym typeface="Arial"/>
              </a:rPr>
              <a:t>. </a:t>
            </a:r>
            <a:r>
              <a:rPr lang="en-US" sz="3200" b="1" err="1">
                <a:latin typeface="Arial"/>
                <a:ea typeface="Arial"/>
                <a:cs typeface="Arial"/>
                <a:sym typeface="Arial"/>
              </a:rPr>
              <a:t>Chuẩn</a:t>
            </a:r>
            <a:r>
              <a:rPr lang="en-US" sz="3200" b="1">
                <a:latin typeface="Arial"/>
                <a:ea typeface="Arial"/>
                <a:cs typeface="Arial"/>
                <a:sym typeface="Arial"/>
              </a:rPr>
              <a:t> </a:t>
            </a:r>
            <a:r>
              <a:rPr lang="en-US" sz="3200" b="1" err="1">
                <a:latin typeface="Arial"/>
                <a:ea typeface="Arial"/>
                <a:cs typeface="Arial"/>
                <a:sym typeface="Arial"/>
              </a:rPr>
              <a:t>mực</a:t>
            </a:r>
            <a:r>
              <a:rPr lang="en-US" sz="3200" b="1">
                <a:latin typeface="Arial"/>
                <a:ea typeface="Arial"/>
                <a:cs typeface="Arial"/>
                <a:sym typeface="Arial"/>
              </a:rPr>
              <a:t> </a:t>
            </a:r>
            <a:r>
              <a:rPr lang="en-US" sz="3200" b="1" err="1">
                <a:latin typeface="Arial"/>
                <a:ea typeface="Arial"/>
                <a:cs typeface="Arial"/>
                <a:sym typeface="Arial"/>
              </a:rPr>
              <a:t>văn</a:t>
            </a:r>
            <a:r>
              <a:rPr lang="en-US" sz="3200" b="1">
                <a:latin typeface="Arial"/>
                <a:ea typeface="Arial"/>
                <a:cs typeface="Arial"/>
                <a:sym typeface="Arial"/>
              </a:rPr>
              <a:t> </a:t>
            </a:r>
            <a:r>
              <a:rPr lang="en-US" sz="3200" b="1" err="1">
                <a:latin typeface="Arial"/>
                <a:ea typeface="Arial"/>
                <a:cs typeface="Arial"/>
                <a:sym typeface="Arial"/>
              </a:rPr>
              <a:t>hóa</a:t>
            </a:r>
            <a:endParaRPr sz="3200" b="1">
              <a:latin typeface="Arial"/>
              <a:ea typeface="Arial"/>
              <a:cs typeface="Arial"/>
              <a:sym typeface="Arial"/>
            </a:endParaRPr>
          </a:p>
        </p:txBody>
      </p:sp>
      <p:sp>
        <p:nvSpPr>
          <p:cNvPr id="555" name="Google Shape;555;p70"/>
          <p:cNvSpPr/>
          <p:nvPr/>
        </p:nvSpPr>
        <p:spPr>
          <a:xfrm>
            <a:off x="83971" y="1796258"/>
            <a:ext cx="8686800" cy="3727467"/>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	Chuẩn mực văn hóa là những quy tắc đơn giản dựa trên các giá trị văn hóa dùng để chỉ dẫn hoặc ngăn cản những hành vi trong một số trường hợp.</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	Những chuẩn mực này ảnh hưởng nhất định đến hành vi tiêu dùng của các cá nhân.</a:t>
            </a:r>
            <a:endParaRPr sz="1400" b="0" i="0" u="none" strike="noStrike" cap="none">
              <a:solidFill>
                <a:srgbClr val="000000"/>
              </a:solidFill>
              <a:latin typeface="Arial"/>
              <a:ea typeface="Arial"/>
              <a:cs typeface="Arial"/>
              <a:sym typeface="Arial"/>
            </a:endParaRPr>
          </a:p>
        </p:txBody>
      </p:sp>
      <p:pic>
        <p:nvPicPr>
          <p:cNvPr id="556" name="Google Shape;556;p70"/>
          <p:cNvPicPr preferRelativeResize="0"/>
          <p:nvPr/>
        </p:nvPicPr>
        <p:blipFill rotWithShape="1">
          <a:blip r:embed="rId3">
            <a:alphaModFix/>
          </a:blip>
          <a:srcRect/>
          <a:stretch/>
        </p:blipFill>
        <p:spPr>
          <a:xfrm>
            <a:off x="8872554" y="1579215"/>
            <a:ext cx="2938446" cy="407631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7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1">
                <a:latin typeface="Arial"/>
                <a:ea typeface="Arial"/>
                <a:cs typeface="Arial"/>
                <a:sym typeface="Arial"/>
              </a:rPr>
              <a:t>2.</a:t>
            </a:r>
            <a:r>
              <a:rPr lang="vi-VN" sz="3200" b="1">
                <a:latin typeface="Arial"/>
                <a:ea typeface="Arial"/>
                <a:cs typeface="Arial"/>
                <a:sym typeface="Arial"/>
              </a:rPr>
              <a:t>1</a:t>
            </a:r>
            <a:r>
              <a:rPr lang="en-US" sz="3200" b="1">
                <a:latin typeface="Arial"/>
                <a:ea typeface="Arial"/>
                <a:cs typeface="Arial"/>
                <a:sym typeface="Arial"/>
              </a:rPr>
              <a:t>.3.</a:t>
            </a:r>
            <a:r>
              <a:rPr lang="vi-VN" sz="3200" b="1">
                <a:latin typeface="Arial"/>
                <a:ea typeface="Arial"/>
                <a:cs typeface="Arial"/>
                <a:sym typeface="Arial"/>
              </a:rPr>
              <a:t>3</a:t>
            </a:r>
            <a:r>
              <a:rPr lang="en-US" sz="3200" b="1">
                <a:latin typeface="Arial"/>
                <a:ea typeface="Arial"/>
                <a:cs typeface="Arial"/>
                <a:sym typeface="Arial"/>
              </a:rPr>
              <a:t> </a:t>
            </a:r>
            <a:r>
              <a:rPr lang="en-US" sz="3200" b="1" err="1">
                <a:latin typeface="Arial"/>
                <a:ea typeface="Arial"/>
                <a:cs typeface="Arial"/>
                <a:sym typeface="Arial"/>
              </a:rPr>
              <a:t>Phong</a:t>
            </a:r>
            <a:r>
              <a:rPr lang="en-US" sz="3200" b="1">
                <a:latin typeface="Arial"/>
                <a:ea typeface="Arial"/>
                <a:cs typeface="Arial"/>
                <a:sym typeface="Arial"/>
              </a:rPr>
              <a:t> </a:t>
            </a:r>
            <a:r>
              <a:rPr lang="en-US" sz="3200" b="1" err="1">
                <a:latin typeface="Arial"/>
                <a:ea typeface="Arial"/>
                <a:cs typeface="Arial"/>
                <a:sym typeface="Arial"/>
              </a:rPr>
              <a:t>tục</a:t>
            </a:r>
            <a:r>
              <a:rPr lang="en-US" sz="3200" b="1">
                <a:latin typeface="Arial"/>
                <a:ea typeface="Arial"/>
                <a:cs typeface="Arial"/>
                <a:sym typeface="Arial"/>
              </a:rPr>
              <a:t> </a:t>
            </a:r>
            <a:r>
              <a:rPr lang="en-US" sz="3200" b="1" err="1">
                <a:latin typeface="Arial"/>
                <a:ea typeface="Arial"/>
                <a:cs typeface="Arial"/>
                <a:sym typeface="Arial"/>
              </a:rPr>
              <a:t>tập</a:t>
            </a:r>
            <a:r>
              <a:rPr lang="en-US" sz="3200" b="1">
                <a:latin typeface="Arial"/>
                <a:ea typeface="Arial"/>
                <a:cs typeface="Arial"/>
                <a:sym typeface="Arial"/>
              </a:rPr>
              <a:t> </a:t>
            </a:r>
            <a:r>
              <a:rPr lang="en-US" sz="3200" b="1" err="1">
                <a:latin typeface="Arial"/>
                <a:ea typeface="Arial"/>
                <a:cs typeface="Arial"/>
                <a:sym typeface="Arial"/>
              </a:rPr>
              <a:t>quán</a:t>
            </a:r>
            <a:endParaRPr sz="3200" b="1">
              <a:latin typeface="Arial"/>
              <a:ea typeface="Arial"/>
              <a:cs typeface="Arial"/>
              <a:sym typeface="Arial"/>
            </a:endParaRPr>
          </a:p>
        </p:txBody>
      </p:sp>
      <p:sp>
        <p:nvSpPr>
          <p:cNvPr id="562" name="Google Shape;562;p71"/>
          <p:cNvSpPr/>
          <p:nvPr/>
        </p:nvSpPr>
        <p:spPr>
          <a:xfrm>
            <a:off x="617228" y="2237375"/>
            <a:ext cx="7310270" cy="3244158"/>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2800"/>
              <a:buFont typeface="Arial"/>
              <a:buNone/>
            </a:pPr>
            <a:r>
              <a:rPr lang="en-US" sz="2800" b="0" i="0" u="none" strike="noStrike" cap="none" err="1">
                <a:solidFill>
                  <a:schemeClr val="dk1"/>
                </a:solidFill>
                <a:latin typeface="Arial"/>
                <a:ea typeface="Arial"/>
                <a:cs typeface="Arial"/>
                <a:sym typeface="Arial"/>
              </a:rPr>
              <a:t>Phong</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tục</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tập</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quán</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là</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những</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thói</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quen</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từ</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lâu</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đời</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đã</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ăn</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sâu</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vào</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đời</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sống</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xã</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hội</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được</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đại</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đa</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số</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người</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thừa</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nhận</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và</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làm</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theo.</a:t>
            </a:r>
            <a:r>
              <a:rPr lang="en-US" sz="28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pic>
        <p:nvPicPr>
          <p:cNvPr id="563" name="Google Shape;563;p71" descr="maiphao">
            <a:hlinkClick r:id="rId3"/>
          </p:cNvPr>
          <p:cNvPicPr preferRelativeResize="0"/>
          <p:nvPr/>
        </p:nvPicPr>
        <p:blipFill rotWithShape="1">
          <a:blip r:embed="rId4">
            <a:alphaModFix/>
          </a:blip>
          <a:srcRect/>
          <a:stretch/>
        </p:blipFill>
        <p:spPr>
          <a:xfrm>
            <a:off x="8577678" y="2374033"/>
            <a:ext cx="2913118" cy="26937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7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1">
                <a:latin typeface="Arial"/>
                <a:ea typeface="Arial"/>
                <a:cs typeface="Arial"/>
                <a:sym typeface="Arial"/>
              </a:rPr>
              <a:t> </a:t>
            </a:r>
            <a:r>
              <a:rPr lang="en-US" sz="3200" b="1" err="1">
                <a:latin typeface="Arial"/>
                <a:ea typeface="Arial"/>
                <a:cs typeface="Arial"/>
                <a:sym typeface="Arial"/>
              </a:rPr>
              <a:t>Phong</a:t>
            </a:r>
            <a:r>
              <a:rPr lang="en-US" sz="3200" b="1">
                <a:latin typeface="Arial"/>
                <a:ea typeface="Arial"/>
                <a:cs typeface="Arial"/>
                <a:sym typeface="Arial"/>
              </a:rPr>
              <a:t> </a:t>
            </a:r>
            <a:r>
              <a:rPr lang="en-US" sz="3200" b="1" err="1">
                <a:latin typeface="Arial"/>
                <a:ea typeface="Arial"/>
                <a:cs typeface="Arial"/>
                <a:sym typeface="Arial"/>
              </a:rPr>
              <a:t>tục</a:t>
            </a:r>
            <a:r>
              <a:rPr lang="en-US" sz="3200" b="1">
                <a:latin typeface="Arial"/>
                <a:ea typeface="Arial"/>
                <a:cs typeface="Arial"/>
                <a:sym typeface="Arial"/>
              </a:rPr>
              <a:t> </a:t>
            </a:r>
            <a:r>
              <a:rPr lang="en-US" sz="3200" b="1" err="1">
                <a:latin typeface="Arial"/>
                <a:ea typeface="Arial"/>
                <a:cs typeface="Arial"/>
                <a:sym typeface="Arial"/>
              </a:rPr>
              <a:t>tập</a:t>
            </a:r>
            <a:r>
              <a:rPr lang="en-US" sz="3200" b="1">
                <a:latin typeface="Arial"/>
                <a:ea typeface="Arial"/>
                <a:cs typeface="Arial"/>
                <a:sym typeface="Arial"/>
              </a:rPr>
              <a:t> </a:t>
            </a:r>
            <a:r>
              <a:rPr lang="en-US" sz="3200" b="1" err="1">
                <a:latin typeface="Arial"/>
                <a:ea typeface="Arial"/>
                <a:cs typeface="Arial"/>
                <a:sym typeface="Arial"/>
              </a:rPr>
              <a:t>quán</a:t>
            </a:r>
            <a:endParaRPr sz="3200" b="1">
              <a:latin typeface="Arial"/>
              <a:ea typeface="Arial"/>
              <a:cs typeface="Arial"/>
              <a:sym typeface="Arial"/>
            </a:endParaRPr>
          </a:p>
        </p:txBody>
      </p:sp>
      <p:sp>
        <p:nvSpPr>
          <p:cNvPr id="569" name="Google Shape;569;p72"/>
          <p:cNvSpPr/>
          <p:nvPr/>
        </p:nvSpPr>
        <p:spPr>
          <a:xfrm>
            <a:off x="463164" y="1496318"/>
            <a:ext cx="10966836" cy="3244158"/>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	Phong tục tập quán biểu hiện về mặt hình thức là những nghi lễ như phong tục thờ cúng tổ tiên, phong tục hôn nhân, lễ tết, lễ hội.</a:t>
            </a:r>
            <a:endParaRPr sz="1400" b="0" i="0" u="none" strike="noStrike" cap="none">
              <a:solidFill>
                <a:srgbClr val="000000"/>
              </a:solidFill>
              <a:latin typeface="Arial"/>
              <a:ea typeface="Arial"/>
              <a:cs typeface="Arial"/>
              <a:sym typeface="Arial"/>
            </a:endParaRPr>
          </a:p>
        </p:txBody>
      </p:sp>
      <p:pic>
        <p:nvPicPr>
          <p:cNvPr id="570" name="Google Shape;570;p72" descr="images888745_lixi"/>
          <p:cNvPicPr preferRelativeResize="0"/>
          <p:nvPr/>
        </p:nvPicPr>
        <p:blipFill rotWithShape="1">
          <a:blip r:embed="rId3">
            <a:alphaModFix/>
          </a:blip>
          <a:srcRect/>
          <a:stretch/>
        </p:blipFill>
        <p:spPr>
          <a:xfrm>
            <a:off x="3496751" y="3124054"/>
            <a:ext cx="4592890" cy="309781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73"/>
          <p:cNvSpPr txBox="1">
            <a:spLocks noGrp="1"/>
          </p:cNvSpPr>
          <p:nvPr>
            <p:ph type="title"/>
          </p:nvPr>
        </p:nvSpPr>
        <p:spPr>
          <a:xfrm>
            <a:off x="567830" y="469215"/>
            <a:ext cx="6848295" cy="117043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1">
                <a:latin typeface="Arial"/>
                <a:ea typeface="Arial"/>
                <a:cs typeface="Arial"/>
                <a:sym typeface="Arial"/>
              </a:rPr>
              <a:t>2.</a:t>
            </a:r>
            <a:r>
              <a:rPr lang="vi-VN" sz="3200" b="1">
                <a:latin typeface="Arial"/>
                <a:ea typeface="Arial"/>
                <a:cs typeface="Arial"/>
                <a:sym typeface="Arial"/>
              </a:rPr>
              <a:t>1</a:t>
            </a:r>
            <a:r>
              <a:rPr lang="en-US" sz="3200" b="1">
                <a:latin typeface="Arial"/>
                <a:ea typeface="Arial"/>
                <a:cs typeface="Arial"/>
                <a:sym typeface="Arial"/>
              </a:rPr>
              <a:t>.</a:t>
            </a:r>
            <a:r>
              <a:rPr lang="vi-VN" sz="3200" b="1">
                <a:latin typeface="Arial"/>
                <a:ea typeface="Arial"/>
                <a:cs typeface="Arial"/>
                <a:sym typeface="Arial"/>
              </a:rPr>
              <a:t>3</a:t>
            </a:r>
            <a:r>
              <a:rPr lang="en-US" sz="3200" b="1">
                <a:latin typeface="Arial"/>
                <a:ea typeface="Arial"/>
                <a:cs typeface="Arial"/>
                <a:sym typeface="Arial"/>
              </a:rPr>
              <a:t>.</a:t>
            </a:r>
            <a:r>
              <a:rPr lang="vi-VN" sz="3200" b="1"/>
              <a:t>4</a:t>
            </a:r>
            <a:r>
              <a:rPr lang="en-US" sz="3200" b="1">
                <a:latin typeface="Arial"/>
                <a:ea typeface="Arial"/>
                <a:cs typeface="Arial"/>
                <a:sym typeface="Arial"/>
              </a:rPr>
              <a:t> </a:t>
            </a:r>
            <a:r>
              <a:rPr lang="en-US" sz="3200" b="1" err="1">
                <a:latin typeface="Arial"/>
                <a:ea typeface="Arial"/>
                <a:cs typeface="Arial"/>
                <a:sym typeface="Arial"/>
              </a:rPr>
              <a:t>Các</a:t>
            </a:r>
            <a:r>
              <a:rPr lang="en-US" sz="3200" b="1">
                <a:latin typeface="Arial"/>
                <a:ea typeface="Arial"/>
                <a:cs typeface="Arial"/>
                <a:sym typeface="Arial"/>
              </a:rPr>
              <a:t> </a:t>
            </a:r>
            <a:r>
              <a:rPr lang="en-US" sz="3200" b="1" err="1">
                <a:latin typeface="Arial"/>
                <a:ea typeface="Arial"/>
                <a:cs typeface="Arial"/>
                <a:sym typeface="Arial"/>
              </a:rPr>
              <a:t>biểu</a:t>
            </a:r>
            <a:r>
              <a:rPr lang="en-US" sz="3200" b="1">
                <a:latin typeface="Arial"/>
                <a:ea typeface="Arial"/>
                <a:cs typeface="Arial"/>
                <a:sym typeface="Arial"/>
              </a:rPr>
              <a:t> </a:t>
            </a:r>
            <a:r>
              <a:rPr lang="en-US" sz="3200" b="1" err="1">
                <a:latin typeface="Arial"/>
                <a:ea typeface="Arial"/>
                <a:cs typeface="Arial"/>
                <a:sym typeface="Arial"/>
              </a:rPr>
              <a:t>tượng</a:t>
            </a:r>
            <a:r>
              <a:rPr lang="en-US" sz="3200" b="1">
                <a:latin typeface="Arial"/>
                <a:ea typeface="Arial"/>
                <a:cs typeface="Arial"/>
                <a:sym typeface="Arial"/>
              </a:rPr>
              <a:t>, </a:t>
            </a:r>
            <a:r>
              <a:rPr lang="en-US" sz="3200" b="1" err="1">
                <a:latin typeface="Arial"/>
                <a:ea typeface="Arial"/>
                <a:cs typeface="Arial"/>
                <a:sym typeface="Arial"/>
              </a:rPr>
              <a:t>đồ</a:t>
            </a:r>
            <a:r>
              <a:rPr lang="en-US" sz="3200" b="1">
                <a:latin typeface="Arial"/>
                <a:ea typeface="Arial"/>
                <a:cs typeface="Arial"/>
                <a:sym typeface="Arial"/>
              </a:rPr>
              <a:t> </a:t>
            </a:r>
            <a:r>
              <a:rPr lang="en-US" sz="3200" b="1" err="1">
                <a:latin typeface="Arial"/>
                <a:ea typeface="Arial"/>
                <a:cs typeface="Arial"/>
                <a:sym typeface="Arial"/>
              </a:rPr>
              <a:t>tạo</a:t>
            </a:r>
            <a:r>
              <a:rPr lang="en-US" sz="3200" b="1">
                <a:latin typeface="Arial"/>
                <a:ea typeface="Arial"/>
                <a:cs typeface="Arial"/>
                <a:sym typeface="Arial"/>
              </a:rPr>
              <a:t> </a:t>
            </a:r>
            <a:r>
              <a:rPr lang="en-US" sz="3200" b="1" err="1">
                <a:latin typeface="Arial"/>
                <a:ea typeface="Arial"/>
                <a:cs typeface="Arial"/>
                <a:sym typeface="Arial"/>
              </a:rPr>
              <a:t>tác</a:t>
            </a:r>
            <a:r>
              <a:rPr lang="en-US" sz="3200" b="1">
                <a:latin typeface="Arial"/>
                <a:ea typeface="Arial"/>
                <a:cs typeface="Arial"/>
                <a:sym typeface="Arial"/>
              </a:rPr>
              <a:t> </a:t>
            </a:r>
            <a:endParaRPr sz="3200" b="1">
              <a:latin typeface="Arial"/>
              <a:ea typeface="Arial"/>
              <a:cs typeface="Arial"/>
              <a:sym typeface="Arial"/>
            </a:endParaRPr>
          </a:p>
        </p:txBody>
      </p:sp>
      <p:sp>
        <p:nvSpPr>
          <p:cNvPr id="576" name="Google Shape;576;p73"/>
          <p:cNvSpPr txBox="1">
            <a:spLocks noGrp="1"/>
          </p:cNvSpPr>
          <p:nvPr>
            <p:ph type="body" idx="1"/>
          </p:nvPr>
        </p:nvSpPr>
        <p:spPr>
          <a:xfrm>
            <a:off x="501340" y="1838654"/>
            <a:ext cx="4917152" cy="3058742"/>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2800"/>
              <a:buNone/>
            </a:pPr>
            <a:r>
              <a:rPr lang="en-US" err="1">
                <a:latin typeface="Arial"/>
                <a:ea typeface="Arial"/>
                <a:cs typeface="Arial"/>
                <a:sym typeface="Arial"/>
              </a:rPr>
              <a:t>Biểu</a:t>
            </a:r>
            <a:r>
              <a:rPr lang="en-US">
                <a:latin typeface="Arial"/>
                <a:ea typeface="Arial"/>
                <a:cs typeface="Arial"/>
                <a:sym typeface="Arial"/>
              </a:rPr>
              <a:t> </a:t>
            </a:r>
            <a:r>
              <a:rPr lang="en-US" err="1">
                <a:latin typeface="Arial"/>
                <a:ea typeface="Arial"/>
                <a:cs typeface="Arial"/>
                <a:sym typeface="Arial"/>
              </a:rPr>
              <a:t>tượng</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biểu</a:t>
            </a:r>
            <a:r>
              <a:rPr lang="en-US">
                <a:latin typeface="Arial"/>
                <a:ea typeface="Arial"/>
                <a:cs typeface="Arial"/>
                <a:sym typeface="Arial"/>
              </a:rPr>
              <a:t> </a:t>
            </a:r>
            <a:r>
              <a:rPr lang="en-US" err="1">
                <a:latin typeface="Arial"/>
                <a:ea typeface="Arial"/>
                <a:cs typeface="Arial"/>
                <a:sym typeface="Arial"/>
              </a:rPr>
              <a:t>tượng</a:t>
            </a:r>
            <a:r>
              <a:rPr lang="en-US">
                <a:latin typeface="Arial"/>
                <a:ea typeface="Arial"/>
                <a:cs typeface="Arial"/>
                <a:sym typeface="Arial"/>
              </a:rPr>
              <a:t> </a:t>
            </a:r>
            <a:r>
              <a:rPr lang="en-US" err="1">
                <a:latin typeface="Arial"/>
                <a:ea typeface="Arial"/>
                <a:cs typeface="Arial"/>
                <a:sym typeface="Arial"/>
              </a:rPr>
              <a:t>mang</a:t>
            </a:r>
            <a:r>
              <a:rPr lang="en-US">
                <a:latin typeface="Arial"/>
                <a:ea typeface="Arial"/>
                <a:cs typeface="Arial"/>
                <a:sym typeface="Arial"/>
              </a:rPr>
              <a:t> ý </a:t>
            </a:r>
            <a:r>
              <a:rPr lang="en-US" err="1">
                <a:latin typeface="Arial"/>
                <a:ea typeface="Arial"/>
                <a:cs typeface="Arial"/>
                <a:sym typeface="Arial"/>
              </a:rPr>
              <a:t>nghĩa</a:t>
            </a:r>
            <a:r>
              <a:rPr lang="en-US">
                <a:latin typeface="Arial"/>
                <a:ea typeface="Arial"/>
                <a:cs typeface="Arial"/>
                <a:sym typeface="Arial"/>
              </a:rPr>
              <a:t> </a:t>
            </a:r>
            <a:r>
              <a:rPr lang="en-US" err="1">
                <a:latin typeface="Arial"/>
                <a:ea typeface="Arial"/>
                <a:cs typeface="Arial"/>
                <a:sym typeface="Arial"/>
              </a:rPr>
              <a:t>văn</a:t>
            </a:r>
            <a:r>
              <a:rPr lang="en-US">
                <a:latin typeface="Arial"/>
                <a:ea typeface="Arial"/>
                <a:cs typeface="Arial"/>
                <a:sym typeface="Arial"/>
              </a:rPr>
              <a:t> </a:t>
            </a:r>
            <a:r>
              <a:rPr lang="en-US" err="1">
                <a:latin typeface="Arial"/>
                <a:ea typeface="Arial"/>
                <a:cs typeface="Arial"/>
                <a:sym typeface="Arial"/>
              </a:rPr>
              <a:t>hoá</a:t>
            </a:r>
            <a:r>
              <a:rPr lang="en-US">
                <a:latin typeface="Arial"/>
                <a:ea typeface="Arial"/>
                <a:cs typeface="Arial"/>
                <a:sym typeface="Arial"/>
              </a:rPr>
              <a:t> </a:t>
            </a:r>
            <a:r>
              <a:rPr lang="en-US" err="1">
                <a:latin typeface="Arial"/>
                <a:ea typeface="Arial"/>
                <a:cs typeface="Arial"/>
                <a:sym typeface="Arial"/>
              </a:rPr>
              <a:t>được</a:t>
            </a:r>
            <a:r>
              <a:rPr lang="en-US">
                <a:latin typeface="Arial"/>
                <a:ea typeface="Arial"/>
                <a:cs typeface="Arial"/>
                <a:sym typeface="Arial"/>
              </a:rPr>
              <a:t> </a:t>
            </a:r>
            <a:r>
              <a:rPr lang="en-US" err="1">
                <a:latin typeface="Arial"/>
                <a:ea typeface="Arial"/>
                <a:cs typeface="Arial"/>
                <a:sym typeface="Arial"/>
              </a:rPr>
              <a:t>hiểu</a:t>
            </a:r>
            <a:r>
              <a:rPr lang="en-US">
                <a:latin typeface="Arial"/>
                <a:ea typeface="Arial"/>
                <a:cs typeface="Arial"/>
                <a:sym typeface="Arial"/>
              </a:rPr>
              <a:t> </a:t>
            </a:r>
            <a:r>
              <a:rPr lang="en-US" err="1">
                <a:latin typeface="Arial"/>
                <a:ea typeface="Arial"/>
                <a:cs typeface="Arial"/>
                <a:sym typeface="Arial"/>
              </a:rPr>
              <a:t>là</a:t>
            </a:r>
            <a:r>
              <a:rPr lang="en-US">
                <a:latin typeface="Arial"/>
                <a:ea typeface="Arial"/>
                <a:cs typeface="Arial"/>
                <a:sym typeface="Arial"/>
              </a:rPr>
              <a:t> </a:t>
            </a:r>
            <a:r>
              <a:rPr lang="en-US" err="1">
                <a:latin typeface="Arial"/>
                <a:ea typeface="Arial"/>
                <a:cs typeface="Arial"/>
                <a:sym typeface="Arial"/>
              </a:rPr>
              <a:t>dấu</a:t>
            </a:r>
            <a:r>
              <a:rPr lang="en-US">
                <a:latin typeface="Arial"/>
                <a:ea typeface="Arial"/>
                <a:cs typeface="Arial"/>
                <a:sym typeface="Arial"/>
              </a:rPr>
              <a:t> </a:t>
            </a:r>
            <a:r>
              <a:rPr lang="en-US" err="1">
                <a:latin typeface="Arial"/>
                <a:ea typeface="Arial"/>
                <a:cs typeface="Arial"/>
                <a:sym typeface="Arial"/>
              </a:rPr>
              <a:t>hiệu</a:t>
            </a:r>
            <a:r>
              <a:rPr lang="en-US">
                <a:latin typeface="Arial"/>
                <a:ea typeface="Arial"/>
                <a:cs typeface="Arial"/>
                <a:sym typeface="Arial"/>
              </a:rPr>
              <a:t>, </a:t>
            </a:r>
            <a:r>
              <a:rPr lang="en-US" err="1">
                <a:latin typeface="Arial"/>
                <a:ea typeface="Arial"/>
                <a:cs typeface="Arial"/>
                <a:sym typeface="Arial"/>
              </a:rPr>
              <a:t>hình</a:t>
            </a:r>
            <a:r>
              <a:rPr lang="en-US">
                <a:latin typeface="Arial"/>
                <a:ea typeface="Arial"/>
                <a:cs typeface="Arial"/>
                <a:sym typeface="Arial"/>
              </a:rPr>
              <a:t> </a:t>
            </a:r>
            <a:r>
              <a:rPr lang="en-US" err="1">
                <a:latin typeface="Arial"/>
                <a:ea typeface="Arial"/>
                <a:cs typeface="Arial"/>
                <a:sym typeface="Arial"/>
              </a:rPr>
              <a:t>ảnh</a:t>
            </a:r>
            <a:r>
              <a:rPr lang="en-US">
                <a:latin typeface="Arial"/>
                <a:ea typeface="Arial"/>
                <a:cs typeface="Arial"/>
                <a:sym typeface="Arial"/>
              </a:rPr>
              <a:t>, </a:t>
            </a:r>
            <a:r>
              <a:rPr lang="en-US" err="1">
                <a:latin typeface="Arial"/>
                <a:ea typeface="Arial"/>
                <a:cs typeface="Arial"/>
                <a:sym typeface="Arial"/>
              </a:rPr>
              <a:t>vật</a:t>
            </a:r>
            <a:r>
              <a:rPr lang="en-US">
                <a:latin typeface="Arial"/>
                <a:ea typeface="Arial"/>
                <a:cs typeface="Arial"/>
                <a:sym typeface="Arial"/>
              </a:rPr>
              <a:t> </a:t>
            </a:r>
            <a:r>
              <a:rPr lang="en-US" err="1">
                <a:latin typeface="Arial"/>
                <a:ea typeface="Arial"/>
                <a:cs typeface="Arial"/>
                <a:sym typeface="Arial"/>
              </a:rPr>
              <a:t>thể</a:t>
            </a:r>
            <a:r>
              <a:rPr lang="en-US">
                <a:latin typeface="Arial"/>
                <a:ea typeface="Arial"/>
                <a:cs typeface="Arial"/>
                <a:sym typeface="Arial"/>
              </a:rPr>
              <a:t>, </a:t>
            </a:r>
            <a:r>
              <a:rPr lang="en-US" err="1">
                <a:latin typeface="Arial"/>
                <a:ea typeface="Arial"/>
                <a:cs typeface="Arial"/>
                <a:sym typeface="Arial"/>
              </a:rPr>
              <a:t>cử</a:t>
            </a:r>
            <a:r>
              <a:rPr lang="en-US">
                <a:latin typeface="Arial"/>
                <a:ea typeface="Arial"/>
                <a:cs typeface="Arial"/>
                <a:sym typeface="Arial"/>
              </a:rPr>
              <a:t> </a:t>
            </a:r>
            <a:r>
              <a:rPr lang="en-US" err="1">
                <a:latin typeface="Arial"/>
                <a:ea typeface="Arial"/>
                <a:cs typeface="Arial"/>
                <a:sym typeface="Arial"/>
              </a:rPr>
              <a:t>chỉ.v.v</a:t>
            </a:r>
            <a:r>
              <a:rPr lang="en-US">
                <a:latin typeface="Arial"/>
                <a:ea typeface="Arial"/>
                <a:cs typeface="Arial"/>
                <a:sym typeface="Arial"/>
              </a:rPr>
              <a:t>.</a:t>
            </a:r>
            <a:endParaRPr/>
          </a:p>
        </p:txBody>
      </p:sp>
      <p:pic>
        <p:nvPicPr>
          <p:cNvPr id="577" name="Google Shape;577;p73" descr="Ý nghĩa hoa sen và bí mật của quốc hoa Việt Nam"/>
          <p:cNvPicPr preferRelativeResize="0"/>
          <p:nvPr/>
        </p:nvPicPr>
        <p:blipFill rotWithShape="1">
          <a:blip r:embed="rId3">
            <a:alphaModFix/>
          </a:blip>
          <a:srcRect t="24704" r="-2" b="13908"/>
          <a:stretch/>
        </p:blipFill>
        <p:spPr>
          <a:xfrm>
            <a:off x="6550862" y="2185062"/>
            <a:ext cx="5138928" cy="236592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74"/>
          <p:cNvSpPr txBox="1">
            <a:spLocks noGrp="1"/>
          </p:cNvSpPr>
          <p:nvPr>
            <p:ph type="title"/>
          </p:nvPr>
        </p:nvSpPr>
        <p:spPr>
          <a:xfrm>
            <a:off x="438912" y="113087"/>
            <a:ext cx="6815328" cy="117043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1">
                <a:latin typeface="Arial"/>
                <a:ea typeface="Arial"/>
                <a:cs typeface="Arial"/>
                <a:sym typeface="Arial"/>
              </a:rPr>
              <a:t>2.</a:t>
            </a:r>
            <a:r>
              <a:rPr lang="vi-VN" sz="3200" b="1">
                <a:latin typeface="Arial"/>
                <a:ea typeface="Arial"/>
                <a:cs typeface="Arial"/>
                <a:sym typeface="Arial"/>
              </a:rPr>
              <a:t>1</a:t>
            </a:r>
            <a:r>
              <a:rPr lang="en-US" sz="3200" b="1">
                <a:latin typeface="Arial"/>
                <a:ea typeface="Arial"/>
                <a:cs typeface="Arial"/>
                <a:sym typeface="Arial"/>
              </a:rPr>
              <a:t>.</a:t>
            </a:r>
            <a:r>
              <a:rPr lang="vi-VN" sz="3200" b="1">
                <a:latin typeface="Arial"/>
                <a:ea typeface="Arial"/>
                <a:cs typeface="Arial"/>
                <a:sym typeface="Arial"/>
              </a:rPr>
              <a:t>3</a:t>
            </a:r>
            <a:r>
              <a:rPr lang="en-US" sz="3200" b="1">
                <a:latin typeface="Arial"/>
                <a:ea typeface="Arial"/>
                <a:cs typeface="Arial"/>
                <a:sym typeface="Arial"/>
              </a:rPr>
              <a:t>.</a:t>
            </a:r>
            <a:r>
              <a:rPr lang="vi-VN" sz="3200" b="1"/>
              <a:t>4</a:t>
            </a:r>
            <a:r>
              <a:rPr lang="en-US" sz="3200" b="1">
                <a:latin typeface="Arial"/>
                <a:ea typeface="Arial"/>
                <a:cs typeface="Arial"/>
                <a:sym typeface="Arial"/>
              </a:rPr>
              <a:t> </a:t>
            </a:r>
            <a:r>
              <a:rPr lang="en-US" sz="3200" b="1" err="1">
                <a:latin typeface="Arial"/>
                <a:ea typeface="Arial"/>
                <a:cs typeface="Arial"/>
                <a:sym typeface="Arial"/>
              </a:rPr>
              <a:t>Các</a:t>
            </a:r>
            <a:r>
              <a:rPr lang="en-US" sz="3200" b="1">
                <a:latin typeface="Arial"/>
                <a:ea typeface="Arial"/>
                <a:cs typeface="Arial"/>
                <a:sym typeface="Arial"/>
              </a:rPr>
              <a:t> </a:t>
            </a:r>
            <a:r>
              <a:rPr lang="en-US" sz="3200" b="1" err="1">
                <a:latin typeface="Arial"/>
                <a:ea typeface="Arial"/>
                <a:cs typeface="Arial"/>
                <a:sym typeface="Arial"/>
              </a:rPr>
              <a:t>biểu</a:t>
            </a:r>
            <a:r>
              <a:rPr lang="en-US" sz="3200" b="1">
                <a:latin typeface="Arial"/>
                <a:ea typeface="Arial"/>
                <a:cs typeface="Arial"/>
                <a:sym typeface="Arial"/>
              </a:rPr>
              <a:t> </a:t>
            </a:r>
            <a:r>
              <a:rPr lang="en-US" sz="3200" b="1" err="1">
                <a:latin typeface="Arial"/>
                <a:ea typeface="Arial"/>
                <a:cs typeface="Arial"/>
                <a:sym typeface="Arial"/>
              </a:rPr>
              <a:t>tượng</a:t>
            </a:r>
            <a:r>
              <a:rPr lang="en-US" sz="3200" b="1">
                <a:latin typeface="Arial"/>
                <a:ea typeface="Arial"/>
                <a:cs typeface="Arial"/>
                <a:sym typeface="Arial"/>
              </a:rPr>
              <a:t>, </a:t>
            </a:r>
            <a:r>
              <a:rPr lang="en-US" sz="3200" b="1" err="1">
                <a:latin typeface="Arial"/>
                <a:ea typeface="Arial"/>
                <a:cs typeface="Arial"/>
                <a:sym typeface="Arial"/>
              </a:rPr>
              <a:t>đồ</a:t>
            </a:r>
            <a:r>
              <a:rPr lang="en-US" sz="3200" b="1">
                <a:latin typeface="Arial"/>
                <a:ea typeface="Arial"/>
                <a:cs typeface="Arial"/>
                <a:sym typeface="Arial"/>
              </a:rPr>
              <a:t> </a:t>
            </a:r>
            <a:r>
              <a:rPr lang="en-US" sz="3200" b="1" err="1">
                <a:latin typeface="Arial"/>
                <a:ea typeface="Arial"/>
                <a:cs typeface="Arial"/>
                <a:sym typeface="Arial"/>
              </a:rPr>
              <a:t>tạo</a:t>
            </a:r>
            <a:r>
              <a:rPr lang="en-US" sz="3200" b="1">
                <a:latin typeface="Arial"/>
                <a:ea typeface="Arial"/>
                <a:cs typeface="Arial"/>
                <a:sym typeface="Arial"/>
              </a:rPr>
              <a:t> </a:t>
            </a:r>
            <a:r>
              <a:rPr lang="en-US" sz="3200" b="1" err="1">
                <a:latin typeface="Arial"/>
                <a:ea typeface="Arial"/>
                <a:cs typeface="Arial"/>
                <a:sym typeface="Arial"/>
              </a:rPr>
              <a:t>tác</a:t>
            </a:r>
            <a:r>
              <a:rPr lang="en-US" sz="3200" b="1">
                <a:latin typeface="Arial"/>
                <a:ea typeface="Arial"/>
                <a:cs typeface="Arial"/>
                <a:sym typeface="Arial"/>
              </a:rPr>
              <a:t> </a:t>
            </a:r>
            <a:endParaRPr sz="3200" b="1">
              <a:latin typeface="Arial"/>
              <a:ea typeface="Arial"/>
              <a:cs typeface="Arial"/>
              <a:sym typeface="Arial"/>
            </a:endParaRPr>
          </a:p>
        </p:txBody>
      </p:sp>
      <p:sp>
        <p:nvSpPr>
          <p:cNvPr id="583" name="Google Shape;583;p74"/>
          <p:cNvSpPr txBox="1">
            <a:spLocks noGrp="1"/>
          </p:cNvSpPr>
          <p:nvPr>
            <p:ph type="body" idx="1"/>
          </p:nvPr>
        </p:nvSpPr>
        <p:spPr>
          <a:xfrm>
            <a:off x="245208" y="1279143"/>
            <a:ext cx="5226905" cy="4299713"/>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2800"/>
              <a:buNone/>
            </a:pPr>
            <a:r>
              <a:rPr lang="en-US">
                <a:latin typeface="Arial"/>
                <a:ea typeface="Arial"/>
                <a:cs typeface="Arial"/>
                <a:sym typeface="Arial"/>
              </a:rPr>
              <a:t>Đồ tạo tác: Văn hoá còn được nhìn thấy qua các đồ tạo tác của từng quốc gia, nó được coi là giá trị văn hoá phi vật thể của quốc gia đó và có một số các đồ tạo tác của các quốc gia được công nhận là Di sản Thế Giới bởi Unesco</a:t>
            </a:r>
            <a:endParaRPr>
              <a:latin typeface="Arial"/>
              <a:ea typeface="Arial"/>
              <a:cs typeface="Arial"/>
              <a:sym typeface="Arial"/>
            </a:endParaRPr>
          </a:p>
        </p:txBody>
      </p:sp>
      <p:pic>
        <p:nvPicPr>
          <p:cNvPr id="584" name="Google Shape;584;p74" descr="A Journey Through Vietnam's UNESCO World Heritage Sites"/>
          <p:cNvPicPr preferRelativeResize="0"/>
          <p:nvPr/>
        </p:nvPicPr>
        <p:blipFill rotWithShape="1">
          <a:blip r:embed="rId3">
            <a:alphaModFix/>
          </a:blip>
          <a:srcRect/>
          <a:stretch/>
        </p:blipFill>
        <p:spPr>
          <a:xfrm>
            <a:off x="5657850" y="1592862"/>
            <a:ext cx="6534150" cy="36766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75"/>
          <p:cNvSpPr txBox="1">
            <a:spLocks noGrp="1"/>
          </p:cNvSpPr>
          <p:nvPr>
            <p:ph type="title"/>
          </p:nvPr>
        </p:nvSpPr>
        <p:spPr>
          <a:xfrm>
            <a:off x="363127" y="151279"/>
            <a:ext cx="6251986" cy="108813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1">
                <a:latin typeface="Arial"/>
                <a:ea typeface="Arial"/>
                <a:cs typeface="Arial"/>
                <a:sym typeface="Arial"/>
              </a:rPr>
              <a:t>2.</a:t>
            </a:r>
            <a:r>
              <a:rPr lang="vi-VN" sz="3200" b="1">
                <a:latin typeface="Arial"/>
                <a:ea typeface="Arial"/>
                <a:cs typeface="Arial"/>
                <a:sym typeface="Arial"/>
              </a:rPr>
              <a:t>1</a:t>
            </a:r>
            <a:r>
              <a:rPr lang="en-US" sz="3200" b="1">
                <a:latin typeface="Arial"/>
                <a:ea typeface="Arial"/>
                <a:cs typeface="Arial"/>
                <a:sym typeface="Arial"/>
              </a:rPr>
              <a:t>.</a:t>
            </a:r>
            <a:r>
              <a:rPr lang="vi-VN" sz="3200" b="1">
                <a:latin typeface="Arial"/>
                <a:ea typeface="Arial"/>
                <a:cs typeface="Arial"/>
                <a:sym typeface="Arial"/>
              </a:rPr>
              <a:t>3.</a:t>
            </a:r>
            <a:r>
              <a:rPr lang="vi-VN" sz="3200" b="1"/>
              <a:t>5</a:t>
            </a:r>
            <a:r>
              <a:rPr lang="en-US" sz="3200" b="1">
                <a:latin typeface="Arial"/>
                <a:ea typeface="Arial"/>
                <a:cs typeface="Arial"/>
                <a:sym typeface="Arial"/>
              </a:rPr>
              <a:t> </a:t>
            </a:r>
            <a:r>
              <a:rPr lang="en-US" sz="3200" b="1" err="1">
                <a:latin typeface="Arial"/>
                <a:ea typeface="Arial"/>
                <a:cs typeface="Arial"/>
                <a:sym typeface="Arial"/>
              </a:rPr>
              <a:t>Sự</a:t>
            </a:r>
            <a:r>
              <a:rPr lang="en-US" sz="3200" b="1">
                <a:latin typeface="Arial"/>
                <a:ea typeface="Arial"/>
                <a:cs typeface="Arial"/>
                <a:sym typeface="Arial"/>
              </a:rPr>
              <a:t> </a:t>
            </a:r>
            <a:r>
              <a:rPr lang="en-US" sz="3200" b="1" err="1">
                <a:latin typeface="Arial"/>
                <a:ea typeface="Arial"/>
                <a:cs typeface="Arial"/>
                <a:sym typeface="Arial"/>
              </a:rPr>
              <a:t>khác</a:t>
            </a:r>
            <a:r>
              <a:rPr lang="en-US" sz="3200" b="1">
                <a:latin typeface="Arial"/>
                <a:ea typeface="Arial"/>
                <a:cs typeface="Arial"/>
                <a:sym typeface="Arial"/>
              </a:rPr>
              <a:t> </a:t>
            </a:r>
            <a:r>
              <a:rPr lang="en-US" sz="3200" b="1" err="1">
                <a:latin typeface="Arial"/>
                <a:ea typeface="Arial"/>
                <a:cs typeface="Arial"/>
                <a:sym typeface="Arial"/>
              </a:rPr>
              <a:t>biệt</a:t>
            </a:r>
            <a:r>
              <a:rPr lang="en-US" sz="3200" b="1">
                <a:latin typeface="Arial"/>
                <a:ea typeface="Arial"/>
                <a:cs typeface="Arial"/>
                <a:sym typeface="Arial"/>
              </a:rPr>
              <a:t> </a:t>
            </a:r>
            <a:r>
              <a:rPr lang="en-US" sz="3200" b="1" err="1">
                <a:latin typeface="Arial"/>
                <a:ea typeface="Arial"/>
                <a:cs typeface="Arial"/>
                <a:sym typeface="Arial"/>
              </a:rPr>
              <a:t>ngôn</a:t>
            </a:r>
            <a:r>
              <a:rPr lang="en-US" sz="3200" b="1">
                <a:latin typeface="Arial"/>
                <a:ea typeface="Arial"/>
                <a:cs typeface="Arial"/>
                <a:sym typeface="Arial"/>
              </a:rPr>
              <a:t> </a:t>
            </a:r>
            <a:r>
              <a:rPr lang="en-US" sz="3200" b="1" err="1">
                <a:latin typeface="Arial"/>
                <a:ea typeface="Arial"/>
                <a:cs typeface="Arial"/>
                <a:sym typeface="Arial"/>
              </a:rPr>
              <a:t>ngữ</a:t>
            </a:r>
            <a:endParaRPr sz="3200" b="1">
              <a:latin typeface="Arial"/>
              <a:ea typeface="Arial"/>
              <a:cs typeface="Arial"/>
              <a:sym typeface="Arial"/>
            </a:endParaRPr>
          </a:p>
        </p:txBody>
      </p:sp>
      <p:sp>
        <p:nvSpPr>
          <p:cNvPr id="590" name="Google Shape;590;p75"/>
          <p:cNvSpPr txBox="1">
            <a:spLocks noGrp="1"/>
          </p:cNvSpPr>
          <p:nvPr>
            <p:ph type="body" idx="1"/>
          </p:nvPr>
        </p:nvSpPr>
        <p:spPr>
          <a:xfrm>
            <a:off x="565692" y="1041710"/>
            <a:ext cx="5349100" cy="3952469"/>
          </a:xfrm>
          <a:prstGeom prst="rect">
            <a:avLst/>
          </a:prstGeom>
          <a:noFill/>
          <a:ln>
            <a:noFill/>
          </a:ln>
        </p:spPr>
        <p:txBody>
          <a:bodyPr spcFirstLastPara="1" wrap="square" lIns="91425" tIns="45700" rIns="91425" bIns="45700" anchor="t" anchorCtr="0">
            <a:noAutofit/>
          </a:bodyPr>
          <a:lstStyle/>
          <a:p>
            <a:pPr marL="0" lvl="0" indent="0" algn="just" rtl="0">
              <a:lnSpc>
                <a:spcPct val="166666"/>
              </a:lnSpc>
              <a:spcBef>
                <a:spcPts val="0"/>
              </a:spcBef>
              <a:spcAft>
                <a:spcPts val="0"/>
              </a:spcAft>
              <a:buClr>
                <a:schemeClr val="dk1"/>
              </a:buClr>
              <a:buSzPts val="2400"/>
              <a:buNone/>
            </a:pPr>
            <a:r>
              <a:rPr lang="en-US" sz="2400">
                <a:latin typeface="Arial"/>
                <a:ea typeface="Arial"/>
                <a:cs typeface="Arial"/>
                <a:sym typeface="Arial"/>
              </a:rPr>
              <a:t>	</a:t>
            </a:r>
            <a:r>
              <a:rPr lang="en-US" sz="2400" err="1">
                <a:latin typeface="Arial"/>
                <a:ea typeface="Arial"/>
                <a:cs typeface="Arial"/>
                <a:sym typeface="Arial"/>
              </a:rPr>
              <a:t>Ngôn</a:t>
            </a:r>
            <a:r>
              <a:rPr lang="en-US" sz="2400">
                <a:latin typeface="Arial"/>
                <a:ea typeface="Arial"/>
                <a:cs typeface="Arial"/>
                <a:sym typeface="Arial"/>
              </a:rPr>
              <a:t> </a:t>
            </a:r>
            <a:r>
              <a:rPr lang="en-US" sz="2400" err="1">
                <a:latin typeface="Arial"/>
                <a:ea typeface="Arial"/>
                <a:cs typeface="Arial"/>
                <a:sym typeface="Arial"/>
              </a:rPr>
              <a:t>ngữ</a:t>
            </a:r>
            <a:r>
              <a:rPr lang="en-US" sz="2400">
                <a:latin typeface="Arial"/>
                <a:ea typeface="Arial"/>
                <a:cs typeface="Arial"/>
                <a:sym typeface="Arial"/>
              </a:rPr>
              <a:t> </a:t>
            </a:r>
            <a:r>
              <a:rPr lang="en-US" sz="2400" err="1">
                <a:latin typeface="Arial"/>
                <a:ea typeface="Arial"/>
                <a:cs typeface="Arial"/>
                <a:sym typeface="Arial"/>
              </a:rPr>
              <a:t>được</a:t>
            </a:r>
            <a:r>
              <a:rPr lang="en-US" sz="2400">
                <a:latin typeface="Arial"/>
                <a:ea typeface="Arial"/>
                <a:cs typeface="Arial"/>
                <a:sym typeface="Arial"/>
              </a:rPr>
              <a:t> </a:t>
            </a:r>
            <a:r>
              <a:rPr lang="en-US" sz="2400" err="1">
                <a:latin typeface="Arial"/>
                <a:ea typeface="Arial"/>
                <a:cs typeface="Arial"/>
                <a:sym typeface="Arial"/>
              </a:rPr>
              <a:t>coi</a:t>
            </a:r>
            <a:r>
              <a:rPr lang="en-US" sz="2400">
                <a:latin typeface="Arial"/>
                <a:ea typeface="Arial"/>
                <a:cs typeface="Arial"/>
                <a:sym typeface="Arial"/>
              </a:rPr>
              <a:t> </a:t>
            </a:r>
            <a:r>
              <a:rPr lang="en-US" sz="2400" err="1">
                <a:latin typeface="Arial"/>
                <a:ea typeface="Arial"/>
                <a:cs typeface="Arial"/>
                <a:sym typeface="Arial"/>
              </a:rPr>
              <a:t>là</a:t>
            </a:r>
            <a:r>
              <a:rPr lang="en-US" sz="2400">
                <a:latin typeface="Arial"/>
                <a:ea typeface="Arial"/>
                <a:cs typeface="Arial"/>
                <a:sym typeface="Arial"/>
              </a:rPr>
              <a:t> </a:t>
            </a:r>
            <a:r>
              <a:rPr lang="en-US" sz="2400" err="1">
                <a:latin typeface="Arial"/>
                <a:ea typeface="Arial"/>
                <a:cs typeface="Arial"/>
                <a:sym typeface="Arial"/>
              </a:rPr>
              <a:t>một</a:t>
            </a:r>
            <a:r>
              <a:rPr lang="en-US" sz="2400">
                <a:latin typeface="Arial"/>
                <a:ea typeface="Arial"/>
                <a:cs typeface="Arial"/>
                <a:sym typeface="Arial"/>
              </a:rPr>
              <a:t> </a:t>
            </a:r>
            <a:r>
              <a:rPr lang="en-US" sz="2400" err="1">
                <a:latin typeface="Arial"/>
                <a:ea typeface="Arial"/>
                <a:cs typeface="Arial"/>
                <a:sym typeface="Arial"/>
              </a:rPr>
              <a:t>yếu</a:t>
            </a:r>
            <a:r>
              <a:rPr lang="en-US" sz="2400">
                <a:latin typeface="Arial"/>
                <a:ea typeface="Arial"/>
                <a:cs typeface="Arial"/>
                <a:sym typeface="Arial"/>
              </a:rPr>
              <a:t> </a:t>
            </a:r>
            <a:r>
              <a:rPr lang="en-US" sz="2400" err="1">
                <a:latin typeface="Arial"/>
                <a:ea typeface="Arial"/>
                <a:cs typeface="Arial"/>
                <a:sym typeface="Arial"/>
              </a:rPr>
              <a:t>tố</a:t>
            </a:r>
            <a:r>
              <a:rPr lang="en-US" sz="2400">
                <a:latin typeface="Arial"/>
                <a:ea typeface="Arial"/>
                <a:cs typeface="Arial"/>
                <a:sym typeface="Arial"/>
              </a:rPr>
              <a:t> </a:t>
            </a:r>
            <a:r>
              <a:rPr lang="en-US" sz="2400" err="1">
                <a:latin typeface="Arial"/>
                <a:ea typeface="Arial"/>
                <a:cs typeface="Arial"/>
                <a:sym typeface="Arial"/>
              </a:rPr>
              <a:t>quan</a:t>
            </a:r>
            <a:r>
              <a:rPr lang="en-US" sz="2400">
                <a:latin typeface="Arial"/>
                <a:ea typeface="Arial"/>
                <a:cs typeface="Arial"/>
                <a:sym typeface="Arial"/>
              </a:rPr>
              <a:t> </a:t>
            </a:r>
            <a:r>
              <a:rPr lang="en-US" sz="2400" err="1">
                <a:latin typeface="Arial"/>
                <a:ea typeface="Arial"/>
                <a:cs typeface="Arial"/>
                <a:sym typeface="Arial"/>
              </a:rPr>
              <a:t>trọng</a:t>
            </a:r>
            <a:r>
              <a:rPr lang="en-US" sz="2400">
                <a:latin typeface="Arial"/>
                <a:ea typeface="Arial"/>
                <a:cs typeface="Arial"/>
                <a:sym typeface="Arial"/>
              </a:rPr>
              <a:t> </a:t>
            </a:r>
            <a:r>
              <a:rPr lang="en-US" sz="2400" err="1">
                <a:latin typeface="Arial"/>
                <a:ea typeface="Arial"/>
                <a:cs typeface="Arial"/>
                <a:sym typeface="Arial"/>
              </a:rPr>
              <a:t>của</a:t>
            </a:r>
            <a:r>
              <a:rPr lang="en-US" sz="2400">
                <a:latin typeface="Arial"/>
                <a:ea typeface="Arial"/>
                <a:cs typeface="Arial"/>
                <a:sym typeface="Arial"/>
              </a:rPr>
              <a:t> </a:t>
            </a:r>
            <a:r>
              <a:rPr lang="en-US" sz="2400" err="1">
                <a:latin typeface="Arial"/>
                <a:ea typeface="Arial"/>
                <a:cs typeface="Arial"/>
                <a:sym typeface="Arial"/>
              </a:rPr>
              <a:t>văn</a:t>
            </a:r>
            <a:r>
              <a:rPr lang="en-US" sz="2400">
                <a:latin typeface="Arial"/>
                <a:ea typeface="Arial"/>
                <a:cs typeface="Arial"/>
                <a:sym typeface="Arial"/>
              </a:rPr>
              <a:t> </a:t>
            </a:r>
            <a:r>
              <a:rPr lang="en-US" sz="2400" err="1">
                <a:latin typeface="Arial"/>
                <a:ea typeface="Arial"/>
                <a:cs typeface="Arial"/>
                <a:sym typeface="Arial"/>
              </a:rPr>
              <a:t>hóa</a:t>
            </a:r>
            <a:r>
              <a:rPr lang="en-US" sz="2400">
                <a:latin typeface="Arial"/>
                <a:ea typeface="Arial"/>
                <a:cs typeface="Arial"/>
                <a:sym typeface="Arial"/>
              </a:rPr>
              <a:t>. </a:t>
            </a:r>
            <a:r>
              <a:rPr lang="en-US" sz="2400" err="1">
                <a:latin typeface="Arial"/>
                <a:ea typeface="Arial"/>
                <a:cs typeface="Arial"/>
                <a:sym typeface="Arial"/>
              </a:rPr>
              <a:t>Ngôn</a:t>
            </a:r>
            <a:r>
              <a:rPr lang="en-US" sz="2400">
                <a:latin typeface="Arial"/>
                <a:ea typeface="Arial"/>
                <a:cs typeface="Arial"/>
                <a:sym typeface="Arial"/>
              </a:rPr>
              <a:t> </a:t>
            </a:r>
            <a:r>
              <a:rPr lang="en-US" sz="2400" err="1">
                <a:latin typeface="Arial"/>
                <a:ea typeface="Arial"/>
                <a:cs typeface="Arial"/>
                <a:sym typeface="Arial"/>
              </a:rPr>
              <a:t>ngữ</a:t>
            </a:r>
            <a:r>
              <a:rPr lang="en-US" sz="2400">
                <a:latin typeface="Arial"/>
                <a:ea typeface="Arial"/>
                <a:cs typeface="Arial"/>
                <a:sym typeface="Arial"/>
              </a:rPr>
              <a:t> </a:t>
            </a:r>
            <a:r>
              <a:rPr lang="en-US" sz="2400" err="1">
                <a:latin typeface="Arial"/>
                <a:ea typeface="Arial"/>
                <a:cs typeface="Arial"/>
                <a:sym typeface="Arial"/>
              </a:rPr>
              <a:t>được</a:t>
            </a:r>
            <a:r>
              <a:rPr lang="en-US" sz="2400">
                <a:latin typeface="Arial"/>
                <a:ea typeface="Arial"/>
                <a:cs typeface="Arial"/>
                <a:sym typeface="Arial"/>
              </a:rPr>
              <a:t> </a:t>
            </a:r>
            <a:r>
              <a:rPr lang="en-US" sz="2400" err="1">
                <a:latin typeface="Arial"/>
                <a:ea typeface="Arial"/>
                <a:cs typeface="Arial"/>
                <a:sym typeface="Arial"/>
              </a:rPr>
              <a:t>coi</a:t>
            </a:r>
            <a:r>
              <a:rPr lang="en-US" sz="2400">
                <a:latin typeface="Arial"/>
                <a:ea typeface="Arial"/>
                <a:cs typeface="Arial"/>
                <a:sym typeface="Arial"/>
              </a:rPr>
              <a:t> </a:t>
            </a:r>
            <a:r>
              <a:rPr lang="en-US" sz="2400" err="1">
                <a:latin typeface="Arial"/>
                <a:ea typeface="Arial"/>
                <a:cs typeface="Arial"/>
                <a:sym typeface="Arial"/>
              </a:rPr>
              <a:t>là</a:t>
            </a:r>
            <a:r>
              <a:rPr lang="en-US" sz="2400">
                <a:latin typeface="Arial"/>
                <a:ea typeface="Arial"/>
                <a:cs typeface="Arial"/>
                <a:sym typeface="Arial"/>
              </a:rPr>
              <a:t> </a:t>
            </a:r>
            <a:r>
              <a:rPr lang="en-US" sz="2400" err="1">
                <a:latin typeface="Arial"/>
                <a:ea typeface="Arial"/>
                <a:cs typeface="Arial"/>
                <a:sym typeface="Arial"/>
              </a:rPr>
              <a:t>yếu</a:t>
            </a:r>
            <a:r>
              <a:rPr lang="en-US" sz="2400">
                <a:latin typeface="Arial"/>
                <a:ea typeface="Arial"/>
                <a:cs typeface="Arial"/>
                <a:sym typeface="Arial"/>
              </a:rPr>
              <a:t> </a:t>
            </a:r>
            <a:r>
              <a:rPr lang="en-US" sz="2400" err="1">
                <a:latin typeface="Arial"/>
                <a:ea typeface="Arial"/>
                <a:cs typeface="Arial"/>
                <a:sym typeface="Arial"/>
              </a:rPr>
              <a:t>tố</a:t>
            </a:r>
            <a:r>
              <a:rPr lang="en-US" sz="2400">
                <a:latin typeface="Arial"/>
                <a:ea typeface="Arial"/>
                <a:cs typeface="Arial"/>
                <a:sym typeface="Arial"/>
              </a:rPr>
              <a:t> </a:t>
            </a:r>
            <a:r>
              <a:rPr lang="en-US" sz="2400" err="1">
                <a:latin typeface="Arial"/>
                <a:ea typeface="Arial"/>
                <a:cs typeface="Arial"/>
                <a:sym typeface="Arial"/>
              </a:rPr>
              <a:t>quảng</a:t>
            </a:r>
            <a:r>
              <a:rPr lang="en-US" sz="2400">
                <a:latin typeface="Arial"/>
                <a:ea typeface="Arial"/>
                <a:cs typeface="Arial"/>
                <a:sym typeface="Arial"/>
              </a:rPr>
              <a:t> </a:t>
            </a:r>
            <a:r>
              <a:rPr lang="en-US" sz="2400" err="1">
                <a:latin typeface="Arial"/>
                <a:ea typeface="Arial"/>
                <a:cs typeface="Arial"/>
                <a:sym typeface="Arial"/>
              </a:rPr>
              <a:t>cáo</a:t>
            </a:r>
            <a:r>
              <a:rPr lang="en-US" sz="2400">
                <a:latin typeface="Arial"/>
                <a:ea typeface="Arial"/>
                <a:cs typeface="Arial"/>
                <a:sym typeface="Arial"/>
              </a:rPr>
              <a:t> </a:t>
            </a:r>
            <a:r>
              <a:rPr lang="en-US" sz="2400" err="1">
                <a:latin typeface="Arial"/>
                <a:ea typeface="Arial"/>
                <a:cs typeface="Arial"/>
                <a:sym typeface="Arial"/>
              </a:rPr>
              <a:t>văn</a:t>
            </a:r>
            <a:r>
              <a:rPr lang="en-US" sz="2400">
                <a:latin typeface="Arial"/>
                <a:ea typeface="Arial"/>
                <a:cs typeface="Arial"/>
                <a:sym typeface="Arial"/>
              </a:rPr>
              <a:t> </a:t>
            </a:r>
            <a:r>
              <a:rPr lang="en-US" sz="2400" err="1">
                <a:latin typeface="Arial"/>
                <a:ea typeface="Arial"/>
                <a:cs typeface="Arial"/>
                <a:sym typeface="Arial"/>
              </a:rPr>
              <a:t>hóa</a:t>
            </a:r>
            <a:r>
              <a:rPr lang="en-US" sz="2400">
                <a:latin typeface="Arial"/>
                <a:ea typeface="Arial"/>
                <a:cs typeface="Arial"/>
                <a:sym typeface="Arial"/>
              </a:rPr>
              <a:t> </a:t>
            </a:r>
            <a:r>
              <a:rPr lang="en-US" sz="2400" err="1">
                <a:latin typeface="Arial"/>
                <a:ea typeface="Arial"/>
                <a:cs typeface="Arial"/>
                <a:sym typeface="Arial"/>
              </a:rPr>
              <a:t>chính</a:t>
            </a:r>
            <a:r>
              <a:rPr lang="en-US" sz="2400">
                <a:latin typeface="Arial"/>
                <a:ea typeface="Arial"/>
                <a:cs typeface="Arial"/>
                <a:sym typeface="Arial"/>
              </a:rPr>
              <a:t>; </a:t>
            </a:r>
            <a:r>
              <a:rPr lang="en-US" sz="2400" err="1">
                <a:latin typeface="Arial"/>
                <a:ea typeface="Arial"/>
                <a:cs typeface="Arial"/>
                <a:sym typeface="Arial"/>
              </a:rPr>
              <a:t>đây</a:t>
            </a:r>
            <a:r>
              <a:rPr lang="en-US" sz="2400">
                <a:latin typeface="Arial"/>
                <a:ea typeface="Arial"/>
                <a:cs typeface="Arial"/>
                <a:sym typeface="Arial"/>
              </a:rPr>
              <a:t> </a:t>
            </a:r>
            <a:r>
              <a:rPr lang="en-US" sz="2400" err="1">
                <a:latin typeface="Arial"/>
                <a:ea typeface="Arial"/>
                <a:cs typeface="Arial"/>
                <a:sym typeface="Arial"/>
              </a:rPr>
              <a:t>là</a:t>
            </a:r>
            <a:r>
              <a:rPr lang="en-US" sz="2400">
                <a:latin typeface="Arial"/>
                <a:ea typeface="Arial"/>
                <a:cs typeface="Arial"/>
                <a:sym typeface="Arial"/>
              </a:rPr>
              <a:t> </a:t>
            </a:r>
            <a:r>
              <a:rPr lang="en-US" sz="2400" err="1">
                <a:latin typeface="Arial"/>
                <a:ea typeface="Arial"/>
                <a:cs typeface="Arial"/>
                <a:sym typeface="Arial"/>
              </a:rPr>
              <a:t>công</a:t>
            </a:r>
            <a:r>
              <a:rPr lang="en-US" sz="2400">
                <a:latin typeface="Arial"/>
                <a:ea typeface="Arial"/>
                <a:cs typeface="Arial"/>
                <a:sym typeface="Arial"/>
              </a:rPr>
              <a:t> </a:t>
            </a:r>
            <a:r>
              <a:rPr lang="en-US" sz="2400" err="1">
                <a:latin typeface="Arial"/>
                <a:ea typeface="Arial"/>
                <a:cs typeface="Arial"/>
                <a:sym typeface="Arial"/>
              </a:rPr>
              <a:t>cụ</a:t>
            </a:r>
            <a:r>
              <a:rPr lang="en-US" sz="2400">
                <a:latin typeface="Arial"/>
                <a:ea typeface="Arial"/>
                <a:cs typeface="Arial"/>
                <a:sym typeface="Arial"/>
              </a:rPr>
              <a:t> </a:t>
            </a:r>
            <a:r>
              <a:rPr lang="en-US" sz="2400" err="1">
                <a:latin typeface="Arial"/>
                <a:ea typeface="Arial"/>
                <a:cs typeface="Arial"/>
                <a:sym typeface="Arial"/>
              </a:rPr>
              <a:t>chính</a:t>
            </a:r>
            <a:r>
              <a:rPr lang="en-US" sz="2400">
                <a:latin typeface="Arial"/>
                <a:ea typeface="Arial"/>
                <a:cs typeface="Arial"/>
                <a:sym typeface="Arial"/>
              </a:rPr>
              <a:t> </a:t>
            </a:r>
            <a:r>
              <a:rPr lang="en-US" sz="2400" err="1">
                <a:latin typeface="Arial"/>
                <a:ea typeface="Arial"/>
                <a:cs typeface="Arial"/>
                <a:sym typeface="Arial"/>
              </a:rPr>
              <a:t>để</a:t>
            </a:r>
            <a:r>
              <a:rPr lang="en-US" sz="2400">
                <a:latin typeface="Arial"/>
                <a:ea typeface="Arial"/>
                <a:cs typeface="Arial"/>
                <a:sym typeface="Arial"/>
              </a:rPr>
              <a:t> </a:t>
            </a:r>
            <a:r>
              <a:rPr lang="en-US" sz="2400" err="1">
                <a:latin typeface="Arial"/>
                <a:ea typeface="Arial"/>
                <a:cs typeface="Arial"/>
                <a:sym typeface="Arial"/>
              </a:rPr>
              <a:t>tạo</a:t>
            </a:r>
            <a:r>
              <a:rPr lang="en-US" sz="2400">
                <a:latin typeface="Arial"/>
                <a:ea typeface="Arial"/>
                <a:cs typeface="Arial"/>
                <a:sym typeface="Arial"/>
              </a:rPr>
              <a:t> </a:t>
            </a:r>
            <a:r>
              <a:rPr lang="en-US" sz="2400" err="1">
                <a:latin typeface="Arial"/>
                <a:ea typeface="Arial"/>
                <a:cs typeface="Arial"/>
                <a:sym typeface="Arial"/>
              </a:rPr>
              <a:t>ra</a:t>
            </a:r>
            <a:r>
              <a:rPr lang="en-US" sz="2400">
                <a:latin typeface="Arial"/>
                <a:ea typeface="Arial"/>
                <a:cs typeface="Arial"/>
                <a:sym typeface="Arial"/>
              </a:rPr>
              <a:t> </a:t>
            </a:r>
            <a:r>
              <a:rPr lang="en-US" sz="2400" err="1">
                <a:latin typeface="Arial"/>
                <a:ea typeface="Arial"/>
                <a:cs typeface="Arial"/>
                <a:sym typeface="Arial"/>
              </a:rPr>
              <a:t>nhận</a:t>
            </a:r>
            <a:r>
              <a:rPr lang="en-US" sz="2400">
                <a:latin typeface="Arial"/>
                <a:ea typeface="Arial"/>
                <a:cs typeface="Arial"/>
                <a:sym typeface="Arial"/>
              </a:rPr>
              <a:t> </a:t>
            </a:r>
            <a:r>
              <a:rPr lang="en-US" sz="2400" err="1">
                <a:latin typeface="Arial"/>
                <a:ea typeface="Arial"/>
                <a:cs typeface="Arial"/>
                <a:sym typeface="Arial"/>
              </a:rPr>
              <a:t>thức</a:t>
            </a:r>
            <a:r>
              <a:rPr lang="en-US" sz="2400">
                <a:latin typeface="Arial"/>
                <a:ea typeface="Arial"/>
                <a:cs typeface="Arial"/>
                <a:sym typeface="Arial"/>
              </a:rPr>
              <a:t> </a:t>
            </a:r>
            <a:r>
              <a:rPr lang="en-US" sz="2400" err="1">
                <a:latin typeface="Arial"/>
                <a:ea typeface="Arial"/>
                <a:cs typeface="Arial"/>
                <a:sym typeface="Arial"/>
              </a:rPr>
              <a:t>về</a:t>
            </a:r>
            <a:r>
              <a:rPr lang="en-US" sz="2400">
                <a:latin typeface="Arial"/>
                <a:ea typeface="Arial"/>
                <a:cs typeface="Arial"/>
                <a:sym typeface="Arial"/>
              </a:rPr>
              <a:t> </a:t>
            </a:r>
            <a:r>
              <a:rPr lang="en-US" sz="2400" err="1">
                <a:latin typeface="Arial"/>
                <a:ea typeface="Arial"/>
                <a:cs typeface="Arial"/>
                <a:sym typeface="Arial"/>
              </a:rPr>
              <a:t>sản</a:t>
            </a:r>
            <a:r>
              <a:rPr lang="en-US" sz="2400">
                <a:latin typeface="Arial"/>
                <a:ea typeface="Arial"/>
                <a:cs typeface="Arial"/>
                <a:sym typeface="Arial"/>
              </a:rPr>
              <a:t> </a:t>
            </a:r>
            <a:r>
              <a:rPr lang="en-US" sz="2400" err="1">
                <a:latin typeface="Arial"/>
                <a:ea typeface="Arial"/>
                <a:cs typeface="Arial"/>
                <a:sym typeface="Arial"/>
              </a:rPr>
              <a:t>phẩm</a:t>
            </a:r>
            <a:r>
              <a:rPr lang="en-US" sz="2400">
                <a:latin typeface="Arial"/>
                <a:ea typeface="Arial"/>
                <a:cs typeface="Arial"/>
                <a:sym typeface="Arial"/>
              </a:rPr>
              <a:t> </a:t>
            </a:r>
            <a:r>
              <a:rPr lang="en-US" sz="2400" err="1">
                <a:latin typeface="Arial"/>
                <a:ea typeface="Arial"/>
                <a:cs typeface="Arial"/>
                <a:sym typeface="Arial"/>
              </a:rPr>
              <a:t>giữa</a:t>
            </a:r>
            <a:r>
              <a:rPr lang="en-US" sz="2400">
                <a:latin typeface="Arial"/>
                <a:ea typeface="Arial"/>
                <a:cs typeface="Arial"/>
                <a:sym typeface="Arial"/>
              </a:rPr>
              <a:t> </a:t>
            </a:r>
            <a:r>
              <a:rPr lang="en-US" sz="2400" err="1">
                <a:latin typeface="Arial"/>
                <a:ea typeface="Arial"/>
                <a:cs typeface="Arial"/>
                <a:sym typeface="Arial"/>
              </a:rPr>
              <a:t>các</a:t>
            </a:r>
            <a:r>
              <a:rPr lang="en-US" sz="2400">
                <a:latin typeface="Arial"/>
                <a:ea typeface="Arial"/>
                <a:cs typeface="Arial"/>
                <a:sym typeface="Arial"/>
              </a:rPr>
              <a:t> </a:t>
            </a:r>
            <a:r>
              <a:rPr lang="en-US" sz="2400" err="1">
                <a:latin typeface="Arial"/>
                <a:ea typeface="Arial"/>
                <a:cs typeface="Arial"/>
                <a:sym typeface="Arial"/>
              </a:rPr>
              <a:t>khách</a:t>
            </a:r>
            <a:r>
              <a:rPr lang="en-US" sz="2400">
                <a:latin typeface="Arial"/>
                <a:ea typeface="Arial"/>
                <a:cs typeface="Arial"/>
                <a:sym typeface="Arial"/>
              </a:rPr>
              <a:t> </a:t>
            </a:r>
            <a:r>
              <a:rPr lang="en-US" sz="2400" err="1">
                <a:latin typeface="Arial"/>
                <a:ea typeface="Arial"/>
                <a:cs typeface="Arial"/>
                <a:sym typeface="Arial"/>
              </a:rPr>
              <a:t>hàng</a:t>
            </a:r>
            <a:r>
              <a:rPr lang="en-US" sz="2400">
                <a:latin typeface="Arial"/>
                <a:ea typeface="Arial"/>
                <a:cs typeface="Arial"/>
                <a:sym typeface="Arial"/>
              </a:rPr>
              <a:t>. </a:t>
            </a:r>
            <a:r>
              <a:rPr lang="en-US" sz="2400" err="1">
                <a:latin typeface="Arial"/>
                <a:ea typeface="Arial"/>
                <a:cs typeface="Arial"/>
                <a:sym typeface="Arial"/>
              </a:rPr>
              <a:t>Ngôn</a:t>
            </a:r>
            <a:r>
              <a:rPr lang="en-US" sz="2400">
                <a:latin typeface="Arial"/>
                <a:ea typeface="Arial"/>
                <a:cs typeface="Arial"/>
                <a:sym typeface="Arial"/>
              </a:rPr>
              <a:t> </a:t>
            </a:r>
            <a:r>
              <a:rPr lang="en-US" sz="2400" err="1">
                <a:latin typeface="Arial"/>
                <a:ea typeface="Arial"/>
                <a:cs typeface="Arial"/>
                <a:sym typeface="Arial"/>
              </a:rPr>
              <a:t>ngữ</a:t>
            </a:r>
            <a:r>
              <a:rPr lang="en-US" sz="2400">
                <a:latin typeface="Arial"/>
                <a:ea typeface="Arial"/>
                <a:cs typeface="Arial"/>
                <a:sym typeface="Arial"/>
              </a:rPr>
              <a:t> </a:t>
            </a:r>
            <a:r>
              <a:rPr lang="en-US" sz="2400" err="1">
                <a:latin typeface="Arial"/>
                <a:ea typeface="Arial"/>
                <a:cs typeface="Arial"/>
                <a:sym typeface="Arial"/>
              </a:rPr>
              <a:t>giúp</a:t>
            </a:r>
            <a:r>
              <a:rPr lang="en-US" sz="2400">
                <a:latin typeface="Arial"/>
                <a:ea typeface="Arial"/>
                <a:cs typeface="Arial"/>
                <a:sym typeface="Arial"/>
              </a:rPr>
              <a:t> </a:t>
            </a:r>
            <a:r>
              <a:rPr lang="en-US" sz="2400" err="1">
                <a:latin typeface="Arial"/>
                <a:ea typeface="Arial"/>
                <a:cs typeface="Arial"/>
                <a:sym typeface="Arial"/>
              </a:rPr>
              <a:t>khách</a:t>
            </a:r>
            <a:r>
              <a:rPr lang="en-US" sz="2400">
                <a:latin typeface="Arial"/>
                <a:ea typeface="Arial"/>
                <a:cs typeface="Arial"/>
                <a:sym typeface="Arial"/>
              </a:rPr>
              <a:t> </a:t>
            </a:r>
            <a:r>
              <a:rPr lang="en-US" sz="2400" err="1">
                <a:latin typeface="Arial"/>
                <a:ea typeface="Arial"/>
                <a:cs typeface="Arial"/>
                <a:sym typeface="Arial"/>
              </a:rPr>
              <a:t>hàng</a:t>
            </a:r>
            <a:r>
              <a:rPr lang="en-US" sz="2400">
                <a:latin typeface="Arial"/>
                <a:ea typeface="Arial"/>
                <a:cs typeface="Arial"/>
                <a:sym typeface="Arial"/>
              </a:rPr>
              <a:t> </a:t>
            </a:r>
            <a:r>
              <a:rPr lang="en-US" sz="2400" err="1">
                <a:latin typeface="Arial"/>
                <a:ea typeface="Arial"/>
                <a:cs typeface="Arial"/>
                <a:sym typeface="Arial"/>
              </a:rPr>
              <a:t>hiểu</a:t>
            </a:r>
            <a:r>
              <a:rPr lang="en-US" sz="2400">
                <a:latin typeface="Arial"/>
                <a:ea typeface="Arial"/>
                <a:cs typeface="Arial"/>
                <a:sym typeface="Arial"/>
              </a:rPr>
              <a:t> </a:t>
            </a:r>
            <a:r>
              <a:rPr lang="en-US" sz="2400" err="1">
                <a:latin typeface="Arial"/>
                <a:ea typeface="Arial"/>
                <a:cs typeface="Arial"/>
                <a:sym typeface="Arial"/>
              </a:rPr>
              <a:t>các</a:t>
            </a:r>
            <a:r>
              <a:rPr lang="en-US" sz="2400">
                <a:latin typeface="Arial"/>
                <a:ea typeface="Arial"/>
                <a:cs typeface="Arial"/>
                <a:sym typeface="Arial"/>
              </a:rPr>
              <a:t> </a:t>
            </a:r>
            <a:r>
              <a:rPr lang="en-US" sz="2400" err="1">
                <a:latin typeface="Arial"/>
                <a:ea typeface="Arial"/>
                <a:cs typeface="Arial"/>
                <a:sym typeface="Arial"/>
              </a:rPr>
              <a:t>thuộc</a:t>
            </a:r>
            <a:r>
              <a:rPr lang="en-US" sz="2400">
                <a:latin typeface="Arial"/>
                <a:ea typeface="Arial"/>
                <a:cs typeface="Arial"/>
                <a:sym typeface="Arial"/>
              </a:rPr>
              <a:t> </a:t>
            </a:r>
            <a:r>
              <a:rPr lang="en-US" sz="2400" err="1">
                <a:latin typeface="Arial"/>
                <a:ea typeface="Arial"/>
                <a:cs typeface="Arial"/>
                <a:sym typeface="Arial"/>
              </a:rPr>
              <a:t>tính</a:t>
            </a:r>
            <a:r>
              <a:rPr lang="en-US" sz="2400">
                <a:latin typeface="Arial"/>
                <a:ea typeface="Arial"/>
                <a:cs typeface="Arial"/>
                <a:sym typeface="Arial"/>
              </a:rPr>
              <a:t> </a:t>
            </a:r>
            <a:r>
              <a:rPr lang="en-US" sz="2400" err="1">
                <a:latin typeface="Arial"/>
                <a:ea typeface="Arial"/>
                <a:cs typeface="Arial"/>
                <a:sym typeface="Arial"/>
              </a:rPr>
              <a:t>và</a:t>
            </a:r>
            <a:r>
              <a:rPr lang="en-US" sz="2400">
                <a:latin typeface="Arial"/>
                <a:ea typeface="Arial"/>
                <a:cs typeface="Arial"/>
                <a:sym typeface="Arial"/>
              </a:rPr>
              <a:t> </a:t>
            </a:r>
            <a:r>
              <a:rPr lang="en-US" sz="2400" err="1">
                <a:latin typeface="Arial"/>
                <a:ea typeface="Arial"/>
                <a:cs typeface="Arial"/>
                <a:sym typeface="Arial"/>
              </a:rPr>
              <a:t>cách</a:t>
            </a:r>
            <a:r>
              <a:rPr lang="en-US" sz="2400">
                <a:latin typeface="Arial"/>
                <a:ea typeface="Arial"/>
                <a:cs typeface="Arial"/>
                <a:sym typeface="Arial"/>
              </a:rPr>
              <a:t> </a:t>
            </a:r>
            <a:r>
              <a:rPr lang="en-US" sz="2400" err="1">
                <a:latin typeface="Arial"/>
                <a:ea typeface="Arial"/>
                <a:cs typeface="Arial"/>
                <a:sym typeface="Arial"/>
              </a:rPr>
              <a:t>sử</a:t>
            </a:r>
            <a:r>
              <a:rPr lang="en-US" sz="2400">
                <a:latin typeface="Arial"/>
                <a:ea typeface="Arial"/>
                <a:cs typeface="Arial"/>
                <a:sym typeface="Arial"/>
              </a:rPr>
              <a:t> </a:t>
            </a:r>
            <a:r>
              <a:rPr lang="en-US" sz="2400" err="1">
                <a:latin typeface="Arial"/>
                <a:ea typeface="Arial"/>
                <a:cs typeface="Arial"/>
                <a:sym typeface="Arial"/>
              </a:rPr>
              <a:t>dụng</a:t>
            </a:r>
            <a:r>
              <a:rPr lang="en-US" sz="2400">
                <a:latin typeface="Arial"/>
                <a:ea typeface="Arial"/>
                <a:cs typeface="Arial"/>
                <a:sym typeface="Arial"/>
              </a:rPr>
              <a:t> </a:t>
            </a:r>
            <a:r>
              <a:rPr lang="en-US" sz="2400" err="1">
                <a:latin typeface="Arial"/>
                <a:ea typeface="Arial"/>
                <a:cs typeface="Arial"/>
                <a:sym typeface="Arial"/>
              </a:rPr>
              <a:t>sản</a:t>
            </a:r>
            <a:r>
              <a:rPr lang="en-US" sz="2400">
                <a:latin typeface="Arial"/>
                <a:ea typeface="Arial"/>
                <a:cs typeface="Arial"/>
                <a:sym typeface="Arial"/>
              </a:rPr>
              <a:t> </a:t>
            </a:r>
            <a:r>
              <a:rPr lang="en-US" sz="2400" err="1">
                <a:latin typeface="Arial"/>
                <a:ea typeface="Arial"/>
                <a:cs typeface="Arial"/>
                <a:sym typeface="Arial"/>
              </a:rPr>
              <a:t>phẩm</a:t>
            </a:r>
            <a:r>
              <a:rPr lang="en-US" sz="2400">
                <a:latin typeface="Arial"/>
                <a:ea typeface="Arial"/>
                <a:cs typeface="Arial"/>
                <a:sym typeface="Arial"/>
              </a:rPr>
              <a:t>. </a:t>
            </a:r>
            <a:endParaRPr sz="2400">
              <a:latin typeface="Arial"/>
              <a:ea typeface="Arial"/>
              <a:cs typeface="Arial"/>
              <a:sym typeface="Arial"/>
            </a:endParaRPr>
          </a:p>
        </p:txBody>
      </p:sp>
      <p:pic>
        <p:nvPicPr>
          <p:cNvPr id="591" name="Google Shape;591;p75" descr="Mẹo nhỏ khi khó khăn về ngôn ngữ - có ích khi ra nước ngoài"/>
          <p:cNvPicPr preferRelativeResize="0"/>
          <p:nvPr/>
        </p:nvPicPr>
        <p:blipFill rotWithShape="1">
          <a:blip r:embed="rId3">
            <a:alphaModFix/>
          </a:blip>
          <a:srcRect l="11592" r="17389" b="-1"/>
          <a:stretch/>
        </p:blipFill>
        <p:spPr>
          <a:xfrm>
            <a:off x="6096000" y="1589397"/>
            <a:ext cx="5508703" cy="4817327"/>
          </a:xfrm>
          <a:custGeom>
            <a:avLst/>
            <a:gdLst/>
            <a:ahLst/>
            <a:cxnLst/>
            <a:rect l="l" t="t" r="r" b="b"/>
            <a:pathLst>
              <a:path w="6883948" h="6858000" extrusionOk="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noFill/>
          <a:ln>
            <a:noFill/>
          </a:ln>
          <a:effectLst>
            <a:outerShdw blurRad="50800" dist="38100" dir="10800000" algn="r" rotWithShape="0">
              <a:srgbClr val="D8D8D8">
                <a:alpha val="29804"/>
              </a:srgbClr>
            </a:outerShdw>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78"/>
          <p:cNvSpPr txBox="1">
            <a:spLocks noGrp="1"/>
          </p:cNvSpPr>
          <p:nvPr>
            <p:ph type="body" idx="1"/>
          </p:nvPr>
        </p:nvSpPr>
        <p:spPr>
          <a:xfrm>
            <a:off x="561975" y="1095375"/>
            <a:ext cx="10515600" cy="4351338"/>
          </a:xfrm>
          <a:prstGeom prst="rect">
            <a:avLst/>
          </a:prstGeom>
          <a:noFill/>
          <a:ln>
            <a:noFill/>
          </a:ln>
        </p:spPr>
        <p:txBody>
          <a:bodyPr spcFirstLastPara="1" wrap="square" lIns="91425" tIns="45700" rIns="91425" bIns="45700" anchor="t" anchorCtr="0">
            <a:normAutofit lnSpcReduction="10000"/>
          </a:bodyPr>
          <a:lstStyle/>
          <a:p>
            <a:pPr marL="0" lvl="0" indent="0" algn="just" rtl="0">
              <a:lnSpc>
                <a:spcPct val="150000"/>
              </a:lnSpc>
              <a:spcBef>
                <a:spcPts val="0"/>
              </a:spcBef>
              <a:spcAft>
                <a:spcPts val="0"/>
              </a:spcAft>
              <a:buClr>
                <a:schemeClr val="dk1"/>
              </a:buClr>
              <a:buSzPts val="2800"/>
              <a:buChar char="•"/>
            </a:pPr>
            <a:r>
              <a:rPr lang="en-US">
                <a:latin typeface="Arial"/>
                <a:ea typeface="Arial"/>
                <a:cs typeface="Arial"/>
                <a:sym typeface="Arial"/>
              </a:rPr>
              <a:t>    </a:t>
            </a:r>
            <a:r>
              <a:rPr lang="en-US" err="1">
                <a:latin typeface="Arial"/>
                <a:ea typeface="Arial"/>
                <a:cs typeface="Arial"/>
                <a:sym typeface="Arial"/>
              </a:rPr>
              <a:t>Văn</a:t>
            </a:r>
            <a:r>
              <a:rPr lang="en-US">
                <a:latin typeface="Arial"/>
                <a:ea typeface="Arial"/>
                <a:cs typeface="Arial"/>
                <a:sym typeface="Arial"/>
              </a:rPr>
              <a:t> </a:t>
            </a:r>
            <a:r>
              <a:rPr lang="en-US" err="1">
                <a:latin typeface="Arial"/>
                <a:ea typeface="Arial"/>
                <a:cs typeface="Arial"/>
                <a:sym typeface="Arial"/>
              </a:rPr>
              <a:t>hóa</a:t>
            </a:r>
            <a:r>
              <a:rPr lang="en-US">
                <a:latin typeface="Arial"/>
                <a:ea typeface="Arial"/>
                <a:cs typeface="Arial"/>
                <a:sym typeface="Arial"/>
              </a:rPr>
              <a:t> </a:t>
            </a:r>
            <a:r>
              <a:rPr lang="en-US" err="1">
                <a:latin typeface="Arial"/>
                <a:ea typeface="Arial"/>
                <a:cs typeface="Arial"/>
                <a:sym typeface="Arial"/>
              </a:rPr>
              <a:t>được</a:t>
            </a:r>
            <a:r>
              <a:rPr lang="en-US">
                <a:latin typeface="Arial"/>
                <a:ea typeface="Arial"/>
                <a:cs typeface="Arial"/>
                <a:sym typeface="Arial"/>
              </a:rPr>
              <a:t> </a:t>
            </a:r>
            <a:r>
              <a:rPr lang="en-US" err="1">
                <a:latin typeface="Arial"/>
                <a:ea typeface="Arial"/>
                <a:cs typeface="Arial"/>
                <a:sym typeface="Arial"/>
              </a:rPr>
              <a:t>học</a:t>
            </a:r>
            <a:r>
              <a:rPr lang="en-US">
                <a:latin typeface="Arial"/>
                <a:ea typeface="Arial"/>
                <a:cs typeface="Arial"/>
                <a:sym typeface="Arial"/>
              </a:rPr>
              <a:t> </a:t>
            </a:r>
            <a:r>
              <a:rPr lang="en-US" err="1">
                <a:latin typeface="Arial"/>
                <a:ea typeface="Arial"/>
                <a:cs typeface="Arial"/>
                <a:sym typeface="Arial"/>
              </a:rPr>
              <a:t>hỏi</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được</a:t>
            </a:r>
            <a:r>
              <a:rPr lang="en-US">
                <a:latin typeface="Arial"/>
                <a:ea typeface="Arial"/>
                <a:cs typeface="Arial"/>
                <a:sym typeface="Arial"/>
              </a:rPr>
              <a:t> </a:t>
            </a:r>
            <a:r>
              <a:rPr lang="en-US" err="1">
                <a:latin typeface="Arial"/>
                <a:ea typeface="Arial"/>
                <a:cs typeface="Arial"/>
                <a:sym typeface="Arial"/>
              </a:rPr>
              <a:t>lưu</a:t>
            </a:r>
            <a:r>
              <a:rPr lang="en-US">
                <a:latin typeface="Arial"/>
                <a:ea typeface="Arial"/>
                <a:cs typeface="Arial"/>
                <a:sym typeface="Arial"/>
              </a:rPr>
              <a:t> </a:t>
            </a:r>
            <a:r>
              <a:rPr lang="en-US" err="1">
                <a:latin typeface="Arial"/>
                <a:ea typeface="Arial"/>
                <a:cs typeface="Arial"/>
                <a:sym typeface="Arial"/>
              </a:rPr>
              <a:t>truyền</a:t>
            </a:r>
            <a:r>
              <a:rPr lang="en-US">
                <a:latin typeface="Arial"/>
                <a:ea typeface="Arial"/>
                <a:cs typeface="Arial"/>
                <a:sym typeface="Arial"/>
              </a:rPr>
              <a:t>,</a:t>
            </a:r>
            <a:endParaRPr/>
          </a:p>
          <a:p>
            <a:pPr marL="0" lvl="0" indent="0" algn="just" rtl="0">
              <a:lnSpc>
                <a:spcPct val="150000"/>
              </a:lnSpc>
              <a:spcBef>
                <a:spcPts val="1000"/>
              </a:spcBef>
              <a:spcAft>
                <a:spcPts val="0"/>
              </a:spcAft>
              <a:buClr>
                <a:schemeClr val="dk1"/>
              </a:buClr>
              <a:buSzPts val="2800"/>
              <a:buChar char="•"/>
            </a:pPr>
            <a:r>
              <a:rPr lang="en-US">
                <a:latin typeface="Arial"/>
                <a:ea typeface="Arial"/>
                <a:cs typeface="Arial"/>
                <a:sym typeface="Arial"/>
              </a:rPr>
              <a:t>    </a:t>
            </a:r>
            <a:r>
              <a:rPr lang="en-US" err="1">
                <a:latin typeface="Arial"/>
                <a:ea typeface="Arial"/>
                <a:cs typeface="Arial"/>
                <a:sym typeface="Arial"/>
              </a:rPr>
              <a:t>Văn</a:t>
            </a:r>
            <a:r>
              <a:rPr lang="en-US">
                <a:latin typeface="Arial"/>
                <a:ea typeface="Arial"/>
                <a:cs typeface="Arial"/>
                <a:sym typeface="Arial"/>
              </a:rPr>
              <a:t> </a:t>
            </a:r>
            <a:r>
              <a:rPr lang="en-US" err="1">
                <a:latin typeface="Arial"/>
                <a:ea typeface="Arial"/>
                <a:cs typeface="Arial"/>
                <a:sym typeface="Arial"/>
              </a:rPr>
              <a:t>hóa</a:t>
            </a:r>
            <a:r>
              <a:rPr lang="en-US">
                <a:latin typeface="Arial"/>
                <a:ea typeface="Arial"/>
                <a:cs typeface="Arial"/>
                <a:sym typeface="Arial"/>
              </a:rPr>
              <a:t> </a:t>
            </a:r>
            <a:r>
              <a:rPr lang="en-US" err="1">
                <a:latin typeface="Arial"/>
                <a:ea typeface="Arial"/>
                <a:cs typeface="Arial"/>
                <a:sym typeface="Arial"/>
              </a:rPr>
              <a:t>luôn</a:t>
            </a:r>
            <a:r>
              <a:rPr lang="en-US">
                <a:latin typeface="Arial"/>
                <a:ea typeface="Arial"/>
                <a:cs typeface="Arial"/>
                <a:sym typeface="Arial"/>
              </a:rPr>
              <a:t> </a:t>
            </a:r>
            <a:r>
              <a:rPr lang="en-US" err="1">
                <a:latin typeface="Arial"/>
                <a:ea typeface="Arial"/>
                <a:cs typeface="Arial"/>
                <a:sym typeface="Arial"/>
              </a:rPr>
              <a:t>luôn</a:t>
            </a:r>
            <a:r>
              <a:rPr lang="en-US">
                <a:latin typeface="Arial"/>
                <a:ea typeface="Arial"/>
                <a:cs typeface="Arial"/>
                <a:sym typeface="Arial"/>
              </a:rPr>
              <a:t> </a:t>
            </a:r>
            <a:r>
              <a:rPr lang="en-US" err="1">
                <a:latin typeface="Arial"/>
                <a:ea typeface="Arial"/>
                <a:cs typeface="Arial"/>
                <a:sym typeface="Arial"/>
              </a:rPr>
              <a:t>chuyển</a:t>
            </a:r>
            <a:r>
              <a:rPr lang="en-US">
                <a:latin typeface="Arial"/>
                <a:ea typeface="Arial"/>
                <a:cs typeface="Arial"/>
                <a:sym typeface="Arial"/>
              </a:rPr>
              <a:t> </a:t>
            </a:r>
            <a:r>
              <a:rPr lang="en-US" err="1">
                <a:latin typeface="Arial"/>
                <a:ea typeface="Arial"/>
                <a:cs typeface="Arial"/>
                <a:sym typeface="Arial"/>
              </a:rPr>
              <a:t>đổi</a:t>
            </a:r>
            <a:r>
              <a:rPr lang="en-US">
                <a:latin typeface="Arial"/>
                <a:ea typeface="Arial"/>
                <a:cs typeface="Arial"/>
                <a:sym typeface="Arial"/>
              </a:rPr>
              <a:t> </a:t>
            </a:r>
            <a:r>
              <a:rPr lang="en-US" err="1">
                <a:latin typeface="Arial"/>
                <a:ea typeface="Arial"/>
                <a:cs typeface="Arial"/>
                <a:sym typeface="Arial"/>
              </a:rPr>
              <a:t>để</a:t>
            </a:r>
            <a:r>
              <a:rPr lang="en-US">
                <a:latin typeface="Arial"/>
                <a:ea typeface="Arial"/>
                <a:cs typeface="Arial"/>
                <a:sym typeface="Arial"/>
              </a:rPr>
              <a:t> </a:t>
            </a:r>
            <a:r>
              <a:rPr lang="en-US" err="1">
                <a:latin typeface="Arial"/>
                <a:ea typeface="Arial"/>
                <a:cs typeface="Arial"/>
                <a:sym typeface="Arial"/>
              </a:rPr>
              <a:t>đáp</a:t>
            </a:r>
            <a:r>
              <a:rPr lang="en-US">
                <a:latin typeface="Arial"/>
                <a:ea typeface="Arial"/>
                <a:cs typeface="Arial"/>
                <a:sym typeface="Arial"/>
              </a:rPr>
              <a:t> </a:t>
            </a:r>
            <a:r>
              <a:rPr lang="en-US" err="1">
                <a:latin typeface="Arial"/>
                <a:ea typeface="Arial"/>
                <a:cs typeface="Arial"/>
                <a:sym typeface="Arial"/>
              </a:rPr>
              <a:t>ứng</a:t>
            </a:r>
            <a:r>
              <a:rPr lang="en-US">
                <a:latin typeface="Arial"/>
                <a:ea typeface="Arial"/>
                <a:cs typeface="Arial"/>
                <a:sym typeface="Arial"/>
              </a:rPr>
              <a:t> </a:t>
            </a:r>
            <a:r>
              <a:rPr lang="en-US" err="1">
                <a:latin typeface="Arial"/>
                <a:ea typeface="Arial"/>
                <a:cs typeface="Arial"/>
                <a:sym typeface="Arial"/>
              </a:rPr>
              <a:t>nhu</a:t>
            </a:r>
            <a:r>
              <a:rPr lang="en-US">
                <a:latin typeface="Arial"/>
                <a:ea typeface="Arial"/>
                <a:cs typeface="Arial"/>
                <a:sym typeface="Arial"/>
              </a:rPr>
              <a:t> </a:t>
            </a:r>
            <a:r>
              <a:rPr lang="en-US" err="1">
                <a:latin typeface="Arial"/>
                <a:ea typeface="Arial"/>
                <a:cs typeface="Arial"/>
                <a:sym typeface="Arial"/>
              </a:rPr>
              <a:t>cầu</a:t>
            </a:r>
            <a:r>
              <a:rPr lang="en-US">
                <a:latin typeface="Arial"/>
                <a:ea typeface="Arial"/>
                <a:cs typeface="Arial"/>
                <a:sym typeface="Arial"/>
              </a:rPr>
              <a:t>,</a:t>
            </a:r>
            <a:endParaRPr/>
          </a:p>
          <a:p>
            <a:pPr marL="0" lvl="0" indent="0" algn="just" rtl="0">
              <a:lnSpc>
                <a:spcPct val="150000"/>
              </a:lnSpc>
              <a:spcBef>
                <a:spcPts val="1000"/>
              </a:spcBef>
              <a:spcAft>
                <a:spcPts val="0"/>
              </a:spcAft>
              <a:buClr>
                <a:schemeClr val="dk1"/>
              </a:buClr>
              <a:buSzPts val="2800"/>
              <a:buChar char="•"/>
            </a:pP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nền</a:t>
            </a:r>
            <a:r>
              <a:rPr lang="en-US">
                <a:latin typeface="Arial"/>
                <a:ea typeface="Arial"/>
                <a:cs typeface="Arial"/>
                <a:sym typeface="Arial"/>
              </a:rPr>
              <a:t> </a:t>
            </a:r>
            <a:r>
              <a:rPr lang="en-US" err="1">
                <a:latin typeface="Arial"/>
                <a:ea typeface="Arial"/>
                <a:cs typeface="Arial"/>
                <a:sym typeface="Arial"/>
              </a:rPr>
              <a:t>văn</a:t>
            </a:r>
            <a:r>
              <a:rPr lang="en-US">
                <a:latin typeface="Arial"/>
                <a:ea typeface="Arial"/>
                <a:cs typeface="Arial"/>
                <a:sym typeface="Arial"/>
              </a:rPr>
              <a:t> </a:t>
            </a:r>
            <a:r>
              <a:rPr lang="en-US" err="1">
                <a:latin typeface="Arial"/>
                <a:ea typeface="Arial"/>
                <a:cs typeface="Arial"/>
                <a:sym typeface="Arial"/>
              </a:rPr>
              <a:t>hóa</a:t>
            </a:r>
            <a:r>
              <a:rPr lang="en-US">
                <a:latin typeface="Arial"/>
                <a:ea typeface="Arial"/>
                <a:cs typeface="Arial"/>
                <a:sym typeface="Arial"/>
              </a:rPr>
              <a:t> </a:t>
            </a:r>
            <a:r>
              <a:rPr lang="en-US" err="1">
                <a:latin typeface="Arial"/>
                <a:ea typeface="Arial"/>
                <a:cs typeface="Arial"/>
                <a:sym typeface="Arial"/>
              </a:rPr>
              <a:t>vừa</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những</a:t>
            </a:r>
            <a:r>
              <a:rPr lang="en-US">
                <a:latin typeface="Arial"/>
                <a:ea typeface="Arial"/>
                <a:cs typeface="Arial"/>
                <a:sym typeface="Arial"/>
              </a:rPr>
              <a:t> </a:t>
            </a:r>
            <a:r>
              <a:rPr lang="en-US" err="1">
                <a:latin typeface="Arial"/>
                <a:ea typeface="Arial"/>
                <a:cs typeface="Arial"/>
                <a:sym typeface="Arial"/>
              </a:rPr>
              <a:t>điểm</a:t>
            </a:r>
            <a:r>
              <a:rPr lang="en-US">
                <a:latin typeface="Arial"/>
                <a:ea typeface="Arial"/>
                <a:cs typeface="Arial"/>
                <a:sym typeface="Arial"/>
              </a:rPr>
              <a:t> </a:t>
            </a:r>
            <a:r>
              <a:rPr lang="en-US" err="1">
                <a:latin typeface="Arial"/>
                <a:ea typeface="Arial"/>
                <a:cs typeface="Arial"/>
                <a:sym typeface="Arial"/>
              </a:rPr>
              <a:t>tương</a:t>
            </a:r>
            <a:r>
              <a:rPr lang="en-US">
                <a:latin typeface="Arial"/>
                <a:ea typeface="Arial"/>
                <a:cs typeface="Arial"/>
                <a:sym typeface="Arial"/>
              </a:rPr>
              <a:t> </a:t>
            </a:r>
            <a:r>
              <a:rPr lang="en-US" err="1">
                <a:latin typeface="Arial"/>
                <a:ea typeface="Arial"/>
                <a:cs typeface="Arial"/>
                <a:sym typeface="Arial"/>
              </a:rPr>
              <a:t>đồng</a:t>
            </a:r>
            <a:r>
              <a:rPr lang="en-US">
                <a:latin typeface="Arial"/>
                <a:ea typeface="Arial"/>
                <a:cs typeface="Arial"/>
                <a:sym typeface="Arial"/>
              </a:rPr>
              <a:t> </a:t>
            </a:r>
            <a:r>
              <a:rPr lang="en-US" err="1">
                <a:latin typeface="Arial"/>
                <a:ea typeface="Arial"/>
                <a:cs typeface="Arial"/>
                <a:sym typeface="Arial"/>
              </a:rPr>
              <a:t>vừa</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những</a:t>
            </a:r>
            <a:r>
              <a:rPr lang="en-US">
                <a:latin typeface="Arial"/>
                <a:ea typeface="Arial"/>
                <a:cs typeface="Arial"/>
                <a:sym typeface="Arial"/>
              </a:rPr>
              <a:t> </a:t>
            </a:r>
            <a:r>
              <a:rPr lang="en-US" err="1">
                <a:latin typeface="Arial"/>
                <a:ea typeface="Arial"/>
                <a:cs typeface="Arial"/>
                <a:sym typeface="Arial"/>
              </a:rPr>
              <a:t>điểm</a:t>
            </a:r>
            <a:r>
              <a:rPr lang="en-US">
                <a:latin typeface="Arial"/>
                <a:ea typeface="Arial"/>
                <a:cs typeface="Arial"/>
                <a:sym typeface="Arial"/>
              </a:rPr>
              <a:t> </a:t>
            </a:r>
            <a:r>
              <a:rPr lang="en-US" err="1">
                <a:latin typeface="Arial"/>
                <a:ea typeface="Arial"/>
                <a:cs typeface="Arial"/>
                <a:sym typeface="Arial"/>
              </a:rPr>
              <a:t>khác</a:t>
            </a:r>
            <a:r>
              <a:rPr lang="en-US">
                <a:latin typeface="Arial"/>
                <a:ea typeface="Arial"/>
                <a:cs typeface="Arial"/>
                <a:sym typeface="Arial"/>
              </a:rPr>
              <a:t> </a:t>
            </a:r>
            <a:r>
              <a:rPr lang="en-US" err="1">
                <a:latin typeface="Arial"/>
                <a:ea typeface="Arial"/>
                <a:cs typeface="Arial"/>
                <a:sym typeface="Arial"/>
              </a:rPr>
              <a:t>biệt</a:t>
            </a:r>
            <a:r>
              <a:rPr lang="en-US">
                <a:latin typeface="Arial"/>
                <a:ea typeface="Arial"/>
                <a:cs typeface="Arial"/>
                <a:sym typeface="Arial"/>
              </a:rPr>
              <a:t>,</a:t>
            </a:r>
            <a:endParaRPr/>
          </a:p>
          <a:p>
            <a:pPr marL="0" lvl="0" indent="0" algn="just" rtl="0">
              <a:lnSpc>
                <a:spcPct val="150000"/>
              </a:lnSpc>
              <a:spcBef>
                <a:spcPts val="1000"/>
              </a:spcBef>
              <a:spcAft>
                <a:spcPts val="0"/>
              </a:spcAft>
              <a:buClr>
                <a:schemeClr val="dk1"/>
              </a:buClr>
              <a:buSzPts val="2800"/>
              <a:buChar char="•"/>
            </a:pPr>
            <a:r>
              <a:rPr lang="en-US">
                <a:latin typeface="Arial"/>
                <a:ea typeface="Arial"/>
                <a:cs typeface="Arial"/>
                <a:sym typeface="Arial"/>
              </a:rPr>
              <a:t>    </a:t>
            </a:r>
            <a:r>
              <a:rPr lang="en-US" err="1">
                <a:latin typeface="Arial"/>
                <a:ea typeface="Arial"/>
                <a:cs typeface="Arial"/>
                <a:sym typeface="Arial"/>
              </a:rPr>
              <a:t>Văn</a:t>
            </a:r>
            <a:r>
              <a:rPr lang="en-US">
                <a:latin typeface="Arial"/>
                <a:ea typeface="Arial"/>
                <a:cs typeface="Arial"/>
                <a:sym typeface="Arial"/>
              </a:rPr>
              <a:t> </a:t>
            </a:r>
            <a:r>
              <a:rPr lang="en-US" err="1">
                <a:latin typeface="Arial"/>
                <a:ea typeface="Arial"/>
                <a:cs typeface="Arial"/>
                <a:sym typeface="Arial"/>
              </a:rPr>
              <a:t>hóa</a:t>
            </a:r>
            <a:r>
              <a:rPr lang="en-US">
                <a:latin typeface="Arial"/>
                <a:ea typeface="Arial"/>
                <a:cs typeface="Arial"/>
                <a:sym typeface="Arial"/>
              </a:rPr>
              <a:t> </a:t>
            </a:r>
            <a:r>
              <a:rPr lang="en-US" err="1">
                <a:latin typeface="Arial"/>
                <a:ea typeface="Arial"/>
                <a:cs typeface="Arial"/>
                <a:sym typeface="Arial"/>
              </a:rPr>
              <a:t>khó</a:t>
            </a:r>
            <a:r>
              <a:rPr lang="en-US">
                <a:latin typeface="Arial"/>
                <a:ea typeface="Arial"/>
                <a:cs typeface="Arial"/>
                <a:sym typeface="Arial"/>
              </a:rPr>
              <a:t> </a:t>
            </a:r>
            <a:r>
              <a:rPr lang="en-US" err="1">
                <a:latin typeface="Arial"/>
                <a:ea typeface="Arial"/>
                <a:cs typeface="Arial"/>
                <a:sym typeface="Arial"/>
              </a:rPr>
              <a:t>thay</a:t>
            </a:r>
            <a:r>
              <a:rPr lang="en-US">
                <a:latin typeface="Arial"/>
                <a:ea typeface="Arial"/>
                <a:cs typeface="Arial"/>
                <a:sym typeface="Arial"/>
              </a:rPr>
              <a:t> </a:t>
            </a:r>
            <a:r>
              <a:rPr lang="en-US" err="1">
                <a:latin typeface="Arial"/>
                <a:ea typeface="Arial"/>
                <a:cs typeface="Arial"/>
                <a:sym typeface="Arial"/>
              </a:rPr>
              <a:t>đổi</a:t>
            </a:r>
            <a:r>
              <a:rPr lang="en-US">
                <a:latin typeface="Arial"/>
                <a:ea typeface="Arial"/>
                <a:cs typeface="Arial"/>
                <a:sym typeface="Arial"/>
              </a:rPr>
              <a:t>,</a:t>
            </a:r>
            <a:endParaRPr/>
          </a:p>
          <a:p>
            <a:pPr marL="0" lvl="0" indent="0" algn="just" rtl="0">
              <a:lnSpc>
                <a:spcPct val="150000"/>
              </a:lnSpc>
              <a:spcBef>
                <a:spcPts val="1000"/>
              </a:spcBef>
              <a:spcAft>
                <a:spcPts val="0"/>
              </a:spcAft>
              <a:buClr>
                <a:schemeClr val="dk1"/>
              </a:buClr>
              <a:buSzPts val="2800"/>
              <a:buChar char="•"/>
            </a:pPr>
            <a:r>
              <a:rPr lang="en-US">
                <a:latin typeface="Arial"/>
                <a:ea typeface="Arial"/>
                <a:cs typeface="Arial"/>
                <a:sym typeface="Arial"/>
              </a:rPr>
              <a:t>    </a:t>
            </a:r>
            <a:r>
              <a:rPr lang="en-US" err="1">
                <a:latin typeface="Arial"/>
                <a:ea typeface="Arial"/>
                <a:cs typeface="Arial"/>
                <a:sym typeface="Arial"/>
              </a:rPr>
              <a:t>Văn</a:t>
            </a:r>
            <a:r>
              <a:rPr lang="en-US">
                <a:latin typeface="Arial"/>
                <a:ea typeface="Arial"/>
                <a:cs typeface="Arial"/>
                <a:sym typeface="Arial"/>
              </a:rPr>
              <a:t> </a:t>
            </a:r>
            <a:r>
              <a:rPr lang="en-US" err="1">
                <a:latin typeface="Arial"/>
                <a:ea typeface="Arial"/>
                <a:cs typeface="Arial"/>
                <a:sym typeface="Arial"/>
              </a:rPr>
              <a:t>hóa</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tính</a:t>
            </a:r>
            <a:r>
              <a:rPr lang="en-US">
                <a:latin typeface="Arial"/>
                <a:ea typeface="Arial"/>
                <a:cs typeface="Arial"/>
                <a:sym typeface="Arial"/>
              </a:rPr>
              <a:t> </a:t>
            </a:r>
            <a:r>
              <a:rPr lang="en-US" err="1">
                <a:latin typeface="Arial"/>
                <a:ea typeface="Arial"/>
                <a:cs typeface="Arial"/>
                <a:sym typeface="Arial"/>
              </a:rPr>
              <a:t>thích</a:t>
            </a:r>
            <a:r>
              <a:rPr lang="en-US">
                <a:latin typeface="Arial"/>
                <a:ea typeface="Arial"/>
                <a:cs typeface="Arial"/>
                <a:sym typeface="Arial"/>
              </a:rPr>
              <a:t> </a:t>
            </a:r>
            <a:r>
              <a:rPr lang="en-US" err="1">
                <a:latin typeface="Arial"/>
                <a:ea typeface="Arial"/>
                <a:cs typeface="Arial"/>
                <a:sym typeface="Arial"/>
              </a:rPr>
              <a:t>nghi</a:t>
            </a:r>
            <a:r>
              <a:rPr lang="en-US">
                <a:latin typeface="Arial"/>
                <a:ea typeface="Arial"/>
                <a:cs typeface="Arial"/>
                <a:sym typeface="Arial"/>
              </a:rPr>
              <a:t>.</a:t>
            </a:r>
            <a:endParaRPr/>
          </a:p>
        </p:txBody>
      </p:sp>
      <p:sp>
        <p:nvSpPr>
          <p:cNvPr id="3" name="Google Shape;602;p77"/>
          <p:cNvSpPr txBox="1">
            <a:spLocks/>
          </p:cNvSpPr>
          <p:nvPr/>
        </p:nvSpPr>
        <p:spPr>
          <a:xfrm>
            <a:off x="358140" y="-502920"/>
            <a:ext cx="10309860" cy="1598295"/>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spc="0">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9pPr>
          </a:lstStyle>
          <a:p>
            <a:pPr>
              <a:lnSpc>
                <a:spcPct val="138888"/>
              </a:lnSpc>
              <a:buSzPts val="3600"/>
              <a:buFont typeface="Arial"/>
              <a:buNone/>
            </a:pPr>
            <a:r>
              <a:rPr lang="vi-VN" sz="3600" b="1"/>
              <a:t>2.1.4. Những đặc trưng văn hóa</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80"/>
          <p:cNvSpPr txBox="1">
            <a:spLocks noGrp="1"/>
          </p:cNvSpPr>
          <p:nvPr>
            <p:ph type="title"/>
          </p:nvPr>
        </p:nvSpPr>
        <p:spPr>
          <a:xfrm>
            <a:off x="838200" y="107621"/>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50000"/>
              </a:lnSpc>
              <a:spcBef>
                <a:spcPts val="0"/>
              </a:spcBef>
              <a:spcAft>
                <a:spcPts val="0"/>
              </a:spcAft>
              <a:buClr>
                <a:schemeClr val="dk1"/>
              </a:buClr>
              <a:buSzPts val="3200"/>
              <a:buFont typeface="Arial"/>
              <a:buNone/>
            </a:pPr>
            <a:r>
              <a:rPr lang="vi-VN" sz="3200" b="1">
                <a:latin typeface="Arial"/>
                <a:ea typeface="Arial"/>
                <a:cs typeface="Arial"/>
                <a:sym typeface="Arial"/>
              </a:rPr>
              <a:t>2.1.5 Nhánh văn hóa</a:t>
            </a:r>
            <a:br>
              <a:rPr lang="vi-VN" sz="3200" b="1">
                <a:latin typeface="Arial"/>
                <a:ea typeface="Arial"/>
                <a:cs typeface="Arial"/>
                <a:sym typeface="Arial"/>
              </a:rPr>
            </a:br>
            <a:r>
              <a:rPr lang="en-US" sz="3200" b="1">
                <a:latin typeface="Arial"/>
                <a:ea typeface="Arial"/>
                <a:cs typeface="Arial"/>
                <a:sym typeface="Arial"/>
              </a:rPr>
              <a:t>2.</a:t>
            </a:r>
            <a:r>
              <a:rPr lang="vi-VN" sz="3200" b="1">
                <a:latin typeface="Arial"/>
                <a:ea typeface="Arial"/>
                <a:cs typeface="Arial"/>
                <a:sym typeface="Arial"/>
              </a:rPr>
              <a:t>1.5</a:t>
            </a:r>
            <a:r>
              <a:rPr lang="en-US" sz="3200" b="1">
                <a:latin typeface="Arial"/>
                <a:ea typeface="Arial"/>
                <a:cs typeface="Arial"/>
                <a:sym typeface="Arial"/>
              </a:rPr>
              <a:t>.1. </a:t>
            </a:r>
            <a:r>
              <a:rPr lang="en-US" sz="3200" b="1" err="1">
                <a:latin typeface="Arial"/>
                <a:ea typeface="Arial"/>
                <a:cs typeface="Arial"/>
                <a:sym typeface="Arial"/>
              </a:rPr>
              <a:t>Khái</a:t>
            </a:r>
            <a:r>
              <a:rPr lang="en-US" sz="3200" b="1">
                <a:latin typeface="Arial"/>
                <a:ea typeface="Arial"/>
                <a:cs typeface="Arial"/>
                <a:sym typeface="Arial"/>
              </a:rPr>
              <a:t> </a:t>
            </a:r>
            <a:r>
              <a:rPr lang="en-US" sz="3200" b="1" err="1">
                <a:latin typeface="Arial"/>
                <a:ea typeface="Arial"/>
                <a:cs typeface="Arial"/>
                <a:sym typeface="Arial"/>
              </a:rPr>
              <a:t>niệm</a:t>
            </a:r>
            <a:r>
              <a:rPr lang="en-US" sz="3200" b="1">
                <a:latin typeface="Arial"/>
                <a:ea typeface="Arial"/>
                <a:cs typeface="Arial"/>
                <a:sym typeface="Arial"/>
              </a:rPr>
              <a:t> </a:t>
            </a:r>
            <a:r>
              <a:rPr lang="en-US" sz="3200" b="1" err="1">
                <a:latin typeface="Arial"/>
                <a:ea typeface="Arial"/>
                <a:cs typeface="Arial"/>
                <a:sym typeface="Arial"/>
              </a:rPr>
              <a:t>nhánh</a:t>
            </a:r>
            <a:r>
              <a:rPr lang="en-US" sz="3200" b="1">
                <a:latin typeface="Arial"/>
                <a:ea typeface="Arial"/>
                <a:cs typeface="Arial"/>
                <a:sym typeface="Arial"/>
              </a:rPr>
              <a:t> </a:t>
            </a:r>
            <a:r>
              <a:rPr lang="en-US" sz="3200" b="1" err="1">
                <a:latin typeface="Arial"/>
                <a:ea typeface="Arial"/>
                <a:cs typeface="Arial"/>
                <a:sym typeface="Arial"/>
              </a:rPr>
              <a:t>văn</a:t>
            </a:r>
            <a:r>
              <a:rPr lang="en-US" sz="3200" b="1">
                <a:latin typeface="Arial"/>
                <a:ea typeface="Arial"/>
                <a:cs typeface="Arial"/>
                <a:sym typeface="Arial"/>
              </a:rPr>
              <a:t> </a:t>
            </a:r>
            <a:r>
              <a:rPr lang="en-US" sz="3200" b="1" err="1">
                <a:latin typeface="Arial"/>
                <a:ea typeface="Arial"/>
                <a:cs typeface="Arial"/>
                <a:sym typeface="Arial"/>
              </a:rPr>
              <a:t>hoá</a:t>
            </a:r>
            <a:endParaRPr sz="3200" b="1">
              <a:latin typeface="Arial"/>
              <a:ea typeface="Arial"/>
              <a:cs typeface="Arial"/>
              <a:sym typeface="Arial"/>
            </a:endParaRPr>
          </a:p>
        </p:txBody>
      </p:sp>
      <p:sp>
        <p:nvSpPr>
          <p:cNvPr id="618" name="Google Shape;618;p80"/>
          <p:cNvSpPr txBox="1">
            <a:spLocks noGrp="1"/>
          </p:cNvSpPr>
          <p:nvPr>
            <p:ph type="body" idx="1"/>
          </p:nvPr>
        </p:nvSpPr>
        <p:spPr>
          <a:xfrm>
            <a:off x="381001" y="898366"/>
            <a:ext cx="10972799" cy="4878372"/>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2800"/>
              <a:buNone/>
              <a:tabLst>
                <a:tab pos="403225" algn="l"/>
                <a:tab pos="517525" algn="l"/>
              </a:tabLst>
            </a:pPr>
            <a:endParaRPr lang="vi-VN">
              <a:latin typeface="Arial"/>
              <a:ea typeface="Arial"/>
              <a:cs typeface="Arial"/>
              <a:sym typeface="Arial"/>
            </a:endParaRPr>
          </a:p>
          <a:p>
            <a:pPr marL="0" lvl="0" indent="571500" algn="just" rtl="0">
              <a:lnSpc>
                <a:spcPct val="150000"/>
              </a:lnSpc>
              <a:spcBef>
                <a:spcPts val="0"/>
              </a:spcBef>
              <a:spcAft>
                <a:spcPts val="0"/>
              </a:spcAft>
              <a:buClr>
                <a:schemeClr val="dk1"/>
              </a:buClr>
              <a:buSzPts val="2800"/>
              <a:buNone/>
              <a:tabLst>
                <a:tab pos="403225" algn="l"/>
                <a:tab pos="517525" algn="l"/>
              </a:tabLst>
            </a:pPr>
            <a:r>
              <a:rPr lang="en-US" err="1">
                <a:latin typeface="Arial"/>
                <a:ea typeface="Arial"/>
                <a:cs typeface="Arial"/>
                <a:sym typeface="Arial"/>
              </a:rPr>
              <a:t>Nhánh</a:t>
            </a:r>
            <a:r>
              <a:rPr lang="en-US">
                <a:latin typeface="Arial"/>
                <a:ea typeface="Arial"/>
                <a:cs typeface="Arial"/>
                <a:sym typeface="Arial"/>
              </a:rPr>
              <a:t> </a:t>
            </a:r>
            <a:r>
              <a:rPr lang="en-US" err="1">
                <a:latin typeface="Arial"/>
                <a:ea typeface="Arial"/>
                <a:cs typeface="Arial"/>
                <a:sym typeface="Arial"/>
              </a:rPr>
              <a:t>văn</a:t>
            </a:r>
            <a:r>
              <a:rPr lang="en-US">
                <a:latin typeface="Arial"/>
                <a:ea typeface="Arial"/>
                <a:cs typeface="Arial"/>
                <a:sym typeface="Arial"/>
              </a:rPr>
              <a:t> </a:t>
            </a:r>
            <a:r>
              <a:rPr lang="en-US" err="1">
                <a:latin typeface="Arial"/>
                <a:ea typeface="Arial"/>
                <a:cs typeface="Arial"/>
                <a:sym typeface="Arial"/>
              </a:rPr>
              <a:t>hóa</a:t>
            </a:r>
            <a:r>
              <a:rPr lang="en-US">
                <a:latin typeface="Arial"/>
                <a:ea typeface="Arial"/>
                <a:cs typeface="Arial"/>
                <a:sym typeface="Arial"/>
              </a:rPr>
              <a:t> </a:t>
            </a:r>
            <a:r>
              <a:rPr lang="en-US" err="1">
                <a:latin typeface="Arial"/>
                <a:ea typeface="Arial"/>
                <a:cs typeface="Arial"/>
                <a:sym typeface="Arial"/>
              </a:rPr>
              <a:t>được</a:t>
            </a:r>
            <a:r>
              <a:rPr lang="en-US">
                <a:latin typeface="Arial"/>
                <a:ea typeface="Arial"/>
                <a:cs typeface="Arial"/>
                <a:sym typeface="Arial"/>
              </a:rPr>
              <a:t> </a:t>
            </a:r>
            <a:r>
              <a:rPr lang="en-US" err="1">
                <a:latin typeface="Arial"/>
                <a:ea typeface="Arial"/>
                <a:cs typeface="Arial"/>
                <a:sym typeface="Arial"/>
              </a:rPr>
              <a:t>hiểu</a:t>
            </a:r>
            <a:r>
              <a:rPr lang="en-US">
                <a:latin typeface="Arial"/>
                <a:ea typeface="Arial"/>
                <a:cs typeface="Arial"/>
                <a:sym typeface="Arial"/>
              </a:rPr>
              <a:t> </a:t>
            </a:r>
            <a:r>
              <a:rPr lang="en-US" err="1">
                <a:latin typeface="Arial"/>
                <a:ea typeface="Arial"/>
                <a:cs typeface="Arial"/>
                <a:sym typeface="Arial"/>
              </a:rPr>
              <a:t>như</a:t>
            </a:r>
            <a:r>
              <a:rPr lang="en-US">
                <a:latin typeface="Arial"/>
                <a:ea typeface="Arial"/>
                <a:cs typeface="Arial"/>
                <a:sym typeface="Arial"/>
              </a:rPr>
              <a:t>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nhóm</a:t>
            </a:r>
            <a:r>
              <a:rPr lang="en-US">
                <a:latin typeface="Arial"/>
                <a:ea typeface="Arial"/>
                <a:cs typeface="Arial"/>
                <a:sym typeface="Arial"/>
              </a:rPr>
              <a:t> </a:t>
            </a:r>
            <a:r>
              <a:rPr lang="en-US" err="1">
                <a:latin typeface="Arial"/>
                <a:ea typeface="Arial"/>
                <a:cs typeface="Arial"/>
                <a:sym typeface="Arial"/>
              </a:rPr>
              <a:t>khác</a:t>
            </a:r>
            <a:r>
              <a:rPr lang="en-US">
                <a:latin typeface="Arial"/>
                <a:ea typeface="Arial"/>
                <a:cs typeface="Arial"/>
                <a:sym typeface="Arial"/>
              </a:rPr>
              <a:t> </a:t>
            </a:r>
            <a:r>
              <a:rPr lang="en-US" err="1">
                <a:latin typeface="Arial"/>
                <a:ea typeface="Arial"/>
                <a:cs typeface="Arial"/>
                <a:sym typeface="Arial"/>
              </a:rPr>
              <a:t>biệt</a:t>
            </a:r>
            <a:r>
              <a:rPr lang="en-US">
                <a:latin typeface="Arial"/>
                <a:ea typeface="Arial"/>
                <a:cs typeface="Arial"/>
                <a:sym typeface="Arial"/>
              </a:rPr>
              <a:t> </a:t>
            </a:r>
            <a:r>
              <a:rPr lang="en-US" err="1">
                <a:latin typeface="Arial"/>
                <a:ea typeface="Arial"/>
                <a:cs typeface="Arial"/>
                <a:sym typeface="Arial"/>
              </a:rPr>
              <a:t>tồn</a:t>
            </a:r>
            <a:r>
              <a:rPr lang="en-US">
                <a:latin typeface="Arial"/>
                <a:ea typeface="Arial"/>
                <a:cs typeface="Arial"/>
                <a:sym typeface="Arial"/>
              </a:rPr>
              <a:t> </a:t>
            </a:r>
            <a:r>
              <a:rPr lang="en-US" err="1">
                <a:latin typeface="Arial"/>
                <a:ea typeface="Arial"/>
                <a:cs typeface="Arial"/>
                <a:sym typeface="Arial"/>
              </a:rPr>
              <a:t>tại</a:t>
            </a:r>
            <a:r>
              <a:rPr lang="en-US">
                <a:latin typeface="Arial"/>
                <a:ea typeface="Arial"/>
                <a:cs typeface="Arial"/>
                <a:sym typeface="Arial"/>
              </a:rPr>
              <a:t> </a:t>
            </a:r>
            <a:r>
              <a:rPr lang="en-US" err="1">
                <a:latin typeface="Arial"/>
                <a:ea typeface="Arial"/>
                <a:cs typeface="Arial"/>
                <a:sym typeface="Arial"/>
              </a:rPr>
              <a:t>trong</a:t>
            </a:r>
            <a:r>
              <a:rPr lang="en-US">
                <a:latin typeface="Arial"/>
                <a:ea typeface="Arial"/>
                <a:cs typeface="Arial"/>
                <a:sym typeface="Arial"/>
              </a:rPr>
              <a:t>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nền</a:t>
            </a:r>
            <a:r>
              <a:rPr lang="en-US">
                <a:latin typeface="Arial"/>
                <a:ea typeface="Arial"/>
                <a:cs typeface="Arial"/>
                <a:sym typeface="Arial"/>
              </a:rPr>
              <a:t> </a:t>
            </a:r>
            <a:r>
              <a:rPr lang="en-US" err="1">
                <a:latin typeface="Arial"/>
                <a:ea typeface="Arial"/>
                <a:cs typeface="Arial"/>
                <a:sym typeface="Arial"/>
              </a:rPr>
              <a:t>văn</a:t>
            </a:r>
            <a:r>
              <a:rPr lang="en-US">
                <a:latin typeface="Arial"/>
                <a:ea typeface="Arial"/>
                <a:cs typeface="Arial"/>
                <a:sym typeface="Arial"/>
              </a:rPr>
              <a:t> </a:t>
            </a:r>
            <a:r>
              <a:rPr lang="en-US" err="1">
                <a:latin typeface="Arial"/>
                <a:ea typeface="Arial"/>
                <a:cs typeface="Arial"/>
                <a:sym typeface="Arial"/>
              </a:rPr>
              <a:t>hóa</a:t>
            </a:r>
            <a:r>
              <a:rPr lang="en-US">
                <a:latin typeface="Arial"/>
                <a:ea typeface="Arial"/>
                <a:cs typeface="Arial"/>
                <a:sym typeface="Arial"/>
              </a:rPr>
              <a:t>,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rộng</a:t>
            </a:r>
            <a:r>
              <a:rPr lang="en-US">
                <a:latin typeface="Arial"/>
                <a:ea typeface="Arial"/>
                <a:cs typeface="Arial"/>
                <a:sym typeface="Arial"/>
              </a:rPr>
              <a:t> </a:t>
            </a:r>
            <a:r>
              <a:rPr lang="en-US" err="1">
                <a:latin typeface="Arial"/>
                <a:ea typeface="Arial"/>
                <a:cs typeface="Arial"/>
                <a:sym typeface="Arial"/>
              </a:rPr>
              <a:t>lớn</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phức</a:t>
            </a:r>
            <a:r>
              <a:rPr lang="en-US">
                <a:latin typeface="Arial"/>
                <a:ea typeface="Arial"/>
                <a:cs typeface="Arial"/>
                <a:sym typeface="Arial"/>
              </a:rPr>
              <a:t> </a:t>
            </a:r>
            <a:r>
              <a:rPr lang="en-US" err="1">
                <a:latin typeface="Arial"/>
                <a:ea typeface="Arial"/>
                <a:cs typeface="Arial"/>
                <a:sym typeface="Arial"/>
              </a:rPr>
              <a:t>tạp</a:t>
            </a:r>
            <a:r>
              <a:rPr lang="en-US">
                <a:latin typeface="Arial"/>
                <a:ea typeface="Arial"/>
                <a:cs typeface="Arial"/>
                <a:sym typeface="Arial"/>
              </a:rPr>
              <a:t> </a:t>
            </a:r>
            <a:r>
              <a:rPr lang="en-US" err="1">
                <a:latin typeface="Arial"/>
                <a:ea typeface="Arial"/>
                <a:cs typeface="Arial"/>
                <a:sym typeface="Arial"/>
              </a:rPr>
              <a:t>hơn</a:t>
            </a:r>
            <a:r>
              <a:rPr lang="en-US">
                <a:latin typeface="Arial"/>
                <a:ea typeface="Arial"/>
                <a:cs typeface="Arial"/>
                <a:sym typeface="Arial"/>
              </a:rPr>
              <a:t>. </a:t>
            </a:r>
            <a:endParaRPr/>
          </a:p>
          <a:p>
            <a:pPr marL="0" lvl="0" indent="0" algn="just" rtl="0">
              <a:lnSpc>
                <a:spcPct val="150000"/>
              </a:lnSpc>
              <a:spcBef>
                <a:spcPts val="0"/>
              </a:spcBef>
              <a:spcAft>
                <a:spcPts val="0"/>
              </a:spcAft>
              <a:buClr>
                <a:schemeClr val="dk1"/>
              </a:buClr>
              <a:buSzPts val="2800"/>
              <a:buNone/>
              <a:tabLst>
                <a:tab pos="403225" algn="l"/>
              </a:tabLst>
            </a:pPr>
            <a:r>
              <a:rPr lang="en-US">
                <a:latin typeface="Arial"/>
                <a:ea typeface="Arial"/>
                <a:cs typeface="Arial"/>
                <a:sym typeface="Arial"/>
              </a:rPr>
              <a:t>	</a:t>
            </a:r>
            <a:r>
              <a:rPr lang="en-US" err="1">
                <a:latin typeface="Arial"/>
                <a:ea typeface="Arial"/>
                <a:cs typeface="Arial"/>
                <a:sym typeface="Arial"/>
              </a:rPr>
              <a:t>Trong</a:t>
            </a:r>
            <a:r>
              <a:rPr lang="en-US">
                <a:latin typeface="Arial"/>
                <a:ea typeface="Arial"/>
                <a:cs typeface="Arial"/>
                <a:sym typeface="Arial"/>
              </a:rPr>
              <a:t> </a:t>
            </a:r>
            <a:r>
              <a:rPr lang="en-US" err="1">
                <a:latin typeface="Arial"/>
                <a:ea typeface="Arial"/>
                <a:cs typeface="Arial"/>
                <a:sym typeface="Arial"/>
              </a:rPr>
              <a:t>nhánh</a:t>
            </a:r>
            <a:r>
              <a:rPr lang="en-US">
                <a:latin typeface="Arial"/>
                <a:ea typeface="Arial"/>
                <a:cs typeface="Arial"/>
                <a:sym typeface="Arial"/>
              </a:rPr>
              <a:t> </a:t>
            </a:r>
            <a:r>
              <a:rPr lang="en-US" err="1">
                <a:latin typeface="Arial"/>
                <a:ea typeface="Arial"/>
                <a:cs typeface="Arial"/>
                <a:sym typeface="Arial"/>
              </a:rPr>
              <a:t>văn</a:t>
            </a:r>
            <a:r>
              <a:rPr lang="en-US">
                <a:latin typeface="Arial"/>
                <a:ea typeface="Arial"/>
                <a:cs typeface="Arial"/>
                <a:sym typeface="Arial"/>
              </a:rPr>
              <a:t> </a:t>
            </a:r>
            <a:r>
              <a:rPr lang="en-US" err="1">
                <a:latin typeface="Arial"/>
                <a:ea typeface="Arial"/>
                <a:cs typeface="Arial"/>
                <a:sym typeface="Arial"/>
              </a:rPr>
              <a:t>hóa</a:t>
            </a:r>
            <a:r>
              <a:rPr lang="en-US">
                <a:latin typeface="Arial"/>
                <a:ea typeface="Arial"/>
                <a:cs typeface="Arial"/>
                <a:sym typeface="Arial"/>
              </a:rPr>
              <a:t> </a:t>
            </a:r>
            <a:r>
              <a:rPr lang="en-US" err="1">
                <a:latin typeface="Arial"/>
                <a:ea typeface="Arial"/>
                <a:cs typeface="Arial"/>
                <a:sym typeface="Arial"/>
              </a:rPr>
              <a:t>mỗi</a:t>
            </a:r>
            <a:r>
              <a:rPr lang="en-US">
                <a:latin typeface="Arial"/>
                <a:ea typeface="Arial"/>
                <a:cs typeface="Arial"/>
                <a:sym typeface="Arial"/>
              </a:rPr>
              <a:t> </a:t>
            </a:r>
            <a:r>
              <a:rPr lang="en-US" err="1">
                <a:latin typeface="Arial"/>
                <a:ea typeface="Arial"/>
                <a:cs typeface="Arial"/>
                <a:sym typeface="Arial"/>
              </a:rPr>
              <a:t>thành</a:t>
            </a:r>
            <a:r>
              <a:rPr lang="en-US">
                <a:latin typeface="Arial"/>
                <a:ea typeface="Arial"/>
                <a:cs typeface="Arial"/>
                <a:sym typeface="Arial"/>
              </a:rPr>
              <a:t> </a:t>
            </a:r>
            <a:r>
              <a:rPr lang="en-US" err="1">
                <a:latin typeface="Arial"/>
                <a:ea typeface="Arial"/>
                <a:cs typeface="Arial"/>
                <a:sym typeface="Arial"/>
              </a:rPr>
              <a:t>viên</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hành</a:t>
            </a:r>
            <a:r>
              <a:rPr lang="en-US">
                <a:latin typeface="Arial"/>
                <a:ea typeface="Arial"/>
                <a:cs typeface="Arial"/>
                <a:sym typeface="Arial"/>
              </a:rPr>
              <a:t> vi </a:t>
            </a:r>
            <a:r>
              <a:rPr lang="en-US" err="1">
                <a:latin typeface="Arial"/>
                <a:ea typeface="Arial"/>
                <a:cs typeface="Arial"/>
                <a:sym typeface="Arial"/>
              </a:rPr>
              <a:t>đặc</a:t>
            </a:r>
            <a:r>
              <a:rPr lang="en-US">
                <a:latin typeface="Arial"/>
                <a:ea typeface="Arial"/>
                <a:cs typeface="Arial"/>
                <a:sym typeface="Arial"/>
              </a:rPr>
              <a:t> </a:t>
            </a:r>
            <a:r>
              <a:rPr lang="en-US" err="1">
                <a:latin typeface="Arial"/>
                <a:ea typeface="Arial"/>
                <a:cs typeface="Arial"/>
                <a:sym typeface="Arial"/>
              </a:rPr>
              <a:t>trưng</a:t>
            </a:r>
            <a:r>
              <a:rPr lang="en-US">
                <a:latin typeface="Arial"/>
                <a:ea typeface="Arial"/>
                <a:cs typeface="Arial"/>
                <a:sym typeface="Arial"/>
              </a:rPr>
              <a:t>, </a:t>
            </a:r>
            <a:r>
              <a:rPr lang="en-US" err="1">
                <a:latin typeface="Arial"/>
                <a:ea typeface="Arial"/>
                <a:cs typeface="Arial"/>
                <a:sym typeface="Arial"/>
              </a:rPr>
              <a:t>nó</a:t>
            </a:r>
            <a:r>
              <a:rPr lang="en-US">
                <a:latin typeface="Arial"/>
                <a:ea typeface="Arial"/>
                <a:cs typeface="Arial"/>
                <a:sym typeface="Arial"/>
              </a:rPr>
              <a:t> </a:t>
            </a:r>
            <a:r>
              <a:rPr lang="en-US" err="1">
                <a:latin typeface="Arial"/>
                <a:ea typeface="Arial"/>
                <a:cs typeface="Arial"/>
                <a:sym typeface="Arial"/>
              </a:rPr>
              <a:t>bắt</a:t>
            </a:r>
            <a:r>
              <a:rPr lang="en-US">
                <a:latin typeface="Arial"/>
                <a:ea typeface="Arial"/>
                <a:cs typeface="Arial"/>
                <a:sym typeface="Arial"/>
              </a:rPr>
              <a:t> </a:t>
            </a:r>
            <a:r>
              <a:rPr lang="en-US" err="1">
                <a:latin typeface="Arial"/>
                <a:ea typeface="Arial"/>
                <a:cs typeface="Arial"/>
                <a:sym typeface="Arial"/>
              </a:rPr>
              <a:t>nguồn</a:t>
            </a:r>
            <a:r>
              <a:rPr lang="en-US">
                <a:latin typeface="Arial"/>
                <a:ea typeface="Arial"/>
                <a:cs typeface="Arial"/>
                <a:sym typeface="Arial"/>
              </a:rPr>
              <a:t> </a:t>
            </a:r>
            <a:r>
              <a:rPr lang="en-US" err="1">
                <a:latin typeface="Arial"/>
                <a:ea typeface="Arial"/>
                <a:cs typeface="Arial"/>
                <a:sym typeface="Arial"/>
              </a:rPr>
              <a:t>từ</a:t>
            </a:r>
            <a:r>
              <a:rPr lang="en-US">
                <a:latin typeface="Arial"/>
                <a:ea typeface="Arial"/>
                <a:cs typeface="Arial"/>
                <a:sym typeface="Arial"/>
              </a:rPr>
              <a:t> </a:t>
            </a:r>
            <a:r>
              <a:rPr lang="en-US" err="1">
                <a:latin typeface="Arial"/>
                <a:ea typeface="Arial"/>
                <a:cs typeface="Arial"/>
                <a:sym typeface="Arial"/>
              </a:rPr>
              <a:t>niềm</a:t>
            </a:r>
            <a:r>
              <a:rPr lang="en-US">
                <a:latin typeface="Arial"/>
                <a:ea typeface="Arial"/>
                <a:cs typeface="Arial"/>
                <a:sym typeface="Arial"/>
              </a:rPr>
              <a:t> tin, </a:t>
            </a:r>
            <a:r>
              <a:rPr lang="en-US" err="1">
                <a:latin typeface="Arial"/>
                <a:ea typeface="Arial"/>
                <a:cs typeface="Arial"/>
                <a:sym typeface="Arial"/>
              </a:rPr>
              <a:t>giá</a:t>
            </a:r>
            <a:r>
              <a:rPr lang="en-US">
                <a:latin typeface="Arial"/>
                <a:ea typeface="Arial"/>
                <a:cs typeface="Arial"/>
                <a:sym typeface="Arial"/>
              </a:rPr>
              <a:t> </a:t>
            </a:r>
            <a:r>
              <a:rPr lang="en-US" err="1">
                <a:latin typeface="Arial"/>
                <a:ea typeface="Arial"/>
                <a:cs typeface="Arial"/>
                <a:sym typeface="Arial"/>
              </a:rPr>
              <a:t>trị</a:t>
            </a:r>
            <a:r>
              <a:rPr lang="en-US">
                <a:latin typeface="Arial"/>
                <a:ea typeface="Arial"/>
                <a:cs typeface="Arial"/>
                <a:sym typeface="Arial"/>
              </a:rPr>
              <a:t>, </a:t>
            </a:r>
            <a:r>
              <a:rPr lang="en-US" err="1">
                <a:latin typeface="Arial"/>
                <a:ea typeface="Arial"/>
                <a:cs typeface="Arial"/>
                <a:sym typeface="Arial"/>
              </a:rPr>
              <a:t>chuẩn</a:t>
            </a:r>
            <a:r>
              <a:rPr lang="en-US">
                <a:latin typeface="Arial"/>
                <a:ea typeface="Arial"/>
                <a:cs typeface="Arial"/>
                <a:sym typeface="Arial"/>
              </a:rPr>
              <a:t> </a:t>
            </a:r>
            <a:r>
              <a:rPr lang="en-US" err="1">
                <a:latin typeface="Arial"/>
                <a:ea typeface="Arial"/>
                <a:cs typeface="Arial"/>
                <a:sym typeface="Arial"/>
              </a:rPr>
              <a:t>mực</a:t>
            </a:r>
            <a:r>
              <a:rPr lang="en-US">
                <a:latin typeface="Arial"/>
                <a:ea typeface="Arial"/>
                <a:cs typeface="Arial"/>
                <a:sym typeface="Arial"/>
              </a:rPr>
              <a:t> </a:t>
            </a:r>
            <a:r>
              <a:rPr lang="en-US" err="1">
                <a:latin typeface="Arial"/>
                <a:ea typeface="Arial"/>
                <a:cs typeface="Arial"/>
                <a:sym typeface="Arial"/>
              </a:rPr>
              <a:t>văn</a:t>
            </a:r>
            <a:r>
              <a:rPr lang="en-US">
                <a:latin typeface="Arial"/>
                <a:ea typeface="Arial"/>
                <a:cs typeface="Arial"/>
                <a:sym typeface="Arial"/>
              </a:rPr>
              <a:t> </a:t>
            </a:r>
            <a:r>
              <a:rPr lang="en-US" err="1">
                <a:latin typeface="Arial"/>
                <a:ea typeface="Arial"/>
                <a:cs typeface="Arial"/>
                <a:sym typeface="Arial"/>
              </a:rPr>
              <a:t>hóa</a:t>
            </a:r>
            <a:r>
              <a:rPr lang="en-US">
                <a:latin typeface="Arial"/>
                <a:ea typeface="Arial"/>
                <a:cs typeface="Arial"/>
                <a:sym typeface="Arial"/>
              </a:rPr>
              <a:t>, </a:t>
            </a:r>
            <a:r>
              <a:rPr lang="en-US" err="1">
                <a:latin typeface="Arial"/>
                <a:ea typeface="Arial"/>
                <a:cs typeface="Arial"/>
                <a:sym typeface="Arial"/>
              </a:rPr>
              <a:t>phong</a:t>
            </a:r>
            <a:r>
              <a:rPr lang="en-US">
                <a:latin typeface="Arial"/>
                <a:ea typeface="Arial"/>
                <a:cs typeface="Arial"/>
                <a:sym typeface="Arial"/>
              </a:rPr>
              <a:t> </a:t>
            </a:r>
            <a:r>
              <a:rPr lang="en-US" err="1">
                <a:latin typeface="Arial"/>
                <a:ea typeface="Arial"/>
                <a:cs typeface="Arial"/>
                <a:sym typeface="Arial"/>
              </a:rPr>
              <a:t>tục</a:t>
            </a:r>
            <a:r>
              <a:rPr lang="en-US">
                <a:latin typeface="Arial"/>
                <a:ea typeface="Arial"/>
                <a:cs typeface="Arial"/>
                <a:sym typeface="Arial"/>
              </a:rPr>
              <a:t> </a:t>
            </a:r>
            <a:r>
              <a:rPr lang="en-US" err="1">
                <a:latin typeface="Arial"/>
                <a:ea typeface="Arial"/>
                <a:cs typeface="Arial"/>
                <a:sym typeface="Arial"/>
              </a:rPr>
              <a:t>tập</a:t>
            </a:r>
            <a:r>
              <a:rPr lang="en-US">
                <a:latin typeface="Arial"/>
                <a:ea typeface="Arial"/>
                <a:cs typeface="Arial"/>
                <a:sym typeface="Arial"/>
              </a:rPr>
              <a:t> </a:t>
            </a:r>
            <a:r>
              <a:rPr lang="en-US" err="1">
                <a:latin typeface="Arial"/>
                <a:ea typeface="Arial"/>
                <a:cs typeface="Arial"/>
                <a:sym typeface="Arial"/>
              </a:rPr>
              <a:t>quán</a:t>
            </a:r>
            <a:r>
              <a:rPr lang="en-US">
                <a:latin typeface="Arial"/>
                <a:ea typeface="Arial"/>
                <a:cs typeface="Arial"/>
                <a:sym typeface="Arial"/>
              </a:rPr>
              <a:t> </a:t>
            </a:r>
            <a:r>
              <a:rPr lang="en-US" err="1">
                <a:latin typeface="Arial"/>
                <a:ea typeface="Arial"/>
                <a:cs typeface="Arial"/>
                <a:sym typeface="Arial"/>
              </a:rPr>
              <a:t>riêng</a:t>
            </a:r>
            <a:r>
              <a:rPr lang="en-US">
                <a:latin typeface="Arial"/>
                <a:ea typeface="Arial"/>
                <a:cs typeface="Arial"/>
                <a:sym typeface="Arial"/>
              </a:rPr>
              <a:t> </a:t>
            </a:r>
            <a:r>
              <a:rPr lang="en-US" err="1">
                <a:latin typeface="Arial"/>
                <a:ea typeface="Arial"/>
                <a:cs typeface="Arial"/>
                <a:sym typeface="Arial"/>
              </a:rPr>
              <a:t>khiến</a:t>
            </a:r>
            <a:r>
              <a:rPr lang="en-US">
                <a:latin typeface="Arial"/>
                <a:ea typeface="Arial"/>
                <a:cs typeface="Arial"/>
                <a:sym typeface="Arial"/>
              </a:rPr>
              <a:t> </a:t>
            </a:r>
            <a:r>
              <a:rPr lang="en-US" err="1">
                <a:latin typeface="Arial"/>
                <a:ea typeface="Arial"/>
                <a:cs typeface="Arial"/>
                <a:sym typeface="Arial"/>
              </a:rPr>
              <a:t>nó</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sự</a:t>
            </a:r>
            <a:r>
              <a:rPr lang="en-US">
                <a:latin typeface="Arial"/>
                <a:ea typeface="Arial"/>
                <a:cs typeface="Arial"/>
                <a:sym typeface="Arial"/>
              </a:rPr>
              <a:t> </a:t>
            </a:r>
            <a:r>
              <a:rPr lang="en-US" err="1">
                <a:latin typeface="Arial"/>
                <a:ea typeface="Arial"/>
                <a:cs typeface="Arial"/>
                <a:sym typeface="Arial"/>
              </a:rPr>
              <a:t>khác</a:t>
            </a:r>
            <a:r>
              <a:rPr lang="en-US">
                <a:latin typeface="Arial"/>
                <a:ea typeface="Arial"/>
                <a:cs typeface="Arial"/>
                <a:sym typeface="Arial"/>
              </a:rPr>
              <a:t> </a:t>
            </a:r>
            <a:r>
              <a:rPr lang="en-US" err="1">
                <a:latin typeface="Arial"/>
                <a:ea typeface="Arial"/>
                <a:cs typeface="Arial"/>
                <a:sym typeface="Arial"/>
              </a:rPr>
              <a:t>biệt</a:t>
            </a:r>
            <a:r>
              <a:rPr lang="en-US">
                <a:latin typeface="Arial"/>
                <a:ea typeface="Arial"/>
                <a:cs typeface="Arial"/>
                <a:sym typeface="Arial"/>
              </a:rPr>
              <a:t> </a:t>
            </a:r>
            <a:r>
              <a:rPr lang="en-US" err="1">
                <a:latin typeface="Arial"/>
                <a:ea typeface="Arial"/>
                <a:cs typeface="Arial"/>
                <a:sym typeface="Arial"/>
              </a:rPr>
              <a:t>với</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thành</a:t>
            </a:r>
            <a:r>
              <a:rPr lang="en-US">
                <a:latin typeface="Arial"/>
                <a:ea typeface="Arial"/>
                <a:cs typeface="Arial"/>
                <a:sym typeface="Arial"/>
              </a:rPr>
              <a:t> </a:t>
            </a:r>
            <a:r>
              <a:rPr lang="en-US" err="1">
                <a:latin typeface="Arial"/>
                <a:ea typeface="Arial"/>
                <a:cs typeface="Arial"/>
                <a:sym typeface="Arial"/>
              </a:rPr>
              <a:t>viên</a:t>
            </a:r>
            <a:r>
              <a:rPr lang="en-US">
                <a:latin typeface="Arial"/>
                <a:ea typeface="Arial"/>
                <a:cs typeface="Arial"/>
                <a:sym typeface="Arial"/>
              </a:rPr>
              <a:t> </a:t>
            </a:r>
            <a:r>
              <a:rPr lang="en-US" err="1">
                <a:latin typeface="Arial"/>
                <a:ea typeface="Arial"/>
                <a:cs typeface="Arial"/>
                <a:sym typeface="Arial"/>
              </a:rPr>
              <a:t>khác</a:t>
            </a:r>
            <a:r>
              <a:rPr lang="en-US">
                <a:latin typeface="Arial"/>
                <a:ea typeface="Arial"/>
                <a:cs typeface="Arial"/>
                <a:sym typeface="Arial"/>
              </a:rPr>
              <a:t> </a:t>
            </a:r>
            <a:r>
              <a:rPr lang="en-US" err="1">
                <a:latin typeface="Arial"/>
                <a:ea typeface="Arial"/>
                <a:cs typeface="Arial"/>
                <a:sym typeface="Arial"/>
              </a:rPr>
              <a:t>trong</a:t>
            </a:r>
            <a:r>
              <a:rPr lang="en-US">
                <a:latin typeface="Arial"/>
                <a:ea typeface="Arial"/>
                <a:cs typeface="Arial"/>
                <a:sym typeface="Arial"/>
              </a:rPr>
              <a:t> </a:t>
            </a:r>
            <a:r>
              <a:rPr lang="vi-VN"/>
              <a:t>XH</a:t>
            </a:r>
            <a:r>
              <a:rPr lang="en-US">
                <a:latin typeface="Arial"/>
                <a:ea typeface="Arial"/>
                <a:cs typeface="Arial"/>
                <a:sym typeface="Arial"/>
              </a:rPr>
              <a:t>.</a:t>
            </a:r>
            <a:endParaRPr/>
          </a:p>
          <a:p>
            <a:pPr marL="0" lvl="0" indent="0" algn="just" rtl="0">
              <a:lnSpc>
                <a:spcPct val="150000"/>
              </a:lnSpc>
              <a:spcBef>
                <a:spcPts val="0"/>
              </a:spcBef>
              <a:spcAft>
                <a:spcPts val="0"/>
              </a:spcAft>
              <a:buClr>
                <a:schemeClr val="dk1"/>
              </a:buClr>
              <a:buSzPts val="2800"/>
              <a:buNone/>
            </a:pPr>
            <a:r>
              <a:rPr lang="en-US">
                <a:latin typeface="Arial"/>
                <a:ea typeface="Arial"/>
                <a:cs typeface="Arial"/>
                <a:sym typeface="Arial"/>
              </a:rPr>
              <a:t>	</a:t>
            </a:r>
            <a:r>
              <a:rPr lang="en-US" err="1">
                <a:latin typeface="Arial"/>
                <a:ea typeface="Arial"/>
                <a:cs typeface="Arial"/>
                <a:sym typeface="Arial"/>
              </a:rPr>
              <a:t>Nhiều</a:t>
            </a:r>
            <a:r>
              <a:rPr lang="en-US">
                <a:latin typeface="Arial"/>
                <a:ea typeface="Arial"/>
                <a:cs typeface="Arial"/>
                <a:sym typeface="Arial"/>
              </a:rPr>
              <a:t> </a:t>
            </a:r>
            <a:r>
              <a:rPr lang="en-US" err="1">
                <a:latin typeface="Arial"/>
                <a:ea typeface="Arial"/>
                <a:cs typeface="Arial"/>
                <a:sym typeface="Arial"/>
              </a:rPr>
              <a:t>nhánh</a:t>
            </a:r>
            <a:r>
              <a:rPr lang="en-US">
                <a:latin typeface="Arial"/>
                <a:ea typeface="Arial"/>
                <a:cs typeface="Arial"/>
                <a:sym typeface="Arial"/>
              </a:rPr>
              <a:t> </a:t>
            </a:r>
            <a:r>
              <a:rPr lang="en-US" err="1">
                <a:latin typeface="Arial"/>
                <a:ea typeface="Arial"/>
                <a:cs typeface="Arial"/>
                <a:sym typeface="Arial"/>
              </a:rPr>
              <a:t>văn</a:t>
            </a:r>
            <a:r>
              <a:rPr lang="en-US">
                <a:latin typeface="Arial"/>
                <a:ea typeface="Arial"/>
                <a:cs typeface="Arial"/>
                <a:sym typeface="Arial"/>
              </a:rPr>
              <a:t> </a:t>
            </a:r>
            <a:r>
              <a:rPr lang="en-US" err="1">
                <a:latin typeface="Arial"/>
                <a:ea typeface="Arial"/>
                <a:cs typeface="Arial"/>
                <a:sym typeface="Arial"/>
              </a:rPr>
              <a:t>hóa</a:t>
            </a:r>
            <a:r>
              <a:rPr lang="en-US">
                <a:latin typeface="Arial"/>
                <a:ea typeface="Arial"/>
                <a:cs typeface="Arial"/>
                <a:sym typeface="Arial"/>
              </a:rPr>
              <a:t> </a:t>
            </a:r>
            <a:r>
              <a:rPr lang="en-US" err="1">
                <a:latin typeface="Arial"/>
                <a:ea typeface="Arial"/>
                <a:cs typeface="Arial"/>
                <a:sym typeface="Arial"/>
              </a:rPr>
              <a:t>tạo</a:t>
            </a:r>
            <a:r>
              <a:rPr lang="en-US">
                <a:latin typeface="Arial"/>
                <a:ea typeface="Arial"/>
                <a:cs typeface="Arial"/>
                <a:sym typeface="Arial"/>
              </a:rPr>
              <a:t> </a:t>
            </a:r>
            <a:r>
              <a:rPr lang="en-US" err="1">
                <a:latin typeface="Arial"/>
                <a:ea typeface="Arial"/>
                <a:cs typeface="Arial"/>
                <a:sym typeface="Arial"/>
              </a:rPr>
              <a:t>nên</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phân</a:t>
            </a:r>
            <a:r>
              <a:rPr lang="en-US">
                <a:latin typeface="Arial"/>
                <a:ea typeface="Arial"/>
                <a:cs typeface="Arial"/>
                <a:sym typeface="Arial"/>
              </a:rPr>
              <a:t> </a:t>
            </a:r>
            <a:r>
              <a:rPr lang="en-US" err="1">
                <a:latin typeface="Arial"/>
                <a:ea typeface="Arial"/>
                <a:cs typeface="Arial"/>
                <a:sym typeface="Arial"/>
              </a:rPr>
              <a:t>khúc</a:t>
            </a:r>
            <a:r>
              <a:rPr lang="en-US">
                <a:latin typeface="Arial"/>
                <a:ea typeface="Arial"/>
                <a:cs typeface="Arial"/>
                <a:sym typeface="Arial"/>
              </a:rPr>
              <a:t> </a:t>
            </a:r>
            <a:r>
              <a:rPr lang="en-US" err="1">
                <a:latin typeface="Arial"/>
                <a:ea typeface="Arial"/>
                <a:cs typeface="Arial"/>
                <a:sym typeface="Arial"/>
              </a:rPr>
              <a:t>thị</a:t>
            </a:r>
            <a:r>
              <a:rPr lang="en-US">
                <a:latin typeface="Arial"/>
                <a:ea typeface="Arial"/>
                <a:cs typeface="Arial"/>
                <a:sym typeface="Arial"/>
              </a:rPr>
              <a:t> </a:t>
            </a:r>
            <a:r>
              <a:rPr lang="en-US" err="1">
                <a:latin typeface="Arial"/>
                <a:ea typeface="Arial"/>
                <a:cs typeface="Arial"/>
                <a:sym typeface="Arial"/>
              </a:rPr>
              <a:t>trường</a:t>
            </a:r>
            <a:r>
              <a:rPr lang="en-US">
                <a:latin typeface="Arial"/>
                <a:ea typeface="Arial"/>
                <a:cs typeface="Arial"/>
                <a:sym typeface="Arial"/>
              </a:rPr>
              <a:t> </a:t>
            </a:r>
            <a:r>
              <a:rPr lang="en-US" err="1">
                <a:latin typeface="Arial"/>
                <a:ea typeface="Arial"/>
                <a:cs typeface="Arial"/>
                <a:sym typeface="Arial"/>
              </a:rPr>
              <a:t>quan</a:t>
            </a:r>
            <a:r>
              <a:rPr lang="en-US">
                <a:latin typeface="Arial"/>
                <a:ea typeface="Arial"/>
                <a:cs typeface="Arial"/>
                <a:sym typeface="Arial"/>
              </a:rPr>
              <a:t> </a:t>
            </a:r>
            <a:r>
              <a:rPr lang="en-US" err="1">
                <a:latin typeface="Arial"/>
                <a:ea typeface="Arial"/>
                <a:cs typeface="Arial"/>
                <a:sym typeface="Arial"/>
              </a:rPr>
              <a:t>trọng</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nhà</a:t>
            </a:r>
            <a:r>
              <a:rPr lang="en-US">
                <a:latin typeface="Arial"/>
                <a:ea typeface="Arial"/>
                <a:cs typeface="Arial"/>
                <a:sym typeface="Arial"/>
              </a:rPr>
              <a:t> </a:t>
            </a:r>
            <a:r>
              <a:rPr lang="en-US" err="1">
                <a:latin typeface="Arial"/>
                <a:ea typeface="Arial"/>
                <a:cs typeface="Arial"/>
                <a:sym typeface="Arial"/>
              </a:rPr>
              <a:t>tiếp</a:t>
            </a:r>
            <a:r>
              <a:rPr lang="en-US">
                <a:latin typeface="Arial"/>
                <a:ea typeface="Arial"/>
                <a:cs typeface="Arial"/>
                <a:sym typeface="Arial"/>
              </a:rPr>
              <a:t> </a:t>
            </a:r>
            <a:r>
              <a:rPr lang="en-US" err="1">
                <a:latin typeface="Arial"/>
                <a:ea typeface="Arial"/>
                <a:cs typeface="Arial"/>
                <a:sym typeface="Arial"/>
              </a:rPr>
              <a:t>thị</a:t>
            </a:r>
            <a:r>
              <a:rPr lang="en-US">
                <a:latin typeface="Arial"/>
                <a:ea typeface="Arial"/>
                <a:cs typeface="Arial"/>
                <a:sym typeface="Arial"/>
              </a:rPr>
              <a:t> </a:t>
            </a:r>
            <a:r>
              <a:rPr lang="en-US" err="1">
                <a:latin typeface="Arial"/>
                <a:ea typeface="Arial"/>
                <a:cs typeface="Arial"/>
                <a:sym typeface="Arial"/>
              </a:rPr>
              <a:t>thường</a:t>
            </a:r>
            <a:r>
              <a:rPr lang="en-US">
                <a:latin typeface="Arial"/>
                <a:ea typeface="Arial"/>
                <a:cs typeface="Arial"/>
                <a:sym typeface="Arial"/>
              </a:rPr>
              <a:t> </a:t>
            </a:r>
            <a:r>
              <a:rPr lang="en-US" err="1">
                <a:latin typeface="Arial"/>
                <a:ea typeface="Arial"/>
                <a:cs typeface="Arial"/>
                <a:sym typeface="Arial"/>
              </a:rPr>
              <a:t>thiết</a:t>
            </a:r>
            <a:r>
              <a:rPr lang="en-US">
                <a:latin typeface="Arial"/>
                <a:ea typeface="Arial"/>
                <a:cs typeface="Arial"/>
                <a:sym typeface="Arial"/>
              </a:rPr>
              <a:t> </a:t>
            </a:r>
            <a:r>
              <a:rPr lang="en-US" err="1">
                <a:latin typeface="Arial"/>
                <a:ea typeface="Arial"/>
                <a:cs typeface="Arial"/>
                <a:sym typeface="Arial"/>
              </a:rPr>
              <a:t>kế</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sản</a:t>
            </a:r>
            <a:r>
              <a:rPr lang="en-US">
                <a:latin typeface="Arial"/>
                <a:ea typeface="Arial"/>
                <a:cs typeface="Arial"/>
                <a:sym typeface="Arial"/>
              </a:rPr>
              <a:t> </a:t>
            </a:r>
            <a:r>
              <a:rPr lang="en-US" err="1">
                <a:latin typeface="Arial"/>
                <a:ea typeface="Arial"/>
                <a:cs typeface="Arial"/>
                <a:sym typeface="Arial"/>
              </a:rPr>
              <a:t>phẩm</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br>
              <a:rPr lang="en-US">
                <a:latin typeface="Arial"/>
                <a:ea typeface="Arial"/>
                <a:cs typeface="Arial"/>
                <a:sym typeface="Arial"/>
              </a:rPr>
            </a:br>
            <a:r>
              <a:rPr lang="en-US" err="1">
                <a:latin typeface="Arial"/>
                <a:ea typeface="Arial"/>
                <a:cs typeface="Arial"/>
                <a:sym typeface="Arial"/>
              </a:rPr>
              <a:t>chương</a:t>
            </a:r>
            <a:r>
              <a:rPr lang="en-US">
                <a:latin typeface="Arial"/>
                <a:ea typeface="Arial"/>
                <a:cs typeface="Arial"/>
                <a:sym typeface="Arial"/>
              </a:rPr>
              <a:t> </a:t>
            </a:r>
            <a:r>
              <a:rPr lang="en-US" err="1">
                <a:latin typeface="Arial"/>
                <a:ea typeface="Arial"/>
                <a:cs typeface="Arial"/>
                <a:sym typeface="Arial"/>
              </a:rPr>
              <a:t>trình</a:t>
            </a:r>
            <a:r>
              <a:rPr lang="en-US">
                <a:latin typeface="Arial"/>
                <a:ea typeface="Arial"/>
                <a:cs typeface="Arial"/>
                <a:sym typeface="Arial"/>
              </a:rPr>
              <a:t> </a:t>
            </a:r>
            <a:r>
              <a:rPr lang="en-US" err="1">
                <a:latin typeface="Arial"/>
                <a:ea typeface="Arial"/>
                <a:cs typeface="Arial"/>
                <a:sym typeface="Arial"/>
              </a:rPr>
              <a:t>tiếp</a:t>
            </a:r>
            <a:r>
              <a:rPr lang="en-US">
                <a:latin typeface="Arial"/>
                <a:ea typeface="Arial"/>
                <a:cs typeface="Arial"/>
                <a:sym typeface="Arial"/>
              </a:rPr>
              <a:t> </a:t>
            </a:r>
            <a:r>
              <a:rPr lang="en-US" err="1">
                <a:latin typeface="Arial"/>
                <a:ea typeface="Arial"/>
                <a:cs typeface="Arial"/>
                <a:sym typeface="Arial"/>
              </a:rPr>
              <a:t>thị</a:t>
            </a:r>
            <a:r>
              <a:rPr lang="en-US">
                <a:latin typeface="Arial"/>
                <a:ea typeface="Arial"/>
                <a:cs typeface="Arial"/>
                <a:sym typeface="Arial"/>
              </a:rPr>
              <a:t> </a:t>
            </a:r>
            <a:r>
              <a:rPr lang="en-US" err="1">
                <a:latin typeface="Arial"/>
                <a:ea typeface="Arial"/>
                <a:cs typeface="Arial"/>
                <a:sym typeface="Arial"/>
              </a:rPr>
              <a:t>phù</a:t>
            </a:r>
            <a:r>
              <a:rPr lang="en-US">
                <a:latin typeface="Arial"/>
                <a:ea typeface="Arial"/>
                <a:cs typeface="Arial"/>
                <a:sym typeface="Arial"/>
              </a:rPr>
              <a:t> </a:t>
            </a:r>
            <a:r>
              <a:rPr lang="en-US" err="1">
                <a:latin typeface="Arial"/>
                <a:ea typeface="Arial"/>
                <a:cs typeface="Arial"/>
                <a:sym typeface="Arial"/>
              </a:rPr>
              <a:t>hợp</a:t>
            </a:r>
            <a:r>
              <a:rPr lang="en-US">
                <a:latin typeface="Arial"/>
                <a:ea typeface="Arial"/>
                <a:cs typeface="Arial"/>
                <a:sym typeface="Arial"/>
              </a:rPr>
              <a:t> </a:t>
            </a:r>
            <a:r>
              <a:rPr lang="en-US" err="1">
                <a:latin typeface="Arial"/>
                <a:ea typeface="Arial"/>
                <a:cs typeface="Arial"/>
                <a:sym typeface="Arial"/>
              </a:rPr>
              <a:t>với</a:t>
            </a:r>
            <a:r>
              <a:rPr lang="en-US">
                <a:latin typeface="Arial"/>
                <a:ea typeface="Arial"/>
                <a:cs typeface="Arial"/>
                <a:sym typeface="Arial"/>
              </a:rPr>
              <a:t> </a:t>
            </a:r>
            <a:r>
              <a:rPr lang="en-US" err="1">
                <a:latin typeface="Arial"/>
                <a:ea typeface="Arial"/>
                <a:cs typeface="Arial"/>
                <a:sym typeface="Arial"/>
              </a:rPr>
              <a:t>nhu</a:t>
            </a:r>
            <a:r>
              <a:rPr lang="en-US">
                <a:latin typeface="Arial"/>
                <a:ea typeface="Arial"/>
                <a:cs typeface="Arial"/>
                <a:sym typeface="Arial"/>
              </a:rPr>
              <a:t> </a:t>
            </a:r>
            <a:r>
              <a:rPr lang="en-US" err="1">
                <a:latin typeface="Arial"/>
                <a:ea typeface="Arial"/>
                <a:cs typeface="Arial"/>
                <a:sym typeface="Arial"/>
              </a:rPr>
              <a:t>cầu</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họ</a:t>
            </a:r>
            <a:r>
              <a:rPr lang="en-US">
                <a:latin typeface="Arial"/>
                <a:ea typeface="Arial"/>
                <a:cs typeface="Arial"/>
                <a:sym typeface="Arial"/>
              </a:rPr>
              <a:t> </a:t>
            </a:r>
            <a:endParaRPr>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8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1">
                <a:latin typeface="Arial"/>
                <a:ea typeface="Arial"/>
                <a:cs typeface="Arial"/>
                <a:sym typeface="Arial"/>
              </a:rPr>
              <a:t>2.</a:t>
            </a:r>
            <a:r>
              <a:rPr lang="vi-VN" sz="3200" b="1">
                <a:latin typeface="Arial"/>
                <a:ea typeface="Arial"/>
                <a:cs typeface="Arial"/>
                <a:sym typeface="Arial"/>
              </a:rPr>
              <a:t>1.5</a:t>
            </a:r>
            <a:r>
              <a:rPr lang="en-US" sz="3200" b="1">
                <a:latin typeface="Arial"/>
                <a:ea typeface="Arial"/>
                <a:cs typeface="Arial"/>
                <a:sym typeface="Arial"/>
              </a:rPr>
              <a:t>.2. </a:t>
            </a:r>
            <a:r>
              <a:rPr lang="en-US" sz="3200" b="1" err="1">
                <a:latin typeface="Arial"/>
                <a:ea typeface="Arial"/>
                <a:cs typeface="Arial"/>
                <a:sym typeface="Arial"/>
              </a:rPr>
              <a:t>Phân</a:t>
            </a:r>
            <a:r>
              <a:rPr lang="en-US" sz="3200" b="1">
                <a:latin typeface="Arial"/>
                <a:ea typeface="Arial"/>
                <a:cs typeface="Arial"/>
                <a:sym typeface="Arial"/>
              </a:rPr>
              <a:t> </a:t>
            </a:r>
            <a:r>
              <a:rPr lang="en-US" sz="3200" b="1" err="1">
                <a:latin typeface="Arial"/>
                <a:ea typeface="Arial"/>
                <a:cs typeface="Arial"/>
                <a:sym typeface="Arial"/>
              </a:rPr>
              <a:t>loại</a:t>
            </a:r>
            <a:r>
              <a:rPr lang="en-US" sz="3200" b="1">
                <a:latin typeface="Arial"/>
                <a:ea typeface="Arial"/>
                <a:cs typeface="Arial"/>
                <a:sym typeface="Arial"/>
              </a:rPr>
              <a:t> </a:t>
            </a:r>
            <a:r>
              <a:rPr lang="en-US" sz="3200" b="1" err="1">
                <a:latin typeface="Arial"/>
                <a:ea typeface="Arial"/>
                <a:cs typeface="Arial"/>
                <a:sym typeface="Arial"/>
              </a:rPr>
              <a:t>nhánh</a:t>
            </a:r>
            <a:r>
              <a:rPr lang="en-US" sz="3200" b="1">
                <a:latin typeface="Arial"/>
                <a:ea typeface="Arial"/>
                <a:cs typeface="Arial"/>
                <a:sym typeface="Arial"/>
              </a:rPr>
              <a:t> </a:t>
            </a:r>
            <a:r>
              <a:rPr lang="en-US" sz="3200" b="1" err="1">
                <a:latin typeface="Arial"/>
                <a:ea typeface="Arial"/>
                <a:cs typeface="Arial"/>
                <a:sym typeface="Arial"/>
              </a:rPr>
              <a:t>văn</a:t>
            </a:r>
            <a:r>
              <a:rPr lang="en-US" sz="3200" b="1">
                <a:latin typeface="Arial"/>
                <a:ea typeface="Arial"/>
                <a:cs typeface="Arial"/>
                <a:sym typeface="Arial"/>
              </a:rPr>
              <a:t> </a:t>
            </a:r>
            <a:r>
              <a:rPr lang="en-US" sz="3200" b="1" err="1">
                <a:latin typeface="Arial"/>
                <a:ea typeface="Arial"/>
                <a:cs typeface="Arial"/>
                <a:sym typeface="Arial"/>
              </a:rPr>
              <a:t>hóa</a:t>
            </a:r>
            <a:endParaRPr sz="3200" b="1">
              <a:latin typeface="Arial"/>
              <a:ea typeface="Arial"/>
              <a:cs typeface="Arial"/>
              <a:sym typeface="Arial"/>
            </a:endParaRPr>
          </a:p>
        </p:txBody>
      </p:sp>
      <p:sp>
        <p:nvSpPr>
          <p:cNvPr id="624" name="Google Shape;624;p81"/>
          <p:cNvSpPr txBox="1">
            <a:spLocks noGrp="1"/>
          </p:cNvSpPr>
          <p:nvPr>
            <p:ph type="body" idx="1"/>
          </p:nvPr>
        </p:nvSpPr>
        <p:spPr>
          <a:xfrm>
            <a:off x="1057275" y="1387475"/>
            <a:ext cx="9601200" cy="4351338"/>
          </a:xfrm>
          <a:prstGeom prst="rect">
            <a:avLst/>
          </a:prstGeom>
          <a:noFill/>
          <a:ln>
            <a:noFill/>
          </a:ln>
        </p:spPr>
        <p:txBody>
          <a:bodyPr spcFirstLastPara="1" wrap="square" lIns="91425" tIns="45700" rIns="91425" bIns="45700" anchor="t" anchorCtr="0">
            <a:normAutofit/>
          </a:bodyPr>
          <a:lstStyle/>
          <a:p>
            <a:pPr marL="457200" lvl="0" indent="-457200" algn="just" rtl="0">
              <a:lnSpc>
                <a:spcPct val="150000"/>
              </a:lnSpc>
              <a:spcBef>
                <a:spcPts val="0"/>
              </a:spcBef>
              <a:spcAft>
                <a:spcPts val="0"/>
              </a:spcAft>
              <a:buSzPts val="2800"/>
              <a:buChar char="•"/>
            </a:pPr>
            <a:r>
              <a:rPr lang="en-US" err="1">
                <a:latin typeface="Arial"/>
                <a:ea typeface="Arial"/>
                <a:cs typeface="Arial"/>
                <a:sym typeface="Arial"/>
              </a:rPr>
              <a:t>Nhánh</a:t>
            </a:r>
            <a:r>
              <a:rPr lang="en-US">
                <a:latin typeface="Arial"/>
                <a:ea typeface="Arial"/>
                <a:cs typeface="Arial"/>
                <a:sym typeface="Arial"/>
              </a:rPr>
              <a:t> </a:t>
            </a:r>
            <a:r>
              <a:rPr lang="en-US" err="1">
                <a:latin typeface="Arial"/>
                <a:ea typeface="Arial"/>
                <a:cs typeface="Arial"/>
                <a:sym typeface="Arial"/>
              </a:rPr>
              <a:t>văn</a:t>
            </a:r>
            <a:r>
              <a:rPr lang="en-US">
                <a:latin typeface="Arial"/>
                <a:ea typeface="Arial"/>
                <a:cs typeface="Arial"/>
                <a:sym typeface="Arial"/>
              </a:rPr>
              <a:t> </a:t>
            </a:r>
            <a:r>
              <a:rPr lang="en-US" err="1">
                <a:latin typeface="Arial"/>
                <a:ea typeface="Arial"/>
                <a:cs typeface="Arial"/>
                <a:sym typeface="Arial"/>
              </a:rPr>
              <a:t>hóa</a:t>
            </a:r>
            <a:r>
              <a:rPr lang="en-US">
                <a:latin typeface="Arial"/>
                <a:ea typeface="Arial"/>
                <a:cs typeface="Arial"/>
                <a:sym typeface="Arial"/>
              </a:rPr>
              <a:t> </a:t>
            </a:r>
            <a:r>
              <a:rPr lang="en-US" err="1">
                <a:latin typeface="Arial"/>
                <a:ea typeface="Arial"/>
                <a:cs typeface="Arial"/>
                <a:sym typeface="Arial"/>
              </a:rPr>
              <a:t>dân</a:t>
            </a:r>
            <a:r>
              <a:rPr lang="en-US">
                <a:latin typeface="Arial"/>
                <a:ea typeface="Arial"/>
                <a:cs typeface="Arial"/>
                <a:sym typeface="Arial"/>
              </a:rPr>
              <a:t> </a:t>
            </a:r>
            <a:r>
              <a:rPr lang="en-US" err="1">
                <a:latin typeface="Arial"/>
                <a:ea typeface="Arial"/>
                <a:cs typeface="Arial"/>
                <a:sym typeface="Arial"/>
              </a:rPr>
              <a:t>tộc</a:t>
            </a:r>
            <a:endParaRPr>
              <a:latin typeface="Arial"/>
              <a:ea typeface="Arial"/>
              <a:cs typeface="Arial"/>
              <a:sym typeface="Arial"/>
            </a:endParaRPr>
          </a:p>
          <a:p>
            <a:pPr marL="457200" lvl="0" indent="-457200" algn="just" rtl="0">
              <a:lnSpc>
                <a:spcPct val="150000"/>
              </a:lnSpc>
              <a:spcBef>
                <a:spcPts val="1000"/>
              </a:spcBef>
              <a:spcAft>
                <a:spcPts val="0"/>
              </a:spcAft>
              <a:buSzPts val="2800"/>
              <a:buChar char="•"/>
            </a:pPr>
            <a:r>
              <a:rPr lang="en-US" err="1">
                <a:latin typeface="Arial"/>
                <a:ea typeface="Arial"/>
                <a:cs typeface="Arial"/>
                <a:sym typeface="Arial"/>
              </a:rPr>
              <a:t>Nhánh</a:t>
            </a:r>
            <a:r>
              <a:rPr lang="en-US">
                <a:latin typeface="Arial"/>
                <a:ea typeface="Arial"/>
                <a:cs typeface="Arial"/>
                <a:sym typeface="Arial"/>
              </a:rPr>
              <a:t> </a:t>
            </a:r>
            <a:r>
              <a:rPr lang="en-US" err="1">
                <a:latin typeface="Arial"/>
                <a:ea typeface="Arial"/>
                <a:cs typeface="Arial"/>
                <a:sym typeface="Arial"/>
              </a:rPr>
              <a:t>văn</a:t>
            </a:r>
            <a:r>
              <a:rPr lang="en-US">
                <a:latin typeface="Arial"/>
                <a:ea typeface="Arial"/>
                <a:cs typeface="Arial"/>
                <a:sym typeface="Arial"/>
              </a:rPr>
              <a:t> </a:t>
            </a:r>
            <a:r>
              <a:rPr lang="en-US" err="1">
                <a:latin typeface="Arial"/>
                <a:ea typeface="Arial"/>
                <a:cs typeface="Arial"/>
                <a:sym typeface="Arial"/>
              </a:rPr>
              <a:t>hóa</a:t>
            </a:r>
            <a:r>
              <a:rPr lang="en-US">
                <a:latin typeface="Arial"/>
                <a:ea typeface="Arial"/>
                <a:cs typeface="Arial"/>
                <a:sym typeface="Arial"/>
              </a:rPr>
              <a:t> </a:t>
            </a:r>
            <a:r>
              <a:rPr lang="en-US" err="1">
                <a:latin typeface="Arial"/>
                <a:ea typeface="Arial"/>
                <a:cs typeface="Arial"/>
                <a:sym typeface="Arial"/>
              </a:rPr>
              <a:t>khu</a:t>
            </a:r>
            <a:r>
              <a:rPr lang="en-US">
                <a:latin typeface="Arial"/>
                <a:ea typeface="Arial"/>
                <a:cs typeface="Arial"/>
                <a:sym typeface="Arial"/>
              </a:rPr>
              <a:t> </a:t>
            </a:r>
            <a:r>
              <a:rPr lang="en-US" err="1">
                <a:latin typeface="Arial"/>
                <a:ea typeface="Arial"/>
                <a:cs typeface="Arial"/>
                <a:sym typeface="Arial"/>
              </a:rPr>
              <a:t>vực</a:t>
            </a:r>
            <a:endParaRPr>
              <a:latin typeface="Arial"/>
              <a:ea typeface="Arial"/>
              <a:cs typeface="Arial"/>
              <a:sym typeface="Arial"/>
            </a:endParaRPr>
          </a:p>
          <a:p>
            <a:pPr marL="457200" lvl="0" indent="-457200" algn="just" rtl="0">
              <a:lnSpc>
                <a:spcPct val="150000"/>
              </a:lnSpc>
              <a:spcBef>
                <a:spcPts val="1000"/>
              </a:spcBef>
              <a:spcAft>
                <a:spcPts val="0"/>
              </a:spcAft>
              <a:buSzPts val="2800"/>
              <a:buChar char="•"/>
            </a:pPr>
            <a:r>
              <a:rPr lang="en-US" err="1">
                <a:latin typeface="Arial"/>
                <a:ea typeface="Arial"/>
                <a:cs typeface="Arial"/>
                <a:sym typeface="Arial"/>
              </a:rPr>
              <a:t>Nhánh</a:t>
            </a:r>
            <a:r>
              <a:rPr lang="en-US">
                <a:latin typeface="Arial"/>
                <a:ea typeface="Arial"/>
                <a:cs typeface="Arial"/>
                <a:sym typeface="Arial"/>
              </a:rPr>
              <a:t> </a:t>
            </a:r>
            <a:r>
              <a:rPr lang="en-US" err="1">
                <a:latin typeface="Arial"/>
                <a:ea typeface="Arial"/>
                <a:cs typeface="Arial"/>
                <a:sym typeface="Arial"/>
              </a:rPr>
              <a:t>văn</a:t>
            </a:r>
            <a:r>
              <a:rPr lang="en-US">
                <a:latin typeface="Arial"/>
                <a:ea typeface="Arial"/>
                <a:cs typeface="Arial"/>
                <a:sym typeface="Arial"/>
              </a:rPr>
              <a:t> </a:t>
            </a:r>
            <a:r>
              <a:rPr lang="en-US" err="1">
                <a:latin typeface="Arial"/>
                <a:ea typeface="Arial"/>
                <a:cs typeface="Arial"/>
                <a:sym typeface="Arial"/>
              </a:rPr>
              <a:t>hóa</a:t>
            </a:r>
            <a:r>
              <a:rPr lang="en-US">
                <a:latin typeface="Arial"/>
                <a:ea typeface="Arial"/>
                <a:cs typeface="Arial"/>
                <a:sym typeface="Arial"/>
              </a:rPr>
              <a:t> </a:t>
            </a:r>
            <a:r>
              <a:rPr lang="en-US" err="1">
                <a:latin typeface="Arial"/>
                <a:ea typeface="Arial"/>
                <a:cs typeface="Arial"/>
                <a:sym typeface="Arial"/>
              </a:rPr>
              <a:t>tuổi</a:t>
            </a:r>
            <a:r>
              <a:rPr lang="en-US">
                <a:latin typeface="Arial"/>
                <a:ea typeface="Arial"/>
                <a:cs typeface="Arial"/>
                <a:sym typeface="Arial"/>
              </a:rPr>
              <a:t> </a:t>
            </a:r>
            <a:r>
              <a:rPr lang="en-US" err="1">
                <a:latin typeface="Arial"/>
                <a:ea typeface="Arial"/>
                <a:cs typeface="Arial"/>
                <a:sym typeface="Arial"/>
              </a:rPr>
              <a:t>tác</a:t>
            </a:r>
            <a:endParaRPr>
              <a:latin typeface="Arial"/>
              <a:ea typeface="Arial"/>
              <a:cs typeface="Arial"/>
              <a:sym typeface="Arial"/>
            </a:endParaRPr>
          </a:p>
          <a:p>
            <a:pPr marL="457200" lvl="0" indent="-457200" algn="just" rtl="0">
              <a:lnSpc>
                <a:spcPct val="150000"/>
              </a:lnSpc>
              <a:spcBef>
                <a:spcPts val="1000"/>
              </a:spcBef>
              <a:spcAft>
                <a:spcPts val="0"/>
              </a:spcAft>
              <a:buSzPts val="2800"/>
              <a:buChar char="•"/>
            </a:pPr>
            <a:r>
              <a:rPr lang="en-US" err="1">
                <a:latin typeface="Arial"/>
                <a:ea typeface="Arial"/>
                <a:cs typeface="Arial"/>
                <a:sym typeface="Arial"/>
              </a:rPr>
              <a:t>Nhánh</a:t>
            </a:r>
            <a:r>
              <a:rPr lang="en-US">
                <a:latin typeface="Arial"/>
                <a:ea typeface="Arial"/>
                <a:cs typeface="Arial"/>
                <a:sym typeface="Arial"/>
              </a:rPr>
              <a:t> </a:t>
            </a:r>
            <a:r>
              <a:rPr lang="en-US" err="1">
                <a:latin typeface="Arial"/>
                <a:ea typeface="Arial"/>
                <a:cs typeface="Arial"/>
                <a:sym typeface="Arial"/>
              </a:rPr>
              <a:t>văn</a:t>
            </a:r>
            <a:r>
              <a:rPr lang="en-US">
                <a:latin typeface="Arial"/>
                <a:ea typeface="Arial"/>
                <a:cs typeface="Arial"/>
                <a:sym typeface="Arial"/>
              </a:rPr>
              <a:t> </a:t>
            </a:r>
            <a:r>
              <a:rPr lang="en-US" err="1">
                <a:latin typeface="Arial"/>
                <a:ea typeface="Arial"/>
                <a:cs typeface="Arial"/>
                <a:sym typeface="Arial"/>
              </a:rPr>
              <a:t>hóa</a:t>
            </a:r>
            <a:r>
              <a:rPr lang="en-US">
                <a:latin typeface="Arial"/>
                <a:ea typeface="Arial"/>
                <a:cs typeface="Arial"/>
                <a:sym typeface="Arial"/>
              </a:rPr>
              <a:t> </a:t>
            </a:r>
            <a:r>
              <a:rPr lang="en-US" err="1">
                <a:latin typeface="Arial"/>
                <a:ea typeface="Arial"/>
                <a:cs typeface="Arial"/>
                <a:sym typeface="Arial"/>
              </a:rPr>
              <a:t>giới</a:t>
            </a:r>
            <a:r>
              <a:rPr lang="en-US">
                <a:latin typeface="Arial"/>
                <a:ea typeface="Arial"/>
                <a:cs typeface="Arial"/>
                <a:sym typeface="Arial"/>
              </a:rPr>
              <a:t> </a:t>
            </a:r>
            <a:r>
              <a:rPr lang="en-US" err="1">
                <a:latin typeface="Arial"/>
                <a:ea typeface="Arial"/>
                <a:cs typeface="Arial"/>
                <a:sym typeface="Arial"/>
              </a:rPr>
              <a:t>tính</a:t>
            </a:r>
            <a:endParaRPr>
              <a:latin typeface="Arial"/>
              <a:ea typeface="Arial"/>
              <a:cs typeface="Arial"/>
              <a:sym typeface="Arial"/>
            </a:endParaRPr>
          </a:p>
          <a:p>
            <a:pPr marL="457200" lvl="0" indent="-457200" algn="just" rtl="0">
              <a:lnSpc>
                <a:spcPct val="150000"/>
              </a:lnSpc>
              <a:spcBef>
                <a:spcPts val="1000"/>
              </a:spcBef>
              <a:spcAft>
                <a:spcPts val="0"/>
              </a:spcAft>
              <a:buSzPts val="2800"/>
              <a:buChar char="•"/>
            </a:pPr>
            <a:r>
              <a:rPr lang="en-US">
                <a:latin typeface="Arial"/>
                <a:ea typeface="Arial"/>
                <a:cs typeface="Arial"/>
                <a:sym typeface="Arial"/>
              </a:rPr>
              <a: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83"/>
          <p:cNvSpPr txBox="1">
            <a:spLocks noGrp="1"/>
          </p:cNvSpPr>
          <p:nvPr>
            <p:ph type="title"/>
          </p:nvPr>
        </p:nvSpPr>
        <p:spPr>
          <a:xfrm>
            <a:off x="276224" y="373591"/>
            <a:ext cx="11077575" cy="1325563"/>
          </a:xfrm>
          <a:prstGeom prst="rect">
            <a:avLst/>
          </a:prstGeom>
          <a:noFill/>
          <a:ln>
            <a:noFill/>
          </a:ln>
        </p:spPr>
        <p:txBody>
          <a:bodyPr spcFirstLastPara="1" wrap="square" lIns="91425" tIns="45700" rIns="91425" bIns="45700" anchor="ctr" anchorCtr="0">
            <a:noAutofit/>
          </a:bodyPr>
          <a:lstStyle/>
          <a:p>
            <a:pPr marL="0" lvl="0" indent="0" algn="l" rtl="0">
              <a:lnSpc>
                <a:spcPct val="150000"/>
              </a:lnSpc>
              <a:spcBef>
                <a:spcPts val="0"/>
              </a:spcBef>
              <a:spcAft>
                <a:spcPts val="0"/>
              </a:spcAft>
              <a:buClr>
                <a:schemeClr val="dk1"/>
              </a:buClr>
              <a:buSzPts val="3200"/>
              <a:buFont typeface="Arial"/>
              <a:buNone/>
            </a:pPr>
            <a:r>
              <a:rPr lang="vi-VN" sz="2800" b="1">
                <a:latin typeface="Arial"/>
                <a:ea typeface="Arial"/>
                <a:cs typeface="Arial"/>
                <a:sym typeface="Arial"/>
              </a:rPr>
              <a:t>2.1.5 Ứng dụng nghiên cứu văn hóa và hoạt động Marketing</a:t>
            </a:r>
            <a:br>
              <a:rPr lang="vi-VN" sz="2800" b="1">
                <a:latin typeface="Arial"/>
                <a:ea typeface="Arial"/>
                <a:cs typeface="Arial"/>
                <a:sym typeface="Arial"/>
              </a:rPr>
            </a:br>
            <a:r>
              <a:rPr lang="en-US" sz="2800" b="1">
                <a:latin typeface="Arial"/>
                <a:ea typeface="Arial"/>
                <a:cs typeface="Arial"/>
                <a:sym typeface="Arial"/>
              </a:rPr>
              <a:t>2.</a:t>
            </a:r>
            <a:r>
              <a:rPr lang="vi-VN" sz="2800" b="1">
                <a:latin typeface="Arial"/>
                <a:ea typeface="Arial"/>
                <a:cs typeface="Arial"/>
                <a:sym typeface="Arial"/>
              </a:rPr>
              <a:t>1.</a:t>
            </a:r>
            <a:r>
              <a:rPr lang="en-US" sz="2800" b="1">
                <a:latin typeface="Arial"/>
                <a:ea typeface="Arial"/>
                <a:cs typeface="Arial"/>
                <a:sym typeface="Arial"/>
              </a:rPr>
              <a:t>5.1. Marketing </a:t>
            </a:r>
            <a:r>
              <a:rPr lang="en-US" sz="2800" b="1" err="1">
                <a:latin typeface="Arial"/>
                <a:ea typeface="Arial"/>
                <a:cs typeface="Arial"/>
                <a:sym typeface="Arial"/>
              </a:rPr>
              <a:t>thị</a:t>
            </a:r>
            <a:r>
              <a:rPr lang="en-US" sz="2800" b="1">
                <a:latin typeface="Arial"/>
                <a:ea typeface="Arial"/>
                <a:cs typeface="Arial"/>
                <a:sym typeface="Arial"/>
              </a:rPr>
              <a:t> </a:t>
            </a:r>
            <a:r>
              <a:rPr lang="en-US" sz="2800" b="1" err="1">
                <a:latin typeface="Arial"/>
                <a:ea typeface="Arial"/>
                <a:cs typeface="Arial"/>
                <a:sym typeface="Arial"/>
              </a:rPr>
              <a:t>trường</a:t>
            </a:r>
            <a:r>
              <a:rPr lang="en-US" sz="2800" b="1">
                <a:latin typeface="Arial"/>
                <a:ea typeface="Arial"/>
                <a:cs typeface="Arial"/>
                <a:sym typeface="Arial"/>
              </a:rPr>
              <a:t> </a:t>
            </a:r>
            <a:r>
              <a:rPr lang="en-US" sz="2800" b="1" err="1">
                <a:latin typeface="Arial"/>
                <a:ea typeface="Arial"/>
                <a:cs typeface="Arial"/>
                <a:sym typeface="Arial"/>
              </a:rPr>
              <a:t>quốc</a:t>
            </a:r>
            <a:r>
              <a:rPr lang="en-US" sz="2800" b="1">
                <a:latin typeface="Arial"/>
                <a:ea typeface="Arial"/>
                <a:cs typeface="Arial"/>
                <a:sym typeface="Arial"/>
              </a:rPr>
              <a:t> </a:t>
            </a:r>
            <a:r>
              <a:rPr lang="en-US" sz="2800" b="1" err="1">
                <a:latin typeface="Arial"/>
                <a:ea typeface="Arial"/>
                <a:cs typeface="Arial"/>
                <a:sym typeface="Arial"/>
              </a:rPr>
              <a:t>tế</a:t>
            </a:r>
            <a:endParaRPr sz="2800" b="1">
              <a:latin typeface="Arial"/>
              <a:ea typeface="Arial"/>
              <a:cs typeface="Arial"/>
              <a:sym typeface="Arial"/>
            </a:endParaRPr>
          </a:p>
        </p:txBody>
      </p:sp>
      <p:sp>
        <p:nvSpPr>
          <p:cNvPr id="635" name="Google Shape;635;p83"/>
          <p:cNvSpPr txBox="1">
            <a:spLocks noGrp="1"/>
          </p:cNvSpPr>
          <p:nvPr>
            <p:ph type="body" idx="1"/>
          </p:nvPr>
        </p:nvSpPr>
        <p:spPr>
          <a:xfrm>
            <a:off x="838200" y="1796442"/>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150000"/>
              </a:lnSpc>
              <a:spcBef>
                <a:spcPts val="0"/>
              </a:spcBef>
              <a:spcAft>
                <a:spcPts val="0"/>
              </a:spcAft>
              <a:buClr>
                <a:schemeClr val="dk1"/>
              </a:buClr>
              <a:buSzPts val="2800"/>
              <a:buFont typeface="Noto Sans Symbols"/>
              <a:buChar char="❖"/>
            </a:pPr>
            <a:r>
              <a:rPr lang="en-US">
                <a:latin typeface="Arial"/>
                <a:ea typeface="Arial"/>
                <a:cs typeface="Arial"/>
                <a:sym typeface="Arial"/>
              </a:rPr>
              <a:t> Sự khác biệt văn hóa tạo những thách thức lớn. </a:t>
            </a:r>
            <a:endParaRPr/>
          </a:p>
          <a:p>
            <a:pPr marL="228600" lvl="0" indent="-228600" algn="just" rtl="0">
              <a:lnSpc>
                <a:spcPct val="150000"/>
              </a:lnSpc>
              <a:spcBef>
                <a:spcPts val="1000"/>
              </a:spcBef>
              <a:spcAft>
                <a:spcPts val="0"/>
              </a:spcAft>
              <a:buClr>
                <a:schemeClr val="dk1"/>
              </a:buClr>
              <a:buSzPts val="2800"/>
              <a:buFont typeface="Noto Sans Symbols"/>
              <a:buChar char="❖"/>
            </a:pPr>
            <a:r>
              <a:rPr lang="en-US">
                <a:latin typeface="Arial"/>
                <a:ea typeface="Arial"/>
                <a:cs typeface="Arial"/>
                <a:sym typeface="Arial"/>
              </a:rPr>
              <a:t> Các phương pháp giải quyết sự khác biệt văn hóa:</a:t>
            </a:r>
            <a:endParaRPr>
              <a:latin typeface="Arial"/>
              <a:ea typeface="Arial"/>
              <a:cs typeface="Arial"/>
              <a:sym typeface="Arial"/>
            </a:endParaRPr>
          </a:p>
          <a:p>
            <a:pPr marL="398463" lvl="0" indent="-177800" algn="just" rtl="0">
              <a:lnSpc>
                <a:spcPct val="150000"/>
              </a:lnSpc>
              <a:spcBef>
                <a:spcPts val="1000"/>
              </a:spcBef>
              <a:spcAft>
                <a:spcPts val="0"/>
              </a:spcAft>
              <a:buClr>
                <a:schemeClr val="dk1"/>
              </a:buClr>
              <a:buSzPts val="2800"/>
              <a:buFont typeface="Noto Sans Symbols"/>
              <a:buChar char="✔"/>
            </a:pPr>
            <a:r>
              <a:rPr lang="en-US">
                <a:latin typeface="Arial"/>
                <a:ea typeface="Arial"/>
                <a:cs typeface="Arial"/>
                <a:sym typeface="Arial"/>
              </a:rPr>
              <a:t> Chiến lược marketing thích hợp với đặc điểm của mỗi thị trường.</a:t>
            </a:r>
            <a:endParaRPr/>
          </a:p>
          <a:p>
            <a:pPr marL="398463" lvl="0" indent="-177800" algn="just" rtl="0">
              <a:lnSpc>
                <a:spcPct val="150000"/>
              </a:lnSpc>
              <a:spcBef>
                <a:spcPts val="1000"/>
              </a:spcBef>
              <a:spcAft>
                <a:spcPts val="0"/>
              </a:spcAft>
              <a:buClr>
                <a:schemeClr val="dk1"/>
              </a:buClr>
              <a:buSzPts val="2800"/>
              <a:buFont typeface="Noto Sans Symbols"/>
              <a:buChar char="✔"/>
            </a:pPr>
            <a:r>
              <a:rPr lang="en-US">
                <a:latin typeface="Arial"/>
                <a:ea typeface="Arial"/>
                <a:cs typeface="Arial"/>
                <a:sym typeface="Arial"/>
              </a:rPr>
              <a:t> Tiêu chuẩn hóa chiến lược marketing qua nhiều thị trường.</a:t>
            </a:r>
            <a:endParaRPr/>
          </a:p>
          <a:p>
            <a:pPr marL="398463" lvl="0" indent="-177800" algn="just" rtl="0">
              <a:lnSpc>
                <a:spcPct val="150000"/>
              </a:lnSpc>
              <a:spcBef>
                <a:spcPts val="1000"/>
              </a:spcBef>
              <a:spcAft>
                <a:spcPts val="0"/>
              </a:spcAft>
              <a:buClr>
                <a:schemeClr val="dk1"/>
              </a:buClr>
              <a:buSzPts val="2800"/>
              <a:buFont typeface="Noto Sans Symbols"/>
              <a:buChar char="✔"/>
            </a:pPr>
            <a:r>
              <a:rPr lang="en-US">
                <a:latin typeface="Arial"/>
                <a:ea typeface="Arial"/>
                <a:cs typeface="Arial"/>
                <a:sym typeface="Arial"/>
              </a:rPr>
              <a:t> Chiến lược marketing biến đổi văn hóa.</a:t>
            </a:r>
            <a:endParaRPr>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519;p64"/>
          <p:cNvSpPr txBox="1">
            <a:spLocks noGrp="1"/>
          </p:cNvSpPr>
          <p:nvPr>
            <p:ph type="subTitle" idx="1"/>
          </p:nvPr>
        </p:nvSpPr>
        <p:spPr>
          <a:xfrm>
            <a:off x="1214543" y="2127251"/>
            <a:ext cx="10270067" cy="2048933"/>
          </a:xfrm>
          <a:prstGeom prst="rect">
            <a:avLst/>
          </a:prstGeom>
          <a:noFill/>
          <a:ln>
            <a:noFill/>
          </a:ln>
        </p:spPr>
        <p:txBody>
          <a:bodyPr spcFirstLastPara="1" wrap="square" lIns="91425" tIns="45700" rIns="91425" bIns="45700" anchor="b" anchorCtr="0">
            <a:normAutofit fontScale="97500"/>
          </a:bodyPr>
          <a:lstStyle/>
          <a:p>
            <a:pPr marL="0" marR="0" lvl="0" indent="0" rtl="0">
              <a:lnSpc>
                <a:spcPct val="138888"/>
              </a:lnSpc>
              <a:spcBef>
                <a:spcPts val="0"/>
              </a:spcBef>
              <a:spcAft>
                <a:spcPts val="0"/>
              </a:spcAft>
              <a:buClr>
                <a:schemeClr val="dk1"/>
              </a:buClr>
              <a:buSzPts val="3600"/>
              <a:buFont typeface="Arial"/>
              <a:buNone/>
            </a:pPr>
            <a:r>
              <a:rPr lang="en-US" sz="3600" b="1">
                <a:latin typeface="Arial"/>
                <a:ea typeface="Arial"/>
                <a:cs typeface="Arial"/>
                <a:sym typeface="Arial"/>
              </a:rPr>
              <a:t>2.</a:t>
            </a:r>
            <a:r>
              <a:rPr lang="vi-VN" sz="3600" b="1">
                <a:latin typeface="Arial"/>
                <a:ea typeface="Arial"/>
                <a:cs typeface="Arial"/>
                <a:sym typeface="Arial"/>
              </a:rPr>
              <a:t>2</a:t>
            </a:r>
            <a:r>
              <a:rPr lang="en-US" sz="3600" b="1">
                <a:latin typeface="Arial"/>
                <a:ea typeface="Arial"/>
                <a:cs typeface="Arial"/>
                <a:sym typeface="Arial"/>
              </a:rPr>
              <a:t>. </a:t>
            </a:r>
            <a:r>
              <a:rPr lang="en-US" sz="3600" b="1"/>
              <a:t>ẢNH HƯỞNG CỦA YẾU TỐ</a:t>
            </a:r>
            <a:r>
              <a:rPr lang="en-US" sz="3600" b="1">
                <a:latin typeface="Arial"/>
                <a:ea typeface="Arial"/>
                <a:cs typeface="Arial"/>
                <a:sym typeface="Arial"/>
              </a:rPr>
              <a:t> </a:t>
            </a:r>
            <a:r>
              <a:rPr lang="vi-VN" sz="3600" b="1">
                <a:latin typeface="Arial"/>
                <a:ea typeface="Arial"/>
                <a:cs typeface="Arial"/>
                <a:sym typeface="Arial"/>
              </a:rPr>
              <a:t>XÃ HỘI</a:t>
            </a:r>
            <a:r>
              <a:rPr lang="en-US" sz="3600" b="1">
                <a:latin typeface="Arial"/>
                <a:ea typeface="Arial"/>
                <a:cs typeface="Arial"/>
                <a:sym typeface="Arial"/>
              </a:rPr>
              <a:t> ĐẾN </a:t>
            </a:r>
            <a:r>
              <a:rPr lang="vi-VN" sz="3600" b="1">
                <a:latin typeface="Arial"/>
                <a:ea typeface="Arial"/>
                <a:cs typeface="Arial"/>
                <a:sym typeface="Arial"/>
              </a:rPr>
              <a:t>KHÁCH HÀNG</a:t>
            </a:r>
            <a:r>
              <a:rPr lang="en-US" sz="3600" b="1">
                <a:latin typeface="Arial"/>
                <a:ea typeface="Arial"/>
                <a:cs typeface="Arial"/>
                <a:sym typeface="Arial"/>
              </a:rPr>
              <a:t> CÁ NHÂN</a:t>
            </a:r>
            <a:endParaRPr sz="3600" b="1">
              <a:latin typeface="Arial"/>
              <a:ea typeface="Arial"/>
              <a:cs typeface="Arial"/>
              <a:sym typeface="Arial"/>
            </a:endParaRPr>
          </a:p>
        </p:txBody>
      </p:sp>
    </p:spTree>
    <p:extLst>
      <p:ext uri="{BB962C8B-B14F-4D97-AF65-F5344CB8AC3E}">
        <p14:creationId xmlns:p14="http://schemas.microsoft.com/office/powerpoint/2010/main" val="1874621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90"/>
          <p:cNvSpPr txBox="1">
            <a:spLocks noGrp="1"/>
          </p:cNvSpPr>
          <p:nvPr>
            <p:ph type="title"/>
          </p:nvPr>
        </p:nvSpPr>
        <p:spPr>
          <a:xfrm>
            <a:off x="633920" y="219210"/>
            <a:ext cx="7984787" cy="7243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vi-VN" sz="3200" b="1"/>
              <a:t>2</a:t>
            </a:r>
            <a:r>
              <a:rPr lang="en-US" sz="3200" b="1">
                <a:latin typeface="Arial"/>
                <a:ea typeface="Arial"/>
                <a:cs typeface="Arial"/>
                <a:sym typeface="Arial"/>
              </a:rPr>
              <a:t>.</a:t>
            </a:r>
            <a:r>
              <a:rPr lang="vi-VN" sz="3200" b="1">
                <a:latin typeface="Arial"/>
                <a:ea typeface="Arial"/>
                <a:cs typeface="Arial"/>
                <a:sym typeface="Arial"/>
              </a:rPr>
              <a:t>2</a:t>
            </a:r>
            <a:r>
              <a:rPr lang="en-US" sz="3200" b="1">
                <a:latin typeface="Arial"/>
                <a:ea typeface="Arial"/>
                <a:cs typeface="Arial"/>
                <a:sym typeface="Arial"/>
              </a:rPr>
              <a:t>.1. </a:t>
            </a:r>
            <a:r>
              <a:rPr lang="en-US" sz="3200" b="1" err="1">
                <a:latin typeface="Arial"/>
                <a:ea typeface="Arial"/>
                <a:cs typeface="Arial"/>
                <a:sym typeface="Arial"/>
              </a:rPr>
              <a:t>Khái</a:t>
            </a:r>
            <a:r>
              <a:rPr lang="en-US" sz="3200" b="1">
                <a:latin typeface="Arial"/>
                <a:ea typeface="Arial"/>
                <a:cs typeface="Arial"/>
                <a:sym typeface="Arial"/>
              </a:rPr>
              <a:t> </a:t>
            </a:r>
            <a:r>
              <a:rPr lang="en-US" sz="3200" b="1" err="1">
                <a:latin typeface="Arial"/>
                <a:ea typeface="Arial"/>
                <a:cs typeface="Arial"/>
                <a:sym typeface="Arial"/>
              </a:rPr>
              <a:t>niệm</a:t>
            </a:r>
            <a:r>
              <a:rPr lang="en-US" sz="3200" b="1">
                <a:latin typeface="Arial"/>
                <a:ea typeface="Arial"/>
                <a:cs typeface="Arial"/>
                <a:sym typeface="Arial"/>
              </a:rPr>
              <a:t> </a:t>
            </a:r>
            <a:r>
              <a:rPr lang="en-US" sz="3200" b="1" err="1">
                <a:latin typeface="Arial"/>
                <a:ea typeface="Arial"/>
                <a:cs typeface="Arial"/>
                <a:sym typeface="Arial"/>
              </a:rPr>
              <a:t>nhóm</a:t>
            </a:r>
            <a:r>
              <a:rPr lang="en-US" sz="3200" b="1">
                <a:latin typeface="Arial"/>
                <a:ea typeface="Arial"/>
                <a:cs typeface="Arial"/>
                <a:sym typeface="Arial"/>
              </a:rPr>
              <a:t> hay </a:t>
            </a:r>
            <a:r>
              <a:rPr lang="en-US" sz="3200" b="1" err="1">
                <a:latin typeface="Arial"/>
                <a:ea typeface="Arial"/>
                <a:cs typeface="Arial"/>
                <a:sym typeface="Arial"/>
              </a:rPr>
              <a:t>nhóm</a:t>
            </a:r>
            <a:r>
              <a:rPr lang="en-US" sz="3200" b="1">
                <a:latin typeface="Arial"/>
                <a:ea typeface="Arial"/>
                <a:cs typeface="Arial"/>
                <a:sym typeface="Arial"/>
              </a:rPr>
              <a:t> </a:t>
            </a:r>
            <a:r>
              <a:rPr lang="en-US" sz="3200" b="1" err="1">
                <a:latin typeface="Arial"/>
                <a:ea typeface="Arial"/>
                <a:cs typeface="Arial"/>
                <a:sym typeface="Arial"/>
              </a:rPr>
              <a:t>xã</a:t>
            </a:r>
            <a:r>
              <a:rPr lang="en-US" sz="3200" b="1">
                <a:latin typeface="Arial"/>
                <a:ea typeface="Arial"/>
                <a:cs typeface="Arial"/>
                <a:sym typeface="Arial"/>
              </a:rPr>
              <a:t> </a:t>
            </a:r>
            <a:r>
              <a:rPr lang="en-US" sz="3200" b="1" err="1">
                <a:latin typeface="Arial"/>
                <a:ea typeface="Arial"/>
                <a:cs typeface="Arial"/>
                <a:sym typeface="Arial"/>
              </a:rPr>
              <a:t>hội</a:t>
            </a:r>
            <a:endParaRPr sz="3200" b="1">
              <a:latin typeface="Arial"/>
              <a:ea typeface="Arial"/>
              <a:cs typeface="Arial"/>
              <a:sym typeface="Arial"/>
            </a:endParaRPr>
          </a:p>
        </p:txBody>
      </p:sp>
      <p:sp>
        <p:nvSpPr>
          <p:cNvPr id="675" name="Google Shape;675;p90"/>
          <p:cNvSpPr txBox="1">
            <a:spLocks noGrp="1"/>
          </p:cNvSpPr>
          <p:nvPr>
            <p:ph type="body" idx="1"/>
          </p:nvPr>
        </p:nvSpPr>
        <p:spPr>
          <a:xfrm>
            <a:off x="2033081" y="1236381"/>
            <a:ext cx="9456906" cy="4351338"/>
          </a:xfrm>
          <a:prstGeom prst="rect">
            <a:avLst/>
          </a:prstGeom>
          <a:noFill/>
          <a:ln>
            <a:noFill/>
          </a:ln>
        </p:spPr>
        <p:txBody>
          <a:bodyPr spcFirstLastPara="1" wrap="square" lIns="91425" tIns="45700" rIns="91425" bIns="45700" anchor="t" anchorCtr="0">
            <a:noAutofit/>
          </a:bodyPr>
          <a:lstStyle/>
          <a:p>
            <a:pPr marL="739775" lvl="0" indent="-511175" algn="just" rtl="0">
              <a:lnSpc>
                <a:spcPct val="150000"/>
              </a:lnSpc>
              <a:spcBef>
                <a:spcPts val="0"/>
              </a:spcBef>
              <a:spcAft>
                <a:spcPts val="0"/>
              </a:spcAft>
              <a:buClr>
                <a:schemeClr val="dk1"/>
              </a:buClr>
              <a:buSzPts val="2800"/>
              <a:buFont typeface="Noto Sans Symbols"/>
              <a:buChar char="❖"/>
            </a:pPr>
            <a:r>
              <a:rPr lang="en-US">
                <a:latin typeface="Arial"/>
                <a:ea typeface="Arial"/>
                <a:cs typeface="Arial"/>
                <a:sym typeface="Arial"/>
              </a:rPr>
              <a:t> Theo </a:t>
            </a:r>
            <a:r>
              <a:rPr lang="en-US" err="1">
                <a:latin typeface="Arial"/>
                <a:ea typeface="Arial"/>
                <a:cs typeface="Arial"/>
                <a:sym typeface="Arial"/>
              </a:rPr>
              <a:t>từ</a:t>
            </a:r>
            <a:r>
              <a:rPr lang="en-US">
                <a:latin typeface="Arial"/>
                <a:ea typeface="Arial"/>
                <a:cs typeface="Arial"/>
                <a:sym typeface="Arial"/>
              </a:rPr>
              <a:t> </a:t>
            </a:r>
            <a:r>
              <a:rPr lang="en-US" err="1">
                <a:latin typeface="Arial"/>
                <a:ea typeface="Arial"/>
                <a:cs typeface="Arial"/>
                <a:sym typeface="Arial"/>
              </a:rPr>
              <a:t>điển</a:t>
            </a:r>
            <a:r>
              <a:rPr lang="en-US">
                <a:latin typeface="Arial"/>
                <a:ea typeface="Arial"/>
                <a:cs typeface="Arial"/>
                <a:sym typeface="Arial"/>
              </a:rPr>
              <a:t> </a:t>
            </a:r>
            <a:r>
              <a:rPr lang="en-US" err="1">
                <a:latin typeface="Arial"/>
                <a:ea typeface="Arial"/>
                <a:cs typeface="Arial"/>
                <a:sym typeface="Arial"/>
              </a:rPr>
              <a:t>Tiếng</a:t>
            </a:r>
            <a:r>
              <a:rPr lang="en-US">
                <a:latin typeface="Arial"/>
                <a:ea typeface="Arial"/>
                <a:cs typeface="Arial"/>
                <a:sym typeface="Arial"/>
              </a:rPr>
              <a:t> </a:t>
            </a:r>
            <a:r>
              <a:rPr lang="en-US" err="1">
                <a:latin typeface="Arial"/>
                <a:ea typeface="Arial"/>
                <a:cs typeface="Arial"/>
                <a:sym typeface="Arial"/>
              </a:rPr>
              <a:t>Việt</a:t>
            </a:r>
            <a:r>
              <a:rPr lang="en-US">
                <a:latin typeface="Arial"/>
                <a:ea typeface="Arial"/>
                <a:cs typeface="Arial"/>
                <a:sym typeface="Arial"/>
              </a:rPr>
              <a:t>: </a:t>
            </a:r>
            <a:r>
              <a:rPr lang="en-US" err="1">
                <a:latin typeface="Arial"/>
                <a:ea typeface="Arial"/>
                <a:cs typeface="Arial"/>
                <a:sym typeface="Arial"/>
              </a:rPr>
              <a:t>Nhóm</a:t>
            </a:r>
            <a:r>
              <a:rPr lang="en-US">
                <a:latin typeface="Arial"/>
                <a:ea typeface="Arial"/>
                <a:cs typeface="Arial"/>
                <a:sym typeface="Arial"/>
              </a:rPr>
              <a:t> </a:t>
            </a:r>
            <a:r>
              <a:rPr lang="en-US" err="1">
                <a:latin typeface="Arial"/>
                <a:ea typeface="Arial"/>
                <a:cs typeface="Arial"/>
                <a:sym typeface="Arial"/>
              </a:rPr>
              <a:t>là</a:t>
            </a:r>
            <a:r>
              <a:rPr lang="en-US">
                <a:latin typeface="Arial"/>
                <a:ea typeface="Arial"/>
                <a:cs typeface="Arial"/>
                <a:sym typeface="Arial"/>
              </a:rPr>
              <a:t> </a:t>
            </a:r>
            <a:r>
              <a:rPr lang="en-US" err="1">
                <a:latin typeface="Arial"/>
                <a:ea typeface="Arial"/>
                <a:cs typeface="Arial"/>
                <a:sym typeface="Arial"/>
              </a:rPr>
              <a:t>tập</a:t>
            </a:r>
            <a:r>
              <a:rPr lang="en-US">
                <a:latin typeface="Arial"/>
                <a:ea typeface="Arial"/>
                <a:cs typeface="Arial"/>
                <a:sym typeface="Arial"/>
              </a:rPr>
              <a:t> </a:t>
            </a:r>
            <a:r>
              <a:rPr lang="en-US" err="1">
                <a:latin typeface="Arial"/>
                <a:ea typeface="Arial"/>
                <a:cs typeface="Arial"/>
                <a:sym typeface="Arial"/>
              </a:rPr>
              <a:t>hợp</a:t>
            </a:r>
            <a:r>
              <a:rPr lang="en-US">
                <a:latin typeface="Arial"/>
                <a:ea typeface="Arial"/>
                <a:cs typeface="Arial"/>
                <a:sym typeface="Arial"/>
              </a:rPr>
              <a:t>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số</a:t>
            </a:r>
            <a:r>
              <a:rPr lang="en-US">
                <a:latin typeface="Arial"/>
                <a:ea typeface="Arial"/>
                <a:cs typeface="Arial"/>
                <a:sym typeface="Arial"/>
              </a:rPr>
              <a:t> </a:t>
            </a:r>
            <a:r>
              <a:rPr lang="en-US" err="1">
                <a:latin typeface="Arial"/>
                <a:ea typeface="Arial"/>
                <a:cs typeface="Arial"/>
                <a:sym typeface="Arial"/>
              </a:rPr>
              <a:t>ít</a:t>
            </a:r>
            <a:r>
              <a:rPr lang="en-US">
                <a:latin typeface="Arial"/>
                <a:ea typeface="Arial"/>
                <a:cs typeface="Arial"/>
                <a:sym typeface="Arial"/>
              </a:rPr>
              <a:t> </a:t>
            </a:r>
            <a:r>
              <a:rPr lang="en-US" err="1">
                <a:latin typeface="Arial"/>
                <a:ea typeface="Arial"/>
                <a:cs typeface="Arial"/>
                <a:sym typeface="Arial"/>
              </a:rPr>
              <a:t>người</a:t>
            </a:r>
            <a:r>
              <a:rPr lang="en-US">
                <a:latin typeface="Arial"/>
                <a:ea typeface="Arial"/>
                <a:cs typeface="Arial"/>
                <a:sym typeface="Arial"/>
              </a:rPr>
              <a:t> </a:t>
            </a:r>
            <a:r>
              <a:rPr lang="en-US" err="1">
                <a:latin typeface="Arial"/>
                <a:ea typeface="Arial"/>
                <a:cs typeface="Arial"/>
                <a:sym typeface="Arial"/>
              </a:rPr>
              <a:t>hoặc</a:t>
            </a:r>
            <a:r>
              <a:rPr lang="en-US">
                <a:latin typeface="Arial"/>
                <a:ea typeface="Arial"/>
                <a:cs typeface="Arial"/>
                <a:sym typeface="Arial"/>
              </a:rPr>
              <a:t> </a:t>
            </a:r>
            <a:r>
              <a:rPr lang="en-US" err="1">
                <a:latin typeface="Arial"/>
                <a:ea typeface="Arial"/>
                <a:cs typeface="Arial"/>
                <a:sym typeface="Arial"/>
              </a:rPr>
              <a:t>sự</a:t>
            </a:r>
            <a:r>
              <a:rPr lang="en-US">
                <a:latin typeface="Arial"/>
                <a:ea typeface="Arial"/>
                <a:cs typeface="Arial"/>
                <a:sym typeface="Arial"/>
              </a:rPr>
              <a:t> </a:t>
            </a:r>
            <a:r>
              <a:rPr lang="en-US" err="1">
                <a:latin typeface="Arial"/>
                <a:ea typeface="Arial"/>
                <a:cs typeface="Arial"/>
                <a:sym typeface="Arial"/>
              </a:rPr>
              <a:t>vật</a:t>
            </a:r>
            <a:r>
              <a:rPr lang="en-US">
                <a:latin typeface="Arial"/>
                <a:ea typeface="Arial"/>
                <a:cs typeface="Arial"/>
                <a:sym typeface="Arial"/>
              </a:rPr>
              <a:t> </a:t>
            </a:r>
            <a:r>
              <a:rPr lang="en-US" err="1">
                <a:latin typeface="Arial"/>
                <a:ea typeface="Arial"/>
                <a:cs typeface="Arial"/>
                <a:sym typeface="Arial"/>
              </a:rPr>
              <a:t>được</a:t>
            </a:r>
            <a:r>
              <a:rPr lang="en-US">
                <a:latin typeface="Arial"/>
                <a:ea typeface="Arial"/>
                <a:cs typeface="Arial"/>
                <a:sym typeface="Arial"/>
              </a:rPr>
              <a:t> </a:t>
            </a:r>
            <a:r>
              <a:rPr lang="en-US" err="1">
                <a:latin typeface="Arial"/>
                <a:ea typeface="Arial"/>
                <a:cs typeface="Arial"/>
                <a:sym typeface="Arial"/>
              </a:rPr>
              <a:t>hình</a:t>
            </a:r>
            <a:r>
              <a:rPr lang="en-US">
                <a:latin typeface="Arial"/>
                <a:ea typeface="Arial"/>
                <a:cs typeface="Arial"/>
                <a:sym typeface="Arial"/>
              </a:rPr>
              <a:t> </a:t>
            </a:r>
            <a:r>
              <a:rPr lang="en-US" err="1">
                <a:latin typeface="Arial"/>
                <a:ea typeface="Arial"/>
                <a:cs typeface="Arial"/>
                <a:sym typeface="Arial"/>
              </a:rPr>
              <a:t>thành</a:t>
            </a:r>
            <a:r>
              <a:rPr lang="en-US">
                <a:latin typeface="Arial"/>
                <a:ea typeface="Arial"/>
                <a:cs typeface="Arial"/>
                <a:sym typeface="Arial"/>
              </a:rPr>
              <a:t> </a:t>
            </a:r>
            <a:r>
              <a:rPr lang="en-US" err="1">
                <a:latin typeface="Arial"/>
                <a:ea typeface="Arial"/>
                <a:cs typeface="Arial"/>
                <a:sym typeface="Arial"/>
              </a:rPr>
              <a:t>theo</a:t>
            </a:r>
            <a:r>
              <a:rPr lang="en-US">
                <a:latin typeface="Arial"/>
                <a:ea typeface="Arial"/>
                <a:cs typeface="Arial"/>
                <a:sym typeface="Arial"/>
              </a:rPr>
              <a:t> </a:t>
            </a:r>
            <a:r>
              <a:rPr lang="en-US" err="1">
                <a:latin typeface="Arial"/>
                <a:ea typeface="Arial"/>
                <a:cs typeface="Arial"/>
                <a:sym typeface="Arial"/>
              </a:rPr>
              <a:t>những</a:t>
            </a:r>
            <a:r>
              <a:rPr lang="en-US">
                <a:latin typeface="Arial"/>
                <a:ea typeface="Arial"/>
                <a:cs typeface="Arial"/>
                <a:sym typeface="Arial"/>
              </a:rPr>
              <a:t> </a:t>
            </a:r>
            <a:r>
              <a:rPr lang="en-US" err="1">
                <a:latin typeface="Arial"/>
                <a:ea typeface="Arial"/>
                <a:cs typeface="Arial"/>
                <a:sym typeface="Arial"/>
              </a:rPr>
              <a:t>nguyên</a:t>
            </a:r>
            <a:r>
              <a:rPr lang="en-US">
                <a:latin typeface="Arial"/>
                <a:ea typeface="Arial"/>
                <a:cs typeface="Arial"/>
                <a:sym typeface="Arial"/>
              </a:rPr>
              <a:t> </a:t>
            </a:r>
            <a:r>
              <a:rPr lang="en-US" err="1">
                <a:latin typeface="Arial"/>
                <a:ea typeface="Arial"/>
                <a:cs typeface="Arial"/>
                <a:sym typeface="Arial"/>
              </a:rPr>
              <a:t>tắc</a:t>
            </a:r>
            <a:r>
              <a:rPr lang="en-US">
                <a:latin typeface="Arial"/>
                <a:ea typeface="Arial"/>
                <a:cs typeface="Arial"/>
                <a:sym typeface="Arial"/>
              </a:rPr>
              <a:t> </a:t>
            </a:r>
            <a:r>
              <a:rPr lang="en-US" err="1">
                <a:latin typeface="Arial"/>
                <a:ea typeface="Arial"/>
                <a:cs typeface="Arial"/>
                <a:sym typeface="Arial"/>
              </a:rPr>
              <a:t>nhất</a:t>
            </a:r>
            <a:r>
              <a:rPr lang="en-US">
                <a:latin typeface="Arial"/>
                <a:ea typeface="Arial"/>
                <a:cs typeface="Arial"/>
                <a:sym typeface="Arial"/>
              </a:rPr>
              <a:t> </a:t>
            </a:r>
            <a:r>
              <a:rPr lang="en-US" err="1">
                <a:latin typeface="Arial"/>
                <a:ea typeface="Arial"/>
                <a:cs typeface="Arial"/>
                <a:sym typeface="Arial"/>
              </a:rPr>
              <a:t>định</a:t>
            </a:r>
            <a:r>
              <a:rPr lang="en-US">
                <a:latin typeface="Arial"/>
                <a:ea typeface="Arial"/>
                <a:cs typeface="Arial"/>
                <a:sym typeface="Arial"/>
              </a:rPr>
              <a:t>.</a:t>
            </a:r>
            <a:endParaRPr/>
          </a:p>
          <a:p>
            <a:pPr marL="739775" lvl="0" indent="-511175" algn="just" rtl="0">
              <a:lnSpc>
                <a:spcPct val="150000"/>
              </a:lnSpc>
              <a:spcBef>
                <a:spcPts val="0"/>
              </a:spcBef>
              <a:spcAft>
                <a:spcPts val="0"/>
              </a:spcAft>
              <a:buClr>
                <a:schemeClr val="dk1"/>
              </a:buClr>
              <a:buSzPts val="2800"/>
              <a:buFont typeface="Noto Sans Symbols"/>
              <a:buChar char="❖"/>
            </a:pPr>
            <a:r>
              <a:rPr lang="en-US" err="1">
                <a:latin typeface="Arial"/>
                <a:ea typeface="Arial"/>
                <a:cs typeface="Arial"/>
                <a:sym typeface="Arial"/>
              </a:rPr>
              <a:t>Nhóm</a:t>
            </a:r>
            <a:r>
              <a:rPr lang="en-US">
                <a:latin typeface="Arial"/>
                <a:ea typeface="Arial"/>
                <a:cs typeface="Arial"/>
                <a:sym typeface="Arial"/>
              </a:rPr>
              <a:t>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là</a:t>
            </a:r>
            <a:r>
              <a:rPr lang="en-US">
                <a:latin typeface="Arial"/>
                <a:ea typeface="Arial"/>
                <a:cs typeface="Arial"/>
                <a:sym typeface="Arial"/>
              </a:rPr>
              <a:t>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tập</a:t>
            </a:r>
            <a:r>
              <a:rPr lang="en-US">
                <a:latin typeface="Arial"/>
                <a:ea typeface="Arial"/>
                <a:cs typeface="Arial"/>
                <a:sym typeface="Arial"/>
              </a:rPr>
              <a:t> </a:t>
            </a:r>
            <a:r>
              <a:rPr lang="en-US" err="1">
                <a:latin typeface="Arial"/>
                <a:ea typeface="Arial"/>
                <a:cs typeface="Arial"/>
                <a:sym typeface="Arial"/>
              </a:rPr>
              <a:t>thể</a:t>
            </a:r>
            <a:r>
              <a:rPr lang="en-US">
                <a:latin typeface="Arial"/>
                <a:ea typeface="Arial"/>
                <a:cs typeface="Arial"/>
                <a:sym typeface="Arial"/>
              </a:rPr>
              <a:t> </a:t>
            </a:r>
            <a:r>
              <a:rPr lang="en-US" err="1">
                <a:latin typeface="Arial"/>
                <a:ea typeface="Arial"/>
                <a:cs typeface="Arial"/>
                <a:sym typeface="Arial"/>
              </a:rPr>
              <a:t>gồm</a:t>
            </a:r>
            <a:r>
              <a:rPr lang="en-US">
                <a:latin typeface="Arial"/>
                <a:ea typeface="Arial"/>
                <a:cs typeface="Arial"/>
                <a:sym typeface="Arial"/>
              </a:rPr>
              <a:t> </a:t>
            </a:r>
            <a:r>
              <a:rPr lang="en-US" err="1">
                <a:latin typeface="Arial"/>
                <a:ea typeface="Arial"/>
                <a:cs typeface="Arial"/>
                <a:sym typeface="Arial"/>
              </a:rPr>
              <a:t>hai</a:t>
            </a:r>
            <a:r>
              <a:rPr lang="en-US">
                <a:latin typeface="Arial"/>
                <a:ea typeface="Arial"/>
                <a:cs typeface="Arial"/>
                <a:sym typeface="Arial"/>
              </a:rPr>
              <a:t> hay </a:t>
            </a:r>
            <a:r>
              <a:rPr lang="en-US" err="1">
                <a:latin typeface="Arial"/>
                <a:ea typeface="Arial"/>
                <a:cs typeface="Arial"/>
                <a:sym typeface="Arial"/>
              </a:rPr>
              <a:t>nhiều</a:t>
            </a:r>
            <a:r>
              <a:rPr lang="en-US">
                <a:latin typeface="Arial"/>
                <a:ea typeface="Arial"/>
                <a:cs typeface="Arial"/>
                <a:sym typeface="Arial"/>
              </a:rPr>
              <a:t> </a:t>
            </a:r>
            <a:r>
              <a:rPr lang="en-US" err="1">
                <a:latin typeface="Arial"/>
                <a:ea typeface="Arial"/>
                <a:cs typeface="Arial"/>
                <a:sym typeface="Arial"/>
              </a:rPr>
              <a:t>người</a:t>
            </a:r>
            <a:r>
              <a:rPr lang="en-US">
                <a:latin typeface="Arial"/>
                <a:ea typeface="Arial"/>
                <a:cs typeface="Arial"/>
                <a:sym typeface="Arial"/>
              </a:rPr>
              <a:t> </a:t>
            </a:r>
            <a:r>
              <a:rPr lang="en-US" err="1">
                <a:latin typeface="Arial"/>
                <a:ea typeface="Arial"/>
                <a:cs typeface="Arial"/>
                <a:sym typeface="Arial"/>
              </a:rPr>
              <a:t>trở</a:t>
            </a:r>
            <a:r>
              <a:rPr lang="en-US">
                <a:latin typeface="Arial"/>
                <a:ea typeface="Arial"/>
                <a:cs typeface="Arial"/>
                <a:sym typeface="Arial"/>
              </a:rPr>
              <a:t> </a:t>
            </a:r>
            <a:r>
              <a:rPr lang="en-US" err="1">
                <a:latin typeface="Arial"/>
                <a:ea typeface="Arial"/>
                <a:cs typeface="Arial"/>
                <a:sym typeface="Arial"/>
              </a:rPr>
              <a:t>lên</a:t>
            </a:r>
            <a:r>
              <a:rPr lang="en-US">
                <a:latin typeface="Arial"/>
                <a:ea typeface="Arial"/>
                <a:cs typeface="Arial"/>
                <a:sym typeface="Arial"/>
              </a:rPr>
              <a:t> </a:t>
            </a:r>
            <a:r>
              <a:rPr lang="en-US" err="1">
                <a:latin typeface="Arial"/>
                <a:ea typeface="Arial"/>
                <a:cs typeface="Arial"/>
                <a:sym typeface="Arial"/>
              </a:rPr>
              <a:t>tác</a:t>
            </a:r>
            <a:r>
              <a:rPr lang="en-US">
                <a:latin typeface="Arial"/>
                <a:ea typeface="Arial"/>
                <a:cs typeface="Arial"/>
                <a:sym typeface="Arial"/>
              </a:rPr>
              <a:t> </a:t>
            </a:r>
            <a:r>
              <a:rPr lang="en-US" err="1">
                <a:latin typeface="Arial"/>
                <a:ea typeface="Arial"/>
                <a:cs typeface="Arial"/>
                <a:sym typeface="Arial"/>
              </a:rPr>
              <a:t>động</a:t>
            </a:r>
            <a:r>
              <a:rPr lang="en-US">
                <a:latin typeface="Arial"/>
                <a:ea typeface="Arial"/>
                <a:cs typeface="Arial"/>
                <a:sym typeface="Arial"/>
              </a:rPr>
              <a:t> </a:t>
            </a:r>
            <a:r>
              <a:rPr lang="en-US" err="1">
                <a:latin typeface="Arial"/>
                <a:ea typeface="Arial"/>
                <a:cs typeface="Arial"/>
                <a:sym typeface="Arial"/>
              </a:rPr>
              <a:t>lẫn</a:t>
            </a:r>
            <a:r>
              <a:rPr lang="en-US">
                <a:latin typeface="Arial"/>
                <a:ea typeface="Arial"/>
                <a:cs typeface="Arial"/>
                <a:sym typeface="Arial"/>
              </a:rPr>
              <a:t> </a:t>
            </a:r>
            <a:r>
              <a:rPr lang="en-US" err="1">
                <a:latin typeface="Arial"/>
                <a:ea typeface="Arial"/>
                <a:cs typeface="Arial"/>
                <a:sym typeface="Arial"/>
              </a:rPr>
              <a:t>nhau</a:t>
            </a:r>
            <a:r>
              <a:rPr lang="en-US">
                <a:latin typeface="Arial"/>
                <a:ea typeface="Arial"/>
                <a:cs typeface="Arial"/>
                <a:sym typeface="Arial"/>
              </a:rPr>
              <a:t> </a:t>
            </a:r>
            <a:r>
              <a:rPr lang="en-US" err="1">
                <a:latin typeface="Arial"/>
                <a:ea typeface="Arial"/>
                <a:cs typeface="Arial"/>
                <a:sym typeface="Arial"/>
              </a:rPr>
              <a:t>để</a:t>
            </a:r>
            <a:r>
              <a:rPr lang="en-US">
                <a:latin typeface="Arial"/>
                <a:ea typeface="Arial"/>
                <a:cs typeface="Arial"/>
                <a:sym typeface="Arial"/>
              </a:rPr>
              <a:t> </a:t>
            </a:r>
            <a:r>
              <a:rPr lang="en-US" err="1">
                <a:latin typeface="Arial"/>
                <a:ea typeface="Arial"/>
                <a:cs typeface="Arial"/>
                <a:sym typeface="Arial"/>
              </a:rPr>
              <a:t>hoàn</a:t>
            </a:r>
            <a:r>
              <a:rPr lang="en-US">
                <a:latin typeface="Arial"/>
                <a:ea typeface="Arial"/>
                <a:cs typeface="Arial"/>
                <a:sym typeface="Arial"/>
              </a:rPr>
              <a:t> </a:t>
            </a:r>
            <a:r>
              <a:rPr lang="en-US" err="1">
                <a:latin typeface="Arial"/>
                <a:ea typeface="Arial"/>
                <a:cs typeface="Arial"/>
                <a:sym typeface="Arial"/>
              </a:rPr>
              <a:t>thành</a:t>
            </a:r>
            <a:r>
              <a:rPr lang="en-US">
                <a:latin typeface="Arial"/>
                <a:ea typeface="Arial"/>
                <a:cs typeface="Arial"/>
                <a:sym typeface="Arial"/>
              </a:rPr>
              <a:t> </a:t>
            </a:r>
            <a:r>
              <a:rPr lang="en-US" err="1">
                <a:latin typeface="Arial"/>
                <a:ea typeface="Arial"/>
                <a:cs typeface="Arial"/>
                <a:sym typeface="Arial"/>
              </a:rPr>
              <a:t>những</a:t>
            </a:r>
            <a:r>
              <a:rPr lang="en-US">
                <a:latin typeface="Arial"/>
                <a:ea typeface="Arial"/>
                <a:cs typeface="Arial"/>
                <a:sym typeface="Arial"/>
              </a:rPr>
              <a:t> </a:t>
            </a:r>
            <a:r>
              <a:rPr lang="en-US" err="1">
                <a:latin typeface="Arial"/>
                <a:ea typeface="Arial"/>
                <a:cs typeface="Arial"/>
                <a:sym typeface="Arial"/>
              </a:rPr>
              <a:t>mục</a:t>
            </a:r>
            <a:r>
              <a:rPr lang="en-US">
                <a:latin typeface="Arial"/>
                <a:ea typeface="Arial"/>
                <a:cs typeface="Arial"/>
                <a:sym typeface="Arial"/>
              </a:rPr>
              <a:t> </a:t>
            </a:r>
            <a:r>
              <a:rPr lang="en-US" err="1">
                <a:latin typeface="Arial"/>
                <a:ea typeface="Arial"/>
                <a:cs typeface="Arial"/>
                <a:sym typeface="Arial"/>
              </a:rPr>
              <a:t>tiêu</a:t>
            </a:r>
            <a:r>
              <a:rPr lang="en-US">
                <a:latin typeface="Arial"/>
                <a:ea typeface="Arial"/>
                <a:cs typeface="Arial"/>
                <a:sym typeface="Arial"/>
              </a:rPr>
              <a:t> </a:t>
            </a:r>
            <a:r>
              <a:rPr lang="en-US" err="1">
                <a:latin typeface="Arial"/>
                <a:ea typeface="Arial"/>
                <a:cs typeface="Arial"/>
                <a:sym typeface="Arial"/>
              </a:rPr>
              <a:t>cá</a:t>
            </a:r>
            <a:r>
              <a:rPr lang="en-US">
                <a:latin typeface="Arial"/>
                <a:ea typeface="Arial"/>
                <a:cs typeface="Arial"/>
                <a:sym typeface="Arial"/>
              </a:rPr>
              <a:t> </a:t>
            </a:r>
            <a:r>
              <a:rPr lang="en-US" err="1">
                <a:latin typeface="Arial"/>
                <a:ea typeface="Arial"/>
                <a:cs typeface="Arial"/>
                <a:sym typeface="Arial"/>
              </a:rPr>
              <a:t>nhân</a:t>
            </a:r>
            <a:r>
              <a:rPr lang="en-US">
                <a:latin typeface="Arial"/>
                <a:ea typeface="Arial"/>
                <a:cs typeface="Arial"/>
                <a:sym typeface="Arial"/>
              </a:rPr>
              <a:t> hay </a:t>
            </a:r>
            <a:r>
              <a:rPr lang="en-US" err="1">
                <a:latin typeface="Arial"/>
                <a:ea typeface="Arial"/>
                <a:cs typeface="Arial"/>
                <a:sym typeface="Arial"/>
              </a:rPr>
              <a:t>mục</a:t>
            </a:r>
            <a:r>
              <a:rPr lang="en-US">
                <a:latin typeface="Arial"/>
                <a:ea typeface="Arial"/>
                <a:cs typeface="Arial"/>
                <a:sym typeface="Arial"/>
              </a:rPr>
              <a:t> </a:t>
            </a:r>
            <a:r>
              <a:rPr lang="en-US" err="1">
                <a:latin typeface="Arial"/>
                <a:ea typeface="Arial"/>
                <a:cs typeface="Arial"/>
                <a:sym typeface="Arial"/>
              </a:rPr>
              <a:t>tiêu</a:t>
            </a:r>
            <a:r>
              <a:rPr lang="en-US">
                <a:latin typeface="Arial"/>
                <a:ea typeface="Arial"/>
                <a:cs typeface="Arial"/>
                <a:sym typeface="Arial"/>
              </a:rPr>
              <a:t> </a:t>
            </a:r>
            <a:r>
              <a:rPr lang="en-US" err="1">
                <a:latin typeface="Arial"/>
                <a:ea typeface="Arial"/>
                <a:cs typeface="Arial"/>
                <a:sym typeface="Arial"/>
              </a:rPr>
              <a:t>chung</a:t>
            </a:r>
            <a:r>
              <a:rPr lang="en-US">
                <a:latin typeface="Arial"/>
                <a:ea typeface="Arial"/>
                <a:cs typeface="Arial"/>
                <a:sym typeface="Arial"/>
              </a:rPr>
              <a:t>. </a:t>
            </a:r>
            <a:r>
              <a:rPr lang="en-US" err="1">
                <a:latin typeface="Arial"/>
                <a:ea typeface="Arial"/>
                <a:cs typeface="Arial"/>
                <a:sym typeface="Arial"/>
              </a:rPr>
              <a:t>Mỗi</a:t>
            </a:r>
            <a:r>
              <a:rPr lang="en-US">
                <a:latin typeface="Arial"/>
                <a:ea typeface="Arial"/>
                <a:cs typeface="Arial"/>
                <a:sym typeface="Arial"/>
              </a:rPr>
              <a:t> </a:t>
            </a:r>
            <a:r>
              <a:rPr lang="en-US" err="1">
                <a:latin typeface="Arial"/>
                <a:ea typeface="Arial"/>
                <a:cs typeface="Arial"/>
                <a:sym typeface="Arial"/>
              </a:rPr>
              <a:t>thành</a:t>
            </a:r>
            <a:r>
              <a:rPr lang="en-US">
                <a:latin typeface="Arial"/>
                <a:ea typeface="Arial"/>
                <a:cs typeface="Arial"/>
                <a:sym typeface="Arial"/>
              </a:rPr>
              <a:t> </a:t>
            </a:r>
            <a:r>
              <a:rPr lang="en-US" err="1">
                <a:latin typeface="Arial"/>
                <a:ea typeface="Arial"/>
                <a:cs typeface="Arial"/>
                <a:sym typeface="Arial"/>
              </a:rPr>
              <a:t>viên</a:t>
            </a:r>
            <a:r>
              <a:rPr lang="en-US">
                <a:latin typeface="Arial"/>
                <a:ea typeface="Arial"/>
                <a:cs typeface="Arial"/>
                <a:sym typeface="Arial"/>
              </a:rPr>
              <a:t> </a:t>
            </a:r>
            <a:r>
              <a:rPr lang="en-US" err="1">
                <a:latin typeface="Arial"/>
                <a:ea typeface="Arial"/>
                <a:cs typeface="Arial"/>
                <a:sym typeface="Arial"/>
              </a:rPr>
              <a:t>trong</a:t>
            </a:r>
            <a:r>
              <a:rPr lang="en-US">
                <a:latin typeface="Arial"/>
                <a:ea typeface="Arial"/>
                <a:cs typeface="Arial"/>
                <a:sym typeface="Arial"/>
              </a:rPr>
              <a:t> </a:t>
            </a:r>
            <a:r>
              <a:rPr lang="en-US" err="1">
                <a:latin typeface="Arial"/>
                <a:ea typeface="Arial"/>
                <a:cs typeface="Arial"/>
                <a:sym typeface="Arial"/>
              </a:rPr>
              <a:t>nhóm</a:t>
            </a:r>
            <a:r>
              <a:rPr lang="en-US">
                <a:latin typeface="Arial"/>
                <a:ea typeface="Arial"/>
                <a:cs typeface="Arial"/>
                <a:sym typeface="Arial"/>
              </a:rPr>
              <a:t> </a:t>
            </a:r>
            <a:r>
              <a:rPr lang="en-US" err="1">
                <a:latin typeface="Arial"/>
                <a:ea typeface="Arial"/>
                <a:cs typeface="Arial"/>
                <a:sym typeface="Arial"/>
              </a:rPr>
              <a:t>đều</a:t>
            </a:r>
            <a:r>
              <a:rPr lang="en-US">
                <a:latin typeface="Arial"/>
                <a:ea typeface="Arial"/>
                <a:cs typeface="Arial"/>
                <a:sym typeface="Arial"/>
              </a:rPr>
              <a:t> </a:t>
            </a:r>
            <a:r>
              <a:rPr lang="en-US" err="1">
                <a:latin typeface="Arial"/>
                <a:ea typeface="Arial"/>
                <a:cs typeface="Arial"/>
                <a:sym typeface="Arial"/>
              </a:rPr>
              <a:t>đảm</a:t>
            </a:r>
            <a:r>
              <a:rPr lang="en-US">
                <a:latin typeface="Arial"/>
                <a:ea typeface="Arial"/>
                <a:cs typeface="Arial"/>
                <a:sym typeface="Arial"/>
              </a:rPr>
              <a:t> </a:t>
            </a:r>
            <a:r>
              <a:rPr lang="en-US" err="1">
                <a:latin typeface="Arial"/>
                <a:ea typeface="Arial"/>
                <a:cs typeface="Arial"/>
                <a:sym typeface="Arial"/>
              </a:rPr>
              <a:t>đương</a:t>
            </a:r>
            <a:r>
              <a:rPr lang="en-US">
                <a:latin typeface="Arial"/>
                <a:ea typeface="Arial"/>
                <a:cs typeface="Arial"/>
                <a:sym typeface="Arial"/>
              </a:rPr>
              <a:t>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địa</a:t>
            </a:r>
            <a:r>
              <a:rPr lang="en-US">
                <a:latin typeface="Arial"/>
                <a:ea typeface="Arial"/>
                <a:cs typeface="Arial"/>
                <a:sym typeface="Arial"/>
              </a:rPr>
              <a:t> </a:t>
            </a:r>
            <a:r>
              <a:rPr lang="en-US" err="1">
                <a:latin typeface="Arial"/>
                <a:ea typeface="Arial"/>
                <a:cs typeface="Arial"/>
                <a:sym typeface="Arial"/>
              </a:rPr>
              <a:t>vị</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vai</a:t>
            </a:r>
            <a:r>
              <a:rPr lang="en-US">
                <a:latin typeface="Arial"/>
                <a:ea typeface="Arial"/>
                <a:cs typeface="Arial"/>
                <a:sym typeface="Arial"/>
              </a:rPr>
              <a:t> </a:t>
            </a:r>
            <a:r>
              <a:rPr lang="en-US" err="1">
                <a:latin typeface="Arial"/>
                <a:ea typeface="Arial"/>
                <a:cs typeface="Arial"/>
                <a:sym typeface="Arial"/>
              </a:rPr>
              <a:t>trò</a:t>
            </a:r>
            <a:r>
              <a:rPr lang="en-US">
                <a:latin typeface="Arial"/>
                <a:ea typeface="Arial"/>
                <a:cs typeface="Arial"/>
                <a:sym typeface="Arial"/>
              </a:rPr>
              <a:t> </a:t>
            </a:r>
            <a:r>
              <a:rPr lang="en-US" err="1">
                <a:latin typeface="Arial"/>
                <a:ea typeface="Arial"/>
                <a:cs typeface="Arial"/>
                <a:sym typeface="Arial"/>
              </a:rPr>
              <a:t>trong</a:t>
            </a:r>
            <a:r>
              <a:rPr lang="en-US">
                <a:latin typeface="Arial"/>
                <a:ea typeface="Arial"/>
                <a:cs typeface="Arial"/>
                <a:sym typeface="Arial"/>
              </a:rPr>
              <a:t> </a:t>
            </a:r>
            <a:r>
              <a:rPr lang="en-US" err="1">
                <a:latin typeface="Arial"/>
                <a:ea typeface="Arial"/>
                <a:cs typeface="Arial"/>
                <a:sym typeface="Arial"/>
              </a:rPr>
              <a:t>mối</a:t>
            </a:r>
            <a:r>
              <a:rPr lang="en-US">
                <a:latin typeface="Arial"/>
                <a:ea typeface="Arial"/>
                <a:cs typeface="Arial"/>
                <a:sym typeface="Arial"/>
              </a:rPr>
              <a:t> </a:t>
            </a:r>
            <a:r>
              <a:rPr lang="en-US" err="1">
                <a:latin typeface="Arial"/>
                <a:ea typeface="Arial"/>
                <a:cs typeface="Arial"/>
                <a:sym typeface="Arial"/>
              </a:rPr>
              <a:t>quan</a:t>
            </a:r>
            <a:r>
              <a:rPr lang="en-US">
                <a:latin typeface="Arial"/>
                <a:ea typeface="Arial"/>
                <a:cs typeface="Arial"/>
                <a:sym typeface="Arial"/>
              </a:rPr>
              <a:t> </a:t>
            </a:r>
            <a:r>
              <a:rPr lang="en-US" err="1">
                <a:latin typeface="Arial"/>
                <a:ea typeface="Arial"/>
                <a:cs typeface="Arial"/>
                <a:sym typeface="Arial"/>
              </a:rPr>
              <a:t>hệ</a:t>
            </a:r>
            <a:r>
              <a:rPr lang="en-US">
                <a:latin typeface="Arial"/>
                <a:ea typeface="Arial"/>
                <a:cs typeface="Arial"/>
                <a:sym typeface="Arial"/>
              </a:rPr>
              <a:t> </a:t>
            </a:r>
            <a:r>
              <a:rPr lang="en-US" err="1">
                <a:latin typeface="Arial"/>
                <a:ea typeface="Arial"/>
                <a:cs typeface="Arial"/>
                <a:sym typeface="Arial"/>
              </a:rPr>
              <a:t>với</a:t>
            </a:r>
            <a:r>
              <a:rPr lang="en-US">
                <a:latin typeface="Arial"/>
                <a:ea typeface="Arial"/>
                <a:cs typeface="Arial"/>
                <a:sym typeface="Arial"/>
              </a:rPr>
              <a:t> </a:t>
            </a:r>
            <a:r>
              <a:rPr lang="en-US" err="1">
                <a:latin typeface="Arial"/>
                <a:ea typeface="Arial"/>
                <a:cs typeface="Arial"/>
                <a:sym typeface="Arial"/>
              </a:rPr>
              <a:t>những</a:t>
            </a:r>
            <a:r>
              <a:rPr lang="en-US">
                <a:latin typeface="Arial"/>
                <a:ea typeface="Arial"/>
                <a:cs typeface="Arial"/>
                <a:sym typeface="Arial"/>
              </a:rPr>
              <a:t> </a:t>
            </a:r>
            <a:r>
              <a:rPr lang="en-US" err="1">
                <a:latin typeface="Arial"/>
                <a:ea typeface="Arial"/>
                <a:cs typeface="Arial"/>
                <a:sym typeface="Arial"/>
              </a:rPr>
              <a:t>thành</a:t>
            </a:r>
            <a:r>
              <a:rPr lang="en-US">
                <a:latin typeface="Arial"/>
                <a:ea typeface="Arial"/>
                <a:cs typeface="Arial"/>
                <a:sym typeface="Arial"/>
              </a:rPr>
              <a:t> </a:t>
            </a:r>
            <a:r>
              <a:rPr lang="en-US" err="1">
                <a:latin typeface="Arial"/>
                <a:ea typeface="Arial"/>
                <a:cs typeface="Arial"/>
                <a:sym typeface="Arial"/>
              </a:rPr>
              <a:t>viên</a:t>
            </a:r>
            <a:r>
              <a:rPr lang="en-US">
                <a:latin typeface="Arial"/>
                <a:ea typeface="Arial"/>
                <a:cs typeface="Arial"/>
                <a:sym typeface="Arial"/>
              </a:rPr>
              <a:t> </a:t>
            </a:r>
            <a:r>
              <a:rPr lang="en-US" err="1">
                <a:latin typeface="Arial"/>
                <a:ea typeface="Arial"/>
                <a:cs typeface="Arial"/>
                <a:sym typeface="Arial"/>
              </a:rPr>
              <a:t>khác</a:t>
            </a:r>
            <a:r>
              <a:rPr lang="en-US">
                <a:latin typeface="Arial"/>
                <a:ea typeface="Arial"/>
                <a:cs typeface="Arial"/>
                <a:sym typeface="Arial"/>
              </a:rPr>
              <a:t>.  </a:t>
            </a:r>
            <a:endParaRPr/>
          </a:p>
          <a:p>
            <a:pPr marL="739775" lvl="0" indent="-333375" algn="just" rtl="0">
              <a:lnSpc>
                <a:spcPct val="150000"/>
              </a:lnSpc>
              <a:spcBef>
                <a:spcPts val="0"/>
              </a:spcBef>
              <a:spcAft>
                <a:spcPts val="0"/>
              </a:spcAft>
              <a:buClr>
                <a:schemeClr val="dk1"/>
              </a:buClr>
              <a:buSzPts val="2800"/>
              <a:buFont typeface="Noto Sans Symbols"/>
              <a:buNone/>
            </a:pPr>
            <a:endParaRPr>
              <a:latin typeface="Arial"/>
              <a:ea typeface="Arial"/>
              <a:cs typeface="Arial"/>
              <a:sym typeface="Arial"/>
            </a:endParaRPr>
          </a:p>
        </p:txBody>
      </p:sp>
      <p:pic>
        <p:nvPicPr>
          <p:cNvPr id="676" name="Google Shape;676;p90" descr="20061025-xung%20dot[1]"/>
          <p:cNvPicPr preferRelativeResize="0"/>
          <p:nvPr/>
        </p:nvPicPr>
        <p:blipFill rotWithShape="1">
          <a:blip r:embed="rId3">
            <a:alphaModFix/>
          </a:blip>
          <a:srcRect/>
          <a:stretch/>
        </p:blipFill>
        <p:spPr>
          <a:xfrm>
            <a:off x="333900" y="4011646"/>
            <a:ext cx="1527175" cy="2009775"/>
          </a:xfrm>
          <a:prstGeom prst="rect">
            <a:avLst/>
          </a:prstGeom>
          <a:noFill/>
          <a:ln>
            <a:noFill/>
          </a:ln>
        </p:spPr>
      </p:pic>
      <p:pic>
        <p:nvPicPr>
          <p:cNvPr id="677" name="Google Shape;677;p90" descr="20070102_nhanvien[1]"/>
          <p:cNvPicPr preferRelativeResize="0"/>
          <p:nvPr/>
        </p:nvPicPr>
        <p:blipFill rotWithShape="1">
          <a:blip r:embed="rId4">
            <a:alphaModFix/>
          </a:blip>
          <a:srcRect/>
          <a:stretch/>
        </p:blipFill>
        <p:spPr>
          <a:xfrm>
            <a:off x="333900" y="1574867"/>
            <a:ext cx="1422400" cy="20097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91"/>
          <p:cNvSpPr txBox="1">
            <a:spLocks noGrp="1"/>
          </p:cNvSpPr>
          <p:nvPr>
            <p:ph type="title"/>
          </p:nvPr>
        </p:nvSpPr>
        <p:spPr>
          <a:xfrm>
            <a:off x="633920" y="219210"/>
            <a:ext cx="7984787" cy="7243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vi-VN" sz="3200" b="1"/>
              <a:t>2</a:t>
            </a:r>
            <a:r>
              <a:rPr lang="en-US" sz="3200" b="1">
                <a:latin typeface="Arial"/>
                <a:ea typeface="Arial"/>
                <a:cs typeface="Arial"/>
                <a:sym typeface="Arial"/>
              </a:rPr>
              <a:t>.</a:t>
            </a:r>
            <a:r>
              <a:rPr lang="vi-VN" sz="3200" b="1">
                <a:latin typeface="Arial"/>
                <a:ea typeface="Arial"/>
                <a:cs typeface="Arial"/>
                <a:sym typeface="Arial"/>
              </a:rPr>
              <a:t>2</a:t>
            </a:r>
            <a:r>
              <a:rPr lang="en-US" sz="3200" b="1">
                <a:latin typeface="Arial"/>
                <a:ea typeface="Arial"/>
                <a:cs typeface="Arial"/>
                <a:sym typeface="Arial"/>
              </a:rPr>
              <a:t>.1. </a:t>
            </a:r>
            <a:r>
              <a:rPr lang="en-US" sz="3200" b="1" err="1">
                <a:latin typeface="Arial"/>
                <a:ea typeface="Arial"/>
                <a:cs typeface="Arial"/>
                <a:sym typeface="Arial"/>
              </a:rPr>
              <a:t>Khái</a:t>
            </a:r>
            <a:r>
              <a:rPr lang="en-US" sz="3200" b="1">
                <a:latin typeface="Arial"/>
                <a:ea typeface="Arial"/>
                <a:cs typeface="Arial"/>
                <a:sym typeface="Arial"/>
              </a:rPr>
              <a:t> </a:t>
            </a:r>
            <a:r>
              <a:rPr lang="en-US" sz="3200" b="1" err="1">
                <a:latin typeface="Arial"/>
                <a:ea typeface="Arial"/>
                <a:cs typeface="Arial"/>
                <a:sym typeface="Arial"/>
              </a:rPr>
              <a:t>niệm</a:t>
            </a:r>
            <a:r>
              <a:rPr lang="en-US" sz="3200" b="1">
                <a:latin typeface="Arial"/>
                <a:ea typeface="Arial"/>
                <a:cs typeface="Arial"/>
                <a:sym typeface="Arial"/>
              </a:rPr>
              <a:t> </a:t>
            </a:r>
            <a:r>
              <a:rPr lang="en-US" sz="3200" b="1" err="1">
                <a:latin typeface="Arial"/>
                <a:ea typeface="Arial"/>
                <a:cs typeface="Arial"/>
                <a:sym typeface="Arial"/>
              </a:rPr>
              <a:t>nhóm</a:t>
            </a:r>
            <a:r>
              <a:rPr lang="en-US" sz="3200" b="1">
                <a:latin typeface="Arial"/>
                <a:ea typeface="Arial"/>
                <a:cs typeface="Arial"/>
                <a:sym typeface="Arial"/>
              </a:rPr>
              <a:t> hay </a:t>
            </a:r>
            <a:r>
              <a:rPr lang="en-US" sz="3200" b="1" err="1">
                <a:latin typeface="Arial"/>
                <a:ea typeface="Arial"/>
                <a:cs typeface="Arial"/>
                <a:sym typeface="Arial"/>
              </a:rPr>
              <a:t>nhóm</a:t>
            </a:r>
            <a:r>
              <a:rPr lang="en-US" sz="3200" b="1">
                <a:latin typeface="Arial"/>
                <a:ea typeface="Arial"/>
                <a:cs typeface="Arial"/>
                <a:sym typeface="Arial"/>
              </a:rPr>
              <a:t> </a:t>
            </a:r>
            <a:r>
              <a:rPr lang="en-US" sz="3200" b="1" err="1">
                <a:latin typeface="Arial"/>
                <a:ea typeface="Arial"/>
                <a:cs typeface="Arial"/>
                <a:sym typeface="Arial"/>
              </a:rPr>
              <a:t>xã</a:t>
            </a:r>
            <a:r>
              <a:rPr lang="en-US" sz="3200" b="1">
                <a:latin typeface="Arial"/>
                <a:ea typeface="Arial"/>
                <a:cs typeface="Arial"/>
                <a:sym typeface="Arial"/>
              </a:rPr>
              <a:t> </a:t>
            </a:r>
            <a:r>
              <a:rPr lang="en-US" sz="3200" b="1" err="1">
                <a:latin typeface="Arial"/>
                <a:ea typeface="Arial"/>
                <a:cs typeface="Arial"/>
                <a:sym typeface="Arial"/>
              </a:rPr>
              <a:t>hội</a:t>
            </a:r>
            <a:endParaRPr sz="3200" b="1">
              <a:latin typeface="Arial"/>
              <a:ea typeface="Arial"/>
              <a:cs typeface="Arial"/>
              <a:sym typeface="Arial"/>
            </a:endParaRPr>
          </a:p>
        </p:txBody>
      </p:sp>
      <p:sp>
        <p:nvSpPr>
          <p:cNvPr id="683" name="Google Shape;683;p91"/>
          <p:cNvSpPr txBox="1">
            <a:spLocks noGrp="1"/>
          </p:cNvSpPr>
          <p:nvPr>
            <p:ph type="body" idx="1"/>
          </p:nvPr>
        </p:nvSpPr>
        <p:spPr>
          <a:xfrm>
            <a:off x="2033081" y="1329514"/>
            <a:ext cx="9456906" cy="4351338"/>
          </a:xfrm>
          <a:prstGeom prst="rect">
            <a:avLst/>
          </a:prstGeom>
          <a:noFill/>
          <a:ln>
            <a:noFill/>
          </a:ln>
        </p:spPr>
        <p:txBody>
          <a:bodyPr spcFirstLastPara="1" wrap="square" lIns="91425" tIns="45700" rIns="91425" bIns="45700" anchor="t" anchorCtr="0">
            <a:noAutofit/>
          </a:bodyPr>
          <a:lstStyle/>
          <a:p>
            <a:pPr marL="739775" lvl="0" indent="-511175" algn="just" rtl="0">
              <a:lnSpc>
                <a:spcPct val="150000"/>
              </a:lnSpc>
              <a:spcBef>
                <a:spcPts val="0"/>
              </a:spcBef>
              <a:spcAft>
                <a:spcPts val="0"/>
              </a:spcAft>
              <a:buClr>
                <a:schemeClr val="dk1"/>
              </a:buClr>
              <a:buSzPts val="2800"/>
              <a:buFont typeface="Noto Sans Symbols"/>
              <a:buChar char="❖"/>
            </a:pPr>
            <a:r>
              <a:rPr lang="en-US">
                <a:latin typeface="Arial"/>
                <a:ea typeface="Arial"/>
                <a:cs typeface="Arial"/>
                <a:sym typeface="Arial"/>
              </a:rPr>
              <a:t> Nhóm xã hội có các đặc điểm: </a:t>
            </a:r>
            <a:endParaRPr/>
          </a:p>
          <a:p>
            <a:pPr marL="1028700" lvl="1" indent="-342900" algn="just" rtl="0">
              <a:lnSpc>
                <a:spcPct val="150000"/>
              </a:lnSpc>
              <a:spcBef>
                <a:spcPts val="0"/>
              </a:spcBef>
              <a:spcAft>
                <a:spcPts val="0"/>
              </a:spcAft>
              <a:buClr>
                <a:schemeClr val="dk1"/>
              </a:buClr>
              <a:buSzPts val="2800"/>
              <a:buChar char="•"/>
            </a:pPr>
            <a:r>
              <a:rPr lang="en-US" sz="2800">
                <a:latin typeface="Arial"/>
                <a:ea typeface="Arial"/>
                <a:cs typeface="Arial"/>
                <a:sym typeface="Arial"/>
              </a:rPr>
              <a:t>Có thứ bậc, mỗi thành viên có vai trò và địa vị nhất định </a:t>
            </a:r>
            <a:endParaRPr>
              <a:latin typeface="Arial"/>
              <a:ea typeface="Arial"/>
              <a:cs typeface="Arial"/>
              <a:sym typeface="Arial"/>
            </a:endParaRPr>
          </a:p>
          <a:p>
            <a:pPr marL="1028700" lvl="1" indent="-342900" algn="just" rtl="0">
              <a:lnSpc>
                <a:spcPct val="150000"/>
              </a:lnSpc>
              <a:spcBef>
                <a:spcPts val="0"/>
              </a:spcBef>
              <a:spcAft>
                <a:spcPts val="0"/>
              </a:spcAft>
              <a:buClr>
                <a:schemeClr val="dk1"/>
              </a:buClr>
              <a:buSzPts val="2800"/>
              <a:buChar char="•"/>
            </a:pPr>
            <a:r>
              <a:rPr lang="en-US" sz="2800">
                <a:latin typeface="Arial"/>
                <a:ea typeface="Arial"/>
                <a:cs typeface="Arial"/>
                <a:sym typeface="Arial"/>
              </a:rPr>
              <a:t>Có bản sắc tập thể</a:t>
            </a:r>
            <a:endParaRPr sz="2800">
              <a:latin typeface="Arial"/>
              <a:ea typeface="Arial"/>
              <a:cs typeface="Arial"/>
              <a:sym typeface="Arial"/>
            </a:endParaRPr>
          </a:p>
          <a:p>
            <a:pPr marL="1028700" lvl="1" indent="-342900" algn="just" rtl="0">
              <a:lnSpc>
                <a:spcPct val="150000"/>
              </a:lnSpc>
              <a:spcBef>
                <a:spcPts val="0"/>
              </a:spcBef>
              <a:spcAft>
                <a:spcPts val="0"/>
              </a:spcAft>
              <a:buClr>
                <a:schemeClr val="dk1"/>
              </a:buClr>
              <a:buSzPts val="2800"/>
              <a:buChar char="•"/>
            </a:pPr>
            <a:r>
              <a:rPr lang="en-US" sz="2800">
                <a:latin typeface="Arial"/>
                <a:ea typeface="Arial"/>
                <a:cs typeface="Arial"/>
                <a:sym typeface="Arial"/>
              </a:rPr>
              <a:t>Thứ bậc của thành viên có thể thay đổi</a:t>
            </a:r>
            <a:endParaRPr sz="2800">
              <a:latin typeface="Arial"/>
              <a:ea typeface="Arial"/>
              <a:cs typeface="Arial"/>
              <a:sym typeface="Arial"/>
            </a:endParaRPr>
          </a:p>
          <a:p>
            <a:pPr marL="1028700" lvl="1" indent="-342900" algn="just" rtl="0">
              <a:lnSpc>
                <a:spcPct val="150000"/>
              </a:lnSpc>
              <a:spcBef>
                <a:spcPts val="0"/>
              </a:spcBef>
              <a:spcAft>
                <a:spcPts val="0"/>
              </a:spcAft>
              <a:buClr>
                <a:schemeClr val="dk1"/>
              </a:buClr>
              <a:buSzPts val="2800"/>
              <a:buChar char="•"/>
            </a:pPr>
            <a:r>
              <a:rPr lang="en-US" sz="2800">
                <a:latin typeface="Arial"/>
                <a:ea typeface="Arial"/>
                <a:cs typeface="Arial"/>
                <a:sym typeface="Arial"/>
              </a:rPr>
              <a:t>Mọi người tương tác chia sẻ</a:t>
            </a:r>
            <a:endParaRPr sz="2800">
              <a:latin typeface="Arial"/>
              <a:ea typeface="Arial"/>
              <a:cs typeface="Arial"/>
              <a:sym typeface="Arial"/>
            </a:endParaRPr>
          </a:p>
          <a:p>
            <a:pPr marL="1028700" lvl="1" indent="-342900" algn="just" rtl="0">
              <a:lnSpc>
                <a:spcPct val="150000"/>
              </a:lnSpc>
              <a:spcBef>
                <a:spcPts val="0"/>
              </a:spcBef>
              <a:spcAft>
                <a:spcPts val="0"/>
              </a:spcAft>
              <a:buClr>
                <a:schemeClr val="dk1"/>
              </a:buClr>
              <a:buSzPts val="2800"/>
              <a:buChar char="•"/>
            </a:pPr>
            <a:r>
              <a:rPr lang="en-US" sz="2800">
                <a:latin typeface="Arial"/>
                <a:ea typeface="Arial"/>
                <a:cs typeface="Arial"/>
                <a:sym typeface="Arial"/>
              </a:rPr>
              <a:t>Đo lường bằng một hàm trọng số của nhiều biến</a:t>
            </a:r>
            <a:endParaRPr sz="2800">
              <a:latin typeface="Arial"/>
              <a:ea typeface="Arial"/>
              <a:cs typeface="Arial"/>
              <a:sym typeface="Arial"/>
            </a:endParaRPr>
          </a:p>
        </p:txBody>
      </p:sp>
      <p:pic>
        <p:nvPicPr>
          <p:cNvPr id="684" name="Google Shape;684;p91" descr="20061025-xung%20dot[1]"/>
          <p:cNvPicPr preferRelativeResize="0"/>
          <p:nvPr/>
        </p:nvPicPr>
        <p:blipFill rotWithShape="1">
          <a:blip r:embed="rId3">
            <a:alphaModFix/>
          </a:blip>
          <a:srcRect/>
          <a:stretch/>
        </p:blipFill>
        <p:spPr>
          <a:xfrm>
            <a:off x="333900" y="4011646"/>
            <a:ext cx="1527175" cy="2009775"/>
          </a:xfrm>
          <a:prstGeom prst="rect">
            <a:avLst/>
          </a:prstGeom>
          <a:noFill/>
          <a:ln>
            <a:noFill/>
          </a:ln>
        </p:spPr>
      </p:pic>
      <p:pic>
        <p:nvPicPr>
          <p:cNvPr id="685" name="Google Shape;685;p91" descr="20070102_nhanvien[1]"/>
          <p:cNvPicPr preferRelativeResize="0"/>
          <p:nvPr/>
        </p:nvPicPr>
        <p:blipFill rotWithShape="1">
          <a:blip r:embed="rId4">
            <a:alphaModFix/>
          </a:blip>
          <a:srcRect/>
          <a:stretch/>
        </p:blipFill>
        <p:spPr>
          <a:xfrm>
            <a:off x="333900" y="1574867"/>
            <a:ext cx="1422400" cy="20097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graphicFrame>
        <p:nvGraphicFramePr>
          <p:cNvPr id="690" name="Google Shape;690;p92"/>
          <p:cNvGraphicFramePr/>
          <p:nvPr>
            <p:extLst>
              <p:ext uri="{D42A27DB-BD31-4B8C-83A1-F6EECF244321}">
                <p14:modId xmlns:p14="http://schemas.microsoft.com/office/powerpoint/2010/main" val="3494414954"/>
              </p:ext>
            </p:extLst>
          </p:nvPr>
        </p:nvGraphicFramePr>
        <p:xfrm>
          <a:off x="389088" y="104775"/>
          <a:ext cx="11488350" cy="6024059"/>
        </p:xfrm>
        <a:graphic>
          <a:graphicData uri="http://schemas.openxmlformats.org/drawingml/2006/table">
            <a:tbl>
              <a:tblPr firstRow="1" firstCol="1" bandRow="1">
                <a:noFill/>
                <a:tableStyleId>{392FFC7F-709E-4CD3-A213-31C4887D7C04}</a:tableStyleId>
              </a:tblPr>
              <a:tblGrid>
                <a:gridCol w="1703975">
                  <a:extLst>
                    <a:ext uri="{9D8B030D-6E8A-4147-A177-3AD203B41FA5}">
                      <a16:colId xmlns:a16="http://schemas.microsoft.com/office/drawing/2014/main" val="20000"/>
                    </a:ext>
                  </a:extLst>
                </a:gridCol>
                <a:gridCol w="2877750">
                  <a:extLst>
                    <a:ext uri="{9D8B030D-6E8A-4147-A177-3AD203B41FA5}">
                      <a16:colId xmlns:a16="http://schemas.microsoft.com/office/drawing/2014/main" val="20001"/>
                    </a:ext>
                  </a:extLst>
                </a:gridCol>
                <a:gridCol w="6906625">
                  <a:extLst>
                    <a:ext uri="{9D8B030D-6E8A-4147-A177-3AD203B41FA5}">
                      <a16:colId xmlns:a16="http://schemas.microsoft.com/office/drawing/2014/main" val="20002"/>
                    </a:ext>
                  </a:extLst>
                </a:gridCol>
              </a:tblGrid>
              <a:tr h="590550">
                <a:tc>
                  <a:txBody>
                    <a:bodyPr/>
                    <a:lstStyle/>
                    <a:p>
                      <a:pPr marL="0" marR="0" lvl="0" indent="0" algn="ctr" rtl="0">
                        <a:lnSpc>
                          <a:spcPct val="175000"/>
                        </a:lnSpc>
                        <a:spcBef>
                          <a:spcPts val="0"/>
                        </a:spcBef>
                        <a:spcAft>
                          <a:spcPts val="0"/>
                        </a:spcAft>
                        <a:buClr>
                          <a:srgbClr val="000000"/>
                        </a:buClr>
                        <a:buSzPts val="2000"/>
                        <a:buFont typeface="Arial"/>
                        <a:buNone/>
                      </a:pPr>
                      <a:r>
                        <a:rPr lang="en-US" sz="1600" b="1" u="none" strike="noStrike" cap="none" err="1">
                          <a:latin typeface="Arial"/>
                          <a:ea typeface="Arial"/>
                          <a:cs typeface="Arial"/>
                          <a:sym typeface="Arial"/>
                        </a:rPr>
                        <a:t>Căn</a:t>
                      </a:r>
                      <a:r>
                        <a:rPr lang="en-US" sz="1600" b="1" u="none" strike="noStrike" cap="none">
                          <a:latin typeface="Arial"/>
                          <a:ea typeface="Arial"/>
                          <a:cs typeface="Arial"/>
                          <a:sym typeface="Arial"/>
                        </a:rPr>
                        <a:t> </a:t>
                      </a:r>
                      <a:r>
                        <a:rPr lang="en-US" sz="1600" b="1" u="none" strike="noStrike" cap="none" err="1">
                          <a:latin typeface="Arial"/>
                          <a:ea typeface="Arial"/>
                          <a:cs typeface="Arial"/>
                          <a:sym typeface="Arial"/>
                        </a:rPr>
                        <a:t>cứ</a:t>
                      </a:r>
                      <a:endParaRPr sz="1600" b="1" u="none" strike="noStrike" cap="none">
                        <a:latin typeface="Arial"/>
                        <a:ea typeface="Arial"/>
                        <a:cs typeface="Arial"/>
                        <a:sym typeface="Arial"/>
                      </a:endParaRPr>
                    </a:p>
                  </a:txBody>
                  <a:tcPr marL="68575" marR="68575" marT="0" marB="0"/>
                </a:tc>
                <a:tc>
                  <a:txBody>
                    <a:bodyPr/>
                    <a:lstStyle/>
                    <a:p>
                      <a:pPr marL="0" marR="0" lvl="0" indent="0" algn="ctr" rtl="0">
                        <a:lnSpc>
                          <a:spcPct val="175000"/>
                        </a:lnSpc>
                        <a:spcBef>
                          <a:spcPts val="0"/>
                        </a:spcBef>
                        <a:spcAft>
                          <a:spcPts val="0"/>
                        </a:spcAft>
                        <a:buClr>
                          <a:srgbClr val="000000"/>
                        </a:buClr>
                        <a:buSzPts val="2000"/>
                        <a:buFont typeface="Arial"/>
                        <a:buNone/>
                      </a:pPr>
                      <a:r>
                        <a:rPr lang="en-US" sz="1600" b="1" u="none" strike="noStrike" cap="none" err="1">
                          <a:latin typeface="Arial"/>
                          <a:ea typeface="Arial"/>
                          <a:cs typeface="Arial"/>
                          <a:sym typeface="Arial"/>
                        </a:rPr>
                        <a:t>Phân</a:t>
                      </a:r>
                      <a:r>
                        <a:rPr lang="en-US" sz="1600" b="1" u="none" strike="noStrike" cap="none">
                          <a:latin typeface="Arial"/>
                          <a:ea typeface="Arial"/>
                          <a:cs typeface="Arial"/>
                          <a:sym typeface="Arial"/>
                        </a:rPr>
                        <a:t> </a:t>
                      </a:r>
                      <a:r>
                        <a:rPr lang="en-US" sz="1600" b="1" u="none" strike="noStrike" cap="none" err="1">
                          <a:latin typeface="Arial"/>
                          <a:ea typeface="Arial"/>
                          <a:cs typeface="Arial"/>
                          <a:sym typeface="Arial"/>
                        </a:rPr>
                        <a:t>loại</a:t>
                      </a:r>
                      <a:r>
                        <a:rPr lang="en-US" sz="1600" b="1" u="none" strike="noStrike" cap="none">
                          <a:latin typeface="Arial"/>
                          <a:ea typeface="Arial"/>
                          <a:cs typeface="Arial"/>
                          <a:sym typeface="Arial"/>
                        </a:rPr>
                        <a:t> </a:t>
                      </a:r>
                      <a:r>
                        <a:rPr lang="en-US" sz="1600" b="1" u="none" strike="noStrike" cap="none" err="1">
                          <a:latin typeface="Arial"/>
                          <a:ea typeface="Arial"/>
                          <a:cs typeface="Arial"/>
                          <a:sym typeface="Arial"/>
                        </a:rPr>
                        <a:t>nhóm</a:t>
                      </a:r>
                      <a:endParaRPr sz="1600" b="1" u="none" strike="noStrike" cap="none">
                        <a:latin typeface="Arial"/>
                        <a:ea typeface="Arial"/>
                        <a:cs typeface="Arial"/>
                        <a:sym typeface="Arial"/>
                      </a:endParaRPr>
                    </a:p>
                  </a:txBody>
                  <a:tcPr marL="68575" marR="68575" marT="0" marB="0"/>
                </a:tc>
                <a:tc>
                  <a:txBody>
                    <a:bodyPr/>
                    <a:lstStyle/>
                    <a:p>
                      <a:pPr marL="0" marR="0" lvl="0" indent="0" algn="ctr" rtl="0">
                        <a:lnSpc>
                          <a:spcPct val="175000"/>
                        </a:lnSpc>
                        <a:spcBef>
                          <a:spcPts val="0"/>
                        </a:spcBef>
                        <a:spcAft>
                          <a:spcPts val="0"/>
                        </a:spcAft>
                        <a:buClr>
                          <a:srgbClr val="000000"/>
                        </a:buClr>
                        <a:buSzPts val="2000"/>
                        <a:buFont typeface="Arial"/>
                        <a:buNone/>
                      </a:pPr>
                      <a:r>
                        <a:rPr lang="en-US" sz="1600" b="1" u="none" strike="noStrike" cap="none" err="1">
                          <a:latin typeface="Arial"/>
                          <a:ea typeface="Arial"/>
                          <a:cs typeface="Arial"/>
                          <a:sym typeface="Arial"/>
                        </a:rPr>
                        <a:t>Đặc</a:t>
                      </a:r>
                      <a:r>
                        <a:rPr lang="en-US" sz="1600" b="1" u="none" strike="noStrike" cap="none">
                          <a:latin typeface="Arial"/>
                          <a:ea typeface="Arial"/>
                          <a:cs typeface="Arial"/>
                          <a:sym typeface="Arial"/>
                        </a:rPr>
                        <a:t> </a:t>
                      </a:r>
                      <a:r>
                        <a:rPr lang="en-US" sz="1600" b="1" u="none" strike="noStrike" cap="none" err="1">
                          <a:latin typeface="Arial"/>
                          <a:ea typeface="Arial"/>
                          <a:cs typeface="Arial"/>
                          <a:sym typeface="Arial"/>
                        </a:rPr>
                        <a:t>tính</a:t>
                      </a:r>
                      <a:endParaRPr sz="1600" b="1" u="none" strike="noStrike" cap="none">
                        <a:latin typeface="Arial"/>
                        <a:ea typeface="Arial"/>
                        <a:cs typeface="Arial"/>
                        <a:sym typeface="Arial"/>
                      </a:endParaRPr>
                    </a:p>
                  </a:txBody>
                  <a:tcPr marL="68575" marR="68575" marT="0" marB="0"/>
                </a:tc>
                <a:extLst>
                  <a:ext uri="{0D108BD9-81ED-4DB2-BD59-A6C34878D82A}">
                    <a16:rowId xmlns:a16="http://schemas.microsoft.com/office/drawing/2014/main" val="10000"/>
                  </a:ext>
                </a:extLst>
              </a:tr>
              <a:tr h="1786000">
                <a:tc>
                  <a:txBody>
                    <a:bodyPr/>
                    <a:lstStyle/>
                    <a:p>
                      <a:pPr marL="0" marR="0" lvl="0" indent="0" algn="ctr" rtl="0">
                        <a:lnSpc>
                          <a:spcPct val="175000"/>
                        </a:lnSpc>
                        <a:spcBef>
                          <a:spcPts val="0"/>
                        </a:spcBef>
                        <a:spcAft>
                          <a:spcPts val="0"/>
                        </a:spcAft>
                        <a:buClr>
                          <a:srgbClr val="000000"/>
                        </a:buClr>
                        <a:buSzPts val="2000"/>
                        <a:buFont typeface="Arial"/>
                        <a:buNone/>
                      </a:pPr>
                      <a:r>
                        <a:rPr lang="en-US" sz="1600" u="none" strike="noStrike" cap="none" err="1">
                          <a:latin typeface="Arial"/>
                          <a:ea typeface="Arial"/>
                          <a:cs typeface="Arial"/>
                          <a:sym typeface="Arial"/>
                        </a:rPr>
                        <a:t>Mức</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độ</a:t>
                      </a:r>
                      <a:br>
                        <a:rPr lang="en-US" sz="1600" u="none" strike="noStrike" cap="none">
                          <a:latin typeface="Arial"/>
                          <a:ea typeface="Arial"/>
                          <a:cs typeface="Arial"/>
                          <a:sym typeface="Arial"/>
                        </a:rPr>
                      </a:br>
                      <a:r>
                        <a:rPr lang="en-US" sz="1600" u="none" strike="noStrike" cap="none" err="1">
                          <a:latin typeface="Arial"/>
                          <a:ea typeface="Arial"/>
                          <a:cs typeface="Arial"/>
                          <a:sym typeface="Arial"/>
                        </a:rPr>
                        <a:t>quan</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hệ</a:t>
                      </a:r>
                      <a:endParaRPr sz="1600" u="none" strike="noStrike" cap="none">
                        <a:latin typeface="Arial"/>
                        <a:ea typeface="Arial"/>
                        <a:cs typeface="Arial"/>
                        <a:sym typeface="Arial"/>
                      </a:endParaRPr>
                    </a:p>
                  </a:txBody>
                  <a:tcPr marL="68575" marR="68575" marT="0" marB="0" anchor="ctr"/>
                </a:tc>
                <a:tc>
                  <a:txBody>
                    <a:bodyPr/>
                    <a:lstStyle/>
                    <a:p>
                      <a:pPr marL="0" marR="0" lvl="0" indent="0" algn="l" rtl="0">
                        <a:lnSpc>
                          <a:spcPct val="175000"/>
                        </a:lnSpc>
                        <a:spcBef>
                          <a:spcPts val="0"/>
                        </a:spcBef>
                        <a:spcAft>
                          <a:spcPts val="0"/>
                        </a:spcAft>
                        <a:buClr>
                          <a:srgbClr val="000000"/>
                        </a:buClr>
                        <a:buSzPts val="2000"/>
                        <a:buFont typeface="Arial"/>
                        <a:buNone/>
                      </a:pPr>
                      <a:r>
                        <a:rPr lang="en-US" sz="1600" u="none" strike="noStrike" cap="none">
                          <a:latin typeface="Arial"/>
                          <a:ea typeface="Arial"/>
                          <a:cs typeface="Arial"/>
                          <a:sym typeface="Arial"/>
                        </a:rPr>
                        <a:t>Nhóm sơ cấp</a:t>
                      </a:r>
                      <a:endParaRPr sz="1600" u="none" strike="noStrike" cap="none">
                        <a:latin typeface="Arial"/>
                        <a:ea typeface="Arial"/>
                        <a:cs typeface="Arial"/>
                        <a:sym typeface="Arial"/>
                      </a:endParaRPr>
                    </a:p>
                    <a:p>
                      <a:pPr marL="0" marR="0" lvl="0" indent="0" algn="l" rtl="0">
                        <a:lnSpc>
                          <a:spcPct val="175000"/>
                        </a:lnSpc>
                        <a:spcBef>
                          <a:spcPts val="0"/>
                        </a:spcBef>
                        <a:spcAft>
                          <a:spcPts val="0"/>
                        </a:spcAft>
                        <a:buClr>
                          <a:srgbClr val="000000"/>
                        </a:buClr>
                        <a:buSzPts val="2000"/>
                        <a:buFont typeface="Arial"/>
                        <a:buNone/>
                      </a:pPr>
                      <a:r>
                        <a:rPr lang="en-US" sz="1600" u="none" strike="noStrike" cap="none">
                          <a:latin typeface="Arial"/>
                          <a:ea typeface="Arial"/>
                          <a:cs typeface="Arial"/>
                          <a:sym typeface="Arial"/>
                        </a:rPr>
                        <a:t> </a:t>
                      </a:r>
                      <a:endParaRPr sz="1600" u="none" strike="noStrike" cap="none">
                        <a:latin typeface="Arial"/>
                        <a:ea typeface="Arial"/>
                        <a:cs typeface="Arial"/>
                        <a:sym typeface="Arial"/>
                      </a:endParaRPr>
                    </a:p>
                    <a:p>
                      <a:pPr marL="0" marR="0" lvl="0" indent="0" algn="l" rtl="0">
                        <a:lnSpc>
                          <a:spcPct val="175000"/>
                        </a:lnSpc>
                        <a:spcBef>
                          <a:spcPts val="0"/>
                        </a:spcBef>
                        <a:spcAft>
                          <a:spcPts val="0"/>
                        </a:spcAft>
                        <a:buClr>
                          <a:srgbClr val="000000"/>
                        </a:buClr>
                        <a:buSzPts val="2000"/>
                        <a:buFont typeface="Arial"/>
                        <a:buNone/>
                      </a:pPr>
                      <a:r>
                        <a:rPr lang="en-US" sz="1600" u="none" strike="noStrike" cap="none">
                          <a:latin typeface="Arial"/>
                          <a:ea typeface="Arial"/>
                          <a:cs typeface="Arial"/>
                          <a:sym typeface="Arial"/>
                        </a:rPr>
                        <a:t>Nhóm thứ cấp</a:t>
                      </a:r>
                      <a:endParaRPr sz="1600" u="none" strike="noStrike" cap="none">
                        <a:latin typeface="Arial"/>
                        <a:ea typeface="Arial"/>
                        <a:cs typeface="Arial"/>
                        <a:sym typeface="Arial"/>
                      </a:endParaRPr>
                    </a:p>
                  </a:txBody>
                  <a:tcPr marL="68575" marR="68575" marT="0" marB="0"/>
                </a:tc>
                <a:tc>
                  <a:txBody>
                    <a:bodyPr/>
                    <a:lstStyle/>
                    <a:p>
                      <a:pPr marL="0" marR="0" lvl="0" indent="0" algn="l" rtl="0">
                        <a:lnSpc>
                          <a:spcPct val="175000"/>
                        </a:lnSpc>
                        <a:spcBef>
                          <a:spcPts val="0"/>
                        </a:spcBef>
                        <a:spcAft>
                          <a:spcPts val="0"/>
                        </a:spcAft>
                        <a:buClr>
                          <a:srgbClr val="000000"/>
                        </a:buClr>
                        <a:buSzPts val="2000"/>
                        <a:buFont typeface="Arial"/>
                        <a:buNone/>
                      </a:pPr>
                      <a:r>
                        <a:rPr lang="en-US" sz="1600" u="none" strike="noStrike" cap="none">
                          <a:latin typeface="Arial"/>
                          <a:ea typeface="Arial"/>
                          <a:cs typeface="Arial"/>
                          <a:sym typeface="Arial"/>
                        </a:rPr>
                        <a:t>Quan </a:t>
                      </a:r>
                      <a:r>
                        <a:rPr lang="en-US" sz="1600" u="none" strike="noStrike" cap="none" err="1">
                          <a:latin typeface="Arial"/>
                          <a:ea typeface="Arial"/>
                          <a:cs typeface="Arial"/>
                          <a:sym typeface="Arial"/>
                        </a:rPr>
                        <a:t>hê</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thường</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xuyên</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thân</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mật</a:t>
                      </a:r>
                      <a:r>
                        <a:rPr lang="en-US" sz="1600" u="none" strike="noStrike" cap="none">
                          <a:latin typeface="Arial"/>
                          <a:ea typeface="Arial"/>
                          <a:cs typeface="Arial"/>
                          <a:sym typeface="Arial"/>
                        </a:rPr>
                        <a:t>, ý </a:t>
                      </a:r>
                      <a:r>
                        <a:rPr lang="en-US" sz="1600" u="none" strike="noStrike" cap="none" err="1">
                          <a:latin typeface="Arial"/>
                          <a:ea typeface="Arial"/>
                          <a:cs typeface="Arial"/>
                          <a:sym typeface="Arial"/>
                        </a:rPr>
                        <a:t>kiến</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quan</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điểm</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của</a:t>
                      </a:r>
                      <a:r>
                        <a:rPr lang="en-US" sz="1600" u="none" strike="noStrike" cap="none">
                          <a:latin typeface="Arial"/>
                          <a:ea typeface="Arial"/>
                          <a:cs typeface="Arial"/>
                          <a:sym typeface="Arial"/>
                        </a:rPr>
                        <a:t> cá </a:t>
                      </a:r>
                      <a:r>
                        <a:rPr lang="en-US" sz="1600" u="none" strike="noStrike" cap="none" err="1">
                          <a:latin typeface="Arial"/>
                          <a:ea typeface="Arial"/>
                          <a:cs typeface="Arial"/>
                          <a:sym typeface="Arial"/>
                        </a:rPr>
                        <a:t>nhân</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được</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quan</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tâm</a:t>
                      </a:r>
                      <a:r>
                        <a:rPr lang="en-US" sz="1600" u="none" strike="noStrike" cap="none">
                          <a:latin typeface="Arial"/>
                          <a:ea typeface="Arial"/>
                          <a:cs typeface="Arial"/>
                          <a:sym typeface="Arial"/>
                        </a:rPr>
                        <a:t>.</a:t>
                      </a:r>
                      <a:endParaRPr sz="1600" u="none" strike="noStrike" cap="none">
                        <a:latin typeface="Arial"/>
                        <a:ea typeface="Arial"/>
                        <a:cs typeface="Arial"/>
                        <a:sym typeface="Arial"/>
                      </a:endParaRPr>
                    </a:p>
                    <a:p>
                      <a:pPr marL="0" marR="0" lvl="0" indent="0" algn="l" rtl="0">
                        <a:lnSpc>
                          <a:spcPct val="175000"/>
                        </a:lnSpc>
                        <a:spcBef>
                          <a:spcPts val="0"/>
                        </a:spcBef>
                        <a:spcAft>
                          <a:spcPts val="0"/>
                        </a:spcAft>
                        <a:buClr>
                          <a:srgbClr val="000000"/>
                        </a:buClr>
                        <a:buSzPts val="2000"/>
                        <a:buFont typeface="Arial"/>
                        <a:buNone/>
                      </a:pPr>
                      <a:r>
                        <a:rPr lang="en-US" sz="1600" u="none" strike="noStrike" cap="none">
                          <a:latin typeface="Arial"/>
                          <a:ea typeface="Arial"/>
                          <a:cs typeface="Arial"/>
                          <a:sym typeface="Arial"/>
                        </a:rPr>
                        <a:t>Quan </a:t>
                      </a:r>
                      <a:r>
                        <a:rPr lang="en-US" sz="1600" u="none" strike="noStrike" cap="none" err="1">
                          <a:latin typeface="Arial"/>
                          <a:ea typeface="Arial"/>
                          <a:cs typeface="Arial"/>
                          <a:sym typeface="Arial"/>
                        </a:rPr>
                        <a:t>hê</a:t>
                      </a:r>
                      <a:r>
                        <a:rPr lang="en-US" sz="1600" u="none" strike="noStrike" cap="none">
                          <a:latin typeface="Arial"/>
                          <a:ea typeface="Arial"/>
                          <a:cs typeface="Arial"/>
                          <a:sym typeface="Arial"/>
                        </a:rPr>
                        <a:t>̣ có </a:t>
                      </a:r>
                      <a:r>
                        <a:rPr lang="en-US" sz="1600" u="none" strike="noStrike" cap="none" err="1">
                          <a:latin typeface="Arial"/>
                          <a:ea typeface="Arial"/>
                          <a:cs typeface="Arial"/>
                          <a:sym typeface="Arial"/>
                        </a:rPr>
                        <a:t>thê</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thường</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xuyên</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thiếu</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sư</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thân</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mật</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không</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quan</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tâm</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đến</a:t>
                      </a:r>
                      <a:r>
                        <a:rPr lang="en-US" sz="1600" u="none" strike="noStrike" cap="none">
                          <a:latin typeface="Arial"/>
                          <a:ea typeface="Arial"/>
                          <a:cs typeface="Arial"/>
                          <a:sym typeface="Arial"/>
                        </a:rPr>
                        <a:t> ý </a:t>
                      </a:r>
                      <a:r>
                        <a:rPr lang="en-US" sz="1600" u="none" strike="noStrike" cap="none" err="1">
                          <a:latin typeface="Arial"/>
                          <a:ea typeface="Arial"/>
                          <a:cs typeface="Arial"/>
                          <a:sym typeface="Arial"/>
                        </a:rPr>
                        <a:t>kiến</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người</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khác</a:t>
                      </a:r>
                      <a:r>
                        <a:rPr lang="en-US" sz="1600" u="none" strike="noStrike" cap="none">
                          <a:latin typeface="Arial"/>
                          <a:ea typeface="Arial"/>
                          <a:cs typeface="Arial"/>
                          <a:sym typeface="Arial"/>
                        </a:rPr>
                        <a:t>.</a:t>
                      </a:r>
                      <a:endParaRPr sz="1600" u="none" strike="noStrike" cap="none">
                        <a:latin typeface="Arial"/>
                        <a:ea typeface="Arial"/>
                        <a:cs typeface="Arial"/>
                        <a:sym typeface="Arial"/>
                      </a:endParaRPr>
                    </a:p>
                  </a:txBody>
                  <a:tcPr marL="68575" marR="68575" marT="0" marB="0"/>
                </a:tc>
                <a:extLst>
                  <a:ext uri="{0D108BD9-81ED-4DB2-BD59-A6C34878D82A}">
                    <a16:rowId xmlns:a16="http://schemas.microsoft.com/office/drawing/2014/main" val="10001"/>
                  </a:ext>
                </a:extLst>
              </a:tr>
              <a:tr h="1552238">
                <a:tc>
                  <a:txBody>
                    <a:bodyPr/>
                    <a:lstStyle/>
                    <a:p>
                      <a:pPr marL="0" marR="0" lvl="0" indent="0" algn="ctr" rtl="0">
                        <a:lnSpc>
                          <a:spcPct val="175000"/>
                        </a:lnSpc>
                        <a:spcBef>
                          <a:spcPts val="0"/>
                        </a:spcBef>
                        <a:spcAft>
                          <a:spcPts val="0"/>
                        </a:spcAft>
                        <a:buClr>
                          <a:srgbClr val="000000"/>
                        </a:buClr>
                        <a:buSzPts val="2000"/>
                        <a:buFont typeface="Arial"/>
                        <a:buNone/>
                      </a:pPr>
                      <a:r>
                        <a:rPr lang="en-US" sz="1600" u="none" strike="noStrike" cap="none">
                          <a:latin typeface="Arial"/>
                          <a:ea typeface="Arial"/>
                          <a:cs typeface="Arial"/>
                          <a:sym typeface="Arial"/>
                        </a:rPr>
                        <a:t>Mức độ</a:t>
                      </a:r>
                      <a:br>
                        <a:rPr lang="en-US" sz="1600" u="none" strike="noStrike" cap="none">
                          <a:latin typeface="Arial"/>
                          <a:ea typeface="Arial"/>
                          <a:cs typeface="Arial"/>
                          <a:sym typeface="Arial"/>
                        </a:rPr>
                      </a:br>
                      <a:r>
                        <a:rPr lang="en-US" sz="1600" u="none" strike="noStrike" cap="none">
                          <a:latin typeface="Arial"/>
                          <a:ea typeface="Arial"/>
                          <a:cs typeface="Arial"/>
                          <a:sym typeface="Arial"/>
                        </a:rPr>
                        <a:t>ảnh hưởng</a:t>
                      </a:r>
                      <a:endParaRPr sz="1600" u="none" strike="noStrike" cap="none">
                        <a:latin typeface="Arial"/>
                        <a:ea typeface="Arial"/>
                        <a:cs typeface="Arial"/>
                        <a:sym typeface="Arial"/>
                      </a:endParaRPr>
                    </a:p>
                  </a:txBody>
                  <a:tcPr marL="68575" marR="68575" marT="0" marB="0" anchor="ctr"/>
                </a:tc>
                <a:tc>
                  <a:txBody>
                    <a:bodyPr/>
                    <a:lstStyle/>
                    <a:p>
                      <a:pPr marL="0" marR="0" lvl="0" indent="0" algn="l" rtl="0">
                        <a:lnSpc>
                          <a:spcPct val="175000"/>
                        </a:lnSpc>
                        <a:spcBef>
                          <a:spcPts val="0"/>
                        </a:spcBef>
                        <a:spcAft>
                          <a:spcPts val="0"/>
                        </a:spcAft>
                        <a:buClr>
                          <a:srgbClr val="000000"/>
                        </a:buClr>
                        <a:buSzPts val="2000"/>
                        <a:buFont typeface="Arial"/>
                        <a:buNone/>
                      </a:pPr>
                      <a:r>
                        <a:rPr lang="en-US" sz="1600" u="none" strike="noStrike" cap="none">
                          <a:latin typeface="Arial"/>
                          <a:ea typeface="Arial"/>
                          <a:cs typeface="Arial"/>
                          <a:sym typeface="Arial"/>
                        </a:rPr>
                        <a:t>Nhóm thành viên </a:t>
                      </a:r>
                      <a:endParaRPr sz="1600" u="none" strike="noStrike" cap="none">
                        <a:latin typeface="Arial"/>
                        <a:ea typeface="Arial"/>
                        <a:cs typeface="Arial"/>
                        <a:sym typeface="Arial"/>
                      </a:endParaRPr>
                    </a:p>
                    <a:p>
                      <a:pPr marL="0" marR="0" lvl="0" indent="0" algn="l" rtl="0">
                        <a:lnSpc>
                          <a:spcPct val="175000"/>
                        </a:lnSpc>
                        <a:spcBef>
                          <a:spcPts val="0"/>
                        </a:spcBef>
                        <a:spcAft>
                          <a:spcPts val="0"/>
                        </a:spcAft>
                        <a:buClr>
                          <a:srgbClr val="000000"/>
                        </a:buClr>
                        <a:buSzPts val="2000"/>
                        <a:buFont typeface="Arial"/>
                        <a:buNone/>
                      </a:pPr>
                      <a:r>
                        <a:rPr lang="en-US" sz="1600" u="none" strike="noStrike" cap="none">
                          <a:latin typeface="Arial"/>
                          <a:ea typeface="Arial"/>
                          <a:cs typeface="Arial"/>
                          <a:sym typeface="Arial"/>
                        </a:rPr>
                        <a:t>Nhóm biểu tượng</a:t>
                      </a:r>
                      <a:endParaRPr sz="1600" u="none" strike="noStrike" cap="none">
                        <a:latin typeface="Arial"/>
                        <a:ea typeface="Arial"/>
                        <a:cs typeface="Arial"/>
                        <a:sym typeface="Arial"/>
                      </a:endParaRPr>
                    </a:p>
                  </a:txBody>
                  <a:tcPr marL="68575" marR="68575" marT="0" marB="0"/>
                </a:tc>
                <a:tc>
                  <a:txBody>
                    <a:bodyPr/>
                    <a:lstStyle/>
                    <a:p>
                      <a:pPr marL="0" marR="0" lvl="0" indent="0" algn="l" rtl="0">
                        <a:lnSpc>
                          <a:spcPct val="175000"/>
                        </a:lnSpc>
                        <a:spcBef>
                          <a:spcPts val="0"/>
                        </a:spcBef>
                        <a:spcAft>
                          <a:spcPts val="0"/>
                        </a:spcAft>
                        <a:buClr>
                          <a:srgbClr val="000000"/>
                        </a:buClr>
                        <a:buSzPts val="2000"/>
                        <a:buFont typeface="Arial"/>
                        <a:buNone/>
                      </a:pPr>
                      <a:r>
                        <a:rPr lang="en-US" sz="1600" u="none" strike="noStrike" cap="none">
                          <a:latin typeface="Arial"/>
                          <a:ea typeface="Arial"/>
                          <a:cs typeface="Arial"/>
                          <a:sym typeface="Arial"/>
                        </a:rPr>
                        <a:t>Cá nhân là thành viên của nhóm.</a:t>
                      </a:r>
                      <a:endParaRPr sz="1600" u="none" strike="noStrike" cap="none">
                        <a:latin typeface="Arial"/>
                        <a:ea typeface="Arial"/>
                        <a:cs typeface="Arial"/>
                        <a:sym typeface="Arial"/>
                      </a:endParaRPr>
                    </a:p>
                    <a:p>
                      <a:pPr marL="0" marR="0" lvl="0" indent="0" algn="l" rtl="0">
                        <a:lnSpc>
                          <a:spcPct val="175000"/>
                        </a:lnSpc>
                        <a:spcBef>
                          <a:spcPts val="0"/>
                        </a:spcBef>
                        <a:spcAft>
                          <a:spcPts val="0"/>
                        </a:spcAft>
                        <a:buClr>
                          <a:srgbClr val="000000"/>
                        </a:buClr>
                        <a:buSzPts val="2000"/>
                        <a:buFont typeface="Arial"/>
                        <a:buNone/>
                      </a:pPr>
                      <a:r>
                        <a:rPr lang="en-US" sz="1600" u="none" strike="noStrike" cap="none">
                          <a:latin typeface="Arial"/>
                          <a:ea typeface="Arial"/>
                          <a:cs typeface="Arial"/>
                          <a:sym typeface="Arial"/>
                        </a:rPr>
                        <a:t>Cá nhân không thể gia nhập nhóm bắt chước giá trị, thái độ, hành vi của nhóm.</a:t>
                      </a:r>
                      <a:endParaRPr sz="1600" u="none" strike="noStrike" cap="none">
                        <a:latin typeface="Arial"/>
                        <a:ea typeface="Arial"/>
                        <a:cs typeface="Arial"/>
                        <a:sym typeface="Arial"/>
                      </a:endParaRPr>
                    </a:p>
                  </a:txBody>
                  <a:tcPr marL="68575" marR="68575" marT="0" marB="0"/>
                </a:tc>
                <a:extLst>
                  <a:ext uri="{0D108BD9-81ED-4DB2-BD59-A6C34878D82A}">
                    <a16:rowId xmlns:a16="http://schemas.microsoft.com/office/drawing/2014/main" val="10002"/>
                  </a:ext>
                </a:extLst>
              </a:tr>
              <a:tr h="2095271">
                <a:tc>
                  <a:txBody>
                    <a:bodyPr/>
                    <a:lstStyle/>
                    <a:p>
                      <a:pPr marL="0" marR="0" lvl="0" indent="0" algn="ctr" rtl="0">
                        <a:lnSpc>
                          <a:spcPct val="175000"/>
                        </a:lnSpc>
                        <a:spcBef>
                          <a:spcPts val="0"/>
                        </a:spcBef>
                        <a:spcAft>
                          <a:spcPts val="0"/>
                        </a:spcAft>
                        <a:buClr>
                          <a:srgbClr val="000000"/>
                        </a:buClr>
                        <a:buSzPts val="2000"/>
                        <a:buFont typeface="Arial"/>
                        <a:buNone/>
                      </a:pPr>
                      <a:r>
                        <a:rPr lang="en-US" sz="1600" u="none" strike="noStrike" cap="none">
                          <a:latin typeface="Arial"/>
                          <a:ea typeface="Arial"/>
                          <a:cs typeface="Arial"/>
                          <a:sym typeface="Arial"/>
                        </a:rPr>
                        <a:t>Tính chất</a:t>
                      </a:r>
                      <a:br>
                        <a:rPr lang="en-US" sz="1600" u="none" strike="noStrike" cap="none">
                          <a:latin typeface="Arial"/>
                          <a:ea typeface="Arial"/>
                          <a:cs typeface="Arial"/>
                          <a:sym typeface="Arial"/>
                        </a:rPr>
                      </a:br>
                      <a:r>
                        <a:rPr lang="en-US" sz="1600" u="none" strike="noStrike" cap="none">
                          <a:latin typeface="Arial"/>
                          <a:ea typeface="Arial"/>
                          <a:cs typeface="Arial"/>
                          <a:sym typeface="Arial"/>
                        </a:rPr>
                        <a:t>tổ chức</a:t>
                      </a:r>
                      <a:endParaRPr sz="1600" u="none" strike="noStrike" cap="none">
                        <a:latin typeface="Arial"/>
                        <a:ea typeface="Arial"/>
                        <a:cs typeface="Arial"/>
                        <a:sym typeface="Arial"/>
                      </a:endParaRPr>
                    </a:p>
                  </a:txBody>
                  <a:tcPr marL="68575" marR="68575" marT="0" marB="0" anchor="ctr"/>
                </a:tc>
                <a:tc>
                  <a:txBody>
                    <a:bodyPr/>
                    <a:lstStyle/>
                    <a:p>
                      <a:pPr marL="0" marR="0" lvl="0" indent="0" algn="l" rtl="0">
                        <a:lnSpc>
                          <a:spcPct val="175000"/>
                        </a:lnSpc>
                        <a:spcBef>
                          <a:spcPts val="0"/>
                        </a:spcBef>
                        <a:spcAft>
                          <a:spcPts val="0"/>
                        </a:spcAft>
                        <a:buClr>
                          <a:srgbClr val="000000"/>
                        </a:buClr>
                        <a:buSzPts val="2000"/>
                        <a:buFont typeface="Arial"/>
                        <a:buNone/>
                      </a:pPr>
                      <a:r>
                        <a:rPr lang="en-US" sz="1600" u="none" strike="noStrike" cap="none">
                          <a:latin typeface="Arial"/>
                          <a:ea typeface="Arial"/>
                          <a:cs typeface="Arial"/>
                          <a:sym typeface="Arial"/>
                        </a:rPr>
                        <a:t>Nhóm chính thức</a:t>
                      </a:r>
                      <a:endParaRPr sz="1600" u="none" strike="noStrike" cap="none">
                        <a:latin typeface="Arial"/>
                        <a:ea typeface="Arial"/>
                        <a:cs typeface="Arial"/>
                        <a:sym typeface="Arial"/>
                      </a:endParaRPr>
                    </a:p>
                    <a:p>
                      <a:pPr marL="0" marR="0" lvl="0" indent="0" algn="l" rtl="0">
                        <a:lnSpc>
                          <a:spcPct val="175000"/>
                        </a:lnSpc>
                        <a:spcBef>
                          <a:spcPts val="0"/>
                        </a:spcBef>
                        <a:spcAft>
                          <a:spcPts val="0"/>
                        </a:spcAft>
                        <a:buClr>
                          <a:srgbClr val="000000"/>
                        </a:buClr>
                        <a:buSzPts val="2000"/>
                        <a:buFont typeface="Arial"/>
                        <a:buNone/>
                      </a:pPr>
                      <a:r>
                        <a:rPr lang="en-US" sz="1600" u="none" strike="noStrike" cap="none">
                          <a:latin typeface="Arial"/>
                          <a:ea typeface="Arial"/>
                          <a:cs typeface="Arial"/>
                          <a:sym typeface="Arial"/>
                        </a:rPr>
                        <a:t> </a:t>
                      </a:r>
                      <a:endParaRPr sz="1600" u="none" strike="noStrike" cap="none">
                        <a:latin typeface="Arial"/>
                        <a:ea typeface="Arial"/>
                        <a:cs typeface="Arial"/>
                        <a:sym typeface="Arial"/>
                      </a:endParaRPr>
                    </a:p>
                    <a:p>
                      <a:pPr marL="0" marR="0" lvl="0" indent="0" algn="l" rtl="0">
                        <a:lnSpc>
                          <a:spcPct val="175000"/>
                        </a:lnSpc>
                        <a:spcBef>
                          <a:spcPts val="0"/>
                        </a:spcBef>
                        <a:spcAft>
                          <a:spcPts val="0"/>
                        </a:spcAft>
                        <a:buClr>
                          <a:srgbClr val="000000"/>
                        </a:buClr>
                        <a:buSzPts val="2000"/>
                        <a:buFont typeface="Arial"/>
                        <a:buNone/>
                      </a:pPr>
                      <a:r>
                        <a:rPr lang="en-US" sz="1600" u="none" strike="noStrike" cap="none">
                          <a:latin typeface="Arial"/>
                          <a:ea typeface="Arial"/>
                          <a:cs typeface="Arial"/>
                          <a:sym typeface="Arial"/>
                        </a:rPr>
                        <a:t>Nhóm không chính thức                                                                                  </a:t>
                      </a:r>
                      <a:endParaRPr sz="1600" u="none" strike="noStrike" cap="none">
                        <a:latin typeface="Arial"/>
                        <a:ea typeface="Arial"/>
                        <a:cs typeface="Arial"/>
                        <a:sym typeface="Arial"/>
                      </a:endParaRPr>
                    </a:p>
                  </a:txBody>
                  <a:tcPr marL="68575" marR="68575" marT="0" marB="0"/>
                </a:tc>
                <a:tc>
                  <a:txBody>
                    <a:bodyPr/>
                    <a:lstStyle/>
                    <a:p>
                      <a:pPr marL="0" marR="0" lvl="0" indent="0" algn="l" rtl="0">
                        <a:lnSpc>
                          <a:spcPct val="175000"/>
                        </a:lnSpc>
                        <a:spcBef>
                          <a:spcPts val="0"/>
                        </a:spcBef>
                        <a:spcAft>
                          <a:spcPts val="0"/>
                        </a:spcAft>
                        <a:buClr>
                          <a:srgbClr val="000000"/>
                        </a:buClr>
                        <a:buSzPts val="2000"/>
                        <a:buFont typeface="Arial"/>
                        <a:buNone/>
                      </a:pPr>
                      <a:r>
                        <a:rPr lang="en-US" sz="1600" u="none" strike="noStrike" cap="none">
                          <a:latin typeface="Arial"/>
                          <a:ea typeface="Arial"/>
                          <a:cs typeface="Arial"/>
                          <a:sym typeface="Arial"/>
                        </a:rPr>
                        <a:t>Có </a:t>
                      </a:r>
                      <a:r>
                        <a:rPr lang="en-US" sz="1600" u="none" strike="noStrike" cap="none" err="1">
                          <a:latin typeface="Arial"/>
                          <a:ea typeface="Arial"/>
                          <a:cs typeface="Arial"/>
                          <a:sym typeface="Arial"/>
                        </a:rPr>
                        <a:t>cơ</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cấu</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tô</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chức</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rõ</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ràng</a:t>
                      </a:r>
                      <a:r>
                        <a:rPr lang="en-US" sz="1600" u="none" strike="noStrike" cap="none">
                          <a:latin typeface="Arial"/>
                          <a:ea typeface="Arial"/>
                          <a:cs typeface="Arial"/>
                          <a:sym typeface="Arial"/>
                        </a:rPr>
                        <a:t>, có </a:t>
                      </a:r>
                      <a:r>
                        <a:rPr lang="en-US" sz="1600" u="none" strike="noStrike" cap="none" err="1">
                          <a:latin typeface="Arial"/>
                          <a:ea typeface="Arial"/>
                          <a:cs typeface="Arial"/>
                          <a:sym typeface="Arial"/>
                        </a:rPr>
                        <a:t>nguyên</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tắc</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chung</a:t>
                      </a:r>
                      <a:r>
                        <a:rPr lang="en-US" sz="1600" u="none" strike="noStrike" cap="none">
                          <a:latin typeface="Arial"/>
                          <a:ea typeface="Arial"/>
                          <a:cs typeface="Arial"/>
                          <a:sym typeface="Arial"/>
                        </a:rPr>
                        <a:t>, có </a:t>
                      </a:r>
                      <a:r>
                        <a:rPr lang="en-US" sz="1600" u="none" strike="noStrike" cap="none" err="1">
                          <a:latin typeface="Arial"/>
                          <a:ea typeface="Arial"/>
                          <a:cs typeface="Arial"/>
                          <a:sym typeface="Arial"/>
                        </a:rPr>
                        <a:t>mục</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đích</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riêng</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một</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sô</a:t>
                      </a:r>
                      <a:r>
                        <a:rPr lang="en-US" sz="1600" u="none" strike="noStrike" cap="none">
                          <a:latin typeface="Arial"/>
                          <a:ea typeface="Arial"/>
                          <a:cs typeface="Arial"/>
                          <a:sym typeface="Arial"/>
                        </a:rPr>
                        <a:t>́ cá </a:t>
                      </a:r>
                      <a:r>
                        <a:rPr lang="en-US" sz="1600" u="none" strike="noStrike" cap="none" err="1">
                          <a:latin typeface="Arial"/>
                          <a:ea typeface="Arial"/>
                          <a:cs typeface="Arial"/>
                          <a:sym typeface="Arial"/>
                        </a:rPr>
                        <a:t>nhân</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giữ</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vai</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trò</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điều</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hành</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nhóm</a:t>
                      </a:r>
                      <a:r>
                        <a:rPr lang="en-US" sz="1600" u="none" strike="noStrike" cap="none">
                          <a:latin typeface="Arial"/>
                          <a:ea typeface="Arial"/>
                          <a:cs typeface="Arial"/>
                          <a:sym typeface="Arial"/>
                        </a:rPr>
                        <a:t>.</a:t>
                      </a:r>
                      <a:endParaRPr sz="1600" u="none" strike="noStrike" cap="none">
                        <a:latin typeface="Arial"/>
                        <a:ea typeface="Arial"/>
                        <a:cs typeface="Arial"/>
                        <a:sym typeface="Arial"/>
                      </a:endParaRPr>
                    </a:p>
                    <a:p>
                      <a:pPr marL="0" marR="0" lvl="0" indent="0" algn="l" rtl="0">
                        <a:lnSpc>
                          <a:spcPct val="175000"/>
                        </a:lnSpc>
                        <a:spcBef>
                          <a:spcPts val="0"/>
                        </a:spcBef>
                        <a:spcAft>
                          <a:spcPts val="0"/>
                        </a:spcAft>
                        <a:buClr>
                          <a:srgbClr val="000000"/>
                        </a:buClr>
                        <a:buSzPts val="2000"/>
                        <a:buFont typeface="Arial"/>
                        <a:buNone/>
                      </a:pPr>
                      <a:r>
                        <a:rPr lang="en-US" sz="1600" u="none" strike="noStrike" cap="none" err="1">
                          <a:latin typeface="Arial"/>
                          <a:ea typeface="Arial"/>
                          <a:cs typeface="Arial"/>
                          <a:sym typeface="Arial"/>
                        </a:rPr>
                        <a:t>Tô</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chức</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lỏng</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lẻo</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thiếu</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mục</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đích</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những</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nguyên</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tắc</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không</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được</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viết</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thành</a:t>
                      </a:r>
                      <a:r>
                        <a:rPr lang="en-US" sz="1600" u="none" strike="noStrike" cap="none">
                          <a:latin typeface="Arial"/>
                          <a:ea typeface="Arial"/>
                          <a:cs typeface="Arial"/>
                          <a:sym typeface="Arial"/>
                        </a:rPr>
                        <a:t> </a:t>
                      </a:r>
                      <a:r>
                        <a:rPr lang="en-US" sz="1600" u="none" strike="noStrike" cap="none" err="1">
                          <a:latin typeface="Arial"/>
                          <a:ea typeface="Arial"/>
                          <a:cs typeface="Arial"/>
                          <a:sym typeface="Arial"/>
                        </a:rPr>
                        <a:t>văn</a:t>
                      </a:r>
                      <a:r>
                        <a:rPr lang="en-US" sz="1600" u="none" strike="noStrike" cap="none">
                          <a:latin typeface="Arial"/>
                          <a:ea typeface="Arial"/>
                          <a:cs typeface="Arial"/>
                          <a:sym typeface="Arial"/>
                        </a:rPr>
                        <a:t>. </a:t>
                      </a:r>
                      <a:endParaRPr sz="1600" u="none" strike="noStrike" cap="none">
                        <a:latin typeface="Arial"/>
                        <a:ea typeface="Arial"/>
                        <a:cs typeface="Arial"/>
                        <a:sym typeface="Arial"/>
                      </a:endParaRPr>
                    </a:p>
                  </a:txBody>
                  <a:tcPr marL="68575" marR="68575" marT="0" marB="0"/>
                </a:tc>
                <a:extLst>
                  <a:ext uri="{0D108BD9-81ED-4DB2-BD59-A6C34878D82A}">
                    <a16:rowId xmlns:a16="http://schemas.microsoft.com/office/drawing/2014/main" val="10003"/>
                  </a:ext>
                </a:extLst>
              </a:tr>
            </a:tbl>
          </a:graphicData>
        </a:graphic>
      </p:graphicFrame>
      <p:sp>
        <p:nvSpPr>
          <p:cNvPr id="691" name="Google Shape;691;p92"/>
          <p:cNvSpPr txBox="1"/>
          <p:nvPr/>
        </p:nvSpPr>
        <p:spPr>
          <a:xfrm>
            <a:off x="2405275" y="6090734"/>
            <a:ext cx="6572446" cy="421998"/>
          </a:xfrm>
          <a:prstGeom prst="rect">
            <a:avLst/>
          </a:prstGeom>
          <a:noFill/>
          <a:ln>
            <a:noFill/>
          </a:ln>
        </p:spPr>
        <p:txBody>
          <a:bodyPr spcFirstLastPara="1" wrap="square" lIns="91425" tIns="45700" rIns="91425" bIns="45700" anchor="t" anchorCtr="0">
            <a:noAutofit/>
          </a:bodyPr>
          <a:lstStyle/>
          <a:p>
            <a:pPr marL="228600" marR="0" lvl="0" indent="0" algn="ctr" rtl="0">
              <a:lnSpc>
                <a:spcPct val="150000"/>
              </a:lnSpc>
              <a:spcBef>
                <a:spcPts val="0"/>
              </a:spcBef>
              <a:spcAft>
                <a:spcPts val="0"/>
              </a:spcAft>
              <a:buClr>
                <a:schemeClr val="dk1"/>
              </a:buClr>
              <a:buSzPts val="2800"/>
              <a:buFont typeface="Noto Sans Symbols"/>
              <a:buNone/>
            </a:pPr>
            <a:r>
              <a:rPr lang="en-US" sz="2000" b="1" i="0" u="none" strike="noStrike" cap="none" err="1">
                <a:solidFill>
                  <a:schemeClr val="dk1"/>
                </a:solidFill>
                <a:latin typeface="Arial"/>
                <a:ea typeface="Arial"/>
                <a:cs typeface="Arial"/>
                <a:sym typeface="Arial"/>
              </a:rPr>
              <a:t>Bảng</a:t>
            </a:r>
            <a:r>
              <a:rPr lang="en-US" sz="2000" b="1" i="0" u="none" strike="noStrike" cap="none">
                <a:solidFill>
                  <a:schemeClr val="dk1"/>
                </a:solidFill>
                <a:latin typeface="Arial"/>
                <a:ea typeface="Arial"/>
                <a:cs typeface="Arial"/>
                <a:sym typeface="Arial"/>
              </a:rPr>
              <a:t> 3.1: </a:t>
            </a:r>
            <a:r>
              <a:rPr lang="en-US" sz="2000" b="1" i="0" u="none" strike="noStrike" cap="none" err="1">
                <a:solidFill>
                  <a:schemeClr val="dk1"/>
                </a:solidFill>
                <a:latin typeface="Arial"/>
                <a:ea typeface="Arial"/>
                <a:cs typeface="Arial"/>
                <a:sym typeface="Arial"/>
              </a:rPr>
              <a:t>Phân</a:t>
            </a:r>
            <a:r>
              <a:rPr lang="en-US" sz="2000" b="1" i="0" u="none" strike="noStrike" cap="none">
                <a:solidFill>
                  <a:schemeClr val="dk1"/>
                </a:solidFill>
                <a:latin typeface="Arial"/>
                <a:ea typeface="Arial"/>
                <a:cs typeface="Arial"/>
                <a:sym typeface="Arial"/>
              </a:rPr>
              <a:t> </a:t>
            </a:r>
            <a:r>
              <a:rPr lang="en-US" sz="2000" b="1" i="0" u="none" strike="noStrike" cap="none" err="1">
                <a:solidFill>
                  <a:schemeClr val="dk1"/>
                </a:solidFill>
                <a:latin typeface="Arial"/>
                <a:ea typeface="Arial"/>
                <a:cs typeface="Arial"/>
                <a:sym typeface="Arial"/>
              </a:rPr>
              <a:t>loại</a:t>
            </a:r>
            <a:r>
              <a:rPr lang="en-US" sz="2000" b="1" i="0" u="none" strike="noStrike" cap="none">
                <a:solidFill>
                  <a:schemeClr val="dk1"/>
                </a:solidFill>
                <a:latin typeface="Arial"/>
                <a:ea typeface="Arial"/>
                <a:cs typeface="Arial"/>
                <a:sym typeface="Arial"/>
              </a:rPr>
              <a:t> </a:t>
            </a:r>
            <a:r>
              <a:rPr lang="en-US" sz="2000" b="1" i="0" u="none" strike="noStrike" cap="none" err="1">
                <a:solidFill>
                  <a:schemeClr val="dk1"/>
                </a:solidFill>
                <a:latin typeface="Arial"/>
                <a:ea typeface="Arial"/>
                <a:cs typeface="Arial"/>
                <a:sym typeface="Arial"/>
              </a:rPr>
              <a:t>nhóm</a:t>
            </a:r>
            <a:r>
              <a:rPr lang="en-US" sz="2000" b="1" i="0" u="none" strike="noStrike" cap="none">
                <a:solidFill>
                  <a:schemeClr val="dk1"/>
                </a:solidFill>
                <a:latin typeface="Arial"/>
                <a:ea typeface="Arial"/>
                <a:cs typeface="Arial"/>
                <a:sym typeface="Arial"/>
              </a:rPr>
              <a:t> </a:t>
            </a:r>
            <a:r>
              <a:rPr lang="en-US" sz="2000" b="1" i="0" u="none" strike="noStrike" cap="none" err="1">
                <a:solidFill>
                  <a:schemeClr val="dk1"/>
                </a:solidFill>
                <a:latin typeface="Arial"/>
                <a:ea typeface="Arial"/>
                <a:cs typeface="Arial"/>
                <a:sym typeface="Arial"/>
              </a:rPr>
              <a:t>xã</a:t>
            </a:r>
            <a:r>
              <a:rPr lang="en-US" sz="2000" b="1" i="0" u="none" strike="noStrike" cap="none">
                <a:solidFill>
                  <a:schemeClr val="dk1"/>
                </a:solidFill>
                <a:latin typeface="Arial"/>
                <a:ea typeface="Arial"/>
                <a:cs typeface="Arial"/>
                <a:sym typeface="Arial"/>
              </a:rPr>
              <a:t> </a:t>
            </a:r>
            <a:r>
              <a:rPr lang="en-US" sz="2000" b="1" i="0" u="none" strike="noStrike" cap="none" err="1">
                <a:solidFill>
                  <a:schemeClr val="dk1"/>
                </a:solidFill>
                <a:latin typeface="Arial"/>
                <a:ea typeface="Arial"/>
                <a:cs typeface="Arial"/>
                <a:sym typeface="Arial"/>
              </a:rPr>
              <a:t>hội</a:t>
            </a:r>
            <a:endParaRPr sz="2000" b="1" i="0" u="none" strike="noStrike" cap="none">
              <a:solidFill>
                <a:schemeClr val="dk1"/>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93"/>
          <p:cNvSpPr txBox="1">
            <a:spLocks noGrp="1"/>
          </p:cNvSpPr>
          <p:nvPr>
            <p:ph type="title"/>
          </p:nvPr>
        </p:nvSpPr>
        <p:spPr>
          <a:xfrm>
            <a:off x="137809" y="18255"/>
            <a:ext cx="11215991" cy="1325563"/>
          </a:xfrm>
          <a:prstGeom prst="rect">
            <a:avLst/>
          </a:prstGeom>
          <a:noFill/>
          <a:ln>
            <a:noFill/>
          </a:ln>
        </p:spPr>
        <p:txBody>
          <a:bodyPr spcFirstLastPara="1" wrap="square" lIns="91425" tIns="45700" rIns="91425" bIns="45700" anchor="ctr" anchorCtr="0">
            <a:normAutofit/>
          </a:bodyPr>
          <a:lstStyle/>
          <a:p>
            <a:pPr marL="0" lvl="0" indent="0" rtl="0">
              <a:lnSpc>
                <a:spcPct val="90000"/>
              </a:lnSpc>
              <a:spcBef>
                <a:spcPts val="0"/>
              </a:spcBef>
              <a:spcAft>
                <a:spcPts val="0"/>
              </a:spcAft>
              <a:buClr>
                <a:schemeClr val="dk1"/>
              </a:buClr>
              <a:buSzPts val="3200"/>
              <a:buFont typeface="Arial"/>
              <a:buNone/>
            </a:pPr>
            <a:r>
              <a:rPr lang="en-US" sz="3200" b="1">
                <a:latin typeface="Arial"/>
                <a:ea typeface="Arial"/>
                <a:cs typeface="Arial"/>
                <a:sym typeface="Arial"/>
              </a:rPr>
              <a:t> </a:t>
            </a:r>
            <a:r>
              <a:rPr lang="en-US" sz="3200" b="1" err="1">
                <a:latin typeface="Arial"/>
                <a:ea typeface="Arial"/>
                <a:cs typeface="Arial"/>
                <a:sym typeface="Arial"/>
              </a:rPr>
              <a:t>Ảnh</a:t>
            </a:r>
            <a:r>
              <a:rPr lang="en-US" sz="3200" b="1">
                <a:latin typeface="Arial"/>
                <a:ea typeface="Arial"/>
                <a:cs typeface="Arial"/>
                <a:sym typeface="Arial"/>
              </a:rPr>
              <a:t> </a:t>
            </a:r>
            <a:r>
              <a:rPr lang="en-US" sz="3200" b="1" err="1">
                <a:latin typeface="Arial"/>
                <a:ea typeface="Arial"/>
                <a:cs typeface="Arial"/>
                <a:sym typeface="Arial"/>
              </a:rPr>
              <a:t>hưởng</a:t>
            </a:r>
            <a:r>
              <a:rPr lang="en-US" sz="3200" b="1">
                <a:latin typeface="Arial"/>
                <a:ea typeface="Arial"/>
                <a:cs typeface="Arial"/>
                <a:sym typeface="Arial"/>
              </a:rPr>
              <a:t> </a:t>
            </a:r>
            <a:r>
              <a:rPr lang="en-US" sz="3200" b="1" err="1">
                <a:latin typeface="Arial"/>
                <a:ea typeface="Arial"/>
                <a:cs typeface="Arial"/>
                <a:sym typeface="Arial"/>
              </a:rPr>
              <a:t>của</a:t>
            </a:r>
            <a:r>
              <a:rPr lang="en-US" sz="3200" b="1">
                <a:latin typeface="Arial"/>
                <a:ea typeface="Arial"/>
                <a:cs typeface="Arial"/>
                <a:sym typeface="Arial"/>
              </a:rPr>
              <a:t> </a:t>
            </a:r>
            <a:r>
              <a:rPr lang="en-US" sz="3200" b="1" err="1">
                <a:latin typeface="Arial"/>
                <a:ea typeface="Arial"/>
                <a:cs typeface="Arial"/>
                <a:sym typeface="Arial"/>
              </a:rPr>
              <a:t>nhóm</a:t>
            </a:r>
            <a:r>
              <a:rPr lang="en-US" sz="3200" b="1">
                <a:latin typeface="Arial"/>
                <a:ea typeface="Arial"/>
                <a:cs typeface="Arial"/>
                <a:sym typeface="Arial"/>
              </a:rPr>
              <a:t> </a:t>
            </a:r>
            <a:r>
              <a:rPr lang="en-US" sz="3200" b="1" err="1">
                <a:latin typeface="Arial"/>
                <a:ea typeface="Arial"/>
                <a:cs typeface="Arial"/>
                <a:sym typeface="Arial"/>
              </a:rPr>
              <a:t>xã</a:t>
            </a:r>
            <a:r>
              <a:rPr lang="en-US" sz="3200" b="1">
                <a:latin typeface="Arial"/>
                <a:ea typeface="Arial"/>
                <a:cs typeface="Arial"/>
                <a:sym typeface="Arial"/>
              </a:rPr>
              <a:t> </a:t>
            </a:r>
            <a:r>
              <a:rPr lang="en-US" sz="3200" b="1" err="1">
                <a:latin typeface="Arial"/>
                <a:ea typeface="Arial"/>
                <a:cs typeface="Arial"/>
                <a:sym typeface="Arial"/>
              </a:rPr>
              <a:t>hội</a:t>
            </a:r>
            <a:r>
              <a:rPr lang="en-US" sz="3200" b="1">
                <a:latin typeface="Arial"/>
                <a:ea typeface="Arial"/>
                <a:cs typeface="Arial"/>
                <a:sym typeface="Arial"/>
              </a:rPr>
              <a:t> </a:t>
            </a:r>
            <a:r>
              <a:rPr lang="en-US" sz="3200" b="1" err="1">
                <a:latin typeface="Arial"/>
                <a:ea typeface="Arial"/>
                <a:cs typeface="Arial"/>
                <a:sym typeface="Arial"/>
              </a:rPr>
              <a:t>đến</a:t>
            </a:r>
            <a:r>
              <a:rPr lang="vi-VN" sz="3200" b="1"/>
              <a:t> </a:t>
            </a:r>
            <a:r>
              <a:rPr lang="en-US" sz="3200" b="1" err="1">
                <a:latin typeface="Arial"/>
                <a:ea typeface="Arial"/>
                <a:cs typeface="Arial"/>
                <a:sym typeface="Arial"/>
              </a:rPr>
              <a:t>hành</a:t>
            </a:r>
            <a:r>
              <a:rPr lang="en-US" sz="3200" b="1">
                <a:latin typeface="Arial"/>
                <a:ea typeface="Arial"/>
                <a:cs typeface="Arial"/>
                <a:sym typeface="Arial"/>
              </a:rPr>
              <a:t> vi </a:t>
            </a:r>
            <a:r>
              <a:rPr lang="en-US" sz="3200" b="1" err="1">
                <a:latin typeface="Arial"/>
                <a:ea typeface="Arial"/>
                <a:cs typeface="Arial"/>
                <a:sym typeface="Arial"/>
              </a:rPr>
              <a:t>tiêu</a:t>
            </a:r>
            <a:r>
              <a:rPr lang="en-US" sz="3200" b="1">
                <a:latin typeface="Arial"/>
                <a:ea typeface="Arial"/>
                <a:cs typeface="Arial"/>
                <a:sym typeface="Arial"/>
              </a:rPr>
              <a:t> </a:t>
            </a:r>
            <a:r>
              <a:rPr lang="en-US" sz="3200" b="1" err="1">
                <a:latin typeface="Arial"/>
                <a:ea typeface="Arial"/>
                <a:cs typeface="Arial"/>
                <a:sym typeface="Arial"/>
              </a:rPr>
              <a:t>dùng</a:t>
            </a:r>
            <a:endParaRPr sz="3200" b="1">
              <a:latin typeface="Arial"/>
              <a:ea typeface="Arial"/>
              <a:cs typeface="Arial"/>
              <a:sym typeface="Arial"/>
            </a:endParaRPr>
          </a:p>
        </p:txBody>
      </p:sp>
      <p:sp>
        <p:nvSpPr>
          <p:cNvPr id="697" name="Google Shape;697;p93"/>
          <p:cNvSpPr txBox="1">
            <a:spLocks noGrp="1"/>
          </p:cNvSpPr>
          <p:nvPr>
            <p:ph type="body" idx="1"/>
          </p:nvPr>
        </p:nvSpPr>
        <p:spPr>
          <a:xfrm>
            <a:off x="207971" y="1056133"/>
            <a:ext cx="7918316" cy="4351338"/>
          </a:xfrm>
          <a:prstGeom prst="rect">
            <a:avLst/>
          </a:prstGeom>
          <a:noFill/>
          <a:ln>
            <a:noFill/>
          </a:ln>
        </p:spPr>
        <p:txBody>
          <a:bodyPr spcFirstLastPara="1" wrap="square" lIns="91425" tIns="45700" rIns="91425" bIns="45700" anchor="t" anchorCtr="0">
            <a:noAutofit/>
          </a:bodyPr>
          <a:lstStyle/>
          <a:p>
            <a:pPr marL="739775" lvl="0" indent="-511175" algn="just" rtl="0">
              <a:lnSpc>
                <a:spcPct val="160714"/>
              </a:lnSpc>
              <a:spcBef>
                <a:spcPts val="0"/>
              </a:spcBef>
              <a:spcAft>
                <a:spcPts val="0"/>
              </a:spcAft>
              <a:buClr>
                <a:schemeClr val="dk1"/>
              </a:buClr>
              <a:buSzPts val="2800"/>
              <a:buFont typeface="Noto Sans Symbols"/>
              <a:buChar char="❖"/>
            </a:pPr>
            <a:r>
              <a:rPr lang="en-US">
                <a:latin typeface="Arial"/>
                <a:ea typeface="Arial"/>
                <a:cs typeface="Arial"/>
                <a:sym typeface="Arial"/>
              </a:rPr>
              <a:t> </a:t>
            </a:r>
            <a:r>
              <a:rPr lang="en-US" err="1">
                <a:latin typeface="Arial"/>
                <a:ea typeface="Arial"/>
                <a:cs typeface="Arial"/>
                <a:sym typeface="Arial"/>
              </a:rPr>
              <a:t>Gia</a:t>
            </a:r>
            <a:r>
              <a:rPr lang="en-US">
                <a:latin typeface="Arial"/>
                <a:ea typeface="Arial"/>
                <a:cs typeface="Arial"/>
                <a:sym typeface="Arial"/>
              </a:rPr>
              <a:t> </a:t>
            </a:r>
            <a:r>
              <a:rPr lang="en-US" err="1">
                <a:latin typeface="Arial"/>
                <a:ea typeface="Arial"/>
                <a:cs typeface="Arial"/>
                <a:sym typeface="Arial"/>
              </a:rPr>
              <a:t>đình</a:t>
            </a:r>
            <a:r>
              <a:rPr lang="en-US">
                <a:latin typeface="Arial"/>
                <a:ea typeface="Arial"/>
                <a:cs typeface="Arial"/>
                <a:sym typeface="Arial"/>
              </a:rPr>
              <a:t>: </a:t>
            </a:r>
            <a:r>
              <a:rPr lang="en-US" err="1">
                <a:latin typeface="Arial"/>
                <a:ea typeface="Arial"/>
                <a:cs typeface="Arial"/>
                <a:sym typeface="Arial"/>
              </a:rPr>
              <a:t>Giữ</a:t>
            </a:r>
            <a:r>
              <a:rPr lang="en-US">
                <a:latin typeface="Arial"/>
                <a:ea typeface="Arial"/>
                <a:cs typeface="Arial"/>
                <a:sym typeface="Arial"/>
              </a:rPr>
              <a:t> </a:t>
            </a:r>
            <a:r>
              <a:rPr lang="en-US" err="1">
                <a:latin typeface="Arial"/>
                <a:ea typeface="Arial"/>
                <a:cs typeface="Arial"/>
                <a:sym typeface="Arial"/>
              </a:rPr>
              <a:t>vai</a:t>
            </a:r>
            <a:r>
              <a:rPr lang="en-US">
                <a:latin typeface="Arial"/>
                <a:ea typeface="Arial"/>
                <a:cs typeface="Arial"/>
                <a:sym typeface="Arial"/>
              </a:rPr>
              <a:t> </a:t>
            </a:r>
            <a:r>
              <a:rPr lang="en-US" err="1">
                <a:latin typeface="Arial"/>
                <a:ea typeface="Arial"/>
                <a:cs typeface="Arial"/>
                <a:sym typeface="Arial"/>
              </a:rPr>
              <a:t>trò</a:t>
            </a:r>
            <a:r>
              <a:rPr lang="en-US">
                <a:latin typeface="Arial"/>
                <a:ea typeface="Arial"/>
                <a:cs typeface="Arial"/>
                <a:sym typeface="Arial"/>
              </a:rPr>
              <a:t> </a:t>
            </a:r>
            <a:r>
              <a:rPr lang="en-US" err="1">
                <a:latin typeface="Arial"/>
                <a:ea typeface="Arial"/>
                <a:cs typeface="Arial"/>
                <a:sym typeface="Arial"/>
              </a:rPr>
              <a:t>quan</a:t>
            </a:r>
            <a:r>
              <a:rPr lang="en-US">
                <a:latin typeface="Arial"/>
                <a:ea typeface="Arial"/>
                <a:cs typeface="Arial"/>
                <a:sym typeface="Arial"/>
              </a:rPr>
              <a:t> </a:t>
            </a:r>
            <a:r>
              <a:rPr lang="en-US" err="1">
                <a:latin typeface="Arial"/>
                <a:ea typeface="Arial"/>
                <a:cs typeface="Arial"/>
                <a:sym typeface="Arial"/>
              </a:rPr>
              <a:t>trọng</a:t>
            </a:r>
            <a:r>
              <a:rPr lang="en-US">
                <a:latin typeface="Arial"/>
                <a:ea typeface="Arial"/>
                <a:cs typeface="Arial"/>
                <a:sym typeface="Arial"/>
              </a:rPr>
              <a:t> </a:t>
            </a:r>
            <a:r>
              <a:rPr lang="en-US" err="1">
                <a:latin typeface="Arial"/>
                <a:ea typeface="Arial"/>
                <a:cs typeface="Arial"/>
                <a:sym typeface="Arial"/>
              </a:rPr>
              <a:t>trong</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quyết</a:t>
            </a:r>
            <a:r>
              <a:rPr lang="en-US">
                <a:latin typeface="Arial"/>
                <a:ea typeface="Arial"/>
                <a:cs typeface="Arial"/>
                <a:sym typeface="Arial"/>
              </a:rPr>
              <a:t> </a:t>
            </a:r>
            <a:r>
              <a:rPr lang="en-US" err="1">
                <a:latin typeface="Arial"/>
                <a:ea typeface="Arial"/>
                <a:cs typeface="Arial"/>
                <a:sym typeface="Arial"/>
              </a:rPr>
              <a:t>định</a:t>
            </a:r>
            <a:r>
              <a:rPr lang="en-US">
                <a:latin typeface="Arial"/>
                <a:ea typeface="Arial"/>
                <a:cs typeface="Arial"/>
                <a:sym typeface="Arial"/>
              </a:rPr>
              <a:t> </a:t>
            </a:r>
            <a:r>
              <a:rPr lang="en-US" err="1">
                <a:latin typeface="Arial"/>
                <a:ea typeface="Arial"/>
                <a:cs typeface="Arial"/>
                <a:sym typeface="Arial"/>
              </a:rPr>
              <a:t>tiêu</a:t>
            </a:r>
            <a:r>
              <a:rPr lang="en-US">
                <a:latin typeface="Arial"/>
                <a:ea typeface="Arial"/>
                <a:cs typeface="Arial"/>
                <a:sym typeface="Arial"/>
              </a:rPr>
              <a:t> </a:t>
            </a:r>
            <a:r>
              <a:rPr lang="en-US" err="1">
                <a:latin typeface="Arial"/>
                <a:ea typeface="Arial"/>
                <a:cs typeface="Arial"/>
                <a:sym typeface="Arial"/>
              </a:rPr>
              <a:t>dùng</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cá</a:t>
            </a:r>
            <a:r>
              <a:rPr lang="en-US">
                <a:latin typeface="Arial"/>
                <a:ea typeface="Arial"/>
                <a:cs typeface="Arial"/>
                <a:sym typeface="Arial"/>
              </a:rPr>
              <a:t> </a:t>
            </a:r>
            <a:r>
              <a:rPr lang="en-US" err="1">
                <a:latin typeface="Arial"/>
                <a:ea typeface="Arial"/>
                <a:cs typeface="Arial"/>
                <a:sym typeface="Arial"/>
              </a:rPr>
              <a:t>nhân</a:t>
            </a:r>
            <a:r>
              <a:rPr lang="en-US">
                <a:latin typeface="Arial"/>
                <a:ea typeface="Arial"/>
                <a:cs typeface="Arial"/>
                <a:sym typeface="Arial"/>
              </a:rPr>
              <a:t>. </a:t>
            </a:r>
            <a:endParaRPr/>
          </a:p>
          <a:p>
            <a:pPr marL="739775" lvl="0" indent="-511175" algn="just" rtl="0">
              <a:lnSpc>
                <a:spcPct val="160714"/>
              </a:lnSpc>
              <a:spcBef>
                <a:spcPts val="0"/>
              </a:spcBef>
              <a:spcAft>
                <a:spcPts val="0"/>
              </a:spcAft>
              <a:buClr>
                <a:schemeClr val="dk1"/>
              </a:buClr>
              <a:buSzPts val="2800"/>
              <a:buFont typeface="Noto Sans Symbols"/>
              <a:buChar char="❖"/>
            </a:pPr>
            <a:r>
              <a:rPr lang="en-US">
                <a:latin typeface="Arial"/>
                <a:ea typeface="Arial"/>
                <a:cs typeface="Arial"/>
                <a:sym typeface="Arial"/>
              </a:rPr>
              <a:t> </a:t>
            </a:r>
            <a:r>
              <a:rPr lang="en-US" err="1">
                <a:latin typeface="Arial"/>
                <a:ea typeface="Arial"/>
                <a:cs typeface="Arial"/>
                <a:sym typeface="Arial"/>
              </a:rPr>
              <a:t>Nhóm</a:t>
            </a:r>
            <a:r>
              <a:rPr lang="en-US">
                <a:latin typeface="Arial"/>
                <a:ea typeface="Arial"/>
                <a:cs typeface="Arial"/>
                <a:sym typeface="Arial"/>
              </a:rPr>
              <a:t> </a:t>
            </a:r>
            <a:r>
              <a:rPr lang="en-US" err="1">
                <a:latin typeface="Arial"/>
                <a:ea typeface="Arial"/>
                <a:cs typeface="Arial"/>
                <a:sym typeface="Arial"/>
              </a:rPr>
              <a:t>bạn</a:t>
            </a:r>
            <a:r>
              <a:rPr lang="en-US">
                <a:latin typeface="Arial"/>
                <a:ea typeface="Arial"/>
                <a:cs typeface="Arial"/>
                <a:sym typeface="Arial"/>
              </a:rPr>
              <a:t> </a:t>
            </a:r>
            <a:r>
              <a:rPr lang="en-US" err="1">
                <a:latin typeface="Arial"/>
                <a:ea typeface="Arial"/>
                <a:cs typeface="Arial"/>
                <a:sym typeface="Arial"/>
              </a:rPr>
              <a:t>bè</a:t>
            </a:r>
            <a:r>
              <a:rPr lang="en-US">
                <a:latin typeface="Arial"/>
                <a:ea typeface="Arial"/>
                <a:cs typeface="Arial"/>
                <a:sym typeface="Arial"/>
              </a:rPr>
              <a:t>: </a:t>
            </a:r>
            <a:r>
              <a:rPr lang="en-US" err="1">
                <a:latin typeface="Arial"/>
                <a:ea typeface="Arial"/>
                <a:cs typeface="Arial"/>
                <a:sym typeface="Arial"/>
              </a:rPr>
              <a:t>Đây</a:t>
            </a:r>
            <a:r>
              <a:rPr lang="en-US">
                <a:latin typeface="Arial"/>
                <a:ea typeface="Arial"/>
                <a:cs typeface="Arial"/>
                <a:sym typeface="Arial"/>
              </a:rPr>
              <a:t> </a:t>
            </a:r>
            <a:r>
              <a:rPr lang="en-US" err="1">
                <a:latin typeface="Arial"/>
                <a:ea typeface="Arial"/>
                <a:cs typeface="Arial"/>
                <a:sym typeface="Arial"/>
              </a:rPr>
              <a:t>là</a:t>
            </a:r>
            <a:r>
              <a:rPr lang="en-US">
                <a:latin typeface="Arial"/>
                <a:ea typeface="Arial"/>
                <a:cs typeface="Arial"/>
                <a:sym typeface="Arial"/>
              </a:rPr>
              <a:t> </a:t>
            </a:r>
            <a:r>
              <a:rPr lang="en-US" err="1">
                <a:latin typeface="Arial"/>
                <a:ea typeface="Arial"/>
                <a:cs typeface="Arial"/>
                <a:sym typeface="Arial"/>
              </a:rPr>
              <a:t>nhóm</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ảnh</a:t>
            </a:r>
            <a:r>
              <a:rPr lang="en-US">
                <a:latin typeface="Arial"/>
                <a:ea typeface="Arial"/>
                <a:cs typeface="Arial"/>
                <a:sym typeface="Arial"/>
              </a:rPr>
              <a:t> </a:t>
            </a:r>
            <a:r>
              <a:rPr lang="en-US" err="1">
                <a:latin typeface="Arial"/>
                <a:ea typeface="Arial"/>
                <a:cs typeface="Arial"/>
                <a:sym typeface="Arial"/>
              </a:rPr>
              <a:t>hưởng</a:t>
            </a:r>
            <a:r>
              <a:rPr lang="en-US">
                <a:latin typeface="Arial"/>
                <a:ea typeface="Arial"/>
                <a:cs typeface="Arial"/>
                <a:sym typeface="Arial"/>
              </a:rPr>
              <a:t> </a:t>
            </a:r>
            <a:r>
              <a:rPr lang="en-US" err="1">
                <a:latin typeface="Arial"/>
                <a:ea typeface="Arial"/>
                <a:cs typeface="Arial"/>
                <a:sym typeface="Arial"/>
              </a:rPr>
              <a:t>khá</a:t>
            </a:r>
            <a:r>
              <a:rPr lang="en-US">
                <a:latin typeface="Arial"/>
                <a:ea typeface="Arial"/>
                <a:cs typeface="Arial"/>
                <a:sym typeface="Arial"/>
              </a:rPr>
              <a:t> </a:t>
            </a:r>
            <a:r>
              <a:rPr lang="en-US" err="1">
                <a:latin typeface="Arial"/>
                <a:ea typeface="Arial"/>
                <a:cs typeface="Arial"/>
                <a:sym typeface="Arial"/>
              </a:rPr>
              <a:t>quan</a:t>
            </a:r>
            <a:r>
              <a:rPr lang="en-US">
                <a:latin typeface="Arial"/>
                <a:ea typeface="Arial"/>
                <a:cs typeface="Arial"/>
                <a:sym typeface="Arial"/>
              </a:rPr>
              <a:t> </a:t>
            </a:r>
            <a:r>
              <a:rPr lang="en-US" err="1">
                <a:latin typeface="Arial"/>
                <a:ea typeface="Arial"/>
                <a:cs typeface="Arial"/>
                <a:sym typeface="Arial"/>
              </a:rPr>
              <a:t>trọng</a:t>
            </a:r>
            <a:r>
              <a:rPr lang="en-US">
                <a:latin typeface="Arial"/>
                <a:ea typeface="Arial"/>
                <a:cs typeface="Arial"/>
                <a:sym typeface="Arial"/>
              </a:rPr>
              <a:t> </a:t>
            </a:r>
            <a:r>
              <a:rPr lang="en-US" err="1">
                <a:latin typeface="Arial"/>
                <a:ea typeface="Arial"/>
                <a:cs typeface="Arial"/>
                <a:sym typeface="Arial"/>
              </a:rPr>
              <a:t>đối</a:t>
            </a:r>
            <a:r>
              <a:rPr lang="en-US">
                <a:latin typeface="Arial"/>
                <a:ea typeface="Arial"/>
                <a:cs typeface="Arial"/>
                <a:sym typeface="Arial"/>
              </a:rPr>
              <a:t> </a:t>
            </a:r>
            <a:r>
              <a:rPr lang="en-US" err="1">
                <a:latin typeface="Arial"/>
                <a:ea typeface="Arial"/>
                <a:cs typeface="Arial"/>
                <a:sym typeface="Arial"/>
              </a:rPr>
              <a:t>với</a:t>
            </a:r>
            <a:r>
              <a:rPr lang="en-US">
                <a:latin typeface="Arial"/>
                <a:ea typeface="Arial"/>
                <a:cs typeface="Arial"/>
                <a:sym typeface="Arial"/>
              </a:rPr>
              <a:t> KH </a:t>
            </a:r>
            <a:r>
              <a:rPr lang="en-US" err="1">
                <a:latin typeface="Arial"/>
                <a:ea typeface="Arial"/>
                <a:cs typeface="Arial"/>
                <a:sym typeface="Arial"/>
              </a:rPr>
              <a:t>sau</a:t>
            </a:r>
            <a:r>
              <a:rPr lang="en-US">
                <a:latin typeface="Arial"/>
                <a:ea typeface="Arial"/>
                <a:cs typeface="Arial"/>
                <a:sym typeface="Arial"/>
              </a:rPr>
              <a:t> </a:t>
            </a:r>
            <a:r>
              <a:rPr lang="en-US" err="1">
                <a:latin typeface="Arial"/>
                <a:ea typeface="Arial"/>
                <a:cs typeface="Arial"/>
                <a:sym typeface="Arial"/>
              </a:rPr>
              <a:t>gia</a:t>
            </a:r>
            <a:r>
              <a:rPr lang="en-US">
                <a:latin typeface="Arial"/>
                <a:ea typeface="Arial"/>
                <a:cs typeface="Arial"/>
                <a:sym typeface="Arial"/>
              </a:rPr>
              <a:t> </a:t>
            </a:r>
            <a:r>
              <a:rPr lang="en-US" err="1">
                <a:latin typeface="Arial"/>
                <a:ea typeface="Arial"/>
                <a:cs typeface="Arial"/>
                <a:sym typeface="Arial"/>
              </a:rPr>
              <a:t>đình</a:t>
            </a:r>
            <a:r>
              <a:rPr lang="en-US">
                <a:latin typeface="Arial"/>
                <a:ea typeface="Arial"/>
                <a:cs typeface="Arial"/>
                <a:sym typeface="Arial"/>
              </a:rPr>
              <a:t>. </a:t>
            </a:r>
            <a:endParaRPr/>
          </a:p>
          <a:p>
            <a:pPr marL="739775" lvl="0" indent="-511175" algn="just" rtl="0">
              <a:lnSpc>
                <a:spcPct val="160714"/>
              </a:lnSpc>
              <a:spcBef>
                <a:spcPts val="0"/>
              </a:spcBef>
              <a:spcAft>
                <a:spcPts val="0"/>
              </a:spcAft>
              <a:buClr>
                <a:schemeClr val="dk1"/>
              </a:buClr>
              <a:buSzPts val="2800"/>
              <a:buFont typeface="Noto Sans Symbols"/>
              <a:buChar char="❖"/>
            </a:pPr>
            <a:r>
              <a:rPr lang="en-US">
                <a:latin typeface="Arial"/>
                <a:ea typeface="Arial"/>
                <a:cs typeface="Arial"/>
                <a:sym typeface="Arial"/>
              </a:rPr>
              <a:t> </a:t>
            </a:r>
            <a:r>
              <a:rPr lang="en-US" err="1">
                <a:latin typeface="Arial"/>
                <a:ea typeface="Arial"/>
                <a:cs typeface="Arial"/>
                <a:sym typeface="Arial"/>
              </a:rPr>
              <a:t>Những</a:t>
            </a:r>
            <a:r>
              <a:rPr lang="en-US">
                <a:latin typeface="Arial"/>
                <a:ea typeface="Arial"/>
                <a:cs typeface="Arial"/>
                <a:sym typeface="Arial"/>
              </a:rPr>
              <a:t> </a:t>
            </a:r>
            <a:r>
              <a:rPr lang="en-US" err="1">
                <a:latin typeface="Arial"/>
                <a:ea typeface="Arial"/>
                <a:cs typeface="Arial"/>
                <a:sym typeface="Arial"/>
              </a:rPr>
              <a:t>nhóm</a:t>
            </a:r>
            <a:r>
              <a:rPr lang="en-US">
                <a:latin typeface="Arial"/>
                <a:ea typeface="Arial"/>
                <a:cs typeface="Arial"/>
                <a:sym typeface="Arial"/>
              </a:rPr>
              <a:t> </a:t>
            </a:r>
            <a:r>
              <a:rPr lang="en-US" err="1">
                <a:latin typeface="Arial"/>
                <a:ea typeface="Arial"/>
                <a:cs typeface="Arial"/>
                <a:sym typeface="Arial"/>
              </a:rPr>
              <a:t>cùng</a:t>
            </a:r>
            <a:r>
              <a:rPr lang="en-US">
                <a:latin typeface="Arial"/>
                <a:ea typeface="Arial"/>
                <a:cs typeface="Arial"/>
                <a:sym typeface="Arial"/>
              </a:rPr>
              <a:t> </a:t>
            </a:r>
            <a:r>
              <a:rPr lang="en-US" err="1">
                <a:latin typeface="Arial"/>
                <a:ea typeface="Arial"/>
                <a:cs typeface="Arial"/>
                <a:sym typeface="Arial"/>
              </a:rPr>
              <a:t>làm</a:t>
            </a:r>
            <a:r>
              <a:rPr lang="en-US">
                <a:latin typeface="Arial"/>
                <a:ea typeface="Arial"/>
                <a:cs typeface="Arial"/>
                <a:sym typeface="Arial"/>
              </a:rPr>
              <a:t> </a:t>
            </a:r>
            <a:r>
              <a:rPr lang="en-US" err="1">
                <a:latin typeface="Arial"/>
                <a:ea typeface="Arial"/>
                <a:cs typeface="Arial"/>
                <a:sym typeface="Arial"/>
              </a:rPr>
              <a:t>việc</a:t>
            </a:r>
            <a:r>
              <a:rPr lang="en-US">
                <a:latin typeface="Arial"/>
                <a:ea typeface="Arial"/>
                <a:cs typeface="Arial"/>
                <a:sym typeface="Arial"/>
              </a:rPr>
              <a:t>: </a:t>
            </a:r>
            <a:r>
              <a:rPr lang="en-US" err="1">
                <a:latin typeface="Arial"/>
                <a:ea typeface="Arial"/>
                <a:cs typeface="Arial"/>
                <a:sym typeface="Arial"/>
              </a:rPr>
              <a:t>Thành</a:t>
            </a:r>
            <a:r>
              <a:rPr lang="en-US">
                <a:latin typeface="Arial"/>
                <a:ea typeface="Arial"/>
                <a:cs typeface="Arial"/>
                <a:sym typeface="Arial"/>
              </a:rPr>
              <a:t> </a:t>
            </a:r>
            <a:r>
              <a:rPr lang="en-US" err="1">
                <a:latin typeface="Arial"/>
                <a:ea typeface="Arial"/>
                <a:cs typeface="Arial"/>
                <a:sym typeface="Arial"/>
              </a:rPr>
              <a:t>viên</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nhóm</a:t>
            </a:r>
            <a:r>
              <a:rPr lang="en-US">
                <a:latin typeface="Arial"/>
                <a:ea typeface="Arial"/>
                <a:cs typeface="Arial"/>
                <a:sym typeface="Arial"/>
              </a:rPr>
              <a:t> </a:t>
            </a:r>
            <a:r>
              <a:rPr lang="en-US" err="1">
                <a:latin typeface="Arial"/>
                <a:ea typeface="Arial"/>
                <a:cs typeface="Arial"/>
                <a:sym typeface="Arial"/>
              </a:rPr>
              <a:t>cùng</a:t>
            </a:r>
            <a:r>
              <a:rPr lang="en-US">
                <a:latin typeface="Arial"/>
                <a:ea typeface="Arial"/>
                <a:cs typeface="Arial"/>
                <a:sym typeface="Arial"/>
              </a:rPr>
              <a:t> </a:t>
            </a:r>
            <a:r>
              <a:rPr lang="en-US" err="1">
                <a:latin typeface="Arial"/>
                <a:ea typeface="Arial"/>
                <a:cs typeface="Arial"/>
                <a:sym typeface="Arial"/>
              </a:rPr>
              <a:t>làm</a:t>
            </a:r>
            <a:r>
              <a:rPr lang="en-US">
                <a:latin typeface="Arial"/>
                <a:ea typeface="Arial"/>
                <a:cs typeface="Arial"/>
                <a:sym typeface="Arial"/>
              </a:rPr>
              <a:t> </a:t>
            </a:r>
            <a:r>
              <a:rPr lang="en-US" err="1">
                <a:latin typeface="Arial"/>
                <a:ea typeface="Arial"/>
                <a:cs typeface="Arial"/>
                <a:sym typeface="Arial"/>
              </a:rPr>
              <a:t>việc</a:t>
            </a:r>
            <a:r>
              <a:rPr lang="en-US">
                <a:latin typeface="Arial"/>
                <a:ea typeface="Arial"/>
                <a:cs typeface="Arial"/>
                <a:sym typeface="Arial"/>
              </a:rPr>
              <a:t> </a:t>
            </a:r>
            <a:r>
              <a:rPr lang="en-US" err="1">
                <a:latin typeface="Arial"/>
                <a:ea typeface="Arial"/>
                <a:cs typeface="Arial"/>
                <a:sym typeface="Arial"/>
              </a:rPr>
              <a:t>gặp</a:t>
            </a:r>
            <a:r>
              <a:rPr lang="en-US">
                <a:latin typeface="Arial"/>
                <a:ea typeface="Arial"/>
                <a:cs typeface="Arial"/>
                <a:sym typeface="Arial"/>
              </a:rPr>
              <a:t> </a:t>
            </a:r>
            <a:r>
              <a:rPr lang="en-US" err="1">
                <a:latin typeface="Arial"/>
                <a:ea typeface="Arial"/>
                <a:cs typeface="Arial"/>
                <a:sym typeface="Arial"/>
              </a:rPr>
              <a:t>gỡ</a:t>
            </a:r>
            <a:r>
              <a:rPr lang="en-US">
                <a:latin typeface="Arial"/>
                <a:ea typeface="Arial"/>
                <a:cs typeface="Arial"/>
                <a:sym typeface="Arial"/>
              </a:rPr>
              <a:t> </a:t>
            </a:r>
            <a:r>
              <a:rPr lang="en-US" err="1">
                <a:latin typeface="Arial"/>
                <a:ea typeface="Arial"/>
                <a:cs typeface="Arial"/>
                <a:sym typeface="Arial"/>
              </a:rPr>
              <a:t>hàng</a:t>
            </a:r>
            <a:r>
              <a:rPr lang="en-US">
                <a:latin typeface="Arial"/>
                <a:ea typeface="Arial"/>
                <a:cs typeface="Arial"/>
                <a:sym typeface="Arial"/>
              </a:rPr>
              <a:t> </a:t>
            </a:r>
            <a:r>
              <a:rPr lang="en-US" err="1">
                <a:latin typeface="Arial"/>
                <a:ea typeface="Arial"/>
                <a:cs typeface="Arial"/>
                <a:sym typeface="Arial"/>
              </a:rPr>
              <a:t>ngày</a:t>
            </a:r>
            <a:r>
              <a:rPr lang="en-US">
                <a:latin typeface="Arial"/>
                <a:ea typeface="Arial"/>
                <a:cs typeface="Arial"/>
                <a:sym typeface="Arial"/>
              </a:rPr>
              <a:t>. </a:t>
            </a:r>
            <a:endParaRPr/>
          </a:p>
          <a:p>
            <a:pPr marL="739775" lvl="0" indent="-511175" algn="just" rtl="0">
              <a:lnSpc>
                <a:spcPct val="160714"/>
              </a:lnSpc>
              <a:spcBef>
                <a:spcPts val="0"/>
              </a:spcBef>
              <a:spcAft>
                <a:spcPts val="0"/>
              </a:spcAft>
              <a:buClr>
                <a:schemeClr val="dk1"/>
              </a:buClr>
              <a:buSzPts val="2800"/>
              <a:buFont typeface="Noto Sans Symbols"/>
              <a:buChar char="❖"/>
            </a:pPr>
            <a:r>
              <a:rPr lang="en-US">
                <a:latin typeface="Arial"/>
                <a:ea typeface="Arial"/>
                <a:cs typeface="Arial"/>
                <a:sym typeface="Arial"/>
              </a:rPr>
              <a:t> </a:t>
            </a:r>
            <a:r>
              <a:rPr lang="en-US" err="1">
                <a:latin typeface="Arial"/>
                <a:ea typeface="Arial"/>
                <a:cs typeface="Arial"/>
                <a:sym typeface="Arial"/>
              </a:rPr>
              <a:t>Những</a:t>
            </a:r>
            <a:r>
              <a:rPr lang="en-US">
                <a:latin typeface="Arial"/>
                <a:ea typeface="Arial"/>
                <a:cs typeface="Arial"/>
                <a:sym typeface="Arial"/>
              </a:rPr>
              <a:t> </a:t>
            </a:r>
            <a:r>
              <a:rPr lang="en-US" err="1">
                <a:latin typeface="Arial"/>
                <a:ea typeface="Arial"/>
                <a:cs typeface="Arial"/>
                <a:sym typeface="Arial"/>
              </a:rPr>
              <a:t>nhóm</a:t>
            </a:r>
            <a:r>
              <a:rPr lang="en-US">
                <a:latin typeface="Arial"/>
                <a:ea typeface="Arial"/>
                <a:cs typeface="Arial"/>
                <a:sym typeface="Arial"/>
              </a:rPr>
              <a:t>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chính</a:t>
            </a:r>
            <a:r>
              <a:rPr lang="en-US">
                <a:latin typeface="Arial"/>
                <a:ea typeface="Arial"/>
                <a:cs typeface="Arial"/>
                <a:sym typeface="Arial"/>
              </a:rPr>
              <a:t> </a:t>
            </a:r>
            <a:r>
              <a:rPr lang="en-US" err="1">
                <a:latin typeface="Arial"/>
                <a:ea typeface="Arial"/>
                <a:cs typeface="Arial"/>
                <a:sym typeface="Arial"/>
              </a:rPr>
              <a:t>thức</a:t>
            </a:r>
            <a:r>
              <a:rPr lang="en-US">
                <a:latin typeface="Arial"/>
                <a:ea typeface="Arial"/>
                <a:cs typeface="Arial"/>
                <a:sym typeface="Arial"/>
              </a:rPr>
              <a:t>: </a:t>
            </a:r>
            <a:r>
              <a:rPr lang="en-US" err="1">
                <a:latin typeface="Arial"/>
                <a:ea typeface="Arial"/>
                <a:cs typeface="Arial"/>
                <a:sym typeface="Arial"/>
              </a:rPr>
              <a:t>Yếu</a:t>
            </a:r>
            <a:r>
              <a:rPr lang="en-US">
                <a:latin typeface="Arial"/>
                <a:ea typeface="Arial"/>
                <a:cs typeface="Arial"/>
                <a:sym typeface="Arial"/>
              </a:rPr>
              <a:t> </a:t>
            </a:r>
            <a:r>
              <a:rPr lang="en-US" err="1">
                <a:latin typeface="Arial"/>
                <a:ea typeface="Arial"/>
                <a:cs typeface="Arial"/>
                <a:sym typeface="Arial"/>
              </a:rPr>
              <a:t>tố</a:t>
            </a:r>
            <a:r>
              <a:rPr lang="en-US">
                <a:latin typeface="Arial"/>
                <a:ea typeface="Arial"/>
                <a:cs typeface="Arial"/>
                <a:sym typeface="Arial"/>
              </a:rPr>
              <a:t> </a:t>
            </a:r>
            <a:r>
              <a:rPr lang="en-US" err="1">
                <a:latin typeface="Arial"/>
                <a:ea typeface="Arial"/>
                <a:cs typeface="Arial"/>
                <a:sym typeface="Arial"/>
              </a:rPr>
              <a:t>muốn</a:t>
            </a:r>
            <a:r>
              <a:rPr lang="en-US">
                <a:latin typeface="Arial"/>
                <a:ea typeface="Arial"/>
                <a:cs typeface="Arial"/>
                <a:sym typeface="Arial"/>
              </a:rPr>
              <a:t> </a:t>
            </a:r>
            <a:r>
              <a:rPr lang="en-US" err="1">
                <a:latin typeface="Arial"/>
                <a:ea typeface="Arial"/>
                <a:cs typeface="Arial"/>
                <a:sym typeface="Arial"/>
              </a:rPr>
              <a:t>thích</a:t>
            </a:r>
            <a:r>
              <a:rPr lang="en-US">
                <a:latin typeface="Arial"/>
                <a:ea typeface="Arial"/>
                <a:cs typeface="Arial"/>
                <a:sym typeface="Arial"/>
              </a:rPr>
              <a:t> </a:t>
            </a:r>
            <a:r>
              <a:rPr lang="en-US" err="1">
                <a:latin typeface="Arial"/>
                <a:ea typeface="Arial"/>
                <a:cs typeface="Arial"/>
                <a:sym typeface="Arial"/>
              </a:rPr>
              <a:t>nghi</a:t>
            </a:r>
            <a:r>
              <a:rPr lang="en-US">
                <a:latin typeface="Arial"/>
                <a:ea typeface="Arial"/>
                <a:cs typeface="Arial"/>
                <a:sym typeface="Arial"/>
              </a:rPr>
              <a:t> </a:t>
            </a:r>
            <a:r>
              <a:rPr lang="en-US" err="1">
                <a:latin typeface="Arial"/>
                <a:ea typeface="Arial"/>
                <a:cs typeface="Arial"/>
                <a:sym typeface="Arial"/>
              </a:rPr>
              <a:t>với</a:t>
            </a:r>
            <a:r>
              <a:rPr lang="en-US">
                <a:latin typeface="Arial"/>
                <a:ea typeface="Arial"/>
                <a:cs typeface="Arial"/>
                <a:sym typeface="Arial"/>
              </a:rPr>
              <a:t> </a:t>
            </a:r>
            <a:r>
              <a:rPr lang="en-US" err="1">
                <a:latin typeface="Arial"/>
                <a:ea typeface="Arial"/>
                <a:cs typeface="Arial"/>
                <a:sym typeface="Arial"/>
              </a:rPr>
              <a:t>nhóm</a:t>
            </a:r>
            <a:r>
              <a:rPr lang="en-US">
                <a:latin typeface="Arial"/>
                <a:ea typeface="Arial"/>
                <a:cs typeface="Arial"/>
                <a:sym typeface="Arial"/>
              </a:rPr>
              <a:t>. </a:t>
            </a:r>
            <a:endParaRPr/>
          </a:p>
        </p:txBody>
      </p:sp>
      <p:pic>
        <p:nvPicPr>
          <p:cNvPr id="698" name="Google Shape;698;p93" descr="ZA102527751033[1]"/>
          <p:cNvPicPr preferRelativeResize="0"/>
          <p:nvPr/>
        </p:nvPicPr>
        <p:blipFill rotWithShape="1">
          <a:blip r:embed="rId3">
            <a:alphaModFix/>
          </a:blip>
          <a:srcRect/>
          <a:stretch/>
        </p:blipFill>
        <p:spPr>
          <a:xfrm>
            <a:off x="9092391" y="3793595"/>
            <a:ext cx="2148094" cy="1947928"/>
          </a:xfrm>
          <a:prstGeom prst="rect">
            <a:avLst/>
          </a:prstGeom>
          <a:noFill/>
          <a:ln>
            <a:noFill/>
          </a:ln>
        </p:spPr>
      </p:pic>
      <p:pic>
        <p:nvPicPr>
          <p:cNvPr id="699" name="Google Shape;699;p93"/>
          <p:cNvPicPr preferRelativeResize="0"/>
          <p:nvPr/>
        </p:nvPicPr>
        <p:blipFill rotWithShape="1">
          <a:blip r:embed="rId4">
            <a:alphaModFix/>
          </a:blip>
          <a:srcRect/>
          <a:stretch/>
        </p:blipFill>
        <p:spPr>
          <a:xfrm>
            <a:off x="9075906" y="1751446"/>
            <a:ext cx="2161953" cy="2002523"/>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95"/>
          <p:cNvSpPr txBox="1">
            <a:spLocks noGrp="1"/>
          </p:cNvSpPr>
          <p:nvPr>
            <p:ph type="title"/>
          </p:nvPr>
        </p:nvSpPr>
        <p:spPr>
          <a:xfrm>
            <a:off x="750651" y="107982"/>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vi-VN" sz="3200" b="1"/>
              <a:t>2</a:t>
            </a:r>
            <a:r>
              <a:rPr lang="en-US" sz="3200" b="1">
                <a:latin typeface="Arial"/>
                <a:ea typeface="Arial"/>
                <a:cs typeface="Arial"/>
                <a:sym typeface="Arial"/>
              </a:rPr>
              <a:t>.2.</a:t>
            </a:r>
            <a:r>
              <a:rPr lang="vi-VN" sz="3200" b="1">
                <a:latin typeface="Arial"/>
                <a:ea typeface="Arial"/>
                <a:cs typeface="Arial"/>
                <a:sym typeface="Arial"/>
              </a:rPr>
              <a:t>2</a:t>
            </a:r>
            <a:r>
              <a:rPr lang="en-US" sz="3200" b="1">
                <a:latin typeface="Arial"/>
                <a:ea typeface="Arial"/>
                <a:cs typeface="Arial"/>
                <a:sym typeface="Arial"/>
              </a:rPr>
              <a:t>. </a:t>
            </a:r>
            <a:r>
              <a:rPr lang="en-US" sz="3200" b="1" err="1">
                <a:latin typeface="Arial"/>
                <a:ea typeface="Arial"/>
                <a:cs typeface="Arial"/>
                <a:sym typeface="Arial"/>
              </a:rPr>
              <a:t>Nhóm</a:t>
            </a:r>
            <a:r>
              <a:rPr lang="en-US" sz="3200" b="1">
                <a:latin typeface="Arial"/>
                <a:ea typeface="Arial"/>
                <a:cs typeface="Arial"/>
                <a:sym typeface="Arial"/>
              </a:rPr>
              <a:t> </a:t>
            </a:r>
            <a:r>
              <a:rPr lang="en-US" sz="3200" b="1" err="1">
                <a:latin typeface="Arial"/>
                <a:ea typeface="Arial"/>
                <a:cs typeface="Arial"/>
                <a:sym typeface="Arial"/>
              </a:rPr>
              <a:t>tham</a:t>
            </a:r>
            <a:r>
              <a:rPr lang="en-US" sz="3200" b="1">
                <a:latin typeface="Arial"/>
                <a:ea typeface="Arial"/>
                <a:cs typeface="Arial"/>
                <a:sym typeface="Arial"/>
              </a:rPr>
              <a:t> </a:t>
            </a:r>
            <a:r>
              <a:rPr lang="en-US" sz="3200" b="1" err="1">
                <a:latin typeface="Arial"/>
                <a:ea typeface="Arial"/>
                <a:cs typeface="Arial"/>
                <a:sym typeface="Arial"/>
              </a:rPr>
              <a:t>khảo</a:t>
            </a:r>
            <a:r>
              <a:rPr lang="en-US" sz="3200" b="1">
                <a:latin typeface="Arial"/>
                <a:ea typeface="Arial"/>
                <a:cs typeface="Arial"/>
                <a:sym typeface="Arial"/>
              </a:rPr>
              <a:t> hay </a:t>
            </a:r>
            <a:r>
              <a:rPr lang="en-US" sz="3200" b="1" err="1">
                <a:latin typeface="Arial"/>
                <a:ea typeface="Arial"/>
                <a:cs typeface="Arial"/>
                <a:sym typeface="Arial"/>
              </a:rPr>
              <a:t>cá</a:t>
            </a:r>
            <a:r>
              <a:rPr lang="en-US" sz="3200" b="1">
                <a:latin typeface="Arial"/>
                <a:ea typeface="Arial"/>
                <a:cs typeface="Arial"/>
                <a:sym typeface="Arial"/>
              </a:rPr>
              <a:t> </a:t>
            </a:r>
            <a:r>
              <a:rPr lang="en-US" sz="3200" b="1" err="1">
                <a:latin typeface="Arial"/>
                <a:ea typeface="Arial"/>
                <a:cs typeface="Arial"/>
                <a:sym typeface="Arial"/>
              </a:rPr>
              <a:t>nhân</a:t>
            </a:r>
            <a:r>
              <a:rPr lang="en-US" sz="3200" b="1">
                <a:latin typeface="Arial"/>
                <a:ea typeface="Arial"/>
                <a:cs typeface="Arial"/>
                <a:sym typeface="Arial"/>
              </a:rPr>
              <a:t> </a:t>
            </a:r>
            <a:r>
              <a:rPr lang="en-US" sz="3200" b="1" err="1">
                <a:latin typeface="Arial"/>
                <a:ea typeface="Arial"/>
                <a:cs typeface="Arial"/>
                <a:sym typeface="Arial"/>
              </a:rPr>
              <a:t>tham</a:t>
            </a:r>
            <a:r>
              <a:rPr lang="en-US" sz="3200" b="1">
                <a:latin typeface="Arial"/>
                <a:ea typeface="Arial"/>
                <a:cs typeface="Arial"/>
                <a:sym typeface="Arial"/>
              </a:rPr>
              <a:t> </a:t>
            </a:r>
            <a:r>
              <a:rPr lang="en-US" sz="3200" b="1" err="1">
                <a:latin typeface="Arial"/>
                <a:ea typeface="Arial"/>
                <a:cs typeface="Arial"/>
                <a:sym typeface="Arial"/>
              </a:rPr>
              <a:t>khảo</a:t>
            </a:r>
            <a:endParaRPr sz="3200" b="1">
              <a:latin typeface="Arial"/>
              <a:ea typeface="Arial"/>
              <a:cs typeface="Arial"/>
              <a:sym typeface="Arial"/>
            </a:endParaRPr>
          </a:p>
        </p:txBody>
      </p:sp>
      <p:sp>
        <p:nvSpPr>
          <p:cNvPr id="710" name="Google Shape;710;p95"/>
          <p:cNvSpPr txBox="1">
            <a:spLocks noGrp="1"/>
          </p:cNvSpPr>
          <p:nvPr>
            <p:ph type="body" idx="1"/>
          </p:nvPr>
        </p:nvSpPr>
        <p:spPr>
          <a:xfrm>
            <a:off x="225910" y="1289853"/>
            <a:ext cx="10776626" cy="2151855"/>
          </a:xfrm>
          <a:prstGeom prst="rect">
            <a:avLst/>
          </a:prstGeom>
          <a:noFill/>
          <a:ln>
            <a:noFill/>
          </a:ln>
        </p:spPr>
        <p:txBody>
          <a:bodyPr spcFirstLastPara="1" wrap="square" lIns="91425" tIns="45700" rIns="91425" bIns="45700" anchor="t" anchorCtr="0">
            <a:noAutofit/>
          </a:bodyPr>
          <a:lstStyle/>
          <a:p>
            <a:pPr marL="228600" lvl="0" indent="0" algn="just" rtl="0">
              <a:lnSpc>
                <a:spcPct val="150000"/>
              </a:lnSpc>
              <a:spcBef>
                <a:spcPts val="0"/>
              </a:spcBef>
              <a:spcAft>
                <a:spcPts val="0"/>
              </a:spcAft>
              <a:buClr>
                <a:schemeClr val="dk1"/>
              </a:buClr>
              <a:buSzPts val="2800"/>
              <a:buNone/>
            </a:pPr>
            <a:r>
              <a:rPr lang="en-US">
                <a:latin typeface="Arial"/>
                <a:ea typeface="Arial"/>
                <a:cs typeface="Arial"/>
                <a:sym typeface="Arial"/>
              </a:rPr>
              <a:t>	</a:t>
            </a:r>
            <a:r>
              <a:rPr lang="en-US" err="1">
                <a:latin typeface="Arial"/>
                <a:ea typeface="Arial"/>
                <a:cs typeface="Arial"/>
                <a:sym typeface="Arial"/>
              </a:rPr>
              <a:t>Nhóm</a:t>
            </a:r>
            <a:r>
              <a:rPr lang="en-US">
                <a:latin typeface="Arial"/>
                <a:ea typeface="Arial"/>
                <a:cs typeface="Arial"/>
                <a:sym typeface="Arial"/>
              </a:rPr>
              <a:t> </a:t>
            </a:r>
            <a:r>
              <a:rPr lang="en-US" err="1">
                <a:latin typeface="Arial"/>
                <a:ea typeface="Arial"/>
                <a:cs typeface="Arial"/>
                <a:sym typeface="Arial"/>
              </a:rPr>
              <a:t>tham</a:t>
            </a:r>
            <a:r>
              <a:rPr lang="en-US">
                <a:latin typeface="Arial"/>
                <a:ea typeface="Arial"/>
                <a:cs typeface="Arial"/>
                <a:sym typeface="Arial"/>
              </a:rPr>
              <a:t> </a:t>
            </a:r>
            <a:r>
              <a:rPr lang="en-US" err="1">
                <a:latin typeface="Arial"/>
                <a:ea typeface="Arial"/>
                <a:cs typeface="Arial"/>
                <a:sym typeface="Arial"/>
              </a:rPr>
              <a:t>khảo</a:t>
            </a:r>
            <a:r>
              <a:rPr lang="en-US">
                <a:latin typeface="Arial"/>
                <a:ea typeface="Arial"/>
                <a:cs typeface="Arial"/>
                <a:sym typeface="Arial"/>
              </a:rPr>
              <a:t> hay </a:t>
            </a:r>
            <a:r>
              <a:rPr lang="en-US" err="1">
                <a:latin typeface="Arial"/>
                <a:ea typeface="Arial"/>
                <a:cs typeface="Arial"/>
                <a:sym typeface="Arial"/>
              </a:rPr>
              <a:t>cá</a:t>
            </a:r>
            <a:r>
              <a:rPr lang="en-US">
                <a:latin typeface="Arial"/>
                <a:ea typeface="Arial"/>
                <a:cs typeface="Arial"/>
                <a:sym typeface="Arial"/>
              </a:rPr>
              <a:t> </a:t>
            </a:r>
            <a:r>
              <a:rPr lang="en-US" err="1">
                <a:latin typeface="Arial"/>
                <a:ea typeface="Arial"/>
                <a:cs typeface="Arial"/>
                <a:sym typeface="Arial"/>
              </a:rPr>
              <a:t>nhân</a:t>
            </a:r>
            <a:r>
              <a:rPr lang="en-US">
                <a:latin typeface="Arial"/>
                <a:ea typeface="Arial"/>
                <a:cs typeface="Arial"/>
                <a:sym typeface="Arial"/>
              </a:rPr>
              <a:t> </a:t>
            </a:r>
            <a:r>
              <a:rPr lang="en-US" err="1">
                <a:latin typeface="Arial"/>
                <a:ea typeface="Arial"/>
                <a:cs typeface="Arial"/>
                <a:sym typeface="Arial"/>
              </a:rPr>
              <a:t>tham</a:t>
            </a:r>
            <a:r>
              <a:rPr lang="en-US">
                <a:latin typeface="Arial"/>
                <a:ea typeface="Arial"/>
                <a:cs typeface="Arial"/>
                <a:sym typeface="Arial"/>
              </a:rPr>
              <a:t> </a:t>
            </a:r>
            <a:r>
              <a:rPr lang="en-US" err="1">
                <a:latin typeface="Arial"/>
                <a:ea typeface="Arial"/>
                <a:cs typeface="Arial"/>
                <a:sym typeface="Arial"/>
              </a:rPr>
              <a:t>khảo</a:t>
            </a:r>
            <a:r>
              <a:rPr lang="en-US">
                <a:latin typeface="Arial"/>
                <a:ea typeface="Arial"/>
                <a:cs typeface="Arial"/>
                <a:sym typeface="Arial"/>
              </a:rPr>
              <a:t> </a:t>
            </a:r>
            <a:r>
              <a:rPr lang="en-US" err="1">
                <a:latin typeface="Arial"/>
                <a:ea typeface="Arial"/>
                <a:cs typeface="Arial"/>
                <a:sym typeface="Arial"/>
              </a:rPr>
              <a:t>là</a:t>
            </a:r>
            <a:r>
              <a:rPr lang="en-US">
                <a:latin typeface="Arial"/>
                <a:ea typeface="Arial"/>
                <a:cs typeface="Arial"/>
                <a:sym typeface="Arial"/>
              </a:rPr>
              <a:t>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nhóm</a:t>
            </a:r>
            <a:r>
              <a:rPr lang="en-US">
                <a:latin typeface="Arial"/>
                <a:ea typeface="Arial"/>
                <a:cs typeface="Arial"/>
                <a:sym typeface="Arial"/>
              </a:rPr>
              <a:t> </a:t>
            </a:r>
            <a:r>
              <a:rPr lang="en-US" err="1">
                <a:latin typeface="Arial"/>
                <a:ea typeface="Arial"/>
                <a:cs typeface="Arial"/>
                <a:sym typeface="Arial"/>
              </a:rPr>
              <a:t>người</a:t>
            </a:r>
            <a:r>
              <a:rPr lang="en-US">
                <a:latin typeface="Arial"/>
                <a:ea typeface="Arial"/>
                <a:cs typeface="Arial"/>
                <a:sym typeface="Arial"/>
              </a:rPr>
              <a:t> hay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cá</a:t>
            </a:r>
            <a:r>
              <a:rPr lang="en-US">
                <a:latin typeface="Arial"/>
                <a:ea typeface="Arial"/>
                <a:cs typeface="Arial"/>
                <a:sym typeface="Arial"/>
              </a:rPr>
              <a:t> </a:t>
            </a:r>
            <a:r>
              <a:rPr lang="en-US" err="1">
                <a:latin typeface="Arial"/>
                <a:ea typeface="Arial"/>
                <a:cs typeface="Arial"/>
                <a:sym typeface="Arial"/>
              </a:rPr>
              <a:t>nhân</a:t>
            </a:r>
            <a:r>
              <a:rPr lang="en-US">
                <a:latin typeface="Arial"/>
                <a:ea typeface="Arial"/>
                <a:cs typeface="Arial"/>
                <a:sym typeface="Arial"/>
              </a:rPr>
              <a:t> </a:t>
            </a:r>
            <a:r>
              <a:rPr lang="en-US" err="1">
                <a:latin typeface="Arial"/>
                <a:ea typeface="Arial"/>
                <a:cs typeface="Arial"/>
                <a:sym typeface="Arial"/>
              </a:rPr>
              <a:t>mà</a:t>
            </a:r>
            <a:r>
              <a:rPr lang="en-US">
                <a:latin typeface="Arial"/>
                <a:ea typeface="Arial"/>
                <a:cs typeface="Arial"/>
                <a:sym typeface="Arial"/>
              </a:rPr>
              <a:t> </a:t>
            </a:r>
            <a:r>
              <a:rPr lang="en-US" err="1">
                <a:latin typeface="Arial"/>
                <a:ea typeface="Arial"/>
                <a:cs typeface="Arial"/>
                <a:sym typeface="Arial"/>
              </a:rPr>
              <a:t>thái</a:t>
            </a:r>
            <a:r>
              <a:rPr lang="en-US">
                <a:latin typeface="Arial"/>
                <a:ea typeface="Arial"/>
                <a:cs typeface="Arial"/>
                <a:sym typeface="Arial"/>
              </a:rPr>
              <a:t> </a:t>
            </a:r>
            <a:r>
              <a:rPr lang="en-US" err="1">
                <a:latin typeface="Arial"/>
                <a:ea typeface="Arial"/>
                <a:cs typeface="Arial"/>
                <a:sym typeface="Arial"/>
              </a:rPr>
              <a:t>độ</a:t>
            </a:r>
            <a:r>
              <a:rPr lang="en-US">
                <a:latin typeface="Arial"/>
                <a:ea typeface="Arial"/>
                <a:cs typeface="Arial"/>
                <a:sym typeface="Arial"/>
              </a:rPr>
              <a:t>, </a:t>
            </a:r>
            <a:r>
              <a:rPr lang="en-US" err="1">
                <a:latin typeface="Arial"/>
                <a:ea typeface="Arial"/>
                <a:cs typeface="Arial"/>
                <a:sym typeface="Arial"/>
              </a:rPr>
              <a:t>hành</a:t>
            </a:r>
            <a:r>
              <a:rPr lang="en-US">
                <a:latin typeface="Arial"/>
                <a:ea typeface="Arial"/>
                <a:cs typeface="Arial"/>
                <a:sym typeface="Arial"/>
              </a:rPr>
              <a:t> vi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họ</a:t>
            </a:r>
            <a:r>
              <a:rPr lang="en-US">
                <a:latin typeface="Arial"/>
                <a:ea typeface="Arial"/>
                <a:cs typeface="Arial"/>
                <a:sym typeface="Arial"/>
              </a:rPr>
              <a:t> </a:t>
            </a:r>
            <a:r>
              <a:rPr lang="en-US" err="1">
                <a:latin typeface="Arial"/>
                <a:ea typeface="Arial"/>
                <a:cs typeface="Arial"/>
                <a:sym typeface="Arial"/>
              </a:rPr>
              <a:t>được</a:t>
            </a:r>
            <a:r>
              <a:rPr lang="en-US">
                <a:latin typeface="Arial"/>
                <a:ea typeface="Arial"/>
                <a:cs typeface="Arial"/>
                <a:sym typeface="Arial"/>
              </a:rPr>
              <a:t> </a:t>
            </a:r>
            <a:r>
              <a:rPr lang="en-US" err="1">
                <a:latin typeface="Arial"/>
                <a:ea typeface="Arial"/>
                <a:cs typeface="Arial"/>
                <a:sym typeface="Arial"/>
              </a:rPr>
              <a:t>người</a:t>
            </a:r>
            <a:r>
              <a:rPr lang="en-US">
                <a:latin typeface="Arial"/>
                <a:ea typeface="Arial"/>
                <a:cs typeface="Arial"/>
                <a:sym typeface="Arial"/>
              </a:rPr>
              <a:t> </a:t>
            </a:r>
            <a:r>
              <a:rPr lang="en-US" err="1">
                <a:latin typeface="Arial"/>
                <a:ea typeface="Arial"/>
                <a:cs typeface="Arial"/>
                <a:sym typeface="Arial"/>
              </a:rPr>
              <a:t>khác</a:t>
            </a:r>
            <a:r>
              <a:rPr lang="en-US">
                <a:latin typeface="Arial"/>
                <a:ea typeface="Arial"/>
                <a:cs typeface="Arial"/>
                <a:sym typeface="Arial"/>
              </a:rPr>
              <a:t> </a:t>
            </a:r>
            <a:r>
              <a:rPr lang="en-US" err="1">
                <a:latin typeface="Arial"/>
                <a:ea typeface="Arial"/>
                <a:cs typeface="Arial"/>
                <a:sym typeface="Arial"/>
              </a:rPr>
              <a:t>coi</a:t>
            </a:r>
            <a:r>
              <a:rPr lang="en-US">
                <a:latin typeface="Arial"/>
                <a:ea typeface="Arial"/>
                <a:cs typeface="Arial"/>
                <a:sym typeface="Arial"/>
              </a:rPr>
              <a:t> </a:t>
            </a:r>
            <a:r>
              <a:rPr lang="en-US" err="1">
                <a:latin typeface="Arial"/>
                <a:ea typeface="Arial"/>
                <a:cs typeface="Arial"/>
                <a:sym typeface="Arial"/>
              </a:rPr>
              <a:t>như</a:t>
            </a:r>
            <a:r>
              <a:rPr lang="en-US">
                <a:latin typeface="Arial"/>
                <a:ea typeface="Arial"/>
                <a:cs typeface="Arial"/>
                <a:sym typeface="Arial"/>
              </a:rPr>
              <a:t> </a:t>
            </a:r>
            <a:r>
              <a:rPr lang="en-US" err="1">
                <a:latin typeface="Arial"/>
                <a:ea typeface="Arial"/>
                <a:cs typeface="Arial"/>
                <a:sym typeface="Arial"/>
              </a:rPr>
              <a:t>là</a:t>
            </a:r>
            <a:r>
              <a:rPr lang="en-US">
                <a:latin typeface="Arial"/>
                <a:ea typeface="Arial"/>
                <a:cs typeface="Arial"/>
                <a:sym typeface="Arial"/>
              </a:rPr>
              <a:t> </a:t>
            </a:r>
            <a:r>
              <a:rPr lang="en-US" err="1">
                <a:latin typeface="Arial"/>
                <a:ea typeface="Arial"/>
                <a:cs typeface="Arial"/>
                <a:sym typeface="Arial"/>
              </a:rPr>
              <a:t>chuẩn</a:t>
            </a:r>
            <a:r>
              <a:rPr lang="en-US">
                <a:latin typeface="Arial"/>
                <a:ea typeface="Arial"/>
                <a:cs typeface="Arial"/>
                <a:sym typeface="Arial"/>
              </a:rPr>
              <a:t> </a:t>
            </a:r>
            <a:r>
              <a:rPr lang="en-US" err="1">
                <a:latin typeface="Arial"/>
                <a:ea typeface="Arial"/>
                <a:cs typeface="Arial"/>
                <a:sym typeface="Arial"/>
              </a:rPr>
              <a:t>mực</a:t>
            </a:r>
            <a:r>
              <a:rPr lang="en-US">
                <a:latin typeface="Arial"/>
                <a:ea typeface="Arial"/>
                <a:cs typeface="Arial"/>
                <a:sym typeface="Arial"/>
              </a:rPr>
              <a:t> </a:t>
            </a:r>
            <a:r>
              <a:rPr lang="en-US" err="1">
                <a:latin typeface="Arial"/>
                <a:ea typeface="Arial"/>
                <a:cs typeface="Arial"/>
                <a:sym typeface="Arial"/>
              </a:rPr>
              <a:t>cho</a:t>
            </a:r>
            <a:r>
              <a:rPr lang="en-US">
                <a:latin typeface="Arial"/>
                <a:ea typeface="Arial"/>
                <a:cs typeface="Arial"/>
                <a:sym typeface="Arial"/>
              </a:rPr>
              <a:t> </a:t>
            </a:r>
            <a:r>
              <a:rPr lang="en-US" err="1">
                <a:latin typeface="Arial"/>
                <a:ea typeface="Arial"/>
                <a:cs typeface="Arial"/>
                <a:sym typeface="Arial"/>
              </a:rPr>
              <a:t>thái</a:t>
            </a:r>
            <a:r>
              <a:rPr lang="en-US">
                <a:latin typeface="Arial"/>
                <a:ea typeface="Arial"/>
                <a:cs typeface="Arial"/>
                <a:sym typeface="Arial"/>
              </a:rPr>
              <a:t> </a:t>
            </a:r>
            <a:r>
              <a:rPr lang="en-US" err="1">
                <a:latin typeface="Arial"/>
                <a:ea typeface="Arial"/>
                <a:cs typeface="Arial"/>
                <a:sym typeface="Arial"/>
              </a:rPr>
              <a:t>độ</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hành</a:t>
            </a:r>
            <a:r>
              <a:rPr lang="en-US">
                <a:latin typeface="Arial"/>
                <a:ea typeface="Arial"/>
                <a:cs typeface="Arial"/>
                <a:sym typeface="Arial"/>
              </a:rPr>
              <a:t> vi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mình</a:t>
            </a:r>
            <a:r>
              <a:rPr lang="en-US">
                <a:latin typeface="Arial"/>
                <a:ea typeface="Arial"/>
                <a:cs typeface="Arial"/>
                <a:sym typeface="Arial"/>
              </a:rPr>
              <a:t>.</a:t>
            </a:r>
            <a:endParaRPr/>
          </a:p>
        </p:txBody>
      </p:sp>
      <p:pic>
        <p:nvPicPr>
          <p:cNvPr id="711" name="Google Shape;711;p95" descr="index1_r25_c2[1]"/>
          <p:cNvPicPr preferRelativeResize="0"/>
          <p:nvPr/>
        </p:nvPicPr>
        <p:blipFill rotWithShape="1">
          <a:blip r:embed="rId3">
            <a:alphaModFix/>
          </a:blip>
          <a:srcRect/>
          <a:stretch/>
        </p:blipFill>
        <p:spPr>
          <a:xfrm>
            <a:off x="4540216" y="3886008"/>
            <a:ext cx="2445870" cy="215185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p96"/>
          <p:cNvSpPr txBox="1">
            <a:spLocks noGrp="1"/>
          </p:cNvSpPr>
          <p:nvPr>
            <p:ph type="title"/>
          </p:nvPr>
        </p:nvSpPr>
        <p:spPr>
          <a:xfrm>
            <a:off x="750651" y="107982"/>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1">
                <a:latin typeface="Arial"/>
                <a:ea typeface="Arial"/>
                <a:cs typeface="Arial"/>
                <a:sym typeface="Arial"/>
              </a:rPr>
              <a:t> 2.2.2 </a:t>
            </a:r>
            <a:r>
              <a:rPr lang="en-US" sz="3200" b="1" err="1">
                <a:latin typeface="Arial"/>
                <a:ea typeface="Arial"/>
                <a:cs typeface="Arial"/>
                <a:sym typeface="Arial"/>
              </a:rPr>
              <a:t>Nhóm</a:t>
            </a:r>
            <a:r>
              <a:rPr lang="en-US" sz="3200" b="1">
                <a:latin typeface="Arial"/>
                <a:ea typeface="Arial"/>
                <a:cs typeface="Arial"/>
                <a:sym typeface="Arial"/>
              </a:rPr>
              <a:t> </a:t>
            </a:r>
            <a:r>
              <a:rPr lang="en-US" sz="3200" b="1" err="1">
                <a:latin typeface="Arial"/>
                <a:ea typeface="Arial"/>
                <a:cs typeface="Arial"/>
                <a:sym typeface="Arial"/>
              </a:rPr>
              <a:t>tham</a:t>
            </a:r>
            <a:r>
              <a:rPr lang="en-US" sz="3200" b="1">
                <a:latin typeface="Arial"/>
                <a:ea typeface="Arial"/>
                <a:cs typeface="Arial"/>
                <a:sym typeface="Arial"/>
              </a:rPr>
              <a:t> </a:t>
            </a:r>
            <a:r>
              <a:rPr lang="en-US" sz="3200" b="1" err="1">
                <a:latin typeface="Arial"/>
                <a:ea typeface="Arial"/>
                <a:cs typeface="Arial"/>
                <a:sym typeface="Arial"/>
              </a:rPr>
              <a:t>khảo</a:t>
            </a:r>
            <a:r>
              <a:rPr lang="en-US" sz="3200" b="1">
                <a:latin typeface="Arial"/>
                <a:ea typeface="Arial"/>
                <a:cs typeface="Arial"/>
                <a:sym typeface="Arial"/>
              </a:rPr>
              <a:t> hay </a:t>
            </a:r>
            <a:r>
              <a:rPr lang="en-US" sz="3200" b="1" err="1">
                <a:latin typeface="Arial"/>
                <a:ea typeface="Arial"/>
                <a:cs typeface="Arial"/>
                <a:sym typeface="Arial"/>
              </a:rPr>
              <a:t>cá</a:t>
            </a:r>
            <a:r>
              <a:rPr lang="en-US" sz="3200" b="1">
                <a:latin typeface="Arial"/>
                <a:ea typeface="Arial"/>
                <a:cs typeface="Arial"/>
                <a:sym typeface="Arial"/>
              </a:rPr>
              <a:t> </a:t>
            </a:r>
            <a:r>
              <a:rPr lang="en-US" sz="3200" b="1" err="1">
                <a:latin typeface="Arial"/>
                <a:ea typeface="Arial"/>
                <a:cs typeface="Arial"/>
                <a:sym typeface="Arial"/>
              </a:rPr>
              <a:t>nhân</a:t>
            </a:r>
            <a:r>
              <a:rPr lang="en-US" sz="3200" b="1">
                <a:latin typeface="Arial"/>
                <a:ea typeface="Arial"/>
                <a:cs typeface="Arial"/>
                <a:sym typeface="Arial"/>
              </a:rPr>
              <a:t> </a:t>
            </a:r>
            <a:r>
              <a:rPr lang="en-US" sz="3200" b="1" err="1">
                <a:latin typeface="Arial"/>
                <a:ea typeface="Arial"/>
                <a:cs typeface="Arial"/>
                <a:sym typeface="Arial"/>
              </a:rPr>
              <a:t>tham</a:t>
            </a:r>
            <a:r>
              <a:rPr lang="en-US" sz="3200" b="1">
                <a:latin typeface="Arial"/>
                <a:ea typeface="Arial"/>
                <a:cs typeface="Arial"/>
                <a:sym typeface="Arial"/>
              </a:rPr>
              <a:t> </a:t>
            </a:r>
            <a:r>
              <a:rPr lang="en-US" sz="3200" b="1" err="1">
                <a:latin typeface="Arial"/>
                <a:ea typeface="Arial"/>
                <a:cs typeface="Arial"/>
                <a:sym typeface="Arial"/>
              </a:rPr>
              <a:t>khảo</a:t>
            </a:r>
            <a:endParaRPr sz="3200" b="1">
              <a:latin typeface="Arial"/>
              <a:ea typeface="Arial"/>
              <a:cs typeface="Arial"/>
              <a:sym typeface="Arial"/>
            </a:endParaRPr>
          </a:p>
        </p:txBody>
      </p:sp>
      <p:sp>
        <p:nvSpPr>
          <p:cNvPr id="717" name="Google Shape;717;p96"/>
          <p:cNvSpPr txBox="1">
            <a:spLocks noGrp="1"/>
          </p:cNvSpPr>
          <p:nvPr>
            <p:ph type="body" idx="1"/>
          </p:nvPr>
        </p:nvSpPr>
        <p:spPr>
          <a:xfrm>
            <a:off x="412176" y="1323719"/>
            <a:ext cx="10776626" cy="2151855"/>
          </a:xfrm>
          <a:prstGeom prst="rect">
            <a:avLst/>
          </a:prstGeom>
          <a:noFill/>
          <a:ln>
            <a:noFill/>
          </a:ln>
        </p:spPr>
        <p:txBody>
          <a:bodyPr spcFirstLastPara="1" wrap="square" lIns="91425" tIns="45700" rIns="91425" bIns="45700" anchor="t" anchorCtr="0">
            <a:noAutofit/>
          </a:bodyPr>
          <a:lstStyle/>
          <a:p>
            <a:pPr marL="228600" lvl="0" indent="0" algn="just" rtl="0">
              <a:lnSpc>
                <a:spcPct val="150000"/>
              </a:lnSpc>
              <a:spcBef>
                <a:spcPts val="0"/>
              </a:spcBef>
              <a:spcAft>
                <a:spcPts val="0"/>
              </a:spcAft>
              <a:buClr>
                <a:schemeClr val="dk1"/>
              </a:buClr>
              <a:buSzPts val="2800"/>
              <a:buNone/>
            </a:pPr>
            <a:r>
              <a:rPr lang="en-US">
                <a:latin typeface="Arial"/>
                <a:ea typeface="Arial"/>
                <a:cs typeface="Arial"/>
                <a:sym typeface="Arial"/>
              </a:rPr>
              <a:t>	</a:t>
            </a:r>
            <a:r>
              <a:rPr lang="en-US" err="1">
                <a:latin typeface="Arial"/>
                <a:ea typeface="Arial"/>
                <a:cs typeface="Arial"/>
                <a:sym typeface="Arial"/>
              </a:rPr>
              <a:t>Cách</a:t>
            </a:r>
            <a:r>
              <a:rPr lang="en-US">
                <a:latin typeface="Arial"/>
                <a:ea typeface="Arial"/>
                <a:cs typeface="Arial"/>
                <a:sym typeface="Arial"/>
              </a:rPr>
              <a:t> </a:t>
            </a:r>
            <a:r>
              <a:rPr lang="en-US" err="1">
                <a:latin typeface="Arial"/>
                <a:ea typeface="Arial"/>
                <a:cs typeface="Arial"/>
                <a:sym typeface="Arial"/>
              </a:rPr>
              <a:t>nhóm</a:t>
            </a:r>
            <a:r>
              <a:rPr lang="en-US">
                <a:latin typeface="Arial"/>
                <a:ea typeface="Arial"/>
                <a:cs typeface="Arial"/>
                <a:sym typeface="Arial"/>
              </a:rPr>
              <a:t> </a:t>
            </a:r>
            <a:r>
              <a:rPr lang="en-US" err="1">
                <a:latin typeface="Arial"/>
                <a:ea typeface="Arial"/>
                <a:cs typeface="Arial"/>
                <a:sym typeface="Arial"/>
              </a:rPr>
              <a:t>tham</a:t>
            </a:r>
            <a:r>
              <a:rPr lang="en-US">
                <a:latin typeface="Arial"/>
                <a:ea typeface="Arial"/>
                <a:cs typeface="Arial"/>
                <a:sym typeface="Arial"/>
              </a:rPr>
              <a:t> </a:t>
            </a:r>
            <a:r>
              <a:rPr lang="en-US" err="1">
                <a:latin typeface="Arial"/>
                <a:ea typeface="Arial"/>
                <a:cs typeface="Arial"/>
                <a:sym typeface="Arial"/>
              </a:rPr>
              <a:t>khảo</a:t>
            </a:r>
            <a:r>
              <a:rPr lang="en-US">
                <a:latin typeface="Arial"/>
                <a:ea typeface="Arial"/>
                <a:cs typeface="Arial"/>
                <a:sym typeface="Arial"/>
              </a:rPr>
              <a:t> </a:t>
            </a:r>
            <a:r>
              <a:rPr lang="en-US" err="1">
                <a:latin typeface="Arial"/>
                <a:ea typeface="Arial"/>
                <a:cs typeface="Arial"/>
                <a:sym typeface="Arial"/>
              </a:rPr>
              <a:t>tác</a:t>
            </a:r>
            <a:r>
              <a:rPr lang="en-US">
                <a:latin typeface="Arial"/>
                <a:ea typeface="Arial"/>
                <a:cs typeface="Arial"/>
                <a:sym typeface="Arial"/>
              </a:rPr>
              <a:t> </a:t>
            </a:r>
            <a:r>
              <a:rPr lang="en-US" err="1">
                <a:latin typeface="Arial"/>
                <a:ea typeface="Arial"/>
                <a:cs typeface="Arial"/>
                <a:sym typeface="Arial"/>
              </a:rPr>
              <a:t>động</a:t>
            </a:r>
            <a:r>
              <a:rPr lang="en-US">
                <a:latin typeface="Arial"/>
                <a:ea typeface="Arial"/>
                <a:cs typeface="Arial"/>
                <a:sym typeface="Arial"/>
              </a:rPr>
              <a:t> </a:t>
            </a:r>
            <a:r>
              <a:rPr lang="en-US" err="1">
                <a:latin typeface="Arial"/>
                <a:ea typeface="Arial"/>
                <a:cs typeface="Arial"/>
                <a:sym typeface="Arial"/>
              </a:rPr>
              <a:t>đến</a:t>
            </a:r>
            <a:r>
              <a:rPr lang="en-US">
                <a:latin typeface="Arial"/>
                <a:ea typeface="Arial"/>
                <a:cs typeface="Arial"/>
                <a:sym typeface="Arial"/>
              </a:rPr>
              <a:t> KH:</a:t>
            </a:r>
            <a:endParaRPr/>
          </a:p>
          <a:p>
            <a:pPr marL="685800" lvl="0" indent="-457200" algn="just" rtl="0">
              <a:lnSpc>
                <a:spcPct val="150000"/>
              </a:lnSpc>
              <a:spcBef>
                <a:spcPts val="0"/>
              </a:spcBef>
              <a:spcAft>
                <a:spcPts val="0"/>
              </a:spcAft>
              <a:buClr>
                <a:schemeClr val="dk1"/>
              </a:buClr>
              <a:buSzPts val="2800"/>
              <a:buFont typeface="Arial"/>
              <a:buChar char="-"/>
            </a:pPr>
            <a:r>
              <a:rPr lang="en-US" err="1">
                <a:latin typeface="Arial"/>
                <a:ea typeface="Arial"/>
                <a:cs typeface="Arial"/>
                <a:sym typeface="Arial"/>
              </a:rPr>
              <a:t>Hành</a:t>
            </a:r>
            <a:r>
              <a:rPr lang="en-US">
                <a:latin typeface="Arial"/>
                <a:ea typeface="Arial"/>
                <a:cs typeface="Arial"/>
                <a:sym typeface="Arial"/>
              </a:rPr>
              <a:t> vi, </a:t>
            </a:r>
            <a:r>
              <a:rPr lang="en-US" err="1">
                <a:latin typeface="Arial"/>
                <a:ea typeface="Arial"/>
                <a:cs typeface="Arial"/>
                <a:sym typeface="Arial"/>
              </a:rPr>
              <a:t>lối</a:t>
            </a:r>
            <a:r>
              <a:rPr lang="en-US">
                <a:latin typeface="Arial"/>
                <a:ea typeface="Arial"/>
                <a:cs typeface="Arial"/>
                <a:sym typeface="Arial"/>
              </a:rPr>
              <a:t> </a:t>
            </a:r>
            <a:r>
              <a:rPr lang="en-US" err="1">
                <a:latin typeface="Arial"/>
                <a:ea typeface="Arial"/>
                <a:cs typeface="Arial"/>
                <a:sym typeface="Arial"/>
              </a:rPr>
              <a:t>sống</a:t>
            </a:r>
            <a:r>
              <a:rPr lang="en-US">
                <a:latin typeface="Arial"/>
                <a:ea typeface="Arial"/>
                <a:cs typeface="Arial"/>
                <a:sym typeface="Arial"/>
              </a:rPr>
              <a:t> </a:t>
            </a:r>
            <a:r>
              <a:rPr lang="en-US" err="1">
                <a:latin typeface="Arial"/>
                <a:ea typeface="Arial"/>
                <a:cs typeface="Arial"/>
                <a:sym typeface="Arial"/>
              </a:rPr>
              <a:t>mới</a:t>
            </a:r>
            <a:endParaRPr>
              <a:latin typeface="Arial"/>
              <a:ea typeface="Arial"/>
              <a:cs typeface="Arial"/>
              <a:sym typeface="Arial"/>
            </a:endParaRPr>
          </a:p>
          <a:p>
            <a:pPr marL="685800" lvl="0" indent="-457200" algn="just" rtl="0">
              <a:lnSpc>
                <a:spcPct val="150000"/>
              </a:lnSpc>
              <a:spcBef>
                <a:spcPts val="0"/>
              </a:spcBef>
              <a:spcAft>
                <a:spcPts val="0"/>
              </a:spcAft>
              <a:buClr>
                <a:schemeClr val="dk1"/>
              </a:buClr>
              <a:buSzPts val="2800"/>
              <a:buFont typeface="Arial"/>
              <a:buChar char="-"/>
            </a:pPr>
            <a:r>
              <a:rPr lang="en-US" err="1">
                <a:latin typeface="Arial"/>
                <a:ea typeface="Arial"/>
                <a:cs typeface="Arial"/>
                <a:sym typeface="Arial"/>
              </a:rPr>
              <a:t>Những</a:t>
            </a:r>
            <a:r>
              <a:rPr lang="en-US">
                <a:latin typeface="Arial"/>
                <a:ea typeface="Arial"/>
                <a:cs typeface="Arial"/>
                <a:sym typeface="Arial"/>
              </a:rPr>
              <a:t> ý </a:t>
            </a:r>
            <a:r>
              <a:rPr lang="en-US" err="1">
                <a:latin typeface="Arial"/>
                <a:ea typeface="Arial"/>
                <a:cs typeface="Arial"/>
                <a:sym typeface="Arial"/>
              </a:rPr>
              <a:t>tưởng</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trí</a:t>
            </a:r>
            <a:r>
              <a:rPr lang="en-US">
                <a:latin typeface="Arial"/>
                <a:ea typeface="Arial"/>
                <a:cs typeface="Arial"/>
                <a:sym typeface="Arial"/>
              </a:rPr>
              <a:t> </a:t>
            </a:r>
            <a:r>
              <a:rPr lang="en-US" err="1">
                <a:latin typeface="Arial"/>
                <a:ea typeface="Arial"/>
                <a:cs typeface="Arial"/>
                <a:sym typeface="Arial"/>
              </a:rPr>
              <a:t>tưởng</a:t>
            </a:r>
            <a:r>
              <a:rPr lang="en-US">
                <a:latin typeface="Arial"/>
                <a:ea typeface="Arial"/>
                <a:cs typeface="Arial"/>
                <a:sym typeface="Arial"/>
              </a:rPr>
              <a:t> </a:t>
            </a:r>
            <a:r>
              <a:rPr lang="en-US" err="1">
                <a:latin typeface="Arial"/>
                <a:ea typeface="Arial"/>
                <a:cs typeface="Arial"/>
                <a:sym typeface="Arial"/>
              </a:rPr>
              <a:t>tượng</a:t>
            </a:r>
            <a:r>
              <a:rPr lang="en-US">
                <a:latin typeface="Arial"/>
                <a:ea typeface="Arial"/>
                <a:cs typeface="Arial"/>
                <a:sym typeface="Arial"/>
              </a:rPr>
              <a:t> </a:t>
            </a:r>
            <a:r>
              <a:rPr lang="en-US" err="1">
                <a:latin typeface="Arial"/>
                <a:ea typeface="Arial"/>
                <a:cs typeface="Arial"/>
                <a:sym typeface="Arial"/>
              </a:rPr>
              <a:t>ảnh</a:t>
            </a:r>
            <a:r>
              <a:rPr lang="en-US">
                <a:latin typeface="Arial"/>
                <a:ea typeface="Arial"/>
                <a:cs typeface="Arial"/>
                <a:sym typeface="Arial"/>
              </a:rPr>
              <a:t> </a:t>
            </a:r>
            <a:r>
              <a:rPr lang="en-US" err="1">
                <a:latin typeface="Arial"/>
                <a:ea typeface="Arial"/>
                <a:cs typeface="Arial"/>
                <a:sym typeface="Arial"/>
              </a:rPr>
              <a:t>hưởng</a:t>
            </a:r>
            <a:r>
              <a:rPr lang="en-US">
                <a:latin typeface="Arial"/>
                <a:ea typeface="Arial"/>
                <a:cs typeface="Arial"/>
                <a:sym typeface="Arial"/>
              </a:rPr>
              <a:t> </a:t>
            </a:r>
            <a:r>
              <a:rPr lang="en-US" err="1">
                <a:latin typeface="Arial"/>
                <a:ea typeface="Arial"/>
                <a:cs typeface="Arial"/>
                <a:sym typeface="Arial"/>
              </a:rPr>
              <a:t>đến</a:t>
            </a:r>
            <a:r>
              <a:rPr lang="en-US">
                <a:latin typeface="Arial"/>
                <a:ea typeface="Arial"/>
                <a:cs typeface="Arial"/>
                <a:sym typeface="Arial"/>
              </a:rPr>
              <a:t> </a:t>
            </a:r>
            <a:r>
              <a:rPr lang="en-US" err="1">
                <a:latin typeface="Arial"/>
                <a:ea typeface="Arial"/>
                <a:cs typeface="Arial"/>
                <a:sym typeface="Arial"/>
              </a:rPr>
              <a:t>sở</a:t>
            </a:r>
            <a:r>
              <a:rPr lang="en-US">
                <a:latin typeface="Arial"/>
                <a:ea typeface="Arial"/>
                <a:cs typeface="Arial"/>
                <a:sym typeface="Arial"/>
              </a:rPr>
              <a:t> </a:t>
            </a:r>
            <a:r>
              <a:rPr lang="en-US" err="1">
                <a:latin typeface="Arial"/>
                <a:ea typeface="Arial"/>
                <a:cs typeface="Arial"/>
                <a:sym typeface="Arial"/>
              </a:rPr>
              <a:t>thích</a:t>
            </a:r>
            <a:r>
              <a:rPr lang="en-US">
                <a:latin typeface="Arial"/>
                <a:ea typeface="Arial"/>
                <a:cs typeface="Arial"/>
                <a:sym typeface="Arial"/>
              </a:rPr>
              <a:t> </a:t>
            </a:r>
            <a:r>
              <a:rPr lang="en-US" err="1">
                <a:latin typeface="Arial"/>
                <a:ea typeface="Arial"/>
                <a:cs typeface="Arial"/>
                <a:sym typeface="Arial"/>
              </a:rPr>
              <a:t>cá</a:t>
            </a:r>
            <a:r>
              <a:rPr lang="en-US">
                <a:latin typeface="Arial"/>
                <a:ea typeface="Arial"/>
                <a:cs typeface="Arial"/>
                <a:sym typeface="Arial"/>
              </a:rPr>
              <a:t> </a:t>
            </a:r>
            <a:r>
              <a:rPr lang="en-US" err="1">
                <a:latin typeface="Arial"/>
                <a:ea typeface="Arial"/>
                <a:cs typeface="Arial"/>
                <a:sym typeface="Arial"/>
              </a:rPr>
              <a:t>nhân</a:t>
            </a:r>
            <a:r>
              <a:rPr lang="en-US">
                <a:latin typeface="Arial"/>
                <a:ea typeface="Arial"/>
                <a:cs typeface="Arial"/>
                <a:sym typeface="Arial"/>
              </a:rPr>
              <a:t> </a:t>
            </a:r>
            <a:r>
              <a:rPr lang="en-US" err="1">
                <a:latin typeface="Arial"/>
                <a:ea typeface="Arial"/>
                <a:cs typeface="Arial"/>
                <a:sym typeface="Arial"/>
              </a:rPr>
              <a:t>sẽ</a:t>
            </a:r>
            <a:r>
              <a:rPr lang="en-US">
                <a:latin typeface="Arial"/>
                <a:ea typeface="Arial"/>
                <a:cs typeface="Arial"/>
                <a:sym typeface="Arial"/>
              </a:rPr>
              <a:t> </a:t>
            </a:r>
            <a:r>
              <a:rPr lang="en-US" err="1">
                <a:latin typeface="Arial"/>
                <a:ea typeface="Arial"/>
                <a:cs typeface="Arial"/>
                <a:sym typeface="Arial"/>
              </a:rPr>
              <a:t>được</a:t>
            </a:r>
            <a:r>
              <a:rPr lang="en-US">
                <a:latin typeface="Arial"/>
                <a:ea typeface="Arial"/>
                <a:cs typeface="Arial"/>
                <a:sym typeface="Arial"/>
              </a:rPr>
              <a:t> </a:t>
            </a:r>
            <a:r>
              <a:rPr lang="en-US" err="1">
                <a:latin typeface="Arial"/>
                <a:ea typeface="Arial"/>
                <a:cs typeface="Arial"/>
                <a:sym typeface="Arial"/>
              </a:rPr>
              <a:t>điều</a:t>
            </a:r>
            <a:r>
              <a:rPr lang="en-US">
                <a:latin typeface="Arial"/>
                <a:ea typeface="Arial"/>
                <a:cs typeface="Arial"/>
                <a:sym typeface="Arial"/>
              </a:rPr>
              <a:t> </a:t>
            </a:r>
            <a:r>
              <a:rPr lang="en-US" err="1">
                <a:latin typeface="Arial"/>
                <a:ea typeface="Arial"/>
                <a:cs typeface="Arial"/>
                <a:sym typeface="Arial"/>
              </a:rPr>
              <a:t>chỉnh</a:t>
            </a:r>
            <a:r>
              <a:rPr lang="en-US">
                <a:latin typeface="Arial"/>
                <a:ea typeface="Arial"/>
                <a:cs typeface="Arial"/>
                <a:sym typeface="Arial"/>
              </a:rPr>
              <a:t> </a:t>
            </a:r>
            <a:r>
              <a:rPr lang="en-US" err="1">
                <a:latin typeface="Arial"/>
                <a:ea typeface="Arial"/>
                <a:cs typeface="Arial"/>
                <a:sym typeface="Arial"/>
              </a:rPr>
              <a:t>cho</a:t>
            </a:r>
            <a:r>
              <a:rPr lang="en-US">
                <a:latin typeface="Arial"/>
                <a:ea typeface="Arial"/>
                <a:cs typeface="Arial"/>
                <a:sym typeface="Arial"/>
              </a:rPr>
              <a:t> </a:t>
            </a:r>
            <a:r>
              <a:rPr lang="en-US" err="1">
                <a:latin typeface="Arial"/>
                <a:ea typeface="Arial"/>
                <a:cs typeface="Arial"/>
                <a:sym typeface="Arial"/>
              </a:rPr>
              <a:t>phù</a:t>
            </a:r>
            <a:r>
              <a:rPr lang="en-US">
                <a:latin typeface="Arial"/>
                <a:ea typeface="Arial"/>
                <a:cs typeface="Arial"/>
                <a:sym typeface="Arial"/>
              </a:rPr>
              <a:t> </a:t>
            </a:r>
            <a:r>
              <a:rPr lang="en-US" err="1">
                <a:latin typeface="Arial"/>
                <a:ea typeface="Arial"/>
                <a:cs typeface="Arial"/>
                <a:sym typeface="Arial"/>
              </a:rPr>
              <a:t>hợp</a:t>
            </a:r>
            <a:r>
              <a:rPr lang="en-US">
                <a:latin typeface="Arial"/>
                <a:ea typeface="Arial"/>
                <a:cs typeface="Arial"/>
                <a:sym typeface="Arial"/>
              </a:rPr>
              <a:t> </a:t>
            </a:r>
            <a:r>
              <a:rPr lang="en-US" err="1">
                <a:latin typeface="Arial"/>
                <a:ea typeface="Arial"/>
                <a:cs typeface="Arial"/>
                <a:sym typeface="Arial"/>
              </a:rPr>
              <a:t>nhóm</a:t>
            </a:r>
            <a:r>
              <a:rPr lang="en-US">
                <a:latin typeface="Arial"/>
                <a:ea typeface="Arial"/>
                <a:cs typeface="Arial"/>
                <a:sym typeface="Arial"/>
              </a:rPr>
              <a:t> </a:t>
            </a:r>
            <a:r>
              <a:rPr lang="en-US" err="1">
                <a:latin typeface="Arial"/>
                <a:ea typeface="Arial"/>
                <a:cs typeface="Arial"/>
                <a:sym typeface="Arial"/>
              </a:rPr>
              <a:t>tham</a:t>
            </a:r>
            <a:r>
              <a:rPr lang="en-US">
                <a:latin typeface="Arial"/>
                <a:ea typeface="Arial"/>
                <a:cs typeface="Arial"/>
                <a:sym typeface="Arial"/>
              </a:rPr>
              <a:t> </a:t>
            </a:r>
            <a:r>
              <a:rPr lang="en-US" err="1">
                <a:latin typeface="Arial"/>
                <a:ea typeface="Arial"/>
                <a:cs typeface="Arial"/>
                <a:sym typeface="Arial"/>
              </a:rPr>
              <a:t>khảo</a:t>
            </a:r>
            <a:endParaRPr>
              <a:latin typeface="Arial"/>
              <a:ea typeface="Arial"/>
              <a:cs typeface="Arial"/>
              <a:sym typeface="Arial"/>
            </a:endParaRPr>
          </a:p>
          <a:p>
            <a:pPr marL="685800" lvl="0" indent="-457200" algn="just" rtl="0">
              <a:lnSpc>
                <a:spcPct val="150000"/>
              </a:lnSpc>
              <a:spcBef>
                <a:spcPts val="0"/>
              </a:spcBef>
              <a:spcAft>
                <a:spcPts val="0"/>
              </a:spcAft>
              <a:buClr>
                <a:schemeClr val="dk1"/>
              </a:buClr>
              <a:buSzPts val="2800"/>
              <a:buFont typeface="Arial"/>
              <a:buChar char="-"/>
            </a:pP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điều</a:t>
            </a:r>
            <a:r>
              <a:rPr lang="en-US">
                <a:latin typeface="Arial"/>
                <a:ea typeface="Arial"/>
                <a:cs typeface="Arial"/>
                <a:sym typeface="Arial"/>
              </a:rPr>
              <a:t> </a:t>
            </a:r>
            <a:r>
              <a:rPr lang="en-US" err="1">
                <a:latin typeface="Arial"/>
                <a:ea typeface="Arial"/>
                <a:cs typeface="Arial"/>
                <a:sym typeface="Arial"/>
              </a:rPr>
              <a:t>kiện</a:t>
            </a:r>
            <a:r>
              <a:rPr lang="en-US">
                <a:latin typeface="Arial"/>
                <a:ea typeface="Arial"/>
                <a:cs typeface="Arial"/>
                <a:sym typeface="Arial"/>
              </a:rPr>
              <a:t> </a:t>
            </a:r>
            <a:r>
              <a:rPr lang="en-US" err="1">
                <a:latin typeface="Arial"/>
                <a:ea typeface="Arial"/>
                <a:cs typeface="Arial"/>
                <a:sym typeface="Arial"/>
              </a:rPr>
              <a:t>bắt</a:t>
            </a:r>
            <a:r>
              <a:rPr lang="en-US">
                <a:latin typeface="Arial"/>
                <a:ea typeface="Arial"/>
                <a:cs typeface="Arial"/>
                <a:sym typeface="Arial"/>
              </a:rPr>
              <a:t> </a:t>
            </a:r>
            <a:r>
              <a:rPr lang="en-US" err="1">
                <a:latin typeface="Arial"/>
                <a:ea typeface="Arial"/>
                <a:cs typeface="Arial"/>
                <a:sym typeface="Arial"/>
              </a:rPr>
              <a:t>buộc</a:t>
            </a:r>
            <a:r>
              <a:rPr lang="en-US">
                <a:latin typeface="Arial"/>
                <a:ea typeface="Arial"/>
                <a:cs typeface="Arial"/>
                <a:sym typeface="Arial"/>
              </a:rPr>
              <a:t> </a:t>
            </a:r>
            <a:r>
              <a:rPr lang="en-US" err="1">
                <a:latin typeface="Arial"/>
                <a:ea typeface="Arial"/>
                <a:cs typeface="Arial"/>
                <a:sym typeface="Arial"/>
              </a:rPr>
              <a:t>được</a:t>
            </a:r>
            <a:r>
              <a:rPr lang="en-US">
                <a:latin typeface="Arial"/>
                <a:ea typeface="Arial"/>
                <a:cs typeface="Arial"/>
                <a:sym typeface="Arial"/>
              </a:rPr>
              <a:t> </a:t>
            </a:r>
            <a:r>
              <a:rPr lang="en-US" err="1">
                <a:latin typeface="Arial"/>
                <a:ea typeface="Arial"/>
                <a:cs typeface="Arial"/>
                <a:sym typeface="Arial"/>
              </a:rPr>
              <a:t>tạo</a:t>
            </a:r>
            <a:r>
              <a:rPr lang="en-US">
                <a:latin typeface="Arial"/>
                <a:ea typeface="Arial"/>
                <a:cs typeface="Arial"/>
                <a:sym typeface="Arial"/>
              </a:rPr>
              <a:t> </a:t>
            </a:r>
            <a:r>
              <a:rPr lang="en-US" err="1">
                <a:latin typeface="Arial"/>
                <a:ea typeface="Arial"/>
                <a:cs typeface="Arial"/>
                <a:sym typeface="Arial"/>
              </a:rPr>
              <a:t>ra</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thể</a:t>
            </a:r>
            <a:r>
              <a:rPr lang="en-US">
                <a:latin typeface="Arial"/>
                <a:ea typeface="Arial"/>
                <a:cs typeface="Arial"/>
                <a:sym typeface="Arial"/>
              </a:rPr>
              <a:t> </a:t>
            </a:r>
            <a:r>
              <a:rPr lang="en-US" err="1">
                <a:latin typeface="Arial"/>
                <a:ea typeface="Arial"/>
                <a:cs typeface="Arial"/>
                <a:sym typeface="Arial"/>
              </a:rPr>
              <a:t>ảnh</a:t>
            </a:r>
            <a:r>
              <a:rPr lang="en-US">
                <a:latin typeface="Arial"/>
                <a:ea typeface="Arial"/>
                <a:cs typeface="Arial"/>
                <a:sym typeface="Arial"/>
              </a:rPr>
              <a:t> </a:t>
            </a:r>
            <a:r>
              <a:rPr lang="en-US" err="1">
                <a:latin typeface="Arial"/>
                <a:ea typeface="Arial"/>
                <a:cs typeface="Arial"/>
                <a:sym typeface="Arial"/>
              </a:rPr>
              <a:t>hưởng</a:t>
            </a:r>
            <a:r>
              <a:rPr lang="en-US">
                <a:latin typeface="Arial"/>
                <a:ea typeface="Arial"/>
                <a:cs typeface="Arial"/>
                <a:sym typeface="Arial"/>
              </a:rPr>
              <a:t> </a:t>
            </a:r>
            <a:r>
              <a:rPr lang="en-US" err="1">
                <a:latin typeface="Arial"/>
                <a:ea typeface="Arial"/>
                <a:cs typeface="Arial"/>
                <a:sym typeface="Arial"/>
              </a:rPr>
              <a:t>đến</a:t>
            </a:r>
            <a:r>
              <a:rPr lang="en-US">
                <a:latin typeface="Arial"/>
                <a:ea typeface="Arial"/>
                <a:cs typeface="Arial"/>
                <a:sym typeface="Arial"/>
              </a:rPr>
              <a:t> </a:t>
            </a:r>
            <a:r>
              <a:rPr lang="en-US" err="1">
                <a:latin typeface="Arial"/>
                <a:ea typeface="Arial"/>
                <a:cs typeface="Arial"/>
                <a:sym typeface="Arial"/>
              </a:rPr>
              <a:t>việc</a:t>
            </a:r>
            <a:r>
              <a:rPr lang="en-US">
                <a:latin typeface="Arial"/>
                <a:ea typeface="Arial"/>
                <a:cs typeface="Arial"/>
                <a:sym typeface="Arial"/>
              </a:rPr>
              <a:t> </a:t>
            </a:r>
            <a:r>
              <a:rPr lang="en-US" err="1">
                <a:latin typeface="Arial"/>
                <a:ea typeface="Arial"/>
                <a:cs typeface="Arial"/>
                <a:sym typeface="Arial"/>
              </a:rPr>
              <a:t>lựa</a:t>
            </a:r>
            <a:r>
              <a:rPr lang="en-US">
                <a:latin typeface="Arial"/>
                <a:ea typeface="Arial"/>
                <a:cs typeface="Arial"/>
                <a:sym typeface="Arial"/>
              </a:rPr>
              <a:t> </a:t>
            </a:r>
            <a:r>
              <a:rPr lang="en-US" err="1">
                <a:latin typeface="Arial"/>
                <a:ea typeface="Arial"/>
                <a:cs typeface="Arial"/>
                <a:sym typeface="Arial"/>
              </a:rPr>
              <a:t>chọn</a:t>
            </a:r>
            <a:r>
              <a:rPr lang="en-US">
                <a:latin typeface="Arial"/>
                <a:ea typeface="Arial"/>
                <a:cs typeface="Arial"/>
                <a:sym typeface="Arial"/>
              </a:rPr>
              <a:t> </a:t>
            </a:r>
            <a:r>
              <a:rPr lang="en-US" err="1">
                <a:latin typeface="Arial"/>
                <a:ea typeface="Arial"/>
                <a:cs typeface="Arial"/>
                <a:sym typeface="Arial"/>
              </a:rPr>
              <a:t>nhãn</a:t>
            </a:r>
            <a:r>
              <a:rPr lang="en-US">
                <a:latin typeface="Arial"/>
                <a:ea typeface="Arial"/>
                <a:cs typeface="Arial"/>
                <a:sym typeface="Arial"/>
              </a:rPr>
              <a:t> </a:t>
            </a:r>
            <a:r>
              <a:rPr lang="en-US" err="1">
                <a:latin typeface="Arial"/>
                <a:ea typeface="Arial"/>
                <a:cs typeface="Arial"/>
                <a:sym typeface="Arial"/>
              </a:rPr>
              <a:t>hiệu</a:t>
            </a:r>
            <a:r>
              <a:rPr lang="en-US">
                <a:latin typeface="Arial"/>
                <a:ea typeface="Arial"/>
                <a:cs typeface="Arial"/>
                <a:sym typeface="Arial"/>
              </a:rPr>
              <a:t> </a:t>
            </a:r>
            <a:r>
              <a:rPr lang="en-US" err="1">
                <a:latin typeface="Arial"/>
                <a:ea typeface="Arial"/>
                <a:cs typeface="Arial"/>
                <a:sym typeface="Arial"/>
              </a:rPr>
              <a:t>sản</a:t>
            </a:r>
            <a:r>
              <a:rPr lang="en-US">
                <a:latin typeface="Arial"/>
                <a:ea typeface="Arial"/>
                <a:cs typeface="Arial"/>
                <a:sym typeface="Arial"/>
              </a:rPr>
              <a:t> </a:t>
            </a:r>
            <a:r>
              <a:rPr lang="en-US" err="1">
                <a:latin typeface="Arial"/>
                <a:ea typeface="Arial"/>
                <a:cs typeface="Arial"/>
                <a:sym typeface="Arial"/>
              </a:rPr>
              <a:t>phẩm</a:t>
            </a:r>
            <a:endParaRPr>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97"/>
          <p:cNvSpPr txBox="1">
            <a:spLocks noGrp="1"/>
          </p:cNvSpPr>
          <p:nvPr>
            <p:ph type="title"/>
          </p:nvPr>
        </p:nvSpPr>
        <p:spPr>
          <a:xfrm>
            <a:off x="750651" y="-28487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en-US" sz="3200" b="1">
                <a:latin typeface="Arial"/>
                <a:ea typeface="Arial"/>
                <a:cs typeface="Arial"/>
                <a:sym typeface="Arial"/>
              </a:rPr>
              <a:t> 2.2.2 </a:t>
            </a:r>
            <a:r>
              <a:rPr lang="en-US" sz="3200" b="1" err="1">
                <a:latin typeface="Arial"/>
                <a:ea typeface="Arial"/>
                <a:cs typeface="Arial"/>
                <a:sym typeface="Arial"/>
              </a:rPr>
              <a:t>Nhóm</a:t>
            </a:r>
            <a:r>
              <a:rPr lang="en-US" sz="3200" b="1">
                <a:latin typeface="Arial"/>
                <a:ea typeface="Arial"/>
                <a:cs typeface="Arial"/>
                <a:sym typeface="Arial"/>
              </a:rPr>
              <a:t> </a:t>
            </a:r>
            <a:r>
              <a:rPr lang="en-US" sz="3200" b="1" err="1">
                <a:latin typeface="Arial"/>
                <a:ea typeface="Arial"/>
                <a:cs typeface="Arial"/>
                <a:sym typeface="Arial"/>
              </a:rPr>
              <a:t>tham</a:t>
            </a:r>
            <a:r>
              <a:rPr lang="en-US" sz="3200" b="1">
                <a:latin typeface="Arial"/>
                <a:ea typeface="Arial"/>
                <a:cs typeface="Arial"/>
                <a:sym typeface="Arial"/>
              </a:rPr>
              <a:t> </a:t>
            </a:r>
            <a:r>
              <a:rPr lang="en-US" sz="3200" b="1" err="1">
                <a:latin typeface="Arial"/>
                <a:ea typeface="Arial"/>
                <a:cs typeface="Arial"/>
                <a:sym typeface="Arial"/>
              </a:rPr>
              <a:t>khảo</a:t>
            </a:r>
            <a:r>
              <a:rPr lang="en-US" sz="3200" b="1">
                <a:latin typeface="Arial"/>
                <a:ea typeface="Arial"/>
                <a:cs typeface="Arial"/>
                <a:sym typeface="Arial"/>
              </a:rPr>
              <a:t> hay </a:t>
            </a:r>
            <a:r>
              <a:rPr lang="en-US" sz="3200" b="1" err="1">
                <a:latin typeface="Arial"/>
                <a:ea typeface="Arial"/>
                <a:cs typeface="Arial"/>
                <a:sym typeface="Arial"/>
              </a:rPr>
              <a:t>cá</a:t>
            </a:r>
            <a:r>
              <a:rPr lang="en-US" sz="3200" b="1">
                <a:latin typeface="Arial"/>
                <a:ea typeface="Arial"/>
                <a:cs typeface="Arial"/>
                <a:sym typeface="Arial"/>
              </a:rPr>
              <a:t> </a:t>
            </a:r>
            <a:r>
              <a:rPr lang="en-US" sz="3200" b="1" err="1">
                <a:latin typeface="Arial"/>
                <a:ea typeface="Arial"/>
                <a:cs typeface="Arial"/>
                <a:sym typeface="Arial"/>
              </a:rPr>
              <a:t>nhân</a:t>
            </a:r>
            <a:r>
              <a:rPr lang="en-US" sz="3200" b="1">
                <a:latin typeface="Arial"/>
                <a:ea typeface="Arial"/>
                <a:cs typeface="Arial"/>
                <a:sym typeface="Arial"/>
              </a:rPr>
              <a:t> </a:t>
            </a:r>
            <a:r>
              <a:rPr lang="en-US" sz="3200" b="1" err="1">
                <a:latin typeface="Arial"/>
                <a:ea typeface="Arial"/>
                <a:cs typeface="Arial"/>
                <a:sym typeface="Arial"/>
              </a:rPr>
              <a:t>tham</a:t>
            </a:r>
            <a:r>
              <a:rPr lang="en-US" sz="3200" b="1">
                <a:latin typeface="Arial"/>
                <a:ea typeface="Arial"/>
                <a:cs typeface="Arial"/>
                <a:sym typeface="Arial"/>
              </a:rPr>
              <a:t> </a:t>
            </a:r>
            <a:r>
              <a:rPr lang="en-US" sz="3200" b="1" err="1">
                <a:latin typeface="Arial"/>
                <a:ea typeface="Arial"/>
                <a:cs typeface="Arial"/>
                <a:sym typeface="Arial"/>
              </a:rPr>
              <a:t>khảo</a:t>
            </a:r>
            <a:endParaRPr sz="3200" b="1">
              <a:latin typeface="Arial"/>
              <a:ea typeface="Arial"/>
              <a:cs typeface="Arial"/>
              <a:sym typeface="Arial"/>
            </a:endParaRPr>
          </a:p>
        </p:txBody>
      </p:sp>
      <p:sp>
        <p:nvSpPr>
          <p:cNvPr id="723" name="Google Shape;723;p97"/>
          <p:cNvSpPr txBox="1">
            <a:spLocks noGrp="1"/>
          </p:cNvSpPr>
          <p:nvPr>
            <p:ph type="body" idx="1"/>
          </p:nvPr>
        </p:nvSpPr>
        <p:spPr>
          <a:xfrm>
            <a:off x="285176" y="629065"/>
            <a:ext cx="10776626" cy="2820255"/>
          </a:xfrm>
          <a:prstGeom prst="rect">
            <a:avLst/>
          </a:prstGeom>
          <a:noFill/>
          <a:ln>
            <a:noFill/>
          </a:ln>
        </p:spPr>
        <p:txBody>
          <a:bodyPr spcFirstLastPara="1" wrap="square" lIns="91425" tIns="45700" rIns="91425" bIns="45700" anchor="t" anchorCtr="0">
            <a:noAutofit/>
          </a:bodyPr>
          <a:lstStyle/>
          <a:p>
            <a:pPr marL="228600" lvl="0" indent="0" algn="just" rtl="0">
              <a:lnSpc>
                <a:spcPct val="150000"/>
              </a:lnSpc>
              <a:spcBef>
                <a:spcPts val="0"/>
              </a:spcBef>
              <a:spcAft>
                <a:spcPts val="0"/>
              </a:spcAft>
              <a:buClr>
                <a:schemeClr val="dk1"/>
              </a:buClr>
              <a:buSzPts val="2800"/>
              <a:buNone/>
            </a:pPr>
            <a:r>
              <a:rPr lang="en-US">
                <a:latin typeface="Arial"/>
                <a:ea typeface="Arial"/>
                <a:cs typeface="Arial"/>
                <a:sym typeface="Arial"/>
              </a:rPr>
              <a:t>	Các dạng nhóm tham khảo:</a:t>
            </a:r>
            <a:endParaRPr/>
          </a:p>
          <a:p>
            <a:pPr marL="685800" lvl="0" indent="-457200" algn="just" rtl="0">
              <a:lnSpc>
                <a:spcPct val="150000"/>
              </a:lnSpc>
              <a:spcBef>
                <a:spcPts val="0"/>
              </a:spcBef>
              <a:spcAft>
                <a:spcPts val="0"/>
              </a:spcAft>
              <a:buClr>
                <a:schemeClr val="dk1"/>
              </a:buClr>
              <a:buSzPts val="2800"/>
              <a:buFont typeface="Arial"/>
              <a:buChar char="-"/>
            </a:pPr>
            <a:r>
              <a:rPr lang="en-US">
                <a:latin typeface="Arial"/>
                <a:ea typeface="Arial"/>
                <a:cs typeface="Arial"/>
                <a:sym typeface="Arial"/>
              </a:rPr>
              <a:t>Nhóm nguyện vọng (aspirational reference group)</a:t>
            </a:r>
            <a:endParaRPr/>
          </a:p>
          <a:p>
            <a:pPr marL="1143000" lvl="1" indent="-457200" algn="just" rtl="0">
              <a:lnSpc>
                <a:spcPct val="150000"/>
              </a:lnSpc>
              <a:spcBef>
                <a:spcPts val="0"/>
              </a:spcBef>
              <a:spcAft>
                <a:spcPts val="0"/>
              </a:spcAft>
              <a:buClr>
                <a:schemeClr val="dk1"/>
              </a:buClr>
              <a:buSzPts val="2400"/>
              <a:buFont typeface="Arial"/>
              <a:buChar char="-"/>
            </a:pPr>
            <a:r>
              <a:rPr lang="en-US" i="1">
                <a:latin typeface="Arial"/>
                <a:ea typeface="Arial"/>
                <a:cs typeface="Arial"/>
                <a:sym typeface="Arial"/>
              </a:rPr>
              <a:t>Vd: vận động viên làm người phát ngôn đại diện cho những gì nhiều người lý tưởng muốn trở thành</a:t>
            </a:r>
            <a:endParaRPr i="1">
              <a:latin typeface="Arial"/>
              <a:ea typeface="Arial"/>
              <a:cs typeface="Arial"/>
              <a:sym typeface="Arial"/>
            </a:endParaRPr>
          </a:p>
          <a:p>
            <a:pPr marL="685800" lvl="0" indent="-457200" algn="just" rtl="0">
              <a:lnSpc>
                <a:spcPct val="150000"/>
              </a:lnSpc>
              <a:spcBef>
                <a:spcPts val="0"/>
              </a:spcBef>
              <a:spcAft>
                <a:spcPts val="0"/>
              </a:spcAft>
              <a:buClr>
                <a:schemeClr val="dk1"/>
              </a:buClr>
              <a:buSzPts val="2800"/>
              <a:buFont typeface="Arial"/>
              <a:buChar char="-"/>
            </a:pPr>
            <a:r>
              <a:rPr lang="en-US">
                <a:latin typeface="Arial"/>
                <a:ea typeface="Arial"/>
                <a:cs typeface="Arial"/>
                <a:sym typeface="Arial"/>
              </a:rPr>
              <a:t>Nhóm tham khảo liên kết (associative reference group)</a:t>
            </a:r>
            <a:endParaRPr/>
          </a:p>
          <a:p>
            <a:pPr marL="1143000" lvl="1" indent="-457200" algn="just" rtl="0">
              <a:lnSpc>
                <a:spcPct val="150000"/>
              </a:lnSpc>
              <a:spcBef>
                <a:spcPts val="0"/>
              </a:spcBef>
              <a:spcAft>
                <a:spcPts val="0"/>
              </a:spcAft>
              <a:buClr>
                <a:schemeClr val="dk1"/>
              </a:buClr>
              <a:buSzPts val="2400"/>
              <a:buFont typeface="Arial"/>
              <a:buChar char="-"/>
            </a:pPr>
            <a:r>
              <a:rPr lang="en-US" i="1">
                <a:latin typeface="Arial"/>
                <a:ea typeface="Arial"/>
                <a:cs typeface="Arial"/>
                <a:sym typeface="Arial"/>
              </a:rPr>
              <a:t>Vd: đồng nghiệp, hàng xóm, thành viên câu lạc bộ làm đại diện cho hiện tại của các cá nhân</a:t>
            </a:r>
            <a:endParaRPr i="1">
              <a:latin typeface="Arial"/>
              <a:ea typeface="Arial"/>
              <a:cs typeface="Arial"/>
              <a:sym typeface="Arial"/>
            </a:endParaRPr>
          </a:p>
          <a:p>
            <a:pPr marL="685800" lvl="0" indent="-457200" algn="just" rtl="0">
              <a:lnSpc>
                <a:spcPct val="150000"/>
              </a:lnSpc>
              <a:spcBef>
                <a:spcPts val="0"/>
              </a:spcBef>
              <a:spcAft>
                <a:spcPts val="0"/>
              </a:spcAft>
              <a:buClr>
                <a:schemeClr val="dk1"/>
              </a:buClr>
              <a:buSzPts val="2800"/>
              <a:buFont typeface="Arial"/>
              <a:buChar char="-"/>
            </a:pPr>
            <a:r>
              <a:rPr lang="en-US">
                <a:latin typeface="Arial"/>
                <a:ea typeface="Arial"/>
                <a:cs typeface="Arial"/>
                <a:sym typeface="Arial"/>
              </a:rPr>
              <a:t>Nhóm tham khảo phân ly (dissociative reference group)</a:t>
            </a:r>
            <a:endParaRPr/>
          </a:p>
          <a:p>
            <a:pPr marL="1143000" lvl="1" indent="-457200" algn="just" rtl="0">
              <a:lnSpc>
                <a:spcPct val="150000"/>
              </a:lnSpc>
              <a:spcBef>
                <a:spcPts val="0"/>
              </a:spcBef>
              <a:spcAft>
                <a:spcPts val="0"/>
              </a:spcAft>
              <a:buClr>
                <a:schemeClr val="dk1"/>
              </a:buClr>
              <a:buSzPts val="2400"/>
              <a:buFont typeface="Arial"/>
              <a:buChar char="-"/>
            </a:pPr>
            <a:r>
              <a:rPr lang="en-US" i="1">
                <a:latin typeface="Arial"/>
                <a:ea typeface="Arial"/>
                <a:cs typeface="Arial"/>
                <a:sym typeface="Arial"/>
              </a:rPr>
              <a:t>Vd: thương hiệu The GAP ra đời vì nhiều người trẻ tuổi muốn chủ động tách khỏi cha mẹ</a:t>
            </a:r>
            <a:endParaRPr i="1">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98"/>
          <p:cNvSpPr txBox="1">
            <a:spLocks noGrp="1"/>
          </p:cNvSpPr>
          <p:nvPr>
            <p:ph type="title"/>
          </p:nvPr>
        </p:nvSpPr>
        <p:spPr>
          <a:xfrm>
            <a:off x="186446" y="66456"/>
            <a:ext cx="10981088" cy="1325563"/>
          </a:xfrm>
          <a:prstGeom prst="rect">
            <a:avLst/>
          </a:prstGeom>
          <a:noFill/>
          <a:ln>
            <a:noFill/>
          </a:ln>
        </p:spPr>
        <p:txBody>
          <a:bodyPr spcFirstLastPara="1" wrap="square" lIns="91425" tIns="45700" rIns="91425" bIns="45700" anchor="ctr" anchorCtr="0">
            <a:normAutofit/>
          </a:bodyPr>
          <a:lstStyle/>
          <a:p>
            <a:pPr marL="0" lvl="0" indent="0" rtl="0">
              <a:lnSpc>
                <a:spcPct val="90000"/>
              </a:lnSpc>
              <a:spcBef>
                <a:spcPts val="0"/>
              </a:spcBef>
              <a:spcAft>
                <a:spcPts val="0"/>
              </a:spcAft>
              <a:buClr>
                <a:schemeClr val="dk1"/>
              </a:buClr>
              <a:buSzPts val="3200"/>
              <a:buFont typeface="Arial"/>
              <a:buNone/>
            </a:pPr>
            <a:r>
              <a:rPr lang="vi-VN" sz="2700" b="1"/>
              <a:t>2</a:t>
            </a:r>
            <a:r>
              <a:rPr lang="en-US" sz="2700" b="1">
                <a:sym typeface="Arial"/>
              </a:rPr>
              <a:t>.2.</a:t>
            </a:r>
            <a:r>
              <a:rPr lang="vi-VN" sz="2700" b="1">
                <a:sym typeface="Arial"/>
              </a:rPr>
              <a:t>2.1</a:t>
            </a:r>
            <a:r>
              <a:rPr lang="en-US" sz="2700" b="1">
                <a:sym typeface="Arial"/>
              </a:rPr>
              <a:t> </a:t>
            </a:r>
            <a:r>
              <a:rPr lang="en-US" sz="2700" b="1" err="1">
                <a:sym typeface="Arial"/>
              </a:rPr>
              <a:t>Ảnh</a:t>
            </a:r>
            <a:r>
              <a:rPr lang="en-US" sz="2700" b="1">
                <a:sym typeface="Arial"/>
              </a:rPr>
              <a:t> </a:t>
            </a:r>
            <a:r>
              <a:rPr lang="en-US" sz="2700" b="1" err="1">
                <a:sym typeface="Arial"/>
              </a:rPr>
              <a:t>hưởng</a:t>
            </a:r>
            <a:r>
              <a:rPr lang="en-US" sz="2700" b="1">
                <a:sym typeface="Arial"/>
              </a:rPr>
              <a:t> </a:t>
            </a:r>
            <a:r>
              <a:rPr lang="en-US" sz="2700" b="1" err="1">
                <a:sym typeface="Arial"/>
              </a:rPr>
              <a:t>của</a:t>
            </a:r>
            <a:r>
              <a:rPr lang="en-US" sz="2700" b="1">
                <a:sym typeface="Arial"/>
              </a:rPr>
              <a:t> </a:t>
            </a:r>
            <a:r>
              <a:rPr lang="en-US" sz="2700" b="1" err="1">
                <a:sym typeface="Arial"/>
              </a:rPr>
              <a:t>nhóm</a:t>
            </a:r>
            <a:r>
              <a:rPr lang="en-US" sz="2700" b="1">
                <a:sym typeface="Arial"/>
              </a:rPr>
              <a:t> </a:t>
            </a:r>
            <a:r>
              <a:rPr lang="en-US" sz="2700" b="1" err="1">
                <a:sym typeface="Arial"/>
              </a:rPr>
              <a:t>tham</a:t>
            </a:r>
            <a:r>
              <a:rPr lang="en-US" sz="2700" b="1">
                <a:sym typeface="Arial"/>
              </a:rPr>
              <a:t> </a:t>
            </a:r>
            <a:r>
              <a:rPr lang="en-US" sz="2700" b="1" err="1">
                <a:sym typeface="Arial"/>
              </a:rPr>
              <a:t>khảo</a:t>
            </a:r>
            <a:r>
              <a:rPr lang="en-US" sz="2700" b="1">
                <a:sym typeface="Arial"/>
              </a:rPr>
              <a:t> </a:t>
            </a:r>
            <a:r>
              <a:rPr lang="en-US" sz="2700" b="1" err="1">
                <a:sym typeface="Arial"/>
              </a:rPr>
              <a:t>đến</a:t>
            </a:r>
            <a:r>
              <a:rPr lang="vi-VN" sz="2700" b="1"/>
              <a:t> </a:t>
            </a:r>
            <a:r>
              <a:rPr lang="en-US" sz="2700" b="1" err="1">
                <a:sym typeface="Arial"/>
              </a:rPr>
              <a:t>hành</a:t>
            </a:r>
            <a:r>
              <a:rPr lang="en-US" sz="2700" b="1">
                <a:sym typeface="Arial"/>
              </a:rPr>
              <a:t> vi </a:t>
            </a:r>
            <a:r>
              <a:rPr lang="en-US" sz="2700" b="1" err="1">
                <a:sym typeface="Arial"/>
              </a:rPr>
              <a:t>tiêu</a:t>
            </a:r>
            <a:r>
              <a:rPr lang="en-US" sz="2700" b="1">
                <a:sym typeface="Arial"/>
              </a:rPr>
              <a:t> </a:t>
            </a:r>
            <a:r>
              <a:rPr lang="en-US" sz="2700" b="1" err="1">
                <a:sym typeface="Arial"/>
              </a:rPr>
              <a:t>dùng</a:t>
            </a:r>
            <a:endParaRPr sz="2700"/>
          </a:p>
        </p:txBody>
      </p:sp>
      <p:pic>
        <p:nvPicPr>
          <p:cNvPr id="729" name="Google Shape;729;p98"/>
          <p:cNvPicPr preferRelativeResize="0"/>
          <p:nvPr/>
        </p:nvPicPr>
        <p:blipFill rotWithShape="1">
          <a:blip r:embed="rId3">
            <a:alphaModFix/>
          </a:blip>
          <a:srcRect/>
          <a:stretch/>
        </p:blipFill>
        <p:spPr>
          <a:xfrm>
            <a:off x="479795" y="1117471"/>
            <a:ext cx="5209806" cy="4947272"/>
          </a:xfrm>
          <a:prstGeom prst="rect">
            <a:avLst/>
          </a:prstGeom>
          <a:noFill/>
          <a:ln>
            <a:noFill/>
          </a:ln>
        </p:spPr>
      </p:pic>
      <p:sp>
        <p:nvSpPr>
          <p:cNvPr id="730" name="Google Shape;730;p98"/>
          <p:cNvSpPr txBox="1"/>
          <p:nvPr/>
        </p:nvSpPr>
        <p:spPr>
          <a:xfrm>
            <a:off x="277707" y="5898998"/>
            <a:ext cx="5758774" cy="1305165"/>
          </a:xfrm>
          <a:prstGeom prst="rect">
            <a:avLst/>
          </a:prstGeom>
          <a:noFill/>
          <a:ln>
            <a:noFill/>
          </a:ln>
        </p:spPr>
        <p:txBody>
          <a:bodyPr spcFirstLastPara="1" wrap="square" lIns="91425" tIns="45700" rIns="91425" bIns="45700" anchor="t" anchorCtr="0">
            <a:noAutofit/>
          </a:bodyPr>
          <a:lstStyle/>
          <a:p>
            <a:pPr marL="228600" marR="0" lvl="0" indent="0" algn="just" rtl="0">
              <a:lnSpc>
                <a:spcPct val="150000"/>
              </a:lnSpc>
              <a:spcBef>
                <a:spcPts val="0"/>
              </a:spcBef>
              <a:spcAft>
                <a:spcPts val="0"/>
              </a:spcAft>
              <a:buClr>
                <a:schemeClr val="dk1"/>
              </a:buClr>
              <a:buSzPts val="2800"/>
              <a:buFont typeface="Noto Sans Symbols"/>
              <a:buNone/>
            </a:pPr>
            <a:r>
              <a:rPr lang="en-US" sz="2800" b="1" i="0" u="none" strike="noStrike" cap="none" err="1">
                <a:solidFill>
                  <a:schemeClr val="dk1"/>
                </a:solidFill>
                <a:latin typeface="Arial"/>
                <a:ea typeface="Arial"/>
                <a:cs typeface="Arial"/>
                <a:sym typeface="Arial"/>
              </a:rPr>
              <a:t>Hình</a:t>
            </a:r>
            <a:r>
              <a:rPr lang="en-US" sz="2800" b="1" i="0" u="none" strike="noStrike" cap="none">
                <a:solidFill>
                  <a:schemeClr val="dk1"/>
                </a:solidFill>
                <a:latin typeface="Arial"/>
                <a:ea typeface="Arial"/>
                <a:cs typeface="Arial"/>
                <a:sym typeface="Arial"/>
              </a:rPr>
              <a:t> </a:t>
            </a:r>
            <a:r>
              <a:rPr lang="vi-VN" sz="2800" b="1" i="0" u="none" strike="noStrike" cap="none">
                <a:solidFill>
                  <a:schemeClr val="dk1"/>
                </a:solidFill>
                <a:latin typeface="Arial"/>
                <a:ea typeface="Arial"/>
                <a:cs typeface="Arial"/>
                <a:sym typeface="Arial"/>
              </a:rPr>
              <a:t>2</a:t>
            </a:r>
            <a:r>
              <a:rPr lang="en-US" sz="2800" b="1" i="0" u="none" strike="noStrike" cap="none">
                <a:solidFill>
                  <a:schemeClr val="dk1"/>
                </a:solidFill>
                <a:latin typeface="Arial"/>
                <a:ea typeface="Arial"/>
                <a:cs typeface="Arial"/>
                <a:sym typeface="Arial"/>
              </a:rPr>
              <a:t>.1: </a:t>
            </a:r>
            <a:r>
              <a:rPr lang="en-US" sz="2800" b="1" i="0" u="none" strike="noStrike" cap="none" err="1">
                <a:solidFill>
                  <a:schemeClr val="dk1"/>
                </a:solidFill>
                <a:latin typeface="Arial"/>
                <a:ea typeface="Arial"/>
                <a:cs typeface="Arial"/>
                <a:sym typeface="Arial"/>
              </a:rPr>
              <a:t>Các</a:t>
            </a:r>
            <a:r>
              <a:rPr lang="en-US" sz="2800" b="1" i="0" u="none" strike="noStrike" cap="none">
                <a:solidFill>
                  <a:schemeClr val="dk1"/>
                </a:solidFill>
                <a:latin typeface="Arial"/>
                <a:ea typeface="Arial"/>
                <a:cs typeface="Arial"/>
                <a:sym typeface="Arial"/>
              </a:rPr>
              <a:t> </a:t>
            </a:r>
            <a:r>
              <a:rPr lang="en-US" sz="2800" b="1" i="0" u="none" strike="noStrike" cap="none" err="1">
                <a:solidFill>
                  <a:schemeClr val="dk1"/>
                </a:solidFill>
                <a:latin typeface="Arial"/>
                <a:ea typeface="Arial"/>
                <a:cs typeface="Arial"/>
                <a:sym typeface="Arial"/>
              </a:rPr>
              <a:t>nhóm</a:t>
            </a:r>
            <a:r>
              <a:rPr lang="en-US" sz="2800" b="1" i="0" u="none" strike="noStrike" cap="none">
                <a:solidFill>
                  <a:schemeClr val="dk1"/>
                </a:solidFill>
                <a:latin typeface="Arial"/>
                <a:ea typeface="Arial"/>
                <a:cs typeface="Arial"/>
                <a:sym typeface="Arial"/>
              </a:rPr>
              <a:t> </a:t>
            </a:r>
            <a:r>
              <a:rPr lang="en-US" sz="2800" b="1" i="0" u="none" strike="noStrike" cap="none" err="1">
                <a:solidFill>
                  <a:schemeClr val="dk1"/>
                </a:solidFill>
                <a:latin typeface="Arial"/>
                <a:ea typeface="Arial"/>
                <a:cs typeface="Arial"/>
                <a:sym typeface="Arial"/>
              </a:rPr>
              <a:t>tham</a:t>
            </a:r>
            <a:r>
              <a:rPr lang="en-US" sz="2800" b="1" i="0" u="none" strike="noStrike" cap="none">
                <a:solidFill>
                  <a:schemeClr val="dk1"/>
                </a:solidFill>
                <a:latin typeface="Arial"/>
                <a:ea typeface="Arial"/>
                <a:cs typeface="Arial"/>
                <a:sym typeface="Arial"/>
              </a:rPr>
              <a:t> </a:t>
            </a:r>
            <a:r>
              <a:rPr lang="en-US" sz="2800" b="1" i="0" u="none" strike="noStrike" cap="none" err="1">
                <a:solidFill>
                  <a:schemeClr val="dk1"/>
                </a:solidFill>
                <a:latin typeface="Arial"/>
                <a:ea typeface="Arial"/>
                <a:cs typeface="Arial"/>
                <a:sym typeface="Arial"/>
              </a:rPr>
              <a:t>khảo</a:t>
            </a:r>
            <a:endParaRPr sz="2800" b="1" i="0" u="none" strike="noStrike" cap="none">
              <a:solidFill>
                <a:schemeClr val="dk1"/>
              </a:solidFill>
              <a:latin typeface="Arial"/>
              <a:ea typeface="Arial"/>
              <a:cs typeface="Arial"/>
              <a:sym typeface="Arial"/>
            </a:endParaRPr>
          </a:p>
        </p:txBody>
      </p:sp>
      <p:sp>
        <p:nvSpPr>
          <p:cNvPr id="731" name="Google Shape;731;p98"/>
          <p:cNvSpPr txBox="1"/>
          <p:nvPr/>
        </p:nvSpPr>
        <p:spPr>
          <a:xfrm>
            <a:off x="6096000" y="1570037"/>
            <a:ext cx="5274733" cy="4832052"/>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00000"/>
              </a:lnSpc>
              <a:spcBef>
                <a:spcPts val="0"/>
              </a:spcBef>
              <a:spcAft>
                <a:spcPts val="0"/>
              </a:spcAft>
              <a:buClr>
                <a:schemeClr val="dk1"/>
              </a:buClr>
              <a:buSzPts val="2800"/>
              <a:buFont typeface="Arial"/>
              <a:buChar char="•"/>
            </a:pPr>
            <a:r>
              <a:rPr lang="en-US" sz="2800" b="0" i="0" u="none" strike="noStrike" cap="none" err="1">
                <a:solidFill>
                  <a:schemeClr val="dk1"/>
                </a:solidFill>
                <a:latin typeface="Arial"/>
                <a:ea typeface="Arial"/>
                <a:cs typeface="Arial"/>
                <a:sym typeface="Arial"/>
              </a:rPr>
              <a:t>Nhóm</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tham</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khảo</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chính</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có</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nhiều</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ảnh</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hưởng</a:t>
            </a:r>
            <a:endParaRPr sz="2800" b="0" i="0" u="none" strike="noStrike" cap="none">
              <a:solidFill>
                <a:schemeClr val="dk1"/>
              </a:solidFill>
              <a:latin typeface="Arial"/>
              <a:ea typeface="Arial"/>
              <a:cs typeface="Arial"/>
              <a:sym typeface="Arial"/>
            </a:endParaRPr>
          </a:p>
          <a:p>
            <a:pPr marL="342900" marR="0" lvl="0" indent="-342900" algn="just" rtl="0">
              <a:lnSpc>
                <a:spcPct val="100000"/>
              </a:lnSpc>
              <a:spcBef>
                <a:spcPts val="0"/>
              </a:spcBef>
              <a:spcAft>
                <a:spcPts val="0"/>
              </a:spcAft>
              <a:buClr>
                <a:schemeClr val="dk1"/>
              </a:buClr>
              <a:buSzPts val="2800"/>
              <a:buFont typeface="Arial"/>
              <a:buChar char="•"/>
            </a:pPr>
            <a:r>
              <a:rPr lang="en-US" sz="2800" b="0" i="0" u="none" strike="noStrike" cap="none" err="1">
                <a:solidFill>
                  <a:schemeClr val="dk1"/>
                </a:solidFill>
                <a:latin typeface="Arial"/>
                <a:ea typeface="Arial"/>
                <a:cs typeface="Arial"/>
                <a:sym typeface="Arial"/>
              </a:rPr>
              <a:t>Nhóm</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tham</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khảo</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phụ</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có</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ít</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ảnh</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hưởng</a:t>
            </a:r>
            <a:endParaRPr sz="2800" b="0" i="0" u="none" strike="noStrike" cap="none">
              <a:solidFill>
                <a:schemeClr val="dk1"/>
              </a:solidFill>
              <a:latin typeface="Arial"/>
              <a:ea typeface="Arial"/>
              <a:cs typeface="Arial"/>
              <a:sym typeface="Arial"/>
            </a:endParaRPr>
          </a:p>
          <a:p>
            <a:pPr marL="342900" marR="0" lvl="0" indent="-342900" algn="just" rtl="0">
              <a:lnSpc>
                <a:spcPct val="100000"/>
              </a:lnSpc>
              <a:spcBef>
                <a:spcPts val="0"/>
              </a:spcBef>
              <a:spcAft>
                <a:spcPts val="0"/>
              </a:spcAft>
              <a:buClr>
                <a:schemeClr val="dk1"/>
              </a:buClr>
              <a:buSzPts val="2800"/>
              <a:buFont typeface="Arial"/>
              <a:buChar char="•"/>
            </a:pPr>
            <a:r>
              <a:rPr lang="en-US" sz="2800" b="0" i="0" u="none" strike="noStrike" cap="none" err="1">
                <a:solidFill>
                  <a:schemeClr val="dk1"/>
                </a:solidFill>
                <a:latin typeface="Arial"/>
                <a:ea typeface="Arial"/>
                <a:cs typeface="Arial"/>
                <a:sym typeface="Arial"/>
              </a:rPr>
              <a:t>Ảnh</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hưởng</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trực</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tiếp</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gia</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đình</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bạn</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bè</a:t>
            </a:r>
            <a:r>
              <a:rPr lang="en-US" sz="2800" b="0" i="0" u="none" strike="noStrike" cap="none">
                <a:solidFill>
                  <a:schemeClr val="dk1"/>
                </a:solidFill>
                <a:latin typeface="Arial"/>
                <a:ea typeface="Arial"/>
                <a:cs typeface="Arial"/>
                <a:sym typeface="Arial"/>
              </a:rPr>
              <a:t>…</a:t>
            </a:r>
            <a:r>
              <a:rPr lang="en-US" sz="2800" b="0" i="0" u="none" strike="noStrike" cap="none" err="1">
                <a:solidFill>
                  <a:schemeClr val="dk1"/>
                </a:solidFill>
                <a:latin typeface="Arial"/>
                <a:ea typeface="Arial"/>
                <a:cs typeface="Arial"/>
                <a:sym typeface="Arial"/>
              </a:rPr>
              <a:t>thông</a:t>
            </a:r>
            <a:r>
              <a:rPr lang="en-US" sz="2800" b="0" i="0" u="none" strike="noStrike" cap="none">
                <a:solidFill>
                  <a:schemeClr val="dk1"/>
                </a:solidFill>
                <a:latin typeface="Arial"/>
                <a:ea typeface="Arial"/>
                <a:cs typeface="Arial"/>
                <a:sym typeface="Arial"/>
              </a:rPr>
              <a:t> qua </a:t>
            </a:r>
            <a:r>
              <a:rPr lang="en-US" sz="2800" b="0" i="0" u="none" strike="noStrike" cap="none" err="1">
                <a:solidFill>
                  <a:schemeClr val="dk1"/>
                </a:solidFill>
                <a:latin typeface="Arial"/>
                <a:ea typeface="Arial"/>
                <a:cs typeface="Arial"/>
                <a:sym typeface="Arial"/>
              </a:rPr>
              <a:t>uốn</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nắn</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dạy</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dỗ</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quy</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tắc</a:t>
            </a:r>
            <a:r>
              <a:rPr lang="en-US" sz="2800" b="0" i="0" u="none" strike="noStrike" cap="none">
                <a:solidFill>
                  <a:schemeClr val="dk1"/>
                </a:solidFill>
                <a:latin typeface="Arial"/>
                <a:ea typeface="Arial"/>
                <a:cs typeface="Arial"/>
                <a:sym typeface="Arial"/>
              </a:rPr>
              <a:t> hay </a:t>
            </a:r>
            <a:r>
              <a:rPr lang="en-US" sz="2800" b="0" i="0" u="none" strike="noStrike" cap="none" err="1">
                <a:solidFill>
                  <a:schemeClr val="dk1"/>
                </a:solidFill>
                <a:latin typeface="Arial"/>
                <a:ea typeface="Arial"/>
                <a:cs typeface="Arial"/>
                <a:sym typeface="Arial"/>
              </a:rPr>
              <a:t>hành</a:t>
            </a:r>
            <a:r>
              <a:rPr lang="en-US" sz="2800" b="0" i="0" u="none" strike="noStrike" cap="none">
                <a:solidFill>
                  <a:schemeClr val="dk1"/>
                </a:solidFill>
                <a:latin typeface="Arial"/>
                <a:ea typeface="Arial"/>
                <a:cs typeface="Arial"/>
                <a:sym typeface="Arial"/>
              </a:rPr>
              <a:t> vi </a:t>
            </a:r>
            <a:r>
              <a:rPr lang="en-US" sz="2800" b="0" i="0" u="none" strike="noStrike" cap="none" err="1">
                <a:solidFill>
                  <a:schemeClr val="dk1"/>
                </a:solidFill>
                <a:latin typeface="Arial"/>
                <a:ea typeface="Arial"/>
                <a:cs typeface="Arial"/>
                <a:sym typeface="Arial"/>
              </a:rPr>
              <a:t>tiêu</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dùng</a:t>
            </a:r>
            <a:endParaRPr sz="2800" b="0" i="0" u="none" strike="noStrike" cap="none">
              <a:solidFill>
                <a:schemeClr val="dk1"/>
              </a:solidFill>
              <a:latin typeface="Arial"/>
              <a:ea typeface="Arial"/>
              <a:cs typeface="Arial"/>
              <a:sym typeface="Arial"/>
            </a:endParaRPr>
          </a:p>
          <a:p>
            <a:pPr marL="342900" marR="0" lvl="0" indent="-342900" algn="just" rtl="0">
              <a:lnSpc>
                <a:spcPct val="100000"/>
              </a:lnSpc>
              <a:spcBef>
                <a:spcPts val="0"/>
              </a:spcBef>
              <a:spcAft>
                <a:spcPts val="0"/>
              </a:spcAft>
              <a:buClr>
                <a:schemeClr val="dk1"/>
              </a:buClr>
              <a:buSzPts val="2800"/>
              <a:buFont typeface="Arial"/>
              <a:buChar char="•"/>
            </a:pPr>
            <a:r>
              <a:rPr lang="en-US" sz="2800" b="0" i="0" u="none" strike="noStrike" cap="none" err="1">
                <a:solidFill>
                  <a:schemeClr val="dk1"/>
                </a:solidFill>
                <a:latin typeface="Arial"/>
                <a:ea typeface="Arial"/>
                <a:cs typeface="Arial"/>
                <a:sym typeface="Arial"/>
              </a:rPr>
              <a:t>Ảnh</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hưởng</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gián</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tiếp</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nhân</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vật</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trong</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truyện</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âm</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nhạc</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người</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ảnh</a:t>
            </a:r>
            <a:r>
              <a:rPr lang="en-US" sz="2800" b="0" i="0" u="none" strike="noStrike" cap="none">
                <a:solidFill>
                  <a:schemeClr val="dk1"/>
                </a:solidFill>
                <a:latin typeface="Arial"/>
                <a:ea typeface="Arial"/>
                <a:cs typeface="Arial"/>
                <a:sym typeface="Arial"/>
              </a:rPr>
              <a:t> </a:t>
            </a:r>
            <a:r>
              <a:rPr lang="en-US" sz="2800" b="0" i="0" u="none" strike="noStrike" cap="none" err="1">
                <a:solidFill>
                  <a:schemeClr val="dk1"/>
                </a:solidFill>
                <a:latin typeface="Arial"/>
                <a:ea typeface="Arial"/>
                <a:cs typeface="Arial"/>
                <a:sym typeface="Arial"/>
              </a:rPr>
              <a:t>hưởng</a:t>
            </a:r>
            <a:endParaRPr sz="2800" b="0" i="0" u="none" strike="noStrike" cap="none">
              <a:solidFill>
                <a:schemeClr val="dk1"/>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99"/>
          <p:cNvSpPr txBox="1">
            <a:spLocks noGrp="1"/>
          </p:cNvSpPr>
          <p:nvPr>
            <p:ph type="title"/>
          </p:nvPr>
        </p:nvSpPr>
        <p:spPr>
          <a:xfrm>
            <a:off x="347133" y="316487"/>
            <a:ext cx="10812114" cy="1325563"/>
          </a:xfrm>
          <a:prstGeom prst="rect">
            <a:avLst/>
          </a:prstGeom>
          <a:noFill/>
          <a:ln>
            <a:noFill/>
          </a:ln>
        </p:spPr>
        <p:txBody>
          <a:bodyPr spcFirstLastPara="1" wrap="square" lIns="91425" tIns="45700" rIns="91425" bIns="45700" anchor="ctr" anchorCtr="0">
            <a:normAutofit/>
          </a:bodyPr>
          <a:lstStyle/>
          <a:p>
            <a:pPr marL="0" lvl="0" indent="0" rtl="0">
              <a:lnSpc>
                <a:spcPct val="90000"/>
              </a:lnSpc>
              <a:spcBef>
                <a:spcPts val="0"/>
              </a:spcBef>
              <a:spcAft>
                <a:spcPts val="0"/>
              </a:spcAft>
              <a:buClr>
                <a:schemeClr val="dk1"/>
              </a:buClr>
              <a:buSzPts val="3200"/>
              <a:buFont typeface="Arial"/>
              <a:buNone/>
            </a:pPr>
            <a:r>
              <a:rPr lang="vi-VN" sz="2800" b="1"/>
              <a:t>2.2.2</a:t>
            </a:r>
            <a:r>
              <a:rPr lang="en-US" sz="2800" b="1">
                <a:latin typeface="Arial"/>
                <a:ea typeface="Arial"/>
                <a:cs typeface="Arial"/>
                <a:sym typeface="Arial"/>
              </a:rPr>
              <a:t>.</a:t>
            </a:r>
            <a:r>
              <a:rPr lang="vi-VN" sz="2800" b="1"/>
              <a:t>2</a:t>
            </a:r>
            <a:r>
              <a:rPr lang="en-US" sz="2800" b="1">
                <a:latin typeface="Arial"/>
                <a:ea typeface="Arial"/>
                <a:cs typeface="Arial"/>
                <a:sym typeface="Arial"/>
              </a:rPr>
              <a:t>. </a:t>
            </a:r>
            <a:r>
              <a:rPr lang="en-US" sz="2800" b="1" err="1">
                <a:latin typeface="Arial"/>
                <a:ea typeface="Arial"/>
                <a:cs typeface="Arial"/>
                <a:sym typeface="Arial"/>
              </a:rPr>
              <a:t>Lý</a:t>
            </a:r>
            <a:r>
              <a:rPr lang="en-US" sz="2800" b="1">
                <a:latin typeface="Arial"/>
                <a:ea typeface="Arial"/>
                <a:cs typeface="Arial"/>
                <a:sym typeface="Arial"/>
              </a:rPr>
              <a:t> do </a:t>
            </a:r>
            <a:r>
              <a:rPr lang="en-US" sz="2800" b="1" err="1">
                <a:latin typeface="Arial"/>
                <a:ea typeface="Arial"/>
                <a:cs typeface="Arial"/>
                <a:sym typeface="Arial"/>
              </a:rPr>
              <a:t>chấp</a:t>
            </a:r>
            <a:r>
              <a:rPr lang="en-US" sz="2800" b="1">
                <a:latin typeface="Arial"/>
                <a:ea typeface="Arial"/>
                <a:cs typeface="Arial"/>
                <a:sym typeface="Arial"/>
              </a:rPr>
              <a:t> </a:t>
            </a:r>
            <a:r>
              <a:rPr lang="en-US" sz="2800" b="1" err="1">
                <a:latin typeface="Arial"/>
                <a:ea typeface="Arial"/>
                <a:cs typeface="Arial"/>
                <a:sym typeface="Arial"/>
              </a:rPr>
              <a:t>nhận</a:t>
            </a:r>
            <a:r>
              <a:rPr lang="en-US" sz="2800" b="1">
                <a:latin typeface="Arial"/>
                <a:ea typeface="Arial"/>
                <a:cs typeface="Arial"/>
                <a:sym typeface="Arial"/>
              </a:rPr>
              <a:t> </a:t>
            </a:r>
            <a:r>
              <a:rPr lang="en-US" sz="2800" b="1" err="1">
                <a:latin typeface="Arial"/>
                <a:ea typeface="Arial"/>
                <a:cs typeface="Arial"/>
                <a:sym typeface="Arial"/>
              </a:rPr>
              <a:t>ảnh</a:t>
            </a:r>
            <a:r>
              <a:rPr lang="en-US" sz="2800" b="1">
                <a:latin typeface="Arial"/>
                <a:ea typeface="Arial"/>
                <a:cs typeface="Arial"/>
                <a:sym typeface="Arial"/>
              </a:rPr>
              <a:t> </a:t>
            </a:r>
            <a:r>
              <a:rPr lang="en-US" sz="2800" b="1" err="1">
                <a:latin typeface="Arial"/>
                <a:ea typeface="Arial"/>
                <a:cs typeface="Arial"/>
                <a:sym typeface="Arial"/>
              </a:rPr>
              <a:t>hưởng</a:t>
            </a:r>
            <a:r>
              <a:rPr lang="en-US" sz="2800" b="1">
                <a:latin typeface="Arial"/>
                <a:ea typeface="Arial"/>
                <a:cs typeface="Arial"/>
                <a:sym typeface="Arial"/>
              </a:rPr>
              <a:t> </a:t>
            </a:r>
            <a:r>
              <a:rPr lang="en-US" sz="2800" b="1" err="1">
                <a:latin typeface="Arial"/>
                <a:ea typeface="Arial"/>
                <a:cs typeface="Arial"/>
                <a:sym typeface="Arial"/>
              </a:rPr>
              <a:t>của</a:t>
            </a:r>
            <a:r>
              <a:rPr lang="en-US" sz="2800" b="1">
                <a:latin typeface="Arial"/>
                <a:ea typeface="Arial"/>
                <a:cs typeface="Arial"/>
                <a:sym typeface="Arial"/>
              </a:rPr>
              <a:t> </a:t>
            </a:r>
            <a:r>
              <a:rPr lang="en-US" sz="2800" b="1" err="1">
                <a:latin typeface="Arial"/>
                <a:ea typeface="Arial"/>
                <a:cs typeface="Arial"/>
                <a:sym typeface="Arial"/>
              </a:rPr>
              <a:t>nhóm</a:t>
            </a:r>
            <a:r>
              <a:rPr lang="en-US" sz="2800" b="1">
                <a:latin typeface="Arial"/>
                <a:ea typeface="Arial"/>
                <a:cs typeface="Arial"/>
                <a:sym typeface="Arial"/>
              </a:rPr>
              <a:t> </a:t>
            </a:r>
            <a:r>
              <a:rPr lang="en-US" sz="2800" b="1" err="1">
                <a:latin typeface="Arial"/>
                <a:ea typeface="Arial"/>
                <a:cs typeface="Arial"/>
                <a:sym typeface="Arial"/>
              </a:rPr>
              <a:t>tham</a:t>
            </a:r>
            <a:r>
              <a:rPr lang="en-US" sz="2800" b="1">
                <a:latin typeface="Arial"/>
                <a:ea typeface="Arial"/>
                <a:cs typeface="Arial"/>
                <a:sym typeface="Arial"/>
              </a:rPr>
              <a:t> </a:t>
            </a:r>
            <a:r>
              <a:rPr lang="en-US" sz="2800" b="1" err="1">
                <a:latin typeface="Arial"/>
                <a:ea typeface="Arial"/>
                <a:cs typeface="Arial"/>
                <a:sym typeface="Arial"/>
              </a:rPr>
              <a:t>khảo</a:t>
            </a:r>
            <a:endParaRPr sz="2800" b="1">
              <a:latin typeface="Arial"/>
              <a:ea typeface="Arial"/>
              <a:cs typeface="Arial"/>
              <a:sym typeface="Arial"/>
            </a:endParaRPr>
          </a:p>
        </p:txBody>
      </p:sp>
      <p:sp>
        <p:nvSpPr>
          <p:cNvPr id="737" name="Google Shape;737;p99"/>
          <p:cNvSpPr txBox="1">
            <a:spLocks noGrp="1"/>
          </p:cNvSpPr>
          <p:nvPr>
            <p:ph type="body" idx="1"/>
          </p:nvPr>
        </p:nvSpPr>
        <p:spPr>
          <a:xfrm>
            <a:off x="643647" y="1376891"/>
            <a:ext cx="10515600" cy="4351338"/>
          </a:xfrm>
          <a:prstGeom prst="rect">
            <a:avLst/>
          </a:prstGeom>
          <a:noFill/>
          <a:ln>
            <a:noFill/>
          </a:ln>
        </p:spPr>
        <p:txBody>
          <a:bodyPr spcFirstLastPara="1" wrap="square" lIns="91425" tIns="45700" rIns="91425" bIns="45700" anchor="t" anchorCtr="0">
            <a:noAutofit/>
          </a:bodyPr>
          <a:lstStyle/>
          <a:p>
            <a:pPr marL="739775" lvl="0" indent="-511175" algn="just" rtl="0">
              <a:lnSpc>
                <a:spcPct val="150000"/>
              </a:lnSpc>
              <a:spcBef>
                <a:spcPts val="0"/>
              </a:spcBef>
              <a:spcAft>
                <a:spcPts val="0"/>
              </a:spcAft>
              <a:buClr>
                <a:schemeClr val="dk1"/>
              </a:buClr>
              <a:buSzPts val="2800"/>
              <a:buFont typeface="Noto Sans Symbols"/>
              <a:buChar char="❖"/>
            </a:pPr>
            <a:r>
              <a:rPr lang="en-US" err="1">
                <a:latin typeface="Arial"/>
                <a:ea typeface="Arial"/>
                <a:cs typeface="Arial"/>
                <a:sym typeface="Arial"/>
              </a:rPr>
              <a:t>Tìm</a:t>
            </a:r>
            <a:r>
              <a:rPr lang="en-US">
                <a:latin typeface="Arial"/>
                <a:ea typeface="Arial"/>
                <a:cs typeface="Arial"/>
                <a:sym typeface="Arial"/>
              </a:rPr>
              <a:t> </a:t>
            </a:r>
            <a:r>
              <a:rPr lang="en-US" err="1">
                <a:latin typeface="Arial"/>
                <a:ea typeface="Arial"/>
                <a:cs typeface="Arial"/>
                <a:sym typeface="Arial"/>
              </a:rPr>
              <a:t>kiếm</a:t>
            </a:r>
            <a:r>
              <a:rPr lang="en-US">
                <a:latin typeface="Arial"/>
                <a:ea typeface="Arial"/>
                <a:cs typeface="Arial"/>
                <a:sym typeface="Arial"/>
              </a:rPr>
              <a:t> </a:t>
            </a:r>
            <a:r>
              <a:rPr lang="en-US" err="1">
                <a:latin typeface="Arial"/>
                <a:ea typeface="Arial"/>
                <a:cs typeface="Arial"/>
                <a:sym typeface="Arial"/>
              </a:rPr>
              <a:t>thông</a:t>
            </a:r>
            <a:r>
              <a:rPr lang="en-US">
                <a:latin typeface="Arial"/>
                <a:ea typeface="Arial"/>
                <a:cs typeface="Arial"/>
                <a:sym typeface="Arial"/>
              </a:rPr>
              <a:t> tin: </a:t>
            </a:r>
            <a:r>
              <a:rPr lang="en-US" err="1">
                <a:latin typeface="Arial"/>
                <a:ea typeface="Arial"/>
                <a:cs typeface="Arial"/>
                <a:sym typeface="Arial"/>
              </a:rPr>
              <a:t>hoàn</a:t>
            </a:r>
            <a:r>
              <a:rPr lang="en-US">
                <a:latin typeface="Arial"/>
                <a:ea typeface="Arial"/>
                <a:cs typeface="Arial"/>
                <a:sym typeface="Arial"/>
              </a:rPr>
              <a:t> </a:t>
            </a:r>
            <a:r>
              <a:rPr lang="en-US" err="1">
                <a:latin typeface="Arial"/>
                <a:ea typeface="Arial"/>
                <a:cs typeface="Arial"/>
                <a:sym typeface="Arial"/>
              </a:rPr>
              <a:t>thiện</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nâng</a:t>
            </a:r>
            <a:r>
              <a:rPr lang="en-US">
                <a:latin typeface="Arial"/>
                <a:ea typeface="Arial"/>
                <a:cs typeface="Arial"/>
                <a:sym typeface="Arial"/>
              </a:rPr>
              <a:t> </a:t>
            </a:r>
            <a:r>
              <a:rPr lang="en-US" err="1">
                <a:latin typeface="Arial"/>
                <a:ea typeface="Arial"/>
                <a:cs typeface="Arial"/>
                <a:sym typeface="Arial"/>
              </a:rPr>
              <a:t>cao</a:t>
            </a:r>
            <a:r>
              <a:rPr lang="en-US">
                <a:latin typeface="Arial"/>
                <a:ea typeface="Arial"/>
                <a:cs typeface="Arial"/>
                <a:sym typeface="Arial"/>
              </a:rPr>
              <a:t> </a:t>
            </a:r>
            <a:r>
              <a:rPr lang="en-US" err="1">
                <a:latin typeface="Arial"/>
                <a:ea typeface="Arial"/>
                <a:cs typeface="Arial"/>
                <a:sym typeface="Arial"/>
              </a:rPr>
              <a:t>hiểu</a:t>
            </a:r>
            <a:r>
              <a:rPr lang="en-US">
                <a:latin typeface="Arial"/>
                <a:ea typeface="Arial"/>
                <a:cs typeface="Arial"/>
                <a:sym typeface="Arial"/>
              </a:rPr>
              <a:t> </a:t>
            </a:r>
            <a:r>
              <a:rPr lang="en-US" err="1">
                <a:latin typeface="Arial"/>
                <a:ea typeface="Arial"/>
                <a:cs typeface="Arial"/>
                <a:sym typeface="Arial"/>
              </a:rPr>
              <a:t>biết</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nhận</a:t>
            </a:r>
            <a:r>
              <a:rPr lang="en-US">
                <a:latin typeface="Arial"/>
                <a:ea typeface="Arial"/>
                <a:cs typeface="Arial"/>
                <a:sym typeface="Arial"/>
              </a:rPr>
              <a:t> </a:t>
            </a:r>
            <a:r>
              <a:rPr lang="en-US" err="1">
                <a:latin typeface="Arial"/>
                <a:ea typeface="Arial"/>
                <a:cs typeface="Arial"/>
                <a:sym typeface="Arial"/>
              </a:rPr>
              <a:t>thức</a:t>
            </a:r>
            <a:r>
              <a:rPr lang="en-US">
                <a:latin typeface="Arial"/>
                <a:ea typeface="Arial"/>
                <a:cs typeface="Arial"/>
                <a:sym typeface="Arial"/>
              </a:rPr>
              <a:t> </a:t>
            </a:r>
            <a:r>
              <a:rPr lang="en-US" err="1">
                <a:latin typeface="Arial"/>
                <a:ea typeface="Arial"/>
                <a:cs typeface="Arial"/>
                <a:sym typeface="Arial"/>
              </a:rPr>
              <a:t>sản</a:t>
            </a:r>
            <a:r>
              <a:rPr lang="en-US">
                <a:latin typeface="Arial"/>
                <a:ea typeface="Arial"/>
                <a:cs typeface="Arial"/>
                <a:sym typeface="Arial"/>
              </a:rPr>
              <a:t> </a:t>
            </a:r>
            <a:r>
              <a:rPr lang="en-US" err="1">
                <a:latin typeface="Arial"/>
                <a:ea typeface="Arial"/>
                <a:cs typeface="Arial"/>
                <a:sym typeface="Arial"/>
              </a:rPr>
              <a:t>phẩm</a:t>
            </a:r>
            <a:endParaRPr>
              <a:latin typeface="Arial"/>
              <a:ea typeface="Arial"/>
              <a:cs typeface="Arial"/>
              <a:sym typeface="Arial"/>
            </a:endParaRPr>
          </a:p>
          <a:p>
            <a:pPr marL="739775" lvl="0" indent="-511175" algn="just" rtl="0">
              <a:lnSpc>
                <a:spcPct val="150000"/>
              </a:lnSpc>
              <a:spcBef>
                <a:spcPts val="0"/>
              </a:spcBef>
              <a:spcAft>
                <a:spcPts val="0"/>
              </a:spcAft>
              <a:buClr>
                <a:schemeClr val="dk1"/>
              </a:buClr>
              <a:buSzPts val="2800"/>
              <a:buFont typeface="Noto Sans Symbols"/>
              <a:buChar char="❖"/>
            </a:pPr>
            <a:r>
              <a:rPr lang="en-US" err="1">
                <a:latin typeface="Arial"/>
                <a:ea typeface="Arial"/>
                <a:cs typeface="Arial"/>
                <a:sym typeface="Arial"/>
              </a:rPr>
              <a:t>Tìm</a:t>
            </a:r>
            <a:r>
              <a:rPr lang="en-US">
                <a:latin typeface="Arial"/>
                <a:ea typeface="Arial"/>
                <a:cs typeface="Arial"/>
                <a:sym typeface="Arial"/>
              </a:rPr>
              <a:t> </a:t>
            </a:r>
            <a:r>
              <a:rPr lang="en-US" err="1">
                <a:latin typeface="Arial"/>
                <a:ea typeface="Arial"/>
                <a:cs typeface="Arial"/>
                <a:sym typeface="Arial"/>
              </a:rPr>
              <a:t>kiếm</a:t>
            </a:r>
            <a:r>
              <a:rPr lang="en-US">
                <a:latin typeface="Arial"/>
                <a:ea typeface="Arial"/>
                <a:cs typeface="Arial"/>
                <a:sym typeface="Arial"/>
              </a:rPr>
              <a:t> </a:t>
            </a:r>
            <a:r>
              <a:rPr lang="en-US" err="1">
                <a:latin typeface="Arial"/>
                <a:ea typeface="Arial"/>
                <a:cs typeface="Arial"/>
                <a:sym typeface="Arial"/>
              </a:rPr>
              <a:t>lợi</a:t>
            </a:r>
            <a:r>
              <a:rPr lang="en-US">
                <a:latin typeface="Arial"/>
                <a:ea typeface="Arial"/>
                <a:cs typeface="Arial"/>
                <a:sym typeface="Arial"/>
              </a:rPr>
              <a:t> </a:t>
            </a:r>
            <a:r>
              <a:rPr lang="en-US" err="1">
                <a:latin typeface="Arial"/>
                <a:ea typeface="Arial"/>
                <a:cs typeface="Arial"/>
                <a:sym typeface="Arial"/>
              </a:rPr>
              <a:t>ích</a:t>
            </a:r>
            <a:r>
              <a:rPr lang="en-US">
                <a:latin typeface="Arial"/>
                <a:ea typeface="Arial"/>
                <a:cs typeface="Arial"/>
                <a:sym typeface="Arial"/>
              </a:rPr>
              <a:t> </a:t>
            </a:r>
            <a:r>
              <a:rPr lang="en-US" err="1">
                <a:latin typeface="Arial"/>
                <a:ea typeface="Arial"/>
                <a:cs typeface="Arial"/>
                <a:sym typeface="Arial"/>
              </a:rPr>
              <a:t>riêng</a:t>
            </a:r>
            <a:r>
              <a:rPr lang="en-US">
                <a:latin typeface="Arial"/>
                <a:ea typeface="Arial"/>
                <a:cs typeface="Arial"/>
                <a:sym typeface="Arial"/>
              </a:rPr>
              <a:t>: KH an </a:t>
            </a:r>
            <a:r>
              <a:rPr lang="en-US" err="1">
                <a:latin typeface="Arial"/>
                <a:ea typeface="Arial"/>
                <a:cs typeface="Arial"/>
                <a:sym typeface="Arial"/>
              </a:rPr>
              <a:t>tâm</a:t>
            </a:r>
            <a:r>
              <a:rPr lang="en-US">
                <a:latin typeface="Arial"/>
                <a:ea typeface="Arial"/>
                <a:cs typeface="Arial"/>
                <a:sym typeface="Arial"/>
              </a:rPr>
              <a:t> </a:t>
            </a:r>
            <a:r>
              <a:rPr lang="en-US" err="1">
                <a:latin typeface="Arial"/>
                <a:ea typeface="Arial"/>
                <a:cs typeface="Arial"/>
                <a:sym typeface="Arial"/>
              </a:rPr>
              <a:t>hơn</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giảm</a:t>
            </a:r>
            <a:r>
              <a:rPr lang="en-US">
                <a:latin typeface="Arial"/>
                <a:ea typeface="Arial"/>
                <a:cs typeface="Arial"/>
                <a:sym typeface="Arial"/>
              </a:rPr>
              <a:t> </a:t>
            </a:r>
            <a:r>
              <a:rPr lang="en-US" err="1">
                <a:latin typeface="Arial"/>
                <a:ea typeface="Arial"/>
                <a:cs typeface="Arial"/>
                <a:sym typeface="Arial"/>
              </a:rPr>
              <a:t>rủi</a:t>
            </a:r>
            <a:r>
              <a:rPr lang="en-US">
                <a:latin typeface="Arial"/>
                <a:ea typeface="Arial"/>
                <a:cs typeface="Arial"/>
                <a:sym typeface="Arial"/>
              </a:rPr>
              <a:t> </a:t>
            </a:r>
            <a:r>
              <a:rPr lang="en-US" err="1">
                <a:latin typeface="Arial"/>
                <a:ea typeface="Arial"/>
                <a:cs typeface="Arial"/>
                <a:sym typeface="Arial"/>
              </a:rPr>
              <a:t>ro</a:t>
            </a:r>
            <a:r>
              <a:rPr lang="en-US">
                <a:latin typeface="Arial"/>
                <a:ea typeface="Arial"/>
                <a:cs typeface="Arial"/>
                <a:sym typeface="Arial"/>
              </a:rPr>
              <a:t> </a:t>
            </a:r>
            <a:r>
              <a:rPr lang="en-US" err="1">
                <a:latin typeface="Arial"/>
                <a:ea typeface="Arial"/>
                <a:cs typeface="Arial"/>
                <a:sym typeface="Arial"/>
              </a:rPr>
              <a:t>khi</a:t>
            </a:r>
            <a:r>
              <a:rPr lang="en-US">
                <a:latin typeface="Arial"/>
                <a:ea typeface="Arial"/>
                <a:cs typeface="Arial"/>
                <a:sym typeface="Arial"/>
              </a:rPr>
              <a:t> </a:t>
            </a:r>
            <a:r>
              <a:rPr lang="en-US" err="1">
                <a:latin typeface="Arial"/>
                <a:ea typeface="Arial"/>
                <a:cs typeface="Arial"/>
                <a:sym typeface="Arial"/>
              </a:rPr>
              <a:t>lựa</a:t>
            </a:r>
            <a:r>
              <a:rPr lang="en-US">
                <a:latin typeface="Arial"/>
                <a:ea typeface="Arial"/>
                <a:cs typeface="Arial"/>
                <a:sym typeface="Arial"/>
              </a:rPr>
              <a:t> </a:t>
            </a:r>
            <a:r>
              <a:rPr lang="en-US" err="1">
                <a:latin typeface="Arial"/>
                <a:ea typeface="Arial"/>
                <a:cs typeface="Arial"/>
                <a:sym typeface="Arial"/>
              </a:rPr>
              <a:t>chọn</a:t>
            </a:r>
            <a:r>
              <a:rPr lang="en-US">
                <a:latin typeface="Arial"/>
                <a:ea typeface="Arial"/>
                <a:cs typeface="Arial"/>
                <a:sym typeface="Arial"/>
              </a:rPr>
              <a:t> </a:t>
            </a:r>
            <a:r>
              <a:rPr lang="en-US" err="1">
                <a:latin typeface="Arial"/>
                <a:ea typeface="Arial"/>
                <a:cs typeface="Arial"/>
                <a:sym typeface="Arial"/>
              </a:rPr>
              <a:t>sai</a:t>
            </a:r>
            <a:r>
              <a:rPr lang="en-US">
                <a:latin typeface="Arial"/>
                <a:ea typeface="Arial"/>
                <a:cs typeface="Arial"/>
                <a:sym typeface="Arial"/>
              </a:rPr>
              <a:t> </a:t>
            </a:r>
            <a:r>
              <a:rPr lang="en-US" err="1">
                <a:latin typeface="Arial"/>
                <a:ea typeface="Arial"/>
                <a:cs typeface="Arial"/>
                <a:sym typeface="Arial"/>
              </a:rPr>
              <a:t>sản</a:t>
            </a:r>
            <a:r>
              <a:rPr lang="en-US">
                <a:latin typeface="Arial"/>
                <a:ea typeface="Arial"/>
                <a:cs typeface="Arial"/>
                <a:sym typeface="Arial"/>
              </a:rPr>
              <a:t> </a:t>
            </a:r>
            <a:r>
              <a:rPr lang="en-US" err="1">
                <a:latin typeface="Arial"/>
                <a:ea typeface="Arial"/>
                <a:cs typeface="Arial"/>
                <a:sym typeface="Arial"/>
              </a:rPr>
              <a:t>phẩm</a:t>
            </a:r>
            <a:endParaRPr>
              <a:latin typeface="Arial"/>
              <a:ea typeface="Arial"/>
              <a:cs typeface="Arial"/>
              <a:sym typeface="Arial"/>
            </a:endParaRPr>
          </a:p>
          <a:p>
            <a:pPr marL="739775" lvl="0" indent="-511175" algn="just" rtl="0">
              <a:lnSpc>
                <a:spcPct val="150000"/>
              </a:lnSpc>
              <a:spcBef>
                <a:spcPts val="0"/>
              </a:spcBef>
              <a:spcAft>
                <a:spcPts val="0"/>
              </a:spcAft>
              <a:buClr>
                <a:schemeClr val="dk1"/>
              </a:buClr>
              <a:buSzPts val="2800"/>
              <a:buFont typeface="Noto Sans Symbols"/>
              <a:buChar char="❖"/>
            </a:pPr>
            <a:r>
              <a:rPr lang="en-US" err="1">
                <a:latin typeface="Arial"/>
                <a:ea typeface="Arial"/>
                <a:cs typeface="Arial"/>
                <a:sym typeface="Arial"/>
              </a:rPr>
              <a:t>Biểu</a:t>
            </a:r>
            <a:r>
              <a:rPr lang="en-US">
                <a:latin typeface="Arial"/>
                <a:ea typeface="Arial"/>
                <a:cs typeface="Arial"/>
                <a:sym typeface="Arial"/>
              </a:rPr>
              <a:t> </a:t>
            </a:r>
            <a:r>
              <a:rPr lang="en-US" err="1">
                <a:latin typeface="Arial"/>
                <a:ea typeface="Arial"/>
                <a:cs typeface="Arial"/>
                <a:sym typeface="Arial"/>
              </a:rPr>
              <a:t>thị</a:t>
            </a:r>
            <a:r>
              <a:rPr lang="en-US">
                <a:latin typeface="Arial"/>
                <a:ea typeface="Arial"/>
                <a:cs typeface="Arial"/>
                <a:sym typeface="Arial"/>
              </a:rPr>
              <a:t> </a:t>
            </a:r>
            <a:r>
              <a:rPr lang="en-US" err="1">
                <a:latin typeface="Arial"/>
                <a:ea typeface="Arial"/>
                <a:cs typeface="Arial"/>
                <a:sym typeface="Arial"/>
              </a:rPr>
              <a:t>giá</a:t>
            </a:r>
            <a:r>
              <a:rPr lang="en-US">
                <a:latin typeface="Arial"/>
                <a:ea typeface="Arial"/>
                <a:cs typeface="Arial"/>
                <a:sym typeface="Arial"/>
              </a:rPr>
              <a:t> </a:t>
            </a:r>
            <a:r>
              <a:rPr lang="en-US" err="1">
                <a:latin typeface="Arial"/>
                <a:ea typeface="Arial"/>
                <a:cs typeface="Arial"/>
                <a:sym typeface="Arial"/>
              </a:rPr>
              <a:t>trị</a:t>
            </a:r>
            <a:r>
              <a:rPr lang="en-US">
                <a:latin typeface="Arial"/>
                <a:ea typeface="Arial"/>
                <a:cs typeface="Arial"/>
                <a:sym typeface="Arial"/>
              </a:rPr>
              <a:t>: </a:t>
            </a:r>
            <a:r>
              <a:rPr lang="en-US" err="1">
                <a:latin typeface="Arial"/>
                <a:ea typeface="Arial"/>
                <a:cs typeface="Arial"/>
                <a:sym typeface="Arial"/>
              </a:rPr>
              <a:t>sự</a:t>
            </a:r>
            <a:r>
              <a:rPr lang="en-US">
                <a:latin typeface="Arial"/>
                <a:ea typeface="Arial"/>
                <a:cs typeface="Arial"/>
                <a:sym typeface="Arial"/>
              </a:rPr>
              <a:t> </a:t>
            </a:r>
            <a:r>
              <a:rPr lang="en-US" err="1">
                <a:latin typeface="Arial"/>
                <a:ea typeface="Arial"/>
                <a:cs typeface="Arial"/>
                <a:sym typeface="Arial"/>
              </a:rPr>
              <a:t>tư</a:t>
            </a:r>
            <a:r>
              <a:rPr lang="en-US">
                <a:latin typeface="Arial"/>
                <a:ea typeface="Arial"/>
                <a:cs typeface="Arial"/>
                <a:sym typeface="Arial"/>
              </a:rPr>
              <a:t> </a:t>
            </a:r>
            <a:r>
              <a:rPr lang="en-US" err="1">
                <a:latin typeface="Arial"/>
                <a:ea typeface="Arial"/>
                <a:cs typeface="Arial"/>
                <a:sym typeface="Arial"/>
              </a:rPr>
              <a:t>vấn</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nhóm</a:t>
            </a:r>
            <a:r>
              <a:rPr lang="en-US">
                <a:latin typeface="Arial"/>
                <a:ea typeface="Arial"/>
                <a:cs typeface="Arial"/>
                <a:sym typeface="Arial"/>
              </a:rPr>
              <a:t> </a:t>
            </a:r>
            <a:r>
              <a:rPr lang="en-US" err="1">
                <a:latin typeface="Arial"/>
                <a:ea typeface="Arial"/>
                <a:cs typeface="Arial"/>
                <a:sym typeface="Arial"/>
              </a:rPr>
              <a:t>tham</a:t>
            </a:r>
            <a:r>
              <a:rPr lang="en-US">
                <a:latin typeface="Arial"/>
                <a:ea typeface="Arial"/>
                <a:cs typeface="Arial"/>
                <a:sym typeface="Arial"/>
              </a:rPr>
              <a:t> </a:t>
            </a:r>
            <a:r>
              <a:rPr lang="en-US" err="1">
                <a:latin typeface="Arial"/>
                <a:ea typeface="Arial"/>
                <a:cs typeface="Arial"/>
                <a:sym typeface="Arial"/>
              </a:rPr>
              <a:t>khảo</a:t>
            </a:r>
            <a:r>
              <a:rPr lang="en-US">
                <a:latin typeface="Arial"/>
                <a:ea typeface="Arial"/>
                <a:cs typeface="Arial"/>
                <a:sym typeface="Arial"/>
              </a:rPr>
              <a:t> (</a:t>
            </a:r>
            <a:r>
              <a:rPr lang="en-US" err="1">
                <a:latin typeface="Arial"/>
                <a:ea typeface="Arial"/>
                <a:cs typeface="Arial"/>
                <a:sym typeface="Arial"/>
              </a:rPr>
              <a:t>vd</a:t>
            </a:r>
            <a:r>
              <a:rPr lang="en-US">
                <a:latin typeface="Arial"/>
                <a:ea typeface="Arial"/>
                <a:cs typeface="Arial"/>
                <a:sym typeface="Arial"/>
              </a:rPr>
              <a:t>: </a:t>
            </a:r>
            <a:r>
              <a:rPr lang="en-US" err="1">
                <a:latin typeface="Arial"/>
                <a:ea typeface="Arial"/>
                <a:cs typeface="Arial"/>
                <a:sym typeface="Arial"/>
              </a:rPr>
              <a:t>người</a:t>
            </a:r>
            <a:r>
              <a:rPr lang="en-US">
                <a:latin typeface="Arial"/>
                <a:ea typeface="Arial"/>
                <a:cs typeface="Arial"/>
                <a:sym typeface="Arial"/>
              </a:rPr>
              <a:t> </a:t>
            </a:r>
            <a:r>
              <a:rPr lang="en-US" err="1">
                <a:latin typeface="Arial"/>
                <a:ea typeface="Arial"/>
                <a:cs typeface="Arial"/>
                <a:sym typeface="Arial"/>
              </a:rPr>
              <a:t>nổi</a:t>
            </a:r>
            <a:r>
              <a:rPr lang="en-US">
                <a:latin typeface="Arial"/>
                <a:ea typeface="Arial"/>
                <a:cs typeface="Arial"/>
                <a:sym typeface="Arial"/>
              </a:rPr>
              <a:t> </a:t>
            </a:r>
            <a:r>
              <a:rPr lang="en-US" err="1">
                <a:latin typeface="Arial"/>
                <a:ea typeface="Arial"/>
                <a:cs typeface="Arial"/>
                <a:sym typeface="Arial"/>
              </a:rPr>
              <a:t>tiếng</a:t>
            </a:r>
            <a:r>
              <a:rPr lang="en-US">
                <a:latin typeface="Arial"/>
                <a:ea typeface="Arial"/>
                <a:cs typeface="Arial"/>
                <a:sym typeface="Arial"/>
              </a:rPr>
              <a:t>) </a:t>
            </a:r>
            <a:r>
              <a:rPr lang="en-US" err="1">
                <a:latin typeface="Arial"/>
                <a:ea typeface="Arial"/>
                <a:cs typeface="Arial"/>
                <a:sym typeface="Arial"/>
              </a:rPr>
              <a:t>làm</a:t>
            </a:r>
            <a:r>
              <a:rPr lang="en-US">
                <a:latin typeface="Arial"/>
                <a:ea typeface="Arial"/>
                <a:cs typeface="Arial"/>
                <a:sym typeface="Arial"/>
              </a:rPr>
              <a:t> </a:t>
            </a:r>
            <a:r>
              <a:rPr lang="en-US" err="1">
                <a:latin typeface="Arial"/>
                <a:ea typeface="Arial"/>
                <a:cs typeface="Arial"/>
                <a:sym typeface="Arial"/>
              </a:rPr>
              <a:t>nổi</a:t>
            </a:r>
            <a:r>
              <a:rPr lang="en-US">
                <a:latin typeface="Arial"/>
                <a:ea typeface="Arial"/>
                <a:cs typeface="Arial"/>
                <a:sym typeface="Arial"/>
              </a:rPr>
              <a:t> </a:t>
            </a:r>
            <a:r>
              <a:rPr lang="en-US" err="1">
                <a:latin typeface="Arial"/>
                <a:ea typeface="Arial"/>
                <a:cs typeface="Arial"/>
                <a:sym typeface="Arial"/>
              </a:rPr>
              <a:t>bật</a:t>
            </a:r>
            <a:r>
              <a:rPr lang="en-US">
                <a:latin typeface="Arial"/>
                <a:ea typeface="Arial"/>
                <a:cs typeface="Arial"/>
                <a:sym typeface="Arial"/>
              </a:rPr>
              <a:t> </a:t>
            </a:r>
            <a:r>
              <a:rPr lang="en-US" err="1">
                <a:latin typeface="Arial"/>
                <a:ea typeface="Arial"/>
                <a:cs typeface="Arial"/>
                <a:sym typeface="Arial"/>
              </a:rPr>
              <a:t>giá</a:t>
            </a:r>
            <a:r>
              <a:rPr lang="en-US">
                <a:latin typeface="Arial"/>
                <a:ea typeface="Arial"/>
                <a:cs typeface="Arial"/>
                <a:sym typeface="Arial"/>
              </a:rPr>
              <a:t> </a:t>
            </a:r>
            <a:r>
              <a:rPr lang="en-US" err="1">
                <a:latin typeface="Arial"/>
                <a:ea typeface="Arial"/>
                <a:cs typeface="Arial"/>
                <a:sym typeface="Arial"/>
              </a:rPr>
              <a:t>trị</a:t>
            </a:r>
            <a:r>
              <a:rPr lang="en-US">
                <a:latin typeface="Arial"/>
                <a:ea typeface="Arial"/>
                <a:cs typeface="Arial"/>
                <a:sym typeface="Arial"/>
              </a:rPr>
              <a:t> </a:t>
            </a:r>
            <a:r>
              <a:rPr lang="en-US" err="1">
                <a:latin typeface="Arial"/>
                <a:ea typeface="Arial"/>
                <a:cs typeface="Arial"/>
                <a:sym typeface="Arial"/>
              </a:rPr>
              <a:t>bản</a:t>
            </a:r>
            <a:r>
              <a:rPr lang="en-US">
                <a:latin typeface="Arial"/>
                <a:ea typeface="Arial"/>
                <a:cs typeface="Arial"/>
                <a:sym typeface="Arial"/>
              </a:rPr>
              <a:t> </a:t>
            </a:r>
            <a:r>
              <a:rPr lang="en-US" err="1">
                <a:latin typeface="Arial"/>
                <a:ea typeface="Arial"/>
                <a:cs typeface="Arial"/>
                <a:sym typeface="Arial"/>
              </a:rPr>
              <a:t>thân</a:t>
            </a:r>
            <a:r>
              <a:rPr lang="en-US">
                <a:latin typeface="Arial"/>
                <a:ea typeface="Arial"/>
                <a:cs typeface="Arial"/>
                <a:sym typeface="Arial"/>
              </a:rPr>
              <a:t> </a:t>
            </a:r>
            <a:r>
              <a:rPr lang="en-US" err="1">
                <a:latin typeface="Arial"/>
                <a:ea typeface="Arial"/>
                <a:cs typeface="Arial"/>
                <a:sym typeface="Arial"/>
              </a:rPr>
              <a:t>khách</a:t>
            </a:r>
            <a:r>
              <a:rPr lang="en-US">
                <a:latin typeface="Arial"/>
                <a:ea typeface="Arial"/>
                <a:cs typeface="Arial"/>
                <a:sym typeface="Arial"/>
              </a:rPr>
              <a:t> </a:t>
            </a:r>
            <a:r>
              <a:rPr lang="en-US" err="1">
                <a:latin typeface="Arial"/>
                <a:ea typeface="Arial"/>
                <a:cs typeface="Arial"/>
                <a:sym typeface="Arial"/>
              </a:rPr>
              <a:t>hàng</a:t>
            </a:r>
            <a:endParaRPr>
              <a:latin typeface="Arial"/>
              <a:ea typeface="Arial"/>
              <a:cs typeface="Arial"/>
              <a:sym typeface="Arial"/>
            </a:endParaRPr>
          </a:p>
          <a:p>
            <a:pPr marL="739775" lvl="0" indent="-333375" algn="just" rtl="0">
              <a:lnSpc>
                <a:spcPct val="150000"/>
              </a:lnSpc>
              <a:spcBef>
                <a:spcPts val="0"/>
              </a:spcBef>
              <a:spcAft>
                <a:spcPts val="0"/>
              </a:spcAft>
              <a:buClr>
                <a:schemeClr val="dk1"/>
              </a:buClr>
              <a:buSzPts val="2800"/>
              <a:buFont typeface="Noto Sans Symbols"/>
              <a:buNone/>
            </a:pPr>
            <a:endParaRPr>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100"/>
          <p:cNvSpPr txBox="1">
            <a:spLocks noGrp="1"/>
          </p:cNvSpPr>
          <p:nvPr>
            <p:ph type="title"/>
          </p:nvPr>
        </p:nvSpPr>
        <p:spPr>
          <a:xfrm>
            <a:off x="220133" y="365125"/>
            <a:ext cx="11133667" cy="1325563"/>
          </a:xfrm>
          <a:prstGeom prst="rect">
            <a:avLst/>
          </a:prstGeom>
          <a:noFill/>
          <a:ln>
            <a:noFill/>
          </a:ln>
        </p:spPr>
        <p:txBody>
          <a:bodyPr spcFirstLastPara="1" wrap="square" lIns="91425" tIns="45700" rIns="91425" bIns="45700" anchor="ctr" anchorCtr="0">
            <a:normAutofit/>
          </a:bodyPr>
          <a:lstStyle/>
          <a:p>
            <a:pPr marL="0" lvl="0" indent="0" rtl="0">
              <a:lnSpc>
                <a:spcPct val="90000"/>
              </a:lnSpc>
              <a:spcBef>
                <a:spcPts val="0"/>
              </a:spcBef>
              <a:spcAft>
                <a:spcPts val="0"/>
              </a:spcAft>
              <a:buClr>
                <a:schemeClr val="dk1"/>
              </a:buClr>
              <a:buSzPts val="3200"/>
              <a:buFont typeface="Arial"/>
              <a:buNone/>
            </a:pPr>
            <a:r>
              <a:rPr lang="vi-VN" sz="2800" b="1">
                <a:latin typeface="Arial"/>
                <a:ea typeface="Arial"/>
                <a:cs typeface="Arial"/>
                <a:sym typeface="Arial"/>
              </a:rPr>
              <a:t>2.</a:t>
            </a:r>
            <a:r>
              <a:rPr lang="vi-VN" sz="2800" b="1"/>
              <a:t>2</a:t>
            </a:r>
            <a:r>
              <a:rPr lang="en-US" sz="2800" b="1">
                <a:latin typeface="Arial"/>
                <a:ea typeface="Arial"/>
                <a:cs typeface="Arial"/>
                <a:sym typeface="Arial"/>
              </a:rPr>
              <a:t>.2.</a:t>
            </a:r>
            <a:r>
              <a:rPr lang="vi-VN" sz="2800" b="1">
                <a:latin typeface="Arial"/>
                <a:ea typeface="Arial"/>
                <a:cs typeface="Arial"/>
                <a:sym typeface="Arial"/>
              </a:rPr>
              <a:t>3</a:t>
            </a:r>
            <a:r>
              <a:rPr lang="en-US" sz="2800" b="1">
                <a:latin typeface="Arial"/>
                <a:ea typeface="Arial"/>
                <a:cs typeface="Arial"/>
                <a:sym typeface="Arial"/>
              </a:rPr>
              <a:t>. </a:t>
            </a:r>
            <a:r>
              <a:rPr lang="en-US" sz="2800" b="1" err="1">
                <a:latin typeface="Arial"/>
                <a:ea typeface="Arial"/>
                <a:cs typeface="Arial"/>
                <a:sym typeface="Arial"/>
              </a:rPr>
              <a:t>Ảnh</a:t>
            </a:r>
            <a:r>
              <a:rPr lang="en-US" sz="2800" b="1">
                <a:latin typeface="Arial"/>
                <a:ea typeface="Arial"/>
                <a:cs typeface="Arial"/>
                <a:sym typeface="Arial"/>
              </a:rPr>
              <a:t> </a:t>
            </a:r>
            <a:r>
              <a:rPr lang="en-US" sz="2800" b="1" err="1">
                <a:latin typeface="Arial"/>
                <a:ea typeface="Arial"/>
                <a:cs typeface="Arial"/>
                <a:sym typeface="Arial"/>
              </a:rPr>
              <a:t>hưởng</a:t>
            </a:r>
            <a:r>
              <a:rPr lang="en-US" sz="2800" b="1">
                <a:latin typeface="Arial"/>
                <a:ea typeface="Arial"/>
                <a:cs typeface="Arial"/>
                <a:sym typeface="Arial"/>
              </a:rPr>
              <a:t> </a:t>
            </a:r>
            <a:r>
              <a:rPr lang="en-US" sz="2800" b="1" err="1">
                <a:latin typeface="Arial"/>
                <a:ea typeface="Arial"/>
                <a:cs typeface="Arial"/>
                <a:sym typeface="Arial"/>
              </a:rPr>
              <a:t>của</a:t>
            </a:r>
            <a:r>
              <a:rPr lang="en-US" sz="2800" b="1">
                <a:latin typeface="Arial"/>
                <a:ea typeface="Arial"/>
                <a:cs typeface="Arial"/>
                <a:sym typeface="Arial"/>
              </a:rPr>
              <a:t> </a:t>
            </a:r>
            <a:r>
              <a:rPr lang="en-US" sz="2800" b="1" err="1">
                <a:latin typeface="Arial"/>
                <a:ea typeface="Arial"/>
                <a:cs typeface="Arial"/>
                <a:sym typeface="Arial"/>
              </a:rPr>
              <a:t>nhóm</a:t>
            </a:r>
            <a:r>
              <a:rPr lang="en-US" sz="2800" b="1">
                <a:latin typeface="Arial"/>
                <a:ea typeface="Arial"/>
                <a:cs typeface="Arial"/>
                <a:sym typeface="Arial"/>
              </a:rPr>
              <a:t> </a:t>
            </a:r>
            <a:r>
              <a:rPr lang="en-US" sz="2800" b="1" err="1">
                <a:latin typeface="Arial"/>
                <a:ea typeface="Arial"/>
                <a:cs typeface="Arial"/>
                <a:sym typeface="Arial"/>
              </a:rPr>
              <a:t>tham</a:t>
            </a:r>
            <a:r>
              <a:rPr lang="en-US" sz="2800" b="1">
                <a:latin typeface="Arial"/>
                <a:ea typeface="Arial"/>
                <a:cs typeface="Arial"/>
                <a:sym typeface="Arial"/>
              </a:rPr>
              <a:t> </a:t>
            </a:r>
            <a:r>
              <a:rPr lang="en-US" sz="2800" b="1" err="1">
                <a:latin typeface="Arial"/>
                <a:ea typeface="Arial"/>
                <a:cs typeface="Arial"/>
                <a:sym typeface="Arial"/>
              </a:rPr>
              <a:t>khảo</a:t>
            </a:r>
            <a:r>
              <a:rPr lang="en-US" sz="2800" b="1">
                <a:latin typeface="Arial"/>
                <a:ea typeface="Arial"/>
                <a:cs typeface="Arial"/>
                <a:sym typeface="Arial"/>
              </a:rPr>
              <a:t> </a:t>
            </a:r>
            <a:r>
              <a:rPr lang="en-US" sz="2800" b="1" err="1">
                <a:latin typeface="Arial"/>
                <a:ea typeface="Arial"/>
                <a:cs typeface="Arial"/>
                <a:sym typeface="Arial"/>
              </a:rPr>
              <a:t>đến</a:t>
            </a:r>
            <a:r>
              <a:rPr lang="en-US" sz="2800" b="1">
                <a:latin typeface="Arial"/>
                <a:ea typeface="Arial"/>
                <a:cs typeface="Arial"/>
                <a:sym typeface="Arial"/>
              </a:rPr>
              <a:t> </a:t>
            </a:r>
            <a:r>
              <a:rPr lang="en-US" sz="2800" b="1" err="1">
                <a:latin typeface="Arial"/>
                <a:ea typeface="Arial"/>
                <a:cs typeface="Arial"/>
                <a:sym typeface="Arial"/>
              </a:rPr>
              <a:t>hành</a:t>
            </a:r>
            <a:r>
              <a:rPr lang="en-US" sz="2800" b="1">
                <a:latin typeface="Arial"/>
                <a:ea typeface="Arial"/>
                <a:cs typeface="Arial"/>
                <a:sym typeface="Arial"/>
              </a:rPr>
              <a:t> vi </a:t>
            </a:r>
            <a:r>
              <a:rPr lang="en-US" sz="2800" b="1" err="1">
                <a:latin typeface="Arial"/>
                <a:ea typeface="Arial"/>
                <a:cs typeface="Arial"/>
                <a:sym typeface="Arial"/>
              </a:rPr>
              <a:t>khách</a:t>
            </a:r>
            <a:r>
              <a:rPr lang="en-US" sz="2800" b="1">
                <a:latin typeface="Arial"/>
                <a:ea typeface="Arial"/>
                <a:cs typeface="Arial"/>
                <a:sym typeface="Arial"/>
              </a:rPr>
              <a:t> </a:t>
            </a:r>
            <a:r>
              <a:rPr lang="en-US" sz="2800" b="1" err="1">
                <a:latin typeface="Arial"/>
                <a:ea typeface="Arial"/>
                <a:cs typeface="Arial"/>
                <a:sym typeface="Arial"/>
              </a:rPr>
              <a:t>hàng</a:t>
            </a:r>
            <a:endParaRPr sz="2800" b="1">
              <a:latin typeface="Arial"/>
              <a:ea typeface="Arial"/>
              <a:cs typeface="Arial"/>
              <a:sym typeface="Arial"/>
            </a:endParaRPr>
          </a:p>
        </p:txBody>
      </p:sp>
      <p:sp>
        <p:nvSpPr>
          <p:cNvPr id="743" name="Google Shape;743;p100"/>
          <p:cNvSpPr txBox="1">
            <a:spLocks noGrp="1"/>
          </p:cNvSpPr>
          <p:nvPr>
            <p:ph type="body" idx="1"/>
          </p:nvPr>
        </p:nvSpPr>
        <p:spPr>
          <a:xfrm>
            <a:off x="427703" y="1825625"/>
            <a:ext cx="10926097" cy="4351338"/>
          </a:xfrm>
          <a:prstGeom prst="rect">
            <a:avLst/>
          </a:prstGeom>
          <a:noFill/>
          <a:ln>
            <a:noFill/>
          </a:ln>
        </p:spPr>
        <p:txBody>
          <a:bodyPr spcFirstLastPara="1" wrap="square" lIns="91425" tIns="45700" rIns="91425" bIns="45700" anchor="t" anchorCtr="0">
            <a:noAutofit/>
          </a:bodyPr>
          <a:lstStyle/>
          <a:p>
            <a:pPr marL="739775" lvl="0" indent="-511175" algn="just" rtl="0">
              <a:lnSpc>
                <a:spcPct val="150000"/>
              </a:lnSpc>
              <a:spcBef>
                <a:spcPts val="0"/>
              </a:spcBef>
              <a:spcAft>
                <a:spcPts val="0"/>
              </a:spcAft>
              <a:buClr>
                <a:schemeClr val="dk1"/>
              </a:buClr>
              <a:buSzPts val="2800"/>
              <a:buFont typeface="Noto Sans Symbols"/>
              <a:buChar char="❖"/>
            </a:pPr>
            <a:r>
              <a:rPr lang="en-US">
                <a:latin typeface="Arial"/>
                <a:ea typeface="Arial"/>
                <a:cs typeface="Arial"/>
                <a:sym typeface="Arial"/>
              </a:rPr>
              <a:t>Thông tin và kinh nghiệm: việc mua sản phẩm hoặc dịch vụ nào đó lần đầu tiên.</a:t>
            </a:r>
            <a:endParaRPr/>
          </a:p>
          <a:p>
            <a:pPr marL="739775" lvl="0" indent="-511175" algn="just" rtl="0">
              <a:lnSpc>
                <a:spcPct val="150000"/>
              </a:lnSpc>
              <a:spcBef>
                <a:spcPts val="0"/>
              </a:spcBef>
              <a:spcAft>
                <a:spcPts val="0"/>
              </a:spcAft>
              <a:buClr>
                <a:schemeClr val="dk1"/>
              </a:buClr>
              <a:buSzPts val="2800"/>
              <a:buFont typeface="Noto Sans Symbols"/>
              <a:buChar char="❖"/>
            </a:pPr>
            <a:r>
              <a:rPr lang="en-US">
                <a:latin typeface="Arial"/>
                <a:ea typeface="Arial"/>
                <a:cs typeface="Arial"/>
                <a:sym typeface="Arial"/>
              </a:rPr>
              <a:t>Độ tin cậy, sự thu hút, quyền lực của nhóm tham khảo: có thể làm thay đổi thái độ và hành vi của khách hàng  </a:t>
            </a:r>
            <a:endParaRPr/>
          </a:p>
          <a:p>
            <a:pPr marL="739775" lvl="0" indent="-511175" algn="just" rtl="0">
              <a:lnSpc>
                <a:spcPct val="150000"/>
              </a:lnSpc>
              <a:spcBef>
                <a:spcPts val="0"/>
              </a:spcBef>
              <a:spcAft>
                <a:spcPts val="0"/>
              </a:spcAft>
              <a:buClr>
                <a:schemeClr val="dk1"/>
              </a:buClr>
              <a:buSzPts val="2800"/>
              <a:buFont typeface="Noto Sans Symbols"/>
              <a:buChar char="❖"/>
            </a:pPr>
            <a:r>
              <a:rPr lang="en-US">
                <a:latin typeface="Arial"/>
                <a:ea typeface="Arial"/>
                <a:cs typeface="Arial"/>
                <a:sym typeface="Arial"/>
              </a:rPr>
              <a:t>Tính công khai của sản phẩm: sự dễ gây chú ý của sản phẩm đối với người khác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102"/>
          <p:cNvSpPr txBox="1">
            <a:spLocks noGrp="1"/>
          </p:cNvSpPr>
          <p:nvPr>
            <p:ph type="title"/>
          </p:nvPr>
        </p:nvSpPr>
        <p:spPr>
          <a:xfrm>
            <a:off x="303179" y="50518"/>
            <a:ext cx="10515600" cy="1507435"/>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3200"/>
              <a:buFont typeface="Arial"/>
              <a:buNone/>
            </a:pPr>
            <a:r>
              <a:rPr lang="vi-VN" sz="2800" b="1">
                <a:sym typeface="Arial"/>
              </a:rPr>
              <a:t>2.2.</a:t>
            </a:r>
            <a:r>
              <a:rPr lang="en-US" sz="2800" b="1">
                <a:sym typeface="Arial"/>
              </a:rPr>
              <a:t>3</a:t>
            </a:r>
            <a:r>
              <a:rPr lang="vi-VN" sz="2800" b="1">
                <a:sym typeface="Arial"/>
              </a:rPr>
              <a:t> Gia đình ảnh hưởng đến hành vi KH cá nhân</a:t>
            </a:r>
            <a:br>
              <a:rPr lang="vi-VN" sz="2800" b="1">
                <a:sym typeface="Arial"/>
              </a:rPr>
            </a:br>
            <a:r>
              <a:rPr lang="vi-VN" sz="2800" b="1">
                <a:sym typeface="Arial"/>
              </a:rPr>
              <a:t>2.2.3.1 </a:t>
            </a:r>
            <a:r>
              <a:rPr lang="en-US" sz="2800" b="1">
                <a:sym typeface="Arial"/>
              </a:rPr>
              <a:t>Ý </a:t>
            </a:r>
            <a:r>
              <a:rPr lang="en-US" sz="2800" b="1" err="1">
                <a:sym typeface="Arial"/>
              </a:rPr>
              <a:t>nghĩa</a:t>
            </a:r>
            <a:r>
              <a:rPr lang="en-US" sz="2800" b="1">
                <a:sym typeface="Arial"/>
              </a:rPr>
              <a:t> </a:t>
            </a:r>
            <a:r>
              <a:rPr lang="en-US" sz="2800" b="1" err="1">
                <a:sym typeface="Arial"/>
              </a:rPr>
              <a:t>của</a:t>
            </a:r>
            <a:r>
              <a:rPr lang="en-US" sz="2800" b="1">
                <a:sym typeface="Arial"/>
              </a:rPr>
              <a:t> </a:t>
            </a:r>
            <a:r>
              <a:rPr lang="en-US" sz="2800" b="1" err="1">
                <a:sym typeface="Arial"/>
              </a:rPr>
              <a:t>gia</a:t>
            </a:r>
            <a:r>
              <a:rPr lang="en-US" sz="2800" b="1">
                <a:sym typeface="Arial"/>
              </a:rPr>
              <a:t> </a:t>
            </a:r>
            <a:r>
              <a:rPr lang="en-US" sz="2800" b="1" err="1">
                <a:sym typeface="Arial"/>
              </a:rPr>
              <a:t>đình</a:t>
            </a:r>
            <a:r>
              <a:rPr lang="en-US" sz="2800" b="1">
                <a:sym typeface="Arial"/>
              </a:rPr>
              <a:t> </a:t>
            </a:r>
            <a:r>
              <a:rPr lang="en-US" sz="2800" b="1" err="1">
                <a:sym typeface="Arial"/>
              </a:rPr>
              <a:t>trong</a:t>
            </a:r>
            <a:r>
              <a:rPr lang="en-US" sz="2800" b="1">
                <a:sym typeface="Arial"/>
              </a:rPr>
              <a:t> </a:t>
            </a:r>
            <a:r>
              <a:rPr lang="en-US" sz="2800" b="1" err="1">
                <a:sym typeface="Arial"/>
              </a:rPr>
              <a:t>nghiên</a:t>
            </a:r>
            <a:r>
              <a:rPr lang="en-US" sz="2800" b="1">
                <a:sym typeface="Arial"/>
              </a:rPr>
              <a:t> </a:t>
            </a:r>
            <a:r>
              <a:rPr lang="en-US" sz="2800" b="1" err="1">
                <a:sym typeface="Arial"/>
              </a:rPr>
              <a:t>cứu</a:t>
            </a:r>
            <a:r>
              <a:rPr lang="en-US" sz="2800" b="1">
                <a:sym typeface="Arial"/>
              </a:rPr>
              <a:t> </a:t>
            </a:r>
            <a:r>
              <a:rPr lang="en-US" sz="2800" b="1" err="1">
                <a:sym typeface="Arial"/>
              </a:rPr>
              <a:t>hành</a:t>
            </a:r>
            <a:r>
              <a:rPr lang="en-US" sz="2800" b="1">
                <a:sym typeface="Arial"/>
              </a:rPr>
              <a:t> vi</a:t>
            </a:r>
            <a:endParaRPr sz="2800"/>
          </a:p>
        </p:txBody>
      </p:sp>
      <p:sp>
        <p:nvSpPr>
          <p:cNvPr id="754" name="Google Shape;754;p102"/>
          <p:cNvSpPr txBox="1">
            <a:spLocks noGrp="1"/>
          </p:cNvSpPr>
          <p:nvPr>
            <p:ph type="body" idx="1"/>
          </p:nvPr>
        </p:nvSpPr>
        <p:spPr>
          <a:xfrm>
            <a:off x="838199" y="1557953"/>
            <a:ext cx="10515599" cy="961820"/>
          </a:xfrm>
          <a:prstGeom prst="rect">
            <a:avLst/>
          </a:prstGeom>
          <a:noFill/>
          <a:ln>
            <a:noFill/>
          </a:ln>
        </p:spPr>
        <p:txBody>
          <a:bodyPr spcFirstLastPara="1" wrap="square" lIns="91425" tIns="45700" rIns="91425" bIns="45700" anchor="t" anchorCtr="0">
            <a:noAutofit/>
          </a:bodyPr>
          <a:lstStyle/>
          <a:p>
            <a:pPr marL="228600" lvl="0" indent="0" algn="just" rtl="0">
              <a:lnSpc>
                <a:spcPct val="150000"/>
              </a:lnSpc>
              <a:spcBef>
                <a:spcPts val="0"/>
              </a:spcBef>
              <a:spcAft>
                <a:spcPts val="0"/>
              </a:spcAft>
              <a:buClr>
                <a:schemeClr val="dk1"/>
              </a:buClr>
              <a:buSzPts val="2800"/>
              <a:buNone/>
            </a:pPr>
            <a:r>
              <a:rPr lang="en-US">
                <a:latin typeface="Arial"/>
                <a:ea typeface="Arial"/>
                <a:cs typeface="Arial"/>
                <a:sym typeface="Arial"/>
              </a:rPr>
              <a:t>	Gia đình là nhóm xã hội ảnh hưởng mạnh nhất đến hành vi tiêu dùng cá nhân.</a:t>
            </a:r>
            <a:endParaRPr/>
          </a:p>
          <a:p>
            <a:pPr marL="739775" lvl="0" indent="-333375" algn="just" rtl="0">
              <a:lnSpc>
                <a:spcPct val="150000"/>
              </a:lnSpc>
              <a:spcBef>
                <a:spcPts val="0"/>
              </a:spcBef>
              <a:spcAft>
                <a:spcPts val="0"/>
              </a:spcAft>
              <a:buClr>
                <a:schemeClr val="dk1"/>
              </a:buClr>
              <a:buSzPts val="2800"/>
              <a:buFont typeface="Noto Sans Symbols"/>
              <a:buNone/>
            </a:pPr>
            <a:endParaRPr>
              <a:latin typeface="Arial"/>
              <a:ea typeface="Arial"/>
              <a:cs typeface="Arial"/>
              <a:sym typeface="Arial"/>
            </a:endParaRPr>
          </a:p>
        </p:txBody>
      </p:sp>
      <p:grpSp>
        <p:nvGrpSpPr>
          <p:cNvPr id="755" name="Google Shape;755;p102"/>
          <p:cNvGrpSpPr/>
          <p:nvPr/>
        </p:nvGrpSpPr>
        <p:grpSpPr>
          <a:xfrm>
            <a:off x="1902948" y="2888050"/>
            <a:ext cx="7671520" cy="3409806"/>
            <a:chOff x="37" y="4534"/>
            <a:chExt cx="7671520" cy="3409806"/>
          </a:xfrm>
        </p:grpSpPr>
        <p:sp>
          <p:nvSpPr>
            <p:cNvPr id="756" name="Google Shape;756;p102"/>
            <p:cNvSpPr/>
            <p:nvPr/>
          </p:nvSpPr>
          <p:spPr>
            <a:xfrm>
              <a:off x="37" y="14659"/>
              <a:ext cx="3584805" cy="1379361"/>
            </a:xfrm>
            <a:prstGeom prst="rect">
              <a:avLst/>
            </a:prstGeom>
            <a:solidFill>
              <a:schemeClr val="lt1"/>
            </a:solidFill>
            <a:ln w="12700" cap="flat" cmpd="sng">
              <a:solidFill>
                <a:srgbClr val="3A66B1"/>
              </a:solidFill>
              <a:prstDash val="solid"/>
              <a:miter lim="8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7" name="Google Shape;757;p102"/>
            <p:cNvSpPr txBox="1"/>
            <p:nvPr/>
          </p:nvSpPr>
          <p:spPr>
            <a:xfrm>
              <a:off x="37" y="14659"/>
              <a:ext cx="3584805" cy="1379361"/>
            </a:xfrm>
            <a:prstGeom prst="rect">
              <a:avLst/>
            </a:prstGeom>
            <a:noFill/>
            <a:ln>
              <a:noFill/>
            </a:ln>
          </p:spPr>
          <p:txBody>
            <a:bodyPr spcFirstLastPara="1" wrap="square" lIns="199125" tIns="113775" rIns="199125" bIns="113775" anchor="ctr" anchorCtr="0">
              <a:noAutofit/>
            </a:bodyPr>
            <a:lstStyle/>
            <a:p>
              <a:pPr marL="0" marR="0" lvl="0" indent="0" algn="ctr" rtl="0">
                <a:lnSpc>
                  <a:spcPct val="150000"/>
                </a:lnSpc>
                <a:spcBef>
                  <a:spcPts val="0"/>
                </a:spcBef>
                <a:spcAft>
                  <a:spcPts val="0"/>
                </a:spcAft>
                <a:buClr>
                  <a:schemeClr val="lt1"/>
                </a:buClr>
                <a:buSzPts val="2800"/>
                <a:buFont typeface="Arial"/>
                <a:buNone/>
              </a:pPr>
              <a:r>
                <a:rPr lang="en-US" sz="2800" b="1" i="0" u="none" strike="noStrike" cap="none">
                  <a:solidFill>
                    <a:schemeClr val="dk1"/>
                  </a:solidFill>
                  <a:latin typeface="Arial"/>
                  <a:ea typeface="Arial"/>
                  <a:cs typeface="Arial"/>
                  <a:sym typeface="Arial"/>
                </a:rPr>
                <a:t>Gia đình </a:t>
              </a:r>
              <a:endParaRPr sz="1400" b="1" i="0" u="none" strike="noStrike" cap="none">
                <a:solidFill>
                  <a:schemeClr val="dk1"/>
                </a:solidFill>
                <a:latin typeface="Arial"/>
                <a:ea typeface="Arial"/>
                <a:cs typeface="Arial"/>
                <a:sym typeface="Arial"/>
              </a:endParaRPr>
            </a:p>
            <a:p>
              <a:pPr marL="0" marR="0" lvl="0" indent="0" algn="ctr" rtl="0">
                <a:lnSpc>
                  <a:spcPct val="150000"/>
                </a:lnSpc>
                <a:spcBef>
                  <a:spcPts val="0"/>
                </a:spcBef>
                <a:spcAft>
                  <a:spcPts val="0"/>
                </a:spcAft>
                <a:buClr>
                  <a:schemeClr val="lt1"/>
                </a:buClr>
                <a:buSzPts val="2800"/>
                <a:buFont typeface="Arial"/>
                <a:buNone/>
              </a:pPr>
              <a:r>
                <a:rPr lang="en-US" sz="2800" b="1" i="0" u="none" strike="noStrike" cap="none">
                  <a:solidFill>
                    <a:schemeClr val="dk1"/>
                  </a:solidFill>
                  <a:latin typeface="Arial"/>
                  <a:ea typeface="Arial"/>
                  <a:cs typeface="Arial"/>
                  <a:sym typeface="Arial"/>
                </a:rPr>
                <a:t>định hướng </a:t>
              </a:r>
              <a:endParaRPr sz="2800" b="1" i="0" u="none" strike="noStrike" cap="none">
                <a:solidFill>
                  <a:schemeClr val="dk1"/>
                </a:solidFill>
                <a:latin typeface="Arial"/>
                <a:ea typeface="Arial"/>
                <a:cs typeface="Arial"/>
                <a:sym typeface="Arial"/>
              </a:endParaRPr>
            </a:p>
          </p:txBody>
        </p:sp>
        <p:sp>
          <p:nvSpPr>
            <p:cNvPr id="758" name="Google Shape;758;p102"/>
            <p:cNvSpPr/>
            <p:nvPr/>
          </p:nvSpPr>
          <p:spPr>
            <a:xfrm>
              <a:off x="37" y="1394020"/>
              <a:ext cx="3584805" cy="2020320"/>
            </a:xfrm>
            <a:prstGeom prst="rect">
              <a:avLst/>
            </a:prstGeom>
            <a:solidFill>
              <a:schemeClr val="lt1">
                <a:alpha val="89804"/>
              </a:schemeClr>
            </a:solidFill>
            <a:ln w="12700" cap="flat" cmpd="sng">
              <a:solidFill>
                <a:srgbClr val="4372C3">
                  <a:alpha val="89804"/>
                </a:srgbClr>
              </a:solidFill>
              <a:prstDash val="solid"/>
              <a:miter lim="8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9" name="Google Shape;759;p102"/>
            <p:cNvSpPr txBox="1"/>
            <p:nvPr/>
          </p:nvSpPr>
          <p:spPr>
            <a:xfrm>
              <a:off x="37" y="1394020"/>
              <a:ext cx="3584805" cy="2020320"/>
            </a:xfrm>
            <a:prstGeom prst="rect">
              <a:avLst/>
            </a:prstGeom>
            <a:noFill/>
            <a:ln>
              <a:noFill/>
            </a:ln>
          </p:spPr>
          <p:txBody>
            <a:bodyPr spcFirstLastPara="1" wrap="square" lIns="149350" tIns="149350" rIns="199125" bIns="224025" anchor="t" anchorCtr="0">
              <a:noAutofit/>
            </a:bodyPr>
            <a:lstStyle/>
            <a:p>
              <a:pPr marL="285750" marR="0" lvl="1" indent="-285750" algn="l" rtl="0">
                <a:lnSpc>
                  <a:spcPct val="150000"/>
                </a:lnSpc>
                <a:spcBef>
                  <a:spcPts val="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ông bà, cha mẹ, con cái….</a:t>
              </a:r>
              <a:endParaRPr sz="2800" b="0" i="0" u="none" strike="noStrike" cap="none">
                <a:solidFill>
                  <a:schemeClr val="dk1"/>
                </a:solidFill>
                <a:latin typeface="Arial"/>
                <a:ea typeface="Arial"/>
                <a:cs typeface="Arial"/>
                <a:sym typeface="Arial"/>
              </a:endParaRPr>
            </a:p>
          </p:txBody>
        </p:sp>
        <p:sp>
          <p:nvSpPr>
            <p:cNvPr id="760" name="Google Shape;760;p102"/>
            <p:cNvSpPr/>
            <p:nvPr/>
          </p:nvSpPr>
          <p:spPr>
            <a:xfrm>
              <a:off x="4086752" y="4534"/>
              <a:ext cx="3584805" cy="1379361"/>
            </a:xfrm>
            <a:prstGeom prst="rect">
              <a:avLst/>
            </a:prstGeom>
            <a:solidFill>
              <a:schemeClr val="lt1"/>
            </a:solidFill>
            <a:ln w="12700" cap="flat" cmpd="sng">
              <a:solidFill>
                <a:srgbClr val="3A66B1"/>
              </a:solidFill>
              <a:prstDash val="solid"/>
              <a:miter lim="8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1" name="Google Shape;761;p102"/>
            <p:cNvSpPr txBox="1"/>
            <p:nvPr/>
          </p:nvSpPr>
          <p:spPr>
            <a:xfrm>
              <a:off x="4086752" y="4534"/>
              <a:ext cx="3584805" cy="1379361"/>
            </a:xfrm>
            <a:prstGeom prst="rect">
              <a:avLst/>
            </a:prstGeom>
            <a:noFill/>
            <a:ln>
              <a:noFill/>
            </a:ln>
          </p:spPr>
          <p:txBody>
            <a:bodyPr spcFirstLastPara="1" wrap="square" lIns="199125" tIns="113775" rIns="199125" bIns="113775" anchor="ctr" anchorCtr="0">
              <a:noAutofit/>
            </a:bodyPr>
            <a:lstStyle/>
            <a:p>
              <a:pPr marL="0" marR="0" lvl="0" indent="0" algn="ctr" rtl="0">
                <a:lnSpc>
                  <a:spcPct val="150000"/>
                </a:lnSpc>
                <a:spcBef>
                  <a:spcPts val="0"/>
                </a:spcBef>
                <a:spcAft>
                  <a:spcPts val="0"/>
                </a:spcAft>
                <a:buClr>
                  <a:schemeClr val="lt1"/>
                </a:buClr>
                <a:buSzPts val="2800"/>
                <a:buFont typeface="Arial"/>
                <a:buNone/>
              </a:pPr>
              <a:r>
                <a:rPr lang="en-US" sz="2800" b="1" i="0" u="none" strike="noStrike" cap="none">
                  <a:solidFill>
                    <a:schemeClr val="dk1"/>
                  </a:solidFill>
                  <a:latin typeface="Arial"/>
                  <a:ea typeface="Arial"/>
                  <a:cs typeface="Arial"/>
                  <a:sym typeface="Arial"/>
                </a:rPr>
                <a:t>Gia đình </a:t>
              </a:r>
              <a:endParaRPr sz="1400" b="1" i="0" u="none" strike="noStrike" cap="none">
                <a:solidFill>
                  <a:schemeClr val="dk1"/>
                </a:solidFill>
                <a:latin typeface="Arial"/>
                <a:ea typeface="Arial"/>
                <a:cs typeface="Arial"/>
                <a:sym typeface="Arial"/>
              </a:endParaRPr>
            </a:p>
            <a:p>
              <a:pPr marL="0" marR="0" lvl="0" indent="0" algn="ctr" rtl="0">
                <a:lnSpc>
                  <a:spcPct val="150000"/>
                </a:lnSpc>
                <a:spcBef>
                  <a:spcPts val="0"/>
                </a:spcBef>
                <a:spcAft>
                  <a:spcPts val="0"/>
                </a:spcAft>
                <a:buClr>
                  <a:schemeClr val="lt1"/>
                </a:buClr>
                <a:buSzPts val="2800"/>
                <a:buFont typeface="Arial"/>
                <a:buNone/>
              </a:pPr>
              <a:r>
                <a:rPr lang="en-US" sz="2800" b="1" i="0" u="none" strike="noStrike" cap="none">
                  <a:solidFill>
                    <a:schemeClr val="dk1"/>
                  </a:solidFill>
                  <a:latin typeface="Arial"/>
                  <a:ea typeface="Arial"/>
                  <a:cs typeface="Arial"/>
                  <a:sym typeface="Arial"/>
                </a:rPr>
                <a:t>hôn phối </a:t>
              </a:r>
              <a:endParaRPr sz="2800" b="1" i="0" u="none" strike="noStrike" cap="none">
                <a:solidFill>
                  <a:schemeClr val="dk1"/>
                </a:solidFill>
                <a:latin typeface="Arial"/>
                <a:ea typeface="Arial"/>
                <a:cs typeface="Arial"/>
                <a:sym typeface="Arial"/>
              </a:endParaRPr>
            </a:p>
          </p:txBody>
        </p:sp>
        <p:sp>
          <p:nvSpPr>
            <p:cNvPr id="762" name="Google Shape;762;p102"/>
            <p:cNvSpPr/>
            <p:nvPr/>
          </p:nvSpPr>
          <p:spPr>
            <a:xfrm>
              <a:off x="4086752" y="1394020"/>
              <a:ext cx="3584805" cy="2020320"/>
            </a:xfrm>
            <a:prstGeom prst="rect">
              <a:avLst/>
            </a:prstGeom>
            <a:solidFill>
              <a:schemeClr val="lt1">
                <a:alpha val="89804"/>
              </a:schemeClr>
            </a:solidFill>
            <a:ln w="12700" cap="flat" cmpd="sng">
              <a:solidFill>
                <a:srgbClr val="4372C3">
                  <a:alpha val="89804"/>
                </a:srgbClr>
              </a:solidFill>
              <a:prstDash val="solid"/>
              <a:miter lim="8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3" name="Google Shape;763;p102"/>
            <p:cNvSpPr txBox="1"/>
            <p:nvPr/>
          </p:nvSpPr>
          <p:spPr>
            <a:xfrm>
              <a:off x="4086752" y="1394020"/>
              <a:ext cx="3584805" cy="2020320"/>
            </a:xfrm>
            <a:prstGeom prst="rect">
              <a:avLst/>
            </a:prstGeom>
            <a:noFill/>
            <a:ln>
              <a:noFill/>
            </a:ln>
          </p:spPr>
          <p:txBody>
            <a:bodyPr spcFirstLastPara="1" wrap="square" lIns="149350" tIns="149350" rIns="199125" bIns="224025" anchor="t" anchorCtr="0">
              <a:noAutofit/>
            </a:bodyPr>
            <a:lstStyle/>
            <a:p>
              <a:pPr marL="285750" marR="0" lvl="1" indent="-285750" algn="l" rtl="0">
                <a:lnSpc>
                  <a:spcPct val="150000"/>
                </a:lnSpc>
                <a:spcBef>
                  <a:spcPts val="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vợ, chồng và con cái.</a:t>
              </a:r>
              <a:endParaRPr sz="2800" b="0" i="0" u="none" strike="noStrike" cap="none">
                <a:solidFill>
                  <a:schemeClr val="dk1"/>
                </a:solidFill>
                <a:latin typeface="Arial"/>
                <a:ea typeface="Arial"/>
                <a:cs typeface="Arial"/>
                <a:sym typeface="Arial"/>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103"/>
          <p:cNvSpPr txBox="1">
            <a:spLocks noGrp="1"/>
          </p:cNvSpPr>
          <p:nvPr>
            <p:ph type="title"/>
          </p:nvPr>
        </p:nvSpPr>
        <p:spPr>
          <a:xfrm>
            <a:off x="364067" y="365125"/>
            <a:ext cx="10989733"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vi-VN" sz="3200" b="1">
                <a:latin typeface="Arial"/>
                <a:ea typeface="Arial"/>
                <a:cs typeface="Arial"/>
                <a:sym typeface="Arial"/>
              </a:rPr>
              <a:t>2.2.</a:t>
            </a:r>
            <a:r>
              <a:rPr lang="en-US" sz="3200" b="1">
                <a:latin typeface="Arial"/>
                <a:ea typeface="Arial"/>
                <a:cs typeface="Arial"/>
                <a:sym typeface="Arial"/>
              </a:rPr>
              <a:t>3.2. </a:t>
            </a:r>
            <a:r>
              <a:rPr lang="en-US" sz="3200" b="1" err="1">
                <a:latin typeface="Arial"/>
                <a:ea typeface="Arial"/>
                <a:cs typeface="Arial"/>
                <a:sym typeface="Arial"/>
              </a:rPr>
              <a:t>Những</a:t>
            </a:r>
            <a:r>
              <a:rPr lang="en-US" sz="3200" b="1">
                <a:latin typeface="Arial"/>
                <a:ea typeface="Arial"/>
                <a:cs typeface="Arial"/>
                <a:sym typeface="Arial"/>
              </a:rPr>
              <a:t> </a:t>
            </a:r>
            <a:r>
              <a:rPr lang="en-US" sz="3200" b="1" err="1">
                <a:latin typeface="Arial"/>
                <a:ea typeface="Arial"/>
                <a:cs typeface="Arial"/>
                <a:sym typeface="Arial"/>
              </a:rPr>
              <a:t>thay</a:t>
            </a:r>
            <a:r>
              <a:rPr lang="en-US" sz="3200" b="1">
                <a:latin typeface="Arial"/>
                <a:ea typeface="Arial"/>
                <a:cs typeface="Arial"/>
                <a:sym typeface="Arial"/>
              </a:rPr>
              <a:t> </a:t>
            </a:r>
            <a:r>
              <a:rPr lang="en-US" sz="3200" b="1" err="1">
                <a:latin typeface="Arial"/>
                <a:ea typeface="Arial"/>
                <a:cs typeface="Arial"/>
                <a:sym typeface="Arial"/>
              </a:rPr>
              <a:t>đổi</a:t>
            </a:r>
            <a:r>
              <a:rPr lang="en-US" sz="3200" b="1">
                <a:latin typeface="Arial"/>
                <a:ea typeface="Arial"/>
                <a:cs typeface="Arial"/>
                <a:sym typeface="Arial"/>
              </a:rPr>
              <a:t> </a:t>
            </a:r>
            <a:r>
              <a:rPr lang="en-US" sz="3200" b="1" err="1">
                <a:latin typeface="Arial"/>
                <a:ea typeface="Arial"/>
                <a:cs typeface="Arial"/>
                <a:sym typeface="Arial"/>
              </a:rPr>
              <a:t>trong</a:t>
            </a:r>
            <a:r>
              <a:rPr lang="en-US" sz="3200" b="1">
                <a:latin typeface="Arial"/>
                <a:ea typeface="Arial"/>
                <a:cs typeface="Arial"/>
                <a:sym typeface="Arial"/>
              </a:rPr>
              <a:t> </a:t>
            </a:r>
            <a:r>
              <a:rPr lang="en-US" sz="3200" b="1" err="1">
                <a:latin typeface="Arial"/>
                <a:ea typeface="Arial"/>
                <a:cs typeface="Arial"/>
                <a:sym typeface="Arial"/>
              </a:rPr>
              <a:t>các</a:t>
            </a:r>
            <a:r>
              <a:rPr lang="en-US" sz="3200" b="1">
                <a:latin typeface="Arial"/>
                <a:ea typeface="Arial"/>
                <a:cs typeface="Arial"/>
                <a:sym typeface="Arial"/>
              </a:rPr>
              <a:t> </a:t>
            </a:r>
            <a:r>
              <a:rPr lang="en-US" sz="3200" b="1" err="1">
                <a:latin typeface="Arial"/>
                <a:ea typeface="Arial"/>
                <a:cs typeface="Arial"/>
                <a:sym typeface="Arial"/>
              </a:rPr>
              <a:t>gia</a:t>
            </a:r>
            <a:r>
              <a:rPr lang="en-US" sz="3200" b="1">
                <a:latin typeface="Arial"/>
                <a:ea typeface="Arial"/>
                <a:cs typeface="Arial"/>
                <a:sym typeface="Arial"/>
              </a:rPr>
              <a:t> </a:t>
            </a:r>
            <a:r>
              <a:rPr lang="en-US" sz="3200" b="1" err="1">
                <a:latin typeface="Arial"/>
                <a:ea typeface="Arial"/>
                <a:cs typeface="Arial"/>
                <a:sym typeface="Arial"/>
              </a:rPr>
              <a:t>đình</a:t>
            </a:r>
            <a:r>
              <a:rPr lang="en-US" sz="3200" b="1">
                <a:latin typeface="Arial"/>
                <a:ea typeface="Arial"/>
                <a:cs typeface="Arial"/>
                <a:sym typeface="Arial"/>
              </a:rPr>
              <a:t> </a:t>
            </a:r>
            <a:r>
              <a:rPr lang="en-US" sz="3200" b="1" err="1">
                <a:latin typeface="Arial"/>
                <a:ea typeface="Arial"/>
                <a:cs typeface="Arial"/>
                <a:sym typeface="Arial"/>
              </a:rPr>
              <a:t>hiện</a:t>
            </a:r>
            <a:r>
              <a:rPr lang="en-US" sz="3200" b="1">
                <a:latin typeface="Arial"/>
                <a:ea typeface="Arial"/>
                <a:cs typeface="Arial"/>
                <a:sym typeface="Arial"/>
              </a:rPr>
              <a:t> nay</a:t>
            </a:r>
            <a:endParaRPr/>
          </a:p>
        </p:txBody>
      </p:sp>
      <p:sp>
        <p:nvSpPr>
          <p:cNvPr id="769" name="Google Shape;769;p103"/>
          <p:cNvSpPr txBox="1">
            <a:spLocks noGrp="1"/>
          </p:cNvSpPr>
          <p:nvPr>
            <p:ph type="body" idx="1"/>
          </p:nvPr>
        </p:nvSpPr>
        <p:spPr>
          <a:xfrm>
            <a:off x="0" y="1383174"/>
            <a:ext cx="11828206" cy="5312594"/>
          </a:xfrm>
          <a:prstGeom prst="rect">
            <a:avLst/>
          </a:prstGeom>
          <a:noFill/>
          <a:ln>
            <a:noFill/>
          </a:ln>
        </p:spPr>
        <p:txBody>
          <a:bodyPr spcFirstLastPara="1" wrap="square" lIns="91425" tIns="45700" rIns="91425" bIns="45700" anchor="t" anchorCtr="0">
            <a:noAutofit/>
          </a:bodyPr>
          <a:lstStyle/>
          <a:p>
            <a:pPr marL="739775" lvl="0" indent="-511175" algn="just" rtl="0">
              <a:lnSpc>
                <a:spcPct val="150000"/>
              </a:lnSpc>
              <a:spcBef>
                <a:spcPts val="0"/>
              </a:spcBef>
              <a:spcAft>
                <a:spcPts val="0"/>
              </a:spcAft>
              <a:buClr>
                <a:schemeClr val="dk1"/>
              </a:buClr>
              <a:buSzPts val="2800"/>
              <a:buFont typeface="Arial"/>
              <a:buChar char="•"/>
            </a:pPr>
            <a:r>
              <a:rPr lang="en-US">
                <a:latin typeface="Arial"/>
                <a:ea typeface="Arial"/>
                <a:cs typeface="Arial"/>
                <a:sym typeface="Arial"/>
              </a:rPr>
              <a:t>Quy </a:t>
            </a:r>
            <a:r>
              <a:rPr lang="en-US" err="1">
                <a:latin typeface="Arial"/>
                <a:ea typeface="Arial"/>
                <a:cs typeface="Arial"/>
                <a:sym typeface="Arial"/>
              </a:rPr>
              <a:t>mô</a:t>
            </a:r>
            <a:r>
              <a:rPr lang="en-US">
                <a:latin typeface="Arial"/>
                <a:ea typeface="Arial"/>
                <a:cs typeface="Arial"/>
                <a:sym typeface="Arial"/>
              </a:rPr>
              <a:t> </a:t>
            </a:r>
            <a:r>
              <a:rPr lang="en-US" err="1">
                <a:latin typeface="Arial"/>
                <a:ea typeface="Arial"/>
                <a:cs typeface="Arial"/>
                <a:sym typeface="Arial"/>
              </a:rPr>
              <a:t>các</a:t>
            </a:r>
            <a:r>
              <a:rPr lang="en-US">
                <a:latin typeface="Arial"/>
                <a:ea typeface="Arial"/>
                <a:cs typeface="Arial"/>
                <a:sym typeface="Arial"/>
              </a:rPr>
              <a:t> </a:t>
            </a:r>
            <a:r>
              <a:rPr lang="en-US" err="1">
                <a:latin typeface="Arial"/>
                <a:ea typeface="Arial"/>
                <a:cs typeface="Arial"/>
                <a:sym typeface="Arial"/>
              </a:rPr>
              <a:t>hô</a:t>
            </a:r>
            <a:r>
              <a:rPr lang="en-US">
                <a:latin typeface="Arial"/>
                <a:ea typeface="Arial"/>
                <a:cs typeface="Arial"/>
                <a:sym typeface="Arial"/>
              </a:rPr>
              <a:t>̣ </a:t>
            </a:r>
            <a:r>
              <a:rPr lang="en-US" err="1">
                <a:latin typeface="Arial"/>
                <a:ea typeface="Arial"/>
                <a:cs typeface="Arial"/>
                <a:sym typeface="Arial"/>
              </a:rPr>
              <a:t>gia</a:t>
            </a:r>
            <a:r>
              <a:rPr lang="en-US">
                <a:latin typeface="Arial"/>
                <a:ea typeface="Arial"/>
                <a:cs typeface="Arial"/>
                <a:sym typeface="Arial"/>
              </a:rPr>
              <a:t> </a:t>
            </a:r>
            <a:r>
              <a:rPr lang="en-US" err="1">
                <a:latin typeface="Arial"/>
                <a:ea typeface="Arial"/>
                <a:cs typeface="Arial"/>
                <a:sym typeface="Arial"/>
              </a:rPr>
              <a:t>đình</a:t>
            </a:r>
            <a:r>
              <a:rPr lang="en-US">
                <a:latin typeface="Arial"/>
                <a:ea typeface="Arial"/>
                <a:cs typeface="Arial"/>
                <a:sym typeface="Arial"/>
              </a:rPr>
              <a:t> </a:t>
            </a:r>
            <a:r>
              <a:rPr lang="en-US" err="1">
                <a:latin typeface="Arial"/>
                <a:ea typeface="Arial"/>
                <a:cs typeface="Arial"/>
                <a:sym typeface="Arial"/>
              </a:rPr>
              <a:t>nhỏ</a:t>
            </a:r>
            <a:r>
              <a:rPr lang="en-US">
                <a:latin typeface="Arial"/>
                <a:ea typeface="Arial"/>
                <a:cs typeface="Arial"/>
                <a:sym typeface="Arial"/>
              </a:rPr>
              <a:t>, </a:t>
            </a:r>
            <a:r>
              <a:rPr lang="en-US" err="1">
                <a:latin typeface="Arial"/>
                <a:ea typeface="Arial"/>
                <a:cs typeface="Arial"/>
                <a:sym typeface="Arial"/>
              </a:rPr>
              <a:t>tồn</a:t>
            </a:r>
            <a:r>
              <a:rPr lang="en-US">
                <a:latin typeface="Arial"/>
                <a:ea typeface="Arial"/>
                <a:cs typeface="Arial"/>
                <a:sym typeface="Arial"/>
              </a:rPr>
              <a:t> </a:t>
            </a:r>
            <a:r>
              <a:rPr lang="en-US" err="1">
                <a:latin typeface="Arial"/>
                <a:ea typeface="Arial"/>
                <a:cs typeface="Arial"/>
                <a:sym typeface="Arial"/>
              </a:rPr>
              <a:t>tại</a:t>
            </a:r>
            <a:r>
              <a:rPr lang="en-US">
                <a:latin typeface="Arial"/>
                <a:ea typeface="Arial"/>
                <a:cs typeface="Arial"/>
                <a:sym typeface="Arial"/>
              </a:rPr>
              <a:t> </a:t>
            </a:r>
            <a:r>
              <a:rPr lang="en-US" err="1">
                <a:latin typeface="Arial"/>
                <a:ea typeface="Arial"/>
                <a:cs typeface="Arial"/>
                <a:sym typeface="Arial"/>
              </a:rPr>
              <a:t>kiểu</a:t>
            </a:r>
            <a:r>
              <a:rPr lang="en-US">
                <a:latin typeface="Arial"/>
                <a:ea typeface="Arial"/>
                <a:cs typeface="Arial"/>
                <a:sym typeface="Arial"/>
              </a:rPr>
              <a:t> </a:t>
            </a:r>
            <a:r>
              <a:rPr lang="en-US" err="1">
                <a:latin typeface="Arial"/>
                <a:ea typeface="Arial"/>
                <a:cs typeface="Arial"/>
                <a:sym typeface="Arial"/>
              </a:rPr>
              <a:t>gia</a:t>
            </a:r>
            <a:r>
              <a:rPr lang="en-US">
                <a:latin typeface="Arial"/>
                <a:ea typeface="Arial"/>
                <a:cs typeface="Arial"/>
                <a:sym typeface="Arial"/>
              </a:rPr>
              <a:t> </a:t>
            </a:r>
            <a:r>
              <a:rPr lang="en-US" err="1">
                <a:latin typeface="Arial"/>
                <a:ea typeface="Arial"/>
                <a:cs typeface="Arial"/>
                <a:sym typeface="Arial"/>
              </a:rPr>
              <a:t>đình</a:t>
            </a:r>
            <a:r>
              <a:rPr lang="en-US">
                <a:latin typeface="Arial"/>
                <a:ea typeface="Arial"/>
                <a:cs typeface="Arial"/>
                <a:sym typeface="Arial"/>
              </a:rPr>
              <a:t> </a:t>
            </a:r>
            <a:r>
              <a:rPr lang="en-US" err="1">
                <a:latin typeface="Arial"/>
                <a:ea typeface="Arial"/>
                <a:cs typeface="Arial"/>
                <a:sym typeface="Arial"/>
              </a:rPr>
              <a:t>hôn</a:t>
            </a:r>
            <a:r>
              <a:rPr lang="en-US">
                <a:latin typeface="Arial"/>
                <a:ea typeface="Arial"/>
                <a:cs typeface="Arial"/>
                <a:sym typeface="Arial"/>
              </a:rPr>
              <a:t> </a:t>
            </a:r>
            <a:r>
              <a:rPr lang="en-US" err="1">
                <a:latin typeface="Arial"/>
                <a:ea typeface="Arial"/>
                <a:cs typeface="Arial"/>
                <a:sym typeface="Arial"/>
              </a:rPr>
              <a:t>phối</a:t>
            </a:r>
            <a:r>
              <a:rPr lang="en-US">
                <a:latin typeface="Arial"/>
                <a:ea typeface="Arial"/>
                <a:cs typeface="Arial"/>
                <a:sym typeface="Arial"/>
              </a:rPr>
              <a:t> </a:t>
            </a:r>
            <a:endParaRPr/>
          </a:p>
          <a:p>
            <a:pPr marL="739775" lvl="0" indent="-511175" algn="just" rtl="0">
              <a:lnSpc>
                <a:spcPct val="150000"/>
              </a:lnSpc>
              <a:spcBef>
                <a:spcPts val="0"/>
              </a:spcBef>
              <a:spcAft>
                <a:spcPts val="0"/>
              </a:spcAft>
              <a:buClr>
                <a:schemeClr val="dk1"/>
              </a:buClr>
              <a:buSzPts val="2800"/>
              <a:buFont typeface="Arial"/>
              <a:buChar char="•"/>
            </a:pPr>
            <a:r>
              <a:rPr lang="en-US">
                <a:latin typeface="Arial"/>
                <a:ea typeface="Arial"/>
                <a:cs typeface="Arial"/>
                <a:sym typeface="Arial"/>
              </a:rPr>
              <a:t>Xu </a:t>
            </a:r>
            <a:r>
              <a:rPr lang="en-US" err="1">
                <a:latin typeface="Arial"/>
                <a:ea typeface="Arial"/>
                <a:cs typeface="Arial"/>
                <a:sym typeface="Arial"/>
              </a:rPr>
              <a:t>hướng</a:t>
            </a:r>
            <a:r>
              <a:rPr lang="en-US">
                <a:latin typeface="Arial"/>
                <a:ea typeface="Arial"/>
                <a:cs typeface="Arial"/>
                <a:sym typeface="Arial"/>
              </a:rPr>
              <a:t> </a:t>
            </a:r>
            <a:r>
              <a:rPr lang="en-US" err="1">
                <a:latin typeface="Arial"/>
                <a:ea typeface="Arial"/>
                <a:cs typeface="Arial"/>
                <a:sym typeface="Arial"/>
              </a:rPr>
              <a:t>sinh</a:t>
            </a:r>
            <a:r>
              <a:rPr lang="en-US">
                <a:latin typeface="Arial"/>
                <a:ea typeface="Arial"/>
                <a:cs typeface="Arial"/>
                <a:sym typeface="Arial"/>
              </a:rPr>
              <a:t> </a:t>
            </a:r>
            <a:r>
              <a:rPr lang="en-US" err="1">
                <a:latin typeface="Arial"/>
                <a:ea typeface="Arial"/>
                <a:cs typeface="Arial"/>
                <a:sym typeface="Arial"/>
              </a:rPr>
              <a:t>ít</a:t>
            </a:r>
            <a:r>
              <a:rPr lang="en-US">
                <a:latin typeface="Arial"/>
                <a:ea typeface="Arial"/>
                <a:cs typeface="Arial"/>
                <a:sym typeface="Arial"/>
              </a:rPr>
              <a:t> con </a:t>
            </a:r>
            <a:r>
              <a:rPr lang="en-US" err="1">
                <a:latin typeface="Arial"/>
                <a:ea typeface="Arial"/>
                <a:cs typeface="Arial"/>
                <a:sym typeface="Arial"/>
              </a:rPr>
              <a:t>và</a:t>
            </a:r>
            <a:r>
              <a:rPr lang="en-US">
                <a:latin typeface="Arial"/>
                <a:ea typeface="Arial"/>
                <a:cs typeface="Arial"/>
                <a:sym typeface="Arial"/>
              </a:rPr>
              <a:t> cha </a:t>
            </a:r>
            <a:r>
              <a:rPr lang="en-US" err="1">
                <a:latin typeface="Arial"/>
                <a:ea typeface="Arial"/>
                <a:cs typeface="Arial"/>
                <a:sym typeface="Arial"/>
              </a:rPr>
              <a:t>mẹ</a:t>
            </a:r>
            <a:r>
              <a:rPr lang="en-US">
                <a:latin typeface="Arial"/>
                <a:ea typeface="Arial"/>
                <a:cs typeface="Arial"/>
                <a:sym typeface="Arial"/>
              </a:rPr>
              <a:t> </a:t>
            </a:r>
            <a:r>
              <a:rPr lang="en-US" err="1">
                <a:latin typeface="Arial"/>
                <a:ea typeface="Arial"/>
                <a:cs typeface="Arial"/>
                <a:sym typeface="Arial"/>
              </a:rPr>
              <a:t>chăm</a:t>
            </a:r>
            <a:r>
              <a:rPr lang="en-US">
                <a:latin typeface="Arial"/>
                <a:ea typeface="Arial"/>
                <a:cs typeface="Arial"/>
                <a:sym typeface="Arial"/>
              </a:rPr>
              <a:t> </a:t>
            </a:r>
            <a:r>
              <a:rPr lang="en-US" err="1">
                <a:latin typeface="Arial"/>
                <a:ea typeface="Arial"/>
                <a:cs typeface="Arial"/>
                <a:sym typeface="Arial"/>
              </a:rPr>
              <a:t>sóc</a:t>
            </a:r>
            <a:r>
              <a:rPr lang="en-US">
                <a:latin typeface="Arial"/>
                <a:ea typeface="Arial"/>
                <a:cs typeface="Arial"/>
                <a:sym typeface="Arial"/>
              </a:rPr>
              <a:t> con </a:t>
            </a:r>
            <a:r>
              <a:rPr lang="en-US" err="1">
                <a:latin typeface="Arial"/>
                <a:ea typeface="Arial"/>
                <a:cs typeface="Arial"/>
                <a:sym typeface="Arial"/>
              </a:rPr>
              <a:t>đầy</a:t>
            </a:r>
            <a:r>
              <a:rPr lang="en-US">
                <a:latin typeface="Arial"/>
                <a:ea typeface="Arial"/>
                <a:cs typeface="Arial"/>
                <a:sym typeface="Arial"/>
              </a:rPr>
              <a:t> </a:t>
            </a:r>
            <a:r>
              <a:rPr lang="en-US" err="1">
                <a:latin typeface="Arial"/>
                <a:ea typeface="Arial"/>
                <a:cs typeface="Arial"/>
                <a:sym typeface="Arial"/>
              </a:rPr>
              <a:t>đủ</a:t>
            </a:r>
            <a:r>
              <a:rPr lang="en-US">
                <a:latin typeface="Arial"/>
                <a:ea typeface="Arial"/>
                <a:cs typeface="Arial"/>
                <a:sym typeface="Arial"/>
              </a:rPr>
              <a:t> </a:t>
            </a:r>
            <a:r>
              <a:rPr lang="en-US" err="1">
                <a:latin typeface="Arial"/>
                <a:ea typeface="Arial"/>
                <a:cs typeface="Arial"/>
                <a:sym typeface="Arial"/>
              </a:rPr>
              <a:t>hơn</a:t>
            </a:r>
            <a:endParaRPr>
              <a:latin typeface="Arial"/>
              <a:ea typeface="Arial"/>
              <a:cs typeface="Arial"/>
              <a:sym typeface="Arial"/>
            </a:endParaRPr>
          </a:p>
          <a:p>
            <a:pPr marL="739775" lvl="0" indent="-511175" algn="just" rtl="0">
              <a:lnSpc>
                <a:spcPct val="150000"/>
              </a:lnSpc>
              <a:spcBef>
                <a:spcPts val="0"/>
              </a:spcBef>
              <a:spcAft>
                <a:spcPts val="0"/>
              </a:spcAft>
              <a:buClr>
                <a:schemeClr val="dk1"/>
              </a:buClr>
              <a:buSzPts val="2800"/>
              <a:buFont typeface="Arial"/>
              <a:buChar char="•"/>
            </a:pPr>
            <a:r>
              <a:rPr lang="en-US" err="1">
                <a:latin typeface="Arial"/>
                <a:ea typeface="Arial"/>
                <a:cs typeface="Arial"/>
                <a:sym typeface="Arial"/>
              </a:rPr>
              <a:t>Hình</a:t>
            </a:r>
            <a:r>
              <a:rPr lang="en-US">
                <a:latin typeface="Arial"/>
                <a:ea typeface="Arial"/>
                <a:cs typeface="Arial"/>
                <a:sym typeface="Arial"/>
              </a:rPr>
              <a:t> </a:t>
            </a:r>
            <a:r>
              <a:rPr lang="en-US" err="1">
                <a:latin typeface="Arial"/>
                <a:ea typeface="Arial"/>
                <a:cs typeface="Arial"/>
                <a:sym typeface="Arial"/>
              </a:rPr>
              <a:t>thành</a:t>
            </a:r>
            <a:r>
              <a:rPr lang="en-US">
                <a:latin typeface="Arial"/>
                <a:ea typeface="Arial"/>
                <a:cs typeface="Arial"/>
                <a:sym typeface="Arial"/>
              </a:rPr>
              <a:t> </a:t>
            </a:r>
            <a:r>
              <a:rPr lang="en-US" err="1">
                <a:latin typeface="Arial"/>
                <a:ea typeface="Arial"/>
                <a:cs typeface="Arial"/>
                <a:sym typeface="Arial"/>
              </a:rPr>
              <a:t>loại</a:t>
            </a:r>
            <a:r>
              <a:rPr lang="en-US">
                <a:latin typeface="Arial"/>
                <a:ea typeface="Arial"/>
                <a:cs typeface="Arial"/>
                <a:sym typeface="Arial"/>
              </a:rPr>
              <a:t> </a:t>
            </a:r>
            <a:r>
              <a:rPr lang="en-US" err="1">
                <a:latin typeface="Arial"/>
                <a:ea typeface="Arial"/>
                <a:cs typeface="Arial"/>
                <a:sym typeface="Arial"/>
              </a:rPr>
              <a:t>gia</a:t>
            </a:r>
            <a:r>
              <a:rPr lang="en-US">
                <a:latin typeface="Arial"/>
                <a:ea typeface="Arial"/>
                <a:cs typeface="Arial"/>
                <a:sym typeface="Arial"/>
              </a:rPr>
              <a:t> </a:t>
            </a:r>
            <a:r>
              <a:rPr lang="en-US" err="1">
                <a:latin typeface="Arial"/>
                <a:ea typeface="Arial"/>
                <a:cs typeface="Arial"/>
                <a:sym typeface="Arial"/>
              </a:rPr>
              <a:t>đình</a:t>
            </a:r>
            <a:r>
              <a:rPr lang="en-US">
                <a:latin typeface="Arial"/>
                <a:ea typeface="Arial"/>
                <a:cs typeface="Arial"/>
                <a:sym typeface="Arial"/>
              </a:rPr>
              <a:t> </a:t>
            </a:r>
            <a:r>
              <a:rPr lang="en-US" err="1">
                <a:latin typeface="Arial"/>
                <a:ea typeface="Arial"/>
                <a:cs typeface="Arial"/>
                <a:sym typeface="Arial"/>
              </a:rPr>
              <a:t>chỉ</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bố</a:t>
            </a:r>
            <a:r>
              <a:rPr lang="en-US">
                <a:latin typeface="Arial"/>
                <a:ea typeface="Arial"/>
                <a:cs typeface="Arial"/>
                <a:sym typeface="Arial"/>
              </a:rPr>
              <a:t> </a:t>
            </a:r>
            <a:r>
              <a:rPr lang="en-US" err="1">
                <a:latin typeface="Arial"/>
                <a:ea typeface="Arial"/>
                <a:cs typeface="Arial"/>
                <a:sym typeface="Arial"/>
              </a:rPr>
              <a:t>hoặc</a:t>
            </a:r>
            <a:r>
              <a:rPr lang="en-US">
                <a:latin typeface="Arial"/>
                <a:ea typeface="Arial"/>
                <a:cs typeface="Arial"/>
                <a:sym typeface="Arial"/>
              </a:rPr>
              <a:t>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mẹ</a:t>
            </a:r>
            <a:r>
              <a:rPr lang="en-US">
                <a:latin typeface="Arial"/>
                <a:ea typeface="Arial"/>
                <a:cs typeface="Arial"/>
                <a:sym typeface="Arial"/>
              </a:rPr>
              <a:t> hay </a:t>
            </a:r>
            <a:r>
              <a:rPr lang="en-US" err="1">
                <a:latin typeface="Arial"/>
                <a:ea typeface="Arial"/>
                <a:cs typeface="Arial"/>
                <a:sym typeface="Arial"/>
              </a:rPr>
              <a:t>gia</a:t>
            </a:r>
            <a:r>
              <a:rPr lang="en-US">
                <a:latin typeface="Arial"/>
                <a:ea typeface="Arial"/>
                <a:cs typeface="Arial"/>
                <a:sym typeface="Arial"/>
              </a:rPr>
              <a:t> </a:t>
            </a:r>
            <a:r>
              <a:rPr lang="en-US" err="1">
                <a:latin typeface="Arial"/>
                <a:ea typeface="Arial"/>
                <a:cs typeface="Arial"/>
                <a:sym typeface="Arial"/>
              </a:rPr>
              <a:t>đình</a:t>
            </a:r>
            <a:r>
              <a:rPr lang="en-US">
                <a:latin typeface="Arial"/>
                <a:ea typeface="Arial"/>
                <a:cs typeface="Arial"/>
                <a:sym typeface="Arial"/>
              </a:rPr>
              <a:t> </a:t>
            </a:r>
            <a:r>
              <a:rPr lang="en-US" err="1">
                <a:latin typeface="Arial"/>
                <a:ea typeface="Arial"/>
                <a:cs typeface="Arial"/>
                <a:sym typeface="Arial"/>
              </a:rPr>
              <a:t>đồng</a:t>
            </a:r>
            <a:r>
              <a:rPr lang="en-US">
                <a:latin typeface="Arial"/>
                <a:ea typeface="Arial"/>
                <a:cs typeface="Arial"/>
                <a:sym typeface="Arial"/>
              </a:rPr>
              <a:t> </a:t>
            </a:r>
            <a:r>
              <a:rPr lang="en-US" err="1">
                <a:latin typeface="Arial"/>
                <a:ea typeface="Arial"/>
                <a:cs typeface="Arial"/>
                <a:sym typeface="Arial"/>
              </a:rPr>
              <a:t>tính</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hình</a:t>
            </a:r>
            <a:r>
              <a:rPr lang="en-US">
                <a:latin typeface="Arial"/>
                <a:ea typeface="Arial"/>
                <a:cs typeface="Arial"/>
                <a:sym typeface="Arial"/>
              </a:rPr>
              <a:t> </a:t>
            </a:r>
            <a:r>
              <a:rPr lang="en-US" err="1">
                <a:latin typeface="Arial"/>
                <a:ea typeface="Arial"/>
                <a:cs typeface="Arial"/>
                <a:sym typeface="Arial"/>
              </a:rPr>
              <a:t>thức</a:t>
            </a:r>
            <a:r>
              <a:rPr lang="en-US">
                <a:latin typeface="Arial"/>
                <a:ea typeface="Arial"/>
                <a:cs typeface="Arial"/>
                <a:sym typeface="Arial"/>
              </a:rPr>
              <a:t> </a:t>
            </a:r>
            <a:r>
              <a:rPr lang="en-US" err="1">
                <a:latin typeface="Arial"/>
                <a:ea typeface="Arial"/>
                <a:cs typeface="Arial"/>
                <a:sym typeface="Arial"/>
              </a:rPr>
              <a:t>gia</a:t>
            </a:r>
            <a:r>
              <a:rPr lang="en-US">
                <a:latin typeface="Arial"/>
                <a:ea typeface="Arial"/>
                <a:cs typeface="Arial"/>
                <a:sym typeface="Arial"/>
              </a:rPr>
              <a:t> </a:t>
            </a:r>
            <a:r>
              <a:rPr lang="en-US" err="1">
                <a:latin typeface="Arial"/>
                <a:ea typeface="Arial"/>
                <a:cs typeface="Arial"/>
                <a:sym typeface="Arial"/>
              </a:rPr>
              <a:t>đình</a:t>
            </a:r>
            <a:r>
              <a:rPr lang="en-US">
                <a:latin typeface="Arial"/>
                <a:ea typeface="Arial"/>
                <a:cs typeface="Arial"/>
                <a:sym typeface="Arial"/>
              </a:rPr>
              <a:t> </a:t>
            </a:r>
            <a:r>
              <a:rPr lang="en-US" err="1">
                <a:latin typeface="Arial"/>
                <a:ea typeface="Arial"/>
                <a:cs typeface="Arial"/>
                <a:sym typeface="Arial"/>
              </a:rPr>
              <a:t>ngày</a:t>
            </a:r>
            <a:r>
              <a:rPr lang="en-US">
                <a:latin typeface="Arial"/>
                <a:ea typeface="Arial"/>
                <a:cs typeface="Arial"/>
                <a:sym typeface="Arial"/>
              </a:rPr>
              <a:t> nay </a:t>
            </a:r>
            <a:r>
              <a:rPr lang="en-US" err="1">
                <a:latin typeface="Arial"/>
                <a:ea typeface="Arial"/>
                <a:cs typeface="Arial"/>
                <a:sym typeface="Arial"/>
              </a:rPr>
              <a:t>được</a:t>
            </a:r>
            <a:r>
              <a:rPr lang="en-US">
                <a:latin typeface="Arial"/>
                <a:ea typeface="Arial"/>
                <a:cs typeface="Arial"/>
                <a:sym typeface="Arial"/>
              </a:rPr>
              <a:t> </a:t>
            </a:r>
            <a:r>
              <a:rPr lang="en-US" err="1">
                <a:latin typeface="Arial"/>
                <a:ea typeface="Arial"/>
                <a:cs typeface="Arial"/>
                <a:sym typeface="Arial"/>
              </a:rPr>
              <a:t>nhìn</a:t>
            </a:r>
            <a:r>
              <a:rPr lang="en-US">
                <a:latin typeface="Arial"/>
                <a:ea typeface="Arial"/>
                <a:cs typeface="Arial"/>
                <a:sym typeface="Arial"/>
              </a:rPr>
              <a:t> </a:t>
            </a:r>
            <a:r>
              <a:rPr lang="en-US" err="1">
                <a:latin typeface="Arial"/>
                <a:ea typeface="Arial"/>
                <a:cs typeface="Arial"/>
                <a:sym typeface="Arial"/>
              </a:rPr>
              <a:t>nhận</a:t>
            </a:r>
            <a:r>
              <a:rPr lang="en-US">
                <a:latin typeface="Arial"/>
                <a:ea typeface="Arial"/>
                <a:cs typeface="Arial"/>
                <a:sym typeface="Arial"/>
              </a:rPr>
              <a:t> </a:t>
            </a:r>
            <a:r>
              <a:rPr lang="en-US" err="1">
                <a:latin typeface="Arial"/>
                <a:ea typeface="Arial"/>
                <a:cs typeface="Arial"/>
                <a:sym typeface="Arial"/>
              </a:rPr>
              <a:t>đa</a:t>
            </a:r>
            <a:r>
              <a:rPr lang="en-US">
                <a:latin typeface="Arial"/>
                <a:ea typeface="Arial"/>
                <a:cs typeface="Arial"/>
                <a:sym typeface="Arial"/>
              </a:rPr>
              <a:t> </a:t>
            </a:r>
            <a:r>
              <a:rPr lang="en-US" err="1">
                <a:latin typeface="Arial"/>
                <a:ea typeface="Arial"/>
                <a:cs typeface="Arial"/>
                <a:sym typeface="Arial"/>
              </a:rPr>
              <a:t>dạng</a:t>
            </a:r>
            <a:r>
              <a:rPr lang="en-US">
                <a:latin typeface="Arial"/>
                <a:ea typeface="Arial"/>
                <a:cs typeface="Arial"/>
                <a:sym typeface="Arial"/>
              </a:rPr>
              <a:t>. </a:t>
            </a:r>
            <a:endParaRPr/>
          </a:p>
          <a:p>
            <a:pPr marL="739775" lvl="0" indent="-511175" algn="just" rtl="0">
              <a:lnSpc>
                <a:spcPct val="150000"/>
              </a:lnSpc>
              <a:spcBef>
                <a:spcPts val="0"/>
              </a:spcBef>
              <a:spcAft>
                <a:spcPts val="0"/>
              </a:spcAft>
              <a:buClr>
                <a:schemeClr val="dk1"/>
              </a:buClr>
              <a:buSzPts val="2800"/>
              <a:buFont typeface="Arial"/>
              <a:buChar char="•"/>
            </a:pPr>
            <a:r>
              <a:rPr lang="en-US" err="1">
                <a:latin typeface="Arial"/>
                <a:ea typeface="Arial"/>
                <a:cs typeface="Arial"/>
                <a:sym typeface="Arial"/>
              </a:rPr>
              <a:t>Công</a:t>
            </a:r>
            <a:r>
              <a:rPr lang="en-US">
                <a:latin typeface="Arial"/>
                <a:ea typeface="Arial"/>
                <a:cs typeface="Arial"/>
                <a:sym typeface="Arial"/>
              </a:rPr>
              <a:t> </a:t>
            </a:r>
            <a:r>
              <a:rPr lang="en-US" err="1">
                <a:latin typeface="Arial"/>
                <a:ea typeface="Arial"/>
                <a:cs typeface="Arial"/>
                <a:sym typeface="Arial"/>
              </a:rPr>
              <a:t>tác</a:t>
            </a:r>
            <a:r>
              <a:rPr lang="en-US">
                <a:latin typeface="Arial"/>
                <a:ea typeface="Arial"/>
                <a:cs typeface="Arial"/>
                <a:sym typeface="Arial"/>
              </a:rPr>
              <a:t> </a:t>
            </a:r>
            <a:r>
              <a:rPr lang="en-US" err="1">
                <a:latin typeface="Arial"/>
                <a:ea typeface="Arial"/>
                <a:cs typeface="Arial"/>
                <a:sym typeface="Arial"/>
              </a:rPr>
              <a:t>kế</a:t>
            </a:r>
            <a:r>
              <a:rPr lang="en-US">
                <a:latin typeface="Arial"/>
                <a:ea typeface="Arial"/>
                <a:cs typeface="Arial"/>
                <a:sym typeface="Arial"/>
              </a:rPr>
              <a:t> </a:t>
            </a:r>
            <a:r>
              <a:rPr lang="en-US" err="1">
                <a:latin typeface="Arial"/>
                <a:ea typeface="Arial"/>
                <a:cs typeface="Arial"/>
                <a:sym typeface="Arial"/>
              </a:rPr>
              <a:t>hoạch</a:t>
            </a:r>
            <a:r>
              <a:rPr lang="en-US">
                <a:latin typeface="Arial"/>
                <a:ea typeface="Arial"/>
                <a:cs typeface="Arial"/>
                <a:sym typeface="Arial"/>
              </a:rPr>
              <a:t> </a:t>
            </a:r>
            <a:r>
              <a:rPr lang="en-US" err="1">
                <a:latin typeface="Arial"/>
                <a:ea typeface="Arial"/>
                <a:cs typeface="Arial"/>
                <a:sym typeface="Arial"/>
              </a:rPr>
              <a:t>hóa</a:t>
            </a:r>
            <a:r>
              <a:rPr lang="en-US">
                <a:latin typeface="Arial"/>
                <a:ea typeface="Arial"/>
                <a:cs typeface="Arial"/>
                <a:sym typeface="Arial"/>
              </a:rPr>
              <a:t> </a:t>
            </a:r>
            <a:r>
              <a:rPr lang="en-US" err="1">
                <a:latin typeface="Arial"/>
                <a:ea typeface="Arial"/>
                <a:cs typeface="Arial"/>
                <a:sym typeface="Arial"/>
              </a:rPr>
              <a:t>gia</a:t>
            </a:r>
            <a:r>
              <a:rPr lang="en-US">
                <a:latin typeface="Arial"/>
                <a:ea typeface="Arial"/>
                <a:cs typeface="Arial"/>
                <a:sym typeface="Arial"/>
              </a:rPr>
              <a:t> </a:t>
            </a:r>
            <a:r>
              <a:rPr lang="en-US" err="1">
                <a:latin typeface="Arial"/>
                <a:ea typeface="Arial"/>
                <a:cs typeface="Arial"/>
                <a:sym typeface="Arial"/>
              </a:rPr>
              <a:t>đình</a:t>
            </a:r>
            <a:r>
              <a:rPr lang="en-US">
                <a:latin typeface="Arial"/>
                <a:ea typeface="Arial"/>
                <a:cs typeface="Arial"/>
                <a:sym typeface="Arial"/>
              </a:rPr>
              <a:t>, </a:t>
            </a:r>
            <a:r>
              <a:rPr lang="en-US" err="1">
                <a:latin typeface="Arial"/>
                <a:ea typeface="Arial"/>
                <a:cs typeface="Arial"/>
                <a:sym typeface="Arial"/>
              </a:rPr>
              <a:t>sinh</a:t>
            </a:r>
            <a:r>
              <a:rPr lang="en-US">
                <a:latin typeface="Arial"/>
                <a:ea typeface="Arial"/>
                <a:cs typeface="Arial"/>
                <a:sym typeface="Arial"/>
              </a:rPr>
              <a:t> </a:t>
            </a:r>
            <a:r>
              <a:rPr lang="en-US" err="1">
                <a:latin typeface="Arial"/>
                <a:ea typeface="Arial"/>
                <a:cs typeface="Arial"/>
                <a:sym typeface="Arial"/>
              </a:rPr>
              <a:t>đẻ</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kế</a:t>
            </a:r>
            <a:r>
              <a:rPr lang="en-US">
                <a:latin typeface="Arial"/>
                <a:ea typeface="Arial"/>
                <a:cs typeface="Arial"/>
                <a:sym typeface="Arial"/>
              </a:rPr>
              <a:t> </a:t>
            </a:r>
            <a:r>
              <a:rPr lang="en-US" err="1">
                <a:latin typeface="Arial"/>
                <a:ea typeface="Arial"/>
                <a:cs typeface="Arial"/>
                <a:sym typeface="Arial"/>
              </a:rPr>
              <a:t>hoạch</a:t>
            </a:r>
            <a:r>
              <a:rPr lang="en-US">
                <a:latin typeface="Arial"/>
                <a:ea typeface="Arial"/>
                <a:cs typeface="Arial"/>
                <a:sym typeface="Arial"/>
              </a:rPr>
              <a:t> </a:t>
            </a:r>
            <a:r>
              <a:rPr lang="en-US" err="1">
                <a:latin typeface="Arial"/>
                <a:ea typeface="Arial"/>
                <a:cs typeface="Arial"/>
                <a:sym typeface="Arial"/>
              </a:rPr>
              <a:t>được</a:t>
            </a:r>
            <a:r>
              <a:rPr lang="en-US">
                <a:latin typeface="Arial"/>
                <a:ea typeface="Arial"/>
                <a:cs typeface="Arial"/>
                <a:sym typeface="Arial"/>
              </a:rPr>
              <a:t> </a:t>
            </a:r>
            <a:r>
              <a:rPr lang="en-US" err="1">
                <a:latin typeface="Arial"/>
                <a:ea typeface="Arial"/>
                <a:cs typeface="Arial"/>
                <a:sym typeface="Arial"/>
              </a:rPr>
              <a:t>thực</a:t>
            </a:r>
            <a:r>
              <a:rPr lang="en-US">
                <a:latin typeface="Arial"/>
                <a:ea typeface="Arial"/>
                <a:cs typeface="Arial"/>
                <a:sym typeface="Arial"/>
              </a:rPr>
              <a:t> </a:t>
            </a:r>
            <a:r>
              <a:rPr lang="en-US" err="1">
                <a:latin typeface="Arial"/>
                <a:ea typeface="Arial"/>
                <a:cs typeface="Arial"/>
                <a:sym typeface="Arial"/>
              </a:rPr>
              <a:t>hiện</a:t>
            </a:r>
            <a:r>
              <a:rPr lang="en-US">
                <a:latin typeface="Arial"/>
                <a:ea typeface="Arial"/>
                <a:cs typeface="Arial"/>
                <a:sym typeface="Arial"/>
              </a:rPr>
              <a:t> </a:t>
            </a:r>
            <a:r>
              <a:rPr lang="en-US" err="1">
                <a:latin typeface="Arial"/>
                <a:ea typeface="Arial"/>
                <a:cs typeface="Arial"/>
                <a:sym typeface="Arial"/>
              </a:rPr>
              <a:t>trong</a:t>
            </a:r>
            <a:r>
              <a:rPr lang="en-US">
                <a:latin typeface="Arial"/>
                <a:ea typeface="Arial"/>
                <a:cs typeface="Arial"/>
                <a:sym typeface="Arial"/>
              </a:rPr>
              <a:t> </a:t>
            </a:r>
            <a:r>
              <a:rPr lang="en-US" err="1">
                <a:latin typeface="Arial"/>
                <a:ea typeface="Arial"/>
                <a:cs typeface="Arial"/>
                <a:sym typeface="Arial"/>
              </a:rPr>
              <a:t>nhiều</a:t>
            </a:r>
            <a:r>
              <a:rPr lang="en-US">
                <a:latin typeface="Arial"/>
                <a:ea typeface="Arial"/>
                <a:cs typeface="Arial"/>
                <a:sym typeface="Arial"/>
              </a:rPr>
              <a:t> </a:t>
            </a:r>
            <a:r>
              <a:rPr lang="en-US" err="1">
                <a:latin typeface="Arial"/>
                <a:ea typeface="Arial"/>
                <a:cs typeface="Arial"/>
                <a:sym typeface="Arial"/>
              </a:rPr>
              <a:t>năm</a:t>
            </a:r>
            <a:r>
              <a:rPr lang="en-US">
                <a:latin typeface="Arial"/>
                <a:ea typeface="Arial"/>
                <a:cs typeface="Arial"/>
                <a:sym typeface="Arial"/>
              </a:rPr>
              <a:t> </a:t>
            </a:r>
            <a:r>
              <a:rPr lang="en-US" err="1">
                <a:latin typeface="Arial"/>
                <a:ea typeface="Arial"/>
                <a:cs typeface="Arial"/>
                <a:sym typeface="Arial"/>
              </a:rPr>
              <a:t>cũng</a:t>
            </a:r>
            <a:r>
              <a:rPr lang="en-US">
                <a:latin typeface="Arial"/>
                <a:ea typeface="Arial"/>
                <a:cs typeface="Arial"/>
                <a:sym typeface="Arial"/>
              </a:rPr>
              <a:t> </a:t>
            </a:r>
            <a:r>
              <a:rPr lang="en-US" err="1">
                <a:latin typeface="Arial"/>
                <a:ea typeface="Arial"/>
                <a:cs typeface="Arial"/>
                <a:sym typeface="Arial"/>
              </a:rPr>
              <a:t>làm</a:t>
            </a:r>
            <a:r>
              <a:rPr lang="en-US">
                <a:latin typeface="Arial"/>
                <a:ea typeface="Arial"/>
                <a:cs typeface="Arial"/>
                <a:sym typeface="Arial"/>
              </a:rPr>
              <a:t> </a:t>
            </a:r>
            <a:r>
              <a:rPr lang="en-US" err="1">
                <a:latin typeface="Arial"/>
                <a:ea typeface="Arial"/>
                <a:cs typeface="Arial"/>
                <a:sym typeface="Arial"/>
              </a:rPr>
              <a:t>biến</a:t>
            </a:r>
            <a:r>
              <a:rPr lang="en-US">
                <a:latin typeface="Arial"/>
                <a:ea typeface="Arial"/>
                <a:cs typeface="Arial"/>
                <a:sym typeface="Arial"/>
              </a:rPr>
              <a:t> </a:t>
            </a:r>
            <a:r>
              <a:rPr lang="en-US" err="1">
                <a:latin typeface="Arial"/>
                <a:ea typeface="Arial"/>
                <a:cs typeface="Arial"/>
                <a:sym typeface="Arial"/>
              </a:rPr>
              <a:t>đổi</a:t>
            </a:r>
            <a:r>
              <a:rPr lang="en-US">
                <a:latin typeface="Arial"/>
                <a:ea typeface="Arial"/>
                <a:cs typeface="Arial"/>
                <a:sym typeface="Arial"/>
              </a:rPr>
              <a:t> </a:t>
            </a:r>
            <a:r>
              <a:rPr lang="en-US" err="1">
                <a:latin typeface="Arial"/>
                <a:ea typeface="Arial"/>
                <a:cs typeface="Arial"/>
                <a:sym typeface="Arial"/>
              </a:rPr>
              <a:t>mạnh</a:t>
            </a:r>
            <a:r>
              <a:rPr lang="en-US">
                <a:latin typeface="Arial"/>
                <a:ea typeface="Arial"/>
                <a:cs typeface="Arial"/>
                <a:sym typeface="Arial"/>
              </a:rPr>
              <a:t> </a:t>
            </a:r>
            <a:r>
              <a:rPr lang="en-US" err="1">
                <a:latin typeface="Arial"/>
                <a:ea typeface="Arial"/>
                <a:cs typeface="Arial"/>
                <a:sym typeface="Arial"/>
              </a:rPr>
              <a:t>mẽ</a:t>
            </a:r>
            <a:r>
              <a:rPr lang="en-US">
                <a:latin typeface="Arial"/>
                <a:ea typeface="Arial"/>
                <a:cs typeface="Arial"/>
                <a:sym typeface="Arial"/>
              </a:rPr>
              <a:t> </a:t>
            </a:r>
            <a:r>
              <a:rPr lang="en-US" err="1">
                <a:latin typeface="Arial"/>
                <a:ea typeface="Arial"/>
                <a:cs typeface="Arial"/>
                <a:sym typeface="Arial"/>
              </a:rPr>
              <a:t>quy</a:t>
            </a:r>
            <a:r>
              <a:rPr lang="en-US">
                <a:latin typeface="Arial"/>
                <a:ea typeface="Arial"/>
                <a:cs typeface="Arial"/>
                <a:sym typeface="Arial"/>
              </a:rPr>
              <a:t> </a:t>
            </a:r>
            <a:r>
              <a:rPr lang="en-US" err="1">
                <a:latin typeface="Arial"/>
                <a:ea typeface="Arial"/>
                <a:cs typeface="Arial"/>
                <a:sym typeface="Arial"/>
              </a:rPr>
              <a:t>mô</a:t>
            </a:r>
            <a:r>
              <a:rPr lang="en-US">
                <a:latin typeface="Arial"/>
                <a:ea typeface="Arial"/>
                <a:cs typeface="Arial"/>
                <a:sym typeface="Arial"/>
              </a:rPr>
              <a:t>, </a:t>
            </a:r>
            <a:r>
              <a:rPr lang="en-US" err="1">
                <a:latin typeface="Arial"/>
                <a:ea typeface="Arial"/>
                <a:cs typeface="Arial"/>
                <a:sym typeface="Arial"/>
              </a:rPr>
              <a:t>cơ</a:t>
            </a:r>
            <a:r>
              <a:rPr lang="en-US">
                <a:latin typeface="Arial"/>
                <a:ea typeface="Arial"/>
                <a:cs typeface="Arial"/>
                <a:sym typeface="Arial"/>
              </a:rPr>
              <a:t> </a:t>
            </a:r>
            <a:r>
              <a:rPr lang="en-US" err="1">
                <a:latin typeface="Arial"/>
                <a:ea typeface="Arial"/>
                <a:cs typeface="Arial"/>
                <a:sym typeface="Arial"/>
              </a:rPr>
              <a:t>cấu</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chức</a:t>
            </a:r>
            <a:r>
              <a:rPr lang="en-US">
                <a:latin typeface="Arial"/>
                <a:ea typeface="Arial"/>
                <a:cs typeface="Arial"/>
                <a:sym typeface="Arial"/>
              </a:rPr>
              <a:t> </a:t>
            </a:r>
            <a:r>
              <a:rPr lang="en-US" err="1">
                <a:latin typeface="Arial"/>
                <a:ea typeface="Arial"/>
                <a:cs typeface="Arial"/>
                <a:sym typeface="Arial"/>
              </a:rPr>
              <a:t>năng</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gia</a:t>
            </a:r>
            <a:r>
              <a:rPr lang="en-US">
                <a:latin typeface="Arial"/>
                <a:ea typeface="Arial"/>
                <a:cs typeface="Arial"/>
                <a:sym typeface="Arial"/>
              </a:rPr>
              <a:t> </a:t>
            </a:r>
            <a:r>
              <a:rPr lang="en-US" err="1">
                <a:latin typeface="Arial"/>
                <a:ea typeface="Arial"/>
                <a:cs typeface="Arial"/>
                <a:sym typeface="Arial"/>
              </a:rPr>
              <a:t>đình</a:t>
            </a:r>
            <a:r>
              <a:rPr lang="en-US">
                <a:latin typeface="Arial"/>
                <a:ea typeface="Arial"/>
                <a:cs typeface="Arial"/>
                <a:sym typeface="Arial"/>
              </a:rPr>
              <a:t>. </a:t>
            </a:r>
            <a:endParaRPr/>
          </a:p>
          <a:p>
            <a:pPr marL="739775" lvl="0" indent="-333375" algn="just" rtl="0">
              <a:lnSpc>
                <a:spcPct val="150000"/>
              </a:lnSpc>
              <a:spcBef>
                <a:spcPts val="0"/>
              </a:spcBef>
              <a:spcAft>
                <a:spcPts val="0"/>
              </a:spcAft>
              <a:buClr>
                <a:schemeClr val="dk1"/>
              </a:buClr>
              <a:buSzPts val="2800"/>
              <a:buFont typeface="Noto Sans Symbols"/>
              <a:buNone/>
            </a:pPr>
            <a:endParaRPr>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10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vi-VN" sz="3200" b="1">
                <a:latin typeface="Arial"/>
                <a:ea typeface="Arial"/>
                <a:cs typeface="Arial"/>
                <a:sym typeface="Arial"/>
              </a:rPr>
              <a:t>2.2.</a:t>
            </a:r>
            <a:r>
              <a:rPr lang="en-US" sz="3200" b="1">
                <a:latin typeface="Arial"/>
                <a:ea typeface="Arial"/>
                <a:cs typeface="Arial"/>
                <a:sym typeface="Arial"/>
              </a:rPr>
              <a:t>3.3. </a:t>
            </a:r>
            <a:r>
              <a:rPr lang="en-US" sz="3200" b="1" err="1">
                <a:latin typeface="Arial"/>
                <a:ea typeface="Arial"/>
                <a:cs typeface="Arial"/>
                <a:sym typeface="Arial"/>
              </a:rPr>
              <a:t>Những</a:t>
            </a:r>
            <a:r>
              <a:rPr lang="en-US" sz="3200" b="1">
                <a:latin typeface="Arial"/>
                <a:ea typeface="Arial"/>
                <a:cs typeface="Arial"/>
                <a:sym typeface="Arial"/>
              </a:rPr>
              <a:t> </a:t>
            </a:r>
            <a:r>
              <a:rPr lang="en-US" sz="3200" b="1" err="1">
                <a:latin typeface="Arial"/>
                <a:ea typeface="Arial"/>
                <a:cs typeface="Arial"/>
                <a:sym typeface="Arial"/>
              </a:rPr>
              <a:t>quyết</a:t>
            </a:r>
            <a:r>
              <a:rPr lang="en-US" sz="3200" b="1">
                <a:latin typeface="Arial"/>
                <a:ea typeface="Arial"/>
                <a:cs typeface="Arial"/>
                <a:sym typeface="Arial"/>
              </a:rPr>
              <a:t> </a:t>
            </a:r>
            <a:r>
              <a:rPr lang="en-US" sz="3200" b="1" err="1">
                <a:latin typeface="Arial"/>
                <a:ea typeface="Arial"/>
                <a:cs typeface="Arial"/>
                <a:sym typeface="Arial"/>
              </a:rPr>
              <a:t>định</a:t>
            </a:r>
            <a:r>
              <a:rPr lang="en-US" sz="3200" b="1">
                <a:latin typeface="Arial"/>
                <a:ea typeface="Arial"/>
                <a:cs typeface="Arial"/>
                <a:sym typeface="Arial"/>
              </a:rPr>
              <a:t> </a:t>
            </a:r>
            <a:r>
              <a:rPr lang="en-US" sz="3200" b="1" err="1">
                <a:latin typeface="Arial"/>
                <a:ea typeface="Arial"/>
                <a:cs typeface="Arial"/>
                <a:sym typeface="Arial"/>
              </a:rPr>
              <a:t>mua</a:t>
            </a:r>
            <a:r>
              <a:rPr lang="en-US" sz="3200" b="1">
                <a:latin typeface="Arial"/>
                <a:ea typeface="Arial"/>
                <a:cs typeface="Arial"/>
                <a:sym typeface="Arial"/>
              </a:rPr>
              <a:t> </a:t>
            </a:r>
            <a:r>
              <a:rPr lang="en-US" sz="3200" b="1" err="1">
                <a:latin typeface="Arial"/>
                <a:ea typeface="Arial"/>
                <a:cs typeface="Arial"/>
                <a:sym typeface="Arial"/>
              </a:rPr>
              <a:t>hàng</a:t>
            </a:r>
            <a:r>
              <a:rPr lang="en-US" sz="3200" b="1">
                <a:latin typeface="Arial"/>
                <a:ea typeface="Arial"/>
                <a:cs typeface="Arial"/>
                <a:sym typeface="Arial"/>
              </a:rPr>
              <a:t> </a:t>
            </a:r>
            <a:r>
              <a:rPr lang="en-US" sz="3200" b="1" err="1">
                <a:latin typeface="Arial"/>
                <a:ea typeface="Arial"/>
                <a:cs typeface="Arial"/>
                <a:sym typeface="Arial"/>
              </a:rPr>
              <a:t>của</a:t>
            </a:r>
            <a:r>
              <a:rPr lang="en-US" sz="3200" b="1">
                <a:latin typeface="Arial"/>
                <a:ea typeface="Arial"/>
                <a:cs typeface="Arial"/>
                <a:sym typeface="Arial"/>
              </a:rPr>
              <a:t> </a:t>
            </a:r>
            <a:r>
              <a:rPr lang="en-US" sz="3200" b="1" err="1">
                <a:latin typeface="Arial"/>
                <a:ea typeface="Arial"/>
                <a:cs typeface="Arial"/>
                <a:sym typeface="Arial"/>
              </a:rPr>
              <a:t>gia</a:t>
            </a:r>
            <a:r>
              <a:rPr lang="en-US" sz="3200" b="1">
                <a:latin typeface="Arial"/>
                <a:ea typeface="Arial"/>
                <a:cs typeface="Arial"/>
                <a:sym typeface="Arial"/>
              </a:rPr>
              <a:t> </a:t>
            </a:r>
            <a:r>
              <a:rPr lang="en-US" sz="3200" b="1" err="1">
                <a:latin typeface="Arial"/>
                <a:ea typeface="Arial"/>
                <a:cs typeface="Arial"/>
                <a:sym typeface="Arial"/>
              </a:rPr>
              <a:t>đình</a:t>
            </a:r>
            <a:endParaRPr sz="3200" b="1">
              <a:latin typeface="Arial"/>
              <a:ea typeface="Arial"/>
              <a:cs typeface="Arial"/>
              <a:sym typeface="Arial"/>
            </a:endParaRPr>
          </a:p>
        </p:txBody>
      </p:sp>
      <p:sp>
        <p:nvSpPr>
          <p:cNvPr id="775" name="Google Shape;775;p104"/>
          <p:cNvSpPr txBox="1">
            <a:spLocks noGrp="1"/>
          </p:cNvSpPr>
          <p:nvPr>
            <p:ph type="body" idx="1"/>
          </p:nvPr>
        </p:nvSpPr>
        <p:spPr>
          <a:xfrm>
            <a:off x="646471" y="1200044"/>
            <a:ext cx="10515600" cy="1693044"/>
          </a:xfrm>
          <a:prstGeom prst="rect">
            <a:avLst/>
          </a:prstGeom>
          <a:noFill/>
          <a:ln>
            <a:noFill/>
          </a:ln>
        </p:spPr>
        <p:txBody>
          <a:bodyPr spcFirstLastPara="1" wrap="square" lIns="91425" tIns="45700" rIns="91425" bIns="45700" anchor="t" anchorCtr="0">
            <a:noAutofit/>
          </a:bodyPr>
          <a:lstStyle/>
          <a:p>
            <a:pPr marL="739775" lvl="0" indent="-511175" algn="just" rtl="0">
              <a:lnSpc>
                <a:spcPct val="150000"/>
              </a:lnSpc>
              <a:spcBef>
                <a:spcPts val="0"/>
              </a:spcBef>
              <a:spcAft>
                <a:spcPts val="0"/>
              </a:spcAft>
              <a:buClr>
                <a:schemeClr val="dk1"/>
              </a:buClr>
              <a:buSzPts val="2800"/>
              <a:buFont typeface="Noto Sans Symbols"/>
              <a:buChar char="❖"/>
            </a:pPr>
            <a:r>
              <a:rPr lang="en-US">
                <a:latin typeface="Arial"/>
                <a:ea typeface="Arial"/>
                <a:cs typeface="Arial"/>
                <a:sym typeface="Arial"/>
              </a:rPr>
              <a:t>Vai </a:t>
            </a:r>
            <a:r>
              <a:rPr lang="en-US" err="1">
                <a:latin typeface="Arial"/>
                <a:ea typeface="Arial"/>
                <a:cs typeface="Arial"/>
                <a:sym typeface="Arial"/>
              </a:rPr>
              <a:t>trò</a:t>
            </a:r>
            <a:r>
              <a:rPr lang="en-US">
                <a:latin typeface="Arial"/>
                <a:ea typeface="Arial"/>
                <a:cs typeface="Arial"/>
                <a:sym typeface="Arial"/>
              </a:rPr>
              <a:t> </a:t>
            </a:r>
            <a:r>
              <a:rPr lang="en-US" err="1">
                <a:latin typeface="Arial"/>
                <a:ea typeface="Arial"/>
                <a:cs typeface="Arial"/>
                <a:sym typeface="Arial"/>
              </a:rPr>
              <a:t>của</a:t>
            </a:r>
            <a:r>
              <a:rPr lang="en-US">
                <a:latin typeface="Arial"/>
                <a:ea typeface="Arial"/>
                <a:cs typeface="Arial"/>
                <a:sym typeface="Arial"/>
              </a:rPr>
              <a:t> </a:t>
            </a:r>
            <a:r>
              <a:rPr lang="en-US" err="1">
                <a:latin typeface="Arial"/>
                <a:ea typeface="Arial"/>
                <a:cs typeface="Arial"/>
                <a:sym typeface="Arial"/>
              </a:rPr>
              <a:t>chồng</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vơ</a:t>
            </a:r>
            <a:r>
              <a:rPr lang="en-US">
                <a:latin typeface="Arial"/>
                <a:ea typeface="Arial"/>
                <a:cs typeface="Arial"/>
                <a:sym typeface="Arial"/>
              </a:rPr>
              <a:t>̣ </a:t>
            </a:r>
            <a:r>
              <a:rPr lang="en-US" err="1">
                <a:latin typeface="Arial"/>
                <a:ea typeface="Arial"/>
                <a:cs typeface="Arial"/>
                <a:sym typeface="Arial"/>
              </a:rPr>
              <a:t>trong</a:t>
            </a:r>
            <a:r>
              <a:rPr lang="en-US">
                <a:latin typeface="Arial"/>
                <a:ea typeface="Arial"/>
                <a:cs typeface="Arial"/>
                <a:sym typeface="Arial"/>
              </a:rPr>
              <a:t> </a:t>
            </a:r>
            <a:r>
              <a:rPr lang="en-US" err="1">
                <a:latin typeface="Arial"/>
                <a:ea typeface="Arial"/>
                <a:cs typeface="Arial"/>
                <a:sym typeface="Arial"/>
              </a:rPr>
              <a:t>quyết</a:t>
            </a:r>
            <a:r>
              <a:rPr lang="en-US">
                <a:latin typeface="Arial"/>
                <a:ea typeface="Arial"/>
                <a:cs typeface="Arial"/>
                <a:sym typeface="Arial"/>
              </a:rPr>
              <a:t> </a:t>
            </a:r>
            <a:r>
              <a:rPr lang="en-US" err="1">
                <a:latin typeface="Arial"/>
                <a:ea typeface="Arial"/>
                <a:cs typeface="Arial"/>
                <a:sym typeface="Arial"/>
              </a:rPr>
              <a:t>định</a:t>
            </a:r>
            <a:r>
              <a:rPr lang="en-US">
                <a:latin typeface="Arial"/>
                <a:ea typeface="Arial"/>
                <a:cs typeface="Arial"/>
                <a:sym typeface="Arial"/>
              </a:rPr>
              <a:t> </a:t>
            </a:r>
            <a:r>
              <a:rPr lang="en-US" err="1">
                <a:latin typeface="Arial"/>
                <a:ea typeface="Arial"/>
                <a:cs typeface="Arial"/>
                <a:sym typeface="Arial"/>
              </a:rPr>
              <a:t>mua</a:t>
            </a:r>
            <a:r>
              <a:rPr lang="en-US">
                <a:latin typeface="Arial"/>
                <a:ea typeface="Arial"/>
                <a:cs typeface="Arial"/>
                <a:sym typeface="Arial"/>
              </a:rPr>
              <a:t> </a:t>
            </a:r>
            <a:r>
              <a:rPr lang="en-US" err="1">
                <a:latin typeface="Arial"/>
                <a:ea typeface="Arial"/>
                <a:cs typeface="Arial"/>
                <a:sym typeface="Arial"/>
              </a:rPr>
              <a:t>hàng</a:t>
            </a:r>
            <a:r>
              <a:rPr lang="en-US">
                <a:latin typeface="Arial"/>
                <a:ea typeface="Arial"/>
                <a:cs typeface="Arial"/>
                <a:sym typeface="Arial"/>
              </a:rPr>
              <a:t> </a:t>
            </a:r>
            <a:r>
              <a:rPr lang="en-US" err="1">
                <a:latin typeface="Arial"/>
                <a:ea typeface="Arial"/>
                <a:cs typeface="Arial"/>
                <a:sym typeface="Arial"/>
              </a:rPr>
              <a:t>gia</a:t>
            </a:r>
            <a:r>
              <a:rPr lang="en-US">
                <a:latin typeface="Arial"/>
                <a:ea typeface="Arial"/>
                <a:cs typeface="Arial"/>
                <a:sym typeface="Arial"/>
              </a:rPr>
              <a:t> </a:t>
            </a:r>
            <a:r>
              <a:rPr lang="en-US" err="1">
                <a:latin typeface="Arial"/>
                <a:ea typeface="Arial"/>
                <a:cs typeface="Arial"/>
                <a:sym typeface="Arial"/>
              </a:rPr>
              <a:t>đình</a:t>
            </a:r>
            <a:endParaRPr>
              <a:latin typeface="Arial"/>
              <a:ea typeface="Arial"/>
              <a:cs typeface="Arial"/>
              <a:sym typeface="Arial"/>
            </a:endParaRPr>
          </a:p>
          <a:p>
            <a:pPr marL="739775" lvl="0" indent="-333375" algn="just" rtl="0">
              <a:lnSpc>
                <a:spcPct val="150000"/>
              </a:lnSpc>
              <a:spcBef>
                <a:spcPts val="0"/>
              </a:spcBef>
              <a:spcAft>
                <a:spcPts val="0"/>
              </a:spcAft>
              <a:buClr>
                <a:schemeClr val="dk1"/>
              </a:buClr>
              <a:buSzPts val="2800"/>
              <a:buFont typeface="Noto Sans Symbols"/>
              <a:buNone/>
            </a:pPr>
            <a:endParaRPr>
              <a:latin typeface="Arial"/>
              <a:ea typeface="Arial"/>
              <a:cs typeface="Arial"/>
              <a:sym typeface="Arial"/>
            </a:endParaRPr>
          </a:p>
        </p:txBody>
      </p:sp>
      <p:graphicFrame>
        <p:nvGraphicFramePr>
          <p:cNvPr id="776" name="Google Shape;776;p104"/>
          <p:cNvGraphicFramePr/>
          <p:nvPr>
            <p:extLst>
              <p:ext uri="{D42A27DB-BD31-4B8C-83A1-F6EECF244321}">
                <p14:modId xmlns:p14="http://schemas.microsoft.com/office/powerpoint/2010/main" val="2799685455"/>
              </p:ext>
            </p:extLst>
          </p:nvPr>
        </p:nvGraphicFramePr>
        <p:xfrm>
          <a:off x="578930" y="1834196"/>
          <a:ext cx="11034150" cy="4480630"/>
        </p:xfrm>
        <a:graphic>
          <a:graphicData uri="http://schemas.openxmlformats.org/drawingml/2006/table">
            <a:tbl>
              <a:tblPr firstRow="1" bandRow="1">
                <a:noFill/>
                <a:tableStyleId>{392FFC7F-709E-4CD3-A213-31C4887D7C04}</a:tableStyleId>
              </a:tblPr>
              <a:tblGrid>
                <a:gridCol w="3678050">
                  <a:extLst>
                    <a:ext uri="{9D8B030D-6E8A-4147-A177-3AD203B41FA5}">
                      <a16:colId xmlns:a16="http://schemas.microsoft.com/office/drawing/2014/main" val="20000"/>
                    </a:ext>
                  </a:extLst>
                </a:gridCol>
                <a:gridCol w="2482300">
                  <a:extLst>
                    <a:ext uri="{9D8B030D-6E8A-4147-A177-3AD203B41FA5}">
                      <a16:colId xmlns:a16="http://schemas.microsoft.com/office/drawing/2014/main" val="20001"/>
                    </a:ext>
                  </a:extLst>
                </a:gridCol>
                <a:gridCol w="4873800">
                  <a:extLst>
                    <a:ext uri="{9D8B030D-6E8A-4147-A177-3AD203B41FA5}">
                      <a16:colId xmlns:a16="http://schemas.microsoft.com/office/drawing/2014/main" val="20002"/>
                    </a:ext>
                  </a:extLst>
                </a:gridCol>
              </a:tblGrid>
              <a:tr h="370850">
                <a:tc>
                  <a:txBody>
                    <a:bodyPr/>
                    <a:lstStyle/>
                    <a:p>
                      <a:pPr marL="0" marR="0" lvl="0" indent="0" algn="ctr" rtl="0">
                        <a:lnSpc>
                          <a:spcPct val="100000"/>
                        </a:lnSpc>
                        <a:spcBef>
                          <a:spcPts val="0"/>
                        </a:spcBef>
                        <a:spcAft>
                          <a:spcPts val="0"/>
                        </a:spcAft>
                        <a:buClr>
                          <a:srgbClr val="000000"/>
                        </a:buClr>
                        <a:buSzPts val="2400"/>
                        <a:buFont typeface="Arial"/>
                        <a:buNone/>
                      </a:pPr>
                      <a:r>
                        <a:rPr lang="en-US" sz="2100" u="none" strike="noStrike" cap="none" err="1">
                          <a:solidFill>
                            <a:schemeClr val="dk1"/>
                          </a:solidFill>
                          <a:latin typeface="+mj-lt"/>
                        </a:rPr>
                        <a:t>Sản</a:t>
                      </a:r>
                      <a:r>
                        <a:rPr lang="en-US" sz="2100" u="none" strike="noStrike" cap="none">
                          <a:solidFill>
                            <a:schemeClr val="dk1"/>
                          </a:solidFill>
                          <a:latin typeface="+mj-lt"/>
                        </a:rPr>
                        <a:t> </a:t>
                      </a:r>
                      <a:r>
                        <a:rPr lang="en-US" sz="2100" u="none" strike="noStrike" cap="none" err="1">
                          <a:solidFill>
                            <a:schemeClr val="dk1"/>
                          </a:solidFill>
                          <a:latin typeface="+mj-lt"/>
                        </a:rPr>
                        <a:t>phẩm</a:t>
                      </a:r>
                      <a:endParaRPr sz="2100" u="none" strike="noStrike" cap="none">
                        <a:solidFill>
                          <a:schemeClr val="dk1"/>
                        </a:solidFill>
                        <a:latin typeface="+mj-lt"/>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100" u="none" strike="noStrike" cap="none" err="1">
                          <a:solidFill>
                            <a:schemeClr val="dk1"/>
                          </a:solidFill>
                          <a:latin typeface="+mj-lt"/>
                        </a:rPr>
                        <a:t>Người</a:t>
                      </a:r>
                      <a:r>
                        <a:rPr lang="en-US" sz="2100" u="none" strike="noStrike" cap="none">
                          <a:solidFill>
                            <a:schemeClr val="dk1"/>
                          </a:solidFill>
                          <a:latin typeface="+mj-lt"/>
                        </a:rPr>
                        <a:t> </a:t>
                      </a:r>
                      <a:r>
                        <a:rPr lang="en-US" sz="2100" u="none" strike="noStrike" cap="none" err="1">
                          <a:solidFill>
                            <a:schemeClr val="dk1"/>
                          </a:solidFill>
                          <a:latin typeface="+mj-lt"/>
                        </a:rPr>
                        <a:t>quyết</a:t>
                      </a:r>
                      <a:r>
                        <a:rPr lang="en-US" sz="2100" u="none" strike="noStrike" cap="none">
                          <a:solidFill>
                            <a:schemeClr val="dk1"/>
                          </a:solidFill>
                          <a:latin typeface="+mj-lt"/>
                        </a:rPr>
                        <a:t> </a:t>
                      </a:r>
                      <a:r>
                        <a:rPr lang="en-US" sz="2100" u="none" strike="noStrike" cap="none" err="1">
                          <a:solidFill>
                            <a:schemeClr val="dk1"/>
                          </a:solidFill>
                          <a:latin typeface="+mj-lt"/>
                        </a:rPr>
                        <a:t>định</a:t>
                      </a:r>
                      <a:endParaRPr sz="2100" u="none" strike="noStrike" cap="none">
                        <a:solidFill>
                          <a:schemeClr val="dk1"/>
                        </a:solidFill>
                        <a:latin typeface="+mj-lt"/>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100" u="none" strike="noStrike" cap="none" err="1">
                          <a:solidFill>
                            <a:schemeClr val="dk1"/>
                          </a:solidFill>
                          <a:latin typeface="+mj-lt"/>
                        </a:rPr>
                        <a:t>Các</a:t>
                      </a:r>
                      <a:r>
                        <a:rPr lang="en-US" sz="2100" u="none" strike="noStrike" cap="none">
                          <a:solidFill>
                            <a:schemeClr val="dk1"/>
                          </a:solidFill>
                          <a:latin typeface="+mj-lt"/>
                        </a:rPr>
                        <a:t> </a:t>
                      </a:r>
                      <a:r>
                        <a:rPr lang="en-US" sz="2100" u="none" strike="noStrike" cap="none" err="1">
                          <a:solidFill>
                            <a:schemeClr val="dk1"/>
                          </a:solidFill>
                          <a:latin typeface="+mj-lt"/>
                        </a:rPr>
                        <a:t>quyết</a:t>
                      </a:r>
                      <a:r>
                        <a:rPr lang="en-US" sz="2100" u="none" strike="noStrike" cap="none">
                          <a:solidFill>
                            <a:schemeClr val="dk1"/>
                          </a:solidFill>
                          <a:latin typeface="+mj-lt"/>
                        </a:rPr>
                        <a:t> </a:t>
                      </a:r>
                      <a:r>
                        <a:rPr lang="en-US" sz="2100" u="none" strike="noStrike" cap="none" err="1">
                          <a:solidFill>
                            <a:schemeClr val="dk1"/>
                          </a:solidFill>
                          <a:latin typeface="+mj-lt"/>
                        </a:rPr>
                        <a:t>định</a:t>
                      </a:r>
                      <a:r>
                        <a:rPr lang="en-US" sz="2100" u="none" strike="noStrike" cap="none">
                          <a:solidFill>
                            <a:schemeClr val="dk1"/>
                          </a:solidFill>
                          <a:latin typeface="+mj-lt"/>
                        </a:rPr>
                        <a:t> </a:t>
                      </a:r>
                      <a:r>
                        <a:rPr lang="en-US" sz="2100" u="none" strike="noStrike" cap="none" err="1">
                          <a:solidFill>
                            <a:schemeClr val="dk1"/>
                          </a:solidFill>
                          <a:latin typeface="+mj-lt"/>
                        </a:rPr>
                        <a:t>điển</a:t>
                      </a:r>
                      <a:r>
                        <a:rPr lang="en-US" sz="2100" u="none" strike="noStrike" cap="none">
                          <a:solidFill>
                            <a:schemeClr val="dk1"/>
                          </a:solidFill>
                          <a:latin typeface="+mj-lt"/>
                        </a:rPr>
                        <a:t> </a:t>
                      </a:r>
                      <a:r>
                        <a:rPr lang="en-US" sz="2100" u="none" strike="noStrike" cap="none" err="1">
                          <a:solidFill>
                            <a:schemeClr val="dk1"/>
                          </a:solidFill>
                          <a:latin typeface="+mj-lt"/>
                        </a:rPr>
                        <a:t>hình</a:t>
                      </a:r>
                      <a:endParaRPr sz="2100" u="none" strike="noStrike" cap="none">
                        <a:solidFill>
                          <a:schemeClr val="dk1"/>
                        </a:solidFill>
                        <a:latin typeface="+mj-lt"/>
                      </a:endParaRPr>
                    </a:p>
                  </a:txBody>
                  <a:tcPr marL="91450" marR="91450" marT="45725" marB="45725">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100" u="none" strike="noStrike" cap="none">
                          <a:latin typeface="+mj-lt"/>
                        </a:rPr>
                        <a:t>Trang </a:t>
                      </a:r>
                      <a:r>
                        <a:rPr lang="en-US" sz="2100" u="none" strike="noStrike" cap="none" err="1">
                          <a:latin typeface="+mj-lt"/>
                        </a:rPr>
                        <a:t>phục</a:t>
                      </a:r>
                      <a:r>
                        <a:rPr lang="en-US" sz="2100" u="none" strike="noStrike" cap="none">
                          <a:latin typeface="+mj-lt"/>
                        </a:rPr>
                        <a:t> </a:t>
                      </a:r>
                      <a:r>
                        <a:rPr lang="en-US" sz="2100" u="none" strike="noStrike" cap="none" err="1">
                          <a:latin typeface="+mj-lt"/>
                        </a:rPr>
                        <a:t>thông</a:t>
                      </a:r>
                      <a:r>
                        <a:rPr lang="en-US" sz="2100" u="none" strike="noStrike" cap="none">
                          <a:latin typeface="+mj-lt"/>
                        </a:rPr>
                        <a:t> </a:t>
                      </a:r>
                      <a:r>
                        <a:rPr lang="en-US" sz="2100" u="none" strike="noStrike" cap="none" err="1">
                          <a:latin typeface="+mj-lt"/>
                        </a:rPr>
                        <a:t>thường</a:t>
                      </a:r>
                      <a:r>
                        <a:rPr lang="en-US" sz="2100" u="none" strike="noStrike" cap="none">
                          <a:latin typeface="+mj-lt"/>
                        </a:rPr>
                        <a:t> </a:t>
                      </a:r>
                      <a:r>
                        <a:rPr lang="en-US" sz="2100" u="none" strike="noStrike" cap="none" err="1">
                          <a:latin typeface="+mj-lt"/>
                        </a:rPr>
                        <a:t>của</a:t>
                      </a:r>
                      <a:r>
                        <a:rPr lang="en-US" sz="2100" u="none" strike="noStrike" cap="none">
                          <a:latin typeface="+mj-lt"/>
                        </a:rPr>
                        <a:t> </a:t>
                      </a:r>
                      <a:r>
                        <a:rPr lang="en-US" sz="2100" u="none" strike="noStrike" cap="none" err="1">
                          <a:latin typeface="+mj-lt"/>
                        </a:rPr>
                        <a:t>phụ</a:t>
                      </a:r>
                      <a:r>
                        <a:rPr lang="en-US" sz="2100" u="none" strike="noStrike" cap="none">
                          <a:latin typeface="+mj-lt"/>
                        </a:rPr>
                        <a:t> </a:t>
                      </a:r>
                      <a:r>
                        <a:rPr lang="en-US" sz="2100" u="none" strike="noStrike" cap="none" err="1">
                          <a:latin typeface="+mj-lt"/>
                        </a:rPr>
                        <a:t>nữ</a:t>
                      </a:r>
                      <a:endParaRPr sz="2100" u="none" strike="noStrike" cap="none">
                        <a:latin typeface="+mj-lt"/>
                      </a:endParaRPr>
                    </a:p>
                  </a:txBody>
                  <a:tcPr marL="91450" marR="91450" marT="45725" marB="45725"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100" u="none" strike="noStrike" cap="none">
                          <a:latin typeface="+mj-lt"/>
                        </a:rPr>
                        <a:t>Vợ</a:t>
                      </a:r>
                      <a:endParaRPr sz="2100" u="none" strike="noStrike" cap="none">
                        <a:latin typeface="+mj-lt"/>
                      </a:endParaRPr>
                    </a:p>
                  </a:txBody>
                  <a:tcPr marL="91450" marR="91450" marT="45725" marB="45725"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US" sz="2100" u="none" strike="noStrike" cap="none">
                          <a:latin typeface="+mj-lt"/>
                        </a:rPr>
                        <a:t>Giá và kiểu dáng</a:t>
                      </a:r>
                      <a:endParaRPr sz="2100" u="none" strike="noStrike" cap="none">
                        <a:latin typeface="+mj-lt"/>
                      </a:endParaRPr>
                    </a:p>
                  </a:txBody>
                  <a:tcPr marL="91450" marR="91450" marT="45725" marB="45725"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100" u="none" strike="noStrike" cap="none" err="1">
                          <a:latin typeface="+mj-lt"/>
                        </a:rPr>
                        <a:t>Kỳ</a:t>
                      </a:r>
                      <a:r>
                        <a:rPr lang="en-US" sz="2100" u="none" strike="noStrike" cap="none">
                          <a:latin typeface="+mj-lt"/>
                        </a:rPr>
                        <a:t> </a:t>
                      </a:r>
                      <a:r>
                        <a:rPr lang="en-US" sz="2100" u="none" strike="noStrike" cap="none" err="1">
                          <a:latin typeface="+mj-lt"/>
                        </a:rPr>
                        <a:t>nghỉ</a:t>
                      </a:r>
                      <a:endParaRPr sz="2100" u="none" strike="noStrike" cap="none">
                        <a:latin typeface="+mj-lt"/>
                      </a:endParaRPr>
                    </a:p>
                  </a:txBody>
                  <a:tcPr marL="91450" marR="91450" marT="45725" marB="45725"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100" u="none" strike="noStrike" cap="none">
                          <a:latin typeface="+mj-lt"/>
                        </a:rPr>
                        <a:t>Cả hai</a:t>
                      </a:r>
                      <a:endParaRPr sz="2100" u="none" strike="noStrike" cap="none">
                        <a:latin typeface="+mj-lt"/>
                      </a:endParaRPr>
                    </a:p>
                  </a:txBody>
                  <a:tcPr marL="91450" marR="91450" marT="45725" marB="45725"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US" sz="2100" u="none" strike="noStrike" cap="none">
                          <a:latin typeface="+mj-lt"/>
                        </a:rPr>
                        <a:t>Có nên đi hay không?</a:t>
                      </a:r>
                      <a:endParaRPr sz="2100" u="none" strike="noStrike" cap="none">
                        <a:latin typeface="+mj-lt"/>
                      </a:endParaRPr>
                    </a:p>
                    <a:p>
                      <a:pPr marL="0" marR="0" lvl="0" indent="0" algn="l" rtl="0">
                        <a:lnSpc>
                          <a:spcPct val="100000"/>
                        </a:lnSpc>
                        <a:spcBef>
                          <a:spcPts val="0"/>
                        </a:spcBef>
                        <a:spcAft>
                          <a:spcPts val="0"/>
                        </a:spcAft>
                        <a:buClr>
                          <a:srgbClr val="000000"/>
                        </a:buClr>
                        <a:buSzPts val="2000"/>
                        <a:buFont typeface="Arial"/>
                        <a:buNone/>
                      </a:pPr>
                      <a:r>
                        <a:rPr lang="en-US" sz="2100" u="none" strike="noStrike" cap="none">
                          <a:latin typeface="+mj-lt"/>
                        </a:rPr>
                        <a:t>Đi đâu</a:t>
                      </a:r>
                      <a:endParaRPr sz="2100" u="none" strike="noStrike" cap="none">
                        <a:latin typeface="+mj-lt"/>
                      </a:endParaRPr>
                    </a:p>
                  </a:txBody>
                  <a:tcPr marL="91450" marR="91450" marT="45725" marB="45725"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100" u="none" strike="noStrike" cap="none">
                          <a:latin typeface="+mj-lt"/>
                        </a:rPr>
                        <a:t>Các trang phục thông thường của nam</a:t>
                      </a:r>
                      <a:endParaRPr sz="2100" u="none" strike="noStrike" cap="none">
                        <a:latin typeface="+mj-lt"/>
                      </a:endParaRPr>
                    </a:p>
                  </a:txBody>
                  <a:tcPr marL="91450" marR="91450" marT="45725" marB="45725"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100" u="none" strike="noStrike" cap="none" err="1">
                          <a:latin typeface="+mj-lt"/>
                        </a:rPr>
                        <a:t>Chồng</a:t>
                      </a:r>
                      <a:endParaRPr sz="2100" u="none" strike="noStrike" cap="none">
                        <a:latin typeface="+mj-lt"/>
                      </a:endParaRPr>
                    </a:p>
                  </a:txBody>
                  <a:tcPr marL="91450" marR="91450" marT="45725" marB="45725"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US" sz="2100" u="none" strike="noStrike" cap="none">
                          <a:latin typeface="+mj-lt"/>
                        </a:rPr>
                        <a:t>Giá, kiểu dáng, loại sản phẩm</a:t>
                      </a:r>
                      <a:endParaRPr sz="2100" u="none" strike="noStrike" cap="none">
                        <a:latin typeface="+mj-lt"/>
                      </a:endParaRPr>
                    </a:p>
                  </a:txBody>
                  <a:tcPr marL="91450" marR="91450" marT="45725" marB="45725"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100" u="none" strike="noStrike" cap="none">
                          <a:latin typeface="+mj-lt"/>
                        </a:rPr>
                        <a:t>Bảo hiểm nhân thọ</a:t>
                      </a:r>
                      <a:endParaRPr sz="2100" u="none" strike="noStrike" cap="none">
                        <a:latin typeface="+mj-lt"/>
                      </a:endParaRPr>
                    </a:p>
                  </a:txBody>
                  <a:tcPr marL="91450" marR="91450" marT="45725" marB="45725"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100" u="none" strike="noStrike" cap="none">
                          <a:latin typeface="+mj-lt"/>
                        </a:rPr>
                        <a:t>Chồng</a:t>
                      </a:r>
                      <a:endParaRPr sz="2100" u="none" strike="noStrike" cap="none">
                        <a:latin typeface="+mj-lt"/>
                      </a:endParaRPr>
                    </a:p>
                  </a:txBody>
                  <a:tcPr marL="91450" marR="91450" marT="45725" marB="45725"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US" sz="2100" u="none" strike="noStrike" cap="none" err="1">
                          <a:latin typeface="+mj-lt"/>
                        </a:rPr>
                        <a:t>Doanh</a:t>
                      </a:r>
                      <a:r>
                        <a:rPr lang="en-US" sz="2100" u="none" strike="noStrike" cap="none">
                          <a:latin typeface="+mj-lt"/>
                        </a:rPr>
                        <a:t> </a:t>
                      </a:r>
                      <a:r>
                        <a:rPr lang="en-US" sz="2100" u="none" strike="noStrike" cap="none" err="1">
                          <a:latin typeface="+mj-lt"/>
                        </a:rPr>
                        <a:t>nghiệp</a:t>
                      </a:r>
                      <a:r>
                        <a:rPr lang="en-US" sz="2100" u="none" strike="noStrike" cap="none">
                          <a:latin typeface="+mj-lt"/>
                        </a:rPr>
                        <a:t> </a:t>
                      </a:r>
                      <a:r>
                        <a:rPr lang="en-US" sz="2100" u="none" strike="noStrike" cap="none" err="1">
                          <a:latin typeface="+mj-lt"/>
                        </a:rPr>
                        <a:t>cung</a:t>
                      </a:r>
                      <a:r>
                        <a:rPr lang="en-US" sz="2100" u="none" strike="noStrike" cap="none">
                          <a:latin typeface="+mj-lt"/>
                        </a:rPr>
                        <a:t> </a:t>
                      </a:r>
                      <a:r>
                        <a:rPr lang="en-US" sz="2100" u="none" strike="noStrike" cap="none" err="1">
                          <a:latin typeface="+mj-lt"/>
                        </a:rPr>
                        <a:t>cấp</a:t>
                      </a:r>
                      <a:r>
                        <a:rPr lang="en-US" sz="2100" u="none" strike="noStrike" cap="none">
                          <a:latin typeface="+mj-lt"/>
                        </a:rPr>
                        <a:t> </a:t>
                      </a:r>
                      <a:r>
                        <a:rPr lang="en-US" sz="2100" u="none" strike="noStrike" cap="none" err="1">
                          <a:latin typeface="+mj-lt"/>
                        </a:rPr>
                        <a:t>và</a:t>
                      </a:r>
                      <a:r>
                        <a:rPr lang="en-US" sz="2100" u="none" strike="noStrike" cap="none">
                          <a:latin typeface="+mj-lt"/>
                        </a:rPr>
                        <a:t> </a:t>
                      </a:r>
                      <a:r>
                        <a:rPr lang="en-US" sz="2100" u="none" strike="noStrike" cap="none" err="1">
                          <a:latin typeface="+mj-lt"/>
                        </a:rPr>
                        <a:t>độ</a:t>
                      </a:r>
                      <a:r>
                        <a:rPr lang="en-US" sz="2100" u="none" strike="noStrike" cap="none">
                          <a:latin typeface="+mj-lt"/>
                        </a:rPr>
                        <a:t> </a:t>
                      </a:r>
                      <a:r>
                        <a:rPr lang="en-US" sz="2100" u="none" strike="noStrike" cap="none" err="1">
                          <a:latin typeface="+mj-lt"/>
                        </a:rPr>
                        <a:t>phủ</a:t>
                      </a:r>
                      <a:r>
                        <a:rPr lang="en-US" sz="2100" u="none" strike="noStrike" cap="none">
                          <a:latin typeface="+mj-lt"/>
                        </a:rPr>
                        <a:t> </a:t>
                      </a:r>
                      <a:r>
                        <a:rPr lang="en-US" sz="2100" u="none" strike="noStrike" cap="none" err="1">
                          <a:latin typeface="+mj-lt"/>
                        </a:rPr>
                        <a:t>của</a:t>
                      </a:r>
                      <a:r>
                        <a:rPr lang="en-US" sz="2100" u="none" strike="noStrike" cap="none">
                          <a:latin typeface="+mj-lt"/>
                        </a:rPr>
                        <a:t> </a:t>
                      </a:r>
                      <a:r>
                        <a:rPr lang="en-US" sz="2100" u="none" strike="noStrike" cap="none" err="1">
                          <a:latin typeface="+mj-lt"/>
                        </a:rPr>
                        <a:t>doanh</a:t>
                      </a:r>
                      <a:r>
                        <a:rPr lang="en-US" sz="2100" u="none" strike="noStrike" cap="none">
                          <a:latin typeface="+mj-lt"/>
                        </a:rPr>
                        <a:t> </a:t>
                      </a:r>
                      <a:r>
                        <a:rPr lang="en-US" sz="2100" u="none" strike="noStrike" cap="none" err="1">
                          <a:latin typeface="+mj-lt"/>
                        </a:rPr>
                        <a:t>nghiệp</a:t>
                      </a:r>
                      <a:endParaRPr sz="2100" u="none" strike="noStrike" cap="none">
                        <a:latin typeface="+mj-lt"/>
                      </a:endParaRPr>
                    </a:p>
                  </a:txBody>
                  <a:tcPr marL="91450" marR="91450" marT="45725" marB="45725"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100" u="none" strike="noStrike" cap="none">
                          <a:latin typeface="+mj-lt"/>
                        </a:rPr>
                        <a:t>Bảo hiểm tài sản</a:t>
                      </a:r>
                      <a:endParaRPr sz="2100" u="none" strike="noStrike" cap="none">
                        <a:latin typeface="+mj-lt"/>
                      </a:endParaRPr>
                    </a:p>
                  </a:txBody>
                  <a:tcPr marL="91450" marR="91450" marT="45725" marB="45725"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100" u="none" strike="noStrike" cap="none">
                          <a:latin typeface="+mj-lt"/>
                        </a:rPr>
                        <a:t>Chồng</a:t>
                      </a:r>
                      <a:endParaRPr sz="2100" u="none" strike="noStrike" cap="none">
                        <a:latin typeface="+mj-lt"/>
                      </a:endParaRPr>
                    </a:p>
                  </a:txBody>
                  <a:tcPr marL="91450" marR="91450" marT="45725" marB="45725"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US" sz="2100" u="none" strike="noStrike" cap="none" err="1">
                          <a:latin typeface="+mj-lt"/>
                        </a:rPr>
                        <a:t>Doanh</a:t>
                      </a:r>
                      <a:r>
                        <a:rPr lang="en-US" sz="2100" u="none" strike="noStrike" cap="none">
                          <a:latin typeface="+mj-lt"/>
                        </a:rPr>
                        <a:t> </a:t>
                      </a:r>
                      <a:r>
                        <a:rPr lang="en-US" sz="2100" u="none" strike="noStrike" cap="none" err="1">
                          <a:latin typeface="+mj-lt"/>
                        </a:rPr>
                        <a:t>nghiệp</a:t>
                      </a:r>
                      <a:r>
                        <a:rPr lang="en-US" sz="2100" u="none" strike="noStrike" cap="none">
                          <a:latin typeface="+mj-lt"/>
                        </a:rPr>
                        <a:t> </a:t>
                      </a:r>
                      <a:r>
                        <a:rPr lang="en-US" sz="2100" u="none" strike="noStrike" cap="none" err="1">
                          <a:latin typeface="+mj-lt"/>
                        </a:rPr>
                        <a:t>cung</a:t>
                      </a:r>
                      <a:r>
                        <a:rPr lang="en-US" sz="2100" u="none" strike="noStrike" cap="none">
                          <a:latin typeface="+mj-lt"/>
                        </a:rPr>
                        <a:t> </a:t>
                      </a:r>
                      <a:r>
                        <a:rPr lang="en-US" sz="2100" u="none" strike="noStrike" cap="none" err="1">
                          <a:latin typeface="+mj-lt"/>
                        </a:rPr>
                        <a:t>cấp</a:t>
                      </a:r>
                      <a:r>
                        <a:rPr lang="en-US" sz="2100" u="none" strike="noStrike" cap="none">
                          <a:latin typeface="+mj-lt"/>
                        </a:rPr>
                        <a:t> </a:t>
                      </a:r>
                      <a:r>
                        <a:rPr lang="en-US" sz="2100" u="none" strike="noStrike" cap="none" err="1">
                          <a:latin typeface="+mj-lt"/>
                        </a:rPr>
                        <a:t>và</a:t>
                      </a:r>
                      <a:r>
                        <a:rPr lang="en-US" sz="2100" u="none" strike="noStrike" cap="none">
                          <a:latin typeface="+mj-lt"/>
                        </a:rPr>
                        <a:t> </a:t>
                      </a:r>
                      <a:r>
                        <a:rPr lang="en-US" sz="2100" u="none" strike="noStrike" cap="none" err="1">
                          <a:latin typeface="+mj-lt"/>
                        </a:rPr>
                        <a:t>độ</a:t>
                      </a:r>
                      <a:r>
                        <a:rPr lang="en-US" sz="2100" u="none" strike="noStrike" cap="none">
                          <a:latin typeface="+mj-lt"/>
                        </a:rPr>
                        <a:t> </a:t>
                      </a:r>
                      <a:r>
                        <a:rPr lang="en-US" sz="2100" u="none" strike="noStrike" cap="none" err="1">
                          <a:latin typeface="+mj-lt"/>
                        </a:rPr>
                        <a:t>phủ</a:t>
                      </a:r>
                      <a:r>
                        <a:rPr lang="en-US" sz="2100" u="none" strike="noStrike" cap="none">
                          <a:latin typeface="+mj-lt"/>
                        </a:rPr>
                        <a:t> </a:t>
                      </a:r>
                      <a:r>
                        <a:rPr lang="en-US" sz="2100" u="none" strike="noStrike" cap="none" err="1">
                          <a:latin typeface="+mj-lt"/>
                        </a:rPr>
                        <a:t>của</a:t>
                      </a:r>
                      <a:r>
                        <a:rPr lang="en-US" sz="2100" u="none" strike="noStrike" cap="none">
                          <a:latin typeface="+mj-lt"/>
                        </a:rPr>
                        <a:t> </a:t>
                      </a:r>
                      <a:r>
                        <a:rPr lang="en-US" sz="2100" u="none" strike="noStrike" cap="none" err="1">
                          <a:latin typeface="+mj-lt"/>
                        </a:rPr>
                        <a:t>doanh</a:t>
                      </a:r>
                      <a:r>
                        <a:rPr lang="en-US" sz="2100" u="none" strike="noStrike" cap="none">
                          <a:latin typeface="+mj-lt"/>
                        </a:rPr>
                        <a:t> </a:t>
                      </a:r>
                      <a:r>
                        <a:rPr lang="en-US" sz="2100" u="none" strike="noStrike" cap="none" err="1">
                          <a:latin typeface="+mj-lt"/>
                        </a:rPr>
                        <a:t>nghiệp</a:t>
                      </a:r>
                      <a:endParaRPr sz="2100" u="none" strike="noStrike" cap="none">
                        <a:latin typeface="+mj-lt"/>
                      </a:endParaRPr>
                    </a:p>
                  </a:txBody>
                  <a:tcPr marL="91450" marR="91450" marT="45725" marB="45725"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100" u="none" strike="noStrike" cap="none" err="1">
                          <a:latin typeface="+mj-lt"/>
                        </a:rPr>
                        <a:t>Đồ</a:t>
                      </a:r>
                      <a:r>
                        <a:rPr lang="en-US" sz="2100" u="none" strike="noStrike" cap="none">
                          <a:latin typeface="+mj-lt"/>
                        </a:rPr>
                        <a:t> </a:t>
                      </a:r>
                      <a:r>
                        <a:rPr lang="en-US" sz="2100" u="none" strike="noStrike" cap="none" err="1">
                          <a:latin typeface="+mj-lt"/>
                        </a:rPr>
                        <a:t>gia</a:t>
                      </a:r>
                      <a:r>
                        <a:rPr lang="en-US" sz="2100" u="none" strike="noStrike" cap="none">
                          <a:latin typeface="+mj-lt"/>
                        </a:rPr>
                        <a:t> </a:t>
                      </a:r>
                      <a:r>
                        <a:rPr lang="en-US" sz="2100" u="none" strike="noStrike" cap="none" err="1">
                          <a:latin typeface="+mj-lt"/>
                        </a:rPr>
                        <a:t>dụng</a:t>
                      </a:r>
                      <a:endParaRPr sz="2100" u="none" strike="noStrike" cap="none">
                        <a:latin typeface="+mj-lt"/>
                      </a:endParaRPr>
                    </a:p>
                  </a:txBody>
                  <a:tcPr marL="91450" marR="91450" marT="45725" marB="45725" anchor="ct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100" u="none" strike="noStrike" cap="none">
                          <a:latin typeface="+mj-lt"/>
                        </a:rPr>
                        <a:t>Vợ</a:t>
                      </a:r>
                      <a:endParaRPr sz="2100" u="none" strike="noStrike" cap="none">
                        <a:latin typeface="+mj-lt"/>
                      </a:endParaRPr>
                    </a:p>
                  </a:txBody>
                  <a:tcPr marL="91450" marR="91450" marT="45725" marB="45725"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2000"/>
                        <a:buFont typeface="Arial"/>
                        <a:buNone/>
                      </a:pPr>
                      <a:r>
                        <a:rPr lang="en-US" sz="2100" u="none" strike="noStrike" cap="none" err="1">
                          <a:latin typeface="+mj-lt"/>
                        </a:rPr>
                        <a:t>Loại</a:t>
                      </a:r>
                      <a:r>
                        <a:rPr lang="en-US" sz="2100" u="none" strike="noStrike" cap="none">
                          <a:latin typeface="+mj-lt"/>
                        </a:rPr>
                        <a:t> </a:t>
                      </a:r>
                      <a:r>
                        <a:rPr lang="en-US" sz="2100" u="none" strike="noStrike" cap="none" err="1">
                          <a:latin typeface="+mj-lt"/>
                        </a:rPr>
                        <a:t>sản</a:t>
                      </a:r>
                      <a:r>
                        <a:rPr lang="en-US" sz="2100" u="none" strike="noStrike" cap="none">
                          <a:latin typeface="+mj-lt"/>
                        </a:rPr>
                        <a:t> </a:t>
                      </a:r>
                      <a:r>
                        <a:rPr lang="en-US" sz="2100" u="none" strike="noStrike" cap="none" err="1">
                          <a:latin typeface="+mj-lt"/>
                        </a:rPr>
                        <a:t>phẩm</a:t>
                      </a:r>
                      <a:r>
                        <a:rPr lang="en-US" sz="2100" u="none" strike="noStrike" cap="none">
                          <a:latin typeface="+mj-lt"/>
                        </a:rPr>
                        <a:t>, </a:t>
                      </a:r>
                      <a:r>
                        <a:rPr lang="en-US" sz="2100" u="none" strike="noStrike" cap="none" err="1">
                          <a:latin typeface="+mj-lt"/>
                        </a:rPr>
                        <a:t>thương</a:t>
                      </a:r>
                      <a:r>
                        <a:rPr lang="en-US" sz="2100" u="none" strike="noStrike" cap="none">
                          <a:latin typeface="+mj-lt"/>
                        </a:rPr>
                        <a:t> </a:t>
                      </a:r>
                      <a:r>
                        <a:rPr lang="en-US" sz="2100" u="none" strike="noStrike" cap="none" err="1">
                          <a:latin typeface="+mj-lt"/>
                        </a:rPr>
                        <a:t>hiệu</a:t>
                      </a:r>
                      <a:r>
                        <a:rPr lang="en-US" sz="2100" u="none" strike="noStrike" cap="none">
                          <a:latin typeface="+mj-lt"/>
                        </a:rPr>
                        <a:t>, </a:t>
                      </a:r>
                      <a:r>
                        <a:rPr lang="en-US" sz="2100" u="none" strike="noStrike" cap="none" err="1">
                          <a:latin typeface="+mj-lt"/>
                        </a:rPr>
                        <a:t>giá</a:t>
                      </a:r>
                      <a:r>
                        <a:rPr lang="en-US" sz="2100" u="none" strike="noStrike" cap="none">
                          <a:latin typeface="+mj-lt"/>
                        </a:rPr>
                        <a:t> </a:t>
                      </a:r>
                      <a:r>
                        <a:rPr lang="en-US" sz="2100" u="none" strike="noStrike" cap="none" err="1">
                          <a:latin typeface="+mj-lt"/>
                        </a:rPr>
                        <a:t>cả</a:t>
                      </a:r>
                      <a:endParaRPr sz="2100" u="none" strike="noStrike" cap="none">
                        <a:latin typeface="+mj-lt"/>
                      </a:endParaRPr>
                    </a:p>
                  </a:txBody>
                  <a:tcPr marL="91450" marR="91450" marT="45725" marB="45725"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6"/>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105"/>
          <p:cNvSpPr txBox="1">
            <a:spLocks noGrp="1"/>
          </p:cNvSpPr>
          <p:nvPr>
            <p:ph type="title"/>
          </p:nvPr>
        </p:nvSpPr>
        <p:spPr>
          <a:xfrm>
            <a:off x="397933"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vi-VN" sz="3200" b="1">
                <a:latin typeface="Arial"/>
                <a:ea typeface="Arial"/>
                <a:cs typeface="Arial"/>
                <a:sym typeface="Arial"/>
              </a:rPr>
              <a:t>2.2.</a:t>
            </a:r>
            <a:r>
              <a:rPr lang="en-US" sz="3200" b="1">
                <a:latin typeface="Arial"/>
                <a:ea typeface="Arial"/>
                <a:cs typeface="Arial"/>
                <a:sym typeface="Arial"/>
              </a:rPr>
              <a:t>3.3 </a:t>
            </a:r>
            <a:r>
              <a:rPr lang="en-US" sz="3200" b="1" err="1">
                <a:latin typeface="Arial"/>
                <a:ea typeface="Arial"/>
                <a:cs typeface="Arial"/>
                <a:sym typeface="Arial"/>
              </a:rPr>
              <a:t>Những</a:t>
            </a:r>
            <a:r>
              <a:rPr lang="en-US" sz="3200" b="1">
                <a:latin typeface="Arial"/>
                <a:ea typeface="Arial"/>
                <a:cs typeface="Arial"/>
                <a:sym typeface="Arial"/>
              </a:rPr>
              <a:t> </a:t>
            </a:r>
            <a:r>
              <a:rPr lang="en-US" sz="3200" b="1" err="1">
                <a:latin typeface="Arial"/>
                <a:ea typeface="Arial"/>
                <a:cs typeface="Arial"/>
                <a:sym typeface="Arial"/>
              </a:rPr>
              <a:t>quyết</a:t>
            </a:r>
            <a:r>
              <a:rPr lang="en-US" sz="3200" b="1">
                <a:latin typeface="Arial"/>
                <a:ea typeface="Arial"/>
                <a:cs typeface="Arial"/>
                <a:sym typeface="Arial"/>
              </a:rPr>
              <a:t> </a:t>
            </a:r>
            <a:r>
              <a:rPr lang="en-US" sz="3200" b="1" err="1">
                <a:latin typeface="Arial"/>
                <a:ea typeface="Arial"/>
                <a:cs typeface="Arial"/>
                <a:sym typeface="Arial"/>
              </a:rPr>
              <a:t>định</a:t>
            </a:r>
            <a:r>
              <a:rPr lang="en-US" sz="3200" b="1">
                <a:latin typeface="Arial"/>
                <a:ea typeface="Arial"/>
                <a:cs typeface="Arial"/>
                <a:sym typeface="Arial"/>
              </a:rPr>
              <a:t> </a:t>
            </a:r>
            <a:r>
              <a:rPr lang="en-US" sz="3200" b="1" err="1">
                <a:latin typeface="Arial"/>
                <a:ea typeface="Arial"/>
                <a:cs typeface="Arial"/>
                <a:sym typeface="Arial"/>
              </a:rPr>
              <a:t>mua</a:t>
            </a:r>
            <a:r>
              <a:rPr lang="en-US" sz="3200" b="1">
                <a:latin typeface="Arial"/>
                <a:ea typeface="Arial"/>
                <a:cs typeface="Arial"/>
                <a:sym typeface="Arial"/>
              </a:rPr>
              <a:t> </a:t>
            </a:r>
            <a:r>
              <a:rPr lang="en-US" sz="3200" b="1" err="1">
                <a:latin typeface="Arial"/>
                <a:ea typeface="Arial"/>
                <a:cs typeface="Arial"/>
                <a:sym typeface="Arial"/>
              </a:rPr>
              <a:t>hàng</a:t>
            </a:r>
            <a:r>
              <a:rPr lang="en-US" sz="3200" b="1">
                <a:latin typeface="Arial"/>
                <a:ea typeface="Arial"/>
                <a:cs typeface="Arial"/>
                <a:sym typeface="Arial"/>
              </a:rPr>
              <a:t> </a:t>
            </a:r>
            <a:r>
              <a:rPr lang="en-US" sz="3200" b="1" err="1">
                <a:latin typeface="Arial"/>
                <a:ea typeface="Arial"/>
                <a:cs typeface="Arial"/>
                <a:sym typeface="Arial"/>
              </a:rPr>
              <a:t>của</a:t>
            </a:r>
            <a:r>
              <a:rPr lang="en-US" sz="3200" b="1">
                <a:latin typeface="Arial"/>
                <a:ea typeface="Arial"/>
                <a:cs typeface="Arial"/>
                <a:sym typeface="Arial"/>
              </a:rPr>
              <a:t> </a:t>
            </a:r>
            <a:r>
              <a:rPr lang="en-US" sz="3200" b="1" err="1">
                <a:latin typeface="Arial"/>
                <a:ea typeface="Arial"/>
                <a:cs typeface="Arial"/>
                <a:sym typeface="Arial"/>
              </a:rPr>
              <a:t>gia</a:t>
            </a:r>
            <a:r>
              <a:rPr lang="en-US" sz="3200" b="1">
                <a:latin typeface="Arial"/>
                <a:ea typeface="Arial"/>
                <a:cs typeface="Arial"/>
                <a:sym typeface="Arial"/>
              </a:rPr>
              <a:t> </a:t>
            </a:r>
            <a:r>
              <a:rPr lang="en-US" sz="3200" b="1" err="1">
                <a:latin typeface="Arial"/>
                <a:ea typeface="Arial"/>
                <a:cs typeface="Arial"/>
                <a:sym typeface="Arial"/>
              </a:rPr>
              <a:t>đình</a:t>
            </a:r>
            <a:endParaRPr sz="3200" b="1">
              <a:latin typeface="Arial"/>
              <a:ea typeface="Arial"/>
              <a:cs typeface="Arial"/>
              <a:sym typeface="Arial"/>
            </a:endParaRPr>
          </a:p>
        </p:txBody>
      </p:sp>
      <p:sp>
        <p:nvSpPr>
          <p:cNvPr id="782" name="Google Shape;782;p105"/>
          <p:cNvSpPr txBox="1">
            <a:spLocks noGrp="1"/>
          </p:cNvSpPr>
          <p:nvPr>
            <p:ph type="body" idx="1"/>
          </p:nvPr>
        </p:nvSpPr>
        <p:spPr>
          <a:xfrm>
            <a:off x="599058" y="1372486"/>
            <a:ext cx="10515600" cy="1693044"/>
          </a:xfrm>
          <a:prstGeom prst="rect">
            <a:avLst/>
          </a:prstGeom>
          <a:noFill/>
          <a:ln>
            <a:noFill/>
          </a:ln>
        </p:spPr>
        <p:txBody>
          <a:bodyPr spcFirstLastPara="1" wrap="square" lIns="91425" tIns="45700" rIns="91425" bIns="45700" anchor="t" anchorCtr="0">
            <a:noAutofit/>
          </a:bodyPr>
          <a:lstStyle/>
          <a:p>
            <a:pPr marL="739775" lvl="0" indent="-511175" algn="just" rtl="0">
              <a:lnSpc>
                <a:spcPct val="100000"/>
              </a:lnSpc>
              <a:spcBef>
                <a:spcPts val="0"/>
              </a:spcBef>
              <a:spcAft>
                <a:spcPts val="0"/>
              </a:spcAft>
              <a:buClr>
                <a:schemeClr val="dk1"/>
              </a:buClr>
              <a:buSzPts val="2800"/>
              <a:buFont typeface="Noto Sans Symbols"/>
              <a:buChar char="❖"/>
            </a:pPr>
            <a:r>
              <a:rPr lang="en-US">
                <a:latin typeface="Arial"/>
                <a:ea typeface="Arial"/>
                <a:cs typeface="Arial"/>
                <a:sym typeface="Arial"/>
              </a:rPr>
              <a:t>Vai trò của trẻ em trong quyết định mua hàng gia đình</a:t>
            </a:r>
            <a:endParaRPr>
              <a:latin typeface="Arial"/>
              <a:ea typeface="Arial"/>
              <a:cs typeface="Arial"/>
              <a:sym typeface="Arial"/>
            </a:endParaRPr>
          </a:p>
          <a:p>
            <a:pPr marL="685800" lvl="0" indent="-457200" algn="just" rtl="0">
              <a:lnSpc>
                <a:spcPct val="100000"/>
              </a:lnSpc>
              <a:spcBef>
                <a:spcPts val="0"/>
              </a:spcBef>
              <a:spcAft>
                <a:spcPts val="0"/>
              </a:spcAft>
              <a:buClr>
                <a:schemeClr val="dk1"/>
              </a:buClr>
              <a:buSzPts val="2800"/>
              <a:buFont typeface="Arial"/>
              <a:buChar char="•"/>
            </a:pPr>
            <a:r>
              <a:rPr lang="en-US">
                <a:latin typeface="Arial"/>
                <a:ea typeface="Arial"/>
                <a:cs typeface="Arial"/>
                <a:sym typeface="Arial"/>
              </a:rPr>
              <a:t>3 quyền lực với thị trường: </a:t>
            </a:r>
            <a:endParaRPr/>
          </a:p>
          <a:p>
            <a:pPr marL="1143000" lvl="1" indent="-457200" algn="just" rtl="0">
              <a:lnSpc>
                <a:spcPct val="100000"/>
              </a:lnSpc>
              <a:spcBef>
                <a:spcPts val="0"/>
              </a:spcBef>
              <a:spcAft>
                <a:spcPts val="0"/>
              </a:spcAft>
              <a:buClr>
                <a:schemeClr val="dk1"/>
              </a:buClr>
              <a:buSzPts val="2400"/>
              <a:buFont typeface="Arial"/>
              <a:buChar char="•"/>
            </a:pPr>
            <a:r>
              <a:rPr lang="en-US">
                <a:latin typeface="Arial"/>
                <a:ea typeface="Arial"/>
                <a:cs typeface="Arial"/>
                <a:sym typeface="Arial"/>
              </a:rPr>
              <a:t>Khả năng chi tiêu trực tiếp</a:t>
            </a:r>
            <a:endParaRPr>
              <a:latin typeface="Arial"/>
              <a:ea typeface="Arial"/>
              <a:cs typeface="Arial"/>
              <a:sym typeface="Arial"/>
            </a:endParaRPr>
          </a:p>
          <a:p>
            <a:pPr marL="1143000" lvl="1" indent="-457200" algn="just" rtl="0">
              <a:lnSpc>
                <a:spcPct val="100000"/>
              </a:lnSpc>
              <a:spcBef>
                <a:spcPts val="0"/>
              </a:spcBef>
              <a:spcAft>
                <a:spcPts val="0"/>
              </a:spcAft>
              <a:buClr>
                <a:schemeClr val="dk1"/>
              </a:buClr>
              <a:buSzPts val="2400"/>
              <a:buFont typeface="Arial"/>
              <a:buChar char="•"/>
            </a:pPr>
            <a:r>
              <a:rPr lang="en-US">
                <a:latin typeface="Arial"/>
                <a:ea typeface="Arial"/>
                <a:cs typeface="Arial"/>
                <a:sym typeface="Arial"/>
              </a:rPr>
              <a:t>Khả năng ảnh hưởng tới chi tiêu của bố mẹ</a:t>
            </a:r>
            <a:endParaRPr>
              <a:latin typeface="Arial"/>
              <a:ea typeface="Arial"/>
              <a:cs typeface="Arial"/>
              <a:sym typeface="Arial"/>
            </a:endParaRPr>
          </a:p>
          <a:p>
            <a:pPr marL="1143000" lvl="1" indent="-457200" algn="just" rtl="0">
              <a:lnSpc>
                <a:spcPct val="100000"/>
              </a:lnSpc>
              <a:spcBef>
                <a:spcPts val="0"/>
              </a:spcBef>
              <a:spcAft>
                <a:spcPts val="0"/>
              </a:spcAft>
              <a:buClr>
                <a:schemeClr val="dk1"/>
              </a:buClr>
              <a:buSzPts val="2400"/>
              <a:buFont typeface="Arial"/>
              <a:buChar char="•"/>
            </a:pPr>
            <a:r>
              <a:rPr lang="en-US">
                <a:latin typeface="Arial"/>
                <a:ea typeface="Arial"/>
                <a:cs typeface="Arial"/>
                <a:sym typeface="Arial"/>
              </a:rPr>
              <a:t>Là thị trường tương lai</a:t>
            </a:r>
            <a:endParaRPr>
              <a:latin typeface="Arial"/>
              <a:ea typeface="Arial"/>
              <a:cs typeface="Arial"/>
              <a:sym typeface="Arial"/>
            </a:endParaRPr>
          </a:p>
          <a:p>
            <a:pPr marL="685800" lvl="0" indent="-457200" algn="just" rtl="0">
              <a:lnSpc>
                <a:spcPct val="100000"/>
              </a:lnSpc>
              <a:spcBef>
                <a:spcPts val="0"/>
              </a:spcBef>
              <a:spcAft>
                <a:spcPts val="0"/>
              </a:spcAft>
              <a:buClr>
                <a:schemeClr val="dk1"/>
              </a:buClr>
              <a:buSzPts val="2800"/>
              <a:buFont typeface="Arial"/>
              <a:buChar char="•"/>
            </a:pPr>
            <a:r>
              <a:rPr lang="en-US">
                <a:latin typeface="Arial"/>
                <a:ea typeface="Arial"/>
                <a:cs typeface="Arial"/>
                <a:sym typeface="Arial"/>
              </a:rPr>
              <a:t>Khi còn nhỏ: ảnh hưởng đến việc mua đồ chơi, thức ăn, nước uống, nước ngọt, bánh kẹo… -&gt; ảnh hưởng thụ động</a:t>
            </a:r>
            <a:endParaRPr>
              <a:latin typeface="Arial"/>
              <a:ea typeface="Arial"/>
              <a:cs typeface="Arial"/>
              <a:sym typeface="Arial"/>
            </a:endParaRPr>
          </a:p>
          <a:p>
            <a:pPr marL="685800" lvl="0" indent="-457200" algn="just" rtl="0">
              <a:lnSpc>
                <a:spcPct val="100000"/>
              </a:lnSpc>
              <a:spcBef>
                <a:spcPts val="0"/>
              </a:spcBef>
              <a:spcAft>
                <a:spcPts val="0"/>
              </a:spcAft>
              <a:buClr>
                <a:schemeClr val="dk1"/>
              </a:buClr>
              <a:buSzPts val="2800"/>
              <a:buFont typeface="Arial"/>
              <a:buChar char="•"/>
            </a:pPr>
            <a:r>
              <a:rPr lang="en-US">
                <a:latin typeface="Arial"/>
                <a:ea typeface="Arial"/>
                <a:cs typeface="Arial"/>
                <a:sym typeface="Arial"/>
              </a:rPr>
              <a:t>Lớn hơn: là người quyết định mua quần áo, nơi giải trí, dịch vụ phim ảnh, tiệm ăn -&gt; ảnh hưởng tích cực</a:t>
            </a:r>
            <a:endParaRPr>
              <a:latin typeface="Arial"/>
              <a:ea typeface="Arial"/>
              <a:cs typeface="Arial"/>
              <a:sym typeface="Arial"/>
            </a:endParaRPr>
          </a:p>
          <a:p>
            <a:pPr marL="685800" lvl="0" indent="-457200" algn="just" rtl="0">
              <a:lnSpc>
                <a:spcPct val="100000"/>
              </a:lnSpc>
              <a:spcBef>
                <a:spcPts val="0"/>
              </a:spcBef>
              <a:spcAft>
                <a:spcPts val="0"/>
              </a:spcAft>
              <a:buClr>
                <a:schemeClr val="dk1"/>
              </a:buClr>
              <a:buSzPts val="2800"/>
              <a:buFont typeface="Arial"/>
              <a:buChar char="•"/>
            </a:pPr>
            <a:r>
              <a:rPr lang="en-US">
                <a:latin typeface="Arial"/>
                <a:ea typeface="Arial"/>
                <a:cs typeface="Arial"/>
                <a:sym typeface="Arial"/>
              </a:rPr>
              <a:t>Ảnh hưởng xảy ra trong nhiều giai đoạn của quá trình mua</a:t>
            </a:r>
            <a:endParaRPr>
              <a:latin typeface="Arial"/>
              <a:ea typeface="Arial"/>
              <a:cs typeface="Arial"/>
              <a:sym typeface="Arial"/>
            </a:endParaRPr>
          </a:p>
          <a:p>
            <a:pPr marL="685800" lvl="0" indent="-457200" algn="just" rtl="0">
              <a:lnSpc>
                <a:spcPct val="100000"/>
              </a:lnSpc>
              <a:spcBef>
                <a:spcPts val="0"/>
              </a:spcBef>
              <a:spcAft>
                <a:spcPts val="0"/>
              </a:spcAft>
              <a:buClr>
                <a:schemeClr val="dk1"/>
              </a:buClr>
              <a:buSzPts val="2800"/>
              <a:buFont typeface="Arial"/>
              <a:buChar char="•"/>
            </a:pPr>
            <a:r>
              <a:rPr lang="en-US">
                <a:latin typeface="Arial"/>
                <a:ea typeface="Arial"/>
                <a:cs typeface="Arial"/>
                <a:sym typeface="Arial"/>
              </a:rPr>
              <a:t>Các nhà tiếp thị nhắm quảng cáo vào trẻ em gây ra nhiều tranh cãi</a:t>
            </a:r>
            <a:endParaRPr>
              <a:latin typeface="Arial"/>
              <a:ea typeface="Arial"/>
              <a:cs typeface="Arial"/>
              <a:sym typeface="Arial"/>
            </a:endParaRPr>
          </a:p>
          <a:p>
            <a:pPr marL="739775" lvl="0" indent="-333375" algn="just" rtl="0">
              <a:lnSpc>
                <a:spcPct val="150000"/>
              </a:lnSpc>
              <a:spcBef>
                <a:spcPts val="0"/>
              </a:spcBef>
              <a:spcAft>
                <a:spcPts val="0"/>
              </a:spcAft>
              <a:buClr>
                <a:schemeClr val="dk1"/>
              </a:buClr>
              <a:buSzPts val="2800"/>
              <a:buFont typeface="Noto Sans Symbols"/>
              <a:buNone/>
            </a:pPr>
            <a:endParaRPr>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p106"/>
          <p:cNvSpPr txBox="1">
            <a:spLocks noGrp="1"/>
          </p:cNvSpPr>
          <p:nvPr>
            <p:ph type="title"/>
          </p:nvPr>
        </p:nvSpPr>
        <p:spPr>
          <a:xfrm>
            <a:off x="194733" y="-50556"/>
            <a:ext cx="11481896" cy="72789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vi-VN" sz="2800" b="1">
                <a:sym typeface="Arial"/>
              </a:rPr>
              <a:t>2.2.3.</a:t>
            </a:r>
            <a:r>
              <a:rPr lang="en-US" sz="2800" b="1">
                <a:sym typeface="Arial"/>
              </a:rPr>
              <a:t>4. Chu </a:t>
            </a:r>
            <a:r>
              <a:rPr lang="en-US" sz="2800" b="1" err="1">
                <a:sym typeface="Arial"/>
              </a:rPr>
              <a:t>kỳ</a:t>
            </a:r>
            <a:r>
              <a:rPr lang="en-US" sz="2800" b="1">
                <a:sym typeface="Arial"/>
              </a:rPr>
              <a:t> </a:t>
            </a:r>
            <a:r>
              <a:rPr lang="en-US" sz="2800" b="1" err="1">
                <a:sym typeface="Arial"/>
              </a:rPr>
              <a:t>đời</a:t>
            </a:r>
            <a:r>
              <a:rPr lang="en-US" sz="2800" b="1">
                <a:sym typeface="Arial"/>
              </a:rPr>
              <a:t> </a:t>
            </a:r>
            <a:r>
              <a:rPr lang="en-US" sz="2800" b="1" err="1">
                <a:sym typeface="Arial"/>
              </a:rPr>
              <a:t>sống</a:t>
            </a:r>
            <a:r>
              <a:rPr lang="en-US" sz="2800" b="1">
                <a:sym typeface="Arial"/>
              </a:rPr>
              <a:t> </a:t>
            </a:r>
            <a:r>
              <a:rPr lang="en-US" sz="2800" b="1" err="1">
                <a:sym typeface="Arial"/>
              </a:rPr>
              <a:t>gia</a:t>
            </a:r>
            <a:r>
              <a:rPr lang="en-US" sz="2800" b="1">
                <a:sym typeface="Arial"/>
              </a:rPr>
              <a:t> </a:t>
            </a:r>
            <a:r>
              <a:rPr lang="en-US" sz="2800" b="1" err="1">
                <a:sym typeface="Arial"/>
              </a:rPr>
              <a:t>đình</a:t>
            </a:r>
            <a:r>
              <a:rPr lang="en-US" sz="2800" b="1">
                <a:sym typeface="Arial"/>
              </a:rPr>
              <a:t> (Family Life Cycle - FLC)</a:t>
            </a:r>
            <a:endParaRPr sz="2800"/>
          </a:p>
        </p:txBody>
      </p:sp>
      <p:sp>
        <p:nvSpPr>
          <p:cNvPr id="788" name="Google Shape;788;p106"/>
          <p:cNvSpPr txBox="1"/>
          <p:nvPr/>
        </p:nvSpPr>
        <p:spPr>
          <a:xfrm>
            <a:off x="847866" y="581644"/>
            <a:ext cx="10175630" cy="474132"/>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dk1"/>
              </a:buClr>
              <a:buSzPts val="2800"/>
              <a:buFont typeface="Noto Sans Symbols"/>
              <a:buNone/>
            </a:pPr>
            <a:r>
              <a:rPr lang="en-US" sz="1600" b="1" i="0" u="none" strike="noStrike" cap="none" err="1">
                <a:solidFill>
                  <a:schemeClr val="dk1"/>
                </a:solidFill>
                <a:latin typeface="Arial"/>
                <a:ea typeface="Arial"/>
                <a:cs typeface="Arial"/>
                <a:sym typeface="Arial"/>
              </a:rPr>
              <a:t>Bảng</a:t>
            </a:r>
            <a:r>
              <a:rPr lang="en-US" sz="1600" b="1" i="0" u="none" strike="noStrike" cap="none">
                <a:solidFill>
                  <a:schemeClr val="dk1"/>
                </a:solidFill>
                <a:latin typeface="Arial"/>
                <a:ea typeface="Arial"/>
                <a:cs typeface="Arial"/>
                <a:sym typeface="Arial"/>
              </a:rPr>
              <a:t> 3.4: </a:t>
            </a:r>
            <a:r>
              <a:rPr lang="en-US" sz="1600" b="1" i="0" u="none" strike="noStrike" cap="none" err="1">
                <a:solidFill>
                  <a:schemeClr val="dk1"/>
                </a:solidFill>
                <a:latin typeface="Arial"/>
                <a:ea typeface="Arial"/>
                <a:cs typeface="Arial"/>
                <a:sym typeface="Arial"/>
              </a:rPr>
              <a:t>Đăc</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điểm</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tiêu</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dùng</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trong</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các</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giai</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đoạn</a:t>
            </a:r>
            <a:r>
              <a:rPr lang="en-US" sz="1600" b="1" i="0" u="none" strike="noStrike" cap="none">
                <a:solidFill>
                  <a:schemeClr val="dk1"/>
                </a:solidFill>
                <a:latin typeface="Arial"/>
                <a:ea typeface="Arial"/>
                <a:cs typeface="Arial"/>
                <a:sym typeface="Arial"/>
              </a:rPr>
              <a:t> </a:t>
            </a:r>
            <a:r>
              <a:rPr lang="en-US" sz="1600" b="1" i="0" u="none" strike="noStrike" cap="none" err="1">
                <a:solidFill>
                  <a:schemeClr val="dk1"/>
                </a:solidFill>
                <a:latin typeface="Arial"/>
                <a:ea typeface="Arial"/>
                <a:cs typeface="Arial"/>
                <a:sym typeface="Arial"/>
              </a:rPr>
              <a:t>của</a:t>
            </a:r>
            <a:r>
              <a:rPr lang="en-US" sz="1600" b="1" i="0" u="none" strike="noStrike" cap="none">
                <a:solidFill>
                  <a:schemeClr val="dk1"/>
                </a:solidFill>
                <a:latin typeface="Arial"/>
                <a:ea typeface="Arial"/>
                <a:cs typeface="Arial"/>
                <a:sym typeface="Arial"/>
              </a:rPr>
              <a:t> FLC</a:t>
            </a:r>
            <a:endParaRPr sz="1600" b="1" i="0" u="none" strike="noStrike" cap="none">
              <a:solidFill>
                <a:srgbClr val="000000"/>
              </a:solidFill>
              <a:latin typeface="Arial"/>
              <a:ea typeface="Arial"/>
              <a:cs typeface="Arial"/>
              <a:sym typeface="Arial"/>
            </a:endParaRPr>
          </a:p>
        </p:txBody>
      </p:sp>
      <p:graphicFrame>
        <p:nvGraphicFramePr>
          <p:cNvPr id="789" name="Google Shape;789;p106"/>
          <p:cNvGraphicFramePr/>
          <p:nvPr>
            <p:extLst>
              <p:ext uri="{D42A27DB-BD31-4B8C-83A1-F6EECF244321}">
                <p14:modId xmlns:p14="http://schemas.microsoft.com/office/powerpoint/2010/main" val="3696622548"/>
              </p:ext>
            </p:extLst>
          </p:nvPr>
        </p:nvGraphicFramePr>
        <p:xfrm>
          <a:off x="194732" y="1007091"/>
          <a:ext cx="11715327" cy="5765849"/>
        </p:xfrm>
        <a:graphic>
          <a:graphicData uri="http://schemas.openxmlformats.org/drawingml/2006/table">
            <a:tbl>
              <a:tblPr firstRow="1" bandRow="1">
                <a:noFill/>
                <a:tableStyleId>{842941DF-6950-4AD8-8181-9EE0D4A68B8B}</a:tableStyleId>
              </a:tblPr>
              <a:tblGrid>
                <a:gridCol w="2689620">
                  <a:extLst>
                    <a:ext uri="{9D8B030D-6E8A-4147-A177-3AD203B41FA5}">
                      <a16:colId xmlns:a16="http://schemas.microsoft.com/office/drawing/2014/main" val="20000"/>
                    </a:ext>
                  </a:extLst>
                </a:gridCol>
                <a:gridCol w="9025707">
                  <a:extLst>
                    <a:ext uri="{9D8B030D-6E8A-4147-A177-3AD203B41FA5}">
                      <a16:colId xmlns:a16="http://schemas.microsoft.com/office/drawing/2014/main" val="20001"/>
                    </a:ext>
                  </a:extLst>
                </a:gridCol>
              </a:tblGrid>
              <a:tr h="307736">
                <a:tc>
                  <a:txBody>
                    <a:bodyPr/>
                    <a:lstStyle/>
                    <a:p>
                      <a:pPr marL="0" marR="0" lvl="0" indent="0" algn="ctr" rtl="0">
                        <a:lnSpc>
                          <a:spcPct val="142857"/>
                        </a:lnSpc>
                        <a:spcBef>
                          <a:spcPts val="0"/>
                        </a:spcBef>
                        <a:spcAft>
                          <a:spcPts val="0"/>
                        </a:spcAft>
                        <a:buClr>
                          <a:srgbClr val="000000"/>
                        </a:buClr>
                        <a:buSzPts val="1400"/>
                        <a:buFont typeface="Arial"/>
                        <a:buNone/>
                      </a:pPr>
                      <a:r>
                        <a:rPr lang="en-US" sz="1000" b="1" u="none" strike="noStrike" cap="none">
                          <a:solidFill>
                            <a:schemeClr val="lt1"/>
                          </a:solidFill>
                          <a:latin typeface="Arial"/>
                          <a:ea typeface="Arial"/>
                          <a:cs typeface="Arial"/>
                          <a:sym typeface="Arial"/>
                        </a:rPr>
                        <a:t>Giai đoạn</a:t>
                      </a:r>
                      <a:endParaRPr sz="1000" b="1" u="none" strike="noStrike" cap="none">
                        <a:solidFill>
                          <a:schemeClr val="lt1"/>
                        </a:solidFill>
                        <a:latin typeface="Arial"/>
                        <a:ea typeface="Arial"/>
                        <a:cs typeface="Arial"/>
                        <a:sym typeface="Arial"/>
                      </a:endParaRPr>
                    </a:p>
                  </a:txBody>
                  <a:tcPr marL="18000" marR="18000" marT="4900" marB="0"/>
                </a:tc>
                <a:tc>
                  <a:txBody>
                    <a:bodyPr/>
                    <a:lstStyle/>
                    <a:p>
                      <a:pPr marL="0" marR="0" lvl="0" indent="0" algn="ctr" rtl="0">
                        <a:lnSpc>
                          <a:spcPct val="142857"/>
                        </a:lnSpc>
                        <a:spcBef>
                          <a:spcPts val="0"/>
                        </a:spcBef>
                        <a:spcAft>
                          <a:spcPts val="0"/>
                        </a:spcAft>
                        <a:buClr>
                          <a:srgbClr val="000000"/>
                        </a:buClr>
                        <a:buSzPts val="1400"/>
                        <a:buFont typeface="Arial"/>
                        <a:buNone/>
                      </a:pPr>
                      <a:r>
                        <a:rPr lang="en-US" sz="1000" b="1" u="none" strike="noStrike" cap="none" err="1">
                          <a:solidFill>
                            <a:schemeClr val="lt1"/>
                          </a:solidFill>
                          <a:latin typeface="Arial"/>
                          <a:ea typeface="Arial"/>
                          <a:cs typeface="Arial"/>
                          <a:sym typeface="Arial"/>
                        </a:rPr>
                        <a:t>Đặc</a:t>
                      </a:r>
                      <a:r>
                        <a:rPr lang="en-US" sz="1000" b="1" u="none" strike="noStrike" cap="none">
                          <a:solidFill>
                            <a:schemeClr val="lt1"/>
                          </a:solidFill>
                          <a:latin typeface="Arial"/>
                          <a:ea typeface="Arial"/>
                          <a:cs typeface="Arial"/>
                          <a:sym typeface="Arial"/>
                        </a:rPr>
                        <a:t> </a:t>
                      </a:r>
                      <a:r>
                        <a:rPr lang="en-US" sz="1000" b="1" u="none" strike="noStrike" cap="none" err="1">
                          <a:solidFill>
                            <a:schemeClr val="lt1"/>
                          </a:solidFill>
                          <a:latin typeface="Arial"/>
                          <a:ea typeface="Arial"/>
                          <a:cs typeface="Arial"/>
                          <a:sym typeface="Arial"/>
                        </a:rPr>
                        <a:t>điểm</a:t>
                      </a:r>
                      <a:r>
                        <a:rPr lang="en-US" sz="1000" b="1" u="none" strike="noStrike" cap="none">
                          <a:solidFill>
                            <a:schemeClr val="lt1"/>
                          </a:solidFill>
                          <a:latin typeface="Arial"/>
                          <a:ea typeface="Arial"/>
                          <a:cs typeface="Arial"/>
                          <a:sym typeface="Arial"/>
                        </a:rPr>
                        <a:t> </a:t>
                      </a:r>
                      <a:r>
                        <a:rPr lang="en-US" sz="1000" b="1" u="none" strike="noStrike" cap="none" err="1">
                          <a:solidFill>
                            <a:schemeClr val="lt1"/>
                          </a:solidFill>
                          <a:latin typeface="Arial"/>
                          <a:ea typeface="Arial"/>
                          <a:cs typeface="Arial"/>
                          <a:sym typeface="Arial"/>
                        </a:rPr>
                        <a:t>tiêu</a:t>
                      </a:r>
                      <a:r>
                        <a:rPr lang="en-US" sz="1000" b="1" u="none" strike="noStrike" cap="none">
                          <a:solidFill>
                            <a:schemeClr val="lt1"/>
                          </a:solidFill>
                          <a:latin typeface="Arial"/>
                          <a:ea typeface="Arial"/>
                          <a:cs typeface="Arial"/>
                          <a:sym typeface="Arial"/>
                        </a:rPr>
                        <a:t> </a:t>
                      </a:r>
                      <a:r>
                        <a:rPr lang="en-US" sz="1000" b="1" u="none" strike="noStrike" cap="none" err="1">
                          <a:solidFill>
                            <a:schemeClr val="lt1"/>
                          </a:solidFill>
                          <a:latin typeface="Arial"/>
                          <a:ea typeface="Arial"/>
                          <a:cs typeface="Arial"/>
                          <a:sym typeface="Arial"/>
                        </a:rPr>
                        <a:t>dùng</a:t>
                      </a:r>
                      <a:endParaRPr sz="1000" b="1" u="none" strike="noStrike" cap="none">
                        <a:solidFill>
                          <a:schemeClr val="lt1"/>
                        </a:solidFill>
                        <a:latin typeface="Arial"/>
                        <a:ea typeface="Arial"/>
                        <a:cs typeface="Arial"/>
                        <a:sym typeface="Arial"/>
                      </a:endParaRPr>
                    </a:p>
                  </a:txBody>
                  <a:tcPr marL="18000" marR="18000" marT="4900" marB="0"/>
                </a:tc>
                <a:extLst>
                  <a:ext uri="{0D108BD9-81ED-4DB2-BD59-A6C34878D82A}">
                    <a16:rowId xmlns:a16="http://schemas.microsoft.com/office/drawing/2014/main" val="10000"/>
                  </a:ext>
                </a:extLst>
              </a:tr>
              <a:tr h="738278">
                <a:tc>
                  <a:txBody>
                    <a:bodyPr/>
                    <a:lstStyle/>
                    <a:p>
                      <a:pPr marL="0" marR="0" lvl="0" indent="190500" algn="l" rtl="0">
                        <a:lnSpc>
                          <a:spcPct val="142857"/>
                        </a:lnSpc>
                        <a:spcBef>
                          <a:spcPts val="0"/>
                        </a:spcBef>
                        <a:spcAft>
                          <a:spcPts val="0"/>
                        </a:spcAft>
                        <a:buClr>
                          <a:srgbClr val="000000"/>
                        </a:buClr>
                        <a:buSzPts val="1400"/>
                        <a:buFont typeface="Arial"/>
                        <a:buNone/>
                      </a:pPr>
                      <a:r>
                        <a:rPr lang="en-US" sz="1200" u="none" strike="noStrike" cap="none">
                          <a:solidFill>
                            <a:schemeClr val="dk1"/>
                          </a:solidFill>
                          <a:latin typeface="Arial"/>
                          <a:ea typeface="Arial"/>
                          <a:cs typeface="Arial"/>
                          <a:sym typeface="Arial"/>
                        </a:rPr>
                        <a:t>1. </a:t>
                      </a:r>
                      <a:r>
                        <a:rPr lang="en-US" sz="1200" u="none" strike="noStrike" cap="none" err="1">
                          <a:solidFill>
                            <a:schemeClr val="dk1"/>
                          </a:solidFill>
                          <a:latin typeface="Arial"/>
                          <a:ea typeface="Arial"/>
                          <a:cs typeface="Arial"/>
                          <a:sym typeface="Arial"/>
                        </a:rPr>
                        <a:t>Thời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còn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trẻ</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độc</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thân</a:t>
                      </a:r>
                      <a:endParaRPr sz="1200" u="none" strike="noStrike" cap="none">
                        <a:solidFill>
                          <a:schemeClr val="dk1"/>
                        </a:solidFill>
                        <a:latin typeface="Arial"/>
                        <a:ea typeface="Arial"/>
                        <a:cs typeface="Arial"/>
                        <a:sym typeface="Arial"/>
                      </a:endParaRPr>
                    </a:p>
                  </a:txBody>
                  <a:tcPr marL="18000" marR="18000" marT="4900" marB="0" anchor="ctr"/>
                </a:tc>
                <a:tc>
                  <a:txBody>
                    <a:bodyPr/>
                    <a:lstStyle/>
                    <a:p>
                      <a:pPr marL="0" marR="0" lvl="0" indent="190500" algn="l" rtl="0">
                        <a:lnSpc>
                          <a:spcPct val="142857"/>
                        </a:lnSpc>
                        <a:spcBef>
                          <a:spcPts val="0"/>
                        </a:spcBef>
                        <a:spcAft>
                          <a:spcPts val="0"/>
                        </a:spcAft>
                        <a:buClr>
                          <a:srgbClr val="000000"/>
                        </a:buClr>
                        <a:buSzPts val="1400"/>
                        <a:buFont typeface="Arial"/>
                        <a:buNone/>
                      </a:pPr>
                      <a:r>
                        <a:rPr lang="en-US" sz="1200" u="none" strike="noStrike" cap="none">
                          <a:solidFill>
                            <a:schemeClr val="dk1"/>
                          </a:solidFill>
                          <a:latin typeface="Arial"/>
                          <a:ea typeface="Arial"/>
                          <a:cs typeface="Arial"/>
                          <a:sym typeface="Arial"/>
                        </a:rPr>
                        <a:t>Thu </a:t>
                      </a:r>
                      <a:r>
                        <a:rPr lang="en-US" sz="1200" u="none" strike="noStrike" cap="none" err="1">
                          <a:solidFill>
                            <a:schemeClr val="dk1"/>
                          </a:solidFill>
                          <a:latin typeface="Arial"/>
                          <a:ea typeface="Arial"/>
                          <a:cs typeface="Arial"/>
                          <a:sym typeface="Arial"/>
                        </a:rPr>
                        <a:t>nhập</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thấp</a:t>
                      </a:r>
                      <a:r>
                        <a:rPr lang="en-US" sz="1200" u="none" strike="noStrike" cap="none">
                          <a:solidFill>
                            <a:schemeClr val="dk1"/>
                          </a:solidFill>
                          <a:latin typeface="Arial"/>
                          <a:ea typeface="Arial"/>
                          <a:cs typeface="Arial"/>
                          <a:sym typeface="Arial"/>
                        </a:rPr>
                        <a:t>. </a:t>
                      </a:r>
                      <a:endParaRPr sz="1200" u="none" strike="noStrike" cap="none"/>
                    </a:p>
                    <a:p>
                      <a:pPr marL="0" marR="0" lvl="0" indent="190500" algn="l" rtl="0">
                        <a:lnSpc>
                          <a:spcPct val="142857"/>
                        </a:lnSpc>
                        <a:spcBef>
                          <a:spcPts val="0"/>
                        </a:spcBef>
                        <a:spcAft>
                          <a:spcPts val="0"/>
                        </a:spcAft>
                        <a:buClr>
                          <a:srgbClr val="000000"/>
                        </a:buClr>
                        <a:buSzPts val="1400"/>
                        <a:buFont typeface="Arial"/>
                        <a:buNone/>
                      </a:pPr>
                      <a:r>
                        <a:rPr lang="en-US" sz="1200" u="none" strike="noStrike" cap="none" err="1">
                          <a:solidFill>
                            <a:schemeClr val="dk1"/>
                          </a:solidFill>
                          <a:latin typeface="Arial"/>
                          <a:ea typeface="Arial"/>
                          <a:cs typeface="Arial"/>
                          <a:sym typeface="Arial"/>
                        </a:rPr>
                        <a:t>Hướng</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vê</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giải</a:t>
                      </a:r>
                      <a:r>
                        <a:rPr lang="en-US" sz="1200" u="none" strike="noStrike" cap="none">
                          <a:solidFill>
                            <a:schemeClr val="dk1"/>
                          </a:solidFill>
                          <a:latin typeface="Arial"/>
                          <a:ea typeface="Arial"/>
                          <a:cs typeface="Arial"/>
                          <a:sym typeface="Arial"/>
                        </a:rPr>
                        <a:t> trí </a:t>
                      </a:r>
                      <a:r>
                        <a:rPr lang="en-US" sz="1200" u="none" strike="noStrike" cap="none" err="1">
                          <a:solidFill>
                            <a:schemeClr val="dk1"/>
                          </a:solidFill>
                          <a:latin typeface="Arial"/>
                          <a:ea typeface="Arial"/>
                          <a:cs typeface="Arial"/>
                          <a:sym typeface="Arial"/>
                        </a:rPr>
                        <a:t>va</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quan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tâm</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đến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thời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trang</a:t>
                      </a:r>
                      <a:r>
                        <a:rPr lang="en-US" sz="1200" u="none" strike="noStrike" cap="none">
                          <a:solidFill>
                            <a:schemeClr val="dk1"/>
                          </a:solidFill>
                          <a:latin typeface="Arial"/>
                          <a:ea typeface="Arial"/>
                          <a:cs typeface="Arial"/>
                          <a:sym typeface="Arial"/>
                        </a:rPr>
                        <a:t>. </a:t>
                      </a:r>
                      <a:endParaRPr sz="1200" u="none" strike="noStrike" cap="none"/>
                    </a:p>
                    <a:p>
                      <a:pPr marL="0" marR="0" lvl="0" indent="190500" algn="l" rtl="0">
                        <a:lnSpc>
                          <a:spcPct val="142857"/>
                        </a:lnSpc>
                        <a:spcBef>
                          <a:spcPts val="0"/>
                        </a:spcBef>
                        <a:spcAft>
                          <a:spcPts val="0"/>
                        </a:spcAft>
                        <a:buClr>
                          <a:srgbClr val="000000"/>
                        </a:buClr>
                        <a:buSzPts val="1400"/>
                        <a:buFont typeface="Arial"/>
                        <a:buNone/>
                      </a:pPr>
                      <a:r>
                        <a:rPr lang="en-US" sz="1200" u="none" strike="noStrike" cap="none" err="1">
                          <a:solidFill>
                            <a:schemeClr val="dk1"/>
                          </a:solidFill>
                          <a:latin typeface="Arial"/>
                          <a:ea typeface="Arial"/>
                          <a:cs typeface="Arial"/>
                          <a:sym typeface="Arial"/>
                        </a:rPr>
                        <a:t>Mua</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sắm</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sản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phẩm</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tiêu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dùng</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hằng</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ngày</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xe</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máy</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quần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áo</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điện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thoại</a:t>
                      </a:r>
                      <a:r>
                        <a:rPr lang="en-US" sz="1200" u="none" strike="noStrike" cap="none">
                          <a:solidFill>
                            <a:schemeClr val="dk1"/>
                          </a:solidFill>
                          <a:latin typeface="Arial"/>
                          <a:ea typeface="Arial"/>
                          <a:cs typeface="Arial"/>
                          <a:sym typeface="Arial"/>
                        </a:rPr>
                        <a:t> di </a:t>
                      </a:r>
                      <a:r>
                        <a:rPr lang="en-US" sz="1200" u="none" strike="noStrike" cap="none" err="1">
                          <a:solidFill>
                            <a:schemeClr val="dk1"/>
                          </a:solidFill>
                          <a:latin typeface="Arial"/>
                          <a:ea typeface="Arial"/>
                          <a:cs typeface="Arial"/>
                          <a:sym typeface="Arial"/>
                        </a:rPr>
                        <a:t>động</a:t>
                      </a:r>
                      <a:r>
                        <a:rPr lang="en-US" sz="1200" u="none" strike="noStrike" cap="none">
                          <a:solidFill>
                            <a:schemeClr val="dk1"/>
                          </a:solidFill>
                          <a:latin typeface="Arial"/>
                          <a:ea typeface="Arial"/>
                          <a:cs typeface="Arial"/>
                          <a:sym typeface="Arial"/>
                        </a:rPr>
                        <a:t>…</a:t>
                      </a:r>
                      <a:endParaRPr sz="1200" u="none" strike="noStrike" cap="none">
                        <a:solidFill>
                          <a:schemeClr val="dk1"/>
                        </a:solidFill>
                        <a:latin typeface="Arial"/>
                        <a:ea typeface="Arial"/>
                        <a:cs typeface="Arial"/>
                        <a:sym typeface="Arial"/>
                      </a:endParaRPr>
                    </a:p>
                  </a:txBody>
                  <a:tcPr marL="18000" marR="18000" marT="4900" marB="0" anchor="ctr"/>
                </a:tc>
                <a:extLst>
                  <a:ext uri="{0D108BD9-81ED-4DB2-BD59-A6C34878D82A}">
                    <a16:rowId xmlns:a16="http://schemas.microsoft.com/office/drawing/2014/main" val="10001"/>
                  </a:ext>
                </a:extLst>
              </a:tr>
              <a:tr h="747662">
                <a:tc>
                  <a:txBody>
                    <a:bodyPr/>
                    <a:lstStyle/>
                    <a:p>
                      <a:pPr marL="0" marR="0" lvl="0" indent="190500" algn="l" rtl="0">
                        <a:lnSpc>
                          <a:spcPct val="142857"/>
                        </a:lnSpc>
                        <a:spcBef>
                          <a:spcPts val="0"/>
                        </a:spcBef>
                        <a:spcAft>
                          <a:spcPts val="0"/>
                        </a:spcAft>
                        <a:buClr>
                          <a:srgbClr val="000000"/>
                        </a:buClr>
                        <a:buSzPts val="1400"/>
                        <a:buFont typeface="Arial"/>
                        <a:buNone/>
                      </a:pPr>
                      <a:r>
                        <a:rPr lang="en-US" sz="1200" u="none" strike="noStrike" cap="none">
                          <a:solidFill>
                            <a:schemeClr val="dk1"/>
                          </a:solidFill>
                          <a:latin typeface="Arial"/>
                          <a:ea typeface="Arial"/>
                          <a:cs typeface="Arial"/>
                          <a:sym typeface="Arial"/>
                        </a:rPr>
                        <a:t>2. </a:t>
                      </a:r>
                      <a:r>
                        <a:rPr lang="en-US" sz="1200" u="none" strike="noStrike" cap="none" err="1">
                          <a:solidFill>
                            <a:schemeClr val="dk1"/>
                          </a:solidFill>
                          <a:latin typeface="Arial"/>
                          <a:ea typeface="Arial"/>
                          <a:cs typeface="Arial"/>
                          <a:sym typeface="Arial"/>
                        </a:rPr>
                        <a:t>Vơ</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chồng</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tre</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chưa</a:t>
                      </a:r>
                      <a:r>
                        <a:rPr lang="en-US" sz="1200" u="none" strike="noStrike" cap="none">
                          <a:solidFill>
                            <a:schemeClr val="dk1"/>
                          </a:solidFill>
                          <a:latin typeface="Arial"/>
                          <a:ea typeface="Arial"/>
                          <a:cs typeface="Arial"/>
                          <a:sym typeface="Arial"/>
                        </a:rPr>
                        <a:t> có con</a:t>
                      </a:r>
                      <a:endParaRPr sz="1200" u="none" strike="noStrike" cap="none">
                        <a:solidFill>
                          <a:schemeClr val="dk1"/>
                        </a:solidFill>
                        <a:latin typeface="Arial"/>
                        <a:ea typeface="Arial"/>
                        <a:cs typeface="Arial"/>
                        <a:sym typeface="Arial"/>
                      </a:endParaRPr>
                    </a:p>
                  </a:txBody>
                  <a:tcPr marL="18000" marR="18000" marT="4900" marB="0" anchor="ctr"/>
                </a:tc>
                <a:tc>
                  <a:txBody>
                    <a:bodyPr/>
                    <a:lstStyle/>
                    <a:p>
                      <a:pPr marL="0" marR="0" lvl="0" indent="190500" algn="l" rtl="0">
                        <a:lnSpc>
                          <a:spcPct val="142857"/>
                        </a:lnSpc>
                        <a:spcBef>
                          <a:spcPts val="0"/>
                        </a:spcBef>
                        <a:spcAft>
                          <a:spcPts val="0"/>
                        </a:spcAft>
                        <a:buClr>
                          <a:srgbClr val="000000"/>
                        </a:buClr>
                        <a:buSzPts val="1400"/>
                        <a:buFont typeface="Arial"/>
                        <a:buNone/>
                      </a:pPr>
                      <a:r>
                        <a:rPr lang="en-US" sz="1200" u="none" strike="noStrike" cap="none">
                          <a:solidFill>
                            <a:schemeClr val="dk1"/>
                          </a:solidFill>
                          <a:latin typeface="Arial"/>
                          <a:ea typeface="Arial"/>
                          <a:cs typeface="Arial"/>
                          <a:sym typeface="Arial"/>
                        </a:rPr>
                        <a:t>Thu </a:t>
                      </a:r>
                      <a:r>
                        <a:rPr lang="en-US" sz="1200" u="none" strike="noStrike" cap="none" err="1">
                          <a:solidFill>
                            <a:schemeClr val="dk1"/>
                          </a:solidFill>
                          <a:latin typeface="Arial"/>
                          <a:ea typeface="Arial"/>
                          <a:cs typeface="Arial"/>
                          <a:sym typeface="Arial"/>
                        </a:rPr>
                        <a:t>nhập</a:t>
                      </a:r>
                      <a:r>
                        <a:rPr lang="en-US" sz="1200" u="none" strike="noStrike" cap="none">
                          <a:solidFill>
                            <a:schemeClr val="dk1"/>
                          </a:solidFill>
                          <a:latin typeface="Arial"/>
                          <a:ea typeface="Arial"/>
                          <a:cs typeface="Arial"/>
                          <a:sym typeface="Arial"/>
                        </a:rPr>
                        <a:t> khá </a:t>
                      </a:r>
                      <a:r>
                        <a:rPr lang="en-US" sz="1200" u="none" strike="noStrike" cap="none" err="1">
                          <a:solidFill>
                            <a:schemeClr val="dk1"/>
                          </a:solidFill>
                          <a:latin typeface="Arial"/>
                          <a:ea typeface="Arial"/>
                          <a:cs typeface="Arial"/>
                          <a:sym typeface="Arial"/>
                        </a:rPr>
                        <a:t>hơn</a:t>
                      </a:r>
                      <a:r>
                        <a:rPr lang="en-US" sz="1200" u="none" strike="noStrike" cap="none">
                          <a:solidFill>
                            <a:schemeClr val="dk1"/>
                          </a:solidFill>
                          <a:latin typeface="Arial"/>
                          <a:ea typeface="Arial"/>
                          <a:cs typeface="Arial"/>
                          <a:sym typeface="Arial"/>
                        </a:rPr>
                        <a:t>.</a:t>
                      </a:r>
                      <a:endParaRPr sz="1200" u="none" strike="noStrike" cap="none"/>
                    </a:p>
                    <a:p>
                      <a:pPr marL="0" marR="0" lvl="0" indent="190500" algn="l" rtl="0">
                        <a:lnSpc>
                          <a:spcPct val="142857"/>
                        </a:lnSpc>
                        <a:spcBef>
                          <a:spcPts val="0"/>
                        </a:spcBef>
                        <a:spcAft>
                          <a:spcPts val="0"/>
                        </a:spcAft>
                        <a:buClr>
                          <a:srgbClr val="000000"/>
                        </a:buClr>
                        <a:buSzPts val="1400"/>
                        <a:buFont typeface="Arial"/>
                        <a:buNone/>
                      </a:pPr>
                      <a:r>
                        <a:rPr lang="en-US" sz="1200" u="none" strike="noStrike" cap="none">
                          <a:solidFill>
                            <a:schemeClr val="dk1"/>
                          </a:solidFill>
                          <a:latin typeface="Arial"/>
                          <a:ea typeface="Arial"/>
                          <a:cs typeface="Arial"/>
                          <a:sym typeface="Arial"/>
                        </a:rPr>
                        <a:t>Mua </a:t>
                      </a:r>
                      <a:r>
                        <a:rPr lang="en-US" sz="1200" u="none" strike="noStrike" cap="none" err="1">
                          <a:solidFill>
                            <a:schemeClr val="dk1"/>
                          </a:solidFill>
                          <a:latin typeface="Arial"/>
                          <a:ea typeface="Arial"/>
                          <a:cs typeface="Arial"/>
                          <a:sym typeface="Arial"/>
                        </a:rPr>
                        <a:t>sắm</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nhiều</a:t>
                      </a:r>
                      <a:r>
                        <a:rPr lang="en-US" sz="1200" u="none" strike="noStrike" cap="none">
                          <a:solidFill>
                            <a:schemeClr val="dk1"/>
                          </a:solidFill>
                          <a:latin typeface="Arial"/>
                          <a:ea typeface="Arial"/>
                          <a:cs typeface="Arial"/>
                          <a:sym typeface="Arial"/>
                        </a:rPr>
                        <a:t>. Chú ý </a:t>
                      </a:r>
                      <a:r>
                        <a:rPr lang="en-US" sz="1200" u="none" strike="noStrike" cap="none" err="1">
                          <a:solidFill>
                            <a:schemeClr val="dk1"/>
                          </a:solidFill>
                          <a:latin typeface="Arial"/>
                          <a:ea typeface="Arial"/>
                          <a:cs typeface="Arial"/>
                          <a:sym typeface="Arial"/>
                        </a:rPr>
                        <a:t>đến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vấn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đê</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nhà</a:t>
                      </a:r>
                      <a:r>
                        <a:rPr lang="en-US" sz="1200" u="none" strike="noStrike" cap="none">
                          <a:solidFill>
                            <a:schemeClr val="dk1"/>
                          </a:solidFill>
                          <a:latin typeface="Arial"/>
                          <a:ea typeface="Arial"/>
                          <a:cs typeface="Arial"/>
                          <a:sym typeface="Arial"/>
                        </a:rPr>
                        <a:t> ở.</a:t>
                      </a:r>
                      <a:endParaRPr sz="1200" u="none" strike="noStrike" cap="none"/>
                    </a:p>
                    <a:p>
                      <a:pPr marL="0" marR="0" lvl="0" indent="190500" algn="l" rtl="0">
                        <a:lnSpc>
                          <a:spcPct val="142857"/>
                        </a:lnSpc>
                        <a:spcBef>
                          <a:spcPts val="0"/>
                        </a:spcBef>
                        <a:spcAft>
                          <a:spcPts val="0"/>
                        </a:spcAft>
                        <a:buClr>
                          <a:srgbClr val="000000"/>
                        </a:buClr>
                        <a:buSzPts val="1400"/>
                        <a:buFont typeface="Arial"/>
                        <a:buNone/>
                      </a:pPr>
                      <a:r>
                        <a:rPr lang="en-US" sz="1200" u="none" strike="noStrike" cap="none">
                          <a:solidFill>
                            <a:schemeClr val="dk1"/>
                          </a:solidFill>
                          <a:latin typeface="Arial"/>
                          <a:ea typeface="Arial"/>
                          <a:cs typeface="Arial"/>
                          <a:sym typeface="Arial"/>
                        </a:rPr>
                        <a:t>Mua </a:t>
                      </a:r>
                      <a:r>
                        <a:rPr lang="en-US" sz="1200" u="none" strike="noStrike" cap="none" err="1">
                          <a:solidFill>
                            <a:schemeClr val="dk1"/>
                          </a:solidFill>
                          <a:latin typeface="Arial"/>
                          <a:ea typeface="Arial"/>
                          <a:cs typeface="Arial"/>
                          <a:sym typeface="Arial"/>
                        </a:rPr>
                        <a:t>hàng</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lâu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bền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như</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xe</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máy</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tivi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tủ</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lạnh</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quạt</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máy</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bếp</a:t>
                      </a:r>
                      <a:r>
                        <a:rPr lang="en-US" sz="1200" u="none" strike="noStrike" cap="none">
                          <a:solidFill>
                            <a:schemeClr val="dk1"/>
                          </a:solidFill>
                          <a:latin typeface="Arial"/>
                          <a:ea typeface="Arial"/>
                          <a:cs typeface="Arial"/>
                          <a:sym typeface="Arial"/>
                        </a:rPr>
                        <a:t> ga, </a:t>
                      </a:r>
                      <a:r>
                        <a:rPr lang="en-US" sz="1200" u="none" strike="noStrike" cap="none" err="1">
                          <a:solidFill>
                            <a:schemeClr val="dk1"/>
                          </a:solidFill>
                          <a:latin typeface="Arial"/>
                          <a:ea typeface="Arial"/>
                          <a:cs typeface="Arial"/>
                          <a:sym typeface="Arial"/>
                        </a:rPr>
                        <a:t>đô</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nội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thất</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thích</a:t>
                      </a:r>
                      <a:r>
                        <a:rPr lang="en-US" sz="1200" u="none" strike="noStrike" cap="none">
                          <a:solidFill>
                            <a:schemeClr val="dk1"/>
                          </a:solidFill>
                          <a:latin typeface="Arial"/>
                          <a:ea typeface="Arial"/>
                          <a:cs typeface="Arial"/>
                          <a:sym typeface="Arial"/>
                        </a:rPr>
                        <a:t> du </a:t>
                      </a:r>
                      <a:r>
                        <a:rPr lang="en-US" sz="1200" u="none" strike="noStrike" cap="none" err="1">
                          <a:solidFill>
                            <a:schemeClr val="dk1"/>
                          </a:solidFill>
                          <a:latin typeface="Arial"/>
                          <a:ea typeface="Arial"/>
                          <a:cs typeface="Arial"/>
                          <a:sym typeface="Arial"/>
                        </a:rPr>
                        <a:t>lịch</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nghi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mát</a:t>
                      </a:r>
                      <a:r>
                        <a:rPr lang="en-US" sz="1200" u="none" strike="noStrike" cap="none">
                          <a:solidFill>
                            <a:schemeClr val="dk1"/>
                          </a:solidFill>
                          <a:latin typeface="Arial"/>
                          <a:ea typeface="Arial"/>
                          <a:cs typeface="Arial"/>
                          <a:sym typeface="Arial"/>
                        </a:rPr>
                        <a:t>.</a:t>
                      </a:r>
                      <a:endParaRPr sz="1200" u="none" strike="noStrike" cap="none">
                        <a:solidFill>
                          <a:schemeClr val="dk1"/>
                        </a:solidFill>
                        <a:latin typeface="Arial"/>
                        <a:ea typeface="Arial"/>
                        <a:cs typeface="Arial"/>
                        <a:sym typeface="Arial"/>
                      </a:endParaRPr>
                    </a:p>
                  </a:txBody>
                  <a:tcPr marL="18000" marR="18000" marT="4900" marB="0" anchor="ctr"/>
                </a:tc>
                <a:extLst>
                  <a:ext uri="{0D108BD9-81ED-4DB2-BD59-A6C34878D82A}">
                    <a16:rowId xmlns:a16="http://schemas.microsoft.com/office/drawing/2014/main" val="10002"/>
                  </a:ext>
                </a:extLst>
              </a:tr>
              <a:tr h="875222">
                <a:tc>
                  <a:txBody>
                    <a:bodyPr/>
                    <a:lstStyle/>
                    <a:p>
                      <a:pPr marL="0" marR="0" lvl="0" indent="190500" algn="l" rtl="0">
                        <a:lnSpc>
                          <a:spcPct val="142857"/>
                        </a:lnSpc>
                        <a:spcBef>
                          <a:spcPts val="0"/>
                        </a:spcBef>
                        <a:spcAft>
                          <a:spcPts val="0"/>
                        </a:spcAft>
                        <a:buClr>
                          <a:srgbClr val="000000"/>
                        </a:buClr>
                        <a:buSzPts val="1400"/>
                        <a:buFont typeface="Arial"/>
                        <a:buNone/>
                      </a:pPr>
                      <a:r>
                        <a:rPr lang="en-US" sz="1200" u="none" strike="noStrike" cap="none">
                          <a:solidFill>
                            <a:schemeClr val="dk1"/>
                          </a:solidFill>
                          <a:latin typeface="Arial"/>
                          <a:ea typeface="Arial"/>
                          <a:cs typeface="Arial"/>
                          <a:sym typeface="Arial"/>
                        </a:rPr>
                        <a:t>3. Vợ chồng trẻ có một hoặc hai con nhỏ</a:t>
                      </a:r>
                      <a:endParaRPr sz="1200" u="none" strike="noStrike" cap="none">
                        <a:solidFill>
                          <a:schemeClr val="dk1"/>
                        </a:solidFill>
                        <a:latin typeface="Arial"/>
                        <a:ea typeface="Arial"/>
                        <a:cs typeface="Arial"/>
                        <a:sym typeface="Arial"/>
                      </a:endParaRPr>
                    </a:p>
                  </a:txBody>
                  <a:tcPr marL="18000" marR="18000" marT="4900" marB="0" anchor="ctr"/>
                </a:tc>
                <a:tc>
                  <a:txBody>
                    <a:bodyPr/>
                    <a:lstStyle/>
                    <a:p>
                      <a:pPr marL="0" marR="0" lvl="0" indent="190500" algn="l" rtl="0">
                        <a:lnSpc>
                          <a:spcPct val="142857"/>
                        </a:lnSpc>
                        <a:spcBef>
                          <a:spcPts val="0"/>
                        </a:spcBef>
                        <a:spcAft>
                          <a:spcPts val="0"/>
                        </a:spcAft>
                        <a:buClr>
                          <a:srgbClr val="000000"/>
                        </a:buClr>
                        <a:buSzPts val="1400"/>
                        <a:buFont typeface="Arial"/>
                        <a:buNone/>
                      </a:pPr>
                      <a:r>
                        <a:rPr lang="en-US" sz="1200" u="none" strike="noStrike" cap="none" err="1">
                          <a:solidFill>
                            <a:schemeClr val="dk1"/>
                          </a:solidFill>
                          <a:latin typeface="Arial"/>
                          <a:ea typeface="Arial"/>
                          <a:cs typeface="Arial"/>
                          <a:sym typeface="Arial"/>
                        </a:rPr>
                        <a:t>Không</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thoải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mái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vê</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tài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chính</a:t>
                      </a:r>
                      <a:r>
                        <a:rPr lang="en-US" sz="1200" u="none" strike="noStrike" cap="none">
                          <a:solidFill>
                            <a:schemeClr val="dk1"/>
                          </a:solidFill>
                          <a:latin typeface="Arial"/>
                          <a:ea typeface="Arial"/>
                          <a:cs typeface="Arial"/>
                          <a:sym typeface="Arial"/>
                        </a:rPr>
                        <a:t>.</a:t>
                      </a:r>
                      <a:endParaRPr sz="1200" u="none" strike="noStrike" cap="none"/>
                    </a:p>
                    <a:p>
                      <a:pPr marL="0" marR="0" lvl="0" indent="190500" algn="l" rtl="0">
                        <a:lnSpc>
                          <a:spcPct val="142857"/>
                        </a:lnSpc>
                        <a:spcBef>
                          <a:spcPts val="0"/>
                        </a:spcBef>
                        <a:spcAft>
                          <a:spcPts val="0"/>
                        </a:spcAft>
                        <a:buClr>
                          <a:srgbClr val="000000"/>
                        </a:buClr>
                        <a:buSzPts val="1400"/>
                        <a:buFont typeface="Arial"/>
                        <a:buNone/>
                      </a:pPr>
                      <a:r>
                        <a:rPr lang="en-US" sz="1200" u="none" strike="noStrike" cap="none" err="1">
                          <a:solidFill>
                            <a:schemeClr val="dk1"/>
                          </a:solidFill>
                          <a:latin typeface="Arial"/>
                          <a:ea typeface="Arial"/>
                          <a:cs typeface="Arial"/>
                          <a:sym typeface="Arial"/>
                        </a:rPr>
                        <a:t>Nhu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cầu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nhà</a:t>
                      </a:r>
                      <a:r>
                        <a:rPr lang="en-US" sz="1200" u="none" strike="noStrike" cap="none">
                          <a:solidFill>
                            <a:schemeClr val="dk1"/>
                          </a:solidFill>
                          <a:latin typeface="Arial"/>
                          <a:ea typeface="Arial"/>
                          <a:cs typeface="Arial"/>
                          <a:sym typeface="Arial"/>
                        </a:rPr>
                        <a:t> ở </a:t>
                      </a:r>
                      <a:r>
                        <a:rPr lang="en-US" sz="1200" u="none" strike="noStrike" cap="none" err="1">
                          <a:solidFill>
                            <a:schemeClr val="dk1"/>
                          </a:solidFill>
                          <a:latin typeface="Arial"/>
                          <a:ea typeface="Arial"/>
                          <a:cs typeface="Arial"/>
                          <a:sym typeface="Arial"/>
                        </a:rPr>
                        <a:t>cao</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Các</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nhu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cầu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khác</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gia</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tăng</a:t>
                      </a:r>
                      <a:r>
                        <a:rPr lang="en-US" sz="1200" u="none" strike="noStrike" cap="none">
                          <a:solidFill>
                            <a:schemeClr val="dk1"/>
                          </a:solidFill>
                          <a:latin typeface="Arial"/>
                          <a:ea typeface="Arial"/>
                          <a:cs typeface="Arial"/>
                          <a:sym typeface="Arial"/>
                        </a:rPr>
                        <a:t>.</a:t>
                      </a:r>
                      <a:endParaRPr sz="1200" u="none" strike="noStrike" cap="none"/>
                    </a:p>
                    <a:p>
                      <a:pPr marL="0" marR="0" lvl="0" indent="190500" algn="l" rtl="0">
                        <a:lnSpc>
                          <a:spcPct val="142857"/>
                        </a:lnSpc>
                        <a:spcBef>
                          <a:spcPts val="0"/>
                        </a:spcBef>
                        <a:spcAft>
                          <a:spcPts val="0"/>
                        </a:spcAft>
                        <a:buClr>
                          <a:srgbClr val="000000"/>
                        </a:buClr>
                        <a:buSzPts val="1400"/>
                        <a:buFont typeface="Arial"/>
                        <a:buNone/>
                      </a:pPr>
                      <a:r>
                        <a:rPr lang="en-US" sz="1200" u="none" strike="noStrike" cap="none" err="1">
                          <a:solidFill>
                            <a:schemeClr val="dk1"/>
                          </a:solidFill>
                          <a:latin typeface="Arial"/>
                          <a:ea typeface="Arial"/>
                          <a:cs typeface="Arial"/>
                          <a:sym typeface="Arial"/>
                        </a:rPr>
                        <a:t>Mua</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sắm</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nhiều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các</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sản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phẩm</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được</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quảng</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cáo</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ưu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tiên</a:t>
                      </a:r>
                      <a:r>
                        <a:rPr lang="en-US" sz="1200" u="none" strike="noStrike" cap="none">
                          <a:solidFill>
                            <a:schemeClr val="dk1"/>
                          </a:solidFill>
                          <a:latin typeface="Arial"/>
                          <a:ea typeface="Arial"/>
                          <a:cs typeface="Arial"/>
                          <a:sym typeface="Arial"/>
                        </a:rPr>
                        <a:t> chi </a:t>
                      </a:r>
                      <a:r>
                        <a:rPr lang="en-US" sz="1200" u="none" strike="noStrike" cap="none" err="1">
                          <a:solidFill>
                            <a:schemeClr val="dk1"/>
                          </a:solidFill>
                          <a:latin typeface="Arial"/>
                          <a:ea typeface="Arial"/>
                          <a:cs typeface="Arial"/>
                          <a:sym typeface="Arial"/>
                        </a:rPr>
                        <a:t>tiêu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cho</a:t>
                      </a:r>
                      <a:r>
                        <a:rPr lang="en-US" sz="1200" u="none" strike="noStrike" cap="none">
                          <a:solidFill>
                            <a:schemeClr val="dk1"/>
                          </a:solidFill>
                          <a:latin typeface="Arial"/>
                          <a:ea typeface="Arial"/>
                          <a:cs typeface="Arial"/>
                          <a:sym typeface="Arial"/>
                        </a:rPr>
                        <a:t> con </a:t>
                      </a:r>
                      <a:r>
                        <a:rPr lang="en-US" sz="1200" u="none" strike="noStrike" cap="none" err="1">
                          <a:solidFill>
                            <a:schemeClr val="dk1"/>
                          </a:solidFill>
                          <a:latin typeface="Arial"/>
                          <a:ea typeface="Arial"/>
                          <a:cs typeface="Arial"/>
                          <a:sym typeface="Arial"/>
                        </a:rPr>
                        <a:t>cái</a:t>
                      </a:r>
                      <a:endParaRPr sz="1200" u="none" strike="noStrike" cap="none">
                        <a:solidFill>
                          <a:schemeClr val="dk1"/>
                        </a:solidFill>
                        <a:latin typeface="Arial"/>
                        <a:ea typeface="Arial"/>
                        <a:cs typeface="Arial"/>
                        <a:sym typeface="Arial"/>
                      </a:endParaRPr>
                    </a:p>
                  </a:txBody>
                  <a:tcPr marL="18000" marR="18000" marT="4900" marB="0" anchor="ctr"/>
                </a:tc>
                <a:extLst>
                  <a:ext uri="{0D108BD9-81ED-4DB2-BD59-A6C34878D82A}">
                    <a16:rowId xmlns:a16="http://schemas.microsoft.com/office/drawing/2014/main" val="10003"/>
                  </a:ext>
                </a:extLst>
              </a:tr>
              <a:tr h="782489">
                <a:tc>
                  <a:txBody>
                    <a:bodyPr/>
                    <a:lstStyle/>
                    <a:p>
                      <a:pPr marL="0" marR="0" lvl="0" indent="190500" algn="l" rtl="0">
                        <a:lnSpc>
                          <a:spcPct val="142857"/>
                        </a:lnSpc>
                        <a:spcBef>
                          <a:spcPts val="0"/>
                        </a:spcBef>
                        <a:spcAft>
                          <a:spcPts val="0"/>
                        </a:spcAft>
                        <a:buClr>
                          <a:srgbClr val="000000"/>
                        </a:buClr>
                        <a:buSzPts val="1400"/>
                        <a:buFont typeface="Arial"/>
                        <a:buNone/>
                      </a:pPr>
                      <a:r>
                        <a:rPr lang="en-US" sz="1200" u="none" strike="noStrike" cap="none">
                          <a:solidFill>
                            <a:schemeClr val="dk1"/>
                          </a:solidFill>
                          <a:latin typeface="Arial"/>
                          <a:ea typeface="Arial"/>
                          <a:cs typeface="Arial"/>
                          <a:sym typeface="Arial"/>
                        </a:rPr>
                        <a:t>4. Vợ chồng có con cái lớn còn đi học</a:t>
                      </a:r>
                      <a:endParaRPr sz="1200" u="none" strike="noStrike" cap="none">
                        <a:solidFill>
                          <a:schemeClr val="dk1"/>
                        </a:solidFill>
                        <a:latin typeface="Arial"/>
                        <a:ea typeface="Arial"/>
                        <a:cs typeface="Arial"/>
                        <a:sym typeface="Arial"/>
                      </a:endParaRPr>
                    </a:p>
                  </a:txBody>
                  <a:tcPr marL="18000" marR="18000" marT="4900" marB="0" anchor="ctr"/>
                </a:tc>
                <a:tc>
                  <a:txBody>
                    <a:bodyPr/>
                    <a:lstStyle/>
                    <a:p>
                      <a:pPr marL="0" marR="0" lvl="0" indent="190500" algn="l" rtl="0">
                        <a:lnSpc>
                          <a:spcPct val="142857"/>
                        </a:lnSpc>
                        <a:spcBef>
                          <a:spcPts val="0"/>
                        </a:spcBef>
                        <a:spcAft>
                          <a:spcPts val="0"/>
                        </a:spcAft>
                        <a:buClr>
                          <a:srgbClr val="000000"/>
                        </a:buClr>
                        <a:buSzPts val="1400"/>
                        <a:buFont typeface="Arial"/>
                        <a:buNone/>
                      </a:pPr>
                      <a:r>
                        <a:rPr lang="en-US" sz="1200" u="none" strike="noStrike" cap="none" err="1">
                          <a:solidFill>
                            <a:schemeClr val="dk1"/>
                          </a:solidFill>
                          <a:latin typeface="Arial"/>
                          <a:ea typeface="Arial"/>
                          <a:cs typeface="Arial"/>
                          <a:sym typeface="Arial"/>
                        </a:rPr>
                        <a:t>Tình</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hình</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tài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chính</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chưa</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khả</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quan</a:t>
                      </a:r>
                      <a:endParaRPr sz="1200" u="none" strike="noStrike" cap="none">
                        <a:solidFill>
                          <a:schemeClr val="dk1"/>
                        </a:solidFill>
                        <a:latin typeface="Arial"/>
                        <a:ea typeface="Arial"/>
                        <a:cs typeface="Arial"/>
                        <a:sym typeface="Arial"/>
                      </a:endParaRPr>
                    </a:p>
                    <a:p>
                      <a:pPr marL="0" marR="0" lvl="0" indent="190500" algn="l" rtl="0">
                        <a:lnSpc>
                          <a:spcPct val="142857"/>
                        </a:lnSpc>
                        <a:spcBef>
                          <a:spcPts val="0"/>
                        </a:spcBef>
                        <a:spcAft>
                          <a:spcPts val="0"/>
                        </a:spcAft>
                        <a:buClr>
                          <a:srgbClr val="000000"/>
                        </a:buClr>
                        <a:buSzPts val="1400"/>
                        <a:buFont typeface="Arial"/>
                        <a:buNone/>
                      </a:pPr>
                      <a:r>
                        <a:rPr lang="en-US" sz="1200" u="none" strike="noStrike" cap="none">
                          <a:solidFill>
                            <a:schemeClr val="dk1"/>
                          </a:solidFill>
                          <a:latin typeface="Arial"/>
                          <a:ea typeface="Arial"/>
                          <a:cs typeface="Arial"/>
                          <a:sym typeface="Arial"/>
                        </a:rPr>
                        <a:t>Nhu </a:t>
                      </a:r>
                      <a:r>
                        <a:rPr lang="en-US" sz="1200" u="none" strike="noStrike" cap="none" err="1">
                          <a:solidFill>
                            <a:schemeClr val="dk1"/>
                          </a:solidFill>
                          <a:latin typeface="Arial"/>
                          <a:ea typeface="Arial"/>
                          <a:cs typeface="Arial"/>
                          <a:sym typeface="Arial"/>
                        </a:rPr>
                        <a:t>cầu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vê</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học</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hành</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cho</a:t>
                      </a:r>
                      <a:r>
                        <a:rPr lang="en-US" sz="1200" u="none" strike="noStrike" cap="none">
                          <a:solidFill>
                            <a:schemeClr val="dk1"/>
                          </a:solidFill>
                          <a:latin typeface="Arial"/>
                          <a:ea typeface="Arial"/>
                          <a:cs typeface="Arial"/>
                          <a:sym typeface="Arial"/>
                        </a:rPr>
                        <a:t> con </a:t>
                      </a:r>
                      <a:r>
                        <a:rPr lang="en-US" sz="1200" u="none" strike="noStrike" cap="none" err="1">
                          <a:solidFill>
                            <a:schemeClr val="dk1"/>
                          </a:solidFill>
                          <a:latin typeface="Arial"/>
                          <a:ea typeface="Arial"/>
                          <a:cs typeface="Arial"/>
                          <a:sym typeface="Arial"/>
                        </a:rPr>
                        <a:t>cái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tăng</a:t>
                      </a:r>
                      <a:r>
                        <a:rPr lang="en-US" sz="1200" u="none" strike="noStrike" cap="none">
                          <a:solidFill>
                            <a:schemeClr val="dk1"/>
                          </a:solidFill>
                          <a:latin typeface="Arial"/>
                          <a:ea typeface="Arial"/>
                          <a:cs typeface="Arial"/>
                          <a:sym typeface="Arial"/>
                        </a:rPr>
                        <a:t>.</a:t>
                      </a:r>
                      <a:endParaRPr sz="1200" u="none" strike="noStrike" cap="none"/>
                    </a:p>
                    <a:p>
                      <a:pPr marL="0" marR="0" lvl="0" indent="190500" algn="l" rtl="0">
                        <a:lnSpc>
                          <a:spcPct val="142857"/>
                        </a:lnSpc>
                        <a:spcBef>
                          <a:spcPts val="0"/>
                        </a:spcBef>
                        <a:spcAft>
                          <a:spcPts val="0"/>
                        </a:spcAft>
                        <a:buClr>
                          <a:srgbClr val="000000"/>
                        </a:buClr>
                        <a:buSzPts val="1400"/>
                        <a:buFont typeface="Arial"/>
                        <a:buNone/>
                      </a:pPr>
                      <a:r>
                        <a:rPr lang="en-US" sz="1200" u="none" strike="noStrike" cap="none" err="1">
                          <a:solidFill>
                            <a:schemeClr val="dk1"/>
                          </a:solidFill>
                          <a:latin typeface="Arial"/>
                          <a:ea typeface="Arial"/>
                          <a:cs typeface="Arial"/>
                          <a:sym typeface="Arial"/>
                        </a:rPr>
                        <a:t>Sô</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lượng</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thực</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phẩm</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mua</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tăng</a:t>
                      </a:r>
                      <a:r>
                        <a:rPr lang="en-US" sz="1200" u="none" strike="noStrike" cap="none">
                          <a:solidFill>
                            <a:schemeClr val="dk1"/>
                          </a:solidFill>
                          <a:latin typeface="Arial"/>
                          <a:ea typeface="Arial"/>
                          <a:cs typeface="Arial"/>
                          <a:sym typeface="Arial"/>
                        </a:rPr>
                        <a:t>. Có </a:t>
                      </a:r>
                      <a:r>
                        <a:rPr lang="en-US" sz="1200" u="none" strike="noStrike" cap="none" err="1">
                          <a:solidFill>
                            <a:schemeClr val="dk1"/>
                          </a:solidFill>
                          <a:latin typeface="Arial"/>
                          <a:ea typeface="Arial"/>
                          <a:cs typeface="Arial"/>
                          <a:sym typeface="Arial"/>
                        </a:rPr>
                        <a:t>nhu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cầu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thay</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thê</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những</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thiết</a:t>
                      </a:r>
                      <a:r>
                        <a:rPr lang="en-US" sz="1200" u="none" strike="noStrike" cap="none">
                          <a:solidFill>
                            <a:schemeClr val="dk1"/>
                          </a:solidFill>
                          <a:latin typeface="Arial"/>
                          <a:ea typeface="Arial"/>
                          <a:cs typeface="Arial"/>
                          <a:sym typeface="Arial"/>
                        </a:rPr>
                        <a:t> bị </a:t>
                      </a:r>
                      <a:r>
                        <a:rPr lang="en-US" sz="1200" u="none" strike="noStrike" cap="none" err="1">
                          <a:solidFill>
                            <a:schemeClr val="dk1"/>
                          </a:solidFill>
                          <a:latin typeface="Arial"/>
                          <a:ea typeface="Arial"/>
                          <a:cs typeface="Arial"/>
                          <a:sym typeface="Arial"/>
                        </a:rPr>
                        <a:t>lâu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bền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đa</a:t>
                      </a:r>
                      <a:r>
                        <a:rPr lang="en-US" sz="1200" u="none" strike="noStrike" cap="none">
                          <a:solidFill>
                            <a:schemeClr val="dk1"/>
                          </a:solidFill>
                          <a:latin typeface="Arial"/>
                          <a:ea typeface="Arial"/>
                          <a:cs typeface="Arial"/>
                          <a:sym typeface="Arial"/>
                        </a:rPr>
                        <a:t>̃ cũ.</a:t>
                      </a:r>
                      <a:endParaRPr sz="1200" u="none" strike="noStrike" cap="none">
                        <a:solidFill>
                          <a:schemeClr val="dk1"/>
                        </a:solidFill>
                        <a:latin typeface="Arial"/>
                        <a:ea typeface="Arial"/>
                        <a:cs typeface="Arial"/>
                        <a:sym typeface="Arial"/>
                      </a:endParaRPr>
                    </a:p>
                  </a:txBody>
                  <a:tcPr marL="18000" marR="18000" marT="4900" marB="0" anchor="ctr"/>
                </a:tc>
                <a:extLst>
                  <a:ext uri="{0D108BD9-81ED-4DB2-BD59-A6C34878D82A}">
                    <a16:rowId xmlns:a16="http://schemas.microsoft.com/office/drawing/2014/main" val="10004"/>
                  </a:ext>
                </a:extLst>
              </a:tr>
              <a:tr h="913479">
                <a:tc>
                  <a:txBody>
                    <a:bodyPr/>
                    <a:lstStyle/>
                    <a:p>
                      <a:pPr marL="0" marR="0" lvl="0" indent="190500" algn="l" rtl="0">
                        <a:lnSpc>
                          <a:spcPct val="142857"/>
                        </a:lnSpc>
                        <a:spcBef>
                          <a:spcPts val="0"/>
                        </a:spcBef>
                        <a:spcAft>
                          <a:spcPts val="0"/>
                        </a:spcAft>
                        <a:buClr>
                          <a:srgbClr val="000000"/>
                        </a:buClr>
                        <a:buSzPts val="1400"/>
                        <a:buFont typeface="Arial"/>
                        <a:buNone/>
                      </a:pPr>
                      <a:r>
                        <a:rPr lang="en-US" sz="1200" u="none" strike="noStrike" cap="none">
                          <a:solidFill>
                            <a:schemeClr val="dk1"/>
                          </a:solidFill>
                          <a:latin typeface="Arial"/>
                          <a:ea typeface="Arial"/>
                          <a:cs typeface="Arial"/>
                          <a:sym typeface="Arial"/>
                        </a:rPr>
                        <a:t>5. Vợ chồng có con cái trưởng thành</a:t>
                      </a:r>
                      <a:endParaRPr sz="1200" u="none" strike="noStrike" cap="none">
                        <a:solidFill>
                          <a:schemeClr val="dk1"/>
                        </a:solidFill>
                        <a:latin typeface="Arial"/>
                        <a:ea typeface="Arial"/>
                        <a:cs typeface="Arial"/>
                        <a:sym typeface="Arial"/>
                      </a:endParaRPr>
                    </a:p>
                  </a:txBody>
                  <a:tcPr marL="18000" marR="18000" marT="4900" marB="0" anchor="ctr"/>
                </a:tc>
                <a:tc>
                  <a:txBody>
                    <a:bodyPr/>
                    <a:lstStyle/>
                    <a:p>
                      <a:pPr marL="0" marR="0" lvl="0" indent="190500" algn="l" rtl="0">
                        <a:lnSpc>
                          <a:spcPct val="142857"/>
                        </a:lnSpc>
                        <a:spcBef>
                          <a:spcPts val="0"/>
                        </a:spcBef>
                        <a:spcAft>
                          <a:spcPts val="0"/>
                        </a:spcAft>
                        <a:buClr>
                          <a:srgbClr val="000000"/>
                        </a:buClr>
                        <a:buSzPts val="1400"/>
                        <a:buFont typeface="Arial"/>
                        <a:buNone/>
                      </a:pPr>
                      <a:r>
                        <a:rPr lang="en-US" sz="1200" u="none" strike="noStrike" cap="none" err="1">
                          <a:solidFill>
                            <a:schemeClr val="dk1"/>
                          </a:solidFill>
                          <a:latin typeface="Arial"/>
                          <a:ea typeface="Arial"/>
                          <a:cs typeface="Arial"/>
                          <a:sym typeface="Arial"/>
                        </a:rPr>
                        <a:t>Tình</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hình</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tài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chính</a:t>
                      </a:r>
                      <a:r>
                        <a:rPr lang="en-US" sz="1200" u="none" strike="noStrike" cap="none">
                          <a:solidFill>
                            <a:schemeClr val="dk1"/>
                          </a:solidFill>
                          <a:latin typeface="Arial"/>
                          <a:ea typeface="Arial"/>
                          <a:cs typeface="Arial"/>
                          <a:sym typeface="Arial"/>
                        </a:rPr>
                        <a:t> khá </a:t>
                      </a:r>
                      <a:r>
                        <a:rPr lang="en-US" sz="1200" u="none" strike="noStrike" cap="none" err="1">
                          <a:solidFill>
                            <a:schemeClr val="dk1"/>
                          </a:solidFill>
                          <a:latin typeface="Arial"/>
                          <a:ea typeface="Arial"/>
                          <a:cs typeface="Arial"/>
                          <a:sym typeface="Arial"/>
                        </a:rPr>
                        <a:t>hơn</a:t>
                      </a:r>
                      <a:r>
                        <a:rPr lang="en-US" sz="1200" u="none" strike="noStrike" cap="none">
                          <a:solidFill>
                            <a:schemeClr val="dk1"/>
                          </a:solidFill>
                          <a:latin typeface="Arial"/>
                          <a:ea typeface="Arial"/>
                          <a:cs typeface="Arial"/>
                          <a:sym typeface="Arial"/>
                        </a:rPr>
                        <a:t>.</a:t>
                      </a:r>
                      <a:endParaRPr sz="1200" u="none" strike="noStrike" cap="none"/>
                    </a:p>
                    <a:p>
                      <a:pPr marL="0" marR="0" lvl="0" indent="190500" algn="l" rtl="0">
                        <a:lnSpc>
                          <a:spcPct val="142857"/>
                        </a:lnSpc>
                        <a:spcBef>
                          <a:spcPts val="0"/>
                        </a:spcBef>
                        <a:spcAft>
                          <a:spcPts val="0"/>
                        </a:spcAft>
                        <a:buClr>
                          <a:srgbClr val="000000"/>
                        </a:buClr>
                        <a:buSzPts val="1400"/>
                        <a:buFont typeface="Arial"/>
                        <a:buNone/>
                      </a:pPr>
                      <a:r>
                        <a:rPr lang="en-US" sz="1200" u="none" strike="noStrike" cap="none" err="1">
                          <a:solidFill>
                            <a:schemeClr val="dk1"/>
                          </a:solidFill>
                          <a:latin typeface="Arial"/>
                          <a:ea typeface="Arial"/>
                          <a:cs typeface="Arial"/>
                          <a:sym typeface="Arial"/>
                        </a:rPr>
                        <a:t>Một</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số</a:t>
                      </a:r>
                      <a:r>
                        <a:rPr lang="en-US" sz="1200" u="none" strike="noStrike" cap="none">
                          <a:solidFill>
                            <a:schemeClr val="dk1"/>
                          </a:solidFill>
                          <a:latin typeface="Arial"/>
                          <a:ea typeface="Arial"/>
                          <a:cs typeface="Arial"/>
                          <a:sym typeface="Arial"/>
                        </a:rPr>
                        <a:t> con </a:t>
                      </a:r>
                      <a:r>
                        <a:rPr lang="en-US" sz="1200" u="none" strike="noStrike" cap="none" err="1">
                          <a:solidFill>
                            <a:schemeClr val="dk1"/>
                          </a:solidFill>
                          <a:latin typeface="Arial"/>
                          <a:ea typeface="Arial"/>
                          <a:cs typeface="Arial"/>
                          <a:sym typeface="Arial"/>
                        </a:rPr>
                        <a:t>cái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đa</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đi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làm</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và</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nảy</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sinh</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những</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nhu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cầu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cá</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nhân</a:t>
                      </a:r>
                      <a:r>
                        <a:rPr lang="en-US" sz="1200" u="none" strike="noStrike" cap="none">
                          <a:solidFill>
                            <a:schemeClr val="dk1"/>
                          </a:solidFill>
                          <a:latin typeface="Arial"/>
                          <a:ea typeface="Arial"/>
                          <a:cs typeface="Arial"/>
                          <a:sym typeface="Arial"/>
                        </a:rPr>
                        <a:t> </a:t>
                      </a:r>
                      <a:endParaRPr sz="1200" u="none" strike="noStrike" cap="none"/>
                    </a:p>
                    <a:p>
                      <a:pPr marL="0" marR="0" lvl="0" indent="190500" algn="l" rtl="0">
                        <a:lnSpc>
                          <a:spcPct val="142857"/>
                        </a:lnSpc>
                        <a:spcBef>
                          <a:spcPts val="0"/>
                        </a:spcBef>
                        <a:spcAft>
                          <a:spcPts val="0"/>
                        </a:spcAft>
                        <a:buClr>
                          <a:srgbClr val="000000"/>
                        </a:buClr>
                        <a:buSzPts val="1400"/>
                        <a:buFont typeface="Arial"/>
                        <a:buNone/>
                      </a:pPr>
                      <a:r>
                        <a:rPr lang="en-US" sz="1200" u="none" strike="noStrike" cap="none">
                          <a:solidFill>
                            <a:schemeClr val="dk1"/>
                          </a:solidFill>
                          <a:latin typeface="Arial"/>
                          <a:ea typeface="Arial"/>
                          <a:cs typeface="Arial"/>
                          <a:sym typeface="Arial"/>
                        </a:rPr>
                        <a:t>Mua </a:t>
                      </a:r>
                      <a:r>
                        <a:rPr lang="en-US" sz="1200" u="none" strike="noStrike" cap="none" err="1">
                          <a:solidFill>
                            <a:schemeClr val="dk1"/>
                          </a:solidFill>
                          <a:latin typeface="Arial"/>
                          <a:ea typeface="Arial"/>
                          <a:cs typeface="Arial"/>
                          <a:sym typeface="Arial"/>
                        </a:rPr>
                        <a:t>các</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đô</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đạc</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lâu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bền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các</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sản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phẩm</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liên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quan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đến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nhu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cầu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văn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hóa</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dịch</a:t>
                      </a:r>
                      <a:r>
                        <a:rPr lang="en-US" sz="1200" u="none" strike="noStrike" cap="none">
                          <a:solidFill>
                            <a:schemeClr val="dk1"/>
                          </a:solidFill>
                          <a:latin typeface="Arial"/>
                          <a:ea typeface="Arial"/>
                          <a:cs typeface="Arial"/>
                          <a:sym typeface="Arial"/>
                        </a:rPr>
                        <a:t> vụ </a:t>
                      </a:r>
                      <a:r>
                        <a:rPr lang="en-US" sz="1200" u="none" strike="noStrike" cap="none" err="1">
                          <a:solidFill>
                            <a:schemeClr val="dk1"/>
                          </a:solidFill>
                          <a:latin typeface="Arial"/>
                          <a:ea typeface="Arial"/>
                          <a:cs typeface="Arial"/>
                          <a:sym typeface="Arial"/>
                        </a:rPr>
                        <a:t>thê</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thao</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nghi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mát</a:t>
                      </a:r>
                      <a:r>
                        <a:rPr lang="en-US" sz="1200" u="none" strike="noStrike" cap="none">
                          <a:solidFill>
                            <a:schemeClr val="dk1"/>
                          </a:solidFill>
                          <a:latin typeface="Arial"/>
                          <a:ea typeface="Arial"/>
                          <a:cs typeface="Arial"/>
                          <a:sym typeface="Arial"/>
                        </a:rPr>
                        <a:t>.</a:t>
                      </a:r>
                      <a:endParaRPr sz="1200" u="none" strike="noStrike" cap="none">
                        <a:solidFill>
                          <a:schemeClr val="dk1"/>
                        </a:solidFill>
                        <a:latin typeface="Arial"/>
                        <a:ea typeface="Arial"/>
                        <a:cs typeface="Arial"/>
                        <a:sym typeface="Arial"/>
                      </a:endParaRPr>
                    </a:p>
                  </a:txBody>
                  <a:tcPr marL="18000" marR="18000" marT="4900" marB="0" anchor="ctr"/>
                </a:tc>
                <a:extLst>
                  <a:ext uri="{0D108BD9-81ED-4DB2-BD59-A6C34878D82A}">
                    <a16:rowId xmlns:a16="http://schemas.microsoft.com/office/drawing/2014/main" val="10005"/>
                  </a:ext>
                </a:extLst>
              </a:tr>
              <a:tr h="738278">
                <a:tc>
                  <a:txBody>
                    <a:bodyPr/>
                    <a:lstStyle/>
                    <a:p>
                      <a:pPr marL="0" marR="0" lvl="0" indent="190500" algn="l" rtl="0">
                        <a:lnSpc>
                          <a:spcPct val="142857"/>
                        </a:lnSpc>
                        <a:spcBef>
                          <a:spcPts val="0"/>
                        </a:spcBef>
                        <a:spcAft>
                          <a:spcPts val="0"/>
                        </a:spcAft>
                        <a:buClr>
                          <a:srgbClr val="000000"/>
                        </a:buClr>
                        <a:buSzPts val="1400"/>
                        <a:buFont typeface="Arial"/>
                        <a:buNone/>
                      </a:pPr>
                      <a:r>
                        <a:rPr lang="en-US" sz="1200" u="none" strike="noStrike" cap="none">
                          <a:solidFill>
                            <a:schemeClr val="dk1"/>
                          </a:solidFill>
                          <a:latin typeface="Arial"/>
                          <a:ea typeface="Arial"/>
                          <a:cs typeface="Arial"/>
                          <a:sym typeface="Arial"/>
                        </a:rPr>
                        <a:t>6. Vợ chồng lớn tuổi, con không sống chung, còn đi làm</a:t>
                      </a:r>
                      <a:endParaRPr sz="1200" u="none" strike="noStrike" cap="none">
                        <a:solidFill>
                          <a:schemeClr val="dk1"/>
                        </a:solidFill>
                        <a:latin typeface="Arial"/>
                        <a:ea typeface="Arial"/>
                        <a:cs typeface="Arial"/>
                        <a:sym typeface="Arial"/>
                      </a:endParaRPr>
                    </a:p>
                  </a:txBody>
                  <a:tcPr marL="18000" marR="18000" marT="4900" marB="0" anchor="ctr"/>
                </a:tc>
                <a:tc>
                  <a:txBody>
                    <a:bodyPr/>
                    <a:lstStyle/>
                    <a:p>
                      <a:pPr marL="0" marR="0" lvl="0" indent="190500" algn="l" rtl="0">
                        <a:lnSpc>
                          <a:spcPct val="142857"/>
                        </a:lnSpc>
                        <a:spcBef>
                          <a:spcPts val="0"/>
                        </a:spcBef>
                        <a:spcAft>
                          <a:spcPts val="0"/>
                        </a:spcAft>
                        <a:buClr>
                          <a:srgbClr val="000000"/>
                        </a:buClr>
                        <a:buSzPts val="1400"/>
                        <a:buFont typeface="Arial"/>
                        <a:buNone/>
                      </a:pPr>
                      <a:r>
                        <a:rPr lang="en-US" sz="1200" u="none" strike="noStrike" cap="none" err="1">
                          <a:solidFill>
                            <a:schemeClr val="dk1"/>
                          </a:solidFill>
                          <a:latin typeface="Arial"/>
                          <a:ea typeface="Arial"/>
                          <a:cs typeface="Arial"/>
                          <a:sym typeface="Arial"/>
                        </a:rPr>
                        <a:t>Tình</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trạng</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tài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chính</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đầy</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đủ</a:t>
                      </a:r>
                      <a:r>
                        <a:rPr lang="en-US" sz="1200" u="none" strike="noStrike" cap="none">
                          <a:solidFill>
                            <a:schemeClr val="dk1"/>
                          </a:solidFill>
                          <a:latin typeface="Arial"/>
                          <a:ea typeface="Arial"/>
                          <a:cs typeface="Arial"/>
                          <a:sym typeface="Arial"/>
                        </a:rPr>
                        <a:t>. </a:t>
                      </a:r>
                      <a:endParaRPr sz="1200" u="none" strike="noStrike" cap="none"/>
                    </a:p>
                    <a:p>
                      <a:pPr marL="0" marR="0" lvl="0" indent="190500" algn="l" rtl="0">
                        <a:lnSpc>
                          <a:spcPct val="142857"/>
                        </a:lnSpc>
                        <a:spcBef>
                          <a:spcPts val="0"/>
                        </a:spcBef>
                        <a:spcAft>
                          <a:spcPts val="0"/>
                        </a:spcAft>
                        <a:buClr>
                          <a:srgbClr val="000000"/>
                        </a:buClr>
                        <a:buSzPts val="1400"/>
                        <a:buFont typeface="Arial"/>
                        <a:buNone/>
                      </a:pPr>
                      <a:r>
                        <a:rPr lang="en-US" sz="1200" u="none" strike="noStrike" cap="none" err="1">
                          <a:solidFill>
                            <a:schemeClr val="dk1"/>
                          </a:solidFill>
                          <a:latin typeface="Arial"/>
                          <a:ea typeface="Arial"/>
                          <a:cs typeface="Arial"/>
                          <a:sym typeface="Arial"/>
                        </a:rPr>
                        <a:t>Không</a:t>
                      </a:r>
                      <a:r>
                        <a:rPr lang="en-US" sz="1200" u="none" strike="noStrike" cap="none">
                          <a:solidFill>
                            <a:schemeClr val="dk1"/>
                          </a:solidFill>
                          <a:latin typeface="Arial"/>
                          <a:ea typeface="Arial"/>
                          <a:cs typeface="Arial"/>
                          <a:sym typeface="Arial"/>
                        </a:rPr>
                        <a:t> có </a:t>
                      </a:r>
                      <a:r>
                        <a:rPr lang="en-US" sz="1200" u="none" strike="noStrike" cap="none" err="1">
                          <a:solidFill>
                            <a:schemeClr val="dk1"/>
                          </a:solidFill>
                          <a:latin typeface="Arial"/>
                          <a:ea typeface="Arial"/>
                          <a:cs typeface="Arial"/>
                          <a:sym typeface="Arial"/>
                        </a:rPr>
                        <a:t>nhu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cầu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mua</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sắm</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nhiều</a:t>
                      </a:r>
                      <a:r>
                        <a:rPr lang="en-US" sz="1200" u="none" strike="noStrike" cap="none">
                          <a:solidFill>
                            <a:schemeClr val="dk1"/>
                          </a:solidFill>
                          <a:latin typeface="Arial"/>
                          <a:ea typeface="Arial"/>
                          <a:cs typeface="Arial"/>
                          <a:sym typeface="Arial"/>
                        </a:rPr>
                        <a:t> vì </a:t>
                      </a:r>
                      <a:r>
                        <a:rPr lang="en-US" sz="1200" u="none" strike="noStrike" cap="none" err="1">
                          <a:solidFill>
                            <a:schemeClr val="dk1"/>
                          </a:solidFill>
                          <a:latin typeface="Arial"/>
                          <a:ea typeface="Arial"/>
                          <a:cs typeface="Arial"/>
                          <a:sym typeface="Arial"/>
                        </a:rPr>
                        <a:t>mọi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thứ</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đã</a:t>
                      </a:r>
                      <a:r>
                        <a:rPr lang="en-US" sz="1200" u="none" strike="noStrike" cap="none">
                          <a:solidFill>
                            <a:schemeClr val="dk1"/>
                          </a:solidFill>
                          <a:latin typeface="Arial"/>
                          <a:ea typeface="Arial"/>
                          <a:cs typeface="Arial"/>
                          <a:sym typeface="Arial"/>
                        </a:rPr>
                        <a:t> có </a:t>
                      </a:r>
                      <a:r>
                        <a:rPr lang="en-US" sz="1200" u="none" strike="noStrike" cap="none" err="1">
                          <a:solidFill>
                            <a:schemeClr val="dk1"/>
                          </a:solidFill>
                          <a:latin typeface="Arial"/>
                          <a:ea typeface="Arial"/>
                          <a:cs typeface="Arial"/>
                          <a:sym typeface="Arial"/>
                        </a:rPr>
                        <a:t>đủ</a:t>
                      </a:r>
                      <a:r>
                        <a:rPr lang="en-US" sz="1200" u="none" strike="noStrike" cap="none">
                          <a:solidFill>
                            <a:schemeClr val="dk1"/>
                          </a:solidFill>
                          <a:latin typeface="Arial"/>
                          <a:ea typeface="Arial"/>
                          <a:cs typeface="Arial"/>
                          <a:sym typeface="Arial"/>
                        </a:rPr>
                        <a:t>.</a:t>
                      </a:r>
                      <a:endParaRPr sz="1200" u="none" strike="noStrike" cap="none"/>
                    </a:p>
                    <a:p>
                      <a:pPr marL="0" marR="0" lvl="0" indent="190500" algn="l" rtl="0">
                        <a:lnSpc>
                          <a:spcPct val="142857"/>
                        </a:lnSpc>
                        <a:spcBef>
                          <a:spcPts val="0"/>
                        </a:spcBef>
                        <a:spcAft>
                          <a:spcPts val="0"/>
                        </a:spcAft>
                        <a:buClr>
                          <a:srgbClr val="000000"/>
                        </a:buClr>
                        <a:buSzPts val="1400"/>
                        <a:buFont typeface="Arial"/>
                        <a:buNone/>
                      </a:pPr>
                      <a:r>
                        <a:rPr lang="en-US" sz="1200" u="none" strike="noStrike" cap="none" err="1">
                          <a:solidFill>
                            <a:schemeClr val="dk1"/>
                          </a:solidFill>
                          <a:latin typeface="Arial"/>
                          <a:ea typeface="Arial"/>
                          <a:cs typeface="Arial"/>
                          <a:sym typeface="Arial"/>
                        </a:rPr>
                        <a:t>Tham</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gia</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các</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câu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lạc</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bộ</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thê</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thao</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làm</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từ</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thiện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đi</a:t>
                      </a:r>
                      <a:r>
                        <a:rPr lang="en-US" sz="1200" u="none" strike="noStrike" cap="none">
                          <a:solidFill>
                            <a:schemeClr val="dk1"/>
                          </a:solidFill>
                          <a:latin typeface="Arial"/>
                          <a:ea typeface="Arial"/>
                          <a:cs typeface="Arial"/>
                          <a:sym typeface="Arial"/>
                        </a:rPr>
                        <a:t> du </a:t>
                      </a:r>
                      <a:r>
                        <a:rPr lang="en-US" sz="1200" u="none" strike="noStrike" cap="none" err="1">
                          <a:solidFill>
                            <a:schemeClr val="dk1"/>
                          </a:solidFill>
                          <a:latin typeface="Arial"/>
                          <a:ea typeface="Arial"/>
                          <a:cs typeface="Arial"/>
                          <a:sym typeface="Arial"/>
                        </a:rPr>
                        <a:t>lịch</a:t>
                      </a:r>
                      <a:r>
                        <a:rPr lang="en-US" sz="1200" u="none" strike="noStrike" cap="none">
                          <a:solidFill>
                            <a:schemeClr val="dk1"/>
                          </a:solidFill>
                          <a:latin typeface="Arial"/>
                          <a:ea typeface="Arial"/>
                          <a:cs typeface="Arial"/>
                          <a:sym typeface="Arial"/>
                        </a:rPr>
                        <a:t>.</a:t>
                      </a:r>
                      <a:endParaRPr sz="1200" u="none" strike="noStrike" cap="none">
                        <a:solidFill>
                          <a:schemeClr val="dk1"/>
                        </a:solidFill>
                        <a:latin typeface="Arial"/>
                        <a:ea typeface="Arial"/>
                        <a:cs typeface="Arial"/>
                        <a:sym typeface="Arial"/>
                      </a:endParaRPr>
                    </a:p>
                  </a:txBody>
                  <a:tcPr marL="18000" marR="18000" marT="4900" marB="0" anchor="ctr"/>
                </a:tc>
                <a:extLst>
                  <a:ext uri="{0D108BD9-81ED-4DB2-BD59-A6C34878D82A}">
                    <a16:rowId xmlns:a16="http://schemas.microsoft.com/office/drawing/2014/main" val="10006"/>
                  </a:ext>
                </a:extLst>
              </a:tr>
              <a:tr h="610607">
                <a:tc>
                  <a:txBody>
                    <a:bodyPr/>
                    <a:lstStyle/>
                    <a:p>
                      <a:pPr marL="0" marR="0" lvl="0" indent="190500" algn="l" rtl="0">
                        <a:lnSpc>
                          <a:spcPct val="142857"/>
                        </a:lnSpc>
                        <a:spcBef>
                          <a:spcPts val="0"/>
                        </a:spcBef>
                        <a:spcAft>
                          <a:spcPts val="0"/>
                        </a:spcAft>
                        <a:buClr>
                          <a:srgbClr val="000000"/>
                        </a:buClr>
                        <a:buSzPts val="1400"/>
                        <a:buFont typeface="Arial"/>
                        <a:buNone/>
                      </a:pPr>
                      <a:r>
                        <a:rPr lang="en-US" sz="1200" u="none" strike="noStrike" cap="none">
                          <a:solidFill>
                            <a:schemeClr val="dk1"/>
                          </a:solidFill>
                          <a:latin typeface="Arial"/>
                          <a:ea typeface="Arial"/>
                          <a:cs typeface="Arial"/>
                          <a:sym typeface="Arial"/>
                        </a:rPr>
                        <a:t>7. Vợ chồng già, con cái không sống chung, đã nghỉ hưu</a:t>
                      </a:r>
                      <a:endParaRPr sz="1200" u="none" strike="noStrike" cap="none">
                        <a:solidFill>
                          <a:schemeClr val="dk1"/>
                        </a:solidFill>
                        <a:latin typeface="Arial"/>
                        <a:ea typeface="Arial"/>
                        <a:cs typeface="Arial"/>
                        <a:sym typeface="Arial"/>
                      </a:endParaRPr>
                    </a:p>
                  </a:txBody>
                  <a:tcPr marL="18000" marR="18000" marT="4900" marB="0" anchor="ctr"/>
                </a:tc>
                <a:tc>
                  <a:txBody>
                    <a:bodyPr/>
                    <a:lstStyle/>
                    <a:p>
                      <a:pPr marL="0" marR="0" lvl="0" indent="190500" algn="l" rtl="0">
                        <a:lnSpc>
                          <a:spcPct val="142857"/>
                        </a:lnSpc>
                        <a:spcBef>
                          <a:spcPts val="0"/>
                        </a:spcBef>
                        <a:spcAft>
                          <a:spcPts val="0"/>
                        </a:spcAft>
                        <a:buClr>
                          <a:srgbClr val="000000"/>
                        </a:buClr>
                        <a:buSzPts val="1400"/>
                        <a:buFont typeface="Arial"/>
                        <a:buNone/>
                      </a:pPr>
                      <a:r>
                        <a:rPr lang="en-US" sz="1200" u="none" strike="noStrike" cap="none" err="1">
                          <a:solidFill>
                            <a:schemeClr val="dk1"/>
                          </a:solidFill>
                          <a:latin typeface="Arial"/>
                          <a:ea typeface="Arial"/>
                          <a:cs typeface="Arial"/>
                          <a:sym typeface="Arial"/>
                        </a:rPr>
                        <a:t>Mua</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dược</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phẩm</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bồi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bô</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sức</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khỏe</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chữa</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bệnh</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dịch</a:t>
                      </a:r>
                      <a:r>
                        <a:rPr lang="en-US" sz="1200" u="none" strike="noStrike" cap="none">
                          <a:solidFill>
                            <a:schemeClr val="dk1"/>
                          </a:solidFill>
                          <a:latin typeface="Arial"/>
                          <a:ea typeface="Arial"/>
                          <a:cs typeface="Arial"/>
                          <a:sym typeface="Arial"/>
                        </a:rPr>
                        <a:t> vụ y </a:t>
                      </a:r>
                      <a:r>
                        <a:rPr lang="en-US" sz="1200" u="none" strike="noStrike" cap="none" err="1">
                          <a:solidFill>
                            <a:schemeClr val="dk1"/>
                          </a:solidFill>
                          <a:latin typeface="Arial"/>
                          <a:ea typeface="Arial"/>
                          <a:cs typeface="Arial"/>
                          <a:sym typeface="Arial"/>
                        </a:rPr>
                        <a:t>tế</a:t>
                      </a:r>
                      <a:r>
                        <a:rPr lang="en-US" sz="1200" u="none" strike="noStrike" cap="none">
                          <a:solidFill>
                            <a:schemeClr val="dk1"/>
                          </a:solidFill>
                          <a:latin typeface="Arial"/>
                          <a:ea typeface="Arial"/>
                          <a:cs typeface="Arial"/>
                          <a:sym typeface="Arial"/>
                        </a:rPr>
                        <a:t>. </a:t>
                      </a:r>
                      <a:endParaRPr sz="1200" u="none" strike="noStrike" cap="none"/>
                    </a:p>
                    <a:p>
                      <a:pPr marL="0" marR="0" lvl="0" indent="190500" algn="l" rtl="0">
                        <a:lnSpc>
                          <a:spcPct val="142857"/>
                        </a:lnSpc>
                        <a:spcBef>
                          <a:spcPts val="0"/>
                        </a:spcBef>
                        <a:spcAft>
                          <a:spcPts val="0"/>
                        </a:spcAft>
                        <a:buClr>
                          <a:srgbClr val="000000"/>
                        </a:buClr>
                        <a:buSzPts val="1400"/>
                        <a:buFont typeface="Arial"/>
                        <a:buNone/>
                      </a:pPr>
                      <a:r>
                        <a:rPr lang="en-US" sz="1200" u="none" strike="noStrike" cap="none" err="1">
                          <a:solidFill>
                            <a:schemeClr val="dk1"/>
                          </a:solidFill>
                          <a:latin typeface="Arial"/>
                          <a:ea typeface="Arial"/>
                          <a:cs typeface="Arial"/>
                          <a:sym typeface="Arial"/>
                        </a:rPr>
                        <a:t>Tham</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gia</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các</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câu</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lạc</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bộ</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thê</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thao</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hội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ngưòi</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gia</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các</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nhóm</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tôn</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giáo</a:t>
                      </a:r>
                      <a:r>
                        <a:rPr lang="en-US" sz="1200" u="none" strike="noStrike" cap="none">
                          <a:solidFill>
                            <a:schemeClr val="dk1"/>
                          </a:solidFill>
                          <a:latin typeface="Arial"/>
                          <a:ea typeface="Arial"/>
                          <a:cs typeface="Arial"/>
                          <a:sym typeface="Arial"/>
                        </a:rPr>
                        <a:t>. </a:t>
                      </a:r>
                      <a:r>
                        <a:rPr lang="en-US" sz="1200" u="none" strike="noStrike" cap="none" err="1">
                          <a:solidFill>
                            <a:schemeClr val="dk1"/>
                          </a:solidFill>
                          <a:latin typeface="Arial"/>
                          <a:ea typeface="Arial"/>
                          <a:cs typeface="Arial"/>
                          <a:sym typeface="Arial"/>
                        </a:rPr>
                        <a:t>Đi</a:t>
                      </a:r>
                      <a:r>
                        <a:rPr lang="en-US" sz="1200" u="none" strike="noStrike" cap="none">
                          <a:solidFill>
                            <a:schemeClr val="dk1"/>
                          </a:solidFill>
                          <a:latin typeface="Arial"/>
                          <a:ea typeface="Arial"/>
                          <a:cs typeface="Arial"/>
                          <a:sym typeface="Arial"/>
                        </a:rPr>
                        <a:t> du </a:t>
                      </a:r>
                      <a:r>
                        <a:rPr lang="en-US" sz="1200" u="none" strike="noStrike" cap="none" err="1">
                          <a:solidFill>
                            <a:schemeClr val="dk1"/>
                          </a:solidFill>
                          <a:latin typeface="Arial"/>
                          <a:ea typeface="Arial"/>
                          <a:cs typeface="Arial"/>
                          <a:sym typeface="Arial"/>
                        </a:rPr>
                        <a:t>lịch</a:t>
                      </a:r>
                      <a:r>
                        <a:rPr lang="en-US" sz="1200" u="none" strike="noStrike" cap="none">
                          <a:solidFill>
                            <a:schemeClr val="dk1"/>
                          </a:solidFill>
                          <a:latin typeface="Arial"/>
                          <a:ea typeface="Arial"/>
                          <a:cs typeface="Arial"/>
                          <a:sym typeface="Arial"/>
                        </a:rPr>
                        <a:t>.</a:t>
                      </a:r>
                      <a:endParaRPr sz="1200" u="none" strike="noStrike" cap="none">
                        <a:solidFill>
                          <a:schemeClr val="dk1"/>
                        </a:solidFill>
                        <a:latin typeface="Arial"/>
                        <a:ea typeface="Arial"/>
                        <a:cs typeface="Arial"/>
                        <a:sym typeface="Arial"/>
                      </a:endParaRPr>
                    </a:p>
                  </a:txBody>
                  <a:tcPr marL="18000" marR="18000" marT="4900" marB="0"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108"/>
          <p:cNvSpPr txBox="1">
            <a:spLocks noGrp="1"/>
          </p:cNvSpPr>
          <p:nvPr>
            <p:ph type="title"/>
          </p:nvPr>
        </p:nvSpPr>
        <p:spPr>
          <a:xfrm>
            <a:off x="487996" y="313267"/>
            <a:ext cx="10865804" cy="1377421"/>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3200"/>
              <a:buFont typeface="Arial"/>
              <a:buNone/>
            </a:pPr>
            <a:r>
              <a:rPr lang="vi-VN" sz="2800" b="1">
                <a:latin typeface="Arial"/>
                <a:ea typeface="Arial"/>
                <a:cs typeface="Arial"/>
                <a:sym typeface="Arial"/>
              </a:rPr>
              <a:t>2.2.4 Gia tầng xã hội</a:t>
            </a:r>
            <a:br>
              <a:rPr lang="vi-VN" sz="2800" b="1">
                <a:latin typeface="Arial"/>
                <a:ea typeface="Arial"/>
                <a:cs typeface="Arial"/>
                <a:sym typeface="Arial"/>
              </a:rPr>
            </a:br>
            <a:r>
              <a:rPr lang="vi-VN" sz="2800" b="1">
                <a:latin typeface="Arial"/>
                <a:ea typeface="Arial"/>
                <a:cs typeface="Arial"/>
                <a:sym typeface="Arial"/>
              </a:rPr>
              <a:t>2.2.</a:t>
            </a:r>
            <a:r>
              <a:rPr lang="en-US" sz="2800" b="1">
                <a:latin typeface="Arial"/>
                <a:ea typeface="Arial"/>
                <a:cs typeface="Arial"/>
                <a:sym typeface="Arial"/>
              </a:rPr>
              <a:t>4.1. </a:t>
            </a:r>
            <a:r>
              <a:rPr lang="en-US" sz="2800" b="1" err="1">
                <a:latin typeface="Arial"/>
                <a:ea typeface="Arial"/>
                <a:cs typeface="Arial"/>
                <a:sym typeface="Arial"/>
              </a:rPr>
              <a:t>Khái</a:t>
            </a:r>
            <a:r>
              <a:rPr lang="en-US" sz="2800" b="1">
                <a:latin typeface="Arial"/>
                <a:ea typeface="Arial"/>
                <a:cs typeface="Arial"/>
                <a:sym typeface="Arial"/>
              </a:rPr>
              <a:t> </a:t>
            </a:r>
            <a:r>
              <a:rPr lang="en-US" sz="2800" b="1" err="1">
                <a:latin typeface="Arial"/>
                <a:ea typeface="Arial"/>
                <a:cs typeface="Arial"/>
                <a:sym typeface="Arial"/>
              </a:rPr>
              <a:t>niệm</a:t>
            </a:r>
            <a:endParaRPr sz="2800" b="1">
              <a:latin typeface="Arial"/>
              <a:ea typeface="Arial"/>
              <a:cs typeface="Arial"/>
              <a:sym typeface="Arial"/>
            </a:endParaRPr>
          </a:p>
        </p:txBody>
      </p:sp>
      <p:sp>
        <p:nvSpPr>
          <p:cNvPr id="800" name="Google Shape;800;p108"/>
          <p:cNvSpPr txBox="1">
            <a:spLocks noGrp="1"/>
          </p:cNvSpPr>
          <p:nvPr>
            <p:ph type="body" idx="1"/>
          </p:nvPr>
        </p:nvSpPr>
        <p:spPr>
          <a:xfrm>
            <a:off x="420262" y="1790430"/>
            <a:ext cx="6241417" cy="2162715"/>
          </a:xfrm>
          <a:prstGeom prst="rect">
            <a:avLst/>
          </a:prstGeom>
          <a:noFill/>
          <a:ln>
            <a:noFill/>
          </a:ln>
        </p:spPr>
        <p:txBody>
          <a:bodyPr spcFirstLastPara="1" wrap="square" lIns="91425" tIns="45700" rIns="91425" bIns="45700" anchor="t" anchorCtr="0">
            <a:noAutofit/>
          </a:bodyPr>
          <a:lstStyle/>
          <a:p>
            <a:pPr marL="228600" lvl="0" indent="0" algn="just" rtl="0">
              <a:lnSpc>
                <a:spcPct val="150000"/>
              </a:lnSpc>
              <a:spcBef>
                <a:spcPts val="0"/>
              </a:spcBef>
              <a:spcAft>
                <a:spcPts val="0"/>
              </a:spcAft>
              <a:buClr>
                <a:schemeClr val="dk1"/>
              </a:buClr>
              <a:buSzPts val="2800"/>
              <a:buNone/>
            </a:pPr>
            <a:r>
              <a:rPr lang="en-US">
                <a:latin typeface="Arial"/>
                <a:ea typeface="Arial"/>
                <a:cs typeface="Arial"/>
                <a:sym typeface="Arial"/>
              </a:rPr>
              <a:t>	</a:t>
            </a:r>
            <a:r>
              <a:rPr lang="en-US" err="1">
                <a:latin typeface="Arial"/>
                <a:ea typeface="Arial"/>
                <a:cs typeface="Arial"/>
                <a:sym typeface="Arial"/>
              </a:rPr>
              <a:t>Giai</a:t>
            </a:r>
            <a:r>
              <a:rPr lang="en-US">
                <a:latin typeface="Arial"/>
                <a:ea typeface="Arial"/>
                <a:cs typeface="Arial"/>
                <a:sym typeface="Arial"/>
              </a:rPr>
              <a:t> </a:t>
            </a:r>
            <a:r>
              <a:rPr lang="en-US" err="1">
                <a:latin typeface="Arial"/>
                <a:ea typeface="Arial"/>
                <a:cs typeface="Arial"/>
                <a:sym typeface="Arial"/>
              </a:rPr>
              <a:t>tầng</a:t>
            </a:r>
            <a:r>
              <a:rPr lang="en-US">
                <a:latin typeface="Arial"/>
                <a:ea typeface="Arial"/>
                <a:cs typeface="Arial"/>
                <a:sym typeface="Arial"/>
              </a:rPr>
              <a:t>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là</a:t>
            </a:r>
            <a:r>
              <a:rPr lang="en-US">
                <a:latin typeface="Arial"/>
                <a:ea typeface="Arial"/>
                <a:cs typeface="Arial"/>
                <a:sym typeface="Arial"/>
              </a:rPr>
              <a:t>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nhóm</a:t>
            </a:r>
            <a:r>
              <a:rPr lang="en-US">
                <a:latin typeface="Arial"/>
                <a:ea typeface="Arial"/>
                <a:cs typeface="Arial"/>
                <a:sym typeface="Arial"/>
              </a:rPr>
              <a:t> </a:t>
            </a:r>
            <a:r>
              <a:rPr lang="en-US" err="1">
                <a:latin typeface="Arial"/>
                <a:ea typeface="Arial"/>
                <a:cs typeface="Arial"/>
                <a:sym typeface="Arial"/>
              </a:rPr>
              <a:t>bao</a:t>
            </a:r>
            <a:r>
              <a:rPr lang="en-US">
                <a:latin typeface="Arial"/>
                <a:ea typeface="Arial"/>
                <a:cs typeface="Arial"/>
                <a:sym typeface="Arial"/>
              </a:rPr>
              <a:t> </a:t>
            </a:r>
            <a:r>
              <a:rPr lang="en-US" err="1">
                <a:latin typeface="Arial"/>
                <a:ea typeface="Arial"/>
                <a:cs typeface="Arial"/>
                <a:sym typeface="Arial"/>
              </a:rPr>
              <a:t>gồm</a:t>
            </a:r>
            <a:r>
              <a:rPr lang="en-US">
                <a:latin typeface="Arial"/>
                <a:ea typeface="Arial"/>
                <a:cs typeface="Arial"/>
                <a:sym typeface="Arial"/>
              </a:rPr>
              <a:t> </a:t>
            </a:r>
            <a:r>
              <a:rPr lang="en-US" err="1">
                <a:latin typeface="Arial"/>
                <a:ea typeface="Arial"/>
                <a:cs typeface="Arial"/>
                <a:sym typeface="Arial"/>
              </a:rPr>
              <a:t>những</a:t>
            </a:r>
            <a:r>
              <a:rPr lang="en-US">
                <a:latin typeface="Arial"/>
                <a:ea typeface="Arial"/>
                <a:cs typeface="Arial"/>
                <a:sym typeface="Arial"/>
              </a:rPr>
              <a:t> </a:t>
            </a:r>
            <a:r>
              <a:rPr lang="en-US" err="1">
                <a:latin typeface="Arial"/>
                <a:ea typeface="Arial"/>
                <a:cs typeface="Arial"/>
                <a:sym typeface="Arial"/>
              </a:rPr>
              <a:t>người</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những</a:t>
            </a:r>
            <a:r>
              <a:rPr lang="en-US">
                <a:latin typeface="Arial"/>
                <a:ea typeface="Arial"/>
                <a:cs typeface="Arial"/>
                <a:sym typeface="Arial"/>
              </a:rPr>
              <a:t> </a:t>
            </a:r>
            <a:r>
              <a:rPr lang="en-US" err="1">
                <a:latin typeface="Arial"/>
                <a:ea typeface="Arial"/>
                <a:cs typeface="Arial"/>
                <a:sym typeface="Arial"/>
              </a:rPr>
              <a:t>địa</a:t>
            </a:r>
            <a:r>
              <a:rPr lang="en-US">
                <a:latin typeface="Arial"/>
                <a:ea typeface="Arial"/>
                <a:cs typeface="Arial"/>
                <a:sym typeface="Arial"/>
              </a:rPr>
              <a:t> </a:t>
            </a:r>
            <a:r>
              <a:rPr lang="en-US" err="1">
                <a:latin typeface="Arial"/>
                <a:ea typeface="Arial"/>
                <a:cs typeface="Arial"/>
                <a:sym typeface="Arial"/>
              </a:rPr>
              <a:t>vị</a:t>
            </a:r>
            <a:r>
              <a:rPr lang="en-US">
                <a:latin typeface="Arial"/>
                <a:ea typeface="Arial"/>
                <a:cs typeface="Arial"/>
                <a:sym typeface="Arial"/>
              </a:rPr>
              <a:t> </a:t>
            </a:r>
            <a:r>
              <a:rPr lang="en-US" err="1">
                <a:latin typeface="Arial"/>
                <a:ea typeface="Arial"/>
                <a:cs typeface="Arial"/>
                <a:sym typeface="Arial"/>
              </a:rPr>
              <a:t>tương</a:t>
            </a:r>
            <a:r>
              <a:rPr lang="en-US">
                <a:latin typeface="Arial"/>
                <a:ea typeface="Arial"/>
                <a:cs typeface="Arial"/>
                <a:sym typeface="Arial"/>
              </a:rPr>
              <a:t> </a:t>
            </a:r>
            <a:r>
              <a:rPr lang="en-US" err="1">
                <a:latin typeface="Arial"/>
                <a:ea typeface="Arial"/>
                <a:cs typeface="Arial"/>
                <a:sym typeface="Arial"/>
              </a:rPr>
              <a:t>đương</a:t>
            </a:r>
            <a:r>
              <a:rPr lang="en-US">
                <a:latin typeface="Arial"/>
                <a:ea typeface="Arial"/>
                <a:cs typeface="Arial"/>
                <a:sym typeface="Arial"/>
              </a:rPr>
              <a:t> </a:t>
            </a:r>
            <a:r>
              <a:rPr lang="en-US" err="1">
                <a:latin typeface="Arial"/>
                <a:ea typeface="Arial"/>
                <a:cs typeface="Arial"/>
                <a:sym typeface="Arial"/>
              </a:rPr>
              <a:t>trong</a:t>
            </a:r>
            <a:r>
              <a:rPr lang="en-US">
                <a:latin typeface="Arial"/>
                <a:ea typeface="Arial"/>
                <a:cs typeface="Arial"/>
                <a:sym typeface="Arial"/>
              </a:rPr>
              <a:t>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phân</a:t>
            </a:r>
            <a:r>
              <a:rPr lang="en-US">
                <a:latin typeface="Arial"/>
                <a:ea typeface="Arial"/>
                <a:cs typeface="Arial"/>
                <a:sym typeface="Arial"/>
              </a:rPr>
              <a:t> </a:t>
            </a:r>
            <a:r>
              <a:rPr lang="en-US" err="1">
                <a:latin typeface="Arial"/>
                <a:ea typeface="Arial"/>
                <a:cs typeface="Arial"/>
                <a:sym typeface="Arial"/>
              </a:rPr>
              <a:t>hóa</a:t>
            </a:r>
            <a:r>
              <a:rPr lang="en-US">
                <a:latin typeface="Arial"/>
                <a:ea typeface="Arial"/>
                <a:cs typeface="Arial"/>
                <a:sym typeface="Arial"/>
              </a:rPr>
              <a:t> </a:t>
            </a:r>
            <a:r>
              <a:rPr lang="en-US" err="1">
                <a:latin typeface="Arial"/>
                <a:ea typeface="Arial"/>
                <a:cs typeface="Arial"/>
                <a:sym typeface="Arial"/>
              </a:rPr>
              <a:t>thành</a:t>
            </a:r>
            <a:r>
              <a:rPr lang="en-US">
                <a:latin typeface="Arial"/>
                <a:ea typeface="Arial"/>
                <a:cs typeface="Arial"/>
                <a:sym typeface="Arial"/>
              </a:rPr>
              <a:t> </a:t>
            </a:r>
            <a:r>
              <a:rPr lang="en-US" err="1">
                <a:latin typeface="Arial"/>
                <a:ea typeface="Arial"/>
                <a:cs typeface="Arial"/>
                <a:sym typeface="Arial"/>
              </a:rPr>
              <a:t>nhiều</a:t>
            </a:r>
            <a:r>
              <a:rPr lang="en-US">
                <a:latin typeface="Arial"/>
                <a:ea typeface="Arial"/>
                <a:cs typeface="Arial"/>
                <a:sym typeface="Arial"/>
              </a:rPr>
              <a:t> </a:t>
            </a:r>
            <a:r>
              <a:rPr lang="en-US" err="1">
                <a:latin typeface="Arial"/>
                <a:ea typeface="Arial"/>
                <a:cs typeface="Arial"/>
                <a:sym typeface="Arial"/>
              </a:rPr>
              <a:t>giai</a:t>
            </a:r>
            <a:r>
              <a:rPr lang="en-US">
                <a:latin typeface="Arial"/>
                <a:ea typeface="Arial"/>
                <a:cs typeface="Arial"/>
                <a:sym typeface="Arial"/>
              </a:rPr>
              <a:t> </a:t>
            </a:r>
            <a:r>
              <a:rPr lang="en-US" err="1">
                <a:latin typeface="Arial"/>
                <a:ea typeface="Arial"/>
                <a:cs typeface="Arial"/>
                <a:sym typeface="Arial"/>
              </a:rPr>
              <a:t>tầng</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giai</a:t>
            </a:r>
            <a:r>
              <a:rPr lang="en-US">
                <a:latin typeface="Arial"/>
                <a:ea typeface="Arial"/>
                <a:cs typeface="Arial"/>
                <a:sym typeface="Arial"/>
              </a:rPr>
              <a:t> </a:t>
            </a:r>
            <a:r>
              <a:rPr lang="en-US" err="1">
                <a:latin typeface="Arial"/>
                <a:ea typeface="Arial"/>
                <a:cs typeface="Arial"/>
                <a:sym typeface="Arial"/>
              </a:rPr>
              <a:t>tầng</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địa</a:t>
            </a:r>
            <a:r>
              <a:rPr lang="en-US">
                <a:latin typeface="Arial"/>
                <a:ea typeface="Arial"/>
                <a:cs typeface="Arial"/>
                <a:sym typeface="Arial"/>
              </a:rPr>
              <a:t> </a:t>
            </a:r>
            <a:r>
              <a:rPr lang="en-US" err="1">
                <a:latin typeface="Arial"/>
                <a:ea typeface="Arial"/>
                <a:cs typeface="Arial"/>
                <a:sym typeface="Arial"/>
              </a:rPr>
              <a:t>vị</a:t>
            </a:r>
            <a:r>
              <a:rPr lang="en-US">
                <a:latin typeface="Arial"/>
                <a:ea typeface="Arial"/>
                <a:cs typeface="Arial"/>
                <a:sym typeface="Arial"/>
              </a:rPr>
              <a:t> </a:t>
            </a:r>
            <a:r>
              <a:rPr lang="en-US" err="1">
                <a:latin typeface="Arial"/>
                <a:ea typeface="Arial"/>
                <a:cs typeface="Arial"/>
                <a:sym typeface="Arial"/>
              </a:rPr>
              <a:t>cao</a:t>
            </a:r>
            <a:r>
              <a:rPr lang="en-US">
                <a:latin typeface="Arial"/>
                <a:ea typeface="Arial"/>
                <a:cs typeface="Arial"/>
                <a:sym typeface="Arial"/>
              </a:rPr>
              <a:t> </a:t>
            </a:r>
            <a:r>
              <a:rPr lang="en-US" err="1">
                <a:latin typeface="Arial"/>
                <a:ea typeface="Arial"/>
                <a:cs typeface="Arial"/>
                <a:sym typeface="Arial"/>
              </a:rPr>
              <a:t>thấp</a:t>
            </a:r>
            <a:r>
              <a:rPr lang="en-US">
                <a:latin typeface="Arial"/>
                <a:ea typeface="Arial"/>
                <a:cs typeface="Arial"/>
                <a:sym typeface="Arial"/>
              </a:rPr>
              <a:t> </a:t>
            </a:r>
            <a:r>
              <a:rPr lang="en-US" err="1">
                <a:latin typeface="Arial"/>
                <a:ea typeface="Arial"/>
                <a:cs typeface="Arial"/>
                <a:sym typeface="Arial"/>
              </a:rPr>
              <a:t>khác</a:t>
            </a:r>
            <a:r>
              <a:rPr lang="en-US">
                <a:latin typeface="Arial"/>
                <a:ea typeface="Arial"/>
                <a:cs typeface="Arial"/>
                <a:sym typeface="Arial"/>
              </a:rPr>
              <a:t> </a:t>
            </a:r>
            <a:r>
              <a:rPr lang="en-US" err="1">
                <a:latin typeface="Arial"/>
                <a:ea typeface="Arial"/>
                <a:cs typeface="Arial"/>
                <a:sym typeface="Arial"/>
              </a:rPr>
              <a:t>nhau</a:t>
            </a:r>
            <a:r>
              <a:rPr lang="en-US">
                <a:latin typeface="Arial"/>
                <a:ea typeface="Arial"/>
                <a:cs typeface="Arial"/>
                <a:sym typeface="Arial"/>
              </a:rPr>
              <a:t>.</a:t>
            </a:r>
            <a:endParaRPr/>
          </a:p>
          <a:p>
            <a:pPr marL="739775" lvl="0" indent="-333375" algn="just" rtl="0">
              <a:lnSpc>
                <a:spcPct val="150000"/>
              </a:lnSpc>
              <a:spcBef>
                <a:spcPts val="0"/>
              </a:spcBef>
              <a:spcAft>
                <a:spcPts val="0"/>
              </a:spcAft>
              <a:buClr>
                <a:schemeClr val="dk1"/>
              </a:buClr>
              <a:buSzPts val="2800"/>
              <a:buFont typeface="Noto Sans Symbols"/>
              <a:buNone/>
            </a:pPr>
            <a:endParaRPr>
              <a:latin typeface="Arial"/>
              <a:ea typeface="Arial"/>
              <a:cs typeface="Arial"/>
              <a:sym typeface="Arial"/>
            </a:endParaRPr>
          </a:p>
        </p:txBody>
      </p:sp>
      <p:pic>
        <p:nvPicPr>
          <p:cNvPr id="801" name="Google Shape;801;p108" descr="Phân tích một số vấn đề về thực trạng quản lý phát triển xã hội trong"/>
          <p:cNvPicPr preferRelativeResize="0"/>
          <p:nvPr/>
        </p:nvPicPr>
        <p:blipFill rotWithShape="1">
          <a:blip r:embed="rId3">
            <a:alphaModFix/>
          </a:blip>
          <a:srcRect/>
          <a:stretch/>
        </p:blipFill>
        <p:spPr>
          <a:xfrm>
            <a:off x="7224200" y="1790430"/>
            <a:ext cx="4361270" cy="2902227"/>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10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vi-VN" sz="3200" b="1"/>
              <a:t>2.2</a:t>
            </a:r>
            <a:r>
              <a:rPr lang="en-US" sz="3200" b="1">
                <a:latin typeface="Arial"/>
                <a:ea typeface="Arial"/>
                <a:cs typeface="Arial"/>
                <a:sym typeface="Arial"/>
              </a:rPr>
              <a:t>.4.2. </a:t>
            </a:r>
            <a:r>
              <a:rPr lang="en-US" sz="3200" b="1" err="1">
                <a:latin typeface="Arial"/>
                <a:ea typeface="Arial"/>
                <a:cs typeface="Arial"/>
                <a:sym typeface="Arial"/>
              </a:rPr>
              <a:t>Giai</a:t>
            </a:r>
            <a:r>
              <a:rPr lang="en-US" sz="3200" b="1">
                <a:latin typeface="Arial"/>
                <a:ea typeface="Arial"/>
                <a:cs typeface="Arial"/>
                <a:sym typeface="Arial"/>
              </a:rPr>
              <a:t> </a:t>
            </a:r>
            <a:r>
              <a:rPr lang="en-US" sz="3200" b="1" err="1">
                <a:latin typeface="Arial"/>
                <a:ea typeface="Arial"/>
                <a:cs typeface="Arial"/>
                <a:sym typeface="Arial"/>
              </a:rPr>
              <a:t>tầng</a:t>
            </a:r>
            <a:r>
              <a:rPr lang="en-US" sz="3200" b="1">
                <a:latin typeface="Arial"/>
                <a:ea typeface="Arial"/>
                <a:cs typeface="Arial"/>
                <a:sym typeface="Arial"/>
              </a:rPr>
              <a:t> </a:t>
            </a:r>
            <a:r>
              <a:rPr lang="en-US" sz="3200" b="1" err="1">
                <a:latin typeface="Arial"/>
                <a:ea typeface="Arial"/>
                <a:cs typeface="Arial"/>
                <a:sym typeface="Arial"/>
              </a:rPr>
              <a:t>xã</a:t>
            </a:r>
            <a:r>
              <a:rPr lang="en-US" sz="3200" b="1">
                <a:latin typeface="Arial"/>
                <a:ea typeface="Arial"/>
                <a:cs typeface="Arial"/>
                <a:sym typeface="Arial"/>
              </a:rPr>
              <a:t> </a:t>
            </a:r>
            <a:r>
              <a:rPr lang="en-US" sz="3200" b="1" err="1">
                <a:latin typeface="Arial"/>
                <a:ea typeface="Arial"/>
                <a:cs typeface="Arial"/>
                <a:sym typeface="Arial"/>
              </a:rPr>
              <a:t>hội</a:t>
            </a:r>
            <a:r>
              <a:rPr lang="en-US" sz="3200" b="1">
                <a:latin typeface="Arial"/>
                <a:ea typeface="Arial"/>
                <a:cs typeface="Arial"/>
                <a:sym typeface="Arial"/>
              </a:rPr>
              <a:t> </a:t>
            </a:r>
            <a:r>
              <a:rPr lang="en-US" sz="3200" b="1" err="1">
                <a:latin typeface="Arial"/>
                <a:ea typeface="Arial"/>
                <a:cs typeface="Arial"/>
                <a:sym typeface="Arial"/>
              </a:rPr>
              <a:t>và</a:t>
            </a:r>
            <a:r>
              <a:rPr lang="en-US" sz="3200" b="1">
                <a:latin typeface="Arial"/>
                <a:ea typeface="Arial"/>
                <a:cs typeface="Arial"/>
                <a:sym typeface="Arial"/>
              </a:rPr>
              <a:t> </a:t>
            </a:r>
            <a:r>
              <a:rPr lang="en-US" sz="3200" b="1" err="1">
                <a:latin typeface="Arial"/>
                <a:ea typeface="Arial"/>
                <a:cs typeface="Arial"/>
                <a:sym typeface="Arial"/>
              </a:rPr>
              <a:t>địa</a:t>
            </a:r>
            <a:r>
              <a:rPr lang="en-US" sz="3200" b="1">
                <a:latin typeface="Arial"/>
                <a:ea typeface="Arial"/>
                <a:cs typeface="Arial"/>
                <a:sym typeface="Arial"/>
              </a:rPr>
              <a:t> </a:t>
            </a:r>
            <a:r>
              <a:rPr lang="en-US" sz="3200" b="1" err="1">
                <a:latin typeface="Arial"/>
                <a:ea typeface="Arial"/>
                <a:cs typeface="Arial"/>
                <a:sym typeface="Arial"/>
              </a:rPr>
              <a:t>vị</a:t>
            </a:r>
            <a:r>
              <a:rPr lang="en-US" sz="3200" b="1">
                <a:latin typeface="Arial"/>
                <a:ea typeface="Arial"/>
                <a:cs typeface="Arial"/>
                <a:sym typeface="Arial"/>
              </a:rPr>
              <a:t> </a:t>
            </a:r>
            <a:r>
              <a:rPr lang="en-US" sz="3200" b="1" err="1">
                <a:latin typeface="Arial"/>
                <a:ea typeface="Arial"/>
                <a:cs typeface="Arial"/>
                <a:sym typeface="Arial"/>
              </a:rPr>
              <a:t>xã</a:t>
            </a:r>
            <a:r>
              <a:rPr lang="en-US" sz="3200" b="1">
                <a:latin typeface="Arial"/>
                <a:ea typeface="Arial"/>
                <a:cs typeface="Arial"/>
                <a:sym typeface="Arial"/>
              </a:rPr>
              <a:t> </a:t>
            </a:r>
            <a:r>
              <a:rPr lang="en-US" sz="3200" b="1" err="1">
                <a:latin typeface="Arial"/>
                <a:ea typeface="Arial"/>
                <a:cs typeface="Arial"/>
                <a:sym typeface="Arial"/>
              </a:rPr>
              <a:t>hội</a:t>
            </a:r>
            <a:endParaRPr sz="3200" b="1">
              <a:latin typeface="Arial"/>
              <a:ea typeface="Arial"/>
              <a:cs typeface="Arial"/>
              <a:sym typeface="Arial"/>
            </a:endParaRPr>
          </a:p>
        </p:txBody>
      </p:sp>
      <p:sp>
        <p:nvSpPr>
          <p:cNvPr id="807" name="Google Shape;807;p109"/>
          <p:cNvSpPr txBox="1">
            <a:spLocks noGrp="1"/>
          </p:cNvSpPr>
          <p:nvPr>
            <p:ph type="body" idx="1"/>
          </p:nvPr>
        </p:nvSpPr>
        <p:spPr>
          <a:xfrm>
            <a:off x="0" y="1515533"/>
            <a:ext cx="11287690" cy="4805363"/>
          </a:xfrm>
          <a:prstGeom prst="rect">
            <a:avLst/>
          </a:prstGeom>
          <a:noFill/>
          <a:ln>
            <a:noFill/>
          </a:ln>
        </p:spPr>
        <p:txBody>
          <a:bodyPr spcFirstLastPara="1" wrap="square" lIns="91425" tIns="45700" rIns="91425" bIns="45700" anchor="t" anchorCtr="0">
            <a:noAutofit/>
          </a:bodyPr>
          <a:lstStyle/>
          <a:p>
            <a:pPr marL="228600" lvl="0" indent="0" algn="just" rtl="0">
              <a:lnSpc>
                <a:spcPct val="150000"/>
              </a:lnSpc>
              <a:spcBef>
                <a:spcPts val="0"/>
              </a:spcBef>
              <a:spcAft>
                <a:spcPts val="0"/>
              </a:spcAft>
              <a:buClr>
                <a:schemeClr val="dk1"/>
              </a:buClr>
              <a:buSzPts val="2800"/>
              <a:buNone/>
            </a:pPr>
            <a:r>
              <a:rPr lang="en-US" err="1">
                <a:latin typeface="Arial"/>
                <a:ea typeface="Arial"/>
                <a:cs typeface="Arial"/>
                <a:sym typeface="Arial"/>
              </a:rPr>
              <a:t>Xác</a:t>
            </a:r>
            <a:r>
              <a:rPr lang="en-US">
                <a:latin typeface="Arial"/>
                <a:ea typeface="Arial"/>
                <a:cs typeface="Arial"/>
                <a:sym typeface="Arial"/>
              </a:rPr>
              <a:t> </a:t>
            </a:r>
            <a:r>
              <a:rPr lang="en-US" err="1">
                <a:latin typeface="Arial"/>
                <a:ea typeface="Arial"/>
                <a:cs typeface="Arial"/>
                <a:sym typeface="Arial"/>
              </a:rPr>
              <a:t>định</a:t>
            </a:r>
            <a:r>
              <a:rPr lang="en-US">
                <a:latin typeface="Arial"/>
                <a:ea typeface="Arial"/>
                <a:cs typeface="Arial"/>
                <a:sym typeface="Arial"/>
              </a:rPr>
              <a:t> </a:t>
            </a:r>
            <a:r>
              <a:rPr lang="en-US" err="1">
                <a:latin typeface="Arial"/>
                <a:ea typeface="Arial"/>
                <a:cs typeface="Arial"/>
                <a:sym typeface="Arial"/>
              </a:rPr>
              <a:t>giai</a:t>
            </a:r>
            <a:r>
              <a:rPr lang="en-US">
                <a:latin typeface="Arial"/>
                <a:ea typeface="Arial"/>
                <a:cs typeface="Arial"/>
                <a:sym typeface="Arial"/>
              </a:rPr>
              <a:t> </a:t>
            </a:r>
            <a:r>
              <a:rPr lang="en-US" err="1">
                <a:latin typeface="Arial"/>
                <a:ea typeface="Arial"/>
                <a:cs typeface="Arial"/>
                <a:sym typeface="Arial"/>
              </a:rPr>
              <a:t>tầng</a:t>
            </a:r>
            <a:r>
              <a:rPr lang="en-US">
                <a:latin typeface="Arial"/>
                <a:ea typeface="Arial"/>
                <a:cs typeface="Arial"/>
                <a:sym typeface="Arial"/>
              </a:rPr>
              <a:t> xã </a:t>
            </a:r>
            <a:r>
              <a:rPr lang="en-US" err="1">
                <a:latin typeface="Arial"/>
                <a:ea typeface="Arial"/>
                <a:cs typeface="Arial"/>
                <a:sym typeface="Arial"/>
              </a:rPr>
              <a:t>hội</a:t>
            </a:r>
            <a:r>
              <a:rPr lang="en-US">
                <a:latin typeface="Arial"/>
                <a:ea typeface="Arial"/>
                <a:cs typeface="Arial"/>
                <a:sym typeface="Arial"/>
              </a:rPr>
              <a:t> </a:t>
            </a:r>
            <a:r>
              <a:rPr lang="en-US" err="1">
                <a:latin typeface="Arial"/>
                <a:ea typeface="Arial"/>
                <a:cs typeface="Arial"/>
                <a:sym typeface="Arial"/>
              </a:rPr>
              <a:t>của</a:t>
            </a:r>
            <a:r>
              <a:rPr lang="en-US">
                <a:latin typeface="Arial"/>
                <a:ea typeface="Arial"/>
                <a:cs typeface="Arial"/>
                <a:sym typeface="Arial"/>
              </a:rPr>
              <a:t> </a:t>
            </a:r>
            <a:r>
              <a:rPr lang="en-US" err="1">
                <a:latin typeface="Arial"/>
                <a:ea typeface="Arial"/>
                <a:cs typeface="Arial"/>
                <a:sym typeface="Arial"/>
              </a:rPr>
              <a:t>một</a:t>
            </a:r>
            <a:r>
              <a:rPr lang="en-US">
                <a:latin typeface="Arial"/>
                <a:ea typeface="Arial"/>
                <a:cs typeface="Arial"/>
                <a:sym typeface="Arial"/>
              </a:rPr>
              <a:t> </a:t>
            </a:r>
            <a:r>
              <a:rPr lang="en-US" err="1">
                <a:latin typeface="Arial"/>
                <a:ea typeface="Arial"/>
                <a:cs typeface="Arial"/>
                <a:sym typeface="Arial"/>
              </a:rPr>
              <a:t>người</a:t>
            </a:r>
            <a:r>
              <a:rPr lang="en-US">
                <a:latin typeface="Arial"/>
                <a:ea typeface="Arial"/>
                <a:cs typeface="Arial"/>
                <a:sym typeface="Arial"/>
              </a:rPr>
              <a:t> </a:t>
            </a:r>
            <a:r>
              <a:rPr lang="en-US" err="1">
                <a:latin typeface="Arial"/>
                <a:ea typeface="Arial"/>
                <a:cs typeface="Arial"/>
                <a:sym typeface="Arial"/>
              </a:rPr>
              <a:t>dựa</a:t>
            </a:r>
            <a:r>
              <a:rPr lang="en-US">
                <a:latin typeface="Arial"/>
                <a:ea typeface="Arial"/>
                <a:cs typeface="Arial"/>
                <a:sym typeface="Arial"/>
              </a:rPr>
              <a:t> </a:t>
            </a:r>
            <a:r>
              <a:rPr lang="en-US" err="1">
                <a:latin typeface="Arial"/>
                <a:ea typeface="Arial"/>
                <a:cs typeface="Arial"/>
                <a:sym typeface="Arial"/>
              </a:rPr>
              <a:t>vào</a:t>
            </a:r>
            <a:r>
              <a:rPr lang="en-US">
                <a:latin typeface="Arial"/>
                <a:ea typeface="Arial"/>
                <a:cs typeface="Arial"/>
                <a:sym typeface="Arial"/>
              </a:rPr>
              <a:t> </a:t>
            </a:r>
            <a:r>
              <a:rPr lang="en-US" b="1" err="1">
                <a:latin typeface="Arial"/>
                <a:ea typeface="Arial"/>
                <a:cs typeface="Arial"/>
                <a:sym typeface="Arial"/>
              </a:rPr>
              <a:t>địa</a:t>
            </a:r>
            <a:r>
              <a:rPr lang="en-US" b="1">
                <a:latin typeface="Arial"/>
                <a:ea typeface="Arial"/>
                <a:cs typeface="Arial"/>
                <a:sym typeface="Arial"/>
              </a:rPr>
              <a:t> vị </a:t>
            </a:r>
            <a:r>
              <a:rPr lang="en-US" b="1" err="1">
                <a:latin typeface="Arial"/>
                <a:ea typeface="Arial"/>
                <a:cs typeface="Arial"/>
                <a:sym typeface="Arial"/>
              </a:rPr>
              <a:t>xã</a:t>
            </a:r>
            <a:r>
              <a:rPr lang="en-US" b="1">
                <a:latin typeface="Arial"/>
                <a:ea typeface="Arial"/>
                <a:cs typeface="Arial"/>
                <a:sym typeface="Arial"/>
              </a:rPr>
              <a:t> </a:t>
            </a:r>
            <a:r>
              <a:rPr lang="en-US" b="1" err="1">
                <a:latin typeface="Arial"/>
                <a:ea typeface="Arial"/>
                <a:cs typeface="Arial"/>
                <a:sym typeface="Arial"/>
              </a:rPr>
              <a:t>hội</a:t>
            </a:r>
            <a:r>
              <a:rPr lang="en-US">
                <a:latin typeface="Arial"/>
                <a:ea typeface="Arial"/>
                <a:cs typeface="Arial"/>
                <a:sym typeface="Arial"/>
              </a:rPr>
              <a:t>.</a:t>
            </a:r>
            <a:endParaRPr/>
          </a:p>
          <a:p>
            <a:pPr marL="228600" lvl="0" indent="0" algn="just" rtl="0">
              <a:lnSpc>
                <a:spcPct val="150000"/>
              </a:lnSpc>
              <a:spcBef>
                <a:spcPts val="0"/>
              </a:spcBef>
              <a:spcAft>
                <a:spcPts val="0"/>
              </a:spcAft>
              <a:buClr>
                <a:schemeClr val="dk1"/>
              </a:buClr>
              <a:buSzPts val="2800"/>
              <a:buNone/>
            </a:pPr>
            <a:r>
              <a:rPr lang="en-US">
                <a:latin typeface="Arial"/>
                <a:ea typeface="Arial"/>
                <a:cs typeface="Arial"/>
                <a:sym typeface="Arial"/>
              </a:rPr>
              <a:t> </a:t>
            </a:r>
            <a:r>
              <a:rPr lang="en-US" err="1">
                <a:latin typeface="Arial"/>
                <a:ea typeface="Arial"/>
                <a:cs typeface="Arial"/>
                <a:sym typeface="Arial"/>
              </a:rPr>
              <a:t>Địa</a:t>
            </a:r>
            <a:r>
              <a:rPr lang="en-US">
                <a:latin typeface="Arial"/>
                <a:ea typeface="Arial"/>
                <a:cs typeface="Arial"/>
                <a:sym typeface="Arial"/>
              </a:rPr>
              <a:t> vị xã </a:t>
            </a:r>
            <a:r>
              <a:rPr lang="en-US" err="1">
                <a:latin typeface="Arial"/>
                <a:ea typeface="Arial"/>
                <a:cs typeface="Arial"/>
                <a:sym typeface="Arial"/>
              </a:rPr>
              <a:t>hội</a:t>
            </a:r>
            <a:r>
              <a:rPr lang="en-US">
                <a:latin typeface="Arial"/>
                <a:ea typeface="Arial"/>
                <a:cs typeface="Arial"/>
                <a:sym typeface="Arial"/>
              </a:rPr>
              <a:t> </a:t>
            </a:r>
            <a:r>
              <a:rPr lang="en-US" err="1">
                <a:latin typeface="Arial"/>
                <a:ea typeface="Arial"/>
                <a:cs typeface="Arial"/>
                <a:sym typeface="Arial"/>
              </a:rPr>
              <a:t>được</a:t>
            </a:r>
            <a:r>
              <a:rPr lang="en-US">
                <a:latin typeface="Arial"/>
                <a:ea typeface="Arial"/>
                <a:cs typeface="Arial"/>
                <a:sym typeface="Arial"/>
              </a:rPr>
              <a:t> </a:t>
            </a:r>
            <a:r>
              <a:rPr lang="en-US" err="1">
                <a:latin typeface="Arial"/>
                <a:ea typeface="Arial"/>
                <a:cs typeface="Arial"/>
                <a:sym typeface="Arial"/>
              </a:rPr>
              <a:t>xác</a:t>
            </a:r>
            <a:r>
              <a:rPr lang="en-US">
                <a:latin typeface="Arial"/>
                <a:ea typeface="Arial"/>
                <a:cs typeface="Arial"/>
                <a:sym typeface="Arial"/>
              </a:rPr>
              <a:t> </a:t>
            </a:r>
            <a:r>
              <a:rPr lang="en-US" err="1">
                <a:latin typeface="Arial"/>
                <a:ea typeface="Arial"/>
                <a:cs typeface="Arial"/>
                <a:sym typeface="Arial"/>
              </a:rPr>
              <a:t>định</a:t>
            </a:r>
            <a:r>
              <a:rPr lang="en-US">
                <a:latin typeface="Arial"/>
                <a:ea typeface="Arial"/>
                <a:cs typeface="Arial"/>
                <a:sym typeface="Arial"/>
              </a:rPr>
              <a:t> </a:t>
            </a:r>
            <a:r>
              <a:rPr lang="en-US" err="1">
                <a:latin typeface="Arial"/>
                <a:ea typeface="Arial"/>
                <a:cs typeface="Arial"/>
                <a:sym typeface="Arial"/>
              </a:rPr>
              <a:t>bằng</a:t>
            </a:r>
            <a:r>
              <a:rPr lang="en-US">
                <a:latin typeface="Arial"/>
                <a:ea typeface="Arial"/>
                <a:cs typeface="Arial"/>
                <a:sym typeface="Arial"/>
              </a:rPr>
              <a:t> </a:t>
            </a:r>
            <a:r>
              <a:rPr lang="en-US" err="1">
                <a:latin typeface="Arial"/>
                <a:ea typeface="Arial"/>
                <a:cs typeface="Arial"/>
                <a:sym typeface="Arial"/>
              </a:rPr>
              <a:t>một</a:t>
            </a:r>
            <a:r>
              <a:rPr lang="en-US">
                <a:latin typeface="Arial"/>
                <a:ea typeface="Arial"/>
                <a:cs typeface="Arial"/>
                <a:sym typeface="Arial"/>
              </a:rPr>
              <a:t> hay </a:t>
            </a:r>
            <a:r>
              <a:rPr lang="en-US" err="1">
                <a:latin typeface="Arial"/>
                <a:ea typeface="Arial"/>
                <a:cs typeface="Arial"/>
                <a:sym typeface="Arial"/>
              </a:rPr>
              <a:t>nhiều</a:t>
            </a:r>
            <a:r>
              <a:rPr lang="en-US">
                <a:latin typeface="Arial"/>
                <a:ea typeface="Arial"/>
                <a:cs typeface="Arial"/>
                <a:sym typeface="Arial"/>
              </a:rPr>
              <a:t> </a:t>
            </a:r>
            <a:r>
              <a:rPr lang="en-US" err="1">
                <a:latin typeface="Arial"/>
                <a:ea typeface="Arial"/>
                <a:cs typeface="Arial"/>
                <a:sym typeface="Arial"/>
              </a:rPr>
              <a:t>các</a:t>
            </a:r>
            <a:r>
              <a:rPr lang="en-US">
                <a:latin typeface="Arial"/>
                <a:ea typeface="Arial"/>
                <a:cs typeface="Arial"/>
                <a:sym typeface="Arial"/>
              </a:rPr>
              <a:t> </a:t>
            </a:r>
            <a:r>
              <a:rPr lang="en-US" err="1">
                <a:latin typeface="Arial"/>
                <a:ea typeface="Arial"/>
                <a:cs typeface="Arial"/>
                <a:sym typeface="Arial"/>
              </a:rPr>
              <a:t>yếu</a:t>
            </a:r>
            <a:r>
              <a:rPr lang="en-US">
                <a:latin typeface="Arial"/>
                <a:ea typeface="Arial"/>
                <a:cs typeface="Arial"/>
                <a:sym typeface="Arial"/>
              </a:rPr>
              <a:t> </a:t>
            </a:r>
            <a:r>
              <a:rPr lang="en-US" err="1">
                <a:latin typeface="Arial"/>
                <a:ea typeface="Arial"/>
                <a:cs typeface="Arial"/>
                <a:sym typeface="Arial"/>
              </a:rPr>
              <a:t>tô</a:t>
            </a:r>
            <a:r>
              <a:rPr lang="en-US">
                <a:latin typeface="Arial"/>
                <a:ea typeface="Arial"/>
                <a:cs typeface="Arial"/>
                <a:sym typeface="Arial"/>
              </a:rPr>
              <a:t>́ </a:t>
            </a:r>
            <a:r>
              <a:rPr lang="en-US" err="1">
                <a:latin typeface="Arial"/>
                <a:ea typeface="Arial"/>
                <a:cs typeface="Arial"/>
                <a:sym typeface="Arial"/>
              </a:rPr>
              <a:t>kinh</a:t>
            </a:r>
            <a:r>
              <a:rPr lang="en-US">
                <a:latin typeface="Arial"/>
                <a:ea typeface="Arial"/>
                <a:cs typeface="Arial"/>
                <a:sym typeface="Arial"/>
              </a:rPr>
              <a:t> </a:t>
            </a:r>
            <a:r>
              <a:rPr lang="en-US" err="1">
                <a:latin typeface="Arial"/>
                <a:ea typeface="Arial"/>
                <a:cs typeface="Arial"/>
                <a:sym typeface="Arial"/>
              </a:rPr>
              <a:t>tê</a:t>
            </a:r>
            <a:r>
              <a:rPr lang="en-US">
                <a:latin typeface="Arial"/>
                <a:ea typeface="Arial"/>
                <a:cs typeface="Arial"/>
                <a:sym typeface="Arial"/>
              </a:rPr>
              <a:t>́ - </a:t>
            </a:r>
            <a:r>
              <a:rPr lang="en-US" err="1">
                <a:latin typeface="Arial"/>
                <a:ea typeface="Arial"/>
                <a:cs typeface="Arial"/>
                <a:sym typeface="Arial"/>
              </a:rPr>
              <a:t>x</a:t>
            </a:r>
            <a:r>
              <a:rPr lang="en-US" err="1"/>
              <a:t>ã</a:t>
            </a:r>
            <a:r>
              <a:rPr lang="en-US">
                <a:latin typeface="Arial"/>
                <a:ea typeface="Arial"/>
                <a:cs typeface="Arial"/>
                <a:sym typeface="Arial"/>
              </a:rPr>
              <a:t> </a:t>
            </a:r>
            <a:r>
              <a:rPr lang="en-US" err="1">
                <a:latin typeface="Arial"/>
                <a:ea typeface="Arial"/>
                <a:cs typeface="Arial"/>
                <a:sym typeface="Arial"/>
              </a:rPr>
              <a:t>hội</a:t>
            </a:r>
            <a:r>
              <a:rPr lang="en-US">
                <a:latin typeface="Arial"/>
                <a:ea typeface="Arial"/>
                <a:cs typeface="Arial"/>
                <a:sym typeface="Arial"/>
              </a:rPr>
              <a:t> </a:t>
            </a:r>
            <a:r>
              <a:rPr lang="en-US" err="1">
                <a:latin typeface="Arial"/>
                <a:ea typeface="Arial"/>
                <a:cs typeface="Arial"/>
                <a:sym typeface="Arial"/>
              </a:rPr>
              <a:t>như</a:t>
            </a:r>
            <a:r>
              <a:rPr lang="en-US">
                <a:latin typeface="Arial"/>
                <a:ea typeface="Arial"/>
                <a:cs typeface="Arial"/>
                <a:sym typeface="Arial"/>
              </a:rPr>
              <a:t> </a:t>
            </a:r>
            <a:r>
              <a:rPr lang="en-US" err="1">
                <a:latin typeface="Arial"/>
                <a:ea typeface="Arial"/>
                <a:cs typeface="Arial"/>
                <a:sym typeface="Arial"/>
              </a:rPr>
              <a:t>trình</a:t>
            </a:r>
            <a:r>
              <a:rPr lang="en-US">
                <a:latin typeface="Arial"/>
                <a:ea typeface="Arial"/>
                <a:cs typeface="Arial"/>
                <a:sym typeface="Arial"/>
              </a:rPr>
              <a:t> </a:t>
            </a:r>
            <a:r>
              <a:rPr lang="en-US" err="1">
                <a:latin typeface="Arial"/>
                <a:ea typeface="Arial"/>
                <a:cs typeface="Arial"/>
                <a:sym typeface="Arial"/>
              </a:rPr>
              <a:t>đô</a:t>
            </a:r>
            <a:r>
              <a:rPr lang="en-US">
                <a:latin typeface="Arial"/>
                <a:ea typeface="Arial"/>
                <a:cs typeface="Arial"/>
                <a:sym typeface="Arial"/>
              </a:rPr>
              <a:t>̣ </a:t>
            </a:r>
            <a:r>
              <a:rPr lang="en-US" err="1">
                <a:latin typeface="Arial"/>
                <a:ea typeface="Arial"/>
                <a:cs typeface="Arial"/>
                <a:sym typeface="Arial"/>
              </a:rPr>
              <a:t>học</a:t>
            </a:r>
            <a:r>
              <a:rPr lang="en-US">
                <a:latin typeface="Arial"/>
                <a:ea typeface="Arial"/>
                <a:cs typeface="Arial"/>
                <a:sym typeface="Arial"/>
              </a:rPr>
              <a:t> </a:t>
            </a:r>
            <a:r>
              <a:rPr lang="en-US" err="1">
                <a:latin typeface="Arial"/>
                <a:ea typeface="Arial"/>
                <a:cs typeface="Arial"/>
                <a:sym typeface="Arial"/>
              </a:rPr>
              <a:t>vấn</a:t>
            </a:r>
            <a:r>
              <a:rPr lang="en-US">
                <a:latin typeface="Arial"/>
                <a:ea typeface="Arial"/>
                <a:cs typeface="Arial"/>
                <a:sym typeface="Arial"/>
              </a:rPr>
              <a:t>, </a:t>
            </a:r>
            <a:r>
              <a:rPr lang="en-US" err="1">
                <a:latin typeface="Arial"/>
                <a:ea typeface="Arial"/>
                <a:cs typeface="Arial"/>
                <a:sym typeface="Arial"/>
              </a:rPr>
              <a:t>nghê</a:t>
            </a:r>
            <a:r>
              <a:rPr lang="en-US">
                <a:latin typeface="Arial"/>
                <a:ea typeface="Arial"/>
                <a:cs typeface="Arial"/>
                <a:sym typeface="Arial"/>
              </a:rPr>
              <a:t>̀ </a:t>
            </a:r>
            <a:r>
              <a:rPr lang="en-US" err="1">
                <a:latin typeface="Arial"/>
                <a:ea typeface="Arial"/>
                <a:cs typeface="Arial"/>
                <a:sym typeface="Arial"/>
              </a:rPr>
              <a:t>nghiệp</a:t>
            </a:r>
            <a:r>
              <a:rPr lang="en-US">
                <a:latin typeface="Arial"/>
                <a:ea typeface="Arial"/>
                <a:cs typeface="Arial"/>
                <a:sym typeface="Arial"/>
              </a:rPr>
              <a:t>, </a:t>
            </a:r>
            <a:r>
              <a:rPr lang="en-US" err="1">
                <a:latin typeface="Arial"/>
                <a:ea typeface="Arial"/>
                <a:cs typeface="Arial"/>
                <a:sym typeface="Arial"/>
              </a:rPr>
              <a:t>thu</a:t>
            </a:r>
            <a:r>
              <a:rPr lang="en-US">
                <a:latin typeface="Arial"/>
                <a:ea typeface="Arial"/>
                <a:cs typeface="Arial"/>
                <a:sym typeface="Arial"/>
              </a:rPr>
              <a:t> </a:t>
            </a:r>
            <a:r>
              <a:rPr lang="en-US" err="1">
                <a:latin typeface="Arial"/>
                <a:ea typeface="Arial"/>
                <a:cs typeface="Arial"/>
                <a:sym typeface="Arial"/>
              </a:rPr>
              <a:t>nhập</a:t>
            </a:r>
            <a:r>
              <a:rPr lang="en-US">
                <a:latin typeface="Arial"/>
                <a:ea typeface="Arial"/>
                <a:cs typeface="Arial"/>
                <a:sym typeface="Arial"/>
              </a:rPr>
              <a:t>, </a:t>
            </a:r>
            <a:r>
              <a:rPr lang="en-US" err="1">
                <a:latin typeface="Arial"/>
                <a:ea typeface="Arial"/>
                <a:cs typeface="Arial"/>
                <a:sym typeface="Arial"/>
              </a:rPr>
              <a:t>tài</a:t>
            </a:r>
            <a:r>
              <a:rPr lang="en-US">
                <a:latin typeface="Arial"/>
                <a:ea typeface="Arial"/>
                <a:cs typeface="Arial"/>
                <a:sym typeface="Arial"/>
              </a:rPr>
              <a:t> </a:t>
            </a:r>
            <a:r>
              <a:rPr lang="en-US" err="1">
                <a:latin typeface="Arial"/>
                <a:ea typeface="Arial"/>
                <a:cs typeface="Arial"/>
                <a:sym typeface="Arial"/>
              </a:rPr>
              <a:t>sản</a:t>
            </a:r>
            <a:r>
              <a:rPr lang="en-US">
                <a:latin typeface="Arial"/>
                <a:ea typeface="Arial"/>
                <a:cs typeface="Arial"/>
                <a:sym typeface="Arial"/>
              </a:rPr>
              <a:t> </a:t>
            </a:r>
            <a:r>
              <a:rPr lang="en-US" err="1">
                <a:latin typeface="Arial"/>
                <a:ea typeface="Arial"/>
                <a:cs typeface="Arial"/>
                <a:sym typeface="Arial"/>
              </a:rPr>
              <a:t>sở</a:t>
            </a:r>
            <a:r>
              <a:rPr lang="en-US">
                <a:latin typeface="Arial"/>
                <a:ea typeface="Arial"/>
                <a:cs typeface="Arial"/>
                <a:sym typeface="Arial"/>
              </a:rPr>
              <a:t> </a:t>
            </a:r>
            <a:r>
              <a:rPr lang="en-US" err="1">
                <a:latin typeface="Arial"/>
                <a:ea typeface="Arial"/>
                <a:cs typeface="Arial"/>
                <a:sym typeface="Arial"/>
              </a:rPr>
              <a:t>hữu</a:t>
            </a:r>
            <a:r>
              <a:rPr lang="en-US">
                <a:latin typeface="Arial"/>
                <a:ea typeface="Arial"/>
                <a:cs typeface="Arial"/>
                <a:sym typeface="Arial"/>
              </a:rPr>
              <a:t> </a:t>
            </a:r>
            <a:r>
              <a:rPr lang="en-US" err="1">
                <a:latin typeface="Arial"/>
                <a:ea typeface="Arial"/>
                <a:cs typeface="Arial"/>
                <a:sym typeface="Arial"/>
              </a:rPr>
              <a:t>va</a:t>
            </a:r>
            <a:r>
              <a:rPr lang="en-US">
                <a:latin typeface="Arial"/>
                <a:ea typeface="Arial"/>
                <a:cs typeface="Arial"/>
                <a:sym typeface="Arial"/>
              </a:rPr>
              <a:t>̀ </a:t>
            </a:r>
            <a:r>
              <a:rPr lang="en-US" err="1">
                <a:latin typeface="Arial"/>
                <a:ea typeface="Arial"/>
                <a:cs typeface="Arial"/>
                <a:sym typeface="Arial"/>
              </a:rPr>
              <a:t>nhiều</a:t>
            </a:r>
            <a:r>
              <a:rPr lang="en-US">
                <a:latin typeface="Arial"/>
                <a:ea typeface="Arial"/>
                <a:cs typeface="Arial"/>
                <a:sym typeface="Arial"/>
              </a:rPr>
              <a:t> </a:t>
            </a:r>
            <a:r>
              <a:rPr lang="en-US" err="1">
                <a:latin typeface="Arial"/>
                <a:ea typeface="Arial"/>
                <a:cs typeface="Arial"/>
                <a:sym typeface="Arial"/>
              </a:rPr>
              <a:t>yếu</a:t>
            </a:r>
            <a:r>
              <a:rPr lang="en-US">
                <a:latin typeface="Arial"/>
                <a:ea typeface="Arial"/>
                <a:cs typeface="Arial"/>
                <a:sym typeface="Arial"/>
              </a:rPr>
              <a:t> </a:t>
            </a:r>
            <a:r>
              <a:rPr lang="en-US" err="1">
                <a:latin typeface="Arial"/>
                <a:ea typeface="Arial"/>
                <a:cs typeface="Arial"/>
                <a:sym typeface="Arial"/>
              </a:rPr>
              <a:t>tô</a:t>
            </a:r>
            <a:r>
              <a:rPr lang="en-US">
                <a:latin typeface="Arial"/>
                <a:ea typeface="Arial"/>
                <a:cs typeface="Arial"/>
                <a:sym typeface="Arial"/>
              </a:rPr>
              <a:t>́ </a:t>
            </a:r>
            <a:r>
              <a:rPr lang="en-US" err="1">
                <a:latin typeface="Arial"/>
                <a:ea typeface="Arial"/>
                <a:cs typeface="Arial"/>
                <a:sym typeface="Arial"/>
              </a:rPr>
              <a:t>khác</a:t>
            </a:r>
            <a:r>
              <a:rPr lang="en-US">
                <a:latin typeface="Arial"/>
                <a:ea typeface="Arial"/>
                <a:cs typeface="Arial"/>
                <a:sym typeface="Arial"/>
              </a:rPr>
              <a:t> </a:t>
            </a:r>
            <a:r>
              <a:rPr lang="en-US" err="1">
                <a:latin typeface="Arial"/>
                <a:ea typeface="Arial"/>
                <a:cs typeface="Arial"/>
                <a:sym typeface="Arial"/>
              </a:rPr>
              <a:t>như</a:t>
            </a:r>
            <a:r>
              <a:rPr lang="en-US">
                <a:latin typeface="Arial"/>
                <a:ea typeface="Arial"/>
                <a:cs typeface="Arial"/>
                <a:sym typeface="Arial"/>
              </a:rPr>
              <a:t> </a:t>
            </a:r>
            <a:r>
              <a:rPr lang="en-US" err="1">
                <a:latin typeface="Arial"/>
                <a:ea typeface="Arial"/>
                <a:cs typeface="Arial"/>
                <a:sym typeface="Arial"/>
              </a:rPr>
              <a:t>quyền</a:t>
            </a:r>
            <a:r>
              <a:rPr lang="en-US">
                <a:latin typeface="Arial"/>
                <a:ea typeface="Arial"/>
                <a:cs typeface="Arial"/>
                <a:sym typeface="Arial"/>
              </a:rPr>
              <a:t> </a:t>
            </a:r>
            <a:r>
              <a:rPr lang="en-US" err="1">
                <a:latin typeface="Arial"/>
                <a:ea typeface="Arial"/>
                <a:cs typeface="Arial"/>
                <a:sym typeface="Arial"/>
              </a:rPr>
              <a:t>lực</a:t>
            </a:r>
            <a:r>
              <a:rPr lang="en-US">
                <a:latin typeface="Arial"/>
                <a:ea typeface="Arial"/>
                <a:cs typeface="Arial"/>
                <a:sym typeface="Arial"/>
              </a:rPr>
              <a:t> </a:t>
            </a:r>
            <a:r>
              <a:rPr lang="en-US" err="1">
                <a:latin typeface="Arial"/>
                <a:ea typeface="Arial"/>
                <a:cs typeface="Arial"/>
                <a:sym typeface="Arial"/>
              </a:rPr>
              <a:t>vê</a:t>
            </a:r>
            <a:r>
              <a:rPr lang="en-US">
                <a:latin typeface="Arial"/>
                <a:ea typeface="Arial"/>
                <a:cs typeface="Arial"/>
                <a:sym typeface="Arial"/>
              </a:rPr>
              <a:t>̀ </a:t>
            </a:r>
            <a:r>
              <a:rPr lang="en-US" err="1">
                <a:latin typeface="Arial"/>
                <a:ea typeface="Arial"/>
                <a:cs typeface="Arial"/>
                <a:sym typeface="Arial"/>
              </a:rPr>
              <a:t>chính</a:t>
            </a:r>
            <a:r>
              <a:rPr lang="en-US">
                <a:latin typeface="Arial"/>
                <a:ea typeface="Arial"/>
                <a:cs typeface="Arial"/>
                <a:sym typeface="Arial"/>
              </a:rPr>
              <a:t> trị, </a:t>
            </a:r>
            <a:r>
              <a:rPr lang="en-US" err="1">
                <a:latin typeface="Arial"/>
                <a:ea typeface="Arial"/>
                <a:cs typeface="Arial"/>
                <a:sym typeface="Arial"/>
              </a:rPr>
              <a:t>quân</a:t>
            </a:r>
            <a:r>
              <a:rPr lang="en-US">
                <a:latin typeface="Arial"/>
                <a:ea typeface="Arial"/>
                <a:cs typeface="Arial"/>
                <a:sym typeface="Arial"/>
              </a:rPr>
              <a:t> </a:t>
            </a:r>
            <a:r>
              <a:rPr lang="en-US" err="1">
                <a:latin typeface="Arial"/>
                <a:ea typeface="Arial"/>
                <a:cs typeface="Arial"/>
                <a:sym typeface="Arial"/>
              </a:rPr>
              <a:t>sư</a:t>
            </a:r>
            <a:r>
              <a:rPr lang="en-US">
                <a:latin typeface="Arial"/>
                <a:ea typeface="Arial"/>
                <a:cs typeface="Arial"/>
                <a:sym typeface="Arial"/>
              </a:rPr>
              <a:t>̣, </a:t>
            </a:r>
            <a:r>
              <a:rPr lang="en-US" err="1">
                <a:latin typeface="Arial"/>
                <a:ea typeface="Arial"/>
                <a:cs typeface="Arial"/>
                <a:sym typeface="Arial"/>
              </a:rPr>
              <a:t>kinh</a:t>
            </a:r>
            <a:r>
              <a:rPr lang="en-US">
                <a:latin typeface="Arial"/>
                <a:ea typeface="Arial"/>
                <a:cs typeface="Arial"/>
                <a:sym typeface="Arial"/>
              </a:rPr>
              <a:t> </a:t>
            </a:r>
            <a:r>
              <a:rPr lang="en-US" err="1">
                <a:latin typeface="Arial"/>
                <a:ea typeface="Arial"/>
                <a:cs typeface="Arial"/>
                <a:sym typeface="Arial"/>
              </a:rPr>
              <a:t>tê</a:t>
            </a:r>
            <a:r>
              <a:rPr lang="en-US">
                <a:latin typeface="Arial"/>
                <a:ea typeface="Arial"/>
                <a:cs typeface="Arial"/>
                <a:sym typeface="Arial"/>
              </a:rPr>
              <a:t>́. </a:t>
            </a:r>
            <a:endParaRPr/>
          </a:p>
          <a:p>
            <a:pPr marL="228600" lvl="0" indent="0" algn="just" rtl="0">
              <a:lnSpc>
                <a:spcPct val="150000"/>
              </a:lnSpc>
              <a:spcBef>
                <a:spcPts val="0"/>
              </a:spcBef>
              <a:spcAft>
                <a:spcPts val="0"/>
              </a:spcAft>
              <a:buClr>
                <a:schemeClr val="dk1"/>
              </a:buClr>
              <a:buSzPts val="2800"/>
              <a:buNone/>
            </a:pPr>
            <a:r>
              <a:rPr lang="en-US" err="1">
                <a:latin typeface="Arial"/>
                <a:ea typeface="Arial"/>
                <a:cs typeface="Arial"/>
                <a:sym typeface="Arial"/>
              </a:rPr>
              <a:t>Sư</a:t>
            </a:r>
            <a:r>
              <a:rPr lang="en-US">
                <a:latin typeface="Arial"/>
                <a:ea typeface="Arial"/>
                <a:cs typeface="Arial"/>
                <a:sym typeface="Arial"/>
              </a:rPr>
              <a:t>̣ </a:t>
            </a:r>
            <a:r>
              <a:rPr lang="en-US" err="1">
                <a:latin typeface="Arial"/>
                <a:ea typeface="Arial"/>
                <a:cs typeface="Arial"/>
                <a:sym typeface="Arial"/>
              </a:rPr>
              <a:t>khác</a:t>
            </a:r>
            <a:r>
              <a:rPr lang="en-US">
                <a:latin typeface="Arial"/>
                <a:ea typeface="Arial"/>
                <a:cs typeface="Arial"/>
                <a:sym typeface="Arial"/>
              </a:rPr>
              <a:t> </a:t>
            </a:r>
            <a:r>
              <a:rPr lang="en-US" err="1">
                <a:latin typeface="Arial"/>
                <a:ea typeface="Arial"/>
                <a:cs typeface="Arial"/>
                <a:sym typeface="Arial"/>
              </a:rPr>
              <a:t>biệt</a:t>
            </a:r>
            <a:r>
              <a:rPr lang="en-US">
                <a:latin typeface="Arial"/>
                <a:ea typeface="Arial"/>
                <a:cs typeface="Arial"/>
                <a:sym typeface="Arial"/>
              </a:rPr>
              <a:t> </a:t>
            </a:r>
            <a:r>
              <a:rPr lang="en-US" err="1">
                <a:latin typeface="Arial"/>
                <a:ea typeface="Arial"/>
                <a:cs typeface="Arial"/>
                <a:sym typeface="Arial"/>
              </a:rPr>
              <a:t>của</a:t>
            </a:r>
            <a:r>
              <a:rPr lang="en-US">
                <a:latin typeface="Arial"/>
                <a:ea typeface="Arial"/>
                <a:cs typeface="Arial"/>
                <a:sym typeface="Arial"/>
              </a:rPr>
              <a:t> </a:t>
            </a:r>
            <a:r>
              <a:rPr lang="en-US" err="1">
                <a:latin typeface="Arial"/>
                <a:ea typeface="Arial"/>
                <a:cs typeface="Arial"/>
                <a:sym typeface="Arial"/>
              </a:rPr>
              <a:t>các</a:t>
            </a:r>
            <a:r>
              <a:rPr lang="en-US">
                <a:latin typeface="Arial"/>
                <a:ea typeface="Arial"/>
                <a:cs typeface="Arial"/>
                <a:sym typeface="Arial"/>
              </a:rPr>
              <a:t> </a:t>
            </a:r>
            <a:r>
              <a:rPr lang="en-US" err="1">
                <a:latin typeface="Arial"/>
                <a:ea typeface="Arial"/>
                <a:cs typeface="Arial"/>
                <a:sym typeface="Arial"/>
              </a:rPr>
              <a:t>yếu</a:t>
            </a:r>
            <a:r>
              <a:rPr lang="en-US">
                <a:latin typeface="Arial"/>
                <a:ea typeface="Arial"/>
                <a:cs typeface="Arial"/>
                <a:sym typeface="Arial"/>
              </a:rPr>
              <a:t> </a:t>
            </a:r>
            <a:r>
              <a:rPr lang="en-US" err="1">
                <a:latin typeface="Arial"/>
                <a:ea typeface="Arial"/>
                <a:cs typeface="Arial"/>
                <a:sym typeface="Arial"/>
              </a:rPr>
              <a:t>tô</a:t>
            </a:r>
            <a:r>
              <a:rPr lang="en-US">
                <a:latin typeface="Arial"/>
                <a:ea typeface="Arial"/>
                <a:cs typeface="Arial"/>
                <a:sym typeface="Arial"/>
              </a:rPr>
              <a:t>́ </a:t>
            </a:r>
            <a:r>
              <a:rPr lang="en-US" err="1">
                <a:latin typeface="Arial"/>
                <a:ea typeface="Arial"/>
                <a:cs typeface="Arial"/>
                <a:sym typeface="Arial"/>
              </a:rPr>
              <a:t>này</a:t>
            </a:r>
            <a:r>
              <a:rPr lang="en-US">
                <a:latin typeface="Arial"/>
                <a:ea typeface="Arial"/>
                <a:cs typeface="Arial"/>
                <a:sym typeface="Arial"/>
              </a:rPr>
              <a:t> </a:t>
            </a:r>
            <a:r>
              <a:rPr lang="en-US" err="1">
                <a:latin typeface="Arial"/>
                <a:ea typeface="Arial"/>
                <a:cs typeface="Arial"/>
                <a:sym typeface="Arial"/>
              </a:rPr>
              <a:t>trong</a:t>
            </a:r>
            <a:r>
              <a:rPr lang="en-US">
                <a:latin typeface="Arial"/>
                <a:ea typeface="Arial"/>
                <a:cs typeface="Arial"/>
                <a:sym typeface="Arial"/>
              </a:rPr>
              <a:t> </a:t>
            </a:r>
            <a:r>
              <a:rPr lang="en-US" err="1">
                <a:latin typeface="Arial"/>
                <a:ea typeface="Arial"/>
                <a:cs typeface="Arial"/>
                <a:sym typeface="Arial"/>
              </a:rPr>
              <a:t>mỗi</a:t>
            </a:r>
            <a:r>
              <a:rPr lang="en-US">
                <a:latin typeface="Arial"/>
                <a:ea typeface="Arial"/>
                <a:cs typeface="Arial"/>
                <a:sym typeface="Arial"/>
              </a:rPr>
              <a:t> </a:t>
            </a:r>
            <a:r>
              <a:rPr lang="en-US" err="1">
                <a:latin typeface="Arial"/>
                <a:ea typeface="Arial"/>
                <a:cs typeface="Arial"/>
                <a:sym typeface="Arial"/>
              </a:rPr>
              <a:t>giai</a:t>
            </a:r>
            <a:r>
              <a:rPr lang="en-US">
                <a:latin typeface="Arial"/>
                <a:ea typeface="Arial"/>
                <a:cs typeface="Arial"/>
                <a:sym typeface="Arial"/>
              </a:rPr>
              <a:t> </a:t>
            </a:r>
            <a:r>
              <a:rPr lang="en-US" err="1">
                <a:latin typeface="Arial"/>
                <a:ea typeface="Arial"/>
                <a:cs typeface="Arial"/>
                <a:sym typeface="Arial"/>
              </a:rPr>
              <a:t>tầng</a:t>
            </a:r>
            <a:r>
              <a:rPr lang="en-US">
                <a:latin typeface="Arial"/>
                <a:ea typeface="Arial"/>
                <a:cs typeface="Arial"/>
                <a:sym typeface="Arial"/>
              </a:rPr>
              <a:t> </a:t>
            </a:r>
            <a:r>
              <a:rPr lang="en-US" err="1">
                <a:latin typeface="Arial"/>
                <a:ea typeface="Arial"/>
                <a:cs typeface="Arial"/>
                <a:sym typeface="Arial"/>
              </a:rPr>
              <a:t>tạo</a:t>
            </a:r>
            <a:r>
              <a:rPr lang="en-US">
                <a:latin typeface="Arial"/>
                <a:ea typeface="Arial"/>
                <a:cs typeface="Arial"/>
                <a:sym typeface="Arial"/>
              </a:rPr>
              <a:t> </a:t>
            </a:r>
            <a:r>
              <a:rPr lang="en-US" err="1">
                <a:latin typeface="Arial"/>
                <a:ea typeface="Arial"/>
                <a:cs typeface="Arial"/>
                <a:sym typeface="Arial"/>
              </a:rPr>
              <a:t>ra</a:t>
            </a:r>
            <a:r>
              <a:rPr lang="en-US">
                <a:latin typeface="Arial"/>
                <a:ea typeface="Arial"/>
                <a:cs typeface="Arial"/>
                <a:sym typeface="Arial"/>
              </a:rPr>
              <a:t> </a:t>
            </a:r>
            <a:r>
              <a:rPr lang="en-US" err="1">
                <a:latin typeface="Arial"/>
                <a:ea typeface="Arial"/>
                <a:cs typeface="Arial"/>
                <a:sym typeface="Arial"/>
              </a:rPr>
              <a:t>sư</a:t>
            </a:r>
            <a:r>
              <a:rPr lang="en-US">
                <a:latin typeface="Arial"/>
                <a:ea typeface="Arial"/>
                <a:cs typeface="Arial"/>
                <a:sym typeface="Arial"/>
              </a:rPr>
              <a:t>̣ </a:t>
            </a:r>
            <a:r>
              <a:rPr lang="en-US" err="1">
                <a:latin typeface="Arial"/>
                <a:ea typeface="Arial"/>
                <a:cs typeface="Arial"/>
                <a:sym typeface="Arial"/>
              </a:rPr>
              <a:t>khác</a:t>
            </a:r>
            <a:r>
              <a:rPr lang="en-US">
                <a:latin typeface="Arial"/>
                <a:ea typeface="Arial"/>
                <a:cs typeface="Arial"/>
                <a:sym typeface="Arial"/>
              </a:rPr>
              <a:t> </a:t>
            </a:r>
            <a:r>
              <a:rPr lang="en-US" err="1">
                <a:latin typeface="Arial"/>
                <a:ea typeface="Arial"/>
                <a:cs typeface="Arial"/>
                <a:sym typeface="Arial"/>
              </a:rPr>
              <a:t>biệt</a:t>
            </a:r>
            <a:r>
              <a:rPr lang="en-US">
                <a:latin typeface="Arial"/>
                <a:ea typeface="Arial"/>
                <a:cs typeface="Arial"/>
                <a:sym typeface="Arial"/>
              </a:rPr>
              <a:t> </a:t>
            </a:r>
            <a:r>
              <a:rPr lang="en-US" err="1">
                <a:latin typeface="Arial"/>
                <a:ea typeface="Arial"/>
                <a:cs typeface="Arial"/>
                <a:sym typeface="Arial"/>
              </a:rPr>
              <a:t>trong</a:t>
            </a:r>
            <a:r>
              <a:rPr lang="en-US">
                <a:latin typeface="Arial"/>
                <a:ea typeface="Arial"/>
                <a:cs typeface="Arial"/>
                <a:sym typeface="Arial"/>
              </a:rPr>
              <a:t> </a:t>
            </a:r>
            <a:r>
              <a:rPr lang="en-US" err="1">
                <a:latin typeface="Arial"/>
                <a:ea typeface="Arial"/>
                <a:cs typeface="Arial"/>
                <a:sym typeface="Arial"/>
              </a:rPr>
              <a:t>giá</a:t>
            </a:r>
            <a:r>
              <a:rPr lang="en-US">
                <a:latin typeface="Arial"/>
                <a:ea typeface="Arial"/>
                <a:cs typeface="Arial"/>
                <a:sym typeface="Arial"/>
              </a:rPr>
              <a:t> trị, </a:t>
            </a:r>
            <a:r>
              <a:rPr lang="en-US" err="1">
                <a:latin typeface="Arial"/>
                <a:ea typeface="Arial"/>
                <a:cs typeface="Arial"/>
                <a:sym typeface="Arial"/>
              </a:rPr>
              <a:t>thái</a:t>
            </a:r>
            <a:r>
              <a:rPr lang="en-US">
                <a:latin typeface="Arial"/>
                <a:ea typeface="Arial"/>
                <a:cs typeface="Arial"/>
                <a:sym typeface="Arial"/>
              </a:rPr>
              <a:t> </a:t>
            </a:r>
            <a:r>
              <a:rPr lang="en-US" err="1">
                <a:latin typeface="Arial"/>
                <a:ea typeface="Arial"/>
                <a:cs typeface="Arial"/>
                <a:sym typeface="Arial"/>
              </a:rPr>
              <a:t>đô</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hành</a:t>
            </a:r>
            <a:r>
              <a:rPr lang="en-US">
                <a:latin typeface="Arial"/>
                <a:ea typeface="Arial"/>
                <a:cs typeface="Arial"/>
                <a:sym typeface="Arial"/>
              </a:rPr>
              <a:t> vi </a:t>
            </a:r>
            <a:r>
              <a:rPr lang="en-US" err="1">
                <a:latin typeface="Arial"/>
                <a:ea typeface="Arial"/>
                <a:cs typeface="Arial"/>
                <a:sym typeface="Arial"/>
              </a:rPr>
              <a:t>của</a:t>
            </a:r>
            <a:r>
              <a:rPr lang="en-US">
                <a:latin typeface="Arial"/>
                <a:ea typeface="Arial"/>
                <a:cs typeface="Arial"/>
                <a:sym typeface="Arial"/>
              </a:rPr>
              <a:t> </a:t>
            </a:r>
            <a:r>
              <a:rPr lang="en-US" err="1">
                <a:latin typeface="Arial"/>
                <a:ea typeface="Arial"/>
                <a:cs typeface="Arial"/>
                <a:sym typeface="Arial"/>
              </a:rPr>
              <a:t>các</a:t>
            </a:r>
            <a:r>
              <a:rPr lang="en-US">
                <a:latin typeface="Arial"/>
                <a:ea typeface="Arial"/>
                <a:cs typeface="Arial"/>
                <a:sym typeface="Arial"/>
              </a:rPr>
              <a:t> </a:t>
            </a:r>
            <a:r>
              <a:rPr lang="en-US" err="1">
                <a:latin typeface="Arial"/>
                <a:ea typeface="Arial"/>
                <a:cs typeface="Arial"/>
                <a:sym typeface="Arial"/>
              </a:rPr>
              <a:t>giai</a:t>
            </a:r>
            <a:r>
              <a:rPr lang="en-US">
                <a:latin typeface="Arial"/>
                <a:ea typeface="Arial"/>
                <a:cs typeface="Arial"/>
                <a:sym typeface="Arial"/>
              </a:rPr>
              <a:t> </a:t>
            </a:r>
            <a:r>
              <a:rPr lang="en-US" err="1">
                <a:latin typeface="Arial"/>
                <a:ea typeface="Arial"/>
                <a:cs typeface="Arial"/>
                <a:sym typeface="Arial"/>
              </a:rPr>
              <a:t>tầng</a:t>
            </a:r>
            <a:r>
              <a:rPr lang="en-US">
                <a:latin typeface="Arial"/>
                <a:ea typeface="Arial"/>
                <a:cs typeface="Arial"/>
                <a:sym typeface="Arial"/>
              </a:rPr>
              <a:t>. </a:t>
            </a:r>
            <a:endParaRPr>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110"/>
          <p:cNvSpPr txBox="1">
            <a:spLocks noGrp="1"/>
          </p:cNvSpPr>
          <p:nvPr>
            <p:ph type="title"/>
          </p:nvPr>
        </p:nvSpPr>
        <p:spPr>
          <a:xfrm>
            <a:off x="372533" y="0"/>
            <a:ext cx="10981267"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vi-VN" sz="3200" b="1"/>
              <a:t>2.2.4.3 </a:t>
            </a:r>
            <a:r>
              <a:rPr lang="en-US" sz="3200" b="1" err="1">
                <a:latin typeface="Arial"/>
                <a:ea typeface="Arial"/>
                <a:cs typeface="Arial"/>
                <a:sym typeface="Arial"/>
              </a:rPr>
              <a:t>Giai</a:t>
            </a:r>
            <a:r>
              <a:rPr lang="en-US" sz="3200" b="1">
                <a:latin typeface="Arial"/>
                <a:ea typeface="Arial"/>
                <a:cs typeface="Arial"/>
                <a:sym typeface="Arial"/>
              </a:rPr>
              <a:t> </a:t>
            </a:r>
            <a:r>
              <a:rPr lang="en-US" sz="3200" b="1" err="1">
                <a:latin typeface="Arial"/>
                <a:ea typeface="Arial"/>
                <a:cs typeface="Arial"/>
                <a:sym typeface="Arial"/>
              </a:rPr>
              <a:t>tầng</a:t>
            </a:r>
            <a:r>
              <a:rPr lang="en-US" sz="3200" b="1">
                <a:latin typeface="Arial"/>
                <a:ea typeface="Arial"/>
                <a:cs typeface="Arial"/>
                <a:sym typeface="Arial"/>
              </a:rPr>
              <a:t> </a:t>
            </a:r>
            <a:r>
              <a:rPr lang="en-US" sz="3200" b="1" err="1">
                <a:latin typeface="Arial"/>
                <a:ea typeface="Arial"/>
                <a:cs typeface="Arial"/>
                <a:sym typeface="Arial"/>
              </a:rPr>
              <a:t>xã</a:t>
            </a:r>
            <a:r>
              <a:rPr lang="en-US" sz="3200" b="1">
                <a:latin typeface="Arial"/>
                <a:ea typeface="Arial"/>
                <a:cs typeface="Arial"/>
                <a:sym typeface="Arial"/>
              </a:rPr>
              <a:t> </a:t>
            </a:r>
            <a:r>
              <a:rPr lang="en-US" sz="3200" b="1" err="1">
                <a:latin typeface="Arial"/>
                <a:ea typeface="Arial"/>
                <a:cs typeface="Arial"/>
                <a:sym typeface="Arial"/>
              </a:rPr>
              <a:t>hội</a:t>
            </a:r>
            <a:r>
              <a:rPr lang="en-US" sz="3200" b="1">
                <a:latin typeface="Arial"/>
                <a:ea typeface="Arial"/>
                <a:cs typeface="Arial"/>
                <a:sym typeface="Arial"/>
              </a:rPr>
              <a:t> </a:t>
            </a:r>
            <a:r>
              <a:rPr lang="en-US" sz="3200" b="1" err="1">
                <a:latin typeface="Arial"/>
                <a:ea typeface="Arial"/>
                <a:cs typeface="Arial"/>
                <a:sym typeface="Arial"/>
              </a:rPr>
              <a:t>và</a:t>
            </a:r>
            <a:r>
              <a:rPr lang="en-US" sz="3200" b="1">
                <a:latin typeface="Arial"/>
                <a:ea typeface="Arial"/>
                <a:cs typeface="Arial"/>
                <a:sym typeface="Arial"/>
              </a:rPr>
              <a:t> </a:t>
            </a:r>
            <a:r>
              <a:rPr lang="en-US" sz="3200" b="1" err="1">
                <a:latin typeface="Arial"/>
                <a:ea typeface="Arial"/>
                <a:cs typeface="Arial"/>
                <a:sym typeface="Arial"/>
              </a:rPr>
              <a:t>hành</a:t>
            </a:r>
            <a:r>
              <a:rPr lang="en-US" sz="3200" b="1">
                <a:latin typeface="Arial"/>
                <a:ea typeface="Arial"/>
                <a:cs typeface="Arial"/>
                <a:sym typeface="Arial"/>
              </a:rPr>
              <a:t> vi </a:t>
            </a:r>
            <a:r>
              <a:rPr lang="en-US" sz="3200" b="1" err="1">
                <a:latin typeface="Arial"/>
                <a:ea typeface="Arial"/>
                <a:cs typeface="Arial"/>
                <a:sym typeface="Arial"/>
              </a:rPr>
              <a:t>tiêu</a:t>
            </a:r>
            <a:r>
              <a:rPr lang="en-US" sz="3200" b="1">
                <a:latin typeface="Arial"/>
                <a:ea typeface="Arial"/>
                <a:cs typeface="Arial"/>
                <a:sym typeface="Arial"/>
              </a:rPr>
              <a:t> </a:t>
            </a:r>
            <a:r>
              <a:rPr lang="en-US" sz="3200" b="1" err="1">
                <a:latin typeface="Arial"/>
                <a:ea typeface="Arial"/>
                <a:cs typeface="Arial"/>
                <a:sym typeface="Arial"/>
              </a:rPr>
              <a:t>dùng</a:t>
            </a:r>
            <a:endParaRPr sz="3200" b="1">
              <a:latin typeface="Arial"/>
              <a:ea typeface="Arial"/>
              <a:cs typeface="Arial"/>
              <a:sym typeface="Arial"/>
            </a:endParaRPr>
          </a:p>
        </p:txBody>
      </p:sp>
      <p:sp>
        <p:nvSpPr>
          <p:cNvPr id="813" name="Google Shape;813;p110"/>
          <p:cNvSpPr txBox="1">
            <a:spLocks noGrp="1"/>
          </p:cNvSpPr>
          <p:nvPr>
            <p:ph type="body" idx="1"/>
          </p:nvPr>
        </p:nvSpPr>
        <p:spPr>
          <a:xfrm>
            <a:off x="190717" y="1645920"/>
            <a:ext cx="11163083" cy="4674870"/>
          </a:xfrm>
          <a:prstGeom prst="rect">
            <a:avLst/>
          </a:prstGeom>
          <a:noFill/>
          <a:ln>
            <a:noFill/>
          </a:ln>
        </p:spPr>
        <p:txBody>
          <a:bodyPr spcFirstLastPara="1" wrap="square" lIns="91425" tIns="45700" rIns="91425" bIns="45700" anchor="t" anchorCtr="0">
            <a:noAutofit/>
          </a:bodyPr>
          <a:lstStyle/>
          <a:p>
            <a:pPr marL="739775" lvl="0" indent="-511175" algn="just" rtl="0">
              <a:lnSpc>
                <a:spcPts val="3800"/>
              </a:lnSpc>
              <a:spcBef>
                <a:spcPts val="0"/>
              </a:spcBef>
              <a:spcAft>
                <a:spcPts val="0"/>
              </a:spcAft>
              <a:buClr>
                <a:schemeClr val="dk1"/>
              </a:buClr>
              <a:buSzPts val="2800"/>
              <a:buFont typeface="Arial"/>
              <a:buChar char="•"/>
            </a:pPr>
            <a:r>
              <a:rPr lang="en-US" err="1">
                <a:latin typeface="Arial"/>
                <a:ea typeface="Arial"/>
                <a:cs typeface="Arial"/>
                <a:sym typeface="Arial"/>
              </a:rPr>
              <a:t>Những</a:t>
            </a:r>
            <a:r>
              <a:rPr lang="en-US">
                <a:latin typeface="Arial"/>
                <a:ea typeface="Arial"/>
                <a:cs typeface="Arial"/>
                <a:sym typeface="Arial"/>
              </a:rPr>
              <a:t> </a:t>
            </a:r>
            <a:r>
              <a:rPr lang="en-US" err="1">
                <a:latin typeface="Arial"/>
                <a:ea typeface="Arial"/>
                <a:cs typeface="Arial"/>
                <a:sym typeface="Arial"/>
              </a:rPr>
              <a:t>người</a:t>
            </a:r>
            <a:r>
              <a:rPr lang="en-US">
                <a:latin typeface="Arial"/>
                <a:ea typeface="Arial"/>
                <a:cs typeface="Arial"/>
                <a:sym typeface="Arial"/>
              </a:rPr>
              <a:t> </a:t>
            </a:r>
            <a:r>
              <a:rPr lang="en-US" err="1">
                <a:latin typeface="Arial"/>
                <a:ea typeface="Arial"/>
                <a:cs typeface="Arial"/>
                <a:sym typeface="Arial"/>
              </a:rPr>
              <a:t>trong</a:t>
            </a:r>
            <a:r>
              <a:rPr lang="en-US">
                <a:latin typeface="Arial"/>
                <a:ea typeface="Arial"/>
                <a:cs typeface="Arial"/>
                <a:sym typeface="Arial"/>
              </a:rPr>
              <a:t>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tầng</a:t>
            </a:r>
            <a:r>
              <a:rPr lang="en-US">
                <a:latin typeface="Arial"/>
                <a:ea typeface="Arial"/>
                <a:cs typeface="Arial"/>
                <a:sym typeface="Arial"/>
              </a:rPr>
              <a:t> </a:t>
            </a:r>
            <a:r>
              <a:rPr lang="en-US" err="1">
                <a:latin typeface="Arial"/>
                <a:ea typeface="Arial"/>
                <a:cs typeface="Arial"/>
                <a:sym typeface="Arial"/>
              </a:rPr>
              <a:t>lớp</a:t>
            </a:r>
            <a:r>
              <a:rPr lang="en-US">
                <a:latin typeface="Arial"/>
                <a:ea typeface="Arial"/>
                <a:cs typeface="Arial"/>
                <a:sym typeface="Arial"/>
              </a:rPr>
              <a:t>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khuynh</a:t>
            </a:r>
            <a:r>
              <a:rPr lang="en-US">
                <a:latin typeface="Arial"/>
                <a:ea typeface="Arial"/>
                <a:cs typeface="Arial"/>
                <a:sym typeface="Arial"/>
              </a:rPr>
              <a:t> </a:t>
            </a:r>
            <a:r>
              <a:rPr lang="en-US" err="1">
                <a:latin typeface="Arial"/>
                <a:ea typeface="Arial"/>
                <a:cs typeface="Arial"/>
                <a:sym typeface="Arial"/>
              </a:rPr>
              <a:t>hướng</a:t>
            </a:r>
            <a:r>
              <a:rPr lang="en-US">
                <a:latin typeface="Arial"/>
                <a:ea typeface="Arial"/>
                <a:cs typeface="Arial"/>
                <a:sym typeface="Arial"/>
              </a:rPr>
              <a:t> </a:t>
            </a:r>
            <a:r>
              <a:rPr lang="en-US" err="1">
                <a:latin typeface="Arial"/>
                <a:ea typeface="Arial"/>
                <a:cs typeface="Arial"/>
                <a:sym typeface="Arial"/>
              </a:rPr>
              <a:t>cư</a:t>
            </a:r>
            <a:r>
              <a:rPr lang="en-US">
                <a:latin typeface="Arial"/>
                <a:ea typeface="Arial"/>
                <a:cs typeface="Arial"/>
                <a:sym typeface="Arial"/>
              </a:rPr>
              <a:t> </a:t>
            </a:r>
            <a:r>
              <a:rPr lang="en-US" err="1">
                <a:latin typeface="Arial"/>
                <a:ea typeface="Arial"/>
                <a:cs typeface="Arial"/>
                <a:sym typeface="Arial"/>
              </a:rPr>
              <a:t>xử</a:t>
            </a:r>
            <a:r>
              <a:rPr lang="en-US">
                <a:latin typeface="Arial"/>
                <a:ea typeface="Arial"/>
                <a:cs typeface="Arial"/>
                <a:sym typeface="Arial"/>
              </a:rPr>
              <a:t> </a:t>
            </a:r>
            <a:r>
              <a:rPr lang="en-US" err="1">
                <a:latin typeface="Arial"/>
                <a:ea typeface="Arial"/>
                <a:cs typeface="Arial"/>
                <a:sym typeface="Arial"/>
              </a:rPr>
              <a:t>giống</a:t>
            </a:r>
            <a:r>
              <a:rPr lang="en-US">
                <a:latin typeface="Arial"/>
                <a:ea typeface="Arial"/>
                <a:cs typeface="Arial"/>
                <a:sym typeface="Arial"/>
              </a:rPr>
              <a:t> </a:t>
            </a:r>
            <a:r>
              <a:rPr lang="en-US" err="1">
                <a:latin typeface="Arial"/>
                <a:ea typeface="Arial"/>
                <a:cs typeface="Arial"/>
                <a:sym typeface="Arial"/>
              </a:rPr>
              <a:t>nhau</a:t>
            </a:r>
            <a:r>
              <a:rPr lang="en-US">
                <a:latin typeface="Arial"/>
                <a:ea typeface="Arial"/>
                <a:cs typeface="Arial"/>
                <a:sym typeface="Arial"/>
              </a:rPr>
              <a:t> </a:t>
            </a:r>
            <a:r>
              <a:rPr lang="en-US" err="1">
                <a:latin typeface="Arial"/>
                <a:ea typeface="Arial"/>
                <a:cs typeface="Arial"/>
                <a:sym typeface="Arial"/>
              </a:rPr>
              <a:t>kể</a:t>
            </a:r>
            <a:r>
              <a:rPr lang="en-US">
                <a:latin typeface="Arial"/>
                <a:ea typeface="Arial"/>
                <a:cs typeface="Arial"/>
                <a:sym typeface="Arial"/>
              </a:rPr>
              <a:t> </a:t>
            </a:r>
            <a:r>
              <a:rPr lang="en-US" err="1">
                <a:latin typeface="Arial"/>
                <a:ea typeface="Arial"/>
                <a:cs typeface="Arial"/>
                <a:sym typeface="Arial"/>
              </a:rPr>
              <a:t>cả</a:t>
            </a:r>
            <a:r>
              <a:rPr lang="en-US">
                <a:latin typeface="Arial"/>
                <a:ea typeface="Arial"/>
                <a:cs typeface="Arial"/>
                <a:sym typeface="Arial"/>
              </a:rPr>
              <a:t> </a:t>
            </a:r>
            <a:r>
              <a:rPr lang="en-US" err="1">
                <a:latin typeface="Arial"/>
                <a:ea typeface="Arial"/>
                <a:cs typeface="Arial"/>
                <a:sym typeface="Arial"/>
              </a:rPr>
              <a:t>hành</a:t>
            </a:r>
            <a:r>
              <a:rPr lang="en-US">
                <a:latin typeface="Arial"/>
                <a:ea typeface="Arial"/>
                <a:cs typeface="Arial"/>
                <a:sym typeface="Arial"/>
              </a:rPr>
              <a:t> vi </a:t>
            </a:r>
            <a:r>
              <a:rPr lang="en-US" err="1">
                <a:latin typeface="Arial"/>
                <a:ea typeface="Arial"/>
                <a:cs typeface="Arial"/>
                <a:sym typeface="Arial"/>
              </a:rPr>
              <a:t>tiêu</a:t>
            </a:r>
            <a:r>
              <a:rPr lang="en-US">
                <a:latin typeface="Arial"/>
                <a:ea typeface="Arial"/>
                <a:cs typeface="Arial"/>
                <a:sym typeface="Arial"/>
              </a:rPr>
              <a:t> </a:t>
            </a:r>
            <a:r>
              <a:rPr lang="en-US" err="1">
                <a:latin typeface="Arial"/>
                <a:ea typeface="Arial"/>
                <a:cs typeface="Arial"/>
                <a:sym typeface="Arial"/>
              </a:rPr>
              <a:t>dùng</a:t>
            </a:r>
            <a:r>
              <a:rPr lang="en-US">
                <a:latin typeface="Arial"/>
                <a:ea typeface="Arial"/>
                <a:cs typeface="Arial"/>
                <a:sym typeface="Arial"/>
              </a:rPr>
              <a:t>.</a:t>
            </a:r>
            <a:endParaRPr/>
          </a:p>
          <a:p>
            <a:pPr marL="739775" lvl="0" indent="-511175" algn="just" rtl="0">
              <a:lnSpc>
                <a:spcPts val="3800"/>
              </a:lnSpc>
              <a:spcBef>
                <a:spcPts val="0"/>
              </a:spcBef>
              <a:spcAft>
                <a:spcPts val="0"/>
              </a:spcAft>
              <a:buClr>
                <a:schemeClr val="dk1"/>
              </a:buClr>
              <a:buSzPts val="2800"/>
              <a:buFont typeface="Arial"/>
              <a:buChar char="•"/>
            </a:pPr>
            <a:r>
              <a:rPr lang="en-US" err="1">
                <a:latin typeface="Arial"/>
                <a:ea typeface="Arial"/>
                <a:cs typeface="Arial"/>
                <a:sym typeface="Arial"/>
              </a:rPr>
              <a:t>Đối</a:t>
            </a:r>
            <a:r>
              <a:rPr lang="en-US">
                <a:latin typeface="Arial"/>
                <a:ea typeface="Arial"/>
                <a:cs typeface="Arial"/>
                <a:sym typeface="Arial"/>
              </a:rPr>
              <a:t> </a:t>
            </a:r>
            <a:r>
              <a:rPr lang="en-US" err="1">
                <a:latin typeface="Arial"/>
                <a:ea typeface="Arial"/>
                <a:cs typeface="Arial"/>
                <a:sym typeface="Arial"/>
              </a:rPr>
              <a:t>với</a:t>
            </a:r>
            <a:r>
              <a:rPr lang="en-US">
                <a:latin typeface="Arial"/>
                <a:ea typeface="Arial"/>
                <a:cs typeface="Arial"/>
                <a:sym typeface="Arial"/>
              </a:rPr>
              <a:t> </a:t>
            </a:r>
            <a:r>
              <a:rPr lang="en-US" err="1">
                <a:latin typeface="Arial"/>
                <a:ea typeface="Arial"/>
                <a:cs typeface="Arial"/>
                <a:sym typeface="Arial"/>
              </a:rPr>
              <a:t>việc</a:t>
            </a:r>
            <a:r>
              <a:rPr lang="en-US">
                <a:latin typeface="Arial"/>
                <a:ea typeface="Arial"/>
                <a:cs typeface="Arial"/>
                <a:sym typeface="Arial"/>
              </a:rPr>
              <a:t> </a:t>
            </a:r>
            <a:r>
              <a:rPr lang="en-US" err="1">
                <a:latin typeface="Arial"/>
                <a:ea typeface="Arial"/>
                <a:cs typeface="Arial"/>
                <a:sym typeface="Arial"/>
              </a:rPr>
              <a:t>tìm</a:t>
            </a:r>
            <a:r>
              <a:rPr lang="en-US">
                <a:latin typeface="Arial"/>
                <a:ea typeface="Arial"/>
                <a:cs typeface="Arial"/>
                <a:sym typeface="Arial"/>
              </a:rPr>
              <a:t> </a:t>
            </a:r>
            <a:r>
              <a:rPr lang="en-US" err="1">
                <a:latin typeface="Arial"/>
                <a:ea typeface="Arial"/>
                <a:cs typeface="Arial"/>
                <a:sym typeface="Arial"/>
              </a:rPr>
              <a:t>kiếm</a:t>
            </a:r>
            <a:r>
              <a:rPr lang="en-US">
                <a:latin typeface="Arial"/>
                <a:ea typeface="Arial"/>
                <a:cs typeface="Arial"/>
                <a:sym typeface="Arial"/>
              </a:rPr>
              <a:t> </a:t>
            </a:r>
            <a:r>
              <a:rPr lang="en-US" err="1">
                <a:latin typeface="Arial"/>
                <a:ea typeface="Arial"/>
                <a:cs typeface="Arial"/>
                <a:sym typeface="Arial"/>
              </a:rPr>
              <a:t>thông</a:t>
            </a:r>
            <a:r>
              <a:rPr lang="en-US">
                <a:latin typeface="Arial"/>
                <a:ea typeface="Arial"/>
                <a:cs typeface="Arial"/>
                <a:sym typeface="Arial"/>
              </a:rPr>
              <a:t> tin </a:t>
            </a:r>
            <a:r>
              <a:rPr lang="en-US" err="1">
                <a:latin typeface="Arial"/>
                <a:ea typeface="Arial"/>
                <a:cs typeface="Arial"/>
                <a:sym typeface="Arial"/>
              </a:rPr>
              <a:t>về</a:t>
            </a:r>
            <a:r>
              <a:rPr lang="en-US">
                <a:latin typeface="Arial"/>
                <a:ea typeface="Arial"/>
                <a:cs typeface="Arial"/>
                <a:sym typeface="Arial"/>
              </a:rPr>
              <a:t> </a:t>
            </a:r>
            <a:r>
              <a:rPr lang="en-US" err="1">
                <a:latin typeface="Arial"/>
                <a:ea typeface="Arial"/>
                <a:cs typeface="Arial"/>
                <a:sym typeface="Arial"/>
              </a:rPr>
              <a:t>sản</a:t>
            </a:r>
            <a:r>
              <a:rPr lang="en-US">
                <a:latin typeface="Arial"/>
                <a:ea typeface="Arial"/>
                <a:cs typeface="Arial"/>
                <a:sym typeface="Arial"/>
              </a:rPr>
              <a:t> </a:t>
            </a:r>
            <a:r>
              <a:rPr lang="en-US" err="1">
                <a:latin typeface="Arial"/>
                <a:ea typeface="Arial"/>
                <a:cs typeface="Arial"/>
                <a:sym typeface="Arial"/>
              </a:rPr>
              <a:t>phẩm</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tầng</a:t>
            </a:r>
            <a:r>
              <a:rPr lang="en-US">
                <a:latin typeface="Arial"/>
                <a:ea typeface="Arial"/>
                <a:cs typeface="Arial"/>
                <a:sym typeface="Arial"/>
              </a:rPr>
              <a:t> </a:t>
            </a:r>
            <a:r>
              <a:rPr lang="en-US" err="1">
                <a:latin typeface="Arial"/>
                <a:ea typeface="Arial"/>
                <a:cs typeface="Arial"/>
                <a:sym typeface="Arial"/>
              </a:rPr>
              <a:t>lớp</a:t>
            </a:r>
            <a:r>
              <a:rPr lang="en-US">
                <a:latin typeface="Arial"/>
                <a:ea typeface="Arial"/>
                <a:cs typeface="Arial"/>
                <a:sym typeface="Arial"/>
              </a:rPr>
              <a:t>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cũng</a:t>
            </a:r>
            <a:r>
              <a:rPr lang="en-US">
                <a:latin typeface="Arial"/>
                <a:ea typeface="Arial"/>
                <a:cs typeface="Arial"/>
                <a:sym typeface="Arial"/>
              </a:rPr>
              <a:t> </a:t>
            </a:r>
            <a:r>
              <a:rPr lang="en-US" err="1">
                <a:latin typeface="Arial"/>
                <a:ea typeface="Arial"/>
                <a:cs typeface="Arial"/>
                <a:sym typeface="Arial"/>
              </a:rPr>
              <a:t>khác</a:t>
            </a:r>
            <a:r>
              <a:rPr lang="en-US">
                <a:latin typeface="Arial"/>
                <a:ea typeface="Arial"/>
                <a:cs typeface="Arial"/>
                <a:sym typeface="Arial"/>
              </a:rPr>
              <a:t> </a:t>
            </a:r>
            <a:r>
              <a:rPr lang="en-US" err="1">
                <a:latin typeface="Arial"/>
                <a:ea typeface="Arial"/>
                <a:cs typeface="Arial"/>
                <a:sym typeface="Arial"/>
              </a:rPr>
              <a:t>biệt</a:t>
            </a:r>
            <a:r>
              <a:rPr lang="en-US">
                <a:latin typeface="Arial"/>
                <a:ea typeface="Arial"/>
                <a:cs typeface="Arial"/>
                <a:sym typeface="Arial"/>
              </a:rPr>
              <a:t> </a:t>
            </a:r>
            <a:r>
              <a:rPr lang="en-US" err="1">
                <a:latin typeface="Arial"/>
                <a:ea typeface="Arial"/>
                <a:cs typeface="Arial"/>
                <a:sym typeface="Arial"/>
              </a:rPr>
              <a:t>nhau</a:t>
            </a:r>
            <a:r>
              <a:rPr lang="en-US">
                <a:latin typeface="Arial"/>
                <a:ea typeface="Arial"/>
                <a:cs typeface="Arial"/>
                <a:sym typeface="Arial"/>
              </a:rPr>
              <a:t> do </a:t>
            </a:r>
            <a:r>
              <a:rPr lang="en-US" err="1">
                <a:latin typeface="Arial"/>
                <a:ea typeface="Arial"/>
                <a:cs typeface="Arial"/>
                <a:sym typeface="Arial"/>
              </a:rPr>
              <a:t>việc</a:t>
            </a:r>
            <a:r>
              <a:rPr lang="en-US">
                <a:latin typeface="Arial"/>
                <a:ea typeface="Arial"/>
                <a:cs typeface="Arial"/>
                <a:sym typeface="Arial"/>
              </a:rPr>
              <a:t> </a:t>
            </a:r>
            <a:r>
              <a:rPr lang="en-US" err="1">
                <a:latin typeface="Arial"/>
                <a:ea typeface="Arial"/>
                <a:cs typeface="Arial"/>
                <a:sym typeface="Arial"/>
              </a:rPr>
              <a:t>sử</a:t>
            </a:r>
            <a:r>
              <a:rPr lang="en-US">
                <a:latin typeface="Arial"/>
                <a:ea typeface="Arial"/>
                <a:cs typeface="Arial"/>
                <a:sym typeface="Arial"/>
              </a:rPr>
              <a:t> </a:t>
            </a:r>
            <a:r>
              <a:rPr lang="en-US" err="1">
                <a:latin typeface="Arial"/>
                <a:ea typeface="Arial"/>
                <a:cs typeface="Arial"/>
                <a:sym typeface="Arial"/>
              </a:rPr>
              <a:t>dụng</a:t>
            </a:r>
            <a:r>
              <a:rPr lang="en-US">
                <a:latin typeface="Arial"/>
                <a:ea typeface="Arial"/>
                <a:cs typeface="Arial"/>
                <a:sym typeface="Arial"/>
              </a:rPr>
              <a:t> </a:t>
            </a:r>
            <a:r>
              <a:rPr lang="en-US" err="1">
                <a:latin typeface="Arial"/>
                <a:ea typeface="Arial"/>
                <a:cs typeface="Arial"/>
                <a:sym typeface="Arial"/>
              </a:rPr>
              <a:t>phương</a:t>
            </a:r>
            <a:r>
              <a:rPr lang="en-US">
                <a:latin typeface="Arial"/>
                <a:ea typeface="Arial"/>
                <a:cs typeface="Arial"/>
                <a:sym typeface="Arial"/>
              </a:rPr>
              <a:t> </a:t>
            </a:r>
            <a:r>
              <a:rPr lang="en-US" err="1">
                <a:latin typeface="Arial"/>
                <a:ea typeface="Arial"/>
                <a:cs typeface="Arial"/>
                <a:sym typeface="Arial"/>
              </a:rPr>
              <a:t>tiện</a:t>
            </a:r>
            <a:r>
              <a:rPr lang="en-US">
                <a:latin typeface="Arial"/>
                <a:ea typeface="Arial"/>
                <a:cs typeface="Arial"/>
                <a:sym typeface="Arial"/>
              </a:rPr>
              <a:t> </a:t>
            </a:r>
            <a:r>
              <a:rPr lang="en-US" err="1">
                <a:latin typeface="Arial"/>
                <a:ea typeface="Arial"/>
                <a:cs typeface="Arial"/>
                <a:sym typeface="Arial"/>
              </a:rPr>
              <a:t>truyền</a:t>
            </a:r>
            <a:r>
              <a:rPr lang="en-US">
                <a:latin typeface="Arial"/>
                <a:ea typeface="Arial"/>
                <a:cs typeface="Arial"/>
                <a:sym typeface="Arial"/>
              </a:rPr>
              <a:t> </a:t>
            </a:r>
            <a:r>
              <a:rPr lang="en-US" err="1">
                <a:latin typeface="Arial"/>
                <a:ea typeface="Arial"/>
                <a:cs typeface="Arial"/>
                <a:sym typeface="Arial"/>
              </a:rPr>
              <a:t>thông</a:t>
            </a:r>
            <a:r>
              <a:rPr lang="en-US">
                <a:latin typeface="Arial"/>
                <a:ea typeface="Arial"/>
                <a:cs typeface="Arial"/>
                <a:sym typeface="Arial"/>
              </a:rPr>
              <a:t> </a:t>
            </a:r>
            <a:r>
              <a:rPr lang="en-US" err="1">
                <a:latin typeface="Arial"/>
                <a:ea typeface="Arial"/>
                <a:cs typeface="Arial"/>
                <a:sym typeface="Arial"/>
              </a:rPr>
              <a:t>khác</a:t>
            </a:r>
            <a:r>
              <a:rPr lang="en-US">
                <a:latin typeface="Arial"/>
                <a:ea typeface="Arial"/>
                <a:cs typeface="Arial"/>
                <a:sym typeface="Arial"/>
              </a:rPr>
              <a:t> </a:t>
            </a:r>
            <a:r>
              <a:rPr lang="en-US" err="1">
                <a:latin typeface="Arial"/>
                <a:ea typeface="Arial"/>
                <a:cs typeface="Arial"/>
                <a:sym typeface="Arial"/>
              </a:rPr>
              <a:t>nhau</a:t>
            </a:r>
            <a:r>
              <a:rPr lang="en-US">
                <a:latin typeface="Arial"/>
                <a:ea typeface="Arial"/>
                <a:cs typeface="Arial"/>
                <a:sym typeface="Arial"/>
              </a:rPr>
              <a:t>.</a:t>
            </a:r>
            <a:endParaRPr/>
          </a:p>
          <a:p>
            <a:pPr marL="739775" lvl="0" indent="-511175" algn="just" rtl="0">
              <a:lnSpc>
                <a:spcPts val="3800"/>
              </a:lnSpc>
              <a:spcBef>
                <a:spcPts val="0"/>
              </a:spcBef>
              <a:spcAft>
                <a:spcPts val="0"/>
              </a:spcAft>
              <a:buClr>
                <a:schemeClr val="dk1"/>
              </a:buClr>
              <a:buSzPts val="2800"/>
              <a:buFont typeface="Arial"/>
              <a:buChar char="•"/>
            </a:pPr>
            <a:r>
              <a:rPr lang="en-US" err="1">
                <a:latin typeface="Arial"/>
                <a:ea typeface="Arial"/>
                <a:cs typeface="Arial"/>
                <a:sym typeface="Arial"/>
              </a:rPr>
              <a:t>Các</a:t>
            </a:r>
            <a:r>
              <a:rPr lang="en-US">
                <a:latin typeface="Arial"/>
                <a:ea typeface="Arial"/>
                <a:cs typeface="Arial"/>
                <a:sym typeface="Arial"/>
              </a:rPr>
              <a:t> Marketer </a:t>
            </a:r>
            <a:r>
              <a:rPr lang="en-US" err="1">
                <a:latin typeface="Arial"/>
                <a:ea typeface="Arial"/>
                <a:cs typeface="Arial"/>
                <a:sym typeface="Arial"/>
              </a:rPr>
              <a:t>thường</a:t>
            </a:r>
            <a:r>
              <a:rPr lang="en-US">
                <a:latin typeface="Arial"/>
                <a:ea typeface="Arial"/>
                <a:cs typeface="Arial"/>
                <a:sym typeface="Arial"/>
              </a:rPr>
              <a:t> </a:t>
            </a:r>
            <a:r>
              <a:rPr lang="en-US" err="1">
                <a:latin typeface="Arial"/>
                <a:ea typeface="Arial"/>
                <a:cs typeface="Arial"/>
                <a:sym typeface="Arial"/>
              </a:rPr>
              <a:t>ứng</a:t>
            </a:r>
            <a:r>
              <a:rPr lang="en-US">
                <a:latin typeface="Arial"/>
                <a:ea typeface="Arial"/>
                <a:cs typeface="Arial"/>
                <a:sym typeface="Arial"/>
              </a:rPr>
              <a:t> </a:t>
            </a:r>
            <a:r>
              <a:rPr lang="en-US" err="1">
                <a:latin typeface="Arial"/>
                <a:ea typeface="Arial"/>
                <a:cs typeface="Arial"/>
                <a:sym typeface="Arial"/>
              </a:rPr>
              <a:t>dụng</a:t>
            </a:r>
            <a:r>
              <a:rPr lang="en-US">
                <a:latin typeface="Arial"/>
                <a:ea typeface="Arial"/>
                <a:cs typeface="Arial"/>
                <a:sym typeface="Arial"/>
              </a:rPr>
              <a:t> </a:t>
            </a:r>
            <a:r>
              <a:rPr lang="en-US" err="1">
                <a:latin typeface="Arial"/>
                <a:ea typeface="Arial"/>
                <a:cs typeface="Arial"/>
                <a:sym typeface="Arial"/>
              </a:rPr>
              <a:t>viêc</a:t>
            </a:r>
            <a:r>
              <a:rPr lang="en-US">
                <a:latin typeface="Arial"/>
                <a:ea typeface="Arial"/>
                <a:cs typeface="Arial"/>
                <a:sym typeface="Arial"/>
              </a:rPr>
              <a:t> </a:t>
            </a:r>
            <a:r>
              <a:rPr lang="en-US" err="1">
                <a:latin typeface="Arial"/>
                <a:ea typeface="Arial"/>
                <a:cs typeface="Arial"/>
                <a:sym typeface="Arial"/>
              </a:rPr>
              <a:t>nghiên</a:t>
            </a:r>
            <a:r>
              <a:rPr lang="en-US">
                <a:latin typeface="Arial"/>
                <a:ea typeface="Arial"/>
                <a:cs typeface="Arial"/>
                <a:sym typeface="Arial"/>
              </a:rPr>
              <a:t> </a:t>
            </a:r>
            <a:r>
              <a:rPr lang="en-US" err="1">
                <a:latin typeface="Arial"/>
                <a:ea typeface="Arial"/>
                <a:cs typeface="Arial"/>
                <a:sym typeface="Arial"/>
              </a:rPr>
              <a:t>cứu</a:t>
            </a:r>
            <a:r>
              <a:rPr lang="en-US">
                <a:latin typeface="Arial"/>
                <a:ea typeface="Arial"/>
                <a:cs typeface="Arial"/>
                <a:sym typeface="Arial"/>
              </a:rPr>
              <a:t> </a:t>
            </a:r>
            <a:r>
              <a:rPr lang="en-US" err="1">
                <a:latin typeface="Arial"/>
                <a:ea typeface="Arial"/>
                <a:cs typeface="Arial"/>
                <a:sym typeface="Arial"/>
              </a:rPr>
              <a:t>giai</a:t>
            </a:r>
            <a:r>
              <a:rPr lang="en-US">
                <a:latin typeface="Arial"/>
                <a:ea typeface="Arial"/>
                <a:cs typeface="Arial"/>
                <a:sym typeface="Arial"/>
              </a:rPr>
              <a:t> </a:t>
            </a:r>
            <a:r>
              <a:rPr lang="en-US" err="1">
                <a:latin typeface="Arial"/>
                <a:ea typeface="Arial"/>
                <a:cs typeface="Arial"/>
                <a:sym typeface="Arial"/>
              </a:rPr>
              <a:t>tầng</a:t>
            </a:r>
            <a:r>
              <a:rPr lang="en-US">
                <a:latin typeface="Arial"/>
                <a:ea typeface="Arial"/>
                <a:cs typeface="Arial"/>
                <a:sym typeface="Arial"/>
              </a:rPr>
              <a:t>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để</a:t>
            </a:r>
            <a:r>
              <a:rPr lang="en-US">
                <a:latin typeface="Arial"/>
                <a:ea typeface="Arial"/>
                <a:cs typeface="Arial"/>
                <a:sym typeface="Arial"/>
              </a:rPr>
              <a:t> </a:t>
            </a:r>
            <a:r>
              <a:rPr lang="en-US" err="1">
                <a:latin typeface="Arial"/>
                <a:ea typeface="Arial"/>
                <a:cs typeface="Arial"/>
                <a:sym typeface="Arial"/>
              </a:rPr>
              <a:t>hoạch</a:t>
            </a:r>
            <a:r>
              <a:rPr lang="en-US">
                <a:latin typeface="Arial"/>
                <a:ea typeface="Arial"/>
                <a:cs typeface="Arial"/>
                <a:sym typeface="Arial"/>
              </a:rPr>
              <a:t> </a:t>
            </a:r>
            <a:r>
              <a:rPr lang="en-US" err="1">
                <a:latin typeface="Arial"/>
                <a:ea typeface="Arial"/>
                <a:cs typeface="Arial"/>
                <a:sym typeface="Arial"/>
              </a:rPr>
              <a:t>định</a:t>
            </a:r>
            <a:r>
              <a:rPr lang="en-US">
                <a:latin typeface="Arial"/>
                <a:ea typeface="Arial"/>
                <a:cs typeface="Arial"/>
                <a:sym typeface="Arial"/>
              </a:rPr>
              <a:t> </a:t>
            </a:r>
            <a:r>
              <a:rPr lang="en-US" err="1">
                <a:latin typeface="Arial"/>
                <a:ea typeface="Arial"/>
                <a:cs typeface="Arial"/>
                <a:sym typeface="Arial"/>
              </a:rPr>
              <a:t>chiến</a:t>
            </a:r>
            <a:r>
              <a:rPr lang="en-US">
                <a:latin typeface="Arial"/>
                <a:ea typeface="Arial"/>
                <a:cs typeface="Arial"/>
                <a:sym typeface="Arial"/>
              </a:rPr>
              <a:t> </a:t>
            </a:r>
            <a:r>
              <a:rPr lang="en-US" err="1">
                <a:latin typeface="Arial"/>
                <a:ea typeface="Arial"/>
                <a:cs typeface="Arial"/>
                <a:sym typeface="Arial"/>
              </a:rPr>
              <a:t>lược</a:t>
            </a:r>
            <a:r>
              <a:rPr lang="en-US">
                <a:latin typeface="Arial"/>
                <a:ea typeface="Arial"/>
                <a:cs typeface="Arial"/>
                <a:sym typeface="Arial"/>
              </a:rPr>
              <a:t> Marketing </a:t>
            </a:r>
            <a:r>
              <a:rPr lang="en-US" err="1">
                <a:latin typeface="Arial"/>
                <a:ea typeface="Arial"/>
                <a:cs typeface="Arial"/>
                <a:sym typeface="Arial"/>
              </a:rPr>
              <a:t>như</a:t>
            </a:r>
            <a:r>
              <a:rPr lang="en-US">
                <a:latin typeface="Arial"/>
                <a:ea typeface="Arial"/>
                <a:cs typeface="Arial"/>
                <a:sym typeface="Arial"/>
              </a:rPr>
              <a:t>: </a:t>
            </a:r>
            <a:r>
              <a:rPr lang="en-US" err="1">
                <a:latin typeface="Arial"/>
                <a:ea typeface="Arial"/>
                <a:cs typeface="Arial"/>
                <a:sym typeface="Arial"/>
              </a:rPr>
              <a:t>Phân</a:t>
            </a:r>
            <a:r>
              <a:rPr lang="en-US">
                <a:latin typeface="Arial"/>
                <a:ea typeface="Arial"/>
                <a:cs typeface="Arial"/>
                <a:sym typeface="Arial"/>
              </a:rPr>
              <a:t> </a:t>
            </a:r>
            <a:r>
              <a:rPr lang="en-US" err="1">
                <a:latin typeface="Arial"/>
                <a:ea typeface="Arial"/>
                <a:cs typeface="Arial"/>
                <a:sym typeface="Arial"/>
              </a:rPr>
              <a:t>khúc</a:t>
            </a:r>
            <a:r>
              <a:rPr lang="en-US">
                <a:latin typeface="Arial"/>
                <a:ea typeface="Arial"/>
                <a:cs typeface="Arial"/>
                <a:sym typeface="Arial"/>
              </a:rPr>
              <a:t> </a:t>
            </a:r>
            <a:r>
              <a:rPr lang="en-US" err="1">
                <a:latin typeface="Arial"/>
                <a:ea typeface="Arial"/>
                <a:cs typeface="Arial"/>
                <a:sym typeface="Arial"/>
              </a:rPr>
              <a:t>thị</a:t>
            </a:r>
            <a:r>
              <a:rPr lang="en-US">
                <a:latin typeface="Arial"/>
                <a:ea typeface="Arial"/>
                <a:cs typeface="Arial"/>
                <a:sym typeface="Arial"/>
              </a:rPr>
              <a:t> </a:t>
            </a:r>
            <a:r>
              <a:rPr lang="en-US" err="1">
                <a:latin typeface="Arial"/>
                <a:ea typeface="Arial"/>
                <a:cs typeface="Arial"/>
                <a:sym typeface="Arial"/>
              </a:rPr>
              <a:t>trường</a:t>
            </a:r>
            <a:r>
              <a:rPr lang="en-US">
                <a:latin typeface="Arial"/>
                <a:ea typeface="Arial"/>
                <a:cs typeface="Arial"/>
                <a:sym typeface="Arial"/>
              </a:rPr>
              <a:t> </a:t>
            </a:r>
            <a:r>
              <a:rPr lang="en-US" err="1">
                <a:latin typeface="Arial"/>
                <a:ea typeface="Arial"/>
                <a:cs typeface="Arial"/>
                <a:sym typeface="Arial"/>
              </a:rPr>
              <a:t>hợp</a:t>
            </a:r>
            <a:r>
              <a:rPr lang="en-US">
                <a:latin typeface="Arial"/>
                <a:ea typeface="Arial"/>
                <a:cs typeface="Arial"/>
                <a:sym typeface="Arial"/>
              </a:rPr>
              <a:t> </a:t>
            </a:r>
            <a:r>
              <a:rPr lang="en-US" err="1">
                <a:latin typeface="Arial"/>
                <a:ea typeface="Arial"/>
                <a:cs typeface="Arial"/>
                <a:sym typeface="Arial"/>
              </a:rPr>
              <a:t>lý</a:t>
            </a:r>
            <a:r>
              <a:rPr lang="en-US">
                <a:latin typeface="Arial"/>
                <a:ea typeface="Arial"/>
                <a:cs typeface="Arial"/>
                <a:sym typeface="Arial"/>
              </a:rPr>
              <a:t>, </a:t>
            </a:r>
            <a:r>
              <a:rPr lang="en-US" err="1">
                <a:latin typeface="Arial"/>
                <a:ea typeface="Arial"/>
                <a:cs typeface="Arial"/>
                <a:sym typeface="Arial"/>
              </a:rPr>
              <a:t>tìm</a:t>
            </a:r>
            <a:r>
              <a:rPr lang="en-US">
                <a:latin typeface="Arial"/>
                <a:ea typeface="Arial"/>
                <a:cs typeface="Arial"/>
                <a:sym typeface="Arial"/>
              </a:rPr>
              <a:t> </a:t>
            </a:r>
            <a:r>
              <a:rPr lang="en-US" err="1">
                <a:latin typeface="Arial"/>
                <a:ea typeface="Arial"/>
                <a:cs typeface="Arial"/>
                <a:sym typeface="Arial"/>
              </a:rPr>
              <a:t>kiếm</a:t>
            </a:r>
            <a:r>
              <a:rPr lang="en-US">
                <a:latin typeface="Arial"/>
                <a:ea typeface="Arial"/>
                <a:cs typeface="Arial"/>
                <a:sym typeface="Arial"/>
              </a:rPr>
              <a:t> </a:t>
            </a:r>
            <a:r>
              <a:rPr lang="en-US" err="1">
                <a:latin typeface="Arial"/>
                <a:ea typeface="Arial"/>
                <a:cs typeface="Arial"/>
                <a:sym typeface="Arial"/>
              </a:rPr>
              <a:t>cách</a:t>
            </a:r>
            <a:r>
              <a:rPr lang="en-US">
                <a:latin typeface="Arial"/>
                <a:ea typeface="Arial"/>
                <a:cs typeface="Arial"/>
                <a:sym typeface="Arial"/>
              </a:rPr>
              <a:t> </a:t>
            </a:r>
            <a:r>
              <a:rPr lang="en-US" err="1">
                <a:latin typeface="Arial"/>
                <a:ea typeface="Arial"/>
                <a:cs typeface="Arial"/>
                <a:sym typeface="Arial"/>
              </a:rPr>
              <a:t>thức</a:t>
            </a:r>
            <a:r>
              <a:rPr lang="en-US">
                <a:latin typeface="Arial"/>
                <a:ea typeface="Arial"/>
                <a:cs typeface="Arial"/>
                <a:sym typeface="Arial"/>
              </a:rPr>
              <a:t> </a:t>
            </a:r>
            <a:r>
              <a:rPr lang="en-US" err="1">
                <a:latin typeface="Arial"/>
                <a:ea typeface="Arial"/>
                <a:cs typeface="Arial"/>
                <a:sym typeface="Arial"/>
              </a:rPr>
              <a:t>quảng</a:t>
            </a:r>
            <a:r>
              <a:rPr lang="en-US">
                <a:latin typeface="Arial"/>
                <a:ea typeface="Arial"/>
                <a:cs typeface="Arial"/>
                <a:sym typeface="Arial"/>
              </a:rPr>
              <a:t> </a:t>
            </a:r>
            <a:r>
              <a:rPr lang="en-US" err="1">
                <a:latin typeface="Arial"/>
                <a:ea typeface="Arial"/>
                <a:cs typeface="Arial"/>
                <a:sym typeface="Arial"/>
              </a:rPr>
              <a:t>cáo</a:t>
            </a:r>
            <a:r>
              <a:rPr lang="en-US">
                <a:latin typeface="Arial"/>
                <a:ea typeface="Arial"/>
                <a:cs typeface="Arial"/>
                <a:sym typeface="Arial"/>
              </a:rPr>
              <a:t> </a:t>
            </a:r>
            <a:r>
              <a:rPr lang="en-US" err="1">
                <a:latin typeface="Arial"/>
                <a:ea typeface="Arial"/>
                <a:cs typeface="Arial"/>
                <a:sym typeface="Arial"/>
              </a:rPr>
              <a:t>hiệu</a:t>
            </a:r>
            <a:r>
              <a:rPr lang="en-US">
                <a:latin typeface="Arial"/>
                <a:ea typeface="Arial"/>
                <a:cs typeface="Arial"/>
                <a:sym typeface="Arial"/>
              </a:rPr>
              <a:t> </a:t>
            </a:r>
            <a:r>
              <a:rPr lang="en-US" err="1">
                <a:latin typeface="Arial"/>
                <a:ea typeface="Arial"/>
                <a:cs typeface="Arial"/>
                <a:sym typeface="Arial"/>
              </a:rPr>
              <a:t>quả</a:t>
            </a:r>
            <a:r>
              <a:rPr lang="en-US">
                <a:latin typeface="Arial"/>
                <a:ea typeface="Arial"/>
                <a:cs typeface="Arial"/>
                <a:sym typeface="Arial"/>
              </a:rPr>
              <a:t>, </a:t>
            </a:r>
            <a:r>
              <a:rPr lang="en-US" err="1">
                <a:latin typeface="Arial"/>
                <a:ea typeface="Arial"/>
                <a:cs typeface="Arial"/>
                <a:sym typeface="Arial"/>
              </a:rPr>
              <a:t>lựa</a:t>
            </a:r>
            <a:r>
              <a:rPr lang="en-US">
                <a:latin typeface="Arial"/>
                <a:ea typeface="Arial"/>
                <a:cs typeface="Arial"/>
                <a:sym typeface="Arial"/>
              </a:rPr>
              <a:t> </a:t>
            </a:r>
            <a:r>
              <a:rPr lang="en-US" err="1">
                <a:latin typeface="Arial"/>
                <a:ea typeface="Arial"/>
                <a:cs typeface="Arial"/>
                <a:sym typeface="Arial"/>
              </a:rPr>
              <a:t>chọn</a:t>
            </a:r>
            <a:r>
              <a:rPr lang="en-US">
                <a:latin typeface="Arial"/>
                <a:ea typeface="Arial"/>
                <a:cs typeface="Arial"/>
                <a:sym typeface="Arial"/>
              </a:rPr>
              <a:t> </a:t>
            </a:r>
            <a:r>
              <a:rPr lang="en-US" err="1">
                <a:latin typeface="Arial"/>
                <a:ea typeface="Arial"/>
                <a:cs typeface="Arial"/>
                <a:sym typeface="Arial"/>
              </a:rPr>
              <a:t>phương</a:t>
            </a:r>
            <a:r>
              <a:rPr lang="en-US">
                <a:latin typeface="Arial"/>
                <a:ea typeface="Arial"/>
                <a:cs typeface="Arial"/>
                <a:sym typeface="Arial"/>
              </a:rPr>
              <a:t> </a:t>
            </a:r>
            <a:r>
              <a:rPr lang="en-US" err="1">
                <a:latin typeface="Arial"/>
                <a:ea typeface="Arial"/>
                <a:cs typeface="Arial"/>
                <a:sym typeface="Arial"/>
              </a:rPr>
              <a:t>tiện</a:t>
            </a:r>
            <a:r>
              <a:rPr lang="en-US">
                <a:latin typeface="Arial"/>
                <a:ea typeface="Arial"/>
                <a:cs typeface="Arial"/>
                <a:sym typeface="Arial"/>
              </a:rPr>
              <a:t> </a:t>
            </a:r>
            <a:r>
              <a:rPr lang="en-US" err="1">
                <a:latin typeface="Arial"/>
                <a:ea typeface="Arial"/>
                <a:cs typeface="Arial"/>
                <a:sym typeface="Arial"/>
              </a:rPr>
              <a:t>truyền</a:t>
            </a:r>
            <a:r>
              <a:rPr lang="en-US">
                <a:latin typeface="Arial"/>
                <a:ea typeface="Arial"/>
                <a:cs typeface="Arial"/>
                <a:sym typeface="Arial"/>
              </a:rPr>
              <a:t> </a:t>
            </a:r>
            <a:r>
              <a:rPr lang="en-US" err="1">
                <a:latin typeface="Arial"/>
                <a:ea typeface="Arial"/>
                <a:cs typeface="Arial"/>
                <a:sym typeface="Arial"/>
              </a:rPr>
              <a:t>thông</a:t>
            </a:r>
            <a:r>
              <a:rPr lang="en-US">
                <a:latin typeface="Arial"/>
                <a:ea typeface="Arial"/>
                <a:cs typeface="Arial"/>
                <a:sym typeface="Arial"/>
              </a:rPr>
              <a:t> </a:t>
            </a:r>
            <a:r>
              <a:rPr lang="en-US" err="1">
                <a:latin typeface="Arial"/>
                <a:ea typeface="Arial"/>
                <a:cs typeface="Arial"/>
                <a:sym typeface="Arial"/>
              </a:rPr>
              <a:t>phù</a:t>
            </a:r>
            <a:r>
              <a:rPr lang="en-US">
                <a:latin typeface="Arial"/>
                <a:ea typeface="Arial"/>
                <a:cs typeface="Arial"/>
                <a:sym typeface="Arial"/>
              </a:rPr>
              <a:t> </a:t>
            </a:r>
            <a:r>
              <a:rPr lang="en-US" err="1">
                <a:latin typeface="Arial"/>
                <a:ea typeface="Arial"/>
                <a:cs typeface="Arial"/>
                <a:sym typeface="Arial"/>
              </a:rPr>
              <a:t>hợp</a:t>
            </a:r>
            <a:r>
              <a:rPr lang="en-US">
                <a:latin typeface="Arial"/>
                <a:ea typeface="Arial"/>
                <a:cs typeface="Arial"/>
                <a:sym typeface="Arial"/>
              </a:rPr>
              <a:t>.</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111"/>
          <p:cNvSpPr txBox="1">
            <a:spLocks noGrp="1"/>
          </p:cNvSpPr>
          <p:nvPr>
            <p:ph type="title"/>
          </p:nvPr>
        </p:nvSpPr>
        <p:spPr>
          <a:xfrm>
            <a:off x="838200" y="292630"/>
            <a:ext cx="10515600" cy="11504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vi-VN" sz="3200" b="1">
                <a:latin typeface="Arial"/>
                <a:ea typeface="Arial"/>
                <a:cs typeface="Arial"/>
                <a:sym typeface="Arial"/>
              </a:rPr>
              <a:t>2.2</a:t>
            </a:r>
            <a:r>
              <a:rPr lang="en-US" sz="3200" b="1">
                <a:latin typeface="Arial"/>
                <a:ea typeface="Arial"/>
                <a:cs typeface="Arial"/>
                <a:sym typeface="Arial"/>
              </a:rPr>
              <a:t>.4.4. </a:t>
            </a:r>
            <a:r>
              <a:rPr lang="en-US" sz="3200" b="1" err="1">
                <a:latin typeface="Arial"/>
                <a:ea typeface="Arial"/>
                <a:cs typeface="Arial"/>
                <a:sym typeface="Arial"/>
              </a:rPr>
              <a:t>Quan</a:t>
            </a:r>
            <a:r>
              <a:rPr lang="en-US" sz="3200" b="1">
                <a:latin typeface="Arial"/>
                <a:ea typeface="Arial"/>
                <a:cs typeface="Arial"/>
                <a:sym typeface="Arial"/>
              </a:rPr>
              <a:t> </a:t>
            </a:r>
            <a:r>
              <a:rPr lang="en-US" sz="3200" b="1" err="1">
                <a:latin typeface="Arial"/>
                <a:ea typeface="Arial"/>
                <a:cs typeface="Arial"/>
                <a:sym typeface="Arial"/>
              </a:rPr>
              <a:t>điểm</a:t>
            </a:r>
            <a:r>
              <a:rPr lang="en-US" sz="3200" b="1">
                <a:latin typeface="Arial"/>
                <a:ea typeface="Arial"/>
                <a:cs typeface="Arial"/>
                <a:sym typeface="Arial"/>
              </a:rPr>
              <a:t> </a:t>
            </a:r>
            <a:r>
              <a:rPr lang="en-US" sz="3200" b="1" err="1">
                <a:latin typeface="Arial"/>
                <a:ea typeface="Arial"/>
                <a:cs typeface="Arial"/>
                <a:sym typeface="Arial"/>
              </a:rPr>
              <a:t>về</a:t>
            </a:r>
            <a:r>
              <a:rPr lang="en-US" sz="3200" b="1">
                <a:latin typeface="Arial"/>
                <a:ea typeface="Arial"/>
                <a:cs typeface="Arial"/>
                <a:sym typeface="Arial"/>
              </a:rPr>
              <a:t> </a:t>
            </a:r>
            <a:r>
              <a:rPr lang="en-US" sz="3200" b="1" err="1">
                <a:latin typeface="Arial"/>
                <a:ea typeface="Arial"/>
                <a:cs typeface="Arial"/>
                <a:sym typeface="Arial"/>
              </a:rPr>
              <a:t>biểu</a:t>
            </a:r>
            <a:r>
              <a:rPr lang="en-US" sz="3200" b="1">
                <a:latin typeface="Arial"/>
                <a:ea typeface="Arial"/>
                <a:cs typeface="Arial"/>
                <a:sym typeface="Arial"/>
              </a:rPr>
              <a:t> </a:t>
            </a:r>
            <a:r>
              <a:rPr lang="en-US" sz="3200" b="1" err="1">
                <a:latin typeface="Arial"/>
                <a:ea typeface="Arial"/>
                <a:cs typeface="Arial"/>
                <a:sym typeface="Arial"/>
              </a:rPr>
              <a:t>tượng</a:t>
            </a:r>
            <a:r>
              <a:rPr lang="en-US" sz="3200" b="1">
                <a:latin typeface="Arial"/>
                <a:ea typeface="Arial"/>
                <a:cs typeface="Arial"/>
                <a:sym typeface="Arial"/>
              </a:rPr>
              <a:t> </a:t>
            </a:r>
            <a:r>
              <a:rPr lang="en-US" sz="3200" b="1" err="1">
                <a:latin typeface="Arial"/>
                <a:ea typeface="Arial"/>
                <a:cs typeface="Arial"/>
                <a:sym typeface="Arial"/>
              </a:rPr>
              <a:t>của</a:t>
            </a:r>
            <a:r>
              <a:rPr lang="en-US" sz="3200" b="1">
                <a:latin typeface="Arial"/>
                <a:ea typeface="Arial"/>
                <a:cs typeface="Arial"/>
                <a:sym typeface="Arial"/>
              </a:rPr>
              <a:t> </a:t>
            </a:r>
            <a:r>
              <a:rPr lang="en-US" sz="3200" b="1" err="1">
                <a:latin typeface="Arial"/>
                <a:ea typeface="Arial"/>
                <a:cs typeface="Arial"/>
                <a:sym typeface="Arial"/>
              </a:rPr>
              <a:t>địa</a:t>
            </a:r>
            <a:r>
              <a:rPr lang="en-US" sz="3200" b="1">
                <a:latin typeface="Arial"/>
                <a:ea typeface="Arial"/>
                <a:cs typeface="Arial"/>
                <a:sym typeface="Arial"/>
              </a:rPr>
              <a:t> </a:t>
            </a:r>
            <a:r>
              <a:rPr lang="en-US" sz="3200" b="1" err="1">
                <a:latin typeface="Arial"/>
                <a:ea typeface="Arial"/>
                <a:cs typeface="Arial"/>
                <a:sym typeface="Arial"/>
              </a:rPr>
              <a:t>vị</a:t>
            </a:r>
            <a:endParaRPr sz="3200" b="1">
              <a:latin typeface="Arial"/>
              <a:ea typeface="Arial"/>
              <a:cs typeface="Arial"/>
              <a:sym typeface="Arial"/>
            </a:endParaRPr>
          </a:p>
        </p:txBody>
      </p:sp>
      <p:sp>
        <p:nvSpPr>
          <p:cNvPr id="819" name="Google Shape;819;p111"/>
          <p:cNvSpPr txBox="1">
            <a:spLocks noGrp="1"/>
          </p:cNvSpPr>
          <p:nvPr>
            <p:ph type="body" idx="1"/>
          </p:nvPr>
        </p:nvSpPr>
        <p:spPr>
          <a:xfrm>
            <a:off x="392430" y="1578823"/>
            <a:ext cx="10515600" cy="4733925"/>
          </a:xfrm>
          <a:prstGeom prst="rect">
            <a:avLst/>
          </a:prstGeom>
          <a:noFill/>
          <a:ln>
            <a:noFill/>
          </a:ln>
        </p:spPr>
        <p:txBody>
          <a:bodyPr spcFirstLastPara="1" wrap="square" lIns="91425" tIns="45700" rIns="91425" bIns="45700" anchor="t" anchorCtr="0">
            <a:noAutofit/>
          </a:bodyPr>
          <a:lstStyle/>
          <a:p>
            <a:pPr marL="685800" lvl="0" indent="-457200" algn="just" rtl="0">
              <a:lnSpc>
                <a:spcPct val="150000"/>
              </a:lnSpc>
              <a:spcBef>
                <a:spcPts val="0"/>
              </a:spcBef>
              <a:spcAft>
                <a:spcPts val="0"/>
              </a:spcAft>
              <a:buClr>
                <a:schemeClr val="dk1"/>
              </a:buClr>
              <a:buSzPts val="2800"/>
              <a:buFont typeface="Arial"/>
              <a:buChar char="•"/>
            </a:pPr>
            <a:r>
              <a:rPr lang="en-US" err="1">
                <a:latin typeface="Arial"/>
                <a:ea typeface="Arial"/>
                <a:cs typeface="Arial"/>
                <a:sym typeface="Arial"/>
              </a:rPr>
              <a:t>Mỗi</a:t>
            </a:r>
            <a:r>
              <a:rPr lang="en-US">
                <a:latin typeface="Arial"/>
                <a:ea typeface="Arial"/>
                <a:cs typeface="Arial"/>
                <a:sym typeface="Arial"/>
              </a:rPr>
              <a:t>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phân</a:t>
            </a:r>
            <a:r>
              <a:rPr lang="en-US">
                <a:latin typeface="Arial"/>
                <a:ea typeface="Arial"/>
                <a:cs typeface="Arial"/>
                <a:sym typeface="Arial"/>
              </a:rPr>
              <a:t> </a:t>
            </a:r>
            <a:r>
              <a:rPr lang="en-US" err="1">
                <a:latin typeface="Arial"/>
                <a:ea typeface="Arial"/>
                <a:cs typeface="Arial"/>
                <a:sym typeface="Arial"/>
              </a:rPr>
              <a:t>tầng</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thành</a:t>
            </a:r>
            <a:r>
              <a:rPr lang="en-US">
                <a:latin typeface="Arial"/>
                <a:ea typeface="Arial"/>
                <a:cs typeface="Arial"/>
                <a:sym typeface="Arial"/>
              </a:rPr>
              <a:t> </a:t>
            </a:r>
            <a:r>
              <a:rPr lang="en-US" err="1">
                <a:latin typeface="Arial"/>
                <a:ea typeface="Arial"/>
                <a:cs typeface="Arial"/>
                <a:sym typeface="Arial"/>
              </a:rPr>
              <a:t>viên</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mình</a:t>
            </a:r>
            <a:r>
              <a:rPr lang="en-US">
                <a:latin typeface="Arial"/>
                <a:ea typeface="Arial"/>
                <a:cs typeface="Arial"/>
                <a:sym typeface="Arial"/>
              </a:rPr>
              <a:t> </a:t>
            </a:r>
            <a:r>
              <a:rPr lang="en-US" err="1">
                <a:latin typeface="Arial"/>
                <a:ea typeface="Arial"/>
                <a:cs typeface="Arial"/>
                <a:sym typeface="Arial"/>
              </a:rPr>
              <a:t>thành</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tầng</a:t>
            </a:r>
            <a:r>
              <a:rPr lang="en-US">
                <a:latin typeface="Arial"/>
                <a:ea typeface="Arial"/>
                <a:cs typeface="Arial"/>
                <a:sym typeface="Arial"/>
              </a:rPr>
              <a:t> </a:t>
            </a:r>
            <a:r>
              <a:rPr lang="en-US" err="1">
                <a:latin typeface="Arial"/>
                <a:ea typeface="Arial"/>
                <a:cs typeface="Arial"/>
                <a:sym typeface="Arial"/>
              </a:rPr>
              <a:t>lớp</a:t>
            </a:r>
            <a:r>
              <a:rPr lang="en-US">
                <a:latin typeface="Arial"/>
                <a:ea typeface="Arial"/>
                <a:cs typeface="Arial"/>
                <a:sym typeface="Arial"/>
              </a:rPr>
              <a:t>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theo</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giá</a:t>
            </a:r>
            <a:r>
              <a:rPr lang="en-US">
                <a:latin typeface="Arial"/>
                <a:ea typeface="Arial"/>
                <a:cs typeface="Arial"/>
                <a:sym typeface="Arial"/>
              </a:rPr>
              <a:t> </a:t>
            </a:r>
            <a:r>
              <a:rPr lang="en-US" err="1">
                <a:latin typeface="Arial"/>
                <a:ea typeface="Arial"/>
                <a:cs typeface="Arial"/>
                <a:sym typeface="Arial"/>
              </a:rPr>
              <a:t>trị</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họ</a:t>
            </a:r>
            <a:r>
              <a:rPr lang="en-US">
                <a:latin typeface="Arial"/>
                <a:ea typeface="Arial"/>
                <a:cs typeface="Arial"/>
                <a:sym typeface="Arial"/>
              </a:rPr>
              <a:t> </a:t>
            </a:r>
            <a:r>
              <a:rPr lang="en-US" err="1">
                <a:latin typeface="Arial"/>
                <a:ea typeface="Arial"/>
                <a:cs typeface="Arial"/>
                <a:sym typeface="Arial"/>
              </a:rPr>
              <a:t>đối</a:t>
            </a:r>
            <a:r>
              <a:rPr lang="en-US">
                <a:latin typeface="Arial"/>
                <a:ea typeface="Arial"/>
                <a:cs typeface="Arial"/>
                <a:sym typeface="Arial"/>
              </a:rPr>
              <a:t> </a:t>
            </a:r>
            <a:r>
              <a:rPr lang="en-US" err="1">
                <a:latin typeface="Arial"/>
                <a:ea typeface="Arial"/>
                <a:cs typeface="Arial"/>
                <a:sym typeface="Arial"/>
              </a:rPr>
              <a:t>với</a:t>
            </a:r>
            <a:r>
              <a:rPr lang="en-US">
                <a:latin typeface="Arial"/>
                <a:ea typeface="Arial"/>
                <a:cs typeface="Arial"/>
                <a:sym typeface="Arial"/>
              </a:rPr>
              <a:t>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endParaRPr/>
          </a:p>
          <a:p>
            <a:pPr marL="685800" lvl="0" indent="-457200" algn="just" rtl="0">
              <a:lnSpc>
                <a:spcPct val="150000"/>
              </a:lnSpc>
              <a:spcBef>
                <a:spcPts val="0"/>
              </a:spcBef>
              <a:spcAft>
                <a:spcPts val="0"/>
              </a:spcAft>
              <a:buClr>
                <a:schemeClr val="dk1"/>
              </a:buClr>
              <a:buSzPts val="2800"/>
              <a:buFont typeface="Arial"/>
              <a:buChar char="•"/>
            </a:pP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thành</a:t>
            </a:r>
            <a:r>
              <a:rPr lang="en-US">
                <a:latin typeface="Arial"/>
                <a:ea typeface="Arial"/>
                <a:cs typeface="Arial"/>
                <a:sym typeface="Arial"/>
              </a:rPr>
              <a:t> </a:t>
            </a:r>
            <a:r>
              <a:rPr lang="en-US" err="1">
                <a:latin typeface="Arial"/>
                <a:ea typeface="Arial"/>
                <a:cs typeface="Arial"/>
                <a:sym typeface="Arial"/>
              </a:rPr>
              <a:t>viên</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tầng</a:t>
            </a:r>
            <a:r>
              <a:rPr lang="en-US">
                <a:latin typeface="Arial"/>
                <a:ea typeface="Arial"/>
                <a:cs typeface="Arial"/>
                <a:sym typeface="Arial"/>
              </a:rPr>
              <a:t> </a:t>
            </a:r>
            <a:r>
              <a:rPr lang="en-US" err="1">
                <a:latin typeface="Arial"/>
                <a:ea typeface="Arial"/>
                <a:cs typeface="Arial"/>
                <a:sym typeface="Arial"/>
              </a:rPr>
              <a:t>lớp</a:t>
            </a:r>
            <a:r>
              <a:rPr lang="en-US">
                <a:latin typeface="Arial"/>
                <a:ea typeface="Arial"/>
                <a:cs typeface="Arial"/>
                <a:sym typeface="Arial"/>
              </a:rPr>
              <a:t>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chia </a:t>
            </a:r>
            <a:r>
              <a:rPr lang="en-US" err="1">
                <a:latin typeface="Arial"/>
                <a:ea typeface="Arial"/>
                <a:cs typeface="Arial"/>
                <a:sym typeface="Arial"/>
              </a:rPr>
              <a:t>sẻ</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giá</a:t>
            </a:r>
            <a:r>
              <a:rPr lang="en-US">
                <a:latin typeface="Arial"/>
                <a:ea typeface="Arial"/>
                <a:cs typeface="Arial"/>
                <a:sym typeface="Arial"/>
              </a:rPr>
              <a:t> </a:t>
            </a:r>
            <a:r>
              <a:rPr lang="en-US" err="1">
                <a:latin typeface="Arial"/>
                <a:ea typeface="Arial"/>
                <a:cs typeface="Arial"/>
                <a:sym typeface="Arial"/>
              </a:rPr>
              <a:t>trị</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cách</a:t>
            </a:r>
            <a:r>
              <a:rPr lang="en-US">
                <a:latin typeface="Arial"/>
                <a:ea typeface="Arial"/>
                <a:cs typeface="Arial"/>
                <a:sym typeface="Arial"/>
              </a:rPr>
              <a:t> </a:t>
            </a:r>
            <a:r>
              <a:rPr lang="en-US" err="1">
                <a:latin typeface="Arial"/>
                <a:ea typeface="Arial"/>
                <a:cs typeface="Arial"/>
                <a:sym typeface="Arial"/>
              </a:rPr>
              <a:t>suy</a:t>
            </a:r>
            <a:r>
              <a:rPr lang="en-US">
                <a:latin typeface="Arial"/>
                <a:ea typeface="Arial"/>
                <a:cs typeface="Arial"/>
                <a:sym typeface="Arial"/>
              </a:rPr>
              <a:t> </a:t>
            </a:r>
            <a:r>
              <a:rPr lang="en-US" err="1">
                <a:latin typeface="Arial"/>
                <a:ea typeface="Arial"/>
                <a:cs typeface="Arial"/>
                <a:sym typeface="Arial"/>
              </a:rPr>
              <a:t>nghĩ</a:t>
            </a:r>
            <a:r>
              <a:rPr lang="en-US">
                <a:latin typeface="Arial"/>
                <a:ea typeface="Arial"/>
                <a:cs typeface="Arial"/>
                <a:sym typeface="Arial"/>
              </a:rPr>
              <a:t>, </a:t>
            </a:r>
            <a:r>
              <a:rPr lang="en-US" err="1">
                <a:latin typeface="Arial"/>
                <a:ea typeface="Arial"/>
                <a:cs typeface="Arial"/>
                <a:sym typeface="Arial"/>
              </a:rPr>
              <a:t>nói</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hành</a:t>
            </a:r>
            <a:r>
              <a:rPr lang="en-US">
                <a:latin typeface="Arial"/>
                <a:ea typeface="Arial"/>
                <a:cs typeface="Arial"/>
                <a:sym typeface="Arial"/>
              </a:rPr>
              <a:t> </a:t>
            </a:r>
            <a:r>
              <a:rPr lang="en-US" err="1">
                <a:latin typeface="Arial"/>
                <a:ea typeface="Arial"/>
                <a:cs typeface="Arial"/>
                <a:sym typeface="Arial"/>
              </a:rPr>
              <a:t>xử</a:t>
            </a:r>
            <a:r>
              <a:rPr lang="en-US">
                <a:latin typeface="Arial"/>
                <a:ea typeface="Arial"/>
                <a:cs typeface="Arial"/>
                <a:sym typeface="Arial"/>
              </a:rPr>
              <a:t> </a:t>
            </a:r>
            <a:r>
              <a:rPr lang="en-US" err="1">
                <a:latin typeface="Arial"/>
                <a:ea typeface="Arial"/>
                <a:cs typeface="Arial"/>
                <a:sym typeface="Arial"/>
              </a:rPr>
              <a:t>chung</a:t>
            </a:r>
            <a:r>
              <a:rPr lang="en-US">
                <a:latin typeface="Arial"/>
                <a:ea typeface="Arial"/>
                <a:cs typeface="Arial"/>
                <a:sym typeface="Arial"/>
              </a:rPr>
              <a:t>. </a:t>
            </a:r>
            <a:endParaRPr/>
          </a:p>
          <a:p>
            <a:pPr marL="685800" lvl="0" indent="-457200" algn="just" rtl="0">
              <a:lnSpc>
                <a:spcPct val="150000"/>
              </a:lnSpc>
              <a:spcBef>
                <a:spcPts val="0"/>
              </a:spcBef>
              <a:spcAft>
                <a:spcPts val="0"/>
              </a:spcAft>
              <a:buClr>
                <a:schemeClr val="dk1"/>
              </a:buClr>
              <a:buSzPts val="2800"/>
              <a:buFont typeface="Arial"/>
              <a:buChar char="•"/>
            </a:pPr>
            <a:r>
              <a:rPr lang="en-US">
                <a:latin typeface="Arial"/>
                <a:ea typeface="Arial"/>
                <a:cs typeface="Arial"/>
                <a:sym typeface="Arial"/>
              </a:rPr>
              <a:t>Do </a:t>
            </a:r>
            <a:r>
              <a:rPr lang="en-US" err="1">
                <a:latin typeface="Arial"/>
                <a:ea typeface="Arial"/>
                <a:cs typeface="Arial"/>
                <a:sym typeface="Arial"/>
              </a:rPr>
              <a:t>đó</a:t>
            </a:r>
            <a:r>
              <a:rPr lang="en-US">
                <a:latin typeface="Arial"/>
                <a:ea typeface="Arial"/>
                <a:cs typeface="Arial"/>
                <a:sym typeface="Arial"/>
              </a:rPr>
              <a:t>, </a:t>
            </a:r>
            <a:r>
              <a:rPr lang="en-US" err="1">
                <a:latin typeface="Arial"/>
                <a:ea typeface="Arial"/>
                <a:cs typeface="Arial"/>
                <a:sym typeface="Arial"/>
              </a:rPr>
              <a:t>khách</a:t>
            </a:r>
            <a:r>
              <a:rPr lang="en-US">
                <a:latin typeface="Arial"/>
                <a:ea typeface="Arial"/>
                <a:cs typeface="Arial"/>
                <a:sym typeface="Arial"/>
              </a:rPr>
              <a:t> </a:t>
            </a:r>
            <a:r>
              <a:rPr lang="en-US" err="1">
                <a:latin typeface="Arial"/>
                <a:ea typeface="Arial"/>
                <a:cs typeface="Arial"/>
                <a:sym typeface="Arial"/>
              </a:rPr>
              <a:t>hàng</a:t>
            </a:r>
            <a:r>
              <a:rPr lang="en-US">
                <a:latin typeface="Arial"/>
                <a:ea typeface="Arial"/>
                <a:cs typeface="Arial"/>
                <a:sym typeface="Arial"/>
              </a:rPr>
              <a:t> </a:t>
            </a:r>
            <a:r>
              <a:rPr lang="en-US" err="1">
                <a:latin typeface="Arial"/>
                <a:ea typeface="Arial"/>
                <a:cs typeface="Arial"/>
                <a:sym typeface="Arial"/>
              </a:rPr>
              <a:t>tương</a:t>
            </a:r>
            <a:r>
              <a:rPr lang="en-US">
                <a:latin typeface="Arial"/>
                <a:ea typeface="Arial"/>
                <a:cs typeface="Arial"/>
                <a:sym typeface="Arial"/>
              </a:rPr>
              <a:t> </a:t>
            </a:r>
            <a:r>
              <a:rPr lang="en-US" err="1">
                <a:latin typeface="Arial"/>
                <a:ea typeface="Arial"/>
                <a:cs typeface="Arial"/>
                <a:sym typeface="Arial"/>
              </a:rPr>
              <a:t>tác</a:t>
            </a:r>
            <a:r>
              <a:rPr lang="en-US">
                <a:latin typeface="Arial"/>
                <a:ea typeface="Arial"/>
                <a:cs typeface="Arial"/>
                <a:sym typeface="Arial"/>
              </a:rPr>
              <a:t> </a:t>
            </a:r>
            <a:r>
              <a:rPr lang="en-US" err="1">
                <a:latin typeface="Arial"/>
                <a:ea typeface="Arial"/>
                <a:cs typeface="Arial"/>
                <a:sym typeface="Arial"/>
              </a:rPr>
              <a:t>chủ</a:t>
            </a:r>
            <a:r>
              <a:rPr lang="en-US">
                <a:latin typeface="Arial"/>
                <a:ea typeface="Arial"/>
                <a:cs typeface="Arial"/>
                <a:sym typeface="Arial"/>
              </a:rPr>
              <a:t> </a:t>
            </a:r>
            <a:r>
              <a:rPr lang="en-US" err="1">
                <a:latin typeface="Arial"/>
                <a:ea typeface="Arial"/>
                <a:cs typeface="Arial"/>
                <a:sym typeface="Arial"/>
              </a:rPr>
              <a:t>yếu</a:t>
            </a:r>
            <a:r>
              <a:rPr lang="en-US">
                <a:latin typeface="Arial"/>
                <a:ea typeface="Arial"/>
                <a:cs typeface="Arial"/>
                <a:sym typeface="Arial"/>
              </a:rPr>
              <a:t> </a:t>
            </a:r>
            <a:r>
              <a:rPr lang="en-US" err="1">
                <a:latin typeface="Arial"/>
                <a:ea typeface="Arial"/>
                <a:cs typeface="Arial"/>
                <a:sym typeface="Arial"/>
              </a:rPr>
              <a:t>với</a:t>
            </a:r>
            <a:r>
              <a:rPr lang="en-US">
                <a:latin typeface="Arial"/>
                <a:ea typeface="Arial"/>
                <a:cs typeface="Arial"/>
                <a:sym typeface="Arial"/>
              </a:rPr>
              <a:t> </a:t>
            </a:r>
            <a:r>
              <a:rPr lang="en-US" err="1">
                <a:latin typeface="Arial"/>
                <a:ea typeface="Arial"/>
                <a:cs typeface="Arial"/>
                <a:sym typeface="Arial"/>
              </a:rPr>
              <a:t>những</a:t>
            </a:r>
            <a:r>
              <a:rPr lang="en-US">
                <a:latin typeface="Arial"/>
                <a:ea typeface="Arial"/>
                <a:cs typeface="Arial"/>
                <a:sym typeface="Arial"/>
              </a:rPr>
              <a:t> </a:t>
            </a:r>
            <a:r>
              <a:rPr lang="en-US" err="1">
                <a:latin typeface="Arial"/>
                <a:ea typeface="Arial"/>
                <a:cs typeface="Arial"/>
                <a:sym typeface="Arial"/>
              </a:rPr>
              <a:t>người</a:t>
            </a:r>
            <a:r>
              <a:rPr lang="en-US">
                <a:latin typeface="Arial"/>
                <a:ea typeface="Arial"/>
                <a:cs typeface="Arial"/>
                <a:sym typeface="Arial"/>
              </a:rPr>
              <a:t> </a:t>
            </a:r>
            <a:r>
              <a:rPr lang="en-US" err="1">
                <a:latin typeface="Arial"/>
                <a:ea typeface="Arial"/>
                <a:cs typeface="Arial"/>
                <a:sym typeface="Arial"/>
              </a:rPr>
              <a:t>thuộc</a:t>
            </a:r>
            <a:r>
              <a:rPr lang="en-US">
                <a:latin typeface="Arial"/>
                <a:ea typeface="Arial"/>
                <a:cs typeface="Arial"/>
                <a:sym typeface="Arial"/>
              </a:rPr>
              <a:t> </a:t>
            </a:r>
            <a:r>
              <a:rPr lang="en-US" err="1">
                <a:latin typeface="Arial"/>
                <a:ea typeface="Arial"/>
                <a:cs typeface="Arial"/>
                <a:sym typeface="Arial"/>
              </a:rPr>
              <a:t>tầng</a:t>
            </a:r>
            <a:r>
              <a:rPr lang="en-US">
                <a:latin typeface="Arial"/>
                <a:ea typeface="Arial"/>
                <a:cs typeface="Arial"/>
                <a:sym typeface="Arial"/>
              </a:rPr>
              <a:t> </a:t>
            </a:r>
            <a:r>
              <a:rPr lang="en-US" err="1">
                <a:latin typeface="Arial"/>
                <a:ea typeface="Arial"/>
                <a:cs typeface="Arial"/>
                <a:sym typeface="Arial"/>
              </a:rPr>
              <a:t>lớp</a:t>
            </a:r>
            <a:r>
              <a:rPr lang="en-US">
                <a:latin typeface="Arial"/>
                <a:ea typeface="Arial"/>
                <a:cs typeface="Arial"/>
                <a:sym typeface="Arial"/>
              </a:rPr>
              <a:t> </a:t>
            </a:r>
            <a:r>
              <a:rPr lang="en-US" err="1">
                <a:latin typeface="Arial"/>
                <a:ea typeface="Arial"/>
                <a:cs typeface="Arial"/>
                <a:sym typeface="Arial"/>
              </a:rPr>
              <a:t>xã</a:t>
            </a:r>
            <a:r>
              <a:rPr lang="en-US">
                <a:latin typeface="Arial"/>
                <a:ea typeface="Arial"/>
                <a:cs typeface="Arial"/>
                <a:sym typeface="Arial"/>
              </a:rPr>
              <a:t> </a:t>
            </a:r>
            <a:r>
              <a:rPr lang="en-US" err="1">
                <a:latin typeface="Arial"/>
                <a:ea typeface="Arial"/>
                <a:cs typeface="Arial"/>
                <a:sym typeface="Arial"/>
              </a:rPr>
              <a:t>hội</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họ</a:t>
            </a:r>
            <a:r>
              <a:rPr lang="en-US">
                <a:latin typeface="Arial"/>
                <a:ea typeface="Arial"/>
                <a:cs typeface="Arial"/>
                <a:sym typeface="Arial"/>
              </a:rPr>
              <a:t> </a:t>
            </a:r>
            <a:r>
              <a:rPr lang="en-US" err="1">
                <a:latin typeface="Arial"/>
                <a:ea typeface="Arial"/>
                <a:cs typeface="Arial"/>
                <a:sym typeface="Arial"/>
              </a:rPr>
              <a:t>để</a:t>
            </a:r>
            <a:r>
              <a:rPr lang="en-US">
                <a:latin typeface="Arial"/>
                <a:ea typeface="Arial"/>
                <a:cs typeface="Arial"/>
                <a:sym typeface="Arial"/>
              </a:rPr>
              <a:t> </a:t>
            </a:r>
            <a:r>
              <a:rPr lang="en-US" err="1">
                <a:latin typeface="Arial"/>
                <a:ea typeface="Arial"/>
                <a:cs typeface="Arial"/>
                <a:sym typeface="Arial"/>
              </a:rPr>
              <a:t>mỗi</a:t>
            </a:r>
            <a:r>
              <a:rPr lang="en-US">
                <a:latin typeface="Arial"/>
                <a:ea typeface="Arial"/>
                <a:cs typeface="Arial"/>
                <a:sym typeface="Arial"/>
              </a:rPr>
              <a:t> </a:t>
            </a:r>
            <a:r>
              <a:rPr lang="en-US" err="1">
                <a:latin typeface="Arial"/>
                <a:ea typeface="Arial"/>
                <a:cs typeface="Arial"/>
                <a:sym typeface="Arial"/>
              </a:rPr>
              <a:t>lớp</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cùng</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giá</a:t>
            </a:r>
            <a:r>
              <a:rPr lang="en-US">
                <a:latin typeface="Arial"/>
                <a:ea typeface="Arial"/>
                <a:cs typeface="Arial"/>
                <a:sym typeface="Arial"/>
              </a:rPr>
              <a:t> </a:t>
            </a:r>
            <a:r>
              <a:rPr lang="en-US" err="1">
                <a:latin typeface="Arial"/>
                <a:ea typeface="Arial"/>
                <a:cs typeface="Arial"/>
                <a:sym typeface="Arial"/>
              </a:rPr>
              <a:t>trị</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mô</a:t>
            </a:r>
            <a:r>
              <a:rPr lang="en-US">
                <a:latin typeface="Arial"/>
                <a:ea typeface="Arial"/>
                <a:cs typeface="Arial"/>
                <a:sym typeface="Arial"/>
              </a:rPr>
              <a:t> </a:t>
            </a:r>
            <a:r>
              <a:rPr lang="en-US" err="1">
                <a:latin typeface="Arial"/>
                <a:ea typeface="Arial"/>
                <a:cs typeface="Arial"/>
                <a:sym typeface="Arial"/>
              </a:rPr>
              <a:t>hình</a:t>
            </a:r>
            <a:r>
              <a:rPr lang="en-US">
                <a:latin typeface="Arial"/>
                <a:ea typeface="Arial"/>
                <a:cs typeface="Arial"/>
                <a:sym typeface="Arial"/>
              </a:rPr>
              <a:t> </a:t>
            </a:r>
            <a:r>
              <a:rPr lang="en-US" err="1">
                <a:latin typeface="Arial"/>
                <a:ea typeface="Arial"/>
                <a:cs typeface="Arial"/>
                <a:sym typeface="Arial"/>
              </a:rPr>
              <a:t>hành</a:t>
            </a:r>
            <a:r>
              <a:rPr lang="en-US">
                <a:latin typeface="Arial"/>
                <a:ea typeface="Arial"/>
                <a:cs typeface="Arial"/>
                <a:sym typeface="Arial"/>
              </a:rPr>
              <a:t> vi.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p112"/>
          <p:cNvSpPr txBox="1">
            <a:spLocks noGrp="1"/>
          </p:cNvSpPr>
          <p:nvPr>
            <p:ph type="title"/>
          </p:nvPr>
        </p:nvSpPr>
        <p:spPr>
          <a:xfrm>
            <a:off x="137809" y="272374"/>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Arial"/>
              <a:buNone/>
            </a:pPr>
            <a:r>
              <a:rPr lang="en-US" sz="3200" b="1">
                <a:latin typeface="Arial"/>
                <a:ea typeface="Arial"/>
                <a:cs typeface="Arial"/>
                <a:sym typeface="Arial"/>
              </a:rPr>
              <a:t>Ứng dụng của việc nghiên cứu yếu tố xã hội vào hoạt động marketing</a:t>
            </a:r>
            <a:endParaRPr sz="3200" b="1">
              <a:latin typeface="Arial"/>
              <a:ea typeface="Arial"/>
              <a:cs typeface="Arial"/>
              <a:sym typeface="Arial"/>
            </a:endParaRPr>
          </a:p>
        </p:txBody>
      </p:sp>
      <p:sp>
        <p:nvSpPr>
          <p:cNvPr id="825" name="Google Shape;825;p112"/>
          <p:cNvSpPr/>
          <p:nvPr/>
        </p:nvSpPr>
        <p:spPr>
          <a:xfrm>
            <a:off x="232569" y="1560786"/>
            <a:ext cx="1348903" cy="4903076"/>
          </a:xfrm>
          <a:prstGeom prst="rect">
            <a:avLst/>
          </a:prstGeom>
          <a:solidFill>
            <a:srgbClr val="FF0000"/>
          </a:solidFill>
          <a:ln>
            <a:noFill/>
          </a:ln>
        </p:spPr>
        <p:txBody>
          <a:bodyPr spcFirstLastPara="1" wrap="square" lIns="91425" tIns="45700" rIns="91425" bIns="45700" anchor="t" anchorCtr="0">
            <a:noAutofit/>
          </a:bodyPr>
          <a:lstStyle/>
          <a:p>
            <a:pPr marL="58738" marR="0" lvl="0" indent="0" algn="just" rtl="0">
              <a:lnSpc>
                <a:spcPct val="142857"/>
              </a:lnSpc>
              <a:spcBef>
                <a:spcPts val="0"/>
              </a:spcBef>
              <a:spcAft>
                <a:spcPts val="0"/>
              </a:spcAft>
              <a:buClr>
                <a:srgbClr val="000000"/>
              </a:buClr>
              <a:buSzPts val="2800"/>
              <a:buFont typeface="Arial"/>
              <a:buNone/>
            </a:pPr>
            <a:r>
              <a:rPr lang="en-US" sz="2800" b="0" i="0" u="none" strike="noStrike" cap="none">
                <a:solidFill>
                  <a:schemeClr val="lt1"/>
                </a:solidFill>
                <a:latin typeface="Arial"/>
                <a:ea typeface="Arial"/>
                <a:cs typeface="Arial"/>
                <a:sym typeface="Arial"/>
              </a:rPr>
              <a:t>Sử</a:t>
            </a:r>
            <a:endParaRPr sz="2800" b="0" i="0" u="none" strike="noStrike" cap="none">
              <a:solidFill>
                <a:schemeClr val="lt1"/>
              </a:solidFill>
              <a:latin typeface="Arial"/>
              <a:ea typeface="Arial"/>
              <a:cs typeface="Arial"/>
              <a:sym typeface="Arial"/>
            </a:endParaRPr>
          </a:p>
          <a:p>
            <a:pPr marL="58738" marR="0" lvl="0" indent="0" algn="just" rtl="0">
              <a:lnSpc>
                <a:spcPct val="142857"/>
              </a:lnSpc>
              <a:spcBef>
                <a:spcPts val="0"/>
              </a:spcBef>
              <a:spcAft>
                <a:spcPts val="0"/>
              </a:spcAft>
              <a:buClr>
                <a:srgbClr val="000000"/>
              </a:buClr>
              <a:buSzPts val="2800"/>
              <a:buFont typeface="Arial"/>
              <a:buNone/>
            </a:pPr>
            <a:r>
              <a:rPr lang="en-US" sz="2800" b="0" i="0" u="none" strike="noStrike" cap="none">
                <a:solidFill>
                  <a:schemeClr val="lt1"/>
                </a:solidFill>
                <a:latin typeface="Arial"/>
                <a:ea typeface="Arial"/>
                <a:cs typeface="Arial"/>
                <a:sym typeface="Arial"/>
              </a:rPr>
              <a:t>dụng</a:t>
            </a:r>
            <a:endParaRPr sz="2800" b="0" i="0" u="none" strike="noStrike" cap="none">
              <a:solidFill>
                <a:schemeClr val="lt1"/>
              </a:solidFill>
              <a:latin typeface="Arial"/>
              <a:ea typeface="Arial"/>
              <a:cs typeface="Arial"/>
              <a:sym typeface="Arial"/>
            </a:endParaRPr>
          </a:p>
          <a:p>
            <a:pPr marL="58738" marR="0" lvl="0" indent="0" algn="just" rtl="0">
              <a:lnSpc>
                <a:spcPct val="142857"/>
              </a:lnSpc>
              <a:spcBef>
                <a:spcPts val="0"/>
              </a:spcBef>
              <a:spcAft>
                <a:spcPts val="0"/>
              </a:spcAft>
              <a:buClr>
                <a:srgbClr val="000000"/>
              </a:buClr>
              <a:buSzPts val="2800"/>
              <a:buFont typeface="Arial"/>
              <a:buNone/>
            </a:pPr>
            <a:r>
              <a:rPr lang="en-US" sz="2800" b="0" i="0" u="none" strike="noStrike" cap="none">
                <a:solidFill>
                  <a:schemeClr val="lt1"/>
                </a:solidFill>
                <a:latin typeface="Arial"/>
                <a:ea typeface="Arial"/>
                <a:cs typeface="Arial"/>
                <a:sym typeface="Arial"/>
              </a:rPr>
              <a:t>nhóm</a:t>
            </a:r>
            <a:endParaRPr sz="2800" b="0" i="0" u="none" strike="noStrike" cap="none">
              <a:solidFill>
                <a:schemeClr val="lt1"/>
              </a:solidFill>
              <a:latin typeface="Arial"/>
              <a:ea typeface="Arial"/>
              <a:cs typeface="Arial"/>
              <a:sym typeface="Arial"/>
            </a:endParaRPr>
          </a:p>
          <a:p>
            <a:pPr marL="58738" marR="0" lvl="0" indent="0" algn="just" rtl="0">
              <a:lnSpc>
                <a:spcPct val="142857"/>
              </a:lnSpc>
              <a:spcBef>
                <a:spcPts val="0"/>
              </a:spcBef>
              <a:spcAft>
                <a:spcPts val="0"/>
              </a:spcAft>
              <a:buClr>
                <a:srgbClr val="000000"/>
              </a:buClr>
              <a:buSzPts val="2800"/>
              <a:buFont typeface="Arial"/>
              <a:buNone/>
            </a:pPr>
            <a:r>
              <a:rPr lang="en-US" sz="2800" b="0" i="0" u="none" strike="noStrike" cap="none">
                <a:solidFill>
                  <a:schemeClr val="lt1"/>
                </a:solidFill>
                <a:latin typeface="Arial"/>
                <a:ea typeface="Arial"/>
                <a:cs typeface="Arial"/>
                <a:sym typeface="Arial"/>
              </a:rPr>
              <a:t>tham</a:t>
            </a:r>
            <a:endParaRPr sz="2800" b="0" i="0" u="none" strike="noStrike" cap="none">
              <a:solidFill>
                <a:schemeClr val="lt1"/>
              </a:solidFill>
              <a:latin typeface="Arial"/>
              <a:ea typeface="Arial"/>
              <a:cs typeface="Arial"/>
              <a:sym typeface="Arial"/>
            </a:endParaRPr>
          </a:p>
          <a:p>
            <a:pPr marL="58738" marR="0" lvl="0" indent="0" algn="just" rtl="0">
              <a:lnSpc>
                <a:spcPct val="142857"/>
              </a:lnSpc>
              <a:spcBef>
                <a:spcPts val="0"/>
              </a:spcBef>
              <a:spcAft>
                <a:spcPts val="0"/>
              </a:spcAft>
              <a:buClr>
                <a:srgbClr val="000000"/>
              </a:buClr>
              <a:buSzPts val="2800"/>
              <a:buFont typeface="Arial"/>
              <a:buNone/>
            </a:pPr>
            <a:r>
              <a:rPr lang="en-US" sz="2800" b="0" i="0" u="none" strike="noStrike" cap="none">
                <a:solidFill>
                  <a:schemeClr val="lt1"/>
                </a:solidFill>
                <a:latin typeface="Arial"/>
                <a:ea typeface="Arial"/>
                <a:cs typeface="Arial"/>
                <a:sym typeface="Arial"/>
              </a:rPr>
              <a:t>khảo</a:t>
            </a:r>
            <a:endParaRPr sz="2800" b="0" i="0" u="none" strike="noStrike" cap="none">
              <a:solidFill>
                <a:schemeClr val="lt1"/>
              </a:solidFill>
              <a:latin typeface="Arial"/>
              <a:ea typeface="Arial"/>
              <a:cs typeface="Arial"/>
              <a:sym typeface="Arial"/>
            </a:endParaRPr>
          </a:p>
          <a:p>
            <a:pPr marL="58738" marR="0" lvl="0" indent="0" algn="just" rtl="0">
              <a:lnSpc>
                <a:spcPct val="142857"/>
              </a:lnSpc>
              <a:spcBef>
                <a:spcPts val="0"/>
              </a:spcBef>
              <a:spcAft>
                <a:spcPts val="0"/>
              </a:spcAft>
              <a:buClr>
                <a:srgbClr val="000000"/>
              </a:buClr>
              <a:buSzPts val="2800"/>
              <a:buFont typeface="Arial"/>
              <a:buNone/>
            </a:pPr>
            <a:r>
              <a:rPr lang="en-US" sz="2800" b="0" i="0" u="none" strike="noStrike" cap="none">
                <a:solidFill>
                  <a:schemeClr val="lt1"/>
                </a:solidFill>
                <a:latin typeface="Arial"/>
                <a:ea typeface="Arial"/>
                <a:cs typeface="Arial"/>
                <a:sym typeface="Arial"/>
              </a:rPr>
              <a:t>trong</a:t>
            </a:r>
            <a:endParaRPr sz="2800" b="0" i="0" u="none" strike="noStrike" cap="none">
              <a:solidFill>
                <a:schemeClr val="lt1"/>
              </a:solidFill>
              <a:latin typeface="Arial"/>
              <a:ea typeface="Arial"/>
              <a:cs typeface="Arial"/>
              <a:sym typeface="Arial"/>
            </a:endParaRPr>
          </a:p>
          <a:p>
            <a:pPr marL="58738" marR="0" lvl="0" indent="0" algn="just" rtl="0">
              <a:lnSpc>
                <a:spcPct val="142857"/>
              </a:lnSpc>
              <a:spcBef>
                <a:spcPts val="0"/>
              </a:spcBef>
              <a:spcAft>
                <a:spcPts val="0"/>
              </a:spcAft>
              <a:buClr>
                <a:srgbClr val="000000"/>
              </a:buClr>
              <a:buSzPts val="2800"/>
              <a:buFont typeface="Arial"/>
              <a:buNone/>
            </a:pPr>
            <a:r>
              <a:rPr lang="en-US" sz="2800" b="0" i="0" u="none" strike="noStrike" cap="none">
                <a:solidFill>
                  <a:schemeClr val="lt1"/>
                </a:solidFill>
                <a:latin typeface="Arial"/>
                <a:ea typeface="Arial"/>
                <a:cs typeface="Arial"/>
                <a:sym typeface="Arial"/>
              </a:rPr>
              <a:t>quảng</a:t>
            </a:r>
            <a:endParaRPr sz="2800" b="0" i="0" u="none" strike="noStrike" cap="none">
              <a:solidFill>
                <a:schemeClr val="lt1"/>
              </a:solidFill>
              <a:latin typeface="Arial"/>
              <a:ea typeface="Arial"/>
              <a:cs typeface="Arial"/>
              <a:sym typeface="Arial"/>
            </a:endParaRPr>
          </a:p>
          <a:p>
            <a:pPr marL="58738" marR="0" lvl="0" indent="0" algn="just" rtl="0">
              <a:lnSpc>
                <a:spcPct val="142857"/>
              </a:lnSpc>
              <a:spcBef>
                <a:spcPts val="0"/>
              </a:spcBef>
              <a:spcAft>
                <a:spcPts val="0"/>
              </a:spcAft>
              <a:buClr>
                <a:srgbClr val="000000"/>
              </a:buClr>
              <a:buSzPts val="2800"/>
              <a:buFont typeface="Arial"/>
              <a:buNone/>
            </a:pPr>
            <a:r>
              <a:rPr lang="en-US" sz="2800" b="0" i="0" u="none" strike="noStrike" cap="none">
                <a:solidFill>
                  <a:schemeClr val="lt1"/>
                </a:solidFill>
                <a:latin typeface="Arial"/>
                <a:ea typeface="Arial"/>
                <a:cs typeface="Arial"/>
                <a:sym typeface="Arial"/>
              </a:rPr>
              <a:t>cáo </a:t>
            </a:r>
            <a:endParaRPr sz="1400" b="0" i="0" u="none" strike="noStrike" cap="none">
              <a:solidFill>
                <a:srgbClr val="000000"/>
              </a:solidFill>
              <a:latin typeface="Arial"/>
              <a:ea typeface="Arial"/>
              <a:cs typeface="Arial"/>
              <a:sym typeface="Arial"/>
            </a:endParaRPr>
          </a:p>
        </p:txBody>
      </p:sp>
      <p:sp>
        <p:nvSpPr>
          <p:cNvPr id="826" name="Google Shape;826;p112"/>
          <p:cNvSpPr/>
          <p:nvPr/>
        </p:nvSpPr>
        <p:spPr>
          <a:xfrm>
            <a:off x="1805998" y="1597936"/>
            <a:ext cx="9863847" cy="4865926"/>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739775" marR="0" lvl="0" indent="-511175" algn="just" rtl="0">
              <a:lnSpc>
                <a:spcPct val="125000"/>
              </a:lnSpc>
              <a:spcBef>
                <a:spcPts val="0"/>
              </a:spcBef>
              <a:spcAft>
                <a:spcPts val="0"/>
              </a:spcAft>
              <a:buClr>
                <a:schemeClr val="dk1"/>
              </a:buClr>
              <a:buSzPts val="2800"/>
              <a:buFont typeface="Arial"/>
              <a:buChar char="•"/>
            </a:pPr>
            <a:r>
              <a:rPr lang="en-US" sz="2600" b="0" i="0" u="none" strike="noStrike" cap="none">
                <a:solidFill>
                  <a:schemeClr val="dk1"/>
                </a:solidFill>
                <a:latin typeface="Arial"/>
                <a:ea typeface="Arial"/>
                <a:cs typeface="Arial"/>
                <a:sym typeface="Arial"/>
              </a:rPr>
              <a:t>Những nhân vật nổi tiếng: Những ngôi sao điện ảnh, những nhân vật trên truyền hình, những anh hùng thể thao. </a:t>
            </a:r>
            <a:endParaRPr sz="2600" b="0" i="0" u="none" strike="noStrike" cap="none">
              <a:solidFill>
                <a:srgbClr val="000000"/>
              </a:solidFill>
              <a:latin typeface="Arial"/>
              <a:ea typeface="Arial"/>
              <a:cs typeface="Arial"/>
              <a:sym typeface="Arial"/>
            </a:endParaRPr>
          </a:p>
          <a:p>
            <a:pPr marL="739775" marR="0" lvl="0" indent="-511175" algn="just" rtl="0">
              <a:lnSpc>
                <a:spcPct val="125000"/>
              </a:lnSpc>
              <a:spcBef>
                <a:spcPts val="1200"/>
              </a:spcBef>
              <a:spcAft>
                <a:spcPts val="0"/>
              </a:spcAft>
              <a:buClr>
                <a:schemeClr val="dk1"/>
              </a:buClr>
              <a:buSzPts val="2800"/>
              <a:buFont typeface="Arial"/>
              <a:buChar char="•"/>
            </a:pPr>
            <a:r>
              <a:rPr lang="en-US" sz="2600" b="0" i="0" u="none" strike="noStrike" cap="none">
                <a:solidFill>
                  <a:schemeClr val="dk1"/>
                </a:solidFill>
                <a:latin typeface="Arial"/>
                <a:ea typeface="Arial"/>
                <a:cs typeface="Arial"/>
                <a:sym typeface="Arial"/>
              </a:rPr>
              <a:t>Những chuyên gia: Với tư cách là những người am hiểu sản phẩm, chuyên môn trong nghề, nhiều kinh nghiệm.</a:t>
            </a:r>
            <a:endParaRPr sz="2600" b="0" i="0" u="none" strike="noStrike" cap="none">
              <a:solidFill>
                <a:srgbClr val="000000"/>
              </a:solidFill>
              <a:latin typeface="Arial"/>
              <a:ea typeface="Arial"/>
              <a:cs typeface="Arial"/>
              <a:sym typeface="Arial"/>
            </a:endParaRPr>
          </a:p>
          <a:p>
            <a:pPr marL="739775" marR="0" lvl="0" indent="-511175" algn="just" rtl="0">
              <a:lnSpc>
                <a:spcPct val="125000"/>
              </a:lnSpc>
              <a:spcBef>
                <a:spcPts val="1200"/>
              </a:spcBef>
              <a:spcAft>
                <a:spcPts val="0"/>
              </a:spcAft>
              <a:buClr>
                <a:schemeClr val="dk1"/>
              </a:buClr>
              <a:buSzPts val="2800"/>
              <a:buFont typeface="Arial"/>
              <a:buChar char="•"/>
            </a:pPr>
            <a:r>
              <a:rPr lang="en-US" sz="2600" b="0" i="0" u="none" strike="noStrike" cap="none">
                <a:solidFill>
                  <a:schemeClr val="dk1"/>
                </a:solidFill>
                <a:latin typeface="Arial"/>
                <a:ea typeface="Arial"/>
                <a:cs typeface="Arial"/>
                <a:sym typeface="Arial"/>
              </a:rPr>
              <a:t>Những người bình thường: Phần lớn những quảng cáo về những sản phẩm thiết yếu trong đời sống hằng ngày. </a:t>
            </a:r>
            <a:endParaRPr sz="2600" b="0" i="0" u="none" strike="noStrike" cap="none">
              <a:solidFill>
                <a:srgbClr val="000000"/>
              </a:solidFill>
              <a:latin typeface="Arial"/>
              <a:ea typeface="Arial"/>
              <a:cs typeface="Arial"/>
              <a:sym typeface="Arial"/>
            </a:endParaRPr>
          </a:p>
          <a:p>
            <a:pPr marL="739775" marR="0" lvl="0" indent="-511175" algn="just" rtl="0">
              <a:lnSpc>
                <a:spcPct val="125000"/>
              </a:lnSpc>
              <a:spcBef>
                <a:spcPts val="1200"/>
              </a:spcBef>
              <a:spcAft>
                <a:spcPts val="0"/>
              </a:spcAft>
              <a:buClr>
                <a:schemeClr val="dk1"/>
              </a:buClr>
              <a:buSzPts val="2800"/>
              <a:buFont typeface="Arial"/>
              <a:buChar char="•"/>
            </a:pPr>
            <a:r>
              <a:rPr lang="en-US" sz="2600" b="0" i="0" u="none" strike="noStrike" cap="none">
                <a:solidFill>
                  <a:schemeClr val="dk1"/>
                </a:solidFill>
                <a:latin typeface="Arial"/>
                <a:ea typeface="Arial"/>
                <a:cs typeface="Arial"/>
                <a:sym typeface="Arial"/>
              </a:rPr>
              <a:t>Người lãnh đạo cao cấp của công ty: Hình thức quảng cáo này nhằm mục đích gây sự tin tưởng cho KH.</a:t>
            </a:r>
            <a:endParaRPr sz="2600" b="0" i="0" u="none" strike="noStrike" cap="none">
              <a:solidFill>
                <a:srgbClr val="000000"/>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13"/>
          <p:cNvSpPr/>
          <p:nvPr/>
        </p:nvSpPr>
        <p:spPr>
          <a:xfrm>
            <a:off x="353438" y="1497724"/>
            <a:ext cx="1348903" cy="4876799"/>
          </a:xfrm>
          <a:prstGeom prst="rect">
            <a:avLst/>
          </a:prstGeom>
          <a:solidFill>
            <a:srgbClr val="FFC000"/>
          </a:solidFill>
          <a:ln>
            <a:noFill/>
          </a:ln>
        </p:spPr>
        <p:txBody>
          <a:bodyPr spcFirstLastPara="1" wrap="square" lIns="91425" tIns="45700" rIns="91425" bIns="45700" anchor="t" anchorCtr="0">
            <a:noAutofit/>
          </a:bodyPr>
          <a:lstStyle/>
          <a:p>
            <a:pPr marL="228600" marR="0" lvl="0" indent="0" algn="just" rtl="0">
              <a:lnSpc>
                <a:spcPct val="142857"/>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Sử </a:t>
            </a:r>
            <a:endParaRPr sz="1400" b="0" i="0" u="none" strike="noStrike" cap="none">
              <a:solidFill>
                <a:srgbClr val="000000"/>
              </a:solidFill>
              <a:latin typeface="Arial"/>
              <a:ea typeface="Arial"/>
              <a:cs typeface="Arial"/>
              <a:sym typeface="Arial"/>
            </a:endParaRPr>
          </a:p>
          <a:p>
            <a:pPr marL="228600" marR="0" lvl="0" indent="0" algn="just" rtl="0">
              <a:lnSpc>
                <a:spcPct val="142857"/>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dụng nhóm tham khảo trong bán hàng</a:t>
            </a:r>
            <a:endParaRPr sz="2800" b="0" i="0" u="none" strike="noStrike" cap="none">
              <a:solidFill>
                <a:schemeClr val="dk1"/>
              </a:solidFill>
              <a:latin typeface="Arial"/>
              <a:ea typeface="Arial"/>
              <a:cs typeface="Arial"/>
              <a:sym typeface="Arial"/>
            </a:endParaRPr>
          </a:p>
          <a:p>
            <a:pPr marL="58738" marR="0" lvl="0" indent="0" algn="just" rtl="0">
              <a:lnSpc>
                <a:spcPct val="142857"/>
              </a:lnSpc>
              <a:spcBef>
                <a:spcPts val="0"/>
              </a:spcBef>
              <a:spcAft>
                <a:spcPts val="0"/>
              </a:spcAft>
              <a:buClr>
                <a:srgbClr val="000000"/>
              </a:buClr>
              <a:buSzPts val="2800"/>
              <a:buFont typeface="Arial"/>
              <a:buNone/>
            </a:pPr>
            <a:endParaRPr sz="2800" b="0" i="0" u="none" strike="noStrike" cap="none">
              <a:solidFill>
                <a:schemeClr val="dk1"/>
              </a:solidFill>
              <a:latin typeface="Arial"/>
              <a:ea typeface="Arial"/>
              <a:cs typeface="Arial"/>
              <a:sym typeface="Arial"/>
            </a:endParaRPr>
          </a:p>
        </p:txBody>
      </p:sp>
      <p:sp>
        <p:nvSpPr>
          <p:cNvPr id="832" name="Google Shape;832;p113"/>
          <p:cNvSpPr/>
          <p:nvPr/>
        </p:nvSpPr>
        <p:spPr>
          <a:xfrm>
            <a:off x="1917970" y="1504768"/>
            <a:ext cx="9863847" cy="4869756"/>
          </a:xfrm>
          <a:prstGeom prst="rect">
            <a:avLst/>
          </a:prstGeom>
          <a:noFill/>
          <a:ln w="28575"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marL="739775" marR="0" lvl="0" indent="-511175" algn="just" rtl="0">
              <a:lnSpc>
                <a:spcPct val="160714"/>
              </a:lnSpc>
              <a:spcBef>
                <a:spcPts val="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Trong bán hàng người bán thường sử dụng nhóm tham khảo để thuyết phục khách mua hàng. </a:t>
            </a:r>
            <a:endParaRPr sz="1400" b="0" i="0" u="none" strike="noStrike" cap="none">
              <a:solidFill>
                <a:srgbClr val="000000"/>
              </a:solidFill>
              <a:latin typeface="Arial"/>
              <a:ea typeface="Arial"/>
              <a:cs typeface="Arial"/>
              <a:sym typeface="Arial"/>
            </a:endParaRPr>
          </a:p>
          <a:p>
            <a:pPr marL="739775" marR="0" lvl="0" indent="-511175" algn="just" rtl="0">
              <a:lnSpc>
                <a:spcPct val="160714"/>
              </a:lnSpc>
              <a:spcBef>
                <a:spcPts val="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Người bán thường có những câu nói như: Nhiều người mua nhãn hiệu này hơn nhãn hiệu kia;… </a:t>
            </a:r>
            <a:endParaRPr sz="1400" b="0" i="0" u="none" strike="noStrike" cap="none">
              <a:solidFill>
                <a:srgbClr val="000000"/>
              </a:solidFill>
              <a:latin typeface="Arial"/>
              <a:ea typeface="Arial"/>
              <a:cs typeface="Arial"/>
              <a:sym typeface="Arial"/>
            </a:endParaRPr>
          </a:p>
          <a:p>
            <a:pPr marL="739775" marR="0" lvl="0" indent="-511175" algn="just" rtl="0">
              <a:lnSpc>
                <a:spcPct val="160714"/>
              </a:lnSpc>
              <a:spcBef>
                <a:spcPts val="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Hoặc sử dụng khách hàng quen như người tham khảo để thu hút thêm khách hàng mới bằng những thủ thuật như tặng quà, giảm giá cho người đó.</a:t>
            </a:r>
            <a:endParaRPr sz="1400" b="0" i="0" u="none" strike="noStrike" cap="none">
              <a:solidFill>
                <a:srgbClr val="000000"/>
              </a:solidFill>
              <a:latin typeface="Arial"/>
              <a:ea typeface="Arial"/>
              <a:cs typeface="Arial"/>
              <a:sym typeface="Arial"/>
            </a:endParaRPr>
          </a:p>
        </p:txBody>
      </p:sp>
      <p:sp>
        <p:nvSpPr>
          <p:cNvPr id="833" name="Google Shape;833;p113"/>
          <p:cNvSpPr txBox="1">
            <a:spLocks noGrp="1"/>
          </p:cNvSpPr>
          <p:nvPr>
            <p:ph type="title"/>
          </p:nvPr>
        </p:nvSpPr>
        <p:spPr>
          <a:xfrm>
            <a:off x="137809" y="272374"/>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Arial"/>
              <a:buNone/>
            </a:pPr>
            <a:r>
              <a:rPr lang="en-US" sz="3200" b="1">
                <a:latin typeface="Arial"/>
                <a:ea typeface="Arial"/>
                <a:cs typeface="Arial"/>
                <a:sym typeface="Arial"/>
              </a:rPr>
              <a:t>Ứng dụng của việc nghiên cứu yếu tố xã hội vào hoạt động marketing</a:t>
            </a:r>
            <a:endParaRPr sz="3200" b="1">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p114"/>
          <p:cNvSpPr/>
          <p:nvPr/>
        </p:nvSpPr>
        <p:spPr>
          <a:xfrm>
            <a:off x="453450" y="2022565"/>
            <a:ext cx="2983149" cy="3729385"/>
          </a:xfrm>
          <a:prstGeom prst="rect">
            <a:avLst/>
          </a:prstGeom>
          <a:solidFill>
            <a:srgbClr val="92D050"/>
          </a:solidFill>
          <a:ln>
            <a:noFill/>
          </a:ln>
        </p:spPr>
        <p:txBody>
          <a:bodyPr spcFirstLastPara="1" wrap="square" lIns="91425" tIns="45700" rIns="91425" bIns="45700" anchor="t" anchorCtr="0">
            <a:noAutofit/>
          </a:bodyPr>
          <a:lstStyle/>
          <a:p>
            <a:pPr marL="58738" marR="0" lvl="0" indent="0" algn="just" rtl="0">
              <a:lnSpc>
                <a:spcPct val="142857"/>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Thuyết phục </a:t>
            </a:r>
            <a:endParaRPr sz="1400" b="0" i="0" u="none" strike="noStrike" cap="none">
              <a:solidFill>
                <a:srgbClr val="000000"/>
              </a:solidFill>
              <a:latin typeface="Arial"/>
              <a:ea typeface="Arial"/>
              <a:cs typeface="Arial"/>
              <a:sym typeface="Arial"/>
            </a:endParaRPr>
          </a:p>
          <a:p>
            <a:pPr marL="58738" marR="0" lvl="0" indent="0" algn="just" rtl="0">
              <a:lnSpc>
                <a:spcPct val="142857"/>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người quyết định</a:t>
            </a:r>
            <a:endParaRPr sz="2800" b="0" i="0" u="none" strike="noStrike" cap="none">
              <a:solidFill>
                <a:schemeClr val="dk1"/>
              </a:solidFill>
              <a:latin typeface="Arial"/>
              <a:ea typeface="Arial"/>
              <a:cs typeface="Arial"/>
              <a:sym typeface="Arial"/>
            </a:endParaRPr>
          </a:p>
          <a:p>
            <a:pPr marL="58738" marR="0" lvl="0" indent="0" algn="just" rtl="0">
              <a:lnSpc>
                <a:spcPct val="142857"/>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mua sắm </a:t>
            </a:r>
            <a:endParaRPr sz="1400" b="0" i="0" u="none" strike="noStrike" cap="none">
              <a:solidFill>
                <a:srgbClr val="000000"/>
              </a:solidFill>
              <a:latin typeface="Arial"/>
              <a:ea typeface="Arial"/>
              <a:cs typeface="Arial"/>
              <a:sym typeface="Arial"/>
            </a:endParaRPr>
          </a:p>
          <a:p>
            <a:pPr marL="58738" marR="0" lvl="0" indent="0" algn="just" rtl="0">
              <a:lnSpc>
                <a:spcPct val="142857"/>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bằng </a:t>
            </a:r>
            <a:endParaRPr sz="1400" b="0" i="0" u="none" strike="noStrike" cap="none">
              <a:solidFill>
                <a:srgbClr val="000000"/>
              </a:solidFill>
              <a:latin typeface="Arial"/>
              <a:ea typeface="Arial"/>
              <a:cs typeface="Arial"/>
              <a:sym typeface="Arial"/>
            </a:endParaRPr>
          </a:p>
          <a:p>
            <a:pPr marL="58738" marR="0" lvl="0" indent="0" algn="just" rtl="0">
              <a:lnSpc>
                <a:spcPct val="142857"/>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hoạt động </a:t>
            </a:r>
            <a:endParaRPr sz="1400" b="0" i="0" u="none" strike="noStrike" cap="none">
              <a:solidFill>
                <a:srgbClr val="000000"/>
              </a:solidFill>
              <a:latin typeface="Arial"/>
              <a:ea typeface="Arial"/>
              <a:cs typeface="Arial"/>
              <a:sym typeface="Arial"/>
            </a:endParaRPr>
          </a:p>
          <a:p>
            <a:pPr marL="58738" marR="0" lvl="0" indent="0" algn="just" rtl="0">
              <a:lnSpc>
                <a:spcPct val="142857"/>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tuyên truyền </a:t>
            </a:r>
            <a:endParaRPr sz="1400" b="0" i="0" u="none" strike="noStrike" cap="none">
              <a:solidFill>
                <a:srgbClr val="000000"/>
              </a:solidFill>
              <a:latin typeface="Arial"/>
              <a:ea typeface="Arial"/>
              <a:cs typeface="Arial"/>
              <a:sym typeface="Arial"/>
            </a:endParaRPr>
          </a:p>
        </p:txBody>
      </p:sp>
      <p:sp>
        <p:nvSpPr>
          <p:cNvPr id="839" name="Google Shape;839;p114"/>
          <p:cNvSpPr/>
          <p:nvPr/>
        </p:nvSpPr>
        <p:spPr>
          <a:xfrm>
            <a:off x="3718701" y="2027821"/>
            <a:ext cx="7925611" cy="3729384"/>
          </a:xfrm>
          <a:prstGeom prst="rect">
            <a:avLst/>
          </a:prstGeom>
          <a:noFill/>
          <a:ln w="28575" cap="flat" cmpd="sng">
            <a:solidFill>
              <a:srgbClr val="92D050"/>
            </a:solidFill>
            <a:prstDash val="solid"/>
            <a:round/>
            <a:headEnd type="none" w="sm" len="sm"/>
            <a:tailEnd type="none" w="sm" len="sm"/>
          </a:ln>
        </p:spPr>
        <p:txBody>
          <a:bodyPr spcFirstLastPara="1" wrap="square" lIns="91425" tIns="45700" rIns="91425" bIns="45700" anchor="t" anchorCtr="0">
            <a:noAutofit/>
          </a:bodyPr>
          <a:lstStyle/>
          <a:p>
            <a:pPr marL="228600" marR="0" lvl="0" indent="0" algn="just" rtl="0">
              <a:lnSpc>
                <a:spcPct val="167857"/>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Các nhà tiếp thị sử dụng hình thức tuyên truyền để quảng cáo cho sản phẩm và thuyết phục mua hàng thông qua các bài báo nói về tiện ích của sản phẩm, các mục hiểu biết tiêu dùng, sức khỏe, thẩm mỹ…</a:t>
            </a:r>
            <a:endParaRPr sz="1400" b="0" i="0" u="none" strike="noStrike" cap="none">
              <a:solidFill>
                <a:srgbClr val="000000"/>
              </a:solidFill>
              <a:latin typeface="Arial"/>
              <a:ea typeface="Arial"/>
              <a:cs typeface="Arial"/>
              <a:sym typeface="Arial"/>
            </a:endParaRPr>
          </a:p>
        </p:txBody>
      </p:sp>
      <p:sp>
        <p:nvSpPr>
          <p:cNvPr id="840" name="Google Shape;840;p114"/>
          <p:cNvSpPr txBox="1">
            <a:spLocks noGrp="1"/>
          </p:cNvSpPr>
          <p:nvPr>
            <p:ph type="title"/>
          </p:nvPr>
        </p:nvSpPr>
        <p:spPr>
          <a:xfrm>
            <a:off x="137809" y="272374"/>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Arial"/>
              <a:buNone/>
            </a:pPr>
            <a:r>
              <a:rPr lang="en-US" sz="3200" b="1">
                <a:latin typeface="Arial"/>
                <a:ea typeface="Arial"/>
                <a:cs typeface="Arial"/>
                <a:sym typeface="Arial"/>
              </a:rPr>
              <a:t>Ứng dụng của việc nghiên cứu yếu tố xã hội vào hoạt động marketing</a:t>
            </a:r>
            <a:endParaRPr sz="3200" b="1">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823"/>
        <p:cNvGrpSpPr/>
        <p:nvPr/>
      </p:nvGrpSpPr>
      <p:grpSpPr>
        <a:xfrm>
          <a:off x="0" y="0"/>
          <a:ext cx="0" cy="0"/>
          <a:chOff x="0" y="0"/>
          <a:chExt cx="0" cy="0"/>
        </a:xfrm>
      </p:grpSpPr>
      <p:sp>
        <p:nvSpPr>
          <p:cNvPr id="1824" name="Google Shape;1824;p272"/>
          <p:cNvSpPr txBox="1">
            <a:spLocks noGrp="1"/>
          </p:cNvSpPr>
          <p:nvPr>
            <p:ph type="ctrTitle"/>
          </p:nvPr>
        </p:nvSpPr>
        <p:spPr>
          <a:xfrm>
            <a:off x="609601" y="1122362"/>
            <a:ext cx="10503876" cy="2980715"/>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chemeClr val="dk1"/>
              </a:buClr>
              <a:buSzPts val="4800"/>
              <a:buFont typeface="Arial"/>
              <a:buNone/>
            </a:pPr>
            <a:br>
              <a:rPr lang="en-US" sz="4800" b="1">
                <a:latin typeface="Arial"/>
                <a:ea typeface="Arial"/>
                <a:cs typeface="Arial"/>
                <a:sym typeface="Arial"/>
              </a:rPr>
            </a:br>
            <a:endParaRPr sz="4800" b="1">
              <a:latin typeface="Arial"/>
              <a:ea typeface="Arial"/>
              <a:cs typeface="Arial"/>
              <a:sym typeface="Arial"/>
            </a:endParaRPr>
          </a:p>
        </p:txBody>
      </p:sp>
      <p:sp>
        <p:nvSpPr>
          <p:cNvPr id="1825" name="Google Shape;1825;p272"/>
          <p:cNvSpPr/>
          <p:nvPr/>
        </p:nvSpPr>
        <p:spPr>
          <a:xfrm>
            <a:off x="732790" y="2473113"/>
            <a:ext cx="10938933" cy="1253066"/>
          </a:xfrm>
          <a:prstGeom prst="rect">
            <a:avLst/>
          </a:prstGeom>
          <a:noFill/>
          <a:ln>
            <a:noFill/>
          </a:ln>
        </p:spPr>
        <p:txBody>
          <a:bodyPr spcFirstLastPara="1" wrap="square" lIns="91425" tIns="45700" rIns="91425" bIns="45700" anchor="t" anchorCtr="0">
            <a:noAutofit/>
          </a:bodyPr>
          <a:lstStyle/>
          <a:p>
            <a:pPr marL="0" marR="0" lvl="0" indent="0" algn="ctr" rtl="0">
              <a:lnSpc>
                <a:spcPct val="150000"/>
              </a:lnSpc>
              <a:spcBef>
                <a:spcPts val="0"/>
              </a:spcBef>
              <a:spcAft>
                <a:spcPts val="0"/>
              </a:spcAft>
              <a:buClr>
                <a:srgbClr val="000000"/>
              </a:buClr>
              <a:buSzPts val="3600"/>
              <a:buFont typeface="Arial"/>
              <a:buNone/>
            </a:pPr>
            <a:r>
              <a:rPr lang="vi-VN" sz="3600" b="1"/>
              <a:t>2.3</a:t>
            </a:r>
            <a:r>
              <a:rPr lang="en-US" sz="3600" b="1" i="0" u="none" strike="noStrike" cap="none">
                <a:solidFill>
                  <a:srgbClr val="000000"/>
                </a:solidFill>
                <a:sym typeface="Arial"/>
              </a:rPr>
              <a:t>. </a:t>
            </a:r>
            <a:r>
              <a:rPr lang="vi-VN" sz="3600" b="1" i="0" u="none" strike="noStrike" cap="none">
                <a:solidFill>
                  <a:srgbClr val="000000"/>
                </a:solidFill>
                <a:sym typeface="Arial"/>
              </a:rPr>
              <a:t>ẢNH HƯỞNG CỦA YẾU TỐ </a:t>
            </a:r>
            <a:r>
              <a:rPr lang="en-US" sz="3600" b="1" i="0" u="none" strike="noStrike" cap="none">
                <a:solidFill>
                  <a:srgbClr val="000000"/>
                </a:solidFill>
                <a:sym typeface="Arial"/>
              </a:rPr>
              <a:t>TÌNH HUỐNG</a:t>
            </a:r>
            <a:r>
              <a:rPr lang="vi-VN" sz="3600" b="1"/>
              <a:t> </a:t>
            </a:r>
            <a:r>
              <a:rPr lang="vi-VN" sz="3600" b="1" i="0" u="none" strike="noStrike" cap="none">
                <a:solidFill>
                  <a:srgbClr val="000000"/>
                </a:solidFill>
                <a:sym typeface="Arial"/>
              </a:rPr>
              <a:t>ĐẾN HÀNH VI KHÁCH HÀNG CÁ NHÂN</a:t>
            </a:r>
            <a:endParaRPr sz="3600" b="0" i="0" u="none" strike="noStrike" cap="none">
              <a:solidFill>
                <a:srgbClr val="000000"/>
              </a:solidFil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829"/>
        <p:cNvGrpSpPr/>
        <p:nvPr/>
      </p:nvGrpSpPr>
      <p:grpSpPr>
        <a:xfrm>
          <a:off x="0" y="0"/>
          <a:ext cx="0" cy="0"/>
          <a:chOff x="0" y="0"/>
          <a:chExt cx="0" cy="0"/>
        </a:xfrm>
      </p:grpSpPr>
      <p:sp>
        <p:nvSpPr>
          <p:cNvPr id="1830" name="Google Shape;1830;p273"/>
          <p:cNvSpPr txBox="1">
            <a:spLocks noGrp="1"/>
          </p:cNvSpPr>
          <p:nvPr>
            <p:ph type="body" idx="1"/>
          </p:nvPr>
        </p:nvSpPr>
        <p:spPr>
          <a:xfrm>
            <a:off x="264448" y="588433"/>
            <a:ext cx="8365202" cy="5606628"/>
          </a:xfrm>
          <a:prstGeom prst="rect">
            <a:avLst/>
          </a:prstGeom>
          <a:solidFill>
            <a:srgbClr val="FBE4D4">
              <a:alpha val="47059"/>
            </a:srgbClr>
          </a:solidFill>
          <a:ln>
            <a:noFill/>
          </a:ln>
        </p:spPr>
        <p:txBody>
          <a:bodyPr spcFirstLastPara="1" wrap="square" lIns="91425" tIns="45700" rIns="91425" bIns="45700" anchor="ctr" anchorCtr="0">
            <a:normAutofit fontScale="85000" lnSpcReduction="10000"/>
          </a:bodyPr>
          <a:lstStyle/>
          <a:p>
            <a:pPr marL="0" lvl="0" indent="0" algn="l" rtl="0">
              <a:lnSpc>
                <a:spcPct val="150000"/>
              </a:lnSpc>
              <a:spcBef>
                <a:spcPts val="0"/>
              </a:spcBef>
              <a:spcAft>
                <a:spcPts val="0"/>
              </a:spcAft>
              <a:buClr>
                <a:schemeClr val="dk1"/>
              </a:buClr>
              <a:buSzPct val="100000"/>
              <a:buNone/>
            </a:pPr>
            <a:r>
              <a:rPr lang="vi-VN" sz="3800" b="1">
                <a:solidFill>
                  <a:srgbClr val="404F3B"/>
                </a:solidFill>
                <a:latin typeface="Arial"/>
                <a:ea typeface="Arial"/>
                <a:cs typeface="Arial"/>
                <a:sym typeface="Arial"/>
              </a:rPr>
              <a:t>2.3.1 Bản chất các tình huống ảnh hưởng</a:t>
            </a:r>
            <a:endParaRPr sz="3800" b="1">
              <a:solidFill>
                <a:srgbClr val="404F3B"/>
              </a:solidFill>
              <a:latin typeface="Arial"/>
              <a:ea typeface="Arial"/>
              <a:cs typeface="Arial"/>
              <a:sym typeface="Arial"/>
            </a:endParaRPr>
          </a:p>
          <a:p>
            <a:pPr marL="228600" lvl="0" indent="-228600" algn="l" rtl="0">
              <a:lnSpc>
                <a:spcPct val="150000"/>
              </a:lnSpc>
              <a:spcBef>
                <a:spcPts val="1000"/>
              </a:spcBef>
              <a:spcAft>
                <a:spcPts val="0"/>
              </a:spcAft>
              <a:buClr>
                <a:schemeClr val="dk1"/>
              </a:buClr>
              <a:buSzPct val="100000"/>
              <a:buFont typeface="Arial"/>
              <a:buChar char="-"/>
            </a:pPr>
            <a:r>
              <a:rPr lang="vi-VN" err="1"/>
              <a:t>K</a:t>
            </a:r>
            <a:r>
              <a:rPr lang="en-US" err="1">
                <a:solidFill>
                  <a:schemeClr val="dk1"/>
                </a:solidFill>
                <a:latin typeface="Arial"/>
                <a:ea typeface="Arial"/>
                <a:cs typeface="Arial"/>
                <a:sym typeface="Arial"/>
              </a:rPr>
              <a:t>hách</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hàng</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luôn</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bị</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tác</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động</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bởi</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cùng</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lúc</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nhiều</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yếu</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tố</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chứ</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không</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chỉ</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đáp</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ứng</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với</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các</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kích</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thích</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như</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quảng</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cáo</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và</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sản</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phẩm</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được</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đưa</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ra</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bởi</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doanh</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nghiệp</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trong</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sự</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cô</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lập</a:t>
            </a:r>
            <a:r>
              <a:rPr lang="en-US">
                <a:solidFill>
                  <a:schemeClr val="dk1"/>
                </a:solidFill>
                <a:latin typeface="Arial"/>
                <a:ea typeface="Arial"/>
                <a:cs typeface="Arial"/>
                <a:sym typeface="Arial"/>
              </a:rPr>
              <a:t>.</a:t>
            </a:r>
            <a:r>
              <a:rPr lang="en-US">
                <a:solidFill>
                  <a:schemeClr val="dk1"/>
                </a:solidFill>
              </a:rPr>
              <a:t> </a:t>
            </a:r>
            <a:endParaRPr/>
          </a:p>
          <a:p>
            <a:pPr marL="228600" lvl="0" indent="-228600" algn="l" rtl="0">
              <a:lnSpc>
                <a:spcPct val="150000"/>
              </a:lnSpc>
              <a:spcBef>
                <a:spcPts val="1000"/>
              </a:spcBef>
              <a:spcAft>
                <a:spcPts val="0"/>
              </a:spcAft>
              <a:buClr>
                <a:schemeClr val="dk1"/>
              </a:buClr>
              <a:buSzPct val="100000"/>
              <a:buFont typeface="Arial"/>
              <a:buChar char="-"/>
            </a:pPr>
            <a:r>
              <a:rPr lang="en-US" err="1">
                <a:solidFill>
                  <a:schemeClr val="dk1"/>
                </a:solidFill>
                <a:latin typeface="Arial"/>
                <a:ea typeface="Arial"/>
                <a:cs typeface="Arial"/>
                <a:sym typeface="Arial"/>
              </a:rPr>
              <a:t>Ảnh</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hưởng</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tình</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huống</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là</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tất</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cả</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các</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yếu</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tố</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cụ</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thể</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theo</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thời</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gian</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hoàn</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cảnh</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địa</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điểm</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về</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các</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thuộc</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tính</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ổn</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định</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của</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khách</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hàng</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và</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các</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kích</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thích</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kinh</a:t>
            </a:r>
            <a:r>
              <a:rPr lang="en-US">
                <a:solidFill>
                  <a:schemeClr val="dk1"/>
                </a:solidFill>
                <a:latin typeface="Arial"/>
                <a:ea typeface="Arial"/>
                <a:cs typeface="Arial"/>
                <a:sym typeface="Arial"/>
              </a:rPr>
              <a:t> </a:t>
            </a:r>
            <a:r>
              <a:rPr lang="en-US" err="1">
                <a:solidFill>
                  <a:schemeClr val="dk1"/>
                </a:solidFill>
                <a:latin typeface="Arial"/>
                <a:ea typeface="Arial"/>
                <a:cs typeface="Arial"/>
                <a:sym typeface="Arial"/>
              </a:rPr>
              <a:t>tế</a:t>
            </a:r>
            <a:r>
              <a:rPr lang="vi-VN"/>
              <a:t> </a:t>
            </a:r>
            <a:r>
              <a:rPr lang="en-US">
                <a:solidFill>
                  <a:schemeClr val="dk1"/>
                </a:solidFill>
                <a:latin typeface="Arial"/>
                <a:ea typeface="Arial"/>
                <a:cs typeface="Arial"/>
                <a:sym typeface="Arial"/>
              </a:rPr>
              <a:t>(</a:t>
            </a:r>
            <a:r>
              <a:rPr lang="en-US">
                <a:solidFill>
                  <a:schemeClr val="dk1"/>
                </a:solidFill>
              </a:rPr>
              <a:t>Lim &amp; </a:t>
            </a:r>
            <a:r>
              <a:rPr lang="en-US" err="1">
                <a:solidFill>
                  <a:schemeClr val="dk1"/>
                </a:solidFill>
              </a:rPr>
              <a:t>Razzaque</a:t>
            </a:r>
            <a:r>
              <a:rPr lang="en-US">
                <a:solidFill>
                  <a:schemeClr val="dk1"/>
                </a:solidFill>
              </a:rPr>
              <a:t>, 1997 </a:t>
            </a:r>
            <a:r>
              <a:rPr lang="en-US">
                <a:solidFill>
                  <a:schemeClr val="dk1"/>
                </a:solidFill>
                <a:latin typeface="Arial"/>
                <a:ea typeface="Arial"/>
                <a:cs typeface="Arial"/>
                <a:sym typeface="Arial"/>
              </a:rPr>
              <a:t>)</a:t>
            </a:r>
            <a:endParaRPr>
              <a:solidFill>
                <a:schemeClr val="dk1"/>
              </a:solidFill>
              <a:latin typeface="Arial"/>
              <a:ea typeface="Arial"/>
              <a:cs typeface="Arial"/>
              <a:sym typeface="Arial"/>
            </a:endParaRPr>
          </a:p>
          <a:p>
            <a:pPr marL="0" lvl="0" indent="0" algn="l" rtl="0">
              <a:lnSpc>
                <a:spcPct val="90000"/>
              </a:lnSpc>
              <a:spcBef>
                <a:spcPts val="1000"/>
              </a:spcBef>
              <a:spcAft>
                <a:spcPts val="0"/>
              </a:spcAft>
              <a:buClr>
                <a:schemeClr val="dk1"/>
              </a:buClr>
              <a:buSzPct val="100000"/>
              <a:buNone/>
            </a:pPr>
            <a:endParaRPr>
              <a:solidFill>
                <a:srgbClr val="404F3B"/>
              </a:solidFill>
              <a:latin typeface="Montserrat"/>
              <a:ea typeface="Montserrat"/>
              <a:cs typeface="Montserrat"/>
              <a:sym typeface="Montserrat"/>
            </a:endParaRPr>
          </a:p>
          <a:p>
            <a:pPr marL="228600" lvl="0" indent="-64135" algn="l" rtl="0">
              <a:lnSpc>
                <a:spcPct val="90000"/>
              </a:lnSpc>
              <a:spcBef>
                <a:spcPts val="1000"/>
              </a:spcBef>
              <a:spcAft>
                <a:spcPts val="0"/>
              </a:spcAft>
              <a:buClr>
                <a:schemeClr val="dk1"/>
              </a:buClr>
              <a:buSzPct val="100000"/>
              <a:buNone/>
            </a:pPr>
            <a:endParaRPr/>
          </a:p>
        </p:txBody>
      </p:sp>
      <p:grpSp>
        <p:nvGrpSpPr>
          <p:cNvPr id="1831" name="Google Shape;1831;p273"/>
          <p:cNvGrpSpPr/>
          <p:nvPr/>
        </p:nvGrpSpPr>
        <p:grpSpPr>
          <a:xfrm>
            <a:off x="8616950" y="1558925"/>
            <a:ext cx="3217892" cy="3974929"/>
            <a:chOff x="7322097" y="1653637"/>
            <a:chExt cx="4157330" cy="3770151"/>
          </a:xfrm>
        </p:grpSpPr>
        <p:sp>
          <p:nvSpPr>
            <p:cNvPr id="1832" name="Google Shape;1832;p273"/>
            <p:cNvSpPr/>
            <p:nvPr/>
          </p:nvSpPr>
          <p:spPr>
            <a:xfrm>
              <a:off x="7322097" y="1653637"/>
              <a:ext cx="4157330" cy="3770151"/>
            </a:xfrm>
            <a:prstGeom prst="rect">
              <a:avLst/>
            </a:prstGeom>
            <a:solidFill>
              <a:srgbClr val="C4E0B2"/>
            </a:solidFill>
            <a:ln w="127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a:ea typeface="Arial"/>
                <a:cs typeface="Arial"/>
                <a:sym typeface="Arial"/>
              </a:endParaRPr>
            </a:p>
          </p:txBody>
        </p:sp>
        <p:grpSp>
          <p:nvGrpSpPr>
            <p:cNvPr id="1833" name="Google Shape;1833;p273"/>
            <p:cNvGrpSpPr/>
            <p:nvPr/>
          </p:nvGrpSpPr>
          <p:grpSpPr>
            <a:xfrm rot="-5400000" flipH="1">
              <a:off x="7315923" y="2109958"/>
              <a:ext cx="774914" cy="200259"/>
              <a:chOff x="852408" y="3745351"/>
              <a:chExt cx="1379350" cy="356462"/>
            </a:xfrm>
          </p:grpSpPr>
          <p:sp>
            <p:nvSpPr>
              <p:cNvPr id="1834" name="Google Shape;1834;p273"/>
              <p:cNvSpPr/>
              <p:nvPr/>
            </p:nvSpPr>
            <p:spPr>
              <a:xfrm>
                <a:off x="852408" y="3745351"/>
                <a:ext cx="356462" cy="356462"/>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a:ea typeface="Arial"/>
                  <a:cs typeface="Arial"/>
                  <a:sym typeface="Arial"/>
                </a:endParaRPr>
              </a:p>
            </p:txBody>
          </p:sp>
          <p:sp>
            <p:nvSpPr>
              <p:cNvPr id="1835" name="Google Shape;1835;p273"/>
              <p:cNvSpPr/>
              <p:nvPr/>
            </p:nvSpPr>
            <p:spPr>
              <a:xfrm>
                <a:off x="1363852" y="3745351"/>
                <a:ext cx="356462" cy="356462"/>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a:ea typeface="Arial"/>
                  <a:cs typeface="Arial"/>
                  <a:sym typeface="Arial"/>
                </a:endParaRPr>
              </a:p>
            </p:txBody>
          </p:sp>
          <p:sp>
            <p:nvSpPr>
              <p:cNvPr id="1836" name="Google Shape;1836;p273"/>
              <p:cNvSpPr/>
              <p:nvPr/>
            </p:nvSpPr>
            <p:spPr>
              <a:xfrm>
                <a:off x="1875296" y="3745351"/>
                <a:ext cx="356462" cy="356462"/>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a:ea typeface="Arial"/>
                  <a:cs typeface="Arial"/>
                  <a:sym typeface="Arial"/>
                </a:endParaRPr>
              </a:p>
            </p:txBody>
          </p:sp>
        </p:grpSp>
        <p:grpSp>
          <p:nvGrpSpPr>
            <p:cNvPr id="1837" name="Google Shape;1837;p273"/>
            <p:cNvGrpSpPr/>
            <p:nvPr/>
          </p:nvGrpSpPr>
          <p:grpSpPr>
            <a:xfrm rot="-5400000" flipH="1">
              <a:off x="10849448" y="4751750"/>
              <a:ext cx="797922" cy="210783"/>
              <a:chOff x="852408" y="3745351"/>
              <a:chExt cx="1379350" cy="356462"/>
            </a:xfrm>
          </p:grpSpPr>
          <p:sp>
            <p:nvSpPr>
              <p:cNvPr id="1838" name="Google Shape;1838;p273"/>
              <p:cNvSpPr/>
              <p:nvPr/>
            </p:nvSpPr>
            <p:spPr>
              <a:xfrm>
                <a:off x="852408" y="3745351"/>
                <a:ext cx="356462" cy="356462"/>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a:ea typeface="Arial"/>
                  <a:cs typeface="Arial"/>
                  <a:sym typeface="Arial"/>
                </a:endParaRPr>
              </a:p>
            </p:txBody>
          </p:sp>
          <p:sp>
            <p:nvSpPr>
              <p:cNvPr id="1839" name="Google Shape;1839;p273"/>
              <p:cNvSpPr/>
              <p:nvPr/>
            </p:nvSpPr>
            <p:spPr>
              <a:xfrm>
                <a:off x="1363852" y="3745351"/>
                <a:ext cx="356462" cy="356462"/>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a:ea typeface="Arial"/>
                  <a:cs typeface="Arial"/>
                  <a:sym typeface="Arial"/>
                </a:endParaRPr>
              </a:p>
            </p:txBody>
          </p:sp>
          <p:sp>
            <p:nvSpPr>
              <p:cNvPr id="1840" name="Google Shape;1840;p273"/>
              <p:cNvSpPr/>
              <p:nvPr/>
            </p:nvSpPr>
            <p:spPr>
              <a:xfrm>
                <a:off x="1875296" y="3745351"/>
                <a:ext cx="356462" cy="356462"/>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a:ea typeface="Arial"/>
                  <a:cs typeface="Arial"/>
                  <a:sym typeface="Arial"/>
                </a:endParaRPr>
              </a:p>
            </p:txBody>
          </p:sp>
        </p:grpSp>
        <p:sp>
          <p:nvSpPr>
            <p:cNvPr id="1841" name="Google Shape;1841;p273"/>
            <p:cNvSpPr txBox="1"/>
            <p:nvPr/>
          </p:nvSpPr>
          <p:spPr>
            <a:xfrm>
              <a:off x="8264434" y="2075937"/>
              <a:ext cx="2891999" cy="2678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err="1">
                  <a:solidFill>
                    <a:srgbClr val="000000"/>
                  </a:solidFill>
                  <a:latin typeface="Arial"/>
                  <a:ea typeface="Arial"/>
                  <a:cs typeface="Arial"/>
                  <a:sym typeface="Arial"/>
                </a:rPr>
                <a:t>Hành</a:t>
              </a:r>
              <a:r>
                <a:rPr lang="en-US" sz="2400" b="0" i="0" u="none" strike="noStrike" cap="none">
                  <a:solidFill>
                    <a:srgbClr val="000000"/>
                  </a:solidFill>
                  <a:latin typeface="Arial"/>
                  <a:ea typeface="Arial"/>
                  <a:cs typeface="Arial"/>
                  <a:sym typeface="Arial"/>
                </a:rPr>
                <a:t> vi </a:t>
              </a:r>
              <a:r>
                <a:rPr lang="en-US" sz="2400" b="0" i="0" u="none" strike="noStrike" cap="none" err="1">
                  <a:solidFill>
                    <a:srgbClr val="000000"/>
                  </a:solidFill>
                  <a:latin typeface="Arial"/>
                  <a:ea typeface="Arial"/>
                  <a:cs typeface="Arial"/>
                  <a:sym typeface="Arial"/>
                </a:rPr>
                <a:t>của</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khách</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hàng</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xảy</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ra</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trong</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năm</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loại</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tình</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huống</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giao</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tiếp,trạng</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thái</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mua</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hàng</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sử</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dụng</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và</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xử</a:t>
              </a:r>
              <a:r>
                <a:rPr lang="en-US" sz="2400" b="0" i="0" u="none" strike="noStrike" cap="none">
                  <a:solidFill>
                    <a:srgbClr val="000000"/>
                  </a:solidFill>
                  <a:latin typeface="Arial"/>
                  <a:ea typeface="Arial"/>
                  <a:cs typeface="Arial"/>
                  <a:sym typeface="Arial"/>
                </a:rPr>
                <a:t> </a:t>
              </a:r>
              <a:r>
                <a:rPr lang="en-US" sz="2400" b="0" i="0" u="none" strike="noStrike" cap="none" err="1">
                  <a:solidFill>
                    <a:srgbClr val="000000"/>
                  </a:solidFill>
                  <a:latin typeface="Arial"/>
                  <a:ea typeface="Arial"/>
                  <a:cs typeface="Arial"/>
                  <a:sym typeface="Arial"/>
                </a:rPr>
                <a:t>lý</a:t>
              </a:r>
              <a:endParaRPr sz="1400" b="0" i="0" u="none" strike="noStrike" cap="none">
                <a:solidFill>
                  <a:srgbClr val="000000"/>
                </a:solidFill>
                <a:latin typeface="Arial"/>
                <a:ea typeface="Arial"/>
                <a:cs typeface="Arial"/>
                <a:sym typeface="Arial"/>
              </a:endParaRPr>
            </a:p>
          </p:txBody>
        </p:sp>
        <p:cxnSp>
          <p:nvCxnSpPr>
            <p:cNvPr id="1842" name="Google Shape;1842;p273"/>
            <p:cNvCxnSpPr/>
            <p:nvPr/>
          </p:nvCxnSpPr>
          <p:spPr>
            <a:xfrm>
              <a:off x="10513820" y="4960244"/>
              <a:ext cx="503324" cy="0"/>
            </a:xfrm>
            <a:prstGeom prst="straightConnector1">
              <a:avLst/>
            </a:prstGeom>
            <a:noFill/>
            <a:ln w="38100" cap="flat" cmpd="sng">
              <a:solidFill>
                <a:schemeClr val="lt1"/>
              </a:solidFill>
              <a:prstDash val="solid"/>
              <a:miter lim="8000"/>
              <a:headEnd type="none" w="sm" len="sm"/>
              <a:tailEnd type="none" w="sm" len="sm"/>
            </a:ln>
          </p:spPr>
        </p:cxnSp>
        <p:cxnSp>
          <p:nvCxnSpPr>
            <p:cNvPr id="1843" name="Google Shape;1843;p273"/>
            <p:cNvCxnSpPr/>
            <p:nvPr/>
          </p:nvCxnSpPr>
          <p:spPr>
            <a:xfrm>
              <a:off x="8020594" y="2280163"/>
              <a:ext cx="487680" cy="0"/>
            </a:xfrm>
            <a:prstGeom prst="straightConnector1">
              <a:avLst/>
            </a:prstGeom>
            <a:noFill/>
            <a:ln w="28575" cap="flat" cmpd="sng">
              <a:solidFill>
                <a:schemeClr val="lt1"/>
              </a:solidFill>
              <a:prstDash val="solid"/>
              <a:miter lim="8000"/>
              <a:headEnd type="none" w="sm" len="sm"/>
              <a:tailEnd type="none" w="sm" len="sm"/>
            </a:ln>
          </p:spPr>
        </p:cxnSp>
        <p:cxnSp>
          <p:nvCxnSpPr>
            <p:cNvPr id="1844" name="Google Shape;1844;p273"/>
            <p:cNvCxnSpPr/>
            <p:nvPr/>
          </p:nvCxnSpPr>
          <p:spPr>
            <a:xfrm>
              <a:off x="11005165" y="4425884"/>
              <a:ext cx="0" cy="534360"/>
            </a:xfrm>
            <a:prstGeom prst="straightConnector1">
              <a:avLst/>
            </a:prstGeom>
            <a:noFill/>
            <a:ln w="38100" cap="flat" cmpd="sng">
              <a:solidFill>
                <a:schemeClr val="lt1"/>
              </a:solidFill>
              <a:prstDash val="solid"/>
              <a:miter lim="8000"/>
              <a:headEnd type="none" w="sm" len="sm"/>
              <a:tailEnd type="none" w="sm" len="sm"/>
            </a:ln>
          </p:spPr>
        </p:cxnSp>
        <p:cxnSp>
          <p:nvCxnSpPr>
            <p:cNvPr id="1845" name="Google Shape;1845;p273"/>
            <p:cNvCxnSpPr/>
            <p:nvPr/>
          </p:nvCxnSpPr>
          <p:spPr>
            <a:xfrm>
              <a:off x="8029302" y="2280163"/>
              <a:ext cx="0" cy="535151"/>
            </a:xfrm>
            <a:prstGeom prst="straightConnector1">
              <a:avLst/>
            </a:prstGeom>
            <a:noFill/>
            <a:ln w="38100" cap="flat" cmpd="sng">
              <a:solidFill>
                <a:schemeClr val="lt1"/>
              </a:solidFill>
              <a:prstDash val="solid"/>
              <a:miter lim="8000"/>
              <a:headEnd type="none" w="sm" len="sm"/>
              <a:tailEnd type="none" w="sm" len="sm"/>
            </a:ln>
          </p:spPr>
        </p:cxn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999" y="-92605"/>
            <a:ext cx="10515600" cy="1325563"/>
          </a:xfrm>
        </p:spPr>
        <p:txBody>
          <a:bodyPr>
            <a:normAutofit/>
          </a:bodyPr>
          <a:lstStyle/>
          <a:p>
            <a:r>
              <a:rPr lang="vi-VN" sz="2800" b="1"/>
              <a:t>Các tình huống mua hàng</a:t>
            </a:r>
            <a:endParaRPr lang="en-US" sz="2800" b="1"/>
          </a:p>
        </p:txBody>
      </p:sp>
      <p:sp>
        <p:nvSpPr>
          <p:cNvPr id="3" name="Text Placeholder 2"/>
          <p:cNvSpPr>
            <a:spLocks noGrp="1"/>
          </p:cNvSpPr>
          <p:nvPr>
            <p:ph type="body" idx="1"/>
          </p:nvPr>
        </p:nvSpPr>
        <p:spPr>
          <a:xfrm>
            <a:off x="253999" y="1232959"/>
            <a:ext cx="10981691" cy="4676352"/>
          </a:xfrm>
        </p:spPr>
        <p:txBody>
          <a:bodyPr/>
          <a:lstStyle/>
          <a:p>
            <a:pPr marL="114300" indent="0">
              <a:buNone/>
            </a:pPr>
            <a:r>
              <a:rPr lang="vi-VN" b="1"/>
              <a:t>2.3.1.1 Tình huống giao tiếp</a:t>
            </a:r>
          </a:p>
          <a:p>
            <a:pPr marL="114300" indent="342900" algn="just">
              <a:lnSpc>
                <a:spcPct val="150000"/>
              </a:lnSpc>
              <a:buNone/>
              <a:tabLst>
                <a:tab pos="347663" algn="l"/>
              </a:tabLst>
            </a:pPr>
            <a:r>
              <a:rPr lang="vi-VN"/>
              <a:t>   </a:t>
            </a:r>
            <a:r>
              <a:rPr lang="en-US" err="1"/>
              <a:t>Khách</a:t>
            </a:r>
            <a:r>
              <a:rPr lang="en-US"/>
              <a:t> </a:t>
            </a:r>
            <a:r>
              <a:rPr lang="en-US" err="1"/>
              <a:t>hàng</a:t>
            </a:r>
            <a:r>
              <a:rPr lang="en-US"/>
              <a:t> </a:t>
            </a:r>
            <a:r>
              <a:rPr lang="en-US" err="1"/>
              <a:t>tiếp</a:t>
            </a:r>
            <a:r>
              <a:rPr lang="en-US"/>
              <a:t> </a:t>
            </a:r>
            <a:r>
              <a:rPr lang="en-US" err="1"/>
              <a:t>nhận</a:t>
            </a:r>
            <a:r>
              <a:rPr lang="en-US"/>
              <a:t> </a:t>
            </a:r>
            <a:r>
              <a:rPr lang="en-US" err="1"/>
              <a:t>truyền</a:t>
            </a:r>
            <a:r>
              <a:rPr lang="en-US"/>
              <a:t> </a:t>
            </a:r>
            <a:r>
              <a:rPr lang="en-US" err="1"/>
              <a:t>thông</a:t>
            </a:r>
            <a:r>
              <a:rPr lang="en-US"/>
              <a:t> </a:t>
            </a:r>
            <a:r>
              <a:rPr lang="en-US" err="1"/>
              <a:t>trong</a:t>
            </a:r>
            <a:r>
              <a:rPr lang="en-US"/>
              <a:t> </a:t>
            </a:r>
            <a:r>
              <a:rPr lang="en-US" err="1"/>
              <a:t>bối</a:t>
            </a:r>
            <a:r>
              <a:rPr lang="en-US"/>
              <a:t> </a:t>
            </a:r>
            <a:r>
              <a:rPr lang="en-US" err="1"/>
              <a:t>cảnh</a:t>
            </a:r>
            <a:r>
              <a:rPr lang="en-US"/>
              <a:t> </a:t>
            </a:r>
            <a:r>
              <a:rPr lang="en-US" err="1"/>
              <a:t>cụ</a:t>
            </a:r>
            <a:r>
              <a:rPr lang="en-US"/>
              <a:t> </a:t>
            </a:r>
            <a:r>
              <a:rPr lang="en-US" err="1"/>
              <a:t>thể</a:t>
            </a:r>
            <a:r>
              <a:rPr lang="en-US"/>
              <a:t> </a:t>
            </a:r>
            <a:r>
              <a:rPr lang="en-US" err="1"/>
              <a:t>như</a:t>
            </a:r>
            <a:r>
              <a:rPr lang="en-US"/>
              <a:t> </a:t>
            </a:r>
            <a:r>
              <a:rPr lang="en-US" err="1"/>
              <a:t>trên</a:t>
            </a:r>
            <a:r>
              <a:rPr lang="en-US"/>
              <a:t> ô </a:t>
            </a:r>
            <a:r>
              <a:rPr lang="en-US" err="1"/>
              <a:t>tô</a:t>
            </a:r>
            <a:r>
              <a:rPr lang="en-US"/>
              <a:t>, </a:t>
            </a:r>
            <a:r>
              <a:rPr lang="en-US" err="1"/>
              <a:t>nghe</a:t>
            </a:r>
            <a:r>
              <a:rPr lang="en-US"/>
              <a:t> </a:t>
            </a:r>
            <a:r>
              <a:rPr lang="en-US" err="1"/>
              <a:t>đài</a:t>
            </a:r>
            <a:r>
              <a:rPr lang="en-US"/>
              <a:t> </a:t>
            </a:r>
            <a:r>
              <a:rPr lang="en-US" err="1"/>
              <a:t>hoặc</a:t>
            </a:r>
            <a:r>
              <a:rPr lang="en-US"/>
              <a:t> </a:t>
            </a:r>
            <a:r>
              <a:rPr lang="en-US" err="1"/>
              <a:t>xem</a:t>
            </a:r>
            <a:r>
              <a:rPr lang="en-US"/>
              <a:t> </a:t>
            </a:r>
            <a:r>
              <a:rPr lang="en-US" err="1"/>
              <a:t>truyền</a:t>
            </a:r>
            <a:r>
              <a:rPr lang="en-US"/>
              <a:t> </a:t>
            </a:r>
            <a:r>
              <a:rPr lang="en-US" err="1"/>
              <a:t>hình</a:t>
            </a:r>
            <a:r>
              <a:rPr lang="en-US"/>
              <a:t>.</a:t>
            </a:r>
            <a:endParaRPr lang="vi-VN"/>
          </a:p>
          <a:p>
            <a:pPr marL="114300" indent="342900" algn="just">
              <a:lnSpc>
                <a:spcPct val="150000"/>
              </a:lnSpc>
              <a:buNone/>
              <a:tabLst>
                <a:tab pos="347663" algn="l"/>
              </a:tabLst>
            </a:pPr>
            <a:r>
              <a:rPr lang="vi-VN"/>
              <a:t>Các Marketer thường cố gắng đặt quảng cáo trong bối cảnh truyền thông tích hợp để nâng cao hiệu quả</a:t>
            </a:r>
            <a:r>
              <a:rPr lang="vi-VN" b="1"/>
              <a:t>.</a:t>
            </a:r>
            <a:endParaRPr lang="en-US" b="1"/>
          </a:p>
        </p:txBody>
      </p:sp>
    </p:spTree>
    <p:extLst>
      <p:ext uri="{BB962C8B-B14F-4D97-AF65-F5344CB8AC3E}">
        <p14:creationId xmlns:p14="http://schemas.microsoft.com/office/powerpoint/2010/main" val="197162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861"/>
        <p:cNvGrpSpPr/>
        <p:nvPr/>
      </p:nvGrpSpPr>
      <p:grpSpPr>
        <a:xfrm>
          <a:off x="0" y="0"/>
          <a:ext cx="0" cy="0"/>
          <a:chOff x="0" y="0"/>
          <a:chExt cx="0" cy="0"/>
        </a:xfrm>
      </p:grpSpPr>
      <p:sp>
        <p:nvSpPr>
          <p:cNvPr id="1862" name="Google Shape;1862;p276"/>
          <p:cNvSpPr txBox="1">
            <a:spLocks noGrp="1"/>
          </p:cNvSpPr>
          <p:nvPr>
            <p:ph type="title"/>
          </p:nvPr>
        </p:nvSpPr>
        <p:spPr>
          <a:xfrm>
            <a:off x="723900" y="265113"/>
            <a:ext cx="10515600" cy="67761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vi-VN" sz="2800" b="1">
                <a:latin typeface="Arial"/>
                <a:ea typeface="Arial"/>
                <a:cs typeface="Arial"/>
                <a:sym typeface="Arial"/>
              </a:rPr>
              <a:t>2.3</a:t>
            </a:r>
            <a:r>
              <a:rPr lang="en-US" sz="2800" b="1">
                <a:latin typeface="Arial"/>
                <a:ea typeface="Arial"/>
                <a:cs typeface="Arial"/>
                <a:sym typeface="Arial"/>
              </a:rPr>
              <a:t>.</a:t>
            </a:r>
            <a:r>
              <a:rPr lang="vi-VN" sz="2800" b="1">
                <a:latin typeface="Arial"/>
                <a:ea typeface="Arial"/>
                <a:cs typeface="Arial"/>
                <a:sym typeface="Arial"/>
              </a:rPr>
              <a:t>1.</a:t>
            </a:r>
            <a:r>
              <a:rPr lang="en-US" sz="2800" b="1">
                <a:latin typeface="Arial"/>
                <a:ea typeface="Arial"/>
                <a:cs typeface="Arial"/>
                <a:sym typeface="Arial"/>
              </a:rPr>
              <a:t>2 </a:t>
            </a:r>
            <a:r>
              <a:rPr lang="en-US" sz="2800" b="1" err="1">
                <a:latin typeface="Arial"/>
                <a:ea typeface="Arial"/>
                <a:cs typeface="Arial"/>
                <a:sym typeface="Arial"/>
              </a:rPr>
              <a:t>Trạng</a:t>
            </a:r>
            <a:r>
              <a:rPr lang="en-US" sz="2800" b="1">
                <a:latin typeface="Arial"/>
                <a:ea typeface="Arial"/>
                <a:cs typeface="Arial"/>
                <a:sym typeface="Arial"/>
              </a:rPr>
              <a:t> </a:t>
            </a:r>
            <a:r>
              <a:rPr lang="en-US" sz="2800" b="1" err="1">
                <a:latin typeface="Arial"/>
                <a:ea typeface="Arial"/>
                <a:cs typeface="Arial"/>
                <a:sym typeface="Arial"/>
              </a:rPr>
              <a:t>thái</a:t>
            </a:r>
            <a:endParaRPr sz="2800"/>
          </a:p>
        </p:txBody>
      </p:sp>
      <p:sp>
        <p:nvSpPr>
          <p:cNvPr id="1863" name="Google Shape;1863;p276"/>
          <p:cNvSpPr txBox="1">
            <a:spLocks noGrp="1"/>
          </p:cNvSpPr>
          <p:nvPr>
            <p:ph type="body" idx="1"/>
          </p:nvPr>
        </p:nvSpPr>
        <p:spPr>
          <a:xfrm>
            <a:off x="208281" y="1428750"/>
            <a:ext cx="11244580" cy="5006340"/>
          </a:xfrm>
          <a:prstGeom prst="rect">
            <a:avLst/>
          </a:prstGeom>
          <a:noFill/>
          <a:ln>
            <a:noFill/>
          </a:ln>
        </p:spPr>
        <p:txBody>
          <a:bodyPr spcFirstLastPara="1" wrap="square" lIns="91425" tIns="45700" rIns="91425" bIns="45700" anchor="t" anchorCtr="0">
            <a:normAutofit/>
          </a:bodyPr>
          <a:lstStyle/>
          <a:p>
            <a:pPr marL="457200" lvl="0" indent="-457200" algn="just" rtl="0">
              <a:lnSpc>
                <a:spcPct val="150000"/>
              </a:lnSpc>
              <a:spcBef>
                <a:spcPts val="0"/>
              </a:spcBef>
              <a:spcAft>
                <a:spcPts val="0"/>
              </a:spcAft>
              <a:buClr>
                <a:schemeClr val="dk1"/>
              </a:buClr>
              <a:buSzPts val="2800"/>
              <a:buFont typeface="Arial"/>
              <a:buChar char="•"/>
            </a:pPr>
            <a:r>
              <a:rPr lang="en-US" err="1">
                <a:latin typeface="Arial"/>
                <a:ea typeface="Arial"/>
                <a:cs typeface="Arial"/>
                <a:sym typeface="Arial"/>
              </a:rPr>
              <a:t>Tình</a:t>
            </a:r>
            <a:r>
              <a:rPr lang="en-US">
                <a:latin typeface="Arial"/>
                <a:ea typeface="Arial"/>
                <a:cs typeface="Arial"/>
                <a:sym typeface="Arial"/>
              </a:rPr>
              <a:t> </a:t>
            </a:r>
            <a:r>
              <a:rPr lang="en-US" err="1">
                <a:latin typeface="Arial"/>
                <a:ea typeface="Arial"/>
                <a:cs typeface="Arial"/>
                <a:sym typeface="Arial"/>
              </a:rPr>
              <a:t>huống</a:t>
            </a:r>
            <a:r>
              <a:rPr lang="en-US">
                <a:latin typeface="Arial"/>
                <a:ea typeface="Arial"/>
                <a:cs typeface="Arial"/>
                <a:sym typeface="Arial"/>
              </a:rPr>
              <a:t> </a:t>
            </a:r>
            <a:r>
              <a:rPr lang="en-US" err="1">
                <a:latin typeface="Arial"/>
                <a:ea typeface="Arial"/>
                <a:cs typeface="Arial"/>
                <a:sym typeface="Arial"/>
              </a:rPr>
              <a:t>tiêu</a:t>
            </a:r>
            <a:r>
              <a:rPr lang="en-US">
                <a:latin typeface="Arial"/>
                <a:ea typeface="Arial"/>
                <a:cs typeface="Arial"/>
                <a:sym typeface="Arial"/>
              </a:rPr>
              <a:t> </a:t>
            </a:r>
            <a:r>
              <a:rPr lang="en-US" err="1">
                <a:latin typeface="Arial"/>
                <a:ea typeface="Arial"/>
                <a:cs typeface="Arial"/>
                <a:sym typeface="Arial"/>
              </a:rPr>
              <a:t>thụ</a:t>
            </a:r>
            <a:r>
              <a:rPr lang="en-US">
                <a:latin typeface="Arial"/>
                <a:ea typeface="Arial"/>
                <a:cs typeface="Arial"/>
                <a:sym typeface="Arial"/>
              </a:rPr>
              <a:t> </a:t>
            </a:r>
            <a:r>
              <a:rPr lang="en-US" err="1">
                <a:latin typeface="Arial"/>
                <a:ea typeface="Arial"/>
                <a:cs typeface="Arial"/>
                <a:sym typeface="Arial"/>
              </a:rPr>
              <a:t>được</a:t>
            </a:r>
            <a:r>
              <a:rPr lang="en-US">
                <a:latin typeface="Arial"/>
                <a:ea typeface="Arial"/>
                <a:cs typeface="Arial"/>
                <a:sym typeface="Arial"/>
              </a:rPr>
              <a:t> </a:t>
            </a:r>
            <a:r>
              <a:rPr lang="en-US" err="1">
                <a:latin typeface="Arial"/>
                <a:ea typeface="Arial"/>
                <a:cs typeface="Arial"/>
                <a:sym typeface="Arial"/>
              </a:rPr>
              <a:t>xác</a:t>
            </a:r>
            <a:r>
              <a:rPr lang="en-US">
                <a:latin typeface="Arial"/>
                <a:ea typeface="Arial"/>
                <a:cs typeface="Arial"/>
                <a:sym typeface="Arial"/>
              </a:rPr>
              <a:t> </a:t>
            </a:r>
            <a:r>
              <a:rPr lang="en-US" err="1">
                <a:latin typeface="Arial"/>
                <a:ea typeface="Arial"/>
                <a:cs typeface="Arial"/>
                <a:sym typeface="Arial"/>
              </a:rPr>
              <a:t>định</a:t>
            </a:r>
            <a:r>
              <a:rPr lang="en-US">
                <a:latin typeface="Arial"/>
                <a:ea typeface="Arial"/>
                <a:cs typeface="Arial"/>
                <a:sym typeface="Arial"/>
              </a:rPr>
              <a:t> </a:t>
            </a:r>
            <a:r>
              <a:rPr lang="en-US" err="1">
                <a:latin typeface="Arial"/>
                <a:ea typeface="Arial"/>
                <a:cs typeface="Arial"/>
                <a:sym typeface="Arial"/>
              </a:rPr>
              <a:t>bởi</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yếu</a:t>
            </a:r>
            <a:r>
              <a:rPr lang="en-US">
                <a:latin typeface="Arial"/>
                <a:ea typeface="Arial"/>
                <a:cs typeface="Arial"/>
                <a:sym typeface="Arial"/>
              </a:rPr>
              <a:t> </a:t>
            </a:r>
            <a:r>
              <a:rPr lang="en-US" err="1">
                <a:latin typeface="Arial"/>
                <a:ea typeface="Arial"/>
                <a:cs typeface="Arial"/>
                <a:sym typeface="Arial"/>
              </a:rPr>
              <a:t>tố</a:t>
            </a:r>
            <a:r>
              <a:rPr lang="en-US">
                <a:latin typeface="Arial"/>
                <a:ea typeface="Arial"/>
                <a:cs typeface="Arial"/>
                <a:sym typeface="Arial"/>
              </a:rPr>
              <a:t> </a:t>
            </a:r>
            <a:r>
              <a:rPr lang="en-US" err="1">
                <a:latin typeface="Arial"/>
                <a:ea typeface="Arial"/>
                <a:cs typeface="Arial"/>
                <a:sym typeface="Arial"/>
              </a:rPr>
              <a:t>hơn</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trên</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đặc</a:t>
            </a:r>
            <a:r>
              <a:rPr lang="en-US">
                <a:latin typeface="Arial"/>
                <a:ea typeface="Arial"/>
                <a:cs typeface="Arial"/>
                <a:sym typeface="Arial"/>
              </a:rPr>
              <a:t> </a:t>
            </a:r>
            <a:r>
              <a:rPr lang="en-US" err="1">
                <a:latin typeface="Arial"/>
                <a:ea typeface="Arial"/>
                <a:cs typeface="Arial"/>
                <a:sym typeface="Arial"/>
              </a:rPr>
              <a:t>điểm</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con </a:t>
            </a:r>
            <a:r>
              <a:rPr lang="en-US" err="1">
                <a:latin typeface="Arial"/>
                <a:ea typeface="Arial"/>
                <a:cs typeface="Arial"/>
                <a:sym typeface="Arial"/>
              </a:rPr>
              <a:t>người</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sản</a:t>
            </a:r>
            <a:r>
              <a:rPr lang="en-US">
                <a:latin typeface="Arial"/>
                <a:ea typeface="Arial"/>
                <a:cs typeface="Arial"/>
                <a:sym typeface="Arial"/>
              </a:rPr>
              <a:t> </a:t>
            </a:r>
            <a:r>
              <a:rPr lang="en-US" err="1">
                <a:latin typeface="Arial"/>
                <a:ea typeface="Arial"/>
                <a:cs typeface="Arial"/>
                <a:sym typeface="Arial"/>
              </a:rPr>
              <a:t>phẩm</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tác</a:t>
            </a:r>
            <a:r>
              <a:rPr lang="en-US">
                <a:latin typeface="Arial"/>
                <a:ea typeface="Arial"/>
                <a:cs typeface="Arial"/>
                <a:sym typeface="Arial"/>
              </a:rPr>
              <a:t> </a:t>
            </a:r>
            <a:r>
              <a:rPr lang="en-US" err="1">
                <a:latin typeface="Arial"/>
                <a:ea typeface="Arial"/>
                <a:cs typeface="Arial"/>
                <a:sym typeface="Arial"/>
              </a:rPr>
              <a:t>động</a:t>
            </a:r>
            <a:r>
              <a:rPr lang="en-US">
                <a:latin typeface="Arial"/>
                <a:ea typeface="Arial"/>
                <a:cs typeface="Arial"/>
                <a:sym typeface="Arial"/>
              </a:rPr>
              <a:t> </a:t>
            </a:r>
            <a:r>
              <a:rPr lang="en-US" err="1">
                <a:latin typeface="Arial"/>
                <a:ea typeface="Arial"/>
                <a:cs typeface="Arial"/>
                <a:sym typeface="Arial"/>
              </a:rPr>
              <a:t>tình</a:t>
            </a:r>
            <a:r>
              <a:rPr lang="en-US">
                <a:latin typeface="Arial"/>
                <a:ea typeface="Arial"/>
                <a:cs typeface="Arial"/>
                <a:sym typeface="Arial"/>
              </a:rPr>
              <a:t> </a:t>
            </a:r>
            <a:r>
              <a:rPr lang="en-US" err="1">
                <a:latin typeface="Arial"/>
                <a:ea typeface="Arial"/>
                <a:cs typeface="Arial"/>
                <a:sym typeface="Arial"/>
              </a:rPr>
              <a:t>huống</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thể</a:t>
            </a:r>
            <a:r>
              <a:rPr lang="en-US">
                <a:latin typeface="Arial"/>
                <a:ea typeface="Arial"/>
                <a:cs typeface="Arial"/>
                <a:sym typeface="Arial"/>
              </a:rPr>
              <a:t> </a:t>
            </a:r>
            <a:r>
              <a:rPr lang="en-US" err="1">
                <a:latin typeface="Arial"/>
                <a:ea typeface="Arial"/>
                <a:cs typeface="Arial"/>
                <a:sym typeface="Arial"/>
              </a:rPr>
              <a:t>là</a:t>
            </a:r>
            <a:r>
              <a:rPr lang="en-US">
                <a:latin typeface="Arial"/>
                <a:ea typeface="Arial"/>
                <a:cs typeface="Arial"/>
                <a:sym typeface="Arial"/>
              </a:rPr>
              <a:t> </a:t>
            </a:r>
            <a:r>
              <a:rPr lang="en-US" err="1">
                <a:latin typeface="Arial"/>
                <a:ea typeface="Arial"/>
                <a:cs typeface="Arial"/>
                <a:sym typeface="Arial"/>
              </a:rPr>
              <a:t>hành</a:t>
            </a:r>
            <a:r>
              <a:rPr lang="en-US">
                <a:latin typeface="Arial"/>
                <a:ea typeface="Arial"/>
                <a:cs typeface="Arial"/>
                <a:sym typeface="Arial"/>
              </a:rPr>
              <a:t> vi (</a:t>
            </a:r>
            <a:r>
              <a:rPr lang="en-US" err="1">
                <a:latin typeface="Arial"/>
                <a:ea typeface="Arial"/>
                <a:cs typeface="Arial"/>
                <a:sym typeface="Arial"/>
              </a:rPr>
              <a:t>bạn</a:t>
            </a:r>
            <a:r>
              <a:rPr lang="en-US">
                <a:latin typeface="Arial"/>
                <a:ea typeface="Arial"/>
                <a:cs typeface="Arial"/>
                <a:sym typeface="Arial"/>
              </a:rPr>
              <a:t> </a:t>
            </a:r>
            <a:r>
              <a:rPr lang="en-US" err="1">
                <a:latin typeface="Arial"/>
                <a:ea typeface="Arial"/>
                <a:cs typeface="Arial"/>
                <a:sym typeface="Arial"/>
              </a:rPr>
              <a:t>bè</a:t>
            </a:r>
            <a:r>
              <a:rPr lang="en-US">
                <a:latin typeface="Arial"/>
                <a:ea typeface="Arial"/>
                <a:cs typeface="Arial"/>
                <a:sym typeface="Arial"/>
              </a:rPr>
              <a:t> </a:t>
            </a:r>
            <a:r>
              <a:rPr lang="en-US" err="1">
                <a:latin typeface="Arial"/>
                <a:ea typeface="Arial"/>
                <a:cs typeface="Arial"/>
                <a:sym typeface="Arial"/>
              </a:rPr>
              <a:t>giải</a:t>
            </a:r>
            <a:r>
              <a:rPr lang="en-US">
                <a:latin typeface="Arial"/>
                <a:ea typeface="Arial"/>
                <a:cs typeface="Arial"/>
                <a:sym typeface="Arial"/>
              </a:rPr>
              <a:t> </a:t>
            </a:r>
            <a:r>
              <a:rPr lang="en-US" err="1">
                <a:latin typeface="Arial"/>
                <a:ea typeface="Arial"/>
                <a:cs typeface="Arial"/>
                <a:sym typeface="Arial"/>
              </a:rPr>
              <a:t>trí</a:t>
            </a:r>
            <a:r>
              <a:rPr lang="en-US">
                <a:latin typeface="Arial"/>
                <a:ea typeface="Arial"/>
                <a:cs typeface="Arial"/>
                <a:sym typeface="Arial"/>
              </a:rPr>
              <a:t>) </a:t>
            </a:r>
            <a:r>
              <a:rPr lang="en-US" err="1">
                <a:latin typeface="Arial"/>
                <a:ea typeface="Arial"/>
                <a:cs typeface="Arial"/>
                <a:sym typeface="Arial"/>
              </a:rPr>
              <a:t>hoặc</a:t>
            </a:r>
            <a:r>
              <a:rPr lang="en-US">
                <a:latin typeface="Arial"/>
                <a:ea typeface="Arial"/>
                <a:cs typeface="Arial"/>
                <a:sym typeface="Arial"/>
              </a:rPr>
              <a:t> tri </a:t>
            </a:r>
            <a:r>
              <a:rPr lang="en-US" err="1">
                <a:latin typeface="Arial"/>
                <a:ea typeface="Arial"/>
                <a:cs typeface="Arial"/>
                <a:sym typeface="Arial"/>
              </a:rPr>
              <a:t>giác</a:t>
            </a:r>
            <a:r>
              <a:rPr lang="en-US">
                <a:latin typeface="Arial"/>
                <a:ea typeface="Arial"/>
                <a:cs typeface="Arial"/>
                <a:sym typeface="Arial"/>
              </a:rPr>
              <a:t> (</a:t>
            </a:r>
            <a:r>
              <a:rPr lang="en-US" err="1">
                <a:latin typeface="Arial"/>
                <a:ea typeface="Arial"/>
                <a:cs typeface="Arial"/>
                <a:sym typeface="Arial"/>
              </a:rPr>
              <a:t>chán</a:t>
            </a:r>
            <a:r>
              <a:rPr lang="en-US">
                <a:latin typeface="Arial"/>
                <a:ea typeface="Arial"/>
                <a:cs typeface="Arial"/>
                <a:sym typeface="Arial"/>
              </a:rPr>
              <a:t> </a:t>
            </a:r>
            <a:r>
              <a:rPr lang="en-US" err="1">
                <a:latin typeface="Arial"/>
                <a:ea typeface="Arial"/>
                <a:cs typeface="Arial"/>
                <a:sym typeface="Arial"/>
              </a:rPr>
              <a:t>nản</a:t>
            </a:r>
            <a:r>
              <a:rPr lang="en-US">
                <a:latin typeface="Arial"/>
                <a:ea typeface="Arial"/>
                <a:cs typeface="Arial"/>
                <a:sym typeface="Arial"/>
              </a:rPr>
              <a:t> </a:t>
            </a:r>
            <a:r>
              <a:rPr lang="en-US" err="1">
                <a:latin typeface="Arial"/>
                <a:ea typeface="Arial"/>
                <a:cs typeface="Arial"/>
                <a:sym typeface="Arial"/>
              </a:rPr>
              <a:t>hoặc</a:t>
            </a:r>
            <a:r>
              <a:rPr lang="en-US">
                <a:latin typeface="Arial"/>
                <a:ea typeface="Arial"/>
                <a:cs typeface="Arial"/>
                <a:sym typeface="Arial"/>
              </a:rPr>
              <a:t> </a:t>
            </a:r>
            <a:r>
              <a:rPr lang="en-US" err="1">
                <a:latin typeface="Arial"/>
                <a:ea typeface="Arial"/>
                <a:cs typeface="Arial"/>
                <a:sym typeface="Arial"/>
              </a:rPr>
              <a:t>cảm</a:t>
            </a:r>
            <a:r>
              <a:rPr lang="en-US">
                <a:latin typeface="Arial"/>
                <a:ea typeface="Arial"/>
                <a:cs typeface="Arial"/>
                <a:sym typeface="Arial"/>
              </a:rPr>
              <a:t> </a:t>
            </a:r>
            <a:r>
              <a:rPr lang="en-US" err="1">
                <a:latin typeface="Arial"/>
                <a:ea typeface="Arial"/>
                <a:cs typeface="Arial"/>
                <a:sym typeface="Arial"/>
              </a:rPr>
              <a:t>thấy</a:t>
            </a:r>
            <a:r>
              <a:rPr lang="en-US">
                <a:latin typeface="Arial"/>
                <a:ea typeface="Arial"/>
                <a:cs typeface="Arial"/>
                <a:sym typeface="Arial"/>
              </a:rPr>
              <a:t> </a:t>
            </a:r>
            <a:r>
              <a:rPr lang="en-US" err="1">
                <a:latin typeface="Arial"/>
                <a:ea typeface="Arial"/>
                <a:cs typeface="Arial"/>
                <a:sym typeface="Arial"/>
              </a:rPr>
              <a:t>bị</a:t>
            </a:r>
            <a:r>
              <a:rPr lang="en-US">
                <a:latin typeface="Arial"/>
                <a:ea typeface="Arial"/>
                <a:cs typeface="Arial"/>
                <a:sym typeface="Arial"/>
              </a:rPr>
              <a:t> </a:t>
            </a:r>
            <a:r>
              <a:rPr lang="en-US" err="1">
                <a:latin typeface="Arial"/>
                <a:ea typeface="Arial"/>
                <a:cs typeface="Arial"/>
                <a:sym typeface="Arial"/>
              </a:rPr>
              <a:t>thúc</a:t>
            </a:r>
            <a:r>
              <a:rPr lang="en-US">
                <a:latin typeface="Arial"/>
                <a:ea typeface="Arial"/>
                <a:cs typeface="Arial"/>
                <a:sym typeface="Arial"/>
              </a:rPr>
              <a:t> </a:t>
            </a:r>
            <a:r>
              <a:rPr lang="en-US" err="1">
                <a:latin typeface="Arial"/>
                <a:ea typeface="Arial"/>
                <a:cs typeface="Arial"/>
                <a:sym typeface="Arial"/>
              </a:rPr>
              <a:t>ép</a:t>
            </a:r>
            <a:r>
              <a:rPr lang="en-US">
                <a:latin typeface="Arial"/>
                <a:ea typeface="Arial"/>
                <a:cs typeface="Arial"/>
                <a:sym typeface="Arial"/>
              </a:rPr>
              <a:t> </a:t>
            </a:r>
            <a:r>
              <a:rPr lang="en-US" err="1">
                <a:latin typeface="Arial"/>
                <a:ea typeface="Arial"/>
                <a:cs typeface="Arial"/>
                <a:sym typeface="Arial"/>
              </a:rPr>
              <a:t>về</a:t>
            </a:r>
            <a:r>
              <a:rPr lang="en-US">
                <a:latin typeface="Arial"/>
                <a:ea typeface="Arial"/>
                <a:cs typeface="Arial"/>
                <a:sym typeface="Arial"/>
              </a:rPr>
              <a:t> </a:t>
            </a:r>
            <a:r>
              <a:rPr lang="en-US" err="1">
                <a:latin typeface="Arial"/>
                <a:ea typeface="Arial"/>
                <a:cs typeface="Arial"/>
                <a:sym typeface="Arial"/>
              </a:rPr>
              <a:t>thời</a:t>
            </a:r>
            <a:r>
              <a:rPr lang="en-US">
                <a:latin typeface="Arial"/>
                <a:ea typeface="Arial"/>
                <a:cs typeface="Arial"/>
                <a:sym typeface="Arial"/>
              </a:rPr>
              <a:t> </a:t>
            </a:r>
            <a:r>
              <a:rPr lang="en-US" err="1">
                <a:latin typeface="Arial"/>
                <a:ea typeface="Arial"/>
                <a:cs typeface="Arial"/>
                <a:sym typeface="Arial"/>
              </a:rPr>
              <a:t>gian</a:t>
            </a:r>
            <a:r>
              <a:rPr lang="en-US">
                <a:latin typeface="Arial"/>
                <a:ea typeface="Arial"/>
                <a:cs typeface="Arial"/>
                <a:sym typeface="Arial"/>
              </a:rPr>
              <a:t>). </a:t>
            </a:r>
            <a:endParaRPr>
              <a:latin typeface="Arial"/>
              <a:ea typeface="Arial"/>
              <a:cs typeface="Arial"/>
              <a:sym typeface="Arial"/>
            </a:endParaRPr>
          </a:p>
          <a:p>
            <a:pPr marL="457200" lvl="0" indent="-457200" algn="just" rtl="0">
              <a:lnSpc>
                <a:spcPct val="150000"/>
              </a:lnSpc>
              <a:spcBef>
                <a:spcPts val="1000"/>
              </a:spcBef>
              <a:spcAft>
                <a:spcPts val="0"/>
              </a:spcAft>
              <a:buClr>
                <a:schemeClr val="dk1"/>
              </a:buClr>
              <a:buSzPts val="2800"/>
              <a:buFont typeface="Arial"/>
              <a:buChar char="•"/>
            </a:pPr>
            <a:r>
              <a:rPr lang="en-US" sz="3000" err="1">
                <a:latin typeface="Arial"/>
                <a:ea typeface="Arial"/>
                <a:cs typeface="Arial"/>
                <a:sym typeface="Arial"/>
              </a:rPr>
              <a:t>Kiến</a:t>
            </a:r>
            <a:r>
              <a:rPr lang="en-US" sz="3000">
                <a:latin typeface="Arial"/>
                <a:ea typeface="Arial"/>
                <a:cs typeface="Arial"/>
                <a:sym typeface="Arial"/>
              </a:rPr>
              <a:t> </a:t>
            </a:r>
            <a:r>
              <a:rPr lang="en-US" sz="3000" err="1">
                <a:latin typeface="Arial"/>
                <a:ea typeface="Arial"/>
                <a:cs typeface="Arial"/>
                <a:sym typeface="Arial"/>
              </a:rPr>
              <a:t>thức</a:t>
            </a:r>
            <a:r>
              <a:rPr lang="en-US" sz="3000">
                <a:latin typeface="Arial"/>
                <a:ea typeface="Arial"/>
                <a:cs typeface="Arial"/>
                <a:sym typeface="Arial"/>
              </a:rPr>
              <a:t> </a:t>
            </a:r>
            <a:r>
              <a:rPr lang="en-US" sz="3000" err="1">
                <a:latin typeface="Arial"/>
                <a:ea typeface="Arial"/>
                <a:cs typeface="Arial"/>
                <a:sym typeface="Arial"/>
              </a:rPr>
              <a:t>về</a:t>
            </a:r>
            <a:r>
              <a:rPr lang="en-US" sz="3000">
                <a:latin typeface="Arial"/>
                <a:ea typeface="Arial"/>
                <a:cs typeface="Arial"/>
                <a:sym typeface="Arial"/>
              </a:rPr>
              <a:t> </a:t>
            </a:r>
            <a:r>
              <a:rPr lang="en-US" sz="3000" err="1">
                <a:latin typeface="Arial"/>
                <a:ea typeface="Arial"/>
                <a:cs typeface="Arial"/>
                <a:sym typeface="Arial"/>
              </a:rPr>
              <a:t>những</a:t>
            </a:r>
            <a:r>
              <a:rPr lang="en-US" sz="3000">
                <a:latin typeface="Arial"/>
                <a:ea typeface="Arial"/>
                <a:cs typeface="Arial"/>
                <a:sym typeface="Arial"/>
              </a:rPr>
              <a:t> </a:t>
            </a:r>
            <a:r>
              <a:rPr lang="en-US" sz="3000" err="1">
                <a:latin typeface="Arial"/>
                <a:ea typeface="Arial"/>
                <a:cs typeface="Arial"/>
                <a:sym typeface="Arial"/>
              </a:rPr>
              <a:t>gì</a:t>
            </a:r>
            <a:r>
              <a:rPr lang="en-US" sz="3000">
                <a:latin typeface="Arial"/>
                <a:ea typeface="Arial"/>
                <a:cs typeface="Arial"/>
                <a:sym typeface="Arial"/>
              </a:rPr>
              <a:t> </a:t>
            </a:r>
            <a:r>
              <a:rPr lang="en-US" sz="3000" err="1">
                <a:latin typeface="Arial"/>
                <a:ea typeface="Arial"/>
                <a:cs typeface="Arial"/>
                <a:sym typeface="Arial"/>
              </a:rPr>
              <a:t>khách</a:t>
            </a:r>
            <a:r>
              <a:rPr lang="en-US" sz="3000">
                <a:latin typeface="Arial"/>
                <a:ea typeface="Arial"/>
                <a:cs typeface="Arial"/>
                <a:sym typeface="Arial"/>
              </a:rPr>
              <a:t> </a:t>
            </a:r>
            <a:r>
              <a:rPr lang="en-US" sz="3000" err="1">
                <a:latin typeface="Arial"/>
                <a:ea typeface="Arial"/>
                <a:cs typeface="Arial"/>
                <a:sym typeface="Arial"/>
              </a:rPr>
              <a:t>hàng</a:t>
            </a:r>
            <a:r>
              <a:rPr lang="en-US" sz="3000">
                <a:latin typeface="Arial"/>
                <a:ea typeface="Arial"/>
                <a:cs typeface="Arial"/>
                <a:sym typeface="Arial"/>
              </a:rPr>
              <a:t> </a:t>
            </a:r>
            <a:r>
              <a:rPr lang="en-US" sz="3000" err="1">
                <a:latin typeface="Arial"/>
                <a:ea typeface="Arial"/>
                <a:cs typeface="Arial"/>
                <a:sym typeface="Arial"/>
              </a:rPr>
              <a:t>đang</a:t>
            </a:r>
            <a:r>
              <a:rPr lang="en-US" sz="3000">
                <a:latin typeface="Arial"/>
                <a:ea typeface="Arial"/>
                <a:cs typeface="Arial"/>
                <a:sym typeface="Arial"/>
              </a:rPr>
              <a:t> </a:t>
            </a:r>
            <a:r>
              <a:rPr lang="en-US" sz="3000" err="1">
                <a:latin typeface="Arial"/>
                <a:ea typeface="Arial"/>
                <a:cs typeface="Arial"/>
                <a:sym typeface="Arial"/>
              </a:rPr>
              <a:t>làm</a:t>
            </a:r>
            <a:r>
              <a:rPr lang="en-US" sz="3000">
                <a:latin typeface="Arial"/>
                <a:ea typeface="Arial"/>
                <a:cs typeface="Arial"/>
                <a:sym typeface="Arial"/>
              </a:rPr>
              <a:t> </a:t>
            </a:r>
            <a:r>
              <a:rPr lang="en-US" sz="3000" err="1">
                <a:latin typeface="Arial"/>
                <a:ea typeface="Arial"/>
                <a:cs typeface="Arial"/>
                <a:sym typeface="Arial"/>
              </a:rPr>
              <a:t>tại</a:t>
            </a:r>
            <a:r>
              <a:rPr lang="en-US" sz="3000">
                <a:latin typeface="Arial"/>
                <a:ea typeface="Arial"/>
                <a:cs typeface="Arial"/>
                <a:sym typeface="Arial"/>
              </a:rPr>
              <a:t> </a:t>
            </a:r>
            <a:r>
              <a:rPr lang="en-US" sz="3000" err="1">
                <a:latin typeface="Arial"/>
                <a:ea typeface="Arial"/>
                <a:cs typeface="Arial"/>
                <a:sym typeface="Arial"/>
              </a:rPr>
              <a:t>thời</a:t>
            </a:r>
            <a:r>
              <a:rPr lang="en-US" sz="3000">
                <a:latin typeface="Arial"/>
                <a:ea typeface="Arial"/>
                <a:cs typeface="Arial"/>
                <a:sym typeface="Arial"/>
              </a:rPr>
              <a:t> </a:t>
            </a:r>
            <a:r>
              <a:rPr lang="en-US" sz="3000" err="1">
                <a:latin typeface="Arial"/>
                <a:ea typeface="Arial"/>
                <a:cs typeface="Arial"/>
                <a:sym typeface="Arial"/>
              </a:rPr>
              <a:t>điểm</a:t>
            </a:r>
            <a:r>
              <a:rPr lang="en-US" sz="3000">
                <a:latin typeface="Arial"/>
                <a:ea typeface="Arial"/>
                <a:cs typeface="Arial"/>
                <a:sym typeface="Arial"/>
              </a:rPr>
              <a:t> </a:t>
            </a:r>
            <a:r>
              <a:rPr lang="en-US" sz="3000" err="1">
                <a:latin typeface="Arial"/>
                <a:ea typeface="Arial"/>
                <a:cs typeface="Arial"/>
                <a:sym typeface="Arial"/>
              </a:rPr>
              <a:t>sản</a:t>
            </a:r>
            <a:r>
              <a:rPr lang="en-US" sz="3000">
                <a:latin typeface="Arial"/>
                <a:ea typeface="Arial"/>
                <a:cs typeface="Arial"/>
                <a:sym typeface="Arial"/>
              </a:rPr>
              <a:t> </a:t>
            </a:r>
            <a:r>
              <a:rPr lang="en-US" sz="3000" err="1">
                <a:latin typeface="Arial"/>
                <a:ea typeface="Arial"/>
                <a:cs typeface="Arial"/>
                <a:sym typeface="Arial"/>
              </a:rPr>
              <a:t>phẩm</a:t>
            </a:r>
            <a:r>
              <a:rPr lang="en-US" sz="3000">
                <a:latin typeface="Arial"/>
                <a:ea typeface="Arial"/>
                <a:cs typeface="Arial"/>
                <a:sym typeface="Arial"/>
              </a:rPr>
              <a:t> </a:t>
            </a:r>
            <a:r>
              <a:rPr lang="en-US" sz="3000" err="1">
                <a:latin typeface="Arial"/>
                <a:ea typeface="Arial"/>
                <a:cs typeface="Arial"/>
                <a:sym typeface="Arial"/>
              </a:rPr>
              <a:t>được</a:t>
            </a:r>
            <a:r>
              <a:rPr lang="en-US" sz="3000">
                <a:latin typeface="Arial"/>
                <a:ea typeface="Arial"/>
                <a:cs typeface="Arial"/>
                <a:sym typeface="Arial"/>
              </a:rPr>
              <a:t> </a:t>
            </a:r>
            <a:r>
              <a:rPr lang="en-US" sz="3000" err="1">
                <a:latin typeface="Arial"/>
                <a:ea typeface="Arial"/>
                <a:cs typeface="Arial"/>
                <a:sym typeface="Arial"/>
              </a:rPr>
              <a:t>tiêu</a:t>
            </a:r>
            <a:r>
              <a:rPr lang="en-US" sz="3000">
                <a:latin typeface="Arial"/>
                <a:ea typeface="Arial"/>
                <a:cs typeface="Arial"/>
                <a:sym typeface="Arial"/>
              </a:rPr>
              <a:t> </a:t>
            </a:r>
            <a:r>
              <a:rPr lang="en-US" sz="3000" err="1">
                <a:latin typeface="Arial"/>
                <a:ea typeface="Arial"/>
                <a:cs typeface="Arial"/>
                <a:sym typeface="Arial"/>
              </a:rPr>
              <a:t>thụ</a:t>
            </a:r>
            <a:r>
              <a:rPr lang="en-US" sz="3000">
                <a:latin typeface="Arial"/>
                <a:ea typeface="Arial"/>
                <a:cs typeface="Arial"/>
                <a:sym typeface="Arial"/>
              </a:rPr>
              <a:t> </a:t>
            </a:r>
            <a:r>
              <a:rPr lang="en-US" sz="3000" err="1">
                <a:latin typeface="Arial"/>
                <a:ea typeface="Arial"/>
                <a:cs typeface="Arial"/>
                <a:sym typeface="Arial"/>
              </a:rPr>
              <a:t>có</a:t>
            </a:r>
            <a:r>
              <a:rPr lang="en-US" sz="3000">
                <a:latin typeface="Arial"/>
                <a:ea typeface="Arial"/>
                <a:cs typeface="Arial"/>
                <a:sym typeface="Arial"/>
              </a:rPr>
              <a:t> </a:t>
            </a:r>
            <a:r>
              <a:rPr lang="en-US" sz="3000" err="1">
                <a:latin typeface="Arial"/>
                <a:ea typeface="Arial"/>
                <a:cs typeface="Arial"/>
                <a:sym typeface="Arial"/>
              </a:rPr>
              <a:t>thể</a:t>
            </a:r>
            <a:r>
              <a:rPr lang="en-US" sz="3000">
                <a:latin typeface="Arial"/>
                <a:ea typeface="Arial"/>
                <a:cs typeface="Arial"/>
                <a:sym typeface="Arial"/>
              </a:rPr>
              <a:t> </a:t>
            </a:r>
            <a:r>
              <a:rPr lang="en-US" sz="3000" err="1">
                <a:latin typeface="Arial"/>
                <a:ea typeface="Arial"/>
                <a:cs typeface="Arial"/>
                <a:sym typeface="Arial"/>
              </a:rPr>
              <a:t>cải</a:t>
            </a:r>
            <a:r>
              <a:rPr lang="en-US" sz="3000">
                <a:latin typeface="Arial"/>
                <a:ea typeface="Arial"/>
                <a:cs typeface="Arial"/>
                <a:sym typeface="Arial"/>
              </a:rPr>
              <a:t> </a:t>
            </a:r>
            <a:r>
              <a:rPr lang="en-US" sz="3000" err="1">
                <a:latin typeface="Arial"/>
                <a:ea typeface="Arial"/>
                <a:cs typeface="Arial"/>
                <a:sym typeface="Arial"/>
              </a:rPr>
              <a:t>thiện</a:t>
            </a:r>
            <a:r>
              <a:rPr lang="en-US" sz="3000">
                <a:latin typeface="Arial"/>
                <a:ea typeface="Arial"/>
                <a:cs typeface="Arial"/>
                <a:sym typeface="Arial"/>
              </a:rPr>
              <a:t> </a:t>
            </a:r>
            <a:r>
              <a:rPr lang="en-US" sz="3000" err="1">
                <a:latin typeface="Arial"/>
                <a:ea typeface="Arial"/>
                <a:cs typeface="Arial"/>
                <a:sym typeface="Arial"/>
              </a:rPr>
              <a:t>dự</a:t>
            </a:r>
            <a:r>
              <a:rPr lang="en-US" sz="3000">
                <a:latin typeface="Arial"/>
                <a:ea typeface="Arial"/>
                <a:cs typeface="Arial"/>
                <a:sym typeface="Arial"/>
              </a:rPr>
              <a:t> </a:t>
            </a:r>
            <a:r>
              <a:rPr lang="en-US" sz="3000" err="1">
                <a:latin typeface="Arial"/>
                <a:ea typeface="Arial"/>
                <a:cs typeface="Arial"/>
                <a:sym typeface="Arial"/>
              </a:rPr>
              <a:t>đoán</a:t>
            </a:r>
            <a:r>
              <a:rPr lang="en-US" sz="3000">
                <a:latin typeface="Arial"/>
                <a:ea typeface="Arial"/>
                <a:cs typeface="Arial"/>
                <a:sym typeface="Arial"/>
              </a:rPr>
              <a:t> </a:t>
            </a:r>
            <a:r>
              <a:rPr lang="en-US" sz="3000" err="1">
                <a:latin typeface="Arial"/>
                <a:ea typeface="Arial"/>
                <a:cs typeface="Arial"/>
                <a:sym typeface="Arial"/>
              </a:rPr>
              <a:t>về</a:t>
            </a:r>
            <a:r>
              <a:rPr lang="en-US" sz="3000">
                <a:latin typeface="Arial"/>
                <a:ea typeface="Arial"/>
                <a:cs typeface="Arial"/>
                <a:sym typeface="Arial"/>
              </a:rPr>
              <a:t> </a:t>
            </a:r>
            <a:r>
              <a:rPr lang="en-US" sz="3000" err="1">
                <a:latin typeface="Arial"/>
                <a:ea typeface="Arial"/>
                <a:cs typeface="Arial"/>
                <a:sym typeface="Arial"/>
              </a:rPr>
              <a:t>sự</a:t>
            </a:r>
            <a:r>
              <a:rPr lang="en-US" sz="3000">
                <a:latin typeface="Arial"/>
                <a:ea typeface="Arial"/>
                <a:cs typeface="Arial"/>
                <a:sym typeface="Arial"/>
              </a:rPr>
              <a:t> </a:t>
            </a:r>
            <a:r>
              <a:rPr lang="en-US" sz="3000" err="1">
                <a:latin typeface="Arial"/>
                <a:ea typeface="Arial"/>
                <a:cs typeface="Arial"/>
                <a:sym typeface="Arial"/>
              </a:rPr>
              <a:t>lựa</a:t>
            </a:r>
            <a:r>
              <a:rPr lang="en-US" sz="3000">
                <a:latin typeface="Arial"/>
                <a:ea typeface="Arial"/>
                <a:cs typeface="Arial"/>
                <a:sym typeface="Arial"/>
              </a:rPr>
              <a:t> </a:t>
            </a:r>
            <a:r>
              <a:rPr lang="en-US" sz="3000" err="1">
                <a:latin typeface="Arial"/>
                <a:ea typeface="Arial"/>
                <a:cs typeface="Arial"/>
                <a:sym typeface="Arial"/>
              </a:rPr>
              <a:t>chọn</a:t>
            </a:r>
            <a:r>
              <a:rPr lang="en-US" sz="3000">
                <a:latin typeface="Arial"/>
                <a:ea typeface="Arial"/>
                <a:cs typeface="Arial"/>
                <a:sym typeface="Arial"/>
              </a:rPr>
              <a:t> </a:t>
            </a:r>
            <a:r>
              <a:rPr lang="en-US" sz="3000" err="1">
                <a:latin typeface="Arial"/>
                <a:ea typeface="Arial"/>
                <a:cs typeface="Arial"/>
                <a:sym typeface="Arial"/>
              </a:rPr>
              <a:t>sản</a:t>
            </a:r>
            <a:r>
              <a:rPr lang="en-US" sz="3000">
                <a:latin typeface="Arial"/>
                <a:ea typeface="Arial"/>
                <a:cs typeface="Arial"/>
                <a:sym typeface="Arial"/>
              </a:rPr>
              <a:t> </a:t>
            </a:r>
            <a:r>
              <a:rPr lang="en-US" sz="3000" err="1">
                <a:latin typeface="Arial"/>
                <a:ea typeface="Arial"/>
                <a:cs typeface="Arial"/>
                <a:sym typeface="Arial"/>
              </a:rPr>
              <a:t>phẩm</a:t>
            </a:r>
            <a:r>
              <a:rPr lang="en-US" sz="3000">
                <a:latin typeface="Arial"/>
                <a:ea typeface="Arial"/>
                <a:cs typeface="Arial"/>
                <a:sym typeface="Arial"/>
              </a:rPr>
              <a:t> </a:t>
            </a:r>
            <a:r>
              <a:rPr lang="en-US" sz="3000" err="1">
                <a:latin typeface="Arial"/>
                <a:ea typeface="Arial"/>
                <a:cs typeface="Arial"/>
                <a:sym typeface="Arial"/>
              </a:rPr>
              <a:t>và</a:t>
            </a:r>
            <a:r>
              <a:rPr lang="en-US" sz="3000">
                <a:latin typeface="Arial"/>
                <a:ea typeface="Arial"/>
                <a:cs typeface="Arial"/>
                <a:sym typeface="Arial"/>
              </a:rPr>
              <a:t> </a:t>
            </a:r>
            <a:r>
              <a:rPr lang="en-US" sz="3000" err="1">
                <a:latin typeface="Arial"/>
                <a:ea typeface="Arial"/>
                <a:cs typeface="Arial"/>
                <a:sym typeface="Arial"/>
              </a:rPr>
              <a:t>thương</a:t>
            </a:r>
            <a:r>
              <a:rPr lang="en-US" sz="3000">
                <a:latin typeface="Arial"/>
                <a:ea typeface="Arial"/>
                <a:cs typeface="Arial"/>
                <a:sym typeface="Arial"/>
              </a:rPr>
              <a:t> </a:t>
            </a:r>
            <a:r>
              <a:rPr lang="en-US" sz="3000" err="1">
                <a:latin typeface="Arial"/>
                <a:ea typeface="Arial"/>
                <a:cs typeface="Arial"/>
                <a:sym typeface="Arial"/>
              </a:rPr>
              <a:t>hiệu</a:t>
            </a:r>
            <a:r>
              <a:rPr lang="en-US" sz="3000">
                <a:latin typeface="Arial"/>
                <a:ea typeface="Arial"/>
                <a:cs typeface="Arial"/>
                <a:sym typeface="Arial"/>
              </a:rPr>
              <a:t> (Hutchinson &amp; Alba, 1991). </a:t>
            </a:r>
            <a:endParaRPr sz="3000">
              <a:latin typeface="Arial"/>
              <a:ea typeface="Arial"/>
              <a:cs typeface="Arial"/>
              <a:sym typeface="Arial"/>
            </a:endParaRPr>
          </a:p>
          <a:p>
            <a:pPr marL="457200" lvl="0" indent="-279400" algn="just" rtl="0">
              <a:lnSpc>
                <a:spcPct val="150000"/>
              </a:lnSpc>
              <a:spcBef>
                <a:spcPts val="1000"/>
              </a:spcBef>
              <a:spcAft>
                <a:spcPts val="0"/>
              </a:spcAft>
              <a:buClr>
                <a:schemeClr val="dk1"/>
              </a:buClr>
              <a:buSzPts val="2800"/>
              <a:buFont typeface="Arial"/>
              <a:buNone/>
            </a:pPr>
            <a:endParaRPr>
              <a:latin typeface="Arial"/>
              <a:ea typeface="Arial"/>
              <a:cs typeface="Arial"/>
              <a:sym typeface="Arial"/>
            </a:endParaRPr>
          </a:p>
        </p:txBody>
      </p:sp>
    </p:spTree>
    <p:extLst>
      <p:ext uri="{BB962C8B-B14F-4D97-AF65-F5344CB8AC3E}">
        <p14:creationId xmlns:p14="http://schemas.microsoft.com/office/powerpoint/2010/main" val="18407350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867"/>
        <p:cNvGrpSpPr/>
        <p:nvPr/>
      </p:nvGrpSpPr>
      <p:grpSpPr>
        <a:xfrm>
          <a:off x="0" y="0"/>
          <a:ext cx="0" cy="0"/>
          <a:chOff x="0" y="0"/>
          <a:chExt cx="0" cy="0"/>
        </a:xfrm>
      </p:grpSpPr>
      <p:sp>
        <p:nvSpPr>
          <p:cNvPr id="1868" name="Google Shape;1868;p277"/>
          <p:cNvSpPr txBox="1">
            <a:spLocks noGrp="1"/>
          </p:cNvSpPr>
          <p:nvPr>
            <p:ph type="title"/>
          </p:nvPr>
        </p:nvSpPr>
        <p:spPr>
          <a:xfrm>
            <a:off x="320040" y="262020"/>
            <a:ext cx="10515600" cy="8380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vi-VN" sz="2800" b="1"/>
              <a:t>2.3.1.3</a:t>
            </a:r>
            <a:r>
              <a:rPr lang="en-US" sz="2800" b="1">
                <a:latin typeface="Arial"/>
                <a:ea typeface="Arial"/>
                <a:cs typeface="Arial"/>
                <a:sym typeface="Arial"/>
              </a:rPr>
              <a:t>. </a:t>
            </a:r>
            <a:r>
              <a:rPr lang="en-US" sz="2800" b="1" err="1">
                <a:latin typeface="Arial"/>
                <a:ea typeface="Arial"/>
                <a:cs typeface="Arial"/>
                <a:sym typeface="Arial"/>
              </a:rPr>
              <a:t>Tình</a:t>
            </a:r>
            <a:r>
              <a:rPr lang="en-US" sz="2800" b="1">
                <a:latin typeface="Arial"/>
                <a:ea typeface="Arial"/>
                <a:cs typeface="Arial"/>
                <a:sym typeface="Arial"/>
              </a:rPr>
              <a:t> </a:t>
            </a:r>
            <a:r>
              <a:rPr lang="en-US" sz="2800" b="1" err="1">
                <a:latin typeface="Arial"/>
                <a:ea typeface="Arial"/>
                <a:cs typeface="Arial"/>
                <a:sym typeface="Arial"/>
              </a:rPr>
              <a:t>huống</a:t>
            </a:r>
            <a:r>
              <a:rPr lang="en-US" sz="2800" b="1">
                <a:latin typeface="Arial"/>
                <a:ea typeface="Arial"/>
                <a:cs typeface="Arial"/>
                <a:sym typeface="Arial"/>
              </a:rPr>
              <a:t> </a:t>
            </a:r>
            <a:r>
              <a:rPr lang="en-US" sz="2800" b="1" err="1">
                <a:latin typeface="Arial"/>
                <a:ea typeface="Arial"/>
                <a:cs typeface="Arial"/>
                <a:sym typeface="Arial"/>
              </a:rPr>
              <a:t>mua</a:t>
            </a:r>
            <a:r>
              <a:rPr lang="en-US" sz="2800" b="1">
                <a:latin typeface="Arial"/>
                <a:ea typeface="Arial"/>
                <a:cs typeface="Arial"/>
                <a:sym typeface="Arial"/>
              </a:rPr>
              <a:t> </a:t>
            </a:r>
            <a:r>
              <a:rPr lang="en-US" sz="2800" b="1" err="1">
                <a:latin typeface="Arial"/>
                <a:ea typeface="Arial"/>
                <a:cs typeface="Arial"/>
                <a:sym typeface="Arial"/>
              </a:rPr>
              <a:t>hàng</a:t>
            </a:r>
            <a:endParaRPr sz="2800"/>
          </a:p>
        </p:txBody>
      </p:sp>
      <p:sp>
        <p:nvSpPr>
          <p:cNvPr id="1869" name="Google Shape;1869;p277"/>
          <p:cNvSpPr txBox="1">
            <a:spLocks noGrp="1"/>
          </p:cNvSpPr>
          <p:nvPr>
            <p:ph type="body" idx="1"/>
          </p:nvPr>
        </p:nvSpPr>
        <p:spPr>
          <a:xfrm>
            <a:off x="160867" y="1507067"/>
            <a:ext cx="11192934" cy="4771496"/>
          </a:xfrm>
          <a:prstGeom prst="rect">
            <a:avLst/>
          </a:prstGeom>
          <a:noFill/>
          <a:ln>
            <a:noFill/>
          </a:ln>
        </p:spPr>
        <p:txBody>
          <a:bodyPr spcFirstLastPara="1" wrap="square" lIns="91425" tIns="45700" rIns="91425" bIns="45700" anchor="t" anchorCtr="0">
            <a:normAutofit fontScale="92500" lnSpcReduction="20000"/>
          </a:bodyPr>
          <a:lstStyle/>
          <a:p>
            <a:pPr marL="457200" lvl="0" indent="-457200" algn="just" rtl="0">
              <a:lnSpc>
                <a:spcPct val="150000"/>
              </a:lnSpc>
              <a:spcBef>
                <a:spcPts val="0"/>
              </a:spcBef>
              <a:spcAft>
                <a:spcPts val="0"/>
              </a:spcAft>
              <a:buClr>
                <a:schemeClr val="dk1"/>
              </a:buClr>
              <a:buSzPct val="100000"/>
              <a:buFont typeface="Arial"/>
              <a:buChar char="•"/>
            </a:pPr>
            <a:r>
              <a:rPr lang="en-US" err="1">
                <a:latin typeface="Arial"/>
                <a:ea typeface="Arial"/>
                <a:cs typeface="Arial"/>
                <a:sym typeface="Arial"/>
              </a:rPr>
              <a:t>Tình</a:t>
            </a:r>
            <a:r>
              <a:rPr lang="en-US">
                <a:latin typeface="Arial"/>
                <a:ea typeface="Arial"/>
                <a:cs typeface="Arial"/>
                <a:sym typeface="Arial"/>
              </a:rPr>
              <a:t> </a:t>
            </a:r>
            <a:r>
              <a:rPr lang="en-US" err="1">
                <a:latin typeface="Arial"/>
                <a:ea typeface="Arial"/>
                <a:cs typeface="Arial"/>
                <a:sym typeface="Arial"/>
              </a:rPr>
              <a:t>huống</a:t>
            </a:r>
            <a:r>
              <a:rPr lang="en-US">
                <a:latin typeface="Arial"/>
                <a:ea typeface="Arial"/>
                <a:cs typeface="Arial"/>
                <a:sym typeface="Arial"/>
              </a:rPr>
              <a:t> </a:t>
            </a:r>
            <a:r>
              <a:rPr lang="en-US" err="1">
                <a:latin typeface="Arial"/>
                <a:ea typeface="Arial"/>
                <a:cs typeface="Arial"/>
                <a:sym typeface="Arial"/>
              </a:rPr>
              <a:t>mua</a:t>
            </a:r>
            <a:r>
              <a:rPr lang="en-US">
                <a:latin typeface="Arial"/>
                <a:ea typeface="Arial"/>
                <a:cs typeface="Arial"/>
                <a:sym typeface="Arial"/>
              </a:rPr>
              <a:t> </a:t>
            </a:r>
            <a:r>
              <a:rPr lang="en-US" err="1">
                <a:latin typeface="Arial"/>
                <a:ea typeface="Arial"/>
                <a:cs typeface="Arial"/>
                <a:sym typeface="Arial"/>
              </a:rPr>
              <a:t>hàng</a:t>
            </a:r>
            <a:r>
              <a:rPr lang="en-US">
                <a:latin typeface="Arial"/>
                <a:ea typeface="Arial"/>
                <a:cs typeface="Arial"/>
                <a:sym typeface="Arial"/>
              </a:rPr>
              <a:t> </a:t>
            </a:r>
            <a:r>
              <a:rPr lang="en-US" err="1">
                <a:latin typeface="Arial"/>
                <a:ea typeface="Arial"/>
                <a:cs typeface="Arial"/>
                <a:sym typeface="Arial"/>
              </a:rPr>
              <a:t>được</a:t>
            </a:r>
            <a:r>
              <a:rPr lang="en-US">
                <a:latin typeface="Arial"/>
                <a:ea typeface="Arial"/>
                <a:cs typeface="Arial"/>
                <a:sym typeface="Arial"/>
              </a:rPr>
              <a:t> </a:t>
            </a:r>
            <a:r>
              <a:rPr lang="en-US" err="1">
                <a:latin typeface="Arial"/>
                <a:ea typeface="Arial"/>
                <a:cs typeface="Arial"/>
                <a:sym typeface="Arial"/>
              </a:rPr>
              <a:t>thực</a:t>
            </a:r>
            <a:r>
              <a:rPr lang="en-US">
                <a:latin typeface="Arial"/>
                <a:ea typeface="Arial"/>
                <a:cs typeface="Arial"/>
                <a:sym typeface="Arial"/>
              </a:rPr>
              <a:t> </a:t>
            </a:r>
            <a:r>
              <a:rPr lang="en-US" err="1">
                <a:latin typeface="Arial"/>
                <a:ea typeface="Arial"/>
                <a:cs typeface="Arial"/>
                <a:sym typeface="Arial"/>
              </a:rPr>
              <a:t>hiện</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thể</a:t>
            </a:r>
            <a:r>
              <a:rPr lang="en-US">
                <a:latin typeface="Arial"/>
                <a:ea typeface="Arial"/>
                <a:cs typeface="Arial"/>
                <a:sym typeface="Arial"/>
              </a:rPr>
              <a:t> </a:t>
            </a:r>
            <a:r>
              <a:rPr lang="en-US" err="1">
                <a:latin typeface="Arial"/>
                <a:ea typeface="Arial"/>
                <a:cs typeface="Arial"/>
                <a:sym typeface="Arial"/>
              </a:rPr>
              <a:t>ảnh</a:t>
            </a:r>
            <a:r>
              <a:rPr lang="en-US">
                <a:latin typeface="Arial"/>
                <a:ea typeface="Arial"/>
                <a:cs typeface="Arial"/>
                <a:sym typeface="Arial"/>
              </a:rPr>
              <a:t> </a:t>
            </a:r>
            <a:r>
              <a:rPr lang="en-US" err="1">
                <a:latin typeface="Arial"/>
                <a:ea typeface="Arial"/>
                <a:cs typeface="Arial"/>
                <a:sym typeface="Arial"/>
              </a:rPr>
              <a:t>hưởng</a:t>
            </a:r>
            <a:r>
              <a:rPr lang="en-US">
                <a:latin typeface="Arial"/>
                <a:ea typeface="Arial"/>
                <a:cs typeface="Arial"/>
                <a:sym typeface="Arial"/>
              </a:rPr>
              <a:t> </a:t>
            </a:r>
            <a:r>
              <a:rPr lang="en-US" err="1">
                <a:latin typeface="Arial"/>
                <a:ea typeface="Arial"/>
                <a:cs typeface="Arial"/>
                <a:sym typeface="Arial"/>
              </a:rPr>
              <a:t>đến</a:t>
            </a:r>
            <a:r>
              <a:rPr lang="en-US">
                <a:latin typeface="Arial"/>
                <a:ea typeface="Arial"/>
                <a:cs typeface="Arial"/>
                <a:sym typeface="Arial"/>
              </a:rPr>
              <a:t> </a:t>
            </a:r>
            <a:r>
              <a:rPr lang="en-US" err="1">
                <a:latin typeface="Arial"/>
                <a:ea typeface="Arial"/>
                <a:cs typeface="Arial"/>
                <a:sym typeface="Arial"/>
              </a:rPr>
              <a:t>hành</a:t>
            </a:r>
            <a:r>
              <a:rPr lang="en-US">
                <a:latin typeface="Arial"/>
                <a:ea typeface="Arial"/>
                <a:cs typeface="Arial"/>
                <a:sym typeface="Arial"/>
              </a:rPr>
              <a:t> vi </a:t>
            </a:r>
            <a:r>
              <a:rPr lang="en-US" err="1">
                <a:latin typeface="Arial"/>
                <a:ea typeface="Arial"/>
                <a:cs typeface="Arial"/>
                <a:sym typeface="Arial"/>
              </a:rPr>
              <a:t>của</a:t>
            </a:r>
            <a:r>
              <a:rPr lang="en-US">
                <a:latin typeface="Arial"/>
                <a:ea typeface="Arial"/>
                <a:cs typeface="Arial"/>
                <a:sym typeface="Arial"/>
              </a:rPr>
              <a:t> KH.</a:t>
            </a:r>
            <a:endParaRPr/>
          </a:p>
          <a:p>
            <a:pPr marL="457200" lvl="0" indent="-457200" algn="just" rtl="0">
              <a:lnSpc>
                <a:spcPct val="150000"/>
              </a:lnSpc>
              <a:spcBef>
                <a:spcPts val="1000"/>
              </a:spcBef>
              <a:spcAft>
                <a:spcPts val="0"/>
              </a:spcAft>
              <a:buClr>
                <a:schemeClr val="dk1"/>
              </a:buClr>
              <a:buSzPct val="100000"/>
              <a:buFont typeface="Arial"/>
              <a:buChar char="•"/>
            </a:pPr>
            <a:r>
              <a:rPr lang="en-US" err="1">
                <a:latin typeface="Arial"/>
                <a:ea typeface="Arial"/>
                <a:cs typeface="Arial"/>
                <a:sym typeface="Arial"/>
              </a:rPr>
              <a:t>Tình</a:t>
            </a:r>
            <a:r>
              <a:rPr lang="en-US">
                <a:latin typeface="Arial"/>
                <a:ea typeface="Arial"/>
                <a:cs typeface="Arial"/>
                <a:sym typeface="Arial"/>
              </a:rPr>
              <a:t> </a:t>
            </a:r>
            <a:r>
              <a:rPr lang="en-US" err="1">
                <a:latin typeface="Arial"/>
                <a:ea typeface="Arial"/>
                <a:cs typeface="Arial"/>
                <a:sym typeface="Arial"/>
              </a:rPr>
              <a:t>huống</a:t>
            </a:r>
            <a:r>
              <a:rPr lang="en-US">
                <a:latin typeface="Arial"/>
                <a:ea typeface="Arial"/>
                <a:cs typeface="Arial"/>
                <a:sym typeface="Arial"/>
              </a:rPr>
              <a:t> </a:t>
            </a:r>
            <a:r>
              <a:rPr lang="en-US" err="1">
                <a:latin typeface="Arial"/>
                <a:ea typeface="Arial"/>
                <a:cs typeface="Arial"/>
                <a:sym typeface="Arial"/>
              </a:rPr>
              <a:t>mua</a:t>
            </a:r>
            <a:r>
              <a:rPr lang="en-US">
                <a:latin typeface="Arial"/>
                <a:ea typeface="Arial"/>
                <a:cs typeface="Arial"/>
                <a:sym typeface="Arial"/>
              </a:rPr>
              <a:t>  </a:t>
            </a:r>
            <a:r>
              <a:rPr lang="en-US" err="1">
                <a:latin typeface="Arial"/>
                <a:ea typeface="Arial"/>
                <a:cs typeface="Arial"/>
                <a:sym typeface="Arial"/>
              </a:rPr>
              <a:t>xảy</a:t>
            </a:r>
            <a:r>
              <a:rPr lang="en-US">
                <a:latin typeface="Arial"/>
                <a:ea typeface="Arial"/>
                <a:cs typeface="Arial"/>
                <a:sym typeface="Arial"/>
              </a:rPr>
              <a:t> </a:t>
            </a:r>
            <a:r>
              <a:rPr lang="en-US" err="1">
                <a:latin typeface="Arial"/>
                <a:ea typeface="Arial"/>
                <a:cs typeface="Arial"/>
                <a:sym typeface="Arial"/>
              </a:rPr>
              <a:t>ra</a:t>
            </a:r>
            <a:r>
              <a:rPr lang="en-US">
                <a:latin typeface="Arial"/>
                <a:ea typeface="Arial"/>
                <a:cs typeface="Arial"/>
                <a:sym typeface="Arial"/>
              </a:rPr>
              <a:t> </a:t>
            </a:r>
            <a:r>
              <a:rPr lang="en-US" err="1">
                <a:latin typeface="Arial"/>
                <a:ea typeface="Arial"/>
                <a:cs typeface="Arial"/>
                <a:sym typeface="Arial"/>
              </a:rPr>
              <a:t>trong</a:t>
            </a:r>
            <a:r>
              <a:rPr lang="en-US">
                <a:latin typeface="Arial"/>
                <a:ea typeface="Arial"/>
                <a:cs typeface="Arial"/>
                <a:sym typeface="Arial"/>
              </a:rPr>
              <a:t> </a:t>
            </a:r>
            <a:r>
              <a:rPr lang="en-US" err="1">
                <a:latin typeface="Arial"/>
                <a:ea typeface="Arial"/>
                <a:cs typeface="Arial"/>
                <a:sym typeface="Arial"/>
              </a:rPr>
              <a:t>bối</a:t>
            </a:r>
            <a:r>
              <a:rPr lang="en-US">
                <a:latin typeface="Arial"/>
                <a:ea typeface="Arial"/>
                <a:cs typeface="Arial"/>
                <a:sym typeface="Arial"/>
              </a:rPr>
              <a:t> </a:t>
            </a:r>
            <a:r>
              <a:rPr lang="en-US" err="1">
                <a:latin typeface="Arial"/>
                <a:ea typeface="Arial"/>
                <a:cs typeface="Arial"/>
                <a:sym typeface="Arial"/>
              </a:rPr>
              <a:t>cảnh</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yếu</a:t>
            </a:r>
            <a:r>
              <a:rPr lang="en-US">
                <a:latin typeface="Arial"/>
                <a:ea typeface="Arial"/>
                <a:cs typeface="Arial"/>
                <a:sym typeface="Arial"/>
              </a:rPr>
              <a:t> </a:t>
            </a:r>
            <a:r>
              <a:rPr lang="en-US" err="1">
                <a:latin typeface="Arial"/>
                <a:ea typeface="Arial"/>
                <a:cs typeface="Arial"/>
                <a:sym typeface="Arial"/>
              </a:rPr>
              <a:t>tố</a:t>
            </a:r>
            <a:r>
              <a:rPr lang="en-US">
                <a:latin typeface="Arial"/>
                <a:ea typeface="Arial"/>
                <a:cs typeface="Arial"/>
                <a:sym typeface="Arial"/>
              </a:rPr>
              <a:t> </a:t>
            </a:r>
            <a:r>
              <a:rPr lang="en-US" err="1">
                <a:latin typeface="Arial"/>
                <a:ea typeface="Arial"/>
                <a:cs typeface="Arial"/>
                <a:sym typeface="Arial"/>
              </a:rPr>
              <a:t>môi</a:t>
            </a:r>
            <a:r>
              <a:rPr lang="en-US">
                <a:latin typeface="Arial"/>
                <a:ea typeface="Arial"/>
                <a:cs typeface="Arial"/>
                <a:sym typeface="Arial"/>
              </a:rPr>
              <a:t> </a:t>
            </a:r>
            <a:r>
              <a:rPr lang="en-US" err="1">
                <a:latin typeface="Arial"/>
                <a:ea typeface="Arial"/>
                <a:cs typeface="Arial"/>
                <a:sym typeface="Arial"/>
              </a:rPr>
              <a:t>trường</a:t>
            </a:r>
            <a:r>
              <a:rPr lang="en-US">
                <a:latin typeface="Arial"/>
                <a:ea typeface="Arial"/>
                <a:cs typeface="Arial"/>
                <a:sym typeface="Arial"/>
              </a:rPr>
              <a:t> </a:t>
            </a:r>
            <a:r>
              <a:rPr lang="en-US" err="1">
                <a:latin typeface="Arial"/>
                <a:ea typeface="Arial"/>
                <a:cs typeface="Arial"/>
                <a:sym typeface="Arial"/>
              </a:rPr>
              <a:t>nhất</a:t>
            </a:r>
            <a:r>
              <a:rPr lang="en-US">
                <a:latin typeface="Arial"/>
                <a:ea typeface="Arial"/>
                <a:cs typeface="Arial"/>
                <a:sym typeface="Arial"/>
              </a:rPr>
              <a:t> </a:t>
            </a:r>
            <a:r>
              <a:rPr lang="en-US" err="1">
                <a:latin typeface="Arial"/>
                <a:ea typeface="Arial"/>
                <a:cs typeface="Arial"/>
                <a:sym typeface="Arial"/>
              </a:rPr>
              <a:t>định</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KH </a:t>
            </a:r>
            <a:r>
              <a:rPr lang="en-US" err="1">
                <a:latin typeface="Arial"/>
                <a:ea typeface="Arial"/>
                <a:cs typeface="Arial"/>
                <a:sym typeface="Arial"/>
              </a:rPr>
              <a:t>cũng</a:t>
            </a:r>
            <a:r>
              <a:rPr lang="en-US">
                <a:latin typeface="Arial"/>
                <a:ea typeface="Arial"/>
                <a:cs typeface="Arial"/>
                <a:sym typeface="Arial"/>
              </a:rPr>
              <a:t> </a:t>
            </a:r>
            <a:r>
              <a:rPr lang="en-US" err="1">
                <a:latin typeface="Arial"/>
                <a:ea typeface="Arial"/>
                <a:cs typeface="Arial"/>
                <a:sym typeface="Arial"/>
              </a:rPr>
              <a:t>bị</a:t>
            </a:r>
            <a:r>
              <a:rPr lang="en-US">
                <a:latin typeface="Arial"/>
                <a:ea typeface="Arial"/>
                <a:cs typeface="Arial"/>
                <a:sym typeface="Arial"/>
              </a:rPr>
              <a:t> </a:t>
            </a:r>
            <a:r>
              <a:rPr lang="en-US" err="1">
                <a:latin typeface="Arial"/>
                <a:ea typeface="Arial"/>
                <a:cs typeface="Arial"/>
                <a:sym typeface="Arial"/>
              </a:rPr>
              <a:t>ảnh</a:t>
            </a:r>
            <a:r>
              <a:rPr lang="en-US">
                <a:latin typeface="Arial"/>
                <a:ea typeface="Arial"/>
                <a:cs typeface="Arial"/>
                <a:sym typeface="Arial"/>
              </a:rPr>
              <a:t> </a:t>
            </a:r>
            <a:r>
              <a:rPr lang="en-US" err="1">
                <a:latin typeface="Arial"/>
                <a:ea typeface="Arial"/>
                <a:cs typeface="Arial"/>
                <a:sym typeface="Arial"/>
              </a:rPr>
              <a:t>hưởng</a:t>
            </a:r>
            <a:r>
              <a:rPr lang="en-US">
                <a:latin typeface="Arial"/>
                <a:ea typeface="Arial"/>
                <a:cs typeface="Arial"/>
                <a:sym typeface="Arial"/>
              </a:rPr>
              <a:t> </a:t>
            </a:r>
            <a:r>
              <a:rPr lang="en-US" err="1">
                <a:latin typeface="Arial"/>
                <a:ea typeface="Arial"/>
                <a:cs typeface="Arial"/>
                <a:sym typeface="Arial"/>
              </a:rPr>
              <a:t>bởi</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yếu</a:t>
            </a:r>
            <a:r>
              <a:rPr lang="en-US">
                <a:latin typeface="Arial"/>
                <a:ea typeface="Arial"/>
                <a:cs typeface="Arial"/>
                <a:sym typeface="Arial"/>
              </a:rPr>
              <a:t> </a:t>
            </a:r>
            <a:r>
              <a:rPr lang="en-US" err="1">
                <a:latin typeface="Arial"/>
                <a:ea typeface="Arial"/>
                <a:cs typeface="Arial"/>
                <a:sym typeface="Arial"/>
              </a:rPr>
              <a:t>tố</a:t>
            </a:r>
            <a:r>
              <a:rPr lang="en-US">
                <a:latin typeface="Arial"/>
                <a:ea typeface="Arial"/>
                <a:cs typeface="Arial"/>
                <a:sym typeface="Arial"/>
              </a:rPr>
              <a:t> </a:t>
            </a:r>
            <a:r>
              <a:rPr lang="en-US" err="1">
                <a:latin typeface="Arial"/>
                <a:ea typeface="Arial"/>
                <a:cs typeface="Arial"/>
                <a:sym typeface="Arial"/>
              </a:rPr>
              <a:t>đó</a:t>
            </a:r>
            <a:r>
              <a:rPr lang="en-US">
                <a:latin typeface="Arial"/>
                <a:ea typeface="Arial"/>
                <a:cs typeface="Arial"/>
                <a:sym typeface="Arial"/>
              </a:rPr>
              <a:t>.</a:t>
            </a:r>
            <a:endParaRPr/>
          </a:p>
          <a:p>
            <a:pPr marL="457200" lvl="0" indent="-457200" algn="just" rtl="0">
              <a:lnSpc>
                <a:spcPct val="150000"/>
              </a:lnSpc>
              <a:spcBef>
                <a:spcPts val="1000"/>
              </a:spcBef>
              <a:spcAft>
                <a:spcPts val="0"/>
              </a:spcAft>
              <a:buClr>
                <a:schemeClr val="dk1"/>
              </a:buClr>
              <a:buSzPct val="100000"/>
              <a:buFont typeface="Arial"/>
              <a:buChar char="•"/>
            </a:pPr>
            <a:r>
              <a:rPr lang="en-US">
                <a:latin typeface="Arial"/>
                <a:ea typeface="Arial"/>
                <a:cs typeface="Arial"/>
                <a:sym typeface="Arial"/>
              </a:rPr>
              <a:t>Jung Chang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Eckman</a:t>
            </a:r>
            <a:r>
              <a:rPr lang="en-US">
                <a:latin typeface="Arial"/>
                <a:ea typeface="Arial"/>
                <a:cs typeface="Arial"/>
                <a:sym typeface="Arial"/>
              </a:rPr>
              <a:t> (2014) </a:t>
            </a:r>
            <a:r>
              <a:rPr lang="en-US" err="1">
                <a:latin typeface="Arial"/>
                <a:ea typeface="Arial"/>
                <a:cs typeface="Arial"/>
                <a:sym typeface="Arial"/>
              </a:rPr>
              <a:t>đã</a:t>
            </a:r>
            <a:r>
              <a:rPr lang="en-US">
                <a:latin typeface="Arial"/>
                <a:ea typeface="Arial"/>
                <a:cs typeface="Arial"/>
                <a:sym typeface="Arial"/>
              </a:rPr>
              <a:t> </a:t>
            </a:r>
            <a:r>
              <a:rPr lang="en-US" err="1">
                <a:latin typeface="Arial"/>
                <a:ea typeface="Arial"/>
                <a:cs typeface="Arial"/>
                <a:sym typeface="Arial"/>
              </a:rPr>
              <a:t>tìm</a:t>
            </a:r>
            <a:r>
              <a:rPr lang="en-US">
                <a:latin typeface="Arial"/>
                <a:ea typeface="Arial"/>
                <a:cs typeface="Arial"/>
                <a:sym typeface="Arial"/>
              </a:rPr>
              <a:t> </a:t>
            </a:r>
            <a:r>
              <a:rPr lang="en-US" err="1">
                <a:latin typeface="Arial"/>
                <a:ea typeface="Arial"/>
                <a:cs typeface="Arial"/>
                <a:sym typeface="Arial"/>
              </a:rPr>
              <a:t>thấy</a:t>
            </a:r>
            <a:r>
              <a:rPr lang="en-US">
                <a:latin typeface="Arial"/>
                <a:ea typeface="Arial"/>
                <a:cs typeface="Arial"/>
                <a:sym typeface="Arial"/>
              </a:rPr>
              <a:t> </a:t>
            </a:r>
            <a:r>
              <a:rPr lang="en-US" err="1">
                <a:latin typeface="Arial"/>
                <a:ea typeface="Arial"/>
                <a:cs typeface="Arial"/>
                <a:sym typeface="Arial"/>
              </a:rPr>
              <a:t>những</a:t>
            </a:r>
            <a:r>
              <a:rPr lang="en-US">
                <a:latin typeface="Arial"/>
                <a:ea typeface="Arial"/>
                <a:cs typeface="Arial"/>
                <a:sym typeface="Arial"/>
              </a:rPr>
              <a:t> </a:t>
            </a:r>
            <a:r>
              <a:rPr lang="en-US" err="1">
                <a:latin typeface="Arial"/>
                <a:ea typeface="Arial"/>
                <a:cs typeface="Arial"/>
                <a:sym typeface="Arial"/>
              </a:rPr>
              <a:t>tác</a:t>
            </a:r>
            <a:r>
              <a:rPr lang="en-US">
                <a:latin typeface="Arial"/>
                <a:ea typeface="Arial"/>
                <a:cs typeface="Arial"/>
                <a:sym typeface="Arial"/>
              </a:rPr>
              <a:t> </a:t>
            </a:r>
            <a:r>
              <a:rPr lang="en-US" err="1">
                <a:latin typeface="Arial"/>
                <a:ea typeface="Arial"/>
                <a:cs typeface="Arial"/>
                <a:sym typeface="Arial"/>
              </a:rPr>
              <a:t>động</a:t>
            </a:r>
            <a:r>
              <a:rPr lang="en-US">
                <a:latin typeface="Arial"/>
                <a:ea typeface="Arial"/>
                <a:cs typeface="Arial"/>
                <a:sym typeface="Arial"/>
              </a:rPr>
              <a:t> </a:t>
            </a:r>
            <a:r>
              <a:rPr lang="en-US" err="1">
                <a:latin typeface="Arial"/>
                <a:ea typeface="Arial"/>
                <a:cs typeface="Arial"/>
                <a:sym typeface="Arial"/>
              </a:rPr>
              <a:t>trực</a:t>
            </a:r>
            <a:r>
              <a:rPr lang="en-US">
                <a:latin typeface="Arial"/>
                <a:ea typeface="Arial"/>
                <a:cs typeface="Arial"/>
                <a:sym typeface="Arial"/>
              </a:rPr>
              <a:t> </a:t>
            </a:r>
            <a:r>
              <a:rPr lang="en-US" err="1">
                <a:latin typeface="Arial"/>
                <a:ea typeface="Arial"/>
                <a:cs typeface="Arial"/>
                <a:sym typeface="Arial"/>
              </a:rPr>
              <a:t>tiếp</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đặc</a:t>
            </a:r>
            <a:r>
              <a:rPr lang="en-US">
                <a:latin typeface="Arial"/>
                <a:ea typeface="Arial"/>
                <a:cs typeface="Arial"/>
                <a:sym typeface="Arial"/>
              </a:rPr>
              <a:t> </a:t>
            </a:r>
            <a:r>
              <a:rPr lang="en-US" err="1">
                <a:latin typeface="Arial"/>
                <a:ea typeface="Arial"/>
                <a:cs typeface="Arial"/>
                <a:sym typeface="Arial"/>
              </a:rPr>
              <a:t>điểm</a:t>
            </a:r>
            <a:r>
              <a:rPr lang="en-US">
                <a:latin typeface="Arial"/>
                <a:ea typeface="Arial"/>
                <a:cs typeface="Arial"/>
                <a:sym typeface="Arial"/>
              </a:rPr>
              <a:t> </a:t>
            </a:r>
            <a:r>
              <a:rPr lang="en-US" err="1">
                <a:latin typeface="Arial"/>
                <a:ea typeface="Arial"/>
                <a:cs typeface="Arial"/>
                <a:sym typeface="Arial"/>
              </a:rPr>
              <a:t>môi</a:t>
            </a:r>
            <a:r>
              <a:rPr lang="en-US">
                <a:latin typeface="Arial"/>
                <a:ea typeface="Arial"/>
                <a:cs typeface="Arial"/>
                <a:sym typeface="Arial"/>
              </a:rPr>
              <a:t> </a:t>
            </a:r>
            <a:r>
              <a:rPr lang="en-US" err="1">
                <a:latin typeface="Arial"/>
                <a:ea typeface="Arial"/>
                <a:cs typeface="Arial"/>
                <a:sym typeface="Arial"/>
              </a:rPr>
              <a:t>trường</a:t>
            </a:r>
            <a:r>
              <a:rPr lang="en-US">
                <a:latin typeface="Arial"/>
                <a:ea typeface="Arial"/>
                <a:cs typeface="Arial"/>
                <a:sym typeface="Arial"/>
              </a:rPr>
              <a:t> </a:t>
            </a:r>
            <a:r>
              <a:rPr lang="en-US" err="1">
                <a:latin typeface="Arial"/>
                <a:ea typeface="Arial"/>
                <a:cs typeface="Arial"/>
                <a:sym typeface="Arial"/>
              </a:rPr>
              <a:t>đến</a:t>
            </a:r>
            <a:r>
              <a:rPr lang="en-US">
                <a:latin typeface="Arial"/>
                <a:ea typeface="Arial"/>
                <a:cs typeface="Arial"/>
                <a:sym typeface="Arial"/>
              </a:rPr>
              <a:t> </a:t>
            </a:r>
            <a:r>
              <a:rPr lang="en-US" err="1">
                <a:latin typeface="Arial"/>
                <a:ea typeface="Arial"/>
                <a:cs typeface="Arial"/>
                <a:sym typeface="Arial"/>
              </a:rPr>
              <a:t>phản</a:t>
            </a:r>
            <a:r>
              <a:rPr lang="en-US">
                <a:latin typeface="Arial"/>
                <a:ea typeface="Arial"/>
                <a:cs typeface="Arial"/>
                <a:sym typeface="Arial"/>
              </a:rPr>
              <a:t> </a:t>
            </a:r>
            <a:r>
              <a:rPr lang="en-US" err="1">
                <a:latin typeface="Arial"/>
                <a:ea typeface="Arial"/>
                <a:cs typeface="Arial"/>
                <a:sym typeface="Arial"/>
              </a:rPr>
              <a:t>ứng</a:t>
            </a:r>
            <a:r>
              <a:rPr lang="en-US">
                <a:latin typeface="Arial"/>
                <a:ea typeface="Arial"/>
                <a:cs typeface="Arial"/>
                <a:sym typeface="Arial"/>
              </a:rPr>
              <a:t> </a:t>
            </a:r>
            <a:r>
              <a:rPr lang="en-US" err="1">
                <a:latin typeface="Arial"/>
                <a:ea typeface="Arial"/>
                <a:cs typeface="Arial"/>
                <a:sym typeface="Arial"/>
              </a:rPr>
              <a:t>cảm</a:t>
            </a:r>
            <a:r>
              <a:rPr lang="en-US">
                <a:latin typeface="Arial"/>
                <a:ea typeface="Arial"/>
                <a:cs typeface="Arial"/>
                <a:sym typeface="Arial"/>
              </a:rPr>
              <a:t> </a:t>
            </a:r>
            <a:r>
              <a:rPr lang="en-US" err="1">
                <a:latin typeface="Arial"/>
                <a:ea typeface="Arial"/>
                <a:cs typeface="Arial"/>
                <a:sym typeface="Arial"/>
              </a:rPr>
              <a:t>xúc</a:t>
            </a:r>
            <a:r>
              <a:rPr lang="en-US">
                <a:latin typeface="Arial"/>
                <a:ea typeface="Arial"/>
                <a:cs typeface="Arial"/>
                <a:sym typeface="Arial"/>
              </a:rPr>
              <a:t> </a:t>
            </a:r>
            <a:r>
              <a:rPr lang="en-US" err="1">
                <a:latin typeface="Arial"/>
                <a:ea typeface="Arial"/>
                <a:cs typeface="Arial"/>
                <a:sym typeface="Arial"/>
              </a:rPr>
              <a:t>tích</a:t>
            </a:r>
            <a:r>
              <a:rPr lang="en-US">
                <a:latin typeface="Arial"/>
                <a:ea typeface="Arial"/>
                <a:cs typeface="Arial"/>
                <a:sym typeface="Arial"/>
              </a:rPr>
              <a:t> </a:t>
            </a:r>
            <a:r>
              <a:rPr lang="en-US" err="1">
                <a:latin typeface="Arial"/>
                <a:ea typeface="Arial"/>
                <a:cs typeface="Arial"/>
                <a:sym typeface="Arial"/>
              </a:rPr>
              <a:t>cực</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KH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phản</a:t>
            </a:r>
            <a:r>
              <a:rPr lang="en-US">
                <a:latin typeface="Arial"/>
                <a:ea typeface="Arial"/>
                <a:cs typeface="Arial"/>
                <a:sym typeface="Arial"/>
              </a:rPr>
              <a:t> </a:t>
            </a:r>
            <a:r>
              <a:rPr lang="en-US" err="1">
                <a:latin typeface="Arial"/>
                <a:ea typeface="Arial"/>
                <a:cs typeface="Arial"/>
                <a:sym typeface="Arial"/>
              </a:rPr>
              <a:t>ứng</a:t>
            </a:r>
            <a:r>
              <a:rPr lang="en-US">
                <a:latin typeface="Arial"/>
                <a:ea typeface="Arial"/>
                <a:cs typeface="Arial"/>
                <a:sym typeface="Arial"/>
              </a:rPr>
              <a:t> </a:t>
            </a:r>
            <a:r>
              <a:rPr lang="en-US" err="1">
                <a:latin typeface="Arial"/>
                <a:ea typeface="Arial"/>
                <a:cs typeface="Arial"/>
                <a:sym typeface="Arial"/>
              </a:rPr>
              <a:t>cảm</a:t>
            </a:r>
            <a:r>
              <a:rPr lang="en-US">
                <a:latin typeface="Arial"/>
                <a:ea typeface="Arial"/>
                <a:cs typeface="Arial"/>
                <a:sym typeface="Arial"/>
              </a:rPr>
              <a:t> </a:t>
            </a:r>
            <a:r>
              <a:rPr lang="en-US" err="1">
                <a:latin typeface="Arial"/>
                <a:ea typeface="Arial"/>
                <a:cs typeface="Arial"/>
                <a:sym typeface="Arial"/>
              </a:rPr>
              <a:t>xúc</a:t>
            </a:r>
            <a:r>
              <a:rPr lang="en-US">
                <a:latin typeface="Arial"/>
                <a:ea typeface="Arial"/>
                <a:cs typeface="Arial"/>
                <a:sym typeface="Arial"/>
              </a:rPr>
              <a:t> </a:t>
            </a:r>
            <a:r>
              <a:rPr lang="en-US" err="1">
                <a:latin typeface="Arial"/>
                <a:ea typeface="Arial"/>
                <a:cs typeface="Arial"/>
                <a:sym typeface="Arial"/>
              </a:rPr>
              <a:t>tích</a:t>
            </a:r>
            <a:r>
              <a:rPr lang="en-US">
                <a:latin typeface="Arial"/>
                <a:ea typeface="Arial"/>
                <a:cs typeface="Arial"/>
                <a:sym typeface="Arial"/>
              </a:rPr>
              <a:t> </a:t>
            </a:r>
            <a:r>
              <a:rPr lang="en-US" err="1">
                <a:latin typeface="Arial"/>
                <a:ea typeface="Arial"/>
                <a:cs typeface="Arial"/>
                <a:sym typeface="Arial"/>
              </a:rPr>
              <a:t>cực</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KH </a:t>
            </a:r>
            <a:r>
              <a:rPr lang="en-US" err="1">
                <a:latin typeface="Arial"/>
                <a:ea typeface="Arial"/>
                <a:cs typeface="Arial"/>
                <a:sym typeface="Arial"/>
              </a:rPr>
              <a:t>đối</a:t>
            </a:r>
            <a:r>
              <a:rPr lang="en-US">
                <a:latin typeface="Arial"/>
                <a:ea typeface="Arial"/>
                <a:cs typeface="Arial"/>
                <a:sym typeface="Arial"/>
              </a:rPr>
              <a:t> </a:t>
            </a:r>
            <a:r>
              <a:rPr lang="en-US" err="1">
                <a:latin typeface="Arial"/>
                <a:ea typeface="Arial"/>
                <a:cs typeface="Arial"/>
                <a:sym typeface="Arial"/>
              </a:rPr>
              <a:t>với</a:t>
            </a:r>
            <a:r>
              <a:rPr lang="en-US">
                <a:latin typeface="Arial"/>
                <a:ea typeface="Arial"/>
                <a:cs typeface="Arial"/>
                <a:sym typeface="Arial"/>
              </a:rPr>
              <a:t> </a:t>
            </a:r>
            <a:r>
              <a:rPr lang="en-US" err="1">
                <a:latin typeface="Arial"/>
                <a:ea typeface="Arial"/>
                <a:cs typeface="Arial"/>
                <a:sym typeface="Arial"/>
              </a:rPr>
              <a:t>môi</a:t>
            </a:r>
            <a:r>
              <a:rPr lang="en-US">
                <a:latin typeface="Arial"/>
                <a:ea typeface="Arial"/>
                <a:cs typeface="Arial"/>
                <a:sym typeface="Arial"/>
              </a:rPr>
              <a:t> </a:t>
            </a:r>
            <a:r>
              <a:rPr lang="en-US" err="1">
                <a:latin typeface="Arial"/>
                <a:ea typeface="Arial"/>
                <a:cs typeface="Arial"/>
                <a:sym typeface="Arial"/>
              </a:rPr>
              <a:t>trường</a:t>
            </a:r>
            <a:r>
              <a:rPr lang="en-US">
                <a:latin typeface="Arial"/>
                <a:ea typeface="Arial"/>
                <a:cs typeface="Arial"/>
                <a:sym typeface="Arial"/>
              </a:rPr>
              <a:t> </a:t>
            </a:r>
            <a:r>
              <a:rPr lang="en-US" err="1">
                <a:latin typeface="Arial"/>
                <a:ea typeface="Arial"/>
                <a:cs typeface="Arial"/>
                <a:sym typeface="Arial"/>
              </a:rPr>
              <a:t>bán</a:t>
            </a:r>
            <a:r>
              <a:rPr lang="en-US">
                <a:latin typeface="Arial"/>
                <a:ea typeface="Arial"/>
                <a:cs typeface="Arial"/>
                <a:sym typeface="Arial"/>
              </a:rPr>
              <a:t> </a:t>
            </a:r>
            <a:r>
              <a:rPr lang="en-US" err="1">
                <a:latin typeface="Arial"/>
                <a:ea typeface="Arial"/>
                <a:cs typeface="Arial"/>
                <a:sym typeface="Arial"/>
              </a:rPr>
              <a:t>lẻ</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tác</a:t>
            </a:r>
            <a:r>
              <a:rPr lang="en-US">
                <a:latin typeface="Arial"/>
                <a:ea typeface="Arial"/>
                <a:cs typeface="Arial"/>
                <a:sym typeface="Arial"/>
              </a:rPr>
              <a:t> </a:t>
            </a:r>
            <a:r>
              <a:rPr lang="en-US" err="1">
                <a:latin typeface="Arial"/>
                <a:ea typeface="Arial"/>
                <a:cs typeface="Arial"/>
                <a:sym typeface="Arial"/>
              </a:rPr>
              <a:t>động</a:t>
            </a:r>
            <a:r>
              <a:rPr lang="en-US">
                <a:latin typeface="Arial"/>
                <a:ea typeface="Arial"/>
                <a:cs typeface="Arial"/>
                <a:sym typeface="Arial"/>
              </a:rPr>
              <a:t> </a:t>
            </a:r>
            <a:r>
              <a:rPr lang="en-US" err="1">
                <a:latin typeface="Arial"/>
                <a:ea typeface="Arial"/>
                <a:cs typeface="Arial"/>
                <a:sym typeface="Arial"/>
              </a:rPr>
              <a:t>thúc</a:t>
            </a:r>
            <a:r>
              <a:rPr lang="en-US">
                <a:latin typeface="Arial"/>
                <a:ea typeface="Arial"/>
                <a:cs typeface="Arial"/>
                <a:sym typeface="Arial"/>
              </a:rPr>
              <a:t> </a:t>
            </a:r>
            <a:r>
              <a:rPr lang="en-US" err="1">
                <a:latin typeface="Arial"/>
                <a:ea typeface="Arial"/>
                <a:cs typeface="Arial"/>
                <a:sym typeface="Arial"/>
              </a:rPr>
              <a:t>đẩy</a:t>
            </a:r>
            <a:r>
              <a:rPr lang="en-US">
                <a:latin typeface="Arial"/>
                <a:ea typeface="Arial"/>
                <a:cs typeface="Arial"/>
                <a:sym typeface="Arial"/>
              </a:rPr>
              <a:t> </a:t>
            </a:r>
            <a:r>
              <a:rPr lang="en-US" err="1">
                <a:latin typeface="Arial"/>
                <a:ea typeface="Arial"/>
                <a:cs typeface="Arial"/>
                <a:sym typeface="Arial"/>
              </a:rPr>
              <a:t>hành</a:t>
            </a:r>
            <a:r>
              <a:rPr lang="en-US">
                <a:latin typeface="Arial"/>
                <a:ea typeface="Arial"/>
                <a:cs typeface="Arial"/>
                <a:sym typeface="Arial"/>
              </a:rPr>
              <a:t> vi </a:t>
            </a:r>
            <a:r>
              <a:rPr lang="en-US" err="1">
                <a:latin typeface="Arial"/>
                <a:ea typeface="Arial"/>
                <a:cs typeface="Arial"/>
                <a:sym typeface="Arial"/>
              </a:rPr>
              <a:t>mua</a:t>
            </a:r>
            <a:r>
              <a:rPr lang="en-US">
                <a:latin typeface="Arial"/>
                <a:ea typeface="Arial"/>
                <a:cs typeface="Arial"/>
                <a:sym typeface="Arial"/>
              </a:rPr>
              <a:t> </a:t>
            </a:r>
            <a:r>
              <a:rPr lang="en-US" err="1">
                <a:latin typeface="Arial"/>
                <a:ea typeface="Arial"/>
                <a:cs typeface="Arial"/>
                <a:sym typeface="Arial"/>
              </a:rPr>
              <a:t>sắm</a:t>
            </a:r>
            <a:r>
              <a:rPr lang="en-US">
                <a:latin typeface="Arial"/>
                <a:ea typeface="Arial"/>
                <a:cs typeface="Arial"/>
                <a:sym typeface="Arial"/>
              </a:rPr>
              <a:t>.</a:t>
            </a:r>
            <a:endParaRPr/>
          </a:p>
        </p:txBody>
      </p:sp>
    </p:spTree>
    <p:extLst>
      <p:ext uri="{BB962C8B-B14F-4D97-AF65-F5344CB8AC3E}">
        <p14:creationId xmlns:p14="http://schemas.microsoft.com/office/powerpoint/2010/main" val="12090833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873"/>
        <p:cNvGrpSpPr/>
        <p:nvPr/>
      </p:nvGrpSpPr>
      <p:grpSpPr>
        <a:xfrm>
          <a:off x="0" y="0"/>
          <a:ext cx="0" cy="0"/>
          <a:chOff x="0" y="0"/>
          <a:chExt cx="0" cy="0"/>
        </a:xfrm>
      </p:grpSpPr>
      <p:sp>
        <p:nvSpPr>
          <p:cNvPr id="1874" name="Google Shape;1874;p278"/>
          <p:cNvSpPr txBox="1">
            <a:spLocks noGrp="1"/>
          </p:cNvSpPr>
          <p:nvPr>
            <p:ph type="title"/>
          </p:nvPr>
        </p:nvSpPr>
        <p:spPr>
          <a:xfrm>
            <a:off x="340360" y="121286"/>
            <a:ext cx="10515600" cy="9663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2800" b="1" err="1">
                <a:sym typeface="Arial"/>
              </a:rPr>
              <a:t>Tình</a:t>
            </a:r>
            <a:r>
              <a:rPr lang="en-US" sz="2800" b="1">
                <a:sym typeface="Arial"/>
              </a:rPr>
              <a:t> </a:t>
            </a:r>
            <a:r>
              <a:rPr lang="en-US" sz="2800" b="1" err="1">
                <a:sym typeface="Arial"/>
              </a:rPr>
              <a:t>huống</a:t>
            </a:r>
            <a:r>
              <a:rPr lang="en-US" sz="2800" b="1">
                <a:sym typeface="Arial"/>
              </a:rPr>
              <a:t> </a:t>
            </a:r>
            <a:r>
              <a:rPr lang="en-US" sz="2800" b="1" err="1">
                <a:sym typeface="Arial"/>
              </a:rPr>
              <a:t>mua</a:t>
            </a:r>
            <a:r>
              <a:rPr lang="en-US" sz="2800" b="1">
                <a:sym typeface="Arial"/>
              </a:rPr>
              <a:t> </a:t>
            </a:r>
            <a:r>
              <a:rPr lang="en-US" sz="2800" b="1" err="1">
                <a:sym typeface="Arial"/>
              </a:rPr>
              <a:t>hàng</a:t>
            </a:r>
            <a:endParaRPr sz="2800"/>
          </a:p>
        </p:txBody>
      </p:sp>
      <p:sp>
        <p:nvSpPr>
          <p:cNvPr id="1875" name="Google Shape;1875;p278"/>
          <p:cNvSpPr txBox="1">
            <a:spLocks noGrp="1"/>
          </p:cNvSpPr>
          <p:nvPr>
            <p:ph type="body" idx="1"/>
          </p:nvPr>
        </p:nvSpPr>
        <p:spPr>
          <a:xfrm>
            <a:off x="121920" y="1185864"/>
            <a:ext cx="11612880" cy="5672136"/>
          </a:xfrm>
          <a:prstGeom prst="rect">
            <a:avLst/>
          </a:prstGeom>
          <a:noFill/>
          <a:ln>
            <a:noFill/>
          </a:ln>
        </p:spPr>
        <p:txBody>
          <a:bodyPr spcFirstLastPara="1" wrap="square" lIns="91425" tIns="45700" rIns="91425" bIns="45700" anchor="t" anchorCtr="0">
            <a:normAutofit fontScale="85000" lnSpcReduction="10000"/>
          </a:bodyPr>
          <a:lstStyle/>
          <a:p>
            <a:pPr marL="457200" lvl="0" indent="-457200" algn="l" rtl="0">
              <a:lnSpc>
                <a:spcPct val="150000"/>
              </a:lnSpc>
              <a:spcBef>
                <a:spcPts val="0"/>
              </a:spcBef>
              <a:spcAft>
                <a:spcPts val="0"/>
              </a:spcAft>
              <a:buClr>
                <a:schemeClr val="dk1"/>
              </a:buClr>
              <a:buSzPct val="100000"/>
              <a:buFont typeface="Arial"/>
              <a:buChar char="•"/>
            </a:pPr>
            <a:r>
              <a:rPr lang="en-US" sz="3000">
                <a:latin typeface="Arial"/>
                <a:ea typeface="Arial"/>
                <a:cs typeface="Arial"/>
                <a:sym typeface="Arial"/>
              </a:rPr>
              <a:t>Khả năng tài chính cũng thúc đẩy phản ứng cảm xúc tích cực của KH và hành vi mua của họ. </a:t>
            </a:r>
            <a:endParaRPr/>
          </a:p>
          <a:p>
            <a:pPr marL="457200" lvl="0" indent="-457200" algn="l" rtl="0">
              <a:lnSpc>
                <a:spcPct val="150000"/>
              </a:lnSpc>
              <a:spcBef>
                <a:spcPts val="1000"/>
              </a:spcBef>
              <a:spcAft>
                <a:spcPts val="0"/>
              </a:spcAft>
              <a:buClr>
                <a:schemeClr val="dk1"/>
              </a:buClr>
              <a:buSzPct val="100000"/>
              <a:buFont typeface="Arial"/>
              <a:buChar char="•"/>
            </a:pPr>
            <a:r>
              <a:rPr lang="en-US" sz="3000">
                <a:latin typeface="Arial"/>
                <a:ea typeface="Arial"/>
                <a:cs typeface="Arial"/>
                <a:sym typeface="Arial"/>
              </a:rPr>
              <a:t>Các nhà bán lẻ cần hiểu nhiều động cơ mua sắm khác nhau vì tất cả những động lực này đều ảnh hưởng đến cách KH đánh giá các khía cạnh khác nhau trong trải nghiệm bán lẻ như bầu không khí, quảng cáo và truyền thông marketing.</a:t>
            </a:r>
            <a:endParaRPr/>
          </a:p>
          <a:p>
            <a:pPr marL="457200" lvl="0" indent="-457200" algn="l" rtl="0">
              <a:lnSpc>
                <a:spcPct val="150000"/>
              </a:lnSpc>
              <a:spcBef>
                <a:spcPts val="1000"/>
              </a:spcBef>
              <a:spcAft>
                <a:spcPts val="0"/>
              </a:spcAft>
              <a:buClr>
                <a:schemeClr val="dk1"/>
              </a:buClr>
              <a:buSzPct val="100000"/>
              <a:buFont typeface="Arial"/>
              <a:buChar char="•"/>
            </a:pPr>
            <a:r>
              <a:rPr lang="en-US" sz="3000">
                <a:latin typeface="Arial"/>
                <a:ea typeface="Arial"/>
                <a:cs typeface="Arial"/>
                <a:sym typeface="Arial"/>
              </a:rPr>
              <a:t>KH cũng có thể được phân khúc theo định hướng mua sắm hoặc thái độ chung về việc mua sắm. Các định hướng này có thể khác nhau tùy thuộc vào danh mục sản phẩm cụ thể và loại cửa hàng được xem xét.</a:t>
            </a:r>
            <a:endParaRPr/>
          </a:p>
          <a:p>
            <a:pPr marL="457200" lvl="0" indent="-306070" algn="l" rtl="0">
              <a:lnSpc>
                <a:spcPct val="90000"/>
              </a:lnSpc>
              <a:spcBef>
                <a:spcPts val="1000"/>
              </a:spcBef>
              <a:spcAft>
                <a:spcPts val="0"/>
              </a:spcAft>
              <a:buClr>
                <a:schemeClr val="dk1"/>
              </a:buClr>
              <a:buSzPct val="100000"/>
              <a:buFont typeface="Arial"/>
              <a:buNone/>
            </a:pPr>
            <a:endParaRPr/>
          </a:p>
        </p:txBody>
      </p:sp>
    </p:spTree>
    <p:extLst>
      <p:ext uri="{BB962C8B-B14F-4D97-AF65-F5344CB8AC3E}">
        <p14:creationId xmlns:p14="http://schemas.microsoft.com/office/powerpoint/2010/main" val="37932701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879"/>
        <p:cNvGrpSpPr/>
        <p:nvPr/>
      </p:nvGrpSpPr>
      <p:grpSpPr>
        <a:xfrm>
          <a:off x="0" y="0"/>
          <a:ext cx="0" cy="0"/>
          <a:chOff x="0" y="0"/>
          <a:chExt cx="0" cy="0"/>
        </a:xfrm>
      </p:grpSpPr>
      <p:sp>
        <p:nvSpPr>
          <p:cNvPr id="1880" name="Google Shape;1880;p279"/>
          <p:cNvSpPr txBox="1">
            <a:spLocks noGrp="1"/>
          </p:cNvSpPr>
          <p:nvPr>
            <p:ph type="title"/>
          </p:nvPr>
        </p:nvSpPr>
        <p:spPr>
          <a:xfrm>
            <a:off x="781050" y="334555"/>
            <a:ext cx="9065895" cy="6635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2800" b="1" err="1">
                <a:sym typeface="Arial"/>
              </a:rPr>
              <a:t>Tình</a:t>
            </a:r>
            <a:r>
              <a:rPr lang="en-US" sz="2800" b="1">
                <a:sym typeface="Arial"/>
              </a:rPr>
              <a:t> </a:t>
            </a:r>
            <a:r>
              <a:rPr lang="en-US" sz="2800" b="1" err="1">
                <a:sym typeface="Arial"/>
              </a:rPr>
              <a:t>huống</a:t>
            </a:r>
            <a:r>
              <a:rPr lang="en-US" sz="2800" b="1">
                <a:sym typeface="Arial"/>
              </a:rPr>
              <a:t> </a:t>
            </a:r>
            <a:r>
              <a:rPr lang="en-US" sz="2800" b="1" err="1">
                <a:sym typeface="Arial"/>
              </a:rPr>
              <a:t>mua</a:t>
            </a:r>
            <a:r>
              <a:rPr lang="en-US" sz="2800" b="1">
                <a:sym typeface="Arial"/>
              </a:rPr>
              <a:t> </a:t>
            </a:r>
            <a:r>
              <a:rPr lang="en-US" sz="2800" b="1" err="1">
                <a:sym typeface="Arial"/>
              </a:rPr>
              <a:t>hàng</a:t>
            </a:r>
            <a:endParaRPr sz="2800"/>
          </a:p>
        </p:txBody>
      </p:sp>
      <p:sp>
        <p:nvSpPr>
          <p:cNvPr id="1881" name="Google Shape;1881;p279"/>
          <p:cNvSpPr txBox="1">
            <a:spLocks noGrp="1"/>
          </p:cNvSpPr>
          <p:nvPr>
            <p:ph type="body" idx="1"/>
          </p:nvPr>
        </p:nvSpPr>
        <p:spPr>
          <a:xfrm>
            <a:off x="247650" y="883830"/>
            <a:ext cx="10772775" cy="70866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000"/>
              <a:buFont typeface="Arial"/>
              <a:buChar char="•"/>
            </a:pPr>
            <a:r>
              <a:rPr lang="en-US" sz="2600" err="1">
                <a:latin typeface="Arial"/>
                <a:ea typeface="Arial"/>
                <a:cs typeface="Arial"/>
                <a:sym typeface="Arial"/>
              </a:rPr>
              <a:t>Động</a:t>
            </a:r>
            <a:r>
              <a:rPr lang="en-US" sz="2600">
                <a:latin typeface="Arial"/>
                <a:ea typeface="Arial"/>
                <a:cs typeface="Arial"/>
                <a:sym typeface="Arial"/>
              </a:rPr>
              <a:t> </a:t>
            </a:r>
            <a:r>
              <a:rPr lang="en-US" sz="2600" err="1">
                <a:latin typeface="Arial"/>
                <a:ea typeface="Arial"/>
                <a:cs typeface="Arial"/>
                <a:sym typeface="Arial"/>
              </a:rPr>
              <a:t>lực</a:t>
            </a:r>
            <a:r>
              <a:rPr lang="en-US" sz="2600">
                <a:latin typeface="Arial"/>
                <a:ea typeface="Arial"/>
                <a:cs typeface="Arial"/>
                <a:sym typeface="Arial"/>
              </a:rPr>
              <a:t> </a:t>
            </a:r>
            <a:r>
              <a:rPr lang="en-US" sz="2600" err="1">
                <a:latin typeface="Arial"/>
                <a:ea typeface="Arial"/>
                <a:cs typeface="Arial"/>
                <a:sym typeface="Arial"/>
              </a:rPr>
              <a:t>của</a:t>
            </a:r>
            <a:r>
              <a:rPr lang="en-US" sz="2600">
                <a:latin typeface="Arial"/>
                <a:ea typeface="Arial"/>
                <a:cs typeface="Arial"/>
                <a:sym typeface="Arial"/>
              </a:rPr>
              <a:t> </a:t>
            </a:r>
            <a:r>
              <a:rPr lang="en-US" sz="2600" err="1">
                <a:latin typeface="Arial"/>
                <a:ea typeface="Arial"/>
                <a:cs typeface="Arial"/>
                <a:sym typeface="Arial"/>
              </a:rPr>
              <a:t>người</a:t>
            </a:r>
            <a:r>
              <a:rPr lang="en-US" sz="2600">
                <a:latin typeface="Arial"/>
                <a:ea typeface="Arial"/>
                <a:cs typeface="Arial"/>
                <a:sym typeface="Arial"/>
              </a:rPr>
              <a:t> </a:t>
            </a:r>
            <a:r>
              <a:rPr lang="en-US" sz="2600" err="1">
                <a:latin typeface="Arial"/>
                <a:ea typeface="Arial"/>
                <a:cs typeface="Arial"/>
                <a:sym typeface="Arial"/>
              </a:rPr>
              <a:t>mua</a:t>
            </a:r>
            <a:r>
              <a:rPr lang="en-US" sz="2600">
                <a:latin typeface="Arial"/>
                <a:ea typeface="Arial"/>
                <a:cs typeface="Arial"/>
                <a:sym typeface="Arial"/>
              </a:rPr>
              <a:t> </a:t>
            </a:r>
            <a:r>
              <a:rPr lang="en-US" sz="2600" err="1">
                <a:latin typeface="Arial"/>
                <a:ea typeface="Arial"/>
                <a:cs typeface="Arial"/>
                <a:sym typeface="Arial"/>
              </a:rPr>
              <a:t>bị</a:t>
            </a:r>
            <a:r>
              <a:rPr lang="en-US" sz="2600">
                <a:latin typeface="Arial"/>
                <a:ea typeface="Arial"/>
                <a:cs typeface="Arial"/>
                <a:sym typeface="Arial"/>
              </a:rPr>
              <a:t> </a:t>
            </a:r>
            <a:r>
              <a:rPr lang="en-US" sz="2600" err="1">
                <a:latin typeface="Arial"/>
                <a:ea typeface="Arial"/>
                <a:cs typeface="Arial"/>
                <a:sym typeface="Arial"/>
              </a:rPr>
              <a:t>ảnh</a:t>
            </a:r>
            <a:r>
              <a:rPr lang="en-US" sz="2600">
                <a:latin typeface="Arial"/>
                <a:ea typeface="Arial"/>
                <a:cs typeface="Arial"/>
                <a:sym typeface="Arial"/>
              </a:rPr>
              <a:t> </a:t>
            </a:r>
            <a:r>
              <a:rPr lang="en-US" sz="2600" err="1">
                <a:latin typeface="Arial"/>
                <a:ea typeface="Arial"/>
                <a:cs typeface="Arial"/>
                <a:sym typeface="Arial"/>
              </a:rPr>
              <a:t>hưởng</a:t>
            </a:r>
            <a:r>
              <a:rPr lang="en-US" sz="2600">
                <a:latin typeface="Arial"/>
                <a:ea typeface="Arial"/>
                <a:cs typeface="Arial"/>
                <a:sym typeface="Arial"/>
              </a:rPr>
              <a:t> </a:t>
            </a:r>
            <a:r>
              <a:rPr lang="en-US" sz="2600" err="1">
                <a:latin typeface="Arial"/>
                <a:ea typeface="Arial"/>
                <a:cs typeface="Arial"/>
                <a:sym typeface="Arial"/>
              </a:rPr>
              <a:t>đến</a:t>
            </a:r>
            <a:r>
              <a:rPr lang="en-US" sz="2600">
                <a:latin typeface="Arial"/>
                <a:ea typeface="Arial"/>
                <a:cs typeface="Arial"/>
                <a:sym typeface="Arial"/>
              </a:rPr>
              <a:t> </a:t>
            </a:r>
            <a:r>
              <a:rPr lang="en-US" sz="2600" err="1">
                <a:latin typeface="Arial"/>
                <a:ea typeface="Arial"/>
                <a:cs typeface="Arial"/>
                <a:sym typeface="Arial"/>
              </a:rPr>
              <a:t>kiểu</a:t>
            </a:r>
            <a:r>
              <a:rPr lang="en-US" sz="2600">
                <a:latin typeface="Arial"/>
                <a:ea typeface="Arial"/>
                <a:cs typeface="Arial"/>
                <a:sym typeface="Arial"/>
              </a:rPr>
              <a:t> </a:t>
            </a:r>
            <a:r>
              <a:rPr lang="en-US" sz="2600" err="1">
                <a:latin typeface="Arial"/>
                <a:ea typeface="Arial"/>
                <a:cs typeface="Arial"/>
                <a:sym typeface="Arial"/>
              </a:rPr>
              <a:t>môi</a:t>
            </a:r>
            <a:r>
              <a:rPr lang="en-US" sz="2600">
                <a:latin typeface="Arial"/>
                <a:ea typeface="Arial"/>
                <a:cs typeface="Arial"/>
                <a:sym typeface="Arial"/>
              </a:rPr>
              <a:t> </a:t>
            </a:r>
            <a:r>
              <a:rPr lang="en-US" sz="2600" err="1">
                <a:latin typeface="Arial"/>
                <a:ea typeface="Arial"/>
                <a:cs typeface="Arial"/>
                <a:sym typeface="Arial"/>
              </a:rPr>
              <a:t>trường</a:t>
            </a:r>
            <a:r>
              <a:rPr lang="en-US" sz="2600">
                <a:latin typeface="Arial"/>
                <a:ea typeface="Arial"/>
                <a:cs typeface="Arial"/>
                <a:sym typeface="Arial"/>
              </a:rPr>
              <a:t> </a:t>
            </a:r>
            <a:r>
              <a:rPr lang="en-US" sz="2600" err="1">
                <a:latin typeface="Arial"/>
                <a:ea typeface="Arial"/>
                <a:cs typeface="Arial"/>
                <a:sym typeface="Arial"/>
              </a:rPr>
              <a:t>mua</a:t>
            </a:r>
            <a:r>
              <a:rPr lang="en-US" sz="2600">
                <a:latin typeface="Arial"/>
                <a:ea typeface="Arial"/>
                <a:cs typeface="Arial"/>
                <a:sym typeface="Arial"/>
              </a:rPr>
              <a:t> </a:t>
            </a:r>
            <a:r>
              <a:rPr lang="en-US" sz="2600" err="1">
                <a:latin typeface="Arial"/>
                <a:ea typeface="Arial"/>
                <a:cs typeface="Arial"/>
                <a:sym typeface="Arial"/>
              </a:rPr>
              <a:t>sắm</a:t>
            </a:r>
            <a:r>
              <a:rPr lang="en-US" sz="2600">
                <a:latin typeface="Arial"/>
                <a:ea typeface="Arial"/>
                <a:cs typeface="Arial"/>
                <a:sym typeface="Arial"/>
              </a:rPr>
              <a:t> </a:t>
            </a:r>
            <a:r>
              <a:rPr lang="en-US" sz="2600" err="1">
                <a:latin typeface="Arial"/>
                <a:ea typeface="Arial"/>
                <a:cs typeface="Arial"/>
                <a:sym typeface="Arial"/>
              </a:rPr>
              <a:t>sẽ</a:t>
            </a:r>
            <a:r>
              <a:rPr lang="en-US" sz="2600">
                <a:latin typeface="Arial"/>
                <a:ea typeface="Arial"/>
                <a:cs typeface="Arial"/>
                <a:sym typeface="Arial"/>
              </a:rPr>
              <a:t> </a:t>
            </a:r>
            <a:r>
              <a:rPr lang="en-US" sz="2600" err="1">
                <a:latin typeface="Arial"/>
                <a:ea typeface="Arial"/>
                <a:cs typeface="Arial"/>
                <a:sym typeface="Arial"/>
              </a:rPr>
              <a:t>tạo</a:t>
            </a:r>
            <a:r>
              <a:rPr lang="en-US" sz="2600">
                <a:latin typeface="Arial"/>
                <a:ea typeface="Arial"/>
                <a:cs typeface="Arial"/>
                <a:sym typeface="Arial"/>
              </a:rPr>
              <a:t> </a:t>
            </a:r>
            <a:r>
              <a:rPr lang="en-US" sz="2600" err="1">
                <a:latin typeface="Arial"/>
                <a:ea typeface="Arial"/>
                <a:cs typeface="Arial"/>
                <a:sym typeface="Arial"/>
              </a:rPr>
              <a:t>sự</a:t>
            </a:r>
            <a:r>
              <a:rPr lang="en-US" sz="2600">
                <a:latin typeface="Arial"/>
                <a:ea typeface="Arial"/>
                <a:cs typeface="Arial"/>
                <a:sym typeface="Arial"/>
              </a:rPr>
              <a:t> </a:t>
            </a:r>
            <a:r>
              <a:rPr lang="en-US" sz="2600" err="1">
                <a:latin typeface="Arial"/>
                <a:ea typeface="Arial"/>
                <a:cs typeface="Arial"/>
                <a:sym typeface="Arial"/>
              </a:rPr>
              <a:t>hấp</a:t>
            </a:r>
            <a:r>
              <a:rPr lang="en-US" sz="2600">
                <a:latin typeface="Arial"/>
                <a:ea typeface="Arial"/>
                <a:cs typeface="Arial"/>
                <a:sym typeface="Arial"/>
              </a:rPr>
              <a:t> </a:t>
            </a:r>
            <a:r>
              <a:rPr lang="en-US" sz="2600" err="1">
                <a:latin typeface="Arial"/>
                <a:ea typeface="Arial"/>
                <a:cs typeface="Arial"/>
                <a:sym typeface="Arial"/>
              </a:rPr>
              <a:t>dẫn</a:t>
            </a:r>
            <a:r>
              <a:rPr lang="en-US" sz="2600">
                <a:latin typeface="Arial"/>
                <a:ea typeface="Arial"/>
                <a:cs typeface="Arial"/>
                <a:sym typeface="Arial"/>
              </a:rPr>
              <a:t> </a:t>
            </a:r>
            <a:r>
              <a:rPr lang="en-US" sz="2600" err="1">
                <a:latin typeface="Arial"/>
                <a:ea typeface="Arial"/>
                <a:cs typeface="Arial"/>
                <a:sym typeface="Arial"/>
              </a:rPr>
              <a:t>hoặc</a:t>
            </a:r>
            <a:r>
              <a:rPr lang="en-US" sz="2600">
                <a:latin typeface="Arial"/>
                <a:ea typeface="Arial"/>
                <a:cs typeface="Arial"/>
                <a:sym typeface="Arial"/>
              </a:rPr>
              <a:t> </a:t>
            </a:r>
            <a:r>
              <a:rPr lang="en-US" sz="2600" err="1">
                <a:latin typeface="Arial"/>
                <a:ea typeface="Arial"/>
                <a:cs typeface="Arial"/>
                <a:sym typeface="Arial"/>
              </a:rPr>
              <a:t>khó</a:t>
            </a:r>
            <a:r>
              <a:rPr lang="en-US" sz="2600">
                <a:latin typeface="Arial"/>
                <a:ea typeface="Arial"/>
                <a:cs typeface="Arial"/>
                <a:sym typeface="Arial"/>
              </a:rPr>
              <a:t> </a:t>
            </a:r>
            <a:r>
              <a:rPr lang="en-US" sz="2600" err="1">
                <a:latin typeface="Arial"/>
                <a:ea typeface="Arial"/>
                <a:cs typeface="Arial"/>
                <a:sym typeface="Arial"/>
              </a:rPr>
              <a:t>chịu</a:t>
            </a:r>
            <a:r>
              <a:rPr lang="en-US" sz="2600">
                <a:latin typeface="Arial"/>
                <a:ea typeface="Arial"/>
                <a:cs typeface="Arial"/>
                <a:sym typeface="Arial"/>
              </a:rPr>
              <a:t>. </a:t>
            </a:r>
            <a:endParaRPr sz="2600"/>
          </a:p>
          <a:p>
            <a:pPr marL="182563" lvl="0" indent="84138" algn="l" rtl="0">
              <a:lnSpc>
                <a:spcPct val="100000"/>
              </a:lnSpc>
              <a:spcBef>
                <a:spcPts val="1000"/>
              </a:spcBef>
              <a:spcAft>
                <a:spcPts val="0"/>
              </a:spcAft>
              <a:buClr>
                <a:schemeClr val="dk1"/>
              </a:buClr>
              <a:buSzPts val="2000"/>
              <a:buNone/>
            </a:pPr>
            <a:r>
              <a:rPr lang="en-US" sz="2600" b="1">
                <a:latin typeface="Arial"/>
                <a:ea typeface="Arial"/>
                <a:cs typeface="Arial"/>
                <a:sym typeface="Arial"/>
              </a:rPr>
              <a:t>Theo </a:t>
            </a:r>
            <a:r>
              <a:rPr lang="en-US" sz="2600" b="1" err="1">
                <a:latin typeface="Arial"/>
                <a:ea typeface="Arial"/>
                <a:cs typeface="Arial"/>
                <a:sym typeface="Arial"/>
              </a:rPr>
              <a:t>Bellenger</a:t>
            </a:r>
            <a:r>
              <a:rPr lang="en-US" sz="2600" b="1">
                <a:latin typeface="Arial"/>
                <a:ea typeface="Arial"/>
                <a:cs typeface="Arial"/>
                <a:sym typeface="Arial"/>
              </a:rPr>
              <a:t>, 1980 </a:t>
            </a:r>
            <a:r>
              <a:rPr lang="en-US" sz="2600" b="1" err="1">
                <a:latin typeface="Arial"/>
                <a:ea typeface="Arial"/>
                <a:cs typeface="Arial"/>
                <a:sym typeface="Arial"/>
              </a:rPr>
              <a:t>có</a:t>
            </a:r>
            <a:r>
              <a:rPr lang="en-US" sz="2600" b="1">
                <a:latin typeface="Arial"/>
                <a:ea typeface="Arial"/>
                <a:cs typeface="Arial"/>
                <a:sym typeface="Arial"/>
              </a:rPr>
              <a:t> </a:t>
            </a:r>
            <a:r>
              <a:rPr lang="en-US" sz="2600" b="1" err="1">
                <a:latin typeface="Arial"/>
                <a:ea typeface="Arial"/>
                <a:cs typeface="Arial"/>
                <a:sym typeface="Arial"/>
              </a:rPr>
              <a:t>các</a:t>
            </a:r>
            <a:r>
              <a:rPr lang="en-US" sz="2600" b="1">
                <a:latin typeface="Arial"/>
                <a:ea typeface="Arial"/>
                <a:cs typeface="Arial"/>
                <a:sym typeface="Arial"/>
              </a:rPr>
              <a:t> </a:t>
            </a:r>
            <a:r>
              <a:rPr lang="en-US" sz="2600" b="1" err="1">
                <a:latin typeface="Arial"/>
                <a:ea typeface="Arial"/>
                <a:cs typeface="Arial"/>
                <a:sym typeface="Arial"/>
              </a:rPr>
              <a:t>mẫu</a:t>
            </a:r>
            <a:r>
              <a:rPr lang="en-US" sz="2600" b="1">
                <a:latin typeface="Arial"/>
                <a:ea typeface="Arial"/>
                <a:cs typeface="Arial"/>
                <a:sym typeface="Arial"/>
              </a:rPr>
              <a:t> </a:t>
            </a:r>
            <a:r>
              <a:rPr lang="en-US" sz="2600" b="1" err="1">
                <a:latin typeface="Arial"/>
                <a:ea typeface="Arial"/>
                <a:cs typeface="Arial"/>
                <a:sym typeface="Arial"/>
              </a:rPr>
              <a:t>hình</a:t>
            </a:r>
            <a:r>
              <a:rPr lang="en-US" sz="2600" b="1">
                <a:latin typeface="Arial"/>
                <a:ea typeface="Arial"/>
                <a:cs typeface="Arial"/>
                <a:sym typeface="Arial"/>
              </a:rPr>
              <a:t> </a:t>
            </a:r>
            <a:r>
              <a:rPr lang="en-US" sz="2600" b="1" err="1">
                <a:latin typeface="Arial"/>
                <a:ea typeface="Arial"/>
                <a:cs typeface="Arial"/>
                <a:sym typeface="Arial"/>
              </a:rPr>
              <a:t>mua</a:t>
            </a:r>
            <a:r>
              <a:rPr lang="en-US" sz="2600" b="1">
                <a:latin typeface="Arial"/>
                <a:ea typeface="Arial"/>
                <a:cs typeface="Arial"/>
                <a:sym typeface="Arial"/>
              </a:rPr>
              <a:t> </a:t>
            </a:r>
            <a:r>
              <a:rPr lang="en-US" sz="2600" b="1" err="1">
                <a:latin typeface="Arial"/>
                <a:ea typeface="Arial"/>
                <a:cs typeface="Arial"/>
                <a:sym typeface="Arial"/>
              </a:rPr>
              <a:t>sắm</a:t>
            </a:r>
            <a:r>
              <a:rPr lang="en-US" sz="2600" b="1">
                <a:latin typeface="Arial"/>
                <a:ea typeface="Arial"/>
                <a:cs typeface="Arial"/>
                <a:sym typeface="Arial"/>
              </a:rPr>
              <a:t> </a:t>
            </a:r>
            <a:r>
              <a:rPr lang="en-US" sz="2600" b="1" err="1">
                <a:latin typeface="Arial"/>
                <a:ea typeface="Arial"/>
                <a:cs typeface="Arial"/>
                <a:sym typeface="Arial"/>
              </a:rPr>
              <a:t>sau</a:t>
            </a:r>
            <a:r>
              <a:rPr lang="en-US" sz="2600" b="1">
                <a:latin typeface="Arial"/>
                <a:ea typeface="Arial"/>
                <a:cs typeface="Arial"/>
                <a:sym typeface="Arial"/>
              </a:rPr>
              <a:t>:</a:t>
            </a:r>
            <a:endParaRPr sz="2600" b="1">
              <a:latin typeface="Arial"/>
              <a:ea typeface="Arial"/>
              <a:cs typeface="Arial"/>
              <a:sym typeface="Arial"/>
            </a:endParaRPr>
          </a:p>
          <a:p>
            <a:pPr marL="685800" lvl="1" indent="-228600" algn="l" rtl="0">
              <a:lnSpc>
                <a:spcPct val="100000"/>
              </a:lnSpc>
              <a:spcBef>
                <a:spcPts val="1000"/>
              </a:spcBef>
              <a:spcAft>
                <a:spcPts val="0"/>
              </a:spcAft>
              <a:buSzPts val="2000"/>
              <a:buChar char="•"/>
            </a:pPr>
            <a:r>
              <a:rPr lang="en-US" sz="2600" b="1" err="1">
                <a:latin typeface="Arial"/>
                <a:ea typeface="Arial"/>
                <a:cs typeface="Arial"/>
                <a:sym typeface="Arial"/>
              </a:rPr>
              <a:t>Người</a:t>
            </a:r>
            <a:r>
              <a:rPr lang="en-US" sz="2600" b="1">
                <a:latin typeface="Arial"/>
                <a:ea typeface="Arial"/>
                <a:cs typeface="Arial"/>
                <a:sym typeface="Arial"/>
              </a:rPr>
              <a:t> </a:t>
            </a:r>
            <a:r>
              <a:rPr lang="en-US" sz="2600" b="1" err="1">
                <a:latin typeface="Arial"/>
                <a:ea typeface="Arial"/>
                <a:cs typeface="Arial"/>
                <a:sym typeface="Arial"/>
              </a:rPr>
              <a:t>mua</a:t>
            </a:r>
            <a:r>
              <a:rPr lang="en-US" sz="2600" b="1">
                <a:latin typeface="Arial"/>
                <a:ea typeface="Arial"/>
                <a:cs typeface="Arial"/>
                <a:sym typeface="Arial"/>
              </a:rPr>
              <a:t> </a:t>
            </a:r>
            <a:r>
              <a:rPr lang="en-US" sz="2600" b="1" err="1">
                <a:latin typeface="Arial"/>
                <a:ea typeface="Arial"/>
                <a:cs typeface="Arial"/>
                <a:sym typeface="Arial"/>
              </a:rPr>
              <a:t>sắm</a:t>
            </a:r>
            <a:r>
              <a:rPr lang="en-US" sz="2600" b="1">
                <a:latin typeface="Arial"/>
                <a:ea typeface="Arial"/>
                <a:cs typeface="Arial"/>
                <a:sym typeface="Arial"/>
              </a:rPr>
              <a:t> </a:t>
            </a:r>
            <a:r>
              <a:rPr lang="en-US" sz="2600" b="1" err="1">
                <a:latin typeface="Arial"/>
                <a:ea typeface="Arial"/>
                <a:cs typeface="Arial"/>
                <a:sym typeface="Arial"/>
              </a:rPr>
              <a:t>kinh</a:t>
            </a:r>
            <a:r>
              <a:rPr lang="en-US" sz="2600" b="1">
                <a:latin typeface="Arial"/>
                <a:ea typeface="Arial"/>
                <a:cs typeface="Arial"/>
                <a:sym typeface="Arial"/>
              </a:rPr>
              <a:t> </a:t>
            </a:r>
            <a:r>
              <a:rPr lang="en-US" sz="2600" b="1" err="1">
                <a:latin typeface="Arial"/>
                <a:ea typeface="Arial"/>
                <a:cs typeface="Arial"/>
                <a:sym typeface="Arial"/>
              </a:rPr>
              <a:t>tế</a:t>
            </a:r>
            <a:r>
              <a:rPr lang="en-US" sz="2600">
                <a:latin typeface="Arial"/>
                <a:ea typeface="Arial"/>
                <a:cs typeface="Arial"/>
                <a:sym typeface="Arial"/>
              </a:rPr>
              <a:t>: </a:t>
            </a:r>
            <a:r>
              <a:rPr lang="en-US" sz="2600" err="1">
                <a:latin typeface="Arial"/>
                <a:ea typeface="Arial"/>
                <a:cs typeface="Arial"/>
                <a:sym typeface="Arial"/>
              </a:rPr>
              <a:t>chủ</a:t>
            </a:r>
            <a:r>
              <a:rPr lang="en-US" sz="2600">
                <a:latin typeface="Arial"/>
                <a:ea typeface="Arial"/>
                <a:cs typeface="Arial"/>
                <a:sym typeface="Arial"/>
              </a:rPr>
              <a:t> </a:t>
            </a:r>
            <a:r>
              <a:rPr lang="en-US" sz="2600" err="1">
                <a:latin typeface="Arial"/>
                <a:ea typeface="Arial"/>
                <a:cs typeface="Arial"/>
                <a:sym typeface="Arial"/>
              </a:rPr>
              <a:t>yếu</a:t>
            </a:r>
            <a:r>
              <a:rPr lang="en-US" sz="2600">
                <a:latin typeface="Arial"/>
                <a:ea typeface="Arial"/>
                <a:cs typeface="Arial"/>
                <a:sym typeface="Arial"/>
              </a:rPr>
              <a:t> </a:t>
            </a:r>
            <a:r>
              <a:rPr lang="en-US" sz="2600" err="1">
                <a:latin typeface="Arial"/>
                <a:ea typeface="Arial"/>
                <a:cs typeface="Arial"/>
                <a:sym typeface="Arial"/>
              </a:rPr>
              <a:t>quan</a:t>
            </a:r>
            <a:r>
              <a:rPr lang="en-US" sz="2600">
                <a:latin typeface="Arial"/>
                <a:ea typeface="Arial"/>
                <a:cs typeface="Arial"/>
                <a:sym typeface="Arial"/>
              </a:rPr>
              <a:t> </a:t>
            </a:r>
            <a:r>
              <a:rPr lang="en-US" sz="2600" err="1">
                <a:latin typeface="Arial"/>
                <a:ea typeface="Arial"/>
                <a:cs typeface="Arial"/>
                <a:sym typeface="Arial"/>
              </a:rPr>
              <a:t>tâm</a:t>
            </a:r>
            <a:r>
              <a:rPr lang="en-US" sz="2600">
                <a:latin typeface="Arial"/>
                <a:ea typeface="Arial"/>
                <a:cs typeface="Arial"/>
                <a:sym typeface="Arial"/>
              </a:rPr>
              <a:t> </a:t>
            </a:r>
            <a:r>
              <a:rPr lang="en-US" sz="2600" err="1">
                <a:latin typeface="Arial"/>
                <a:ea typeface="Arial"/>
                <a:cs typeface="Arial"/>
                <a:sym typeface="Arial"/>
              </a:rPr>
              <a:t>đến</a:t>
            </a:r>
            <a:r>
              <a:rPr lang="en-US" sz="2600">
                <a:latin typeface="Arial"/>
                <a:ea typeface="Arial"/>
                <a:cs typeface="Arial"/>
                <a:sym typeface="Arial"/>
              </a:rPr>
              <a:t> </a:t>
            </a:r>
            <a:r>
              <a:rPr lang="en-US" sz="2600" err="1">
                <a:latin typeface="Arial"/>
                <a:ea typeface="Arial"/>
                <a:cs typeface="Arial"/>
                <a:sym typeface="Arial"/>
              </a:rPr>
              <a:t>việc</a:t>
            </a:r>
            <a:r>
              <a:rPr lang="en-US" sz="2600">
                <a:latin typeface="Arial"/>
                <a:ea typeface="Arial"/>
                <a:cs typeface="Arial"/>
                <a:sym typeface="Arial"/>
              </a:rPr>
              <a:t> </a:t>
            </a:r>
            <a:r>
              <a:rPr lang="en-US" sz="2600" err="1">
                <a:latin typeface="Arial"/>
                <a:ea typeface="Arial"/>
                <a:cs typeface="Arial"/>
                <a:sym typeface="Arial"/>
              </a:rPr>
              <a:t>tối</a:t>
            </a:r>
            <a:r>
              <a:rPr lang="en-US" sz="2600">
                <a:latin typeface="Arial"/>
                <a:ea typeface="Arial"/>
                <a:cs typeface="Arial"/>
                <a:sym typeface="Arial"/>
              </a:rPr>
              <a:t> </a:t>
            </a:r>
            <a:r>
              <a:rPr lang="en-US" sz="2600" err="1">
                <a:latin typeface="Arial"/>
                <a:ea typeface="Arial"/>
                <a:cs typeface="Arial"/>
                <a:sym typeface="Arial"/>
              </a:rPr>
              <a:t>đa</a:t>
            </a:r>
            <a:r>
              <a:rPr lang="en-US" sz="2600">
                <a:latin typeface="Arial"/>
                <a:ea typeface="Arial"/>
                <a:cs typeface="Arial"/>
                <a:sym typeface="Arial"/>
              </a:rPr>
              <a:t> </a:t>
            </a:r>
            <a:r>
              <a:rPr lang="en-US" sz="2600" err="1">
                <a:latin typeface="Arial"/>
                <a:ea typeface="Arial"/>
                <a:cs typeface="Arial"/>
                <a:sym typeface="Arial"/>
              </a:rPr>
              <a:t>hóa</a:t>
            </a:r>
            <a:r>
              <a:rPr lang="en-US" sz="2600">
                <a:latin typeface="Arial"/>
                <a:ea typeface="Arial"/>
                <a:cs typeface="Arial"/>
                <a:sym typeface="Arial"/>
              </a:rPr>
              <a:t> </a:t>
            </a:r>
            <a:r>
              <a:rPr lang="en-US" sz="2600" err="1">
                <a:latin typeface="Arial"/>
                <a:ea typeface="Arial"/>
                <a:cs typeface="Arial"/>
                <a:sym typeface="Arial"/>
              </a:rPr>
              <a:t>giá</a:t>
            </a:r>
            <a:r>
              <a:rPr lang="en-US" sz="2600">
                <a:latin typeface="Arial"/>
                <a:ea typeface="Arial"/>
                <a:cs typeface="Arial"/>
                <a:sym typeface="Arial"/>
              </a:rPr>
              <a:t> </a:t>
            </a:r>
            <a:r>
              <a:rPr lang="en-US" sz="2600" err="1">
                <a:latin typeface="Arial"/>
                <a:ea typeface="Arial"/>
                <a:cs typeface="Arial"/>
                <a:sym typeface="Arial"/>
              </a:rPr>
              <a:t>trị</a:t>
            </a:r>
            <a:r>
              <a:rPr lang="en-US" sz="2600">
                <a:latin typeface="Arial"/>
                <a:ea typeface="Arial"/>
                <a:cs typeface="Arial"/>
                <a:sym typeface="Arial"/>
              </a:rPr>
              <a:t> </a:t>
            </a:r>
            <a:r>
              <a:rPr lang="en-US" sz="2600" err="1">
                <a:latin typeface="Arial"/>
                <a:ea typeface="Arial"/>
                <a:cs typeface="Arial"/>
                <a:sym typeface="Arial"/>
              </a:rPr>
              <a:t>đồng</a:t>
            </a:r>
            <a:r>
              <a:rPr lang="en-US" sz="2600">
                <a:latin typeface="Arial"/>
                <a:ea typeface="Arial"/>
                <a:cs typeface="Arial"/>
                <a:sym typeface="Arial"/>
              </a:rPr>
              <a:t> </a:t>
            </a:r>
            <a:r>
              <a:rPr lang="en-US" sz="2600" err="1">
                <a:latin typeface="Arial"/>
                <a:ea typeface="Arial"/>
                <a:cs typeface="Arial"/>
                <a:sym typeface="Arial"/>
              </a:rPr>
              <a:t>tiền</a:t>
            </a:r>
            <a:r>
              <a:rPr lang="en-US" sz="2600">
                <a:latin typeface="Arial"/>
                <a:ea typeface="Arial"/>
                <a:cs typeface="Arial"/>
                <a:sym typeface="Arial"/>
              </a:rPr>
              <a:t> </a:t>
            </a:r>
            <a:endParaRPr sz="2600">
              <a:latin typeface="Arial"/>
              <a:ea typeface="Arial"/>
              <a:cs typeface="Arial"/>
              <a:sym typeface="Arial"/>
            </a:endParaRPr>
          </a:p>
          <a:p>
            <a:pPr marL="685800" lvl="1" indent="-228600" algn="l" rtl="0">
              <a:lnSpc>
                <a:spcPct val="100000"/>
              </a:lnSpc>
              <a:spcBef>
                <a:spcPts val="1000"/>
              </a:spcBef>
              <a:spcAft>
                <a:spcPts val="0"/>
              </a:spcAft>
              <a:buSzPts val="2000"/>
              <a:buChar char="•"/>
            </a:pPr>
            <a:r>
              <a:rPr lang="en-US" sz="2600" b="1" err="1">
                <a:latin typeface="Arial"/>
                <a:ea typeface="Arial"/>
                <a:cs typeface="Arial"/>
                <a:sym typeface="Arial"/>
              </a:rPr>
              <a:t>Người</a:t>
            </a:r>
            <a:r>
              <a:rPr lang="en-US" sz="2600" b="1">
                <a:latin typeface="Arial"/>
                <a:ea typeface="Arial"/>
                <a:cs typeface="Arial"/>
                <a:sym typeface="Arial"/>
              </a:rPr>
              <a:t> </a:t>
            </a:r>
            <a:r>
              <a:rPr lang="en-US" sz="2600" b="1" err="1">
                <a:latin typeface="Arial"/>
                <a:ea typeface="Arial"/>
                <a:cs typeface="Arial"/>
                <a:sym typeface="Arial"/>
              </a:rPr>
              <a:t>mua</a:t>
            </a:r>
            <a:r>
              <a:rPr lang="en-US" sz="2600" b="1">
                <a:latin typeface="Arial"/>
                <a:ea typeface="Arial"/>
                <a:cs typeface="Arial"/>
                <a:sym typeface="Arial"/>
              </a:rPr>
              <a:t> </a:t>
            </a:r>
            <a:r>
              <a:rPr lang="en-US" sz="2600" b="1" err="1">
                <a:latin typeface="Arial"/>
                <a:ea typeface="Arial"/>
                <a:cs typeface="Arial"/>
                <a:sym typeface="Arial"/>
              </a:rPr>
              <a:t>sắm</a:t>
            </a:r>
            <a:r>
              <a:rPr lang="en-US" sz="2600" b="1">
                <a:latin typeface="Arial"/>
                <a:ea typeface="Arial"/>
                <a:cs typeface="Arial"/>
                <a:sym typeface="Arial"/>
              </a:rPr>
              <a:t> </a:t>
            </a:r>
            <a:r>
              <a:rPr lang="en-US" sz="2600" b="1" err="1">
                <a:latin typeface="Arial"/>
                <a:ea typeface="Arial"/>
                <a:cs typeface="Arial"/>
                <a:sym typeface="Arial"/>
              </a:rPr>
              <a:t>được</a:t>
            </a:r>
            <a:r>
              <a:rPr lang="en-US" sz="2600" b="1">
                <a:latin typeface="Arial"/>
                <a:ea typeface="Arial"/>
                <a:cs typeface="Arial"/>
                <a:sym typeface="Arial"/>
              </a:rPr>
              <a:t> </a:t>
            </a:r>
            <a:r>
              <a:rPr lang="en-US" sz="2600" b="1" err="1">
                <a:latin typeface="Arial"/>
                <a:ea typeface="Arial"/>
                <a:cs typeface="Arial"/>
                <a:sym typeface="Arial"/>
              </a:rPr>
              <a:t>cá</a:t>
            </a:r>
            <a:r>
              <a:rPr lang="en-US" sz="2600" b="1">
                <a:latin typeface="Arial"/>
                <a:ea typeface="Arial"/>
                <a:cs typeface="Arial"/>
                <a:sym typeface="Arial"/>
              </a:rPr>
              <a:t> </a:t>
            </a:r>
            <a:r>
              <a:rPr lang="en-US" sz="2600" b="1" err="1">
                <a:latin typeface="Arial"/>
                <a:ea typeface="Arial"/>
                <a:cs typeface="Arial"/>
                <a:sym typeface="Arial"/>
              </a:rPr>
              <a:t>nhân</a:t>
            </a:r>
            <a:r>
              <a:rPr lang="en-US" sz="2600" b="1">
                <a:latin typeface="Arial"/>
                <a:ea typeface="Arial"/>
                <a:cs typeface="Arial"/>
                <a:sym typeface="Arial"/>
              </a:rPr>
              <a:t> </a:t>
            </a:r>
            <a:r>
              <a:rPr lang="en-US" sz="2600" b="1" err="1">
                <a:latin typeface="Arial"/>
                <a:ea typeface="Arial"/>
                <a:cs typeface="Arial"/>
                <a:sym typeface="Arial"/>
              </a:rPr>
              <a:t>hóa</a:t>
            </a:r>
            <a:r>
              <a:rPr lang="en-US" sz="2600">
                <a:latin typeface="Arial"/>
                <a:ea typeface="Arial"/>
                <a:cs typeface="Arial"/>
                <a:sym typeface="Arial"/>
              </a:rPr>
              <a:t>: "</a:t>
            </a:r>
            <a:r>
              <a:rPr lang="en-US" sz="2600" err="1">
                <a:latin typeface="Arial"/>
                <a:ea typeface="Arial"/>
                <a:cs typeface="Arial"/>
                <a:sym typeface="Arial"/>
              </a:rPr>
              <a:t>Tôi</a:t>
            </a:r>
            <a:r>
              <a:rPr lang="en-US" sz="2600">
                <a:latin typeface="Arial"/>
                <a:ea typeface="Arial"/>
                <a:cs typeface="Arial"/>
                <a:sym typeface="Arial"/>
              </a:rPr>
              <a:t> </a:t>
            </a:r>
            <a:r>
              <a:rPr lang="en-US" sz="2600" err="1">
                <a:latin typeface="Arial"/>
                <a:ea typeface="Arial"/>
                <a:cs typeface="Arial"/>
                <a:sym typeface="Arial"/>
              </a:rPr>
              <a:t>mua</a:t>
            </a:r>
            <a:r>
              <a:rPr lang="en-US" sz="2600">
                <a:latin typeface="Arial"/>
                <a:ea typeface="Arial"/>
                <a:cs typeface="Arial"/>
                <a:sym typeface="Arial"/>
              </a:rPr>
              <a:t> </a:t>
            </a:r>
            <a:r>
              <a:rPr lang="en-US" sz="2600" err="1">
                <a:latin typeface="Arial"/>
                <a:ea typeface="Arial"/>
                <a:cs typeface="Arial"/>
                <a:sym typeface="Arial"/>
              </a:rPr>
              <a:t>sắm</a:t>
            </a:r>
            <a:r>
              <a:rPr lang="en-US" sz="2600">
                <a:latin typeface="Arial"/>
                <a:ea typeface="Arial"/>
                <a:cs typeface="Arial"/>
                <a:sym typeface="Arial"/>
              </a:rPr>
              <a:t> ở </a:t>
            </a:r>
            <a:r>
              <a:rPr lang="en-US" sz="2600" err="1">
                <a:latin typeface="Arial"/>
                <a:ea typeface="Arial"/>
                <a:cs typeface="Arial"/>
                <a:sym typeface="Arial"/>
              </a:rPr>
              <a:t>nơi</a:t>
            </a:r>
            <a:r>
              <a:rPr lang="en-US" sz="2600">
                <a:latin typeface="Arial"/>
                <a:ea typeface="Arial"/>
                <a:cs typeface="Arial"/>
                <a:sym typeface="Arial"/>
              </a:rPr>
              <a:t> </a:t>
            </a:r>
            <a:r>
              <a:rPr lang="en-US" sz="2600" err="1">
                <a:latin typeface="Arial"/>
                <a:ea typeface="Arial"/>
                <a:cs typeface="Arial"/>
                <a:sym typeface="Arial"/>
              </a:rPr>
              <a:t>họ</a:t>
            </a:r>
            <a:r>
              <a:rPr lang="en-US" sz="2600">
                <a:latin typeface="Arial"/>
                <a:ea typeface="Arial"/>
                <a:cs typeface="Arial"/>
                <a:sym typeface="Arial"/>
              </a:rPr>
              <a:t> </a:t>
            </a:r>
            <a:r>
              <a:rPr lang="en-US" sz="2600" err="1">
                <a:latin typeface="Arial"/>
                <a:ea typeface="Arial"/>
                <a:cs typeface="Arial"/>
                <a:sym typeface="Arial"/>
              </a:rPr>
              <a:t>biết</a:t>
            </a:r>
            <a:r>
              <a:rPr lang="en-US" sz="2600">
                <a:latin typeface="Arial"/>
                <a:ea typeface="Arial"/>
                <a:cs typeface="Arial"/>
                <a:sym typeface="Arial"/>
              </a:rPr>
              <a:t> </a:t>
            </a:r>
            <a:r>
              <a:rPr lang="en-US" sz="2600" err="1">
                <a:latin typeface="Arial"/>
                <a:ea typeface="Arial"/>
                <a:cs typeface="Arial"/>
                <a:sym typeface="Arial"/>
              </a:rPr>
              <a:t>tên</a:t>
            </a:r>
            <a:r>
              <a:rPr lang="en-US" sz="2600">
                <a:latin typeface="Arial"/>
                <a:ea typeface="Arial"/>
                <a:cs typeface="Arial"/>
                <a:sym typeface="Arial"/>
              </a:rPr>
              <a:t> </a:t>
            </a:r>
            <a:r>
              <a:rPr lang="en-US" sz="2600" err="1">
                <a:latin typeface="Arial"/>
                <a:ea typeface="Arial"/>
                <a:cs typeface="Arial"/>
                <a:sym typeface="Arial"/>
              </a:rPr>
              <a:t>tôi</a:t>
            </a:r>
            <a:r>
              <a:rPr lang="en-US" sz="2600">
                <a:latin typeface="Arial"/>
                <a:ea typeface="Arial"/>
                <a:cs typeface="Arial"/>
                <a:sym typeface="Arial"/>
              </a:rPr>
              <a:t>". </a:t>
            </a:r>
            <a:endParaRPr sz="2600">
              <a:latin typeface="Arial"/>
              <a:ea typeface="Arial"/>
              <a:cs typeface="Arial"/>
              <a:sym typeface="Arial"/>
            </a:endParaRPr>
          </a:p>
          <a:p>
            <a:pPr marL="685800" lvl="1" indent="-228600" algn="l" rtl="0">
              <a:lnSpc>
                <a:spcPct val="100000"/>
              </a:lnSpc>
              <a:spcBef>
                <a:spcPts val="1000"/>
              </a:spcBef>
              <a:spcAft>
                <a:spcPts val="0"/>
              </a:spcAft>
              <a:buSzPts val="2000"/>
              <a:buChar char="•"/>
            </a:pPr>
            <a:r>
              <a:rPr lang="en-US" sz="2600" b="1" err="1">
                <a:latin typeface="Arial"/>
                <a:ea typeface="Arial"/>
                <a:cs typeface="Arial"/>
                <a:sym typeface="Arial"/>
              </a:rPr>
              <a:t>Người</a:t>
            </a:r>
            <a:r>
              <a:rPr lang="en-US" sz="2600" b="1">
                <a:latin typeface="Arial"/>
                <a:ea typeface="Arial"/>
                <a:cs typeface="Arial"/>
                <a:sym typeface="Arial"/>
              </a:rPr>
              <a:t> </a:t>
            </a:r>
            <a:r>
              <a:rPr lang="en-US" sz="2600" b="1" err="1">
                <a:latin typeface="Arial"/>
                <a:ea typeface="Arial"/>
                <a:cs typeface="Arial"/>
                <a:sym typeface="Arial"/>
              </a:rPr>
              <a:t>mua</a:t>
            </a:r>
            <a:r>
              <a:rPr lang="en-US" sz="2600" b="1">
                <a:latin typeface="Arial"/>
                <a:ea typeface="Arial"/>
                <a:cs typeface="Arial"/>
                <a:sym typeface="Arial"/>
              </a:rPr>
              <a:t> </a:t>
            </a:r>
            <a:r>
              <a:rPr lang="en-US" sz="2600" b="1" err="1">
                <a:latin typeface="Arial"/>
                <a:ea typeface="Arial"/>
                <a:cs typeface="Arial"/>
                <a:sym typeface="Arial"/>
              </a:rPr>
              <a:t>sắm</a:t>
            </a:r>
            <a:r>
              <a:rPr lang="en-US" sz="2600" b="1">
                <a:latin typeface="Arial"/>
                <a:ea typeface="Arial"/>
                <a:cs typeface="Arial"/>
                <a:sym typeface="Arial"/>
              </a:rPr>
              <a:t> </a:t>
            </a:r>
            <a:r>
              <a:rPr lang="en-US" sz="2600" b="1" err="1">
                <a:latin typeface="Arial"/>
                <a:ea typeface="Arial"/>
                <a:cs typeface="Arial"/>
                <a:sym typeface="Arial"/>
              </a:rPr>
              <a:t>có</a:t>
            </a:r>
            <a:r>
              <a:rPr lang="en-US" sz="2600" b="1">
                <a:latin typeface="Arial"/>
                <a:ea typeface="Arial"/>
                <a:cs typeface="Arial"/>
                <a:sym typeface="Arial"/>
              </a:rPr>
              <a:t> </a:t>
            </a:r>
            <a:r>
              <a:rPr lang="en-US" sz="2600" b="1" err="1">
                <a:latin typeface="Arial"/>
                <a:ea typeface="Arial"/>
                <a:cs typeface="Arial"/>
                <a:sym typeface="Arial"/>
              </a:rPr>
              <a:t>đạo</a:t>
            </a:r>
            <a:r>
              <a:rPr lang="en-US" sz="2600" b="1">
                <a:latin typeface="Arial"/>
                <a:ea typeface="Arial"/>
                <a:cs typeface="Arial"/>
                <a:sym typeface="Arial"/>
              </a:rPr>
              <a:t> </a:t>
            </a:r>
            <a:r>
              <a:rPr lang="en-US" sz="2600" b="1" err="1">
                <a:latin typeface="Arial"/>
                <a:ea typeface="Arial"/>
                <a:cs typeface="Arial"/>
                <a:sym typeface="Arial"/>
              </a:rPr>
              <a:t>đức</a:t>
            </a:r>
            <a:r>
              <a:rPr lang="en-US" sz="2600">
                <a:latin typeface="Arial"/>
                <a:ea typeface="Arial"/>
                <a:cs typeface="Arial"/>
                <a:sym typeface="Arial"/>
              </a:rPr>
              <a:t>: </a:t>
            </a:r>
            <a:r>
              <a:rPr lang="en-US" sz="2600" err="1">
                <a:latin typeface="Arial"/>
                <a:ea typeface="Arial"/>
                <a:cs typeface="Arial"/>
                <a:sym typeface="Arial"/>
              </a:rPr>
              <a:t>thích</a:t>
            </a:r>
            <a:r>
              <a:rPr lang="en-US" sz="2600">
                <a:latin typeface="Arial"/>
                <a:ea typeface="Arial"/>
                <a:cs typeface="Arial"/>
                <a:sym typeface="Arial"/>
              </a:rPr>
              <a:t> </a:t>
            </a:r>
            <a:r>
              <a:rPr lang="en-US" sz="2600" err="1">
                <a:latin typeface="Arial"/>
                <a:ea typeface="Arial"/>
                <a:cs typeface="Arial"/>
                <a:sym typeface="Arial"/>
              </a:rPr>
              <a:t>hỗ</a:t>
            </a:r>
            <a:r>
              <a:rPr lang="en-US" sz="2600">
                <a:latin typeface="Arial"/>
                <a:ea typeface="Arial"/>
                <a:cs typeface="Arial"/>
                <a:sym typeface="Arial"/>
              </a:rPr>
              <a:t> </a:t>
            </a:r>
            <a:r>
              <a:rPr lang="en-US" sz="2600" err="1">
                <a:latin typeface="Arial"/>
                <a:ea typeface="Arial"/>
                <a:cs typeface="Arial"/>
                <a:sym typeface="Arial"/>
              </a:rPr>
              <a:t>trợ</a:t>
            </a:r>
            <a:r>
              <a:rPr lang="en-US" sz="2600">
                <a:latin typeface="Arial"/>
                <a:ea typeface="Arial"/>
                <a:cs typeface="Arial"/>
                <a:sym typeface="Arial"/>
              </a:rPr>
              <a:t> </a:t>
            </a:r>
            <a:r>
              <a:rPr lang="en-US" sz="2600" err="1">
                <a:latin typeface="Arial"/>
                <a:ea typeface="Arial"/>
                <a:cs typeface="Arial"/>
                <a:sym typeface="Arial"/>
              </a:rPr>
              <a:t>các</a:t>
            </a:r>
            <a:r>
              <a:rPr lang="en-US" sz="2600">
                <a:latin typeface="Arial"/>
                <a:ea typeface="Arial"/>
                <a:cs typeface="Arial"/>
                <a:sym typeface="Arial"/>
              </a:rPr>
              <a:t> </a:t>
            </a:r>
            <a:r>
              <a:rPr lang="en-US" sz="2600" err="1">
                <a:latin typeface="Arial"/>
                <a:ea typeface="Arial"/>
                <a:cs typeface="Arial"/>
                <a:sym typeface="Arial"/>
              </a:rPr>
              <a:t>cửa</a:t>
            </a:r>
            <a:r>
              <a:rPr lang="en-US" sz="2600">
                <a:latin typeface="Arial"/>
                <a:ea typeface="Arial"/>
                <a:cs typeface="Arial"/>
                <a:sym typeface="Arial"/>
              </a:rPr>
              <a:t> </a:t>
            </a:r>
            <a:r>
              <a:rPr lang="en-US" sz="2600" err="1">
                <a:latin typeface="Arial"/>
                <a:ea typeface="Arial"/>
                <a:cs typeface="Arial"/>
                <a:sym typeface="Arial"/>
              </a:rPr>
              <a:t>hàng</a:t>
            </a:r>
            <a:r>
              <a:rPr lang="en-US" sz="2600">
                <a:latin typeface="Arial"/>
                <a:ea typeface="Arial"/>
                <a:cs typeface="Arial"/>
                <a:sym typeface="Arial"/>
              </a:rPr>
              <a:t> </a:t>
            </a:r>
            <a:r>
              <a:rPr lang="en-US" sz="2600" err="1">
                <a:latin typeface="Arial"/>
                <a:ea typeface="Arial"/>
                <a:cs typeface="Arial"/>
                <a:sym typeface="Arial"/>
              </a:rPr>
              <a:t>địa</a:t>
            </a:r>
            <a:r>
              <a:rPr lang="en-US" sz="2600">
                <a:latin typeface="Arial"/>
                <a:ea typeface="Arial"/>
                <a:cs typeface="Arial"/>
                <a:sym typeface="Arial"/>
              </a:rPr>
              <a:t> </a:t>
            </a:r>
            <a:r>
              <a:rPr lang="en-US" sz="2600" err="1">
                <a:latin typeface="Arial"/>
                <a:ea typeface="Arial"/>
                <a:cs typeface="Arial"/>
                <a:sym typeface="Arial"/>
              </a:rPr>
              <a:t>phương</a:t>
            </a:r>
            <a:r>
              <a:rPr lang="en-US" sz="2600">
                <a:latin typeface="Arial"/>
                <a:ea typeface="Arial"/>
                <a:cs typeface="Arial"/>
                <a:sym typeface="Arial"/>
              </a:rPr>
              <a:t> </a:t>
            </a:r>
            <a:r>
              <a:rPr lang="en-US" sz="2600" err="1">
                <a:latin typeface="Arial"/>
                <a:ea typeface="Arial"/>
                <a:cs typeface="Arial"/>
                <a:sym typeface="Arial"/>
              </a:rPr>
              <a:t>hơn</a:t>
            </a:r>
            <a:r>
              <a:rPr lang="en-US" sz="2600">
                <a:latin typeface="Arial"/>
                <a:ea typeface="Arial"/>
                <a:cs typeface="Arial"/>
                <a:sym typeface="Arial"/>
              </a:rPr>
              <a:t> </a:t>
            </a:r>
            <a:r>
              <a:rPr lang="en-US" sz="2600" err="1">
                <a:latin typeface="Arial"/>
                <a:ea typeface="Arial"/>
                <a:cs typeface="Arial"/>
                <a:sym typeface="Arial"/>
              </a:rPr>
              <a:t>là</a:t>
            </a:r>
            <a:r>
              <a:rPr lang="en-US" sz="2600">
                <a:latin typeface="Arial"/>
                <a:ea typeface="Arial"/>
                <a:cs typeface="Arial"/>
                <a:sym typeface="Arial"/>
              </a:rPr>
              <a:t> </a:t>
            </a:r>
            <a:r>
              <a:rPr lang="en-US" sz="2600" err="1">
                <a:latin typeface="Arial"/>
                <a:ea typeface="Arial"/>
                <a:cs typeface="Arial"/>
                <a:sym typeface="Arial"/>
              </a:rPr>
              <a:t>các</a:t>
            </a:r>
            <a:r>
              <a:rPr lang="en-US" sz="2600">
                <a:latin typeface="Arial"/>
                <a:ea typeface="Arial"/>
                <a:cs typeface="Arial"/>
                <a:sym typeface="Arial"/>
              </a:rPr>
              <a:t> </a:t>
            </a:r>
            <a:r>
              <a:rPr lang="en-US" sz="2600" err="1">
                <a:latin typeface="Arial"/>
                <a:ea typeface="Arial"/>
                <a:cs typeface="Arial"/>
                <a:sym typeface="Arial"/>
              </a:rPr>
              <a:t>cửa</a:t>
            </a:r>
            <a:r>
              <a:rPr lang="en-US" sz="2600">
                <a:latin typeface="Arial"/>
                <a:ea typeface="Arial"/>
                <a:cs typeface="Arial"/>
                <a:sym typeface="Arial"/>
              </a:rPr>
              <a:t> </a:t>
            </a:r>
            <a:r>
              <a:rPr lang="en-US" sz="2600" err="1">
                <a:latin typeface="Arial"/>
                <a:ea typeface="Arial"/>
                <a:cs typeface="Arial"/>
                <a:sym typeface="Arial"/>
              </a:rPr>
              <a:t>hàng</a:t>
            </a:r>
            <a:r>
              <a:rPr lang="en-US" sz="2600">
                <a:latin typeface="Arial"/>
                <a:ea typeface="Arial"/>
                <a:cs typeface="Arial"/>
                <a:sym typeface="Arial"/>
              </a:rPr>
              <a:t> </a:t>
            </a:r>
            <a:r>
              <a:rPr lang="en-US" sz="2600" err="1">
                <a:latin typeface="Arial"/>
                <a:ea typeface="Arial"/>
                <a:cs typeface="Arial"/>
                <a:sym typeface="Arial"/>
              </a:rPr>
              <a:t>chuỗi</a:t>
            </a:r>
            <a:r>
              <a:rPr lang="en-US" sz="2600">
                <a:latin typeface="Arial"/>
                <a:ea typeface="Arial"/>
                <a:cs typeface="Arial"/>
                <a:sym typeface="Arial"/>
              </a:rPr>
              <a:t>. </a:t>
            </a:r>
            <a:endParaRPr sz="2600">
              <a:latin typeface="Arial"/>
              <a:ea typeface="Arial"/>
              <a:cs typeface="Arial"/>
              <a:sym typeface="Arial"/>
            </a:endParaRPr>
          </a:p>
          <a:p>
            <a:pPr marL="685800" lvl="1" indent="-228600" algn="l" rtl="0">
              <a:lnSpc>
                <a:spcPct val="100000"/>
              </a:lnSpc>
              <a:spcBef>
                <a:spcPts val="1000"/>
              </a:spcBef>
              <a:spcAft>
                <a:spcPts val="0"/>
              </a:spcAft>
              <a:buSzPts val="2000"/>
              <a:buChar char="•"/>
            </a:pPr>
            <a:r>
              <a:rPr lang="en-US" sz="2600" b="1" err="1">
                <a:latin typeface="Arial"/>
                <a:ea typeface="Arial"/>
                <a:cs typeface="Arial"/>
                <a:sym typeface="Arial"/>
              </a:rPr>
              <a:t>Người</a:t>
            </a:r>
            <a:r>
              <a:rPr lang="en-US" sz="2600" b="1">
                <a:latin typeface="Arial"/>
                <a:ea typeface="Arial"/>
                <a:cs typeface="Arial"/>
                <a:sym typeface="Arial"/>
              </a:rPr>
              <a:t> </a:t>
            </a:r>
            <a:r>
              <a:rPr lang="en-US" sz="2600" b="1" err="1">
                <a:latin typeface="Arial"/>
                <a:ea typeface="Arial"/>
                <a:cs typeface="Arial"/>
                <a:sym typeface="Arial"/>
              </a:rPr>
              <a:t>mua</a:t>
            </a:r>
            <a:r>
              <a:rPr lang="en-US" sz="2600" b="1">
                <a:latin typeface="Arial"/>
                <a:ea typeface="Arial"/>
                <a:cs typeface="Arial"/>
                <a:sym typeface="Arial"/>
              </a:rPr>
              <a:t> </a:t>
            </a:r>
            <a:r>
              <a:rPr lang="en-US" sz="2600" b="1" err="1">
                <a:latin typeface="Arial"/>
                <a:ea typeface="Arial"/>
                <a:cs typeface="Arial"/>
                <a:sym typeface="Arial"/>
              </a:rPr>
              <a:t>sắm</a:t>
            </a:r>
            <a:r>
              <a:rPr lang="en-US" sz="2600" b="1">
                <a:latin typeface="Arial"/>
                <a:ea typeface="Arial"/>
                <a:cs typeface="Arial"/>
                <a:sym typeface="Arial"/>
              </a:rPr>
              <a:t> </a:t>
            </a:r>
            <a:r>
              <a:rPr lang="en-US" sz="2600" b="1" err="1">
                <a:latin typeface="Arial"/>
                <a:ea typeface="Arial"/>
                <a:cs typeface="Arial"/>
                <a:sym typeface="Arial"/>
              </a:rPr>
              <a:t>thờ</a:t>
            </a:r>
            <a:r>
              <a:rPr lang="en-US" sz="2600" b="1">
                <a:latin typeface="Arial"/>
                <a:ea typeface="Arial"/>
                <a:cs typeface="Arial"/>
                <a:sym typeface="Arial"/>
              </a:rPr>
              <a:t> ơ</a:t>
            </a:r>
            <a:r>
              <a:rPr lang="en-US" sz="2600">
                <a:latin typeface="Arial"/>
                <a:ea typeface="Arial"/>
                <a:cs typeface="Arial"/>
                <a:sym typeface="Arial"/>
              </a:rPr>
              <a:t>: </a:t>
            </a:r>
            <a:r>
              <a:rPr lang="en-US" sz="2600" err="1">
                <a:latin typeface="Arial"/>
                <a:ea typeface="Arial"/>
                <a:cs typeface="Arial"/>
                <a:sym typeface="Arial"/>
              </a:rPr>
              <a:t>một</a:t>
            </a:r>
            <a:r>
              <a:rPr lang="en-US" sz="2600">
                <a:latin typeface="Arial"/>
                <a:ea typeface="Arial"/>
                <a:cs typeface="Arial"/>
                <a:sym typeface="Arial"/>
              </a:rPr>
              <a:t> </a:t>
            </a:r>
            <a:r>
              <a:rPr lang="en-US" sz="2600" err="1">
                <a:latin typeface="Arial"/>
                <a:ea typeface="Arial"/>
                <a:cs typeface="Arial"/>
                <a:sym typeface="Arial"/>
              </a:rPr>
              <a:t>người</a:t>
            </a:r>
            <a:r>
              <a:rPr lang="en-US" sz="2600">
                <a:latin typeface="Arial"/>
                <a:ea typeface="Arial"/>
                <a:cs typeface="Arial"/>
                <a:sym typeface="Arial"/>
              </a:rPr>
              <a:t> </a:t>
            </a:r>
            <a:r>
              <a:rPr lang="en-US" sz="2600" err="1">
                <a:latin typeface="Arial"/>
                <a:ea typeface="Arial"/>
                <a:cs typeface="Arial"/>
                <a:sym typeface="Arial"/>
              </a:rPr>
              <a:t>không</a:t>
            </a:r>
            <a:r>
              <a:rPr lang="en-US" sz="2600">
                <a:latin typeface="Arial"/>
                <a:ea typeface="Arial"/>
                <a:cs typeface="Arial"/>
                <a:sym typeface="Arial"/>
              </a:rPr>
              <a:t> </a:t>
            </a:r>
            <a:r>
              <a:rPr lang="en-US" sz="2600" err="1">
                <a:latin typeface="Arial"/>
                <a:ea typeface="Arial"/>
                <a:cs typeface="Arial"/>
                <a:sym typeface="Arial"/>
              </a:rPr>
              <a:t>thích</a:t>
            </a:r>
            <a:r>
              <a:rPr lang="en-US" sz="2600">
                <a:latin typeface="Arial"/>
                <a:ea typeface="Arial"/>
                <a:cs typeface="Arial"/>
                <a:sym typeface="Arial"/>
              </a:rPr>
              <a:t> </a:t>
            </a:r>
            <a:r>
              <a:rPr lang="en-US" sz="2600" err="1">
                <a:latin typeface="Arial"/>
                <a:ea typeface="Arial"/>
                <a:cs typeface="Arial"/>
                <a:sym typeface="Arial"/>
              </a:rPr>
              <a:t>mua</a:t>
            </a:r>
            <a:r>
              <a:rPr lang="en-US" sz="2600">
                <a:latin typeface="Arial"/>
                <a:ea typeface="Arial"/>
                <a:cs typeface="Arial"/>
                <a:sym typeface="Arial"/>
              </a:rPr>
              <a:t> </a:t>
            </a:r>
            <a:r>
              <a:rPr lang="en-US" sz="2600" err="1">
                <a:latin typeface="Arial"/>
                <a:ea typeface="Arial"/>
                <a:cs typeface="Arial"/>
                <a:sym typeface="Arial"/>
              </a:rPr>
              <a:t>sắm</a:t>
            </a:r>
            <a:r>
              <a:rPr lang="en-US" sz="2600">
                <a:latin typeface="Arial"/>
                <a:ea typeface="Arial"/>
                <a:cs typeface="Arial"/>
                <a:sym typeface="Arial"/>
              </a:rPr>
              <a:t> </a:t>
            </a:r>
            <a:endParaRPr sz="2600">
              <a:latin typeface="Arial"/>
              <a:ea typeface="Arial"/>
              <a:cs typeface="Arial"/>
              <a:sym typeface="Arial"/>
            </a:endParaRPr>
          </a:p>
          <a:p>
            <a:pPr marL="685800" lvl="1" indent="-228600" algn="l" rtl="0">
              <a:lnSpc>
                <a:spcPct val="100000"/>
              </a:lnSpc>
              <a:spcBef>
                <a:spcPts val="1000"/>
              </a:spcBef>
              <a:spcAft>
                <a:spcPts val="0"/>
              </a:spcAft>
              <a:buSzPts val="2000"/>
              <a:buChar char="•"/>
            </a:pPr>
            <a:r>
              <a:rPr lang="en-US" sz="2600" b="1" err="1">
                <a:latin typeface="Arial"/>
                <a:ea typeface="Arial"/>
                <a:cs typeface="Arial"/>
                <a:sym typeface="Arial"/>
              </a:rPr>
              <a:t>Người</a:t>
            </a:r>
            <a:r>
              <a:rPr lang="en-US" sz="2600" b="1">
                <a:latin typeface="Arial"/>
                <a:ea typeface="Arial"/>
                <a:cs typeface="Arial"/>
                <a:sym typeface="Arial"/>
              </a:rPr>
              <a:t> </a:t>
            </a:r>
            <a:r>
              <a:rPr lang="en-US" sz="2600" b="1" err="1">
                <a:latin typeface="Arial"/>
                <a:ea typeface="Arial"/>
                <a:cs typeface="Arial"/>
                <a:sym typeface="Arial"/>
              </a:rPr>
              <a:t>mua</a:t>
            </a:r>
            <a:r>
              <a:rPr lang="en-US" sz="2600" b="1">
                <a:latin typeface="Arial"/>
                <a:ea typeface="Arial"/>
                <a:cs typeface="Arial"/>
                <a:sym typeface="Arial"/>
              </a:rPr>
              <a:t> </a:t>
            </a:r>
            <a:r>
              <a:rPr lang="en-US" sz="2600" b="1" err="1">
                <a:latin typeface="Arial"/>
                <a:ea typeface="Arial"/>
                <a:cs typeface="Arial"/>
                <a:sym typeface="Arial"/>
              </a:rPr>
              <a:t>sắm</a:t>
            </a:r>
            <a:r>
              <a:rPr lang="en-US" sz="2600" b="1">
                <a:latin typeface="Arial"/>
                <a:ea typeface="Arial"/>
                <a:cs typeface="Arial"/>
                <a:sym typeface="Arial"/>
              </a:rPr>
              <a:t> </a:t>
            </a:r>
            <a:r>
              <a:rPr lang="en-US" sz="2600" b="1" err="1">
                <a:latin typeface="Arial"/>
                <a:ea typeface="Arial"/>
                <a:cs typeface="Arial"/>
                <a:sym typeface="Arial"/>
              </a:rPr>
              <a:t>giải</a:t>
            </a:r>
            <a:r>
              <a:rPr lang="en-US" sz="2600" b="1">
                <a:latin typeface="Arial"/>
                <a:ea typeface="Arial"/>
                <a:cs typeface="Arial"/>
                <a:sym typeface="Arial"/>
              </a:rPr>
              <a:t> </a:t>
            </a:r>
            <a:r>
              <a:rPr lang="en-US" sz="2600" b="1" err="1">
                <a:latin typeface="Arial"/>
                <a:ea typeface="Arial"/>
                <a:cs typeface="Arial"/>
                <a:sym typeface="Arial"/>
              </a:rPr>
              <a:t>trí</a:t>
            </a:r>
            <a:r>
              <a:rPr lang="en-US" sz="2600">
                <a:latin typeface="Arial"/>
                <a:ea typeface="Arial"/>
                <a:cs typeface="Arial"/>
                <a:sym typeface="Arial"/>
              </a:rPr>
              <a:t>: </a:t>
            </a:r>
            <a:r>
              <a:rPr lang="en-US" sz="2600" err="1">
                <a:latin typeface="Arial"/>
                <a:ea typeface="Arial"/>
                <a:cs typeface="Arial"/>
                <a:sym typeface="Arial"/>
              </a:rPr>
              <a:t>coi</a:t>
            </a:r>
            <a:r>
              <a:rPr lang="en-US" sz="2600">
                <a:latin typeface="Arial"/>
                <a:ea typeface="Arial"/>
                <a:cs typeface="Arial"/>
                <a:sym typeface="Arial"/>
              </a:rPr>
              <a:t> </a:t>
            </a:r>
            <a:r>
              <a:rPr lang="en-US" sz="2600" err="1">
                <a:latin typeface="Arial"/>
                <a:ea typeface="Arial"/>
                <a:cs typeface="Arial"/>
                <a:sym typeface="Arial"/>
              </a:rPr>
              <a:t>mua</a:t>
            </a:r>
            <a:r>
              <a:rPr lang="en-US" sz="2600">
                <a:latin typeface="Arial"/>
                <a:ea typeface="Arial"/>
                <a:cs typeface="Arial"/>
                <a:sym typeface="Arial"/>
              </a:rPr>
              <a:t> </a:t>
            </a:r>
            <a:r>
              <a:rPr lang="en-US" sz="2600" err="1">
                <a:latin typeface="Arial"/>
                <a:ea typeface="Arial"/>
                <a:cs typeface="Arial"/>
                <a:sym typeface="Arial"/>
              </a:rPr>
              <a:t>sắm</a:t>
            </a:r>
            <a:r>
              <a:rPr lang="en-US" sz="2600">
                <a:latin typeface="Arial"/>
                <a:ea typeface="Arial"/>
                <a:cs typeface="Arial"/>
                <a:sym typeface="Arial"/>
              </a:rPr>
              <a:t> </a:t>
            </a:r>
            <a:r>
              <a:rPr lang="en-US" sz="2600" err="1">
                <a:latin typeface="Arial"/>
                <a:ea typeface="Arial"/>
                <a:cs typeface="Arial"/>
                <a:sym typeface="Arial"/>
              </a:rPr>
              <a:t>như</a:t>
            </a:r>
            <a:r>
              <a:rPr lang="en-US" sz="2600">
                <a:latin typeface="Arial"/>
                <a:ea typeface="Arial"/>
                <a:cs typeface="Arial"/>
                <a:sym typeface="Arial"/>
              </a:rPr>
              <a:t> </a:t>
            </a:r>
            <a:r>
              <a:rPr lang="en-US" sz="2600" err="1">
                <a:latin typeface="Arial"/>
                <a:ea typeface="Arial"/>
                <a:cs typeface="Arial"/>
                <a:sym typeface="Arial"/>
              </a:rPr>
              <a:t>một</a:t>
            </a:r>
            <a:r>
              <a:rPr lang="en-US" sz="2600">
                <a:latin typeface="Arial"/>
                <a:ea typeface="Arial"/>
                <a:cs typeface="Arial"/>
                <a:sym typeface="Arial"/>
              </a:rPr>
              <a:t> </a:t>
            </a:r>
            <a:r>
              <a:rPr lang="en-US" sz="2600" err="1">
                <a:latin typeface="Arial"/>
                <a:ea typeface="Arial"/>
                <a:cs typeface="Arial"/>
                <a:sym typeface="Arial"/>
              </a:rPr>
              <a:t>cách</a:t>
            </a:r>
            <a:r>
              <a:rPr lang="en-US" sz="2600">
                <a:latin typeface="Arial"/>
                <a:ea typeface="Arial"/>
                <a:cs typeface="Arial"/>
                <a:sym typeface="Arial"/>
              </a:rPr>
              <a:t> </a:t>
            </a:r>
            <a:r>
              <a:rPr lang="en-US" sz="2600" err="1">
                <a:latin typeface="Arial"/>
                <a:ea typeface="Arial"/>
                <a:cs typeface="Arial"/>
                <a:sym typeface="Arial"/>
              </a:rPr>
              <a:t>ưu</a:t>
            </a:r>
            <a:r>
              <a:rPr lang="en-US" sz="2600">
                <a:latin typeface="Arial"/>
                <a:ea typeface="Arial"/>
                <a:cs typeface="Arial"/>
                <a:sym typeface="Arial"/>
              </a:rPr>
              <a:t> </a:t>
            </a:r>
            <a:r>
              <a:rPr lang="en-US" sz="2600" err="1">
                <a:latin typeface="Arial"/>
                <a:ea typeface="Arial"/>
                <a:cs typeface="Arial"/>
                <a:sym typeface="Arial"/>
              </a:rPr>
              <a:t>tiên</a:t>
            </a:r>
            <a:r>
              <a:rPr lang="en-US" sz="2600">
                <a:latin typeface="Arial"/>
                <a:ea typeface="Arial"/>
                <a:cs typeface="Arial"/>
                <a:sym typeface="Arial"/>
              </a:rPr>
              <a:t> </a:t>
            </a:r>
            <a:r>
              <a:rPr lang="en-US" sz="2600" err="1">
                <a:latin typeface="Arial"/>
                <a:ea typeface="Arial"/>
                <a:cs typeface="Arial"/>
                <a:sym typeface="Arial"/>
              </a:rPr>
              <a:t>thời</a:t>
            </a:r>
            <a:r>
              <a:rPr lang="en-US" sz="2600">
                <a:latin typeface="Arial"/>
                <a:ea typeface="Arial"/>
                <a:cs typeface="Arial"/>
                <a:sym typeface="Arial"/>
              </a:rPr>
              <a:t> </a:t>
            </a:r>
            <a:r>
              <a:rPr lang="en-US" sz="2600" err="1">
                <a:latin typeface="Arial"/>
                <a:ea typeface="Arial"/>
                <a:cs typeface="Arial"/>
                <a:sym typeface="Arial"/>
              </a:rPr>
              <a:t>gian</a:t>
            </a:r>
            <a:r>
              <a:rPr lang="en-US" sz="2600">
                <a:latin typeface="Arial"/>
                <a:ea typeface="Arial"/>
                <a:cs typeface="Arial"/>
                <a:sym typeface="Arial"/>
              </a:rPr>
              <a:t> </a:t>
            </a:r>
            <a:r>
              <a:rPr lang="en-US" sz="2600" err="1">
                <a:latin typeface="Arial"/>
                <a:ea typeface="Arial"/>
                <a:cs typeface="Arial"/>
                <a:sym typeface="Arial"/>
              </a:rPr>
              <a:t>giải</a:t>
            </a:r>
            <a:r>
              <a:rPr lang="en-US" sz="2600">
                <a:latin typeface="Arial"/>
                <a:ea typeface="Arial"/>
                <a:cs typeface="Arial"/>
                <a:sym typeface="Arial"/>
              </a:rPr>
              <a:t> </a:t>
            </a:r>
            <a:r>
              <a:rPr lang="en-US" sz="2600" err="1">
                <a:latin typeface="Arial"/>
                <a:ea typeface="Arial"/>
                <a:cs typeface="Arial"/>
                <a:sym typeface="Arial"/>
              </a:rPr>
              <a:t>trí</a:t>
            </a:r>
            <a:r>
              <a:rPr lang="en-US" sz="2600">
                <a:latin typeface="Arial"/>
                <a:ea typeface="Arial"/>
                <a:cs typeface="Arial"/>
                <a:sym typeface="Arial"/>
              </a:rPr>
              <a:t>.</a:t>
            </a:r>
            <a:endParaRPr sz="2600">
              <a:latin typeface="Arial"/>
              <a:ea typeface="Arial"/>
              <a:cs typeface="Arial"/>
              <a:sym typeface="Arial"/>
            </a:endParaRPr>
          </a:p>
          <a:p>
            <a:pPr marL="685800" lvl="1" indent="-95250" algn="l" rtl="0">
              <a:lnSpc>
                <a:spcPct val="100000"/>
              </a:lnSpc>
              <a:spcBef>
                <a:spcPts val="1000"/>
              </a:spcBef>
              <a:spcAft>
                <a:spcPts val="0"/>
              </a:spcAft>
              <a:buSzPts val="2100"/>
              <a:buNone/>
            </a:pPr>
            <a:endParaRPr sz="2600">
              <a:latin typeface="Arial"/>
              <a:ea typeface="Arial"/>
              <a:cs typeface="Arial"/>
              <a:sym typeface="Arial"/>
            </a:endParaRPr>
          </a:p>
          <a:p>
            <a:pPr marL="0" lvl="0" indent="0" algn="l" rtl="0">
              <a:lnSpc>
                <a:spcPct val="100000"/>
              </a:lnSpc>
              <a:spcBef>
                <a:spcPts val="1000"/>
              </a:spcBef>
              <a:spcAft>
                <a:spcPts val="0"/>
              </a:spcAft>
              <a:buClr>
                <a:schemeClr val="dk1"/>
              </a:buClr>
              <a:buSzPts val="2100"/>
              <a:buNone/>
            </a:pPr>
            <a:endParaRPr sz="2600"/>
          </a:p>
        </p:txBody>
      </p:sp>
    </p:spTree>
    <p:extLst>
      <p:ext uri="{BB962C8B-B14F-4D97-AF65-F5344CB8AC3E}">
        <p14:creationId xmlns:p14="http://schemas.microsoft.com/office/powerpoint/2010/main" val="24847564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z="2800" b="1"/>
              <a:t>2.3.1.4 Tình huống sử</a:t>
            </a:r>
            <a:r>
              <a:rPr lang="vi-VN"/>
              <a:t> </a:t>
            </a:r>
            <a:r>
              <a:rPr lang="vi-VN" sz="2800" b="1"/>
              <a:t>dụng</a:t>
            </a:r>
            <a:endParaRPr lang="en-US" sz="2800" b="1"/>
          </a:p>
        </p:txBody>
      </p:sp>
      <p:sp>
        <p:nvSpPr>
          <p:cNvPr id="3" name="Text Placeholder 2"/>
          <p:cNvSpPr>
            <a:spLocks noGrp="1"/>
          </p:cNvSpPr>
          <p:nvPr>
            <p:ph type="body" idx="1"/>
          </p:nvPr>
        </p:nvSpPr>
        <p:spPr>
          <a:xfrm>
            <a:off x="475192" y="1398059"/>
            <a:ext cx="10515600" cy="4351338"/>
          </a:xfrm>
        </p:spPr>
        <p:txBody>
          <a:bodyPr/>
          <a:lstStyle/>
          <a:p>
            <a:pPr>
              <a:lnSpc>
                <a:spcPct val="150000"/>
              </a:lnSpc>
            </a:pPr>
            <a:r>
              <a:rPr lang="vi-VN"/>
              <a:t>Cách sản phẩm tạo ra sự hài lòng của khách hàng phụ thuộc vào tình huống sử dụng.</a:t>
            </a:r>
          </a:p>
          <a:p>
            <a:pPr>
              <a:lnSpc>
                <a:spcPct val="150000"/>
              </a:lnSpc>
            </a:pPr>
            <a:r>
              <a:rPr lang="vi-VN"/>
              <a:t>Nắm bắt được tình huống sử dụng giúp doanh nghiệp truyền đạt lợi ích phù hợp</a:t>
            </a:r>
            <a:endParaRPr lang="en-US"/>
          </a:p>
        </p:txBody>
      </p:sp>
    </p:spTree>
    <p:extLst>
      <p:ext uri="{BB962C8B-B14F-4D97-AF65-F5344CB8AC3E}">
        <p14:creationId xmlns:p14="http://schemas.microsoft.com/office/powerpoint/2010/main" val="31101709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1892" name="Google Shape;1892;p281"/>
          <p:cNvSpPr txBox="1">
            <a:spLocks noGrp="1"/>
          </p:cNvSpPr>
          <p:nvPr>
            <p:ph type="title"/>
          </p:nvPr>
        </p:nvSpPr>
        <p:spPr>
          <a:xfrm>
            <a:off x="838200" y="365126"/>
            <a:ext cx="6834188" cy="9350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vi-VN" sz="2800" b="1"/>
              <a:t>2.3.1.5</a:t>
            </a:r>
            <a:r>
              <a:rPr lang="en-US" sz="2800" b="1">
                <a:sym typeface="Arial"/>
              </a:rPr>
              <a:t> </a:t>
            </a:r>
            <a:r>
              <a:rPr lang="en-US" sz="2800" b="1" err="1">
                <a:sym typeface="Arial"/>
              </a:rPr>
              <a:t>Tình</a:t>
            </a:r>
            <a:r>
              <a:rPr lang="en-US" sz="2800" b="1">
                <a:sym typeface="Arial"/>
              </a:rPr>
              <a:t> </a:t>
            </a:r>
            <a:r>
              <a:rPr lang="en-US" sz="2800" b="1" err="1">
                <a:sym typeface="Arial"/>
              </a:rPr>
              <a:t>huống</a:t>
            </a:r>
            <a:r>
              <a:rPr lang="en-US" sz="2800" b="1">
                <a:sym typeface="Arial"/>
              </a:rPr>
              <a:t> </a:t>
            </a:r>
            <a:r>
              <a:rPr lang="en-US" sz="2800" b="1" err="1">
                <a:sym typeface="Arial"/>
              </a:rPr>
              <a:t>thải</a:t>
            </a:r>
            <a:r>
              <a:rPr lang="en-US" sz="2800" b="1">
                <a:sym typeface="Arial"/>
              </a:rPr>
              <a:t> </a:t>
            </a:r>
            <a:r>
              <a:rPr lang="en-US" sz="2800" b="1" err="1">
                <a:sym typeface="Arial"/>
              </a:rPr>
              <a:t>hồi</a:t>
            </a:r>
            <a:endParaRPr sz="2800"/>
          </a:p>
        </p:txBody>
      </p:sp>
      <p:sp>
        <p:nvSpPr>
          <p:cNvPr id="1893" name="Google Shape;1893;p281"/>
          <p:cNvSpPr txBox="1">
            <a:spLocks noGrp="1"/>
          </p:cNvSpPr>
          <p:nvPr>
            <p:ph type="body" idx="1"/>
          </p:nvPr>
        </p:nvSpPr>
        <p:spPr>
          <a:xfrm>
            <a:off x="642938" y="1300164"/>
            <a:ext cx="10915650" cy="5557836"/>
          </a:xfrm>
          <a:prstGeom prst="rect">
            <a:avLst/>
          </a:prstGeom>
          <a:noFill/>
          <a:ln>
            <a:noFill/>
          </a:ln>
        </p:spPr>
        <p:txBody>
          <a:bodyPr spcFirstLastPara="1" wrap="square" lIns="91425" tIns="45700" rIns="91425" bIns="45700" anchor="t" anchorCtr="0">
            <a:normAutofit fontScale="85000" lnSpcReduction="10000"/>
          </a:bodyPr>
          <a:lstStyle/>
          <a:p>
            <a:pPr marL="457200" lvl="0" indent="-457200" algn="l" rtl="0">
              <a:lnSpc>
                <a:spcPct val="170000"/>
              </a:lnSpc>
              <a:spcBef>
                <a:spcPts val="0"/>
              </a:spcBef>
              <a:spcAft>
                <a:spcPts val="0"/>
              </a:spcAft>
              <a:buSzPct val="100000"/>
              <a:buFont typeface="Arial"/>
              <a:buChar char="•"/>
            </a:pPr>
            <a:r>
              <a:rPr lang="en-US" sz="3300">
                <a:latin typeface="Arial"/>
                <a:ea typeface="Arial"/>
                <a:cs typeface="Arial"/>
                <a:sym typeface="Arial"/>
              </a:rPr>
              <a:t>KH </a:t>
            </a:r>
            <a:r>
              <a:rPr lang="en-US" sz="3300" err="1">
                <a:latin typeface="Arial"/>
                <a:ea typeface="Arial"/>
                <a:cs typeface="Arial"/>
                <a:sym typeface="Arial"/>
              </a:rPr>
              <a:t>thường</a:t>
            </a:r>
            <a:r>
              <a:rPr lang="en-US" sz="3300">
                <a:latin typeface="Arial"/>
                <a:ea typeface="Arial"/>
                <a:cs typeface="Arial"/>
                <a:sym typeface="Arial"/>
              </a:rPr>
              <a:t> </a:t>
            </a:r>
            <a:r>
              <a:rPr lang="en-US" sz="3300" err="1">
                <a:latin typeface="Arial"/>
                <a:ea typeface="Arial"/>
                <a:cs typeface="Arial"/>
                <a:sym typeface="Arial"/>
              </a:rPr>
              <a:t>xuyên</a:t>
            </a:r>
            <a:r>
              <a:rPr lang="en-US" sz="3300">
                <a:latin typeface="Arial"/>
                <a:ea typeface="Arial"/>
                <a:cs typeface="Arial"/>
                <a:sym typeface="Arial"/>
              </a:rPr>
              <a:t> </a:t>
            </a:r>
            <a:r>
              <a:rPr lang="en-US" sz="3300" err="1">
                <a:latin typeface="Arial"/>
                <a:ea typeface="Arial"/>
                <a:cs typeface="Arial"/>
                <a:sym typeface="Arial"/>
              </a:rPr>
              <a:t>vứt</a:t>
            </a:r>
            <a:r>
              <a:rPr lang="en-US" sz="3300">
                <a:latin typeface="Arial"/>
                <a:ea typeface="Arial"/>
                <a:cs typeface="Arial"/>
                <a:sym typeface="Arial"/>
              </a:rPr>
              <a:t> </a:t>
            </a:r>
            <a:r>
              <a:rPr lang="en-US" sz="3300" err="1">
                <a:latin typeface="Arial"/>
                <a:ea typeface="Arial"/>
                <a:cs typeface="Arial"/>
                <a:sym typeface="Arial"/>
              </a:rPr>
              <a:t>bỏ</a:t>
            </a:r>
            <a:r>
              <a:rPr lang="en-US" sz="3300">
                <a:latin typeface="Arial"/>
                <a:ea typeface="Arial"/>
                <a:cs typeface="Arial"/>
                <a:sym typeface="Arial"/>
              </a:rPr>
              <a:t> </a:t>
            </a:r>
            <a:r>
              <a:rPr lang="en-US" sz="3300" err="1">
                <a:latin typeface="Arial"/>
                <a:ea typeface="Arial"/>
                <a:cs typeface="Arial"/>
                <a:sym typeface="Arial"/>
              </a:rPr>
              <a:t>sản</a:t>
            </a:r>
            <a:r>
              <a:rPr lang="en-US" sz="3300">
                <a:latin typeface="Arial"/>
                <a:ea typeface="Arial"/>
                <a:cs typeface="Arial"/>
                <a:sym typeface="Arial"/>
              </a:rPr>
              <a:t> </a:t>
            </a:r>
            <a:r>
              <a:rPr lang="en-US" sz="3300" err="1">
                <a:latin typeface="Arial"/>
                <a:ea typeface="Arial"/>
                <a:cs typeface="Arial"/>
                <a:sym typeface="Arial"/>
              </a:rPr>
              <a:t>phẩm</a:t>
            </a:r>
            <a:r>
              <a:rPr lang="en-US" sz="3300">
                <a:latin typeface="Arial"/>
                <a:ea typeface="Arial"/>
                <a:cs typeface="Arial"/>
                <a:sym typeface="Arial"/>
              </a:rPr>
              <a:t> </a:t>
            </a:r>
            <a:r>
              <a:rPr lang="en-US" sz="3300" err="1">
                <a:latin typeface="Arial"/>
                <a:ea typeface="Arial"/>
                <a:cs typeface="Arial"/>
                <a:sym typeface="Arial"/>
              </a:rPr>
              <a:t>sau</a:t>
            </a:r>
            <a:r>
              <a:rPr lang="en-US" sz="3300">
                <a:latin typeface="Arial"/>
                <a:ea typeface="Arial"/>
                <a:cs typeface="Arial"/>
                <a:sym typeface="Arial"/>
              </a:rPr>
              <a:t> </a:t>
            </a:r>
            <a:r>
              <a:rPr lang="en-US" sz="3300" err="1">
                <a:latin typeface="Arial"/>
                <a:ea typeface="Arial"/>
                <a:cs typeface="Arial"/>
                <a:sym typeface="Arial"/>
              </a:rPr>
              <a:t>khi</a:t>
            </a:r>
            <a:r>
              <a:rPr lang="en-US" sz="3300">
                <a:latin typeface="Arial"/>
                <a:ea typeface="Arial"/>
                <a:cs typeface="Arial"/>
                <a:sym typeface="Arial"/>
              </a:rPr>
              <a:t> </a:t>
            </a:r>
            <a:r>
              <a:rPr lang="en-US" sz="3300" err="1">
                <a:latin typeface="Arial"/>
                <a:ea typeface="Arial"/>
                <a:cs typeface="Arial"/>
                <a:sym typeface="Arial"/>
              </a:rPr>
              <a:t>sử</a:t>
            </a:r>
            <a:r>
              <a:rPr lang="en-US" sz="3300">
                <a:latin typeface="Arial"/>
                <a:ea typeface="Arial"/>
                <a:cs typeface="Arial"/>
                <a:sym typeface="Arial"/>
              </a:rPr>
              <a:t> </a:t>
            </a:r>
            <a:r>
              <a:rPr lang="en-US" sz="3300" err="1">
                <a:latin typeface="Arial"/>
                <a:ea typeface="Arial"/>
                <a:cs typeface="Arial"/>
                <a:sym typeface="Arial"/>
              </a:rPr>
              <a:t>dụng</a:t>
            </a:r>
            <a:r>
              <a:rPr lang="en-US" sz="3300">
                <a:latin typeface="Arial"/>
                <a:ea typeface="Arial"/>
                <a:cs typeface="Arial"/>
                <a:sym typeface="Arial"/>
              </a:rPr>
              <a:t> </a:t>
            </a:r>
            <a:r>
              <a:rPr lang="en-US" sz="3300" err="1">
                <a:latin typeface="Arial"/>
                <a:ea typeface="Arial"/>
                <a:cs typeface="Arial"/>
                <a:sym typeface="Arial"/>
              </a:rPr>
              <a:t>hoặc</a:t>
            </a:r>
            <a:r>
              <a:rPr lang="en-US" sz="3300">
                <a:latin typeface="Arial"/>
                <a:ea typeface="Arial"/>
                <a:cs typeface="Arial"/>
                <a:sym typeface="Arial"/>
              </a:rPr>
              <a:t> </a:t>
            </a:r>
            <a:r>
              <a:rPr lang="en-US" sz="3300" err="1">
                <a:latin typeface="Arial"/>
                <a:ea typeface="Arial"/>
                <a:cs typeface="Arial"/>
                <a:sym typeface="Arial"/>
              </a:rPr>
              <a:t>bao</a:t>
            </a:r>
            <a:r>
              <a:rPr lang="en-US" sz="3300">
                <a:latin typeface="Arial"/>
                <a:ea typeface="Arial"/>
                <a:cs typeface="Arial"/>
                <a:sym typeface="Arial"/>
              </a:rPr>
              <a:t> </a:t>
            </a:r>
            <a:r>
              <a:rPr lang="en-US" sz="3300" err="1">
                <a:latin typeface="Arial"/>
                <a:ea typeface="Arial"/>
                <a:cs typeface="Arial"/>
                <a:sym typeface="Arial"/>
              </a:rPr>
              <a:t>bì</a:t>
            </a:r>
            <a:r>
              <a:rPr lang="en-US" sz="3300">
                <a:latin typeface="Arial"/>
                <a:ea typeface="Arial"/>
                <a:cs typeface="Arial"/>
                <a:sym typeface="Arial"/>
              </a:rPr>
              <a:t> </a:t>
            </a:r>
            <a:r>
              <a:rPr lang="en-US" sz="3300" err="1">
                <a:latin typeface="Arial"/>
                <a:ea typeface="Arial"/>
                <a:cs typeface="Arial"/>
                <a:sym typeface="Arial"/>
              </a:rPr>
              <a:t>sản</a:t>
            </a:r>
            <a:r>
              <a:rPr lang="en-US" sz="3300">
                <a:latin typeface="Arial"/>
                <a:ea typeface="Arial"/>
                <a:cs typeface="Arial"/>
                <a:sym typeface="Arial"/>
              </a:rPr>
              <a:t> </a:t>
            </a:r>
            <a:r>
              <a:rPr lang="en-US" sz="3300" err="1">
                <a:latin typeface="Arial"/>
                <a:ea typeface="Arial"/>
                <a:cs typeface="Arial"/>
                <a:sym typeface="Arial"/>
              </a:rPr>
              <a:t>phẩm</a:t>
            </a:r>
            <a:r>
              <a:rPr lang="en-US" sz="3300">
                <a:latin typeface="Arial"/>
                <a:ea typeface="Arial"/>
                <a:cs typeface="Arial"/>
                <a:sym typeface="Arial"/>
              </a:rPr>
              <a:t> </a:t>
            </a:r>
            <a:r>
              <a:rPr lang="en-US" sz="3300" err="1">
                <a:latin typeface="Arial"/>
                <a:ea typeface="Arial"/>
                <a:cs typeface="Arial"/>
                <a:sym typeface="Arial"/>
              </a:rPr>
              <a:t>sau</a:t>
            </a:r>
            <a:r>
              <a:rPr lang="en-US" sz="3300">
                <a:latin typeface="Arial"/>
                <a:ea typeface="Arial"/>
                <a:cs typeface="Arial"/>
                <a:sym typeface="Arial"/>
              </a:rPr>
              <a:t> </a:t>
            </a:r>
            <a:r>
              <a:rPr lang="en-US" sz="3300" err="1">
                <a:latin typeface="Arial"/>
                <a:ea typeface="Arial"/>
                <a:cs typeface="Arial"/>
                <a:sym typeface="Arial"/>
              </a:rPr>
              <a:t>hoặc</a:t>
            </a:r>
            <a:r>
              <a:rPr lang="en-US" sz="3300">
                <a:latin typeface="Arial"/>
                <a:ea typeface="Arial"/>
                <a:cs typeface="Arial"/>
                <a:sym typeface="Arial"/>
              </a:rPr>
              <a:t> </a:t>
            </a:r>
            <a:r>
              <a:rPr lang="en-US" sz="3300" err="1">
                <a:latin typeface="Arial"/>
                <a:ea typeface="Arial"/>
                <a:cs typeface="Arial"/>
                <a:sym typeface="Arial"/>
              </a:rPr>
              <a:t>trước</a:t>
            </a:r>
            <a:r>
              <a:rPr lang="en-US" sz="3300">
                <a:latin typeface="Arial"/>
                <a:ea typeface="Arial"/>
                <a:cs typeface="Arial"/>
                <a:sym typeface="Arial"/>
              </a:rPr>
              <a:t> </a:t>
            </a:r>
            <a:r>
              <a:rPr lang="en-US" sz="3300" err="1">
                <a:latin typeface="Arial"/>
                <a:ea typeface="Arial"/>
                <a:cs typeface="Arial"/>
                <a:sym typeface="Arial"/>
              </a:rPr>
              <a:t>khi</a:t>
            </a:r>
            <a:r>
              <a:rPr lang="en-US" sz="3300">
                <a:latin typeface="Arial"/>
                <a:ea typeface="Arial"/>
                <a:cs typeface="Arial"/>
                <a:sym typeface="Arial"/>
              </a:rPr>
              <a:t> </a:t>
            </a:r>
            <a:r>
              <a:rPr lang="en-US" sz="3300" err="1">
                <a:latin typeface="Arial"/>
                <a:ea typeface="Arial"/>
                <a:cs typeface="Arial"/>
                <a:sym typeface="Arial"/>
              </a:rPr>
              <a:t>sử</a:t>
            </a:r>
            <a:r>
              <a:rPr lang="en-US" sz="3300">
                <a:latin typeface="Arial"/>
                <a:ea typeface="Arial"/>
                <a:cs typeface="Arial"/>
                <a:sym typeface="Arial"/>
              </a:rPr>
              <a:t> </a:t>
            </a:r>
            <a:r>
              <a:rPr lang="en-US" sz="3300" err="1">
                <a:latin typeface="Arial"/>
                <a:ea typeface="Arial"/>
                <a:cs typeface="Arial"/>
                <a:sym typeface="Arial"/>
              </a:rPr>
              <a:t>dụng</a:t>
            </a:r>
            <a:r>
              <a:rPr lang="en-US" sz="3300">
                <a:latin typeface="Arial"/>
                <a:ea typeface="Arial"/>
                <a:cs typeface="Arial"/>
                <a:sym typeface="Arial"/>
              </a:rPr>
              <a:t> </a:t>
            </a:r>
            <a:r>
              <a:rPr lang="en-US" sz="3300" err="1">
                <a:latin typeface="Arial"/>
                <a:ea typeface="Arial"/>
                <a:cs typeface="Arial"/>
                <a:sym typeface="Arial"/>
              </a:rPr>
              <a:t>sản</a:t>
            </a:r>
            <a:r>
              <a:rPr lang="en-US" sz="3300">
                <a:latin typeface="Arial"/>
                <a:ea typeface="Arial"/>
                <a:cs typeface="Arial"/>
                <a:sym typeface="Arial"/>
              </a:rPr>
              <a:t> </a:t>
            </a:r>
            <a:r>
              <a:rPr lang="en-US" sz="3300" err="1">
                <a:latin typeface="Arial"/>
                <a:ea typeface="Arial"/>
                <a:cs typeface="Arial"/>
                <a:sym typeface="Arial"/>
              </a:rPr>
              <a:t>phẩm</a:t>
            </a:r>
            <a:r>
              <a:rPr lang="en-US" sz="3300">
                <a:latin typeface="Arial"/>
                <a:ea typeface="Arial"/>
                <a:cs typeface="Arial"/>
                <a:sym typeface="Arial"/>
              </a:rPr>
              <a:t>.</a:t>
            </a:r>
            <a:endParaRPr/>
          </a:p>
          <a:p>
            <a:pPr marL="457200" lvl="0" indent="-457200" algn="l" rtl="0">
              <a:lnSpc>
                <a:spcPct val="170000"/>
              </a:lnSpc>
              <a:spcBef>
                <a:spcPts val="1000"/>
              </a:spcBef>
              <a:spcAft>
                <a:spcPts val="0"/>
              </a:spcAft>
              <a:buClr>
                <a:schemeClr val="dk1"/>
              </a:buClr>
              <a:buSzPct val="100000"/>
              <a:buFont typeface="Arial"/>
              <a:buChar char="•"/>
            </a:pPr>
            <a:r>
              <a:rPr lang="en-US" sz="3300" err="1">
                <a:latin typeface="Arial"/>
                <a:ea typeface="Arial"/>
                <a:cs typeface="Arial"/>
                <a:sym typeface="Arial"/>
              </a:rPr>
              <a:t>Các</a:t>
            </a:r>
            <a:r>
              <a:rPr lang="en-US" sz="3300">
                <a:latin typeface="Arial"/>
                <a:ea typeface="Arial"/>
                <a:cs typeface="Arial"/>
                <a:sym typeface="Arial"/>
              </a:rPr>
              <a:t> </a:t>
            </a:r>
            <a:r>
              <a:rPr lang="en-US" sz="3300" err="1">
                <a:latin typeface="Arial"/>
                <a:ea typeface="Arial"/>
                <a:cs typeface="Arial"/>
                <a:sym typeface="Arial"/>
              </a:rPr>
              <a:t>quyết</a:t>
            </a:r>
            <a:r>
              <a:rPr lang="en-US" sz="3300">
                <a:latin typeface="Arial"/>
                <a:ea typeface="Arial"/>
                <a:cs typeface="Arial"/>
                <a:sym typeface="Arial"/>
              </a:rPr>
              <a:t> </a:t>
            </a:r>
            <a:r>
              <a:rPr lang="en-US" sz="3300" err="1">
                <a:latin typeface="Arial"/>
                <a:ea typeface="Arial"/>
                <a:cs typeface="Arial"/>
                <a:sym typeface="Arial"/>
              </a:rPr>
              <a:t>định</a:t>
            </a:r>
            <a:r>
              <a:rPr lang="en-US" sz="3300">
                <a:latin typeface="Arial"/>
                <a:ea typeface="Arial"/>
                <a:cs typeface="Arial"/>
                <a:sym typeface="Arial"/>
              </a:rPr>
              <a:t> </a:t>
            </a:r>
            <a:r>
              <a:rPr lang="en-US" sz="3300" err="1">
                <a:latin typeface="Arial"/>
                <a:ea typeface="Arial"/>
                <a:cs typeface="Arial"/>
                <a:sym typeface="Arial"/>
              </a:rPr>
              <a:t>của</a:t>
            </a:r>
            <a:r>
              <a:rPr lang="en-US" sz="3300">
                <a:latin typeface="Arial"/>
                <a:ea typeface="Arial"/>
                <a:cs typeface="Arial"/>
                <a:sym typeface="Arial"/>
              </a:rPr>
              <a:t> KH </a:t>
            </a:r>
            <a:r>
              <a:rPr lang="en-US" sz="3300" err="1">
                <a:latin typeface="Arial"/>
                <a:ea typeface="Arial"/>
                <a:cs typeface="Arial"/>
                <a:sym typeface="Arial"/>
              </a:rPr>
              <a:t>liên</a:t>
            </a:r>
            <a:r>
              <a:rPr lang="en-US" sz="3300">
                <a:latin typeface="Arial"/>
                <a:ea typeface="Arial"/>
                <a:cs typeface="Arial"/>
                <a:sym typeface="Arial"/>
              </a:rPr>
              <a:t> </a:t>
            </a:r>
            <a:r>
              <a:rPr lang="en-US" sz="3300" err="1">
                <a:latin typeface="Arial"/>
                <a:ea typeface="Arial"/>
                <a:cs typeface="Arial"/>
                <a:sym typeface="Arial"/>
              </a:rPr>
              <a:t>quan</a:t>
            </a:r>
            <a:r>
              <a:rPr lang="en-US" sz="3300">
                <a:latin typeface="Arial"/>
                <a:ea typeface="Arial"/>
                <a:cs typeface="Arial"/>
                <a:sym typeface="Arial"/>
              </a:rPr>
              <a:t> </a:t>
            </a:r>
            <a:r>
              <a:rPr lang="en-US" sz="3300" err="1">
                <a:latin typeface="Arial"/>
                <a:ea typeface="Arial"/>
                <a:cs typeface="Arial"/>
                <a:sym typeface="Arial"/>
              </a:rPr>
              <a:t>đến</a:t>
            </a:r>
            <a:r>
              <a:rPr lang="en-US" sz="3300">
                <a:latin typeface="Arial"/>
                <a:ea typeface="Arial"/>
                <a:cs typeface="Arial"/>
                <a:sym typeface="Arial"/>
              </a:rPr>
              <a:t> </a:t>
            </a:r>
            <a:r>
              <a:rPr lang="en-US" sz="3300" err="1">
                <a:latin typeface="Arial"/>
                <a:ea typeface="Arial"/>
                <a:cs typeface="Arial"/>
                <a:sym typeface="Arial"/>
              </a:rPr>
              <a:t>tình</a:t>
            </a:r>
            <a:r>
              <a:rPr lang="en-US" sz="3300">
                <a:latin typeface="Arial"/>
                <a:ea typeface="Arial"/>
                <a:cs typeface="Arial"/>
                <a:sym typeface="Arial"/>
              </a:rPr>
              <a:t> </a:t>
            </a:r>
            <a:r>
              <a:rPr lang="en-US" sz="3300" err="1">
                <a:latin typeface="Arial"/>
                <a:ea typeface="Arial"/>
                <a:cs typeface="Arial"/>
                <a:sym typeface="Arial"/>
              </a:rPr>
              <a:t>huống</a:t>
            </a:r>
            <a:r>
              <a:rPr lang="en-US" sz="3300">
                <a:latin typeface="Arial"/>
                <a:ea typeface="Arial"/>
                <a:cs typeface="Arial"/>
                <a:sym typeface="Arial"/>
              </a:rPr>
              <a:t> </a:t>
            </a:r>
            <a:r>
              <a:rPr lang="en-US" sz="3300" err="1">
                <a:latin typeface="Arial"/>
                <a:ea typeface="Arial"/>
                <a:cs typeface="Arial"/>
                <a:sym typeface="Arial"/>
              </a:rPr>
              <a:t>xử</a:t>
            </a:r>
            <a:r>
              <a:rPr lang="en-US" sz="3300">
                <a:latin typeface="Arial"/>
                <a:ea typeface="Arial"/>
                <a:cs typeface="Arial"/>
                <a:sym typeface="Arial"/>
              </a:rPr>
              <a:t> </a:t>
            </a:r>
            <a:r>
              <a:rPr lang="en-US" sz="3300" err="1">
                <a:latin typeface="Arial"/>
                <a:ea typeface="Arial"/>
                <a:cs typeface="Arial"/>
                <a:sym typeface="Arial"/>
              </a:rPr>
              <a:t>lý</a:t>
            </a:r>
            <a:r>
              <a:rPr lang="en-US" sz="3300">
                <a:latin typeface="Arial"/>
                <a:ea typeface="Arial"/>
                <a:cs typeface="Arial"/>
                <a:sym typeface="Arial"/>
              </a:rPr>
              <a:t> </a:t>
            </a:r>
            <a:r>
              <a:rPr lang="en-US" sz="3300" err="1">
                <a:latin typeface="Arial"/>
                <a:ea typeface="Arial"/>
                <a:cs typeface="Arial"/>
                <a:sym typeface="Arial"/>
              </a:rPr>
              <a:t>có</a:t>
            </a:r>
            <a:r>
              <a:rPr lang="en-US" sz="3300">
                <a:latin typeface="Arial"/>
                <a:ea typeface="Arial"/>
                <a:cs typeface="Arial"/>
                <a:sym typeface="Arial"/>
              </a:rPr>
              <a:t> </a:t>
            </a:r>
            <a:r>
              <a:rPr lang="en-US" sz="3300" err="1">
                <a:latin typeface="Arial"/>
                <a:ea typeface="Arial"/>
                <a:cs typeface="Arial"/>
                <a:sym typeface="Arial"/>
              </a:rPr>
              <a:t>thể</a:t>
            </a:r>
            <a:r>
              <a:rPr lang="en-US" sz="3300">
                <a:latin typeface="Arial"/>
                <a:ea typeface="Arial"/>
                <a:cs typeface="Arial"/>
                <a:sym typeface="Arial"/>
              </a:rPr>
              <a:t> </a:t>
            </a:r>
            <a:r>
              <a:rPr lang="en-US" sz="3300" err="1">
                <a:latin typeface="Arial"/>
                <a:ea typeface="Arial"/>
                <a:cs typeface="Arial"/>
                <a:sym typeface="Arial"/>
              </a:rPr>
              <a:t>tạo</a:t>
            </a:r>
            <a:r>
              <a:rPr lang="en-US" sz="3300">
                <a:latin typeface="Arial"/>
                <a:ea typeface="Arial"/>
                <a:cs typeface="Arial"/>
                <a:sym typeface="Arial"/>
              </a:rPr>
              <a:t> </a:t>
            </a:r>
            <a:r>
              <a:rPr lang="en-US" sz="3300" err="1">
                <a:latin typeface="Arial"/>
                <a:ea typeface="Arial"/>
                <a:cs typeface="Arial"/>
                <a:sym typeface="Arial"/>
              </a:rPr>
              <a:t>ra</a:t>
            </a:r>
            <a:r>
              <a:rPr lang="en-US" sz="3300">
                <a:latin typeface="Arial"/>
                <a:ea typeface="Arial"/>
                <a:cs typeface="Arial"/>
                <a:sym typeface="Arial"/>
              </a:rPr>
              <a:t> </a:t>
            </a:r>
            <a:r>
              <a:rPr lang="en-US" sz="3300" err="1">
                <a:latin typeface="Arial"/>
                <a:ea typeface="Arial"/>
                <a:cs typeface="Arial"/>
                <a:sym typeface="Arial"/>
              </a:rPr>
              <a:t>các</a:t>
            </a:r>
            <a:r>
              <a:rPr lang="en-US" sz="3300">
                <a:latin typeface="Arial"/>
                <a:ea typeface="Arial"/>
                <a:cs typeface="Arial"/>
                <a:sym typeface="Arial"/>
              </a:rPr>
              <a:t> </a:t>
            </a:r>
            <a:r>
              <a:rPr lang="en-US" sz="3300" err="1">
                <a:latin typeface="Arial"/>
                <a:ea typeface="Arial"/>
                <a:cs typeface="Arial"/>
                <a:sym typeface="Arial"/>
              </a:rPr>
              <a:t>vấn</a:t>
            </a:r>
            <a:r>
              <a:rPr lang="en-US" sz="3300">
                <a:latin typeface="Arial"/>
                <a:ea typeface="Arial"/>
                <a:cs typeface="Arial"/>
                <a:sym typeface="Arial"/>
              </a:rPr>
              <a:t> </a:t>
            </a:r>
            <a:r>
              <a:rPr lang="en-US" sz="3300" err="1">
                <a:latin typeface="Arial"/>
                <a:ea typeface="Arial"/>
                <a:cs typeface="Arial"/>
                <a:sym typeface="Arial"/>
              </a:rPr>
              <a:t>đề</a:t>
            </a:r>
            <a:r>
              <a:rPr lang="en-US" sz="3300">
                <a:latin typeface="Arial"/>
                <a:ea typeface="Arial"/>
                <a:cs typeface="Arial"/>
                <a:sym typeface="Arial"/>
              </a:rPr>
              <a:t> </a:t>
            </a:r>
            <a:r>
              <a:rPr lang="en-US" sz="3300" err="1">
                <a:latin typeface="Arial"/>
                <a:ea typeface="Arial"/>
                <a:cs typeface="Arial"/>
                <a:sym typeface="Arial"/>
              </a:rPr>
              <a:t>xã</a:t>
            </a:r>
            <a:r>
              <a:rPr lang="en-US" sz="3300">
                <a:latin typeface="Arial"/>
                <a:ea typeface="Arial"/>
                <a:cs typeface="Arial"/>
                <a:sym typeface="Arial"/>
              </a:rPr>
              <a:t> </a:t>
            </a:r>
            <a:r>
              <a:rPr lang="en-US" sz="3300" err="1">
                <a:latin typeface="Arial"/>
                <a:ea typeface="Arial"/>
                <a:cs typeface="Arial"/>
                <a:sym typeface="Arial"/>
              </a:rPr>
              <a:t>hội</a:t>
            </a:r>
            <a:r>
              <a:rPr lang="en-US" sz="3300">
                <a:latin typeface="Arial"/>
                <a:ea typeface="Arial"/>
                <a:cs typeface="Arial"/>
                <a:sym typeface="Arial"/>
              </a:rPr>
              <a:t> </a:t>
            </a:r>
            <a:r>
              <a:rPr lang="en-US" sz="3300" err="1">
                <a:latin typeface="Arial"/>
                <a:ea typeface="Arial"/>
                <a:cs typeface="Arial"/>
                <a:sym typeface="Arial"/>
              </a:rPr>
              <a:t>và</a:t>
            </a:r>
            <a:r>
              <a:rPr lang="en-US" sz="3300">
                <a:latin typeface="Arial"/>
                <a:ea typeface="Arial"/>
                <a:cs typeface="Arial"/>
                <a:sym typeface="Arial"/>
              </a:rPr>
              <a:t> </a:t>
            </a:r>
            <a:r>
              <a:rPr lang="en-US" sz="3300" err="1">
                <a:latin typeface="Arial"/>
                <a:ea typeface="Arial"/>
                <a:cs typeface="Arial"/>
                <a:sym typeface="Arial"/>
              </a:rPr>
              <a:t>các</a:t>
            </a:r>
            <a:r>
              <a:rPr lang="en-US" sz="3300">
                <a:latin typeface="Arial"/>
                <a:ea typeface="Arial"/>
                <a:cs typeface="Arial"/>
                <a:sym typeface="Arial"/>
              </a:rPr>
              <a:t> </a:t>
            </a:r>
            <a:r>
              <a:rPr lang="en-US" sz="3300" err="1">
                <a:latin typeface="Arial"/>
                <a:ea typeface="Arial"/>
                <a:cs typeface="Arial"/>
                <a:sym typeface="Arial"/>
              </a:rPr>
              <a:t>cơ</a:t>
            </a:r>
            <a:r>
              <a:rPr lang="en-US" sz="3300">
                <a:latin typeface="Arial"/>
                <a:ea typeface="Arial"/>
                <a:cs typeface="Arial"/>
                <a:sym typeface="Arial"/>
              </a:rPr>
              <a:t> </a:t>
            </a:r>
            <a:r>
              <a:rPr lang="en-US" sz="3300" err="1">
                <a:latin typeface="Arial"/>
                <a:ea typeface="Arial"/>
                <a:cs typeface="Arial"/>
                <a:sym typeface="Arial"/>
              </a:rPr>
              <a:t>hội</a:t>
            </a:r>
            <a:r>
              <a:rPr lang="en-US" sz="3300">
                <a:latin typeface="Arial"/>
                <a:ea typeface="Arial"/>
                <a:cs typeface="Arial"/>
                <a:sym typeface="Arial"/>
              </a:rPr>
              <a:t> </a:t>
            </a:r>
            <a:r>
              <a:rPr lang="en-US" sz="3300" err="1">
                <a:latin typeface="Arial"/>
                <a:ea typeface="Arial"/>
                <a:cs typeface="Arial"/>
                <a:sym typeface="Arial"/>
              </a:rPr>
              <a:t>quan</a:t>
            </a:r>
            <a:r>
              <a:rPr lang="en-US" sz="3300">
                <a:latin typeface="Arial"/>
                <a:ea typeface="Arial"/>
                <a:cs typeface="Arial"/>
                <a:sym typeface="Arial"/>
              </a:rPr>
              <a:t> </a:t>
            </a:r>
            <a:r>
              <a:rPr lang="en-US" sz="3300" err="1">
                <a:latin typeface="Arial"/>
                <a:ea typeface="Arial"/>
                <a:cs typeface="Arial"/>
                <a:sym typeface="Arial"/>
              </a:rPr>
              <a:t>trọng</a:t>
            </a:r>
            <a:r>
              <a:rPr lang="en-US" sz="3300">
                <a:latin typeface="Arial"/>
                <a:ea typeface="Arial"/>
                <a:cs typeface="Arial"/>
                <a:sym typeface="Arial"/>
              </a:rPr>
              <a:t> </a:t>
            </a:r>
            <a:r>
              <a:rPr lang="en-US" sz="3300" err="1">
                <a:latin typeface="Arial"/>
                <a:ea typeface="Arial"/>
                <a:cs typeface="Arial"/>
                <a:sym typeface="Arial"/>
              </a:rPr>
              <a:t>cho</a:t>
            </a:r>
            <a:r>
              <a:rPr lang="en-US" sz="3300">
                <a:latin typeface="Arial"/>
                <a:ea typeface="Arial"/>
                <a:cs typeface="Arial"/>
                <a:sym typeface="Arial"/>
              </a:rPr>
              <a:t> </a:t>
            </a:r>
            <a:r>
              <a:rPr lang="en-US" sz="3300" err="1">
                <a:latin typeface="Arial"/>
                <a:ea typeface="Arial"/>
                <a:cs typeface="Arial"/>
                <a:sym typeface="Arial"/>
              </a:rPr>
              <a:t>các</a:t>
            </a:r>
            <a:r>
              <a:rPr lang="en-US" sz="3300">
                <a:latin typeface="Arial"/>
                <a:ea typeface="Arial"/>
                <a:cs typeface="Arial"/>
                <a:sym typeface="Arial"/>
              </a:rPr>
              <a:t> Marketer. </a:t>
            </a:r>
            <a:endParaRPr/>
          </a:p>
          <a:p>
            <a:pPr marL="457200" lvl="0" indent="-457200" algn="l" rtl="0">
              <a:lnSpc>
                <a:spcPct val="170000"/>
              </a:lnSpc>
              <a:spcBef>
                <a:spcPts val="1000"/>
              </a:spcBef>
              <a:spcAft>
                <a:spcPts val="0"/>
              </a:spcAft>
              <a:buClr>
                <a:schemeClr val="dk1"/>
              </a:buClr>
              <a:buSzPct val="100000"/>
              <a:buFont typeface="Arial"/>
              <a:buChar char="•"/>
            </a:pPr>
            <a:r>
              <a:rPr lang="en-US" sz="3300" err="1">
                <a:latin typeface="Arial"/>
                <a:ea typeface="Arial"/>
                <a:cs typeface="Arial"/>
                <a:sym typeface="Arial"/>
              </a:rPr>
              <a:t>Một</a:t>
            </a:r>
            <a:r>
              <a:rPr lang="en-US" sz="3300">
                <a:latin typeface="Arial"/>
                <a:ea typeface="Arial"/>
                <a:cs typeface="Arial"/>
                <a:sym typeface="Arial"/>
              </a:rPr>
              <a:t> </a:t>
            </a:r>
            <a:r>
              <a:rPr lang="en-US" sz="3300" err="1">
                <a:latin typeface="Arial"/>
                <a:ea typeface="Arial"/>
                <a:cs typeface="Arial"/>
                <a:sym typeface="Arial"/>
              </a:rPr>
              <a:t>số</a:t>
            </a:r>
            <a:r>
              <a:rPr lang="en-US" sz="3300">
                <a:latin typeface="Arial"/>
                <a:ea typeface="Arial"/>
                <a:cs typeface="Arial"/>
                <a:sym typeface="Arial"/>
              </a:rPr>
              <a:t> KH </a:t>
            </a:r>
            <a:r>
              <a:rPr lang="en-US" sz="3300" err="1">
                <a:latin typeface="Arial"/>
                <a:ea typeface="Arial"/>
                <a:cs typeface="Arial"/>
                <a:sym typeface="Arial"/>
              </a:rPr>
              <a:t>coi</a:t>
            </a:r>
            <a:r>
              <a:rPr lang="en-US" sz="3300">
                <a:latin typeface="Arial"/>
                <a:ea typeface="Arial"/>
                <a:cs typeface="Arial"/>
                <a:sym typeface="Arial"/>
              </a:rPr>
              <a:t> </a:t>
            </a:r>
            <a:r>
              <a:rPr lang="en-US" sz="3300" err="1">
                <a:latin typeface="Arial"/>
                <a:ea typeface="Arial"/>
                <a:cs typeface="Arial"/>
                <a:sym typeface="Arial"/>
              </a:rPr>
              <a:t>việc</a:t>
            </a:r>
            <a:r>
              <a:rPr lang="en-US" sz="3300">
                <a:latin typeface="Arial"/>
                <a:ea typeface="Arial"/>
                <a:cs typeface="Arial"/>
                <a:sym typeface="Arial"/>
              </a:rPr>
              <a:t> </a:t>
            </a:r>
            <a:r>
              <a:rPr lang="en-US" sz="3300" err="1">
                <a:latin typeface="Arial"/>
                <a:ea typeface="Arial"/>
                <a:cs typeface="Arial"/>
                <a:sym typeface="Arial"/>
              </a:rPr>
              <a:t>mua</a:t>
            </a:r>
            <a:r>
              <a:rPr lang="en-US" sz="3300">
                <a:latin typeface="Arial"/>
                <a:ea typeface="Arial"/>
                <a:cs typeface="Arial"/>
                <a:sym typeface="Arial"/>
              </a:rPr>
              <a:t> </a:t>
            </a:r>
            <a:r>
              <a:rPr lang="en-US" sz="3300" err="1">
                <a:latin typeface="Arial"/>
                <a:ea typeface="Arial"/>
                <a:cs typeface="Arial"/>
                <a:sym typeface="Arial"/>
              </a:rPr>
              <a:t>một</a:t>
            </a:r>
            <a:r>
              <a:rPr lang="en-US" sz="3300">
                <a:latin typeface="Arial"/>
                <a:ea typeface="Arial"/>
                <a:cs typeface="Arial"/>
                <a:sym typeface="Arial"/>
              </a:rPr>
              <a:t> </a:t>
            </a:r>
            <a:r>
              <a:rPr lang="en-US" sz="3300" err="1">
                <a:latin typeface="Arial"/>
                <a:ea typeface="Arial"/>
                <a:cs typeface="Arial"/>
                <a:sym typeface="Arial"/>
              </a:rPr>
              <a:t>thuộc</a:t>
            </a:r>
            <a:r>
              <a:rPr lang="en-US" sz="3300">
                <a:latin typeface="Arial"/>
                <a:ea typeface="Arial"/>
                <a:cs typeface="Arial"/>
                <a:sym typeface="Arial"/>
              </a:rPr>
              <a:t> </a:t>
            </a:r>
            <a:r>
              <a:rPr lang="en-US" sz="3300" err="1">
                <a:latin typeface="Arial"/>
                <a:ea typeface="Arial"/>
                <a:cs typeface="Arial"/>
                <a:sym typeface="Arial"/>
              </a:rPr>
              <a:t>tính</a:t>
            </a:r>
            <a:r>
              <a:rPr lang="en-US" sz="3300">
                <a:latin typeface="Arial"/>
                <a:ea typeface="Arial"/>
                <a:cs typeface="Arial"/>
                <a:sym typeface="Arial"/>
              </a:rPr>
              <a:t> </a:t>
            </a:r>
            <a:r>
              <a:rPr lang="en-US" sz="3300" err="1">
                <a:latin typeface="Arial"/>
                <a:ea typeface="Arial"/>
                <a:cs typeface="Arial"/>
                <a:sym typeface="Arial"/>
              </a:rPr>
              <a:t>sản</a:t>
            </a:r>
            <a:r>
              <a:rPr lang="en-US" sz="3300">
                <a:latin typeface="Arial"/>
                <a:ea typeface="Arial"/>
                <a:cs typeface="Arial"/>
                <a:sym typeface="Arial"/>
              </a:rPr>
              <a:t> </a:t>
            </a:r>
            <a:r>
              <a:rPr lang="en-US" sz="3300" err="1">
                <a:latin typeface="Arial"/>
                <a:ea typeface="Arial"/>
                <a:cs typeface="Arial"/>
                <a:sym typeface="Arial"/>
              </a:rPr>
              <a:t>phẩm</a:t>
            </a:r>
            <a:r>
              <a:rPr lang="en-US" sz="3300">
                <a:latin typeface="Arial"/>
                <a:ea typeface="Arial"/>
                <a:cs typeface="Arial"/>
                <a:sym typeface="Arial"/>
              </a:rPr>
              <a:t> </a:t>
            </a:r>
            <a:r>
              <a:rPr lang="en-US" sz="3300" err="1">
                <a:latin typeface="Arial"/>
                <a:ea typeface="Arial"/>
                <a:cs typeface="Arial"/>
                <a:sym typeface="Arial"/>
              </a:rPr>
              <a:t>là</a:t>
            </a:r>
            <a:r>
              <a:rPr lang="en-US" sz="3300">
                <a:latin typeface="Arial"/>
                <a:ea typeface="Arial"/>
                <a:cs typeface="Arial"/>
                <a:sym typeface="Arial"/>
              </a:rPr>
              <a:t> </a:t>
            </a:r>
            <a:r>
              <a:rPr lang="en-US" sz="3300" err="1">
                <a:latin typeface="Arial"/>
                <a:ea typeface="Arial"/>
                <a:cs typeface="Arial"/>
                <a:sym typeface="Arial"/>
              </a:rPr>
              <a:t>quan</a:t>
            </a:r>
            <a:r>
              <a:rPr lang="en-US" sz="3300">
                <a:latin typeface="Arial"/>
                <a:ea typeface="Arial"/>
                <a:cs typeface="Arial"/>
                <a:sym typeface="Arial"/>
              </a:rPr>
              <a:t> </a:t>
            </a:r>
            <a:r>
              <a:rPr lang="en-US" sz="3300" err="1">
                <a:latin typeface="Arial"/>
                <a:ea typeface="Arial"/>
                <a:cs typeface="Arial"/>
                <a:sym typeface="Arial"/>
              </a:rPr>
              <a:t>trọng</a:t>
            </a:r>
            <a:r>
              <a:rPr lang="en-US" sz="3300">
                <a:latin typeface="Arial"/>
                <a:ea typeface="Arial"/>
                <a:cs typeface="Arial"/>
                <a:sym typeface="Arial"/>
              </a:rPr>
              <a:t>. </a:t>
            </a:r>
            <a:r>
              <a:rPr lang="en-US" sz="3300" err="1">
                <a:latin typeface="Arial"/>
                <a:ea typeface="Arial"/>
                <a:cs typeface="Arial"/>
                <a:sym typeface="Arial"/>
              </a:rPr>
              <a:t>Nhưng</a:t>
            </a:r>
            <a:r>
              <a:rPr lang="en-US" sz="3300">
                <a:latin typeface="Arial"/>
                <a:ea typeface="Arial"/>
                <a:cs typeface="Arial"/>
                <a:sym typeface="Arial"/>
              </a:rPr>
              <a:t> </a:t>
            </a:r>
            <a:r>
              <a:rPr lang="en-US" sz="3300" err="1">
                <a:latin typeface="Arial"/>
                <a:ea typeface="Arial"/>
                <a:cs typeface="Arial"/>
                <a:sym typeface="Arial"/>
              </a:rPr>
              <a:t>những</a:t>
            </a:r>
            <a:r>
              <a:rPr lang="en-US" sz="3300">
                <a:latin typeface="Arial"/>
                <a:ea typeface="Arial"/>
                <a:cs typeface="Arial"/>
                <a:sym typeface="Arial"/>
              </a:rPr>
              <a:t> </a:t>
            </a:r>
            <a:r>
              <a:rPr lang="en-US" sz="3300" err="1">
                <a:latin typeface="Arial"/>
                <a:ea typeface="Arial"/>
                <a:cs typeface="Arial"/>
                <a:sym typeface="Arial"/>
              </a:rPr>
              <a:t>người</a:t>
            </a:r>
            <a:r>
              <a:rPr lang="en-US" sz="3300">
                <a:latin typeface="Arial"/>
                <a:ea typeface="Arial"/>
                <a:cs typeface="Arial"/>
                <a:sym typeface="Arial"/>
              </a:rPr>
              <a:t> </a:t>
            </a:r>
            <a:r>
              <a:rPr lang="en-US" sz="3300" err="1">
                <a:latin typeface="Arial"/>
                <a:ea typeface="Arial"/>
                <a:cs typeface="Arial"/>
                <a:sym typeface="Arial"/>
              </a:rPr>
              <a:t>khác</a:t>
            </a:r>
            <a:r>
              <a:rPr lang="en-US" sz="3300">
                <a:latin typeface="Arial"/>
                <a:ea typeface="Arial"/>
                <a:cs typeface="Arial"/>
                <a:sym typeface="Arial"/>
              </a:rPr>
              <a:t> </a:t>
            </a:r>
            <a:r>
              <a:rPr lang="en-US" sz="3300" err="1">
                <a:latin typeface="Arial"/>
                <a:ea typeface="Arial"/>
                <a:cs typeface="Arial"/>
                <a:sym typeface="Arial"/>
              </a:rPr>
              <a:t>chỉ</a:t>
            </a:r>
            <a:r>
              <a:rPr lang="en-US" sz="3300">
                <a:latin typeface="Arial"/>
                <a:ea typeface="Arial"/>
                <a:cs typeface="Arial"/>
                <a:sym typeface="Arial"/>
              </a:rPr>
              <a:t> </a:t>
            </a:r>
            <a:r>
              <a:rPr lang="en-US" sz="3300" err="1">
                <a:latin typeface="Arial"/>
                <a:ea typeface="Arial"/>
                <a:cs typeface="Arial"/>
                <a:sym typeface="Arial"/>
              </a:rPr>
              <a:t>muốn</a:t>
            </a:r>
            <a:r>
              <a:rPr lang="en-US" sz="3300">
                <a:latin typeface="Arial"/>
                <a:ea typeface="Arial"/>
                <a:cs typeface="Arial"/>
                <a:sym typeface="Arial"/>
              </a:rPr>
              <a:t> </a:t>
            </a:r>
            <a:r>
              <a:rPr lang="en-US" sz="3300" err="1">
                <a:latin typeface="Arial"/>
                <a:ea typeface="Arial"/>
                <a:cs typeface="Arial"/>
                <a:sym typeface="Arial"/>
              </a:rPr>
              <a:t>mua</a:t>
            </a:r>
            <a:r>
              <a:rPr lang="en-US" sz="3300">
                <a:latin typeface="Arial"/>
                <a:ea typeface="Arial"/>
                <a:cs typeface="Arial"/>
                <a:sym typeface="Arial"/>
              </a:rPr>
              <a:t> </a:t>
            </a:r>
            <a:r>
              <a:rPr lang="en-US" sz="3300" err="1">
                <a:latin typeface="Arial"/>
                <a:ea typeface="Arial"/>
                <a:cs typeface="Arial"/>
                <a:sym typeface="Arial"/>
              </a:rPr>
              <a:t>các</a:t>
            </a:r>
            <a:r>
              <a:rPr lang="en-US" sz="3300">
                <a:latin typeface="Arial"/>
                <a:ea typeface="Arial"/>
                <a:cs typeface="Arial"/>
                <a:sym typeface="Arial"/>
              </a:rPr>
              <a:t> </a:t>
            </a:r>
            <a:r>
              <a:rPr lang="en-US" sz="3300" err="1">
                <a:latin typeface="Arial"/>
                <a:ea typeface="Arial"/>
                <a:cs typeface="Arial"/>
                <a:sym typeface="Arial"/>
              </a:rPr>
              <a:t>mặt</a:t>
            </a:r>
            <a:r>
              <a:rPr lang="en-US" sz="3300">
                <a:latin typeface="Arial"/>
                <a:ea typeface="Arial"/>
                <a:cs typeface="Arial"/>
                <a:sym typeface="Arial"/>
              </a:rPr>
              <a:t> </a:t>
            </a:r>
            <a:r>
              <a:rPr lang="en-US" sz="3300" err="1">
                <a:latin typeface="Arial"/>
                <a:ea typeface="Arial"/>
                <a:cs typeface="Arial"/>
                <a:sym typeface="Arial"/>
              </a:rPr>
              <a:t>hàng</a:t>
            </a:r>
            <a:r>
              <a:rPr lang="en-US" sz="3300">
                <a:latin typeface="Arial"/>
                <a:ea typeface="Arial"/>
                <a:cs typeface="Arial"/>
                <a:sym typeface="Arial"/>
              </a:rPr>
              <a:t> </a:t>
            </a:r>
            <a:r>
              <a:rPr lang="en-US" sz="3300" err="1">
                <a:latin typeface="Arial"/>
                <a:ea typeface="Arial"/>
                <a:cs typeface="Arial"/>
                <a:sym typeface="Arial"/>
              </a:rPr>
              <a:t>mà</a:t>
            </a:r>
            <a:r>
              <a:rPr lang="en-US" sz="3300">
                <a:latin typeface="Arial"/>
                <a:ea typeface="Arial"/>
                <a:cs typeface="Arial"/>
                <a:sym typeface="Arial"/>
              </a:rPr>
              <a:t> </a:t>
            </a:r>
            <a:r>
              <a:rPr lang="en-US" sz="3300" err="1">
                <a:latin typeface="Arial"/>
                <a:ea typeface="Arial"/>
                <a:cs typeface="Arial"/>
                <a:sym typeface="Arial"/>
              </a:rPr>
              <a:t>sau</a:t>
            </a:r>
            <a:r>
              <a:rPr lang="en-US" sz="3300">
                <a:latin typeface="Arial"/>
                <a:ea typeface="Arial"/>
                <a:cs typeface="Arial"/>
                <a:sym typeface="Arial"/>
              </a:rPr>
              <a:t> </a:t>
            </a:r>
            <a:r>
              <a:rPr lang="en-US" sz="3300" err="1">
                <a:latin typeface="Arial"/>
                <a:ea typeface="Arial"/>
                <a:cs typeface="Arial"/>
                <a:sym typeface="Arial"/>
              </a:rPr>
              <a:t>khi</a:t>
            </a:r>
            <a:r>
              <a:rPr lang="en-US" sz="3300">
                <a:latin typeface="Arial"/>
                <a:ea typeface="Arial"/>
                <a:cs typeface="Arial"/>
                <a:sym typeface="Arial"/>
              </a:rPr>
              <a:t> </a:t>
            </a:r>
            <a:r>
              <a:rPr lang="en-US" sz="3300" err="1">
                <a:latin typeface="Arial"/>
                <a:ea typeface="Arial"/>
                <a:cs typeface="Arial"/>
                <a:sym typeface="Arial"/>
              </a:rPr>
              <a:t>sử</a:t>
            </a:r>
            <a:r>
              <a:rPr lang="en-US" sz="3300">
                <a:latin typeface="Arial"/>
                <a:ea typeface="Arial"/>
                <a:cs typeface="Arial"/>
                <a:sym typeface="Arial"/>
              </a:rPr>
              <a:t> </a:t>
            </a:r>
            <a:r>
              <a:rPr lang="en-US" sz="3300" err="1">
                <a:latin typeface="Arial"/>
                <a:ea typeface="Arial"/>
                <a:cs typeface="Arial"/>
                <a:sym typeface="Arial"/>
              </a:rPr>
              <a:t>dụng</a:t>
            </a:r>
            <a:r>
              <a:rPr lang="en-US" sz="3300">
                <a:latin typeface="Arial"/>
                <a:ea typeface="Arial"/>
                <a:cs typeface="Arial"/>
                <a:sym typeface="Arial"/>
              </a:rPr>
              <a:t> </a:t>
            </a:r>
            <a:r>
              <a:rPr lang="en-US" sz="3300" err="1">
                <a:latin typeface="Arial"/>
                <a:ea typeface="Arial"/>
                <a:cs typeface="Arial"/>
                <a:sym typeface="Arial"/>
              </a:rPr>
              <a:t>có</a:t>
            </a:r>
            <a:r>
              <a:rPr lang="en-US" sz="3300">
                <a:latin typeface="Arial"/>
                <a:ea typeface="Arial"/>
                <a:cs typeface="Arial"/>
                <a:sym typeface="Arial"/>
              </a:rPr>
              <a:t> </a:t>
            </a:r>
            <a:r>
              <a:rPr lang="en-US" sz="3300" err="1">
                <a:latin typeface="Arial"/>
                <a:ea typeface="Arial"/>
                <a:cs typeface="Arial"/>
                <a:sym typeface="Arial"/>
              </a:rPr>
              <a:t>thể</a:t>
            </a:r>
            <a:r>
              <a:rPr lang="en-US" sz="3300">
                <a:latin typeface="Arial"/>
                <a:ea typeface="Arial"/>
                <a:cs typeface="Arial"/>
                <a:sym typeface="Arial"/>
              </a:rPr>
              <a:t> </a:t>
            </a:r>
            <a:r>
              <a:rPr lang="en-US" sz="3300" err="1">
                <a:latin typeface="Arial"/>
                <a:ea typeface="Arial"/>
                <a:cs typeface="Arial"/>
                <a:sym typeface="Arial"/>
              </a:rPr>
              <a:t>tái</a:t>
            </a:r>
            <a:r>
              <a:rPr lang="en-US" sz="3300">
                <a:latin typeface="Arial"/>
                <a:ea typeface="Arial"/>
                <a:cs typeface="Arial"/>
                <a:sym typeface="Arial"/>
              </a:rPr>
              <a:t> </a:t>
            </a:r>
            <a:r>
              <a:rPr lang="en-US" sz="3300" err="1">
                <a:latin typeface="Arial"/>
                <a:ea typeface="Arial"/>
                <a:cs typeface="Arial"/>
                <a:sym typeface="Arial"/>
              </a:rPr>
              <a:t>chế</a:t>
            </a:r>
            <a:r>
              <a:rPr lang="en-US" sz="3300">
                <a:latin typeface="Arial"/>
                <a:ea typeface="Arial"/>
                <a:cs typeface="Arial"/>
                <a:sym typeface="Arial"/>
              </a:rPr>
              <a:t> </a:t>
            </a:r>
            <a:r>
              <a:rPr lang="en-US" sz="3300" err="1">
                <a:latin typeface="Arial"/>
                <a:ea typeface="Arial"/>
                <a:cs typeface="Arial"/>
                <a:sym typeface="Arial"/>
              </a:rPr>
              <a:t>dễ</a:t>
            </a:r>
            <a:r>
              <a:rPr lang="en-US" sz="3300">
                <a:latin typeface="Arial"/>
                <a:ea typeface="Arial"/>
                <a:cs typeface="Arial"/>
                <a:sym typeface="Arial"/>
              </a:rPr>
              <a:t> </a:t>
            </a:r>
            <a:r>
              <a:rPr lang="en-US" sz="3300" err="1">
                <a:latin typeface="Arial"/>
                <a:ea typeface="Arial"/>
                <a:cs typeface="Arial"/>
                <a:sym typeface="Arial"/>
              </a:rPr>
              <a:t>dàng</a:t>
            </a:r>
            <a:r>
              <a:rPr lang="en-US" sz="3300">
                <a:latin typeface="Arial"/>
                <a:ea typeface="Arial"/>
                <a:cs typeface="Arial"/>
                <a:sym typeface="Arial"/>
              </a:rPr>
              <a:t>. </a:t>
            </a:r>
            <a:endParaRPr sz="3300">
              <a:latin typeface="Arial"/>
              <a:ea typeface="Arial"/>
              <a:cs typeface="Arial"/>
              <a:sym typeface="Arial"/>
            </a:endParaRPr>
          </a:p>
          <a:p>
            <a:pPr marL="0" lvl="0" indent="0" algn="l" rtl="0">
              <a:lnSpc>
                <a:spcPct val="90000"/>
              </a:lnSpc>
              <a:spcBef>
                <a:spcPts val="1000"/>
              </a:spcBef>
              <a:spcAft>
                <a:spcPts val="0"/>
              </a:spcAft>
              <a:buClr>
                <a:schemeClr val="dk1"/>
              </a:buClr>
              <a:buSzPct val="100000"/>
              <a:buNone/>
            </a:pPr>
            <a:endParaRPr/>
          </a:p>
        </p:txBody>
      </p:sp>
      <p:pic>
        <p:nvPicPr>
          <p:cNvPr id="1894" name="Google Shape;1894;p281" descr="Connections with solid fill"/>
          <p:cNvPicPr preferRelativeResize="0"/>
          <p:nvPr/>
        </p:nvPicPr>
        <p:blipFill rotWithShape="1">
          <a:blip r:embed="rId3">
            <a:alphaModFix/>
          </a:blip>
          <a:srcRect/>
          <a:stretch/>
        </p:blipFill>
        <p:spPr>
          <a:xfrm>
            <a:off x="9305947" y="5699624"/>
            <a:ext cx="1181078" cy="1158376"/>
          </a:xfrm>
          <a:prstGeom prst="rect">
            <a:avLst/>
          </a:prstGeom>
          <a:noFill/>
          <a:ln>
            <a:noFill/>
          </a:ln>
        </p:spPr>
      </p:pic>
      <p:pic>
        <p:nvPicPr>
          <p:cNvPr id="1895" name="Google Shape;1895;p281" descr="No Littering with solid fill"/>
          <p:cNvPicPr preferRelativeResize="0"/>
          <p:nvPr/>
        </p:nvPicPr>
        <p:blipFill rotWithShape="1">
          <a:blip r:embed="rId4">
            <a:alphaModFix/>
          </a:blip>
          <a:srcRect/>
          <a:stretch/>
        </p:blipFill>
        <p:spPr>
          <a:xfrm>
            <a:off x="7672388" y="5699624"/>
            <a:ext cx="914400" cy="914400"/>
          </a:xfrm>
          <a:prstGeom prst="rect">
            <a:avLst/>
          </a:prstGeom>
          <a:noFill/>
          <a:ln>
            <a:noFill/>
          </a:ln>
        </p:spPr>
      </p:pic>
    </p:spTree>
    <p:extLst>
      <p:ext uri="{BB962C8B-B14F-4D97-AF65-F5344CB8AC3E}">
        <p14:creationId xmlns:p14="http://schemas.microsoft.com/office/powerpoint/2010/main" val="827269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94"/>
                                        </p:tgtEl>
                                        <p:attrNameLst>
                                          <p:attrName>style.visibility</p:attrName>
                                        </p:attrNameLst>
                                      </p:cBhvr>
                                      <p:to>
                                        <p:strVal val="visible"/>
                                      </p:to>
                                    </p:set>
                                    <p:animEffect transition="in" filter="fade">
                                      <p:cBhvr>
                                        <p:cTn id="7" dur="500"/>
                                        <p:tgtEl>
                                          <p:spTgt spid="1894"/>
                                        </p:tgtEl>
                                      </p:cBhvr>
                                    </p:animEffect>
                                  </p:childTnLst>
                                </p:cTn>
                              </p:par>
                              <p:par>
                                <p:cTn id="8" presetID="10" presetClass="entr" presetSubtype="0" fill="hold" nodeType="withEffect">
                                  <p:stCondLst>
                                    <p:cond delay="0"/>
                                  </p:stCondLst>
                                  <p:childTnLst>
                                    <p:set>
                                      <p:cBhvr>
                                        <p:cTn id="9" dur="1" fill="hold">
                                          <p:stCondLst>
                                            <p:cond delay="0"/>
                                          </p:stCondLst>
                                        </p:cTn>
                                        <p:tgtEl>
                                          <p:spTgt spid="1895"/>
                                        </p:tgtEl>
                                        <p:attrNameLst>
                                          <p:attrName>style.visibility</p:attrName>
                                        </p:attrNameLst>
                                      </p:cBhvr>
                                      <p:to>
                                        <p:strVal val="visible"/>
                                      </p:to>
                                    </p:set>
                                    <p:animEffect transition="in" filter="fade">
                                      <p:cBhvr>
                                        <p:cTn id="10" dur="500"/>
                                        <p:tgtEl>
                                          <p:spTgt spid="1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899"/>
        <p:cNvGrpSpPr/>
        <p:nvPr/>
      </p:nvGrpSpPr>
      <p:grpSpPr>
        <a:xfrm>
          <a:off x="0" y="0"/>
          <a:ext cx="0" cy="0"/>
          <a:chOff x="0" y="0"/>
          <a:chExt cx="0" cy="0"/>
        </a:xfrm>
      </p:grpSpPr>
      <p:sp>
        <p:nvSpPr>
          <p:cNvPr id="1900" name="Google Shape;1900;p28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vi-VN" sz="2800" b="1"/>
              <a:t>Tình </a:t>
            </a:r>
            <a:r>
              <a:rPr lang="en-US" sz="2800" b="1" err="1">
                <a:latin typeface="Arial"/>
                <a:ea typeface="Arial"/>
                <a:cs typeface="Arial"/>
                <a:sym typeface="Arial"/>
              </a:rPr>
              <a:t>huống</a:t>
            </a:r>
            <a:r>
              <a:rPr lang="en-US" sz="2800" b="1">
                <a:latin typeface="Arial"/>
                <a:ea typeface="Arial"/>
                <a:cs typeface="Arial"/>
                <a:sym typeface="Arial"/>
              </a:rPr>
              <a:t> </a:t>
            </a:r>
            <a:r>
              <a:rPr lang="en-US" sz="2800" b="1" err="1">
                <a:latin typeface="Arial"/>
                <a:ea typeface="Arial"/>
                <a:cs typeface="Arial"/>
                <a:sym typeface="Arial"/>
              </a:rPr>
              <a:t>thải</a:t>
            </a:r>
            <a:r>
              <a:rPr lang="en-US" sz="2800" b="1">
                <a:latin typeface="Arial"/>
                <a:ea typeface="Arial"/>
                <a:cs typeface="Arial"/>
                <a:sym typeface="Arial"/>
              </a:rPr>
              <a:t> </a:t>
            </a:r>
            <a:r>
              <a:rPr lang="en-US" sz="2800" b="1" err="1">
                <a:latin typeface="Arial"/>
                <a:ea typeface="Arial"/>
                <a:cs typeface="Arial"/>
                <a:sym typeface="Arial"/>
              </a:rPr>
              <a:t>hồi</a:t>
            </a:r>
            <a:endParaRPr sz="2800"/>
          </a:p>
        </p:txBody>
      </p:sp>
      <p:sp>
        <p:nvSpPr>
          <p:cNvPr id="1901" name="Google Shape;1901;p282"/>
          <p:cNvSpPr txBox="1">
            <a:spLocks noGrp="1"/>
          </p:cNvSpPr>
          <p:nvPr>
            <p:ph type="body" idx="1"/>
          </p:nvPr>
        </p:nvSpPr>
        <p:spPr>
          <a:xfrm>
            <a:off x="194310" y="1343025"/>
            <a:ext cx="8271621" cy="5149850"/>
          </a:xfrm>
          <a:prstGeom prst="rect">
            <a:avLst/>
          </a:prstGeom>
          <a:noFill/>
          <a:ln>
            <a:noFill/>
          </a:ln>
        </p:spPr>
        <p:txBody>
          <a:bodyPr spcFirstLastPara="1" wrap="square" lIns="91425" tIns="45700" rIns="91425" bIns="45700" anchor="t" anchorCtr="0">
            <a:normAutofit fontScale="92500"/>
          </a:bodyPr>
          <a:lstStyle/>
          <a:p>
            <a:pPr marL="457200" lvl="0" indent="-457200" algn="just" rtl="0">
              <a:lnSpc>
                <a:spcPct val="150000"/>
              </a:lnSpc>
              <a:spcBef>
                <a:spcPts val="0"/>
              </a:spcBef>
              <a:spcAft>
                <a:spcPts val="0"/>
              </a:spcAft>
              <a:buClr>
                <a:schemeClr val="dk1"/>
              </a:buClr>
              <a:buSzPct val="108108"/>
              <a:buFont typeface="Arial"/>
              <a:buChar char="•"/>
            </a:pPr>
            <a:r>
              <a:rPr lang="en-US">
                <a:latin typeface="Arial"/>
                <a:ea typeface="Arial"/>
                <a:cs typeface="Arial"/>
                <a:sym typeface="Arial"/>
              </a:rPr>
              <a:t>Thông </a:t>
            </a:r>
            <a:r>
              <a:rPr lang="en-US" err="1">
                <a:latin typeface="Arial"/>
                <a:ea typeface="Arial"/>
                <a:cs typeface="Arial"/>
                <a:sym typeface="Arial"/>
              </a:rPr>
              <a:t>thường</a:t>
            </a:r>
            <a:r>
              <a:rPr lang="en-US">
                <a:latin typeface="Arial"/>
                <a:ea typeface="Arial"/>
                <a:cs typeface="Arial"/>
                <a:sym typeface="Arial"/>
              </a:rPr>
              <a:t>, </a:t>
            </a:r>
            <a:r>
              <a:rPr lang="en-US" err="1">
                <a:latin typeface="Arial"/>
                <a:ea typeface="Arial"/>
                <a:cs typeface="Arial"/>
                <a:sym typeface="Arial"/>
              </a:rPr>
              <a:t>việc</a:t>
            </a:r>
            <a:r>
              <a:rPr lang="en-US">
                <a:latin typeface="Arial"/>
                <a:ea typeface="Arial"/>
                <a:cs typeface="Arial"/>
                <a:sym typeface="Arial"/>
              </a:rPr>
              <a:t> </a:t>
            </a:r>
            <a:r>
              <a:rPr lang="en-US" err="1">
                <a:latin typeface="Arial"/>
                <a:ea typeface="Arial"/>
                <a:cs typeface="Arial"/>
                <a:sym typeface="Arial"/>
              </a:rPr>
              <a:t>xử</a:t>
            </a:r>
            <a:r>
              <a:rPr lang="en-US">
                <a:latin typeface="Arial"/>
                <a:ea typeface="Arial"/>
                <a:cs typeface="Arial"/>
                <a:sym typeface="Arial"/>
              </a:rPr>
              <a:t> </a:t>
            </a:r>
            <a:r>
              <a:rPr lang="en-US" err="1">
                <a:latin typeface="Arial"/>
                <a:ea typeface="Arial"/>
                <a:cs typeface="Arial"/>
                <a:sym typeface="Arial"/>
              </a:rPr>
              <a:t>lý</a:t>
            </a:r>
            <a:r>
              <a:rPr lang="en-US">
                <a:latin typeface="Arial"/>
                <a:ea typeface="Arial"/>
                <a:cs typeface="Arial"/>
                <a:sym typeface="Arial"/>
              </a:rPr>
              <a:t>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sản</a:t>
            </a:r>
            <a:r>
              <a:rPr lang="en-US">
                <a:latin typeface="Arial"/>
                <a:ea typeface="Arial"/>
                <a:cs typeface="Arial"/>
                <a:sym typeface="Arial"/>
              </a:rPr>
              <a:t> </a:t>
            </a:r>
            <a:r>
              <a:rPr lang="en-US" err="1">
                <a:latin typeface="Arial"/>
                <a:ea typeface="Arial"/>
                <a:cs typeface="Arial"/>
                <a:sym typeface="Arial"/>
              </a:rPr>
              <a:t>phẩm</a:t>
            </a:r>
            <a:r>
              <a:rPr lang="en-US">
                <a:latin typeface="Arial"/>
                <a:ea typeface="Arial"/>
                <a:cs typeface="Arial"/>
                <a:sym typeface="Arial"/>
              </a:rPr>
              <a:t> </a:t>
            </a:r>
            <a:r>
              <a:rPr lang="en-US" err="1">
                <a:latin typeface="Arial"/>
                <a:ea typeface="Arial"/>
                <a:cs typeface="Arial"/>
                <a:sym typeface="Arial"/>
              </a:rPr>
              <a:t>hiện</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phải</a:t>
            </a:r>
            <a:r>
              <a:rPr lang="en-US">
                <a:latin typeface="Arial"/>
                <a:ea typeface="Arial"/>
                <a:cs typeface="Arial"/>
                <a:sym typeface="Arial"/>
              </a:rPr>
              <a:t> </a:t>
            </a:r>
            <a:r>
              <a:rPr lang="en-US" err="1">
                <a:latin typeface="Arial"/>
                <a:ea typeface="Arial"/>
                <a:cs typeface="Arial"/>
                <a:sym typeface="Arial"/>
              </a:rPr>
              <a:t>xảy</a:t>
            </a:r>
            <a:r>
              <a:rPr lang="en-US">
                <a:latin typeface="Arial"/>
                <a:ea typeface="Arial"/>
                <a:cs typeface="Arial"/>
                <a:sym typeface="Arial"/>
              </a:rPr>
              <a:t> </a:t>
            </a:r>
            <a:r>
              <a:rPr lang="en-US" err="1">
                <a:latin typeface="Arial"/>
                <a:ea typeface="Arial"/>
                <a:cs typeface="Arial"/>
                <a:sym typeface="Arial"/>
              </a:rPr>
              <a:t>ra</a:t>
            </a:r>
            <a:r>
              <a:rPr lang="en-US">
                <a:latin typeface="Arial"/>
                <a:ea typeface="Arial"/>
                <a:cs typeface="Arial"/>
                <a:sym typeface="Arial"/>
              </a:rPr>
              <a:t> </a:t>
            </a:r>
            <a:r>
              <a:rPr lang="en-US" err="1">
                <a:latin typeface="Arial"/>
                <a:ea typeface="Arial"/>
                <a:cs typeface="Arial"/>
                <a:sym typeface="Arial"/>
              </a:rPr>
              <a:t>trước</a:t>
            </a:r>
            <a:r>
              <a:rPr lang="en-US">
                <a:latin typeface="Arial"/>
                <a:ea typeface="Arial"/>
                <a:cs typeface="Arial"/>
                <a:sym typeface="Arial"/>
              </a:rPr>
              <a:t> </a:t>
            </a:r>
            <a:r>
              <a:rPr lang="en-US" err="1">
                <a:latin typeface="Arial"/>
                <a:ea typeface="Arial"/>
                <a:cs typeface="Arial"/>
                <a:sym typeface="Arial"/>
              </a:rPr>
              <a:t>hoặc</a:t>
            </a:r>
            <a:r>
              <a:rPr lang="en-US">
                <a:latin typeface="Arial"/>
                <a:ea typeface="Arial"/>
                <a:cs typeface="Arial"/>
                <a:sym typeface="Arial"/>
              </a:rPr>
              <a:t> </a:t>
            </a:r>
            <a:r>
              <a:rPr lang="en-US" err="1">
                <a:latin typeface="Arial"/>
                <a:ea typeface="Arial"/>
                <a:cs typeface="Arial"/>
                <a:sym typeface="Arial"/>
              </a:rPr>
              <a:t>đồng</a:t>
            </a:r>
            <a:r>
              <a:rPr lang="en-US">
                <a:latin typeface="Arial"/>
                <a:ea typeface="Arial"/>
                <a:cs typeface="Arial"/>
                <a:sym typeface="Arial"/>
              </a:rPr>
              <a:t> </a:t>
            </a:r>
            <a:r>
              <a:rPr lang="en-US" err="1">
                <a:latin typeface="Arial"/>
                <a:ea typeface="Arial"/>
                <a:cs typeface="Arial"/>
                <a:sym typeface="Arial"/>
              </a:rPr>
              <a:t>thời</a:t>
            </a:r>
            <a:r>
              <a:rPr lang="en-US">
                <a:latin typeface="Arial"/>
                <a:ea typeface="Arial"/>
                <a:cs typeface="Arial"/>
                <a:sym typeface="Arial"/>
              </a:rPr>
              <a:t> </a:t>
            </a:r>
            <a:r>
              <a:rPr lang="en-US" err="1">
                <a:latin typeface="Arial"/>
                <a:ea typeface="Arial"/>
                <a:cs typeface="Arial"/>
                <a:sym typeface="Arial"/>
              </a:rPr>
              <a:t>với</a:t>
            </a:r>
            <a:r>
              <a:rPr lang="en-US">
                <a:latin typeface="Arial"/>
                <a:ea typeface="Arial"/>
                <a:cs typeface="Arial"/>
                <a:sym typeface="Arial"/>
              </a:rPr>
              <a:t> </a:t>
            </a:r>
            <a:r>
              <a:rPr lang="en-US" err="1">
                <a:latin typeface="Arial"/>
                <a:ea typeface="Arial"/>
                <a:cs typeface="Arial"/>
                <a:sym typeface="Arial"/>
              </a:rPr>
              <a:t>việc</a:t>
            </a:r>
            <a:r>
              <a:rPr lang="en-US">
                <a:latin typeface="Arial"/>
                <a:ea typeface="Arial"/>
                <a:cs typeface="Arial"/>
                <a:sym typeface="Arial"/>
              </a:rPr>
              <a:t> </a:t>
            </a:r>
            <a:r>
              <a:rPr lang="en-US" err="1">
                <a:latin typeface="Arial"/>
                <a:ea typeface="Arial"/>
                <a:cs typeface="Arial"/>
                <a:sym typeface="Arial"/>
              </a:rPr>
              <a:t>mua</a:t>
            </a:r>
            <a:r>
              <a:rPr lang="en-US">
                <a:latin typeface="Arial"/>
                <a:ea typeface="Arial"/>
                <a:cs typeface="Arial"/>
                <a:sym typeface="Arial"/>
              </a:rPr>
              <a:t> </a:t>
            </a:r>
            <a:r>
              <a:rPr lang="en-US" err="1">
                <a:latin typeface="Arial"/>
                <a:ea typeface="Arial"/>
                <a:cs typeface="Arial"/>
                <a:sym typeface="Arial"/>
              </a:rPr>
              <a:t>lại</a:t>
            </a:r>
            <a:r>
              <a:rPr lang="en-US">
                <a:latin typeface="Arial"/>
                <a:ea typeface="Arial"/>
                <a:cs typeface="Arial"/>
                <a:sym typeface="Arial"/>
              </a:rPr>
              <a:t> </a:t>
            </a:r>
            <a:r>
              <a:rPr lang="en-US" err="1">
                <a:latin typeface="Arial"/>
                <a:ea typeface="Arial"/>
                <a:cs typeface="Arial"/>
                <a:sym typeface="Arial"/>
              </a:rPr>
              <a:t>sản</a:t>
            </a:r>
            <a:r>
              <a:rPr lang="en-US">
                <a:latin typeface="Arial"/>
                <a:ea typeface="Arial"/>
                <a:cs typeface="Arial"/>
                <a:sym typeface="Arial"/>
              </a:rPr>
              <a:t> </a:t>
            </a:r>
            <a:r>
              <a:rPr lang="en-US" err="1">
                <a:latin typeface="Arial"/>
                <a:ea typeface="Arial"/>
                <a:cs typeface="Arial"/>
                <a:sym typeface="Arial"/>
              </a:rPr>
              <a:t>phẩm</a:t>
            </a:r>
            <a:r>
              <a:rPr lang="en-US">
                <a:latin typeface="Arial"/>
                <a:ea typeface="Arial"/>
                <a:cs typeface="Arial"/>
                <a:sym typeface="Arial"/>
              </a:rPr>
              <a:t> </a:t>
            </a:r>
            <a:r>
              <a:rPr lang="en-US" err="1">
                <a:latin typeface="Arial"/>
                <a:ea typeface="Arial"/>
                <a:cs typeface="Arial"/>
                <a:sym typeface="Arial"/>
              </a:rPr>
              <a:t>mới</a:t>
            </a:r>
            <a:endParaRPr>
              <a:latin typeface="Arial"/>
              <a:ea typeface="Arial"/>
              <a:cs typeface="Arial"/>
              <a:sym typeface="Arial"/>
            </a:endParaRPr>
          </a:p>
          <a:p>
            <a:pPr marL="457200" lvl="0" indent="-457200" algn="just" rtl="0">
              <a:lnSpc>
                <a:spcPct val="150000"/>
              </a:lnSpc>
              <a:spcBef>
                <a:spcPts val="1000"/>
              </a:spcBef>
              <a:spcAft>
                <a:spcPts val="0"/>
              </a:spcAft>
              <a:buClr>
                <a:schemeClr val="dk1"/>
              </a:buClr>
              <a:buSzPct val="108108"/>
              <a:buFont typeface="Arial"/>
              <a:buChar char="•"/>
            </a:pPr>
            <a:r>
              <a:rPr lang="en-US" err="1">
                <a:latin typeface="Arial"/>
                <a:ea typeface="Arial"/>
                <a:cs typeface="Arial"/>
                <a:sym typeface="Arial"/>
              </a:rPr>
              <a:t>Các</a:t>
            </a:r>
            <a:r>
              <a:rPr lang="en-US">
                <a:latin typeface="Arial"/>
                <a:ea typeface="Arial"/>
                <a:cs typeface="Arial"/>
                <a:sym typeface="Arial"/>
              </a:rPr>
              <a:t> Marketer </a:t>
            </a:r>
            <a:r>
              <a:rPr lang="en-US" err="1">
                <a:latin typeface="Arial"/>
                <a:ea typeface="Arial"/>
                <a:cs typeface="Arial"/>
                <a:sym typeface="Arial"/>
              </a:rPr>
              <a:t>cần</a:t>
            </a:r>
            <a:r>
              <a:rPr lang="en-US">
                <a:latin typeface="Arial"/>
                <a:ea typeface="Arial"/>
                <a:cs typeface="Arial"/>
                <a:sym typeface="Arial"/>
              </a:rPr>
              <a:t> </a:t>
            </a:r>
            <a:r>
              <a:rPr lang="en-US" err="1">
                <a:latin typeface="Arial"/>
                <a:ea typeface="Arial"/>
                <a:cs typeface="Arial"/>
                <a:sym typeface="Arial"/>
              </a:rPr>
              <a:t>phải</a:t>
            </a:r>
            <a:r>
              <a:rPr lang="en-US">
                <a:latin typeface="Arial"/>
                <a:ea typeface="Arial"/>
                <a:cs typeface="Arial"/>
                <a:sym typeface="Arial"/>
              </a:rPr>
              <a:t> </a:t>
            </a:r>
            <a:r>
              <a:rPr lang="en-US" err="1">
                <a:latin typeface="Arial"/>
                <a:ea typeface="Arial"/>
                <a:cs typeface="Arial"/>
                <a:sym typeface="Arial"/>
              </a:rPr>
              <a:t>hiểu</a:t>
            </a:r>
            <a:r>
              <a:rPr lang="en-US">
                <a:latin typeface="Arial"/>
                <a:ea typeface="Arial"/>
                <a:cs typeface="Arial"/>
                <a:sym typeface="Arial"/>
              </a:rPr>
              <a:t> </a:t>
            </a:r>
            <a:r>
              <a:rPr lang="en-US" err="1">
                <a:latin typeface="Arial"/>
                <a:ea typeface="Arial"/>
                <a:cs typeface="Arial"/>
                <a:sym typeface="Arial"/>
              </a:rPr>
              <a:t>làm</a:t>
            </a:r>
            <a:r>
              <a:rPr lang="en-US">
                <a:latin typeface="Arial"/>
                <a:ea typeface="Arial"/>
                <a:cs typeface="Arial"/>
                <a:sym typeface="Arial"/>
              </a:rPr>
              <a:t> </a:t>
            </a:r>
            <a:r>
              <a:rPr lang="en-US" err="1">
                <a:latin typeface="Arial"/>
                <a:ea typeface="Arial"/>
                <a:cs typeface="Arial"/>
                <a:sym typeface="Arial"/>
              </a:rPr>
              <a:t>thế</a:t>
            </a:r>
            <a:r>
              <a:rPr lang="en-US">
                <a:latin typeface="Arial"/>
                <a:ea typeface="Arial"/>
                <a:cs typeface="Arial"/>
                <a:sym typeface="Arial"/>
              </a:rPr>
              <a:t> </a:t>
            </a:r>
            <a:r>
              <a:rPr lang="en-US" err="1">
                <a:latin typeface="Arial"/>
                <a:ea typeface="Arial"/>
                <a:cs typeface="Arial"/>
                <a:sym typeface="Arial"/>
              </a:rPr>
              <a:t>nào</a:t>
            </a:r>
            <a:r>
              <a:rPr lang="en-US">
                <a:latin typeface="Arial"/>
                <a:ea typeface="Arial"/>
                <a:cs typeface="Arial"/>
                <a:sym typeface="Arial"/>
              </a:rPr>
              <a:t> </a:t>
            </a:r>
            <a:r>
              <a:rPr lang="en-US" err="1">
                <a:latin typeface="Arial"/>
                <a:ea typeface="Arial"/>
                <a:cs typeface="Arial"/>
                <a:sym typeface="Arial"/>
              </a:rPr>
              <a:t>tình</a:t>
            </a:r>
            <a:r>
              <a:rPr lang="en-US">
                <a:latin typeface="Arial"/>
                <a:ea typeface="Arial"/>
                <a:cs typeface="Arial"/>
                <a:sym typeface="Arial"/>
              </a:rPr>
              <a:t> </a:t>
            </a:r>
            <a:r>
              <a:rPr lang="en-US" err="1">
                <a:latin typeface="Arial"/>
                <a:ea typeface="Arial"/>
                <a:cs typeface="Arial"/>
                <a:sym typeface="Arial"/>
              </a:rPr>
              <a:t>huống</a:t>
            </a:r>
            <a:r>
              <a:rPr lang="en-US">
                <a:latin typeface="Arial"/>
                <a:ea typeface="Arial"/>
                <a:cs typeface="Arial"/>
                <a:sym typeface="Arial"/>
              </a:rPr>
              <a:t> </a:t>
            </a:r>
            <a:r>
              <a:rPr lang="en-US" err="1">
                <a:latin typeface="Arial"/>
                <a:ea typeface="Arial"/>
                <a:cs typeface="Arial"/>
                <a:sym typeface="Arial"/>
              </a:rPr>
              <a:t>ảnh</a:t>
            </a:r>
            <a:r>
              <a:rPr lang="en-US">
                <a:latin typeface="Arial"/>
                <a:ea typeface="Arial"/>
                <a:cs typeface="Arial"/>
                <a:sym typeface="Arial"/>
              </a:rPr>
              <a:t> </a:t>
            </a:r>
            <a:r>
              <a:rPr lang="en-US" err="1">
                <a:latin typeface="Arial"/>
                <a:ea typeface="Arial"/>
                <a:cs typeface="Arial"/>
                <a:sym typeface="Arial"/>
              </a:rPr>
              <a:t>hưởng</a:t>
            </a:r>
            <a:r>
              <a:rPr lang="en-US">
                <a:latin typeface="Arial"/>
                <a:ea typeface="Arial"/>
                <a:cs typeface="Arial"/>
                <a:sym typeface="Arial"/>
              </a:rPr>
              <a:t> </a:t>
            </a:r>
            <a:r>
              <a:rPr lang="en-US" err="1">
                <a:latin typeface="Arial"/>
                <a:ea typeface="Arial"/>
                <a:cs typeface="Arial"/>
                <a:sym typeface="Arial"/>
              </a:rPr>
              <a:t>đến</a:t>
            </a:r>
            <a:r>
              <a:rPr lang="en-US">
                <a:latin typeface="Arial"/>
                <a:ea typeface="Arial"/>
                <a:cs typeface="Arial"/>
                <a:sym typeface="Arial"/>
              </a:rPr>
              <a:t> </a:t>
            </a:r>
            <a:r>
              <a:rPr lang="en-US" err="1">
                <a:latin typeface="Arial"/>
                <a:ea typeface="Arial"/>
                <a:cs typeface="Arial"/>
                <a:sym typeface="Arial"/>
              </a:rPr>
              <a:t>quyết</a:t>
            </a:r>
            <a:r>
              <a:rPr lang="en-US">
                <a:latin typeface="Arial"/>
                <a:ea typeface="Arial"/>
                <a:cs typeface="Arial"/>
                <a:sym typeface="Arial"/>
              </a:rPr>
              <a:t> </a:t>
            </a:r>
            <a:r>
              <a:rPr lang="en-US" err="1">
                <a:latin typeface="Arial"/>
                <a:ea typeface="Arial"/>
                <a:cs typeface="Arial"/>
                <a:sym typeface="Arial"/>
              </a:rPr>
              <a:t>định</a:t>
            </a:r>
            <a:r>
              <a:rPr lang="en-US">
                <a:latin typeface="Arial"/>
                <a:ea typeface="Arial"/>
                <a:cs typeface="Arial"/>
                <a:sym typeface="Arial"/>
              </a:rPr>
              <a:t> </a:t>
            </a:r>
            <a:r>
              <a:rPr lang="en-US" err="1">
                <a:latin typeface="Arial"/>
                <a:ea typeface="Arial"/>
                <a:cs typeface="Arial"/>
                <a:sym typeface="Arial"/>
              </a:rPr>
              <a:t>thải</a:t>
            </a:r>
            <a:r>
              <a:rPr lang="en-US">
                <a:latin typeface="Arial"/>
                <a:ea typeface="Arial"/>
                <a:cs typeface="Arial"/>
                <a:sym typeface="Arial"/>
              </a:rPr>
              <a:t> </a:t>
            </a:r>
            <a:r>
              <a:rPr lang="en-US" err="1">
                <a:latin typeface="Arial"/>
                <a:ea typeface="Arial"/>
                <a:cs typeface="Arial"/>
                <a:sym typeface="Arial"/>
              </a:rPr>
              <a:t>hồi</a:t>
            </a:r>
            <a:r>
              <a:rPr lang="en-US">
                <a:latin typeface="Arial"/>
                <a:ea typeface="Arial"/>
                <a:cs typeface="Arial"/>
                <a:sym typeface="Arial"/>
              </a:rPr>
              <a:t> </a:t>
            </a:r>
            <a:r>
              <a:rPr lang="en-US" err="1">
                <a:latin typeface="Arial"/>
                <a:ea typeface="Arial"/>
                <a:cs typeface="Arial"/>
                <a:sym typeface="Arial"/>
              </a:rPr>
              <a:t>để</a:t>
            </a:r>
            <a:r>
              <a:rPr lang="en-US">
                <a:latin typeface="Arial"/>
                <a:ea typeface="Arial"/>
                <a:cs typeface="Arial"/>
                <a:sym typeface="Arial"/>
              </a:rPr>
              <a:t> </a:t>
            </a:r>
            <a:r>
              <a:rPr lang="en-US" err="1">
                <a:latin typeface="Arial"/>
                <a:ea typeface="Arial"/>
                <a:cs typeface="Arial"/>
                <a:sym typeface="Arial"/>
              </a:rPr>
              <a:t>phát</a:t>
            </a:r>
            <a:r>
              <a:rPr lang="en-US">
                <a:latin typeface="Arial"/>
                <a:ea typeface="Arial"/>
                <a:cs typeface="Arial"/>
                <a:sym typeface="Arial"/>
              </a:rPr>
              <a:t> </a:t>
            </a:r>
            <a:r>
              <a:rPr lang="en-US" err="1">
                <a:latin typeface="Arial"/>
                <a:ea typeface="Arial"/>
                <a:cs typeface="Arial"/>
                <a:sym typeface="Arial"/>
              </a:rPr>
              <a:t>triển</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sản</a:t>
            </a:r>
            <a:r>
              <a:rPr lang="en-US">
                <a:latin typeface="Arial"/>
                <a:ea typeface="Arial"/>
                <a:cs typeface="Arial"/>
                <a:sym typeface="Arial"/>
              </a:rPr>
              <a:t> </a:t>
            </a:r>
            <a:r>
              <a:rPr lang="en-US" err="1">
                <a:latin typeface="Arial"/>
                <a:ea typeface="Arial"/>
                <a:cs typeface="Arial"/>
                <a:sym typeface="Arial"/>
              </a:rPr>
              <a:t>phẩm</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chương</a:t>
            </a:r>
            <a:r>
              <a:rPr lang="en-US">
                <a:latin typeface="Arial"/>
                <a:ea typeface="Arial"/>
                <a:cs typeface="Arial"/>
                <a:sym typeface="Arial"/>
              </a:rPr>
              <a:t> </a:t>
            </a:r>
            <a:r>
              <a:rPr lang="en-US" err="1">
                <a:latin typeface="Arial"/>
                <a:ea typeface="Arial"/>
                <a:cs typeface="Arial"/>
                <a:sym typeface="Arial"/>
              </a:rPr>
              <a:t>trình</a:t>
            </a:r>
            <a:r>
              <a:rPr lang="en-US">
                <a:latin typeface="Arial"/>
                <a:ea typeface="Arial"/>
                <a:cs typeface="Arial"/>
                <a:sym typeface="Arial"/>
              </a:rPr>
              <a:t> marketing </a:t>
            </a:r>
            <a:r>
              <a:rPr lang="en-US" err="1">
                <a:latin typeface="Arial"/>
                <a:ea typeface="Arial"/>
                <a:cs typeface="Arial"/>
                <a:sym typeface="Arial"/>
              </a:rPr>
              <a:t>hiệu</a:t>
            </a:r>
            <a:r>
              <a:rPr lang="en-US">
                <a:latin typeface="Arial"/>
                <a:ea typeface="Arial"/>
                <a:cs typeface="Arial"/>
                <a:sym typeface="Arial"/>
              </a:rPr>
              <a:t> </a:t>
            </a:r>
            <a:r>
              <a:rPr lang="en-US" err="1">
                <a:latin typeface="Arial"/>
                <a:ea typeface="Arial"/>
                <a:cs typeface="Arial"/>
                <a:sym typeface="Arial"/>
              </a:rPr>
              <a:t>quả</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đạo</a:t>
            </a:r>
            <a:r>
              <a:rPr lang="en-US">
                <a:latin typeface="Arial"/>
                <a:ea typeface="Arial"/>
                <a:cs typeface="Arial"/>
                <a:sym typeface="Arial"/>
              </a:rPr>
              <a:t> </a:t>
            </a:r>
            <a:r>
              <a:rPr lang="en-US" err="1">
                <a:latin typeface="Arial"/>
                <a:ea typeface="Arial"/>
                <a:cs typeface="Arial"/>
                <a:sym typeface="Arial"/>
              </a:rPr>
              <a:t>đức</a:t>
            </a:r>
            <a:r>
              <a:rPr lang="en-US">
                <a:latin typeface="Arial"/>
                <a:ea typeface="Arial"/>
                <a:cs typeface="Arial"/>
                <a:sym typeface="Arial"/>
              </a:rPr>
              <a:t> </a:t>
            </a:r>
            <a:r>
              <a:rPr lang="en-US" err="1">
                <a:latin typeface="Arial"/>
                <a:ea typeface="Arial"/>
                <a:cs typeface="Arial"/>
                <a:sym typeface="Arial"/>
              </a:rPr>
              <a:t>hơn</a:t>
            </a:r>
            <a:r>
              <a:rPr lang="en-US">
                <a:latin typeface="Arial"/>
                <a:ea typeface="Arial"/>
                <a:cs typeface="Arial"/>
                <a:sym typeface="Arial"/>
              </a:rPr>
              <a:t> </a:t>
            </a:r>
            <a:r>
              <a:rPr lang="en-US" err="1">
                <a:latin typeface="Arial"/>
                <a:ea typeface="Arial"/>
                <a:cs typeface="Arial"/>
                <a:sym typeface="Arial"/>
              </a:rPr>
              <a:t>nhằm</a:t>
            </a:r>
            <a:r>
              <a:rPr lang="en-US">
                <a:latin typeface="Arial"/>
                <a:ea typeface="Arial"/>
                <a:cs typeface="Arial"/>
                <a:sym typeface="Arial"/>
              </a:rPr>
              <a:t> </a:t>
            </a:r>
            <a:r>
              <a:rPr lang="en-US" err="1">
                <a:latin typeface="Arial"/>
                <a:ea typeface="Arial"/>
                <a:cs typeface="Arial"/>
                <a:sym typeface="Arial"/>
              </a:rPr>
              <a:t>giành</a:t>
            </a:r>
            <a:r>
              <a:rPr lang="en-US">
                <a:latin typeface="Arial"/>
                <a:ea typeface="Arial"/>
                <a:cs typeface="Arial"/>
                <a:sym typeface="Arial"/>
              </a:rPr>
              <a:t> </a:t>
            </a:r>
            <a:r>
              <a:rPr lang="en-US" err="1">
                <a:latin typeface="Arial"/>
                <a:ea typeface="Arial"/>
                <a:cs typeface="Arial"/>
                <a:sym typeface="Arial"/>
              </a:rPr>
              <a:t>được</a:t>
            </a:r>
            <a:r>
              <a:rPr lang="en-US">
                <a:latin typeface="Arial"/>
                <a:ea typeface="Arial"/>
                <a:cs typeface="Arial"/>
                <a:sym typeface="Arial"/>
              </a:rPr>
              <a:t> </a:t>
            </a:r>
            <a:r>
              <a:rPr lang="en-US" err="1">
                <a:latin typeface="Arial"/>
                <a:ea typeface="Arial"/>
                <a:cs typeface="Arial"/>
                <a:sym typeface="Arial"/>
              </a:rPr>
              <a:t>cảm</a:t>
            </a:r>
            <a:r>
              <a:rPr lang="en-US">
                <a:latin typeface="Arial"/>
                <a:ea typeface="Arial"/>
                <a:cs typeface="Arial"/>
                <a:sym typeface="Arial"/>
              </a:rPr>
              <a:t> </a:t>
            </a:r>
            <a:r>
              <a:rPr lang="en-US" err="1">
                <a:latin typeface="Arial"/>
                <a:ea typeface="Arial"/>
                <a:cs typeface="Arial"/>
                <a:sym typeface="Arial"/>
              </a:rPr>
              <a:t>tình</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khách</a:t>
            </a:r>
            <a:r>
              <a:rPr lang="en-US">
                <a:latin typeface="Arial"/>
                <a:ea typeface="Arial"/>
                <a:cs typeface="Arial"/>
                <a:sym typeface="Arial"/>
              </a:rPr>
              <a:t> </a:t>
            </a:r>
            <a:r>
              <a:rPr lang="en-US" err="1">
                <a:latin typeface="Arial"/>
                <a:ea typeface="Arial"/>
                <a:cs typeface="Arial"/>
                <a:sym typeface="Arial"/>
              </a:rPr>
              <a:t>hàng</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chiến</a:t>
            </a:r>
            <a:r>
              <a:rPr lang="en-US">
                <a:latin typeface="Arial"/>
                <a:ea typeface="Arial"/>
                <a:cs typeface="Arial"/>
                <a:sym typeface="Arial"/>
              </a:rPr>
              <a:t> </a:t>
            </a:r>
            <a:r>
              <a:rPr lang="en-US" err="1">
                <a:latin typeface="Arial"/>
                <a:ea typeface="Arial"/>
                <a:cs typeface="Arial"/>
                <a:sym typeface="Arial"/>
              </a:rPr>
              <a:t>thắng</a:t>
            </a:r>
            <a:r>
              <a:rPr lang="en-US">
                <a:latin typeface="Arial"/>
                <a:ea typeface="Arial"/>
                <a:cs typeface="Arial"/>
                <a:sym typeface="Arial"/>
              </a:rPr>
              <a:t> </a:t>
            </a:r>
            <a:r>
              <a:rPr lang="en-US" err="1">
                <a:latin typeface="Arial"/>
                <a:ea typeface="Arial"/>
                <a:cs typeface="Arial"/>
                <a:sym typeface="Arial"/>
              </a:rPr>
              <a:t>trong</a:t>
            </a:r>
            <a:r>
              <a:rPr lang="en-US">
                <a:latin typeface="Arial"/>
                <a:ea typeface="Arial"/>
                <a:cs typeface="Arial"/>
                <a:sym typeface="Arial"/>
              </a:rPr>
              <a:t> </a:t>
            </a:r>
            <a:r>
              <a:rPr lang="en-US" err="1">
                <a:latin typeface="Arial"/>
                <a:ea typeface="Arial"/>
                <a:cs typeface="Arial"/>
                <a:sym typeface="Arial"/>
              </a:rPr>
              <a:t>cạnh</a:t>
            </a:r>
            <a:r>
              <a:rPr lang="en-US">
                <a:latin typeface="Arial"/>
                <a:ea typeface="Arial"/>
                <a:cs typeface="Arial"/>
                <a:sym typeface="Arial"/>
              </a:rPr>
              <a:t> </a:t>
            </a:r>
            <a:r>
              <a:rPr lang="en-US" err="1">
                <a:latin typeface="Arial"/>
                <a:ea typeface="Arial"/>
                <a:cs typeface="Arial"/>
                <a:sym typeface="Arial"/>
              </a:rPr>
              <a:t>tranh</a:t>
            </a:r>
            <a:r>
              <a:rPr lang="en-US">
                <a:latin typeface="Arial"/>
                <a:ea typeface="Arial"/>
                <a:cs typeface="Arial"/>
                <a:sym typeface="Arial"/>
              </a:rPr>
              <a:t>.</a:t>
            </a:r>
            <a:endParaRPr>
              <a:latin typeface="Arial"/>
              <a:ea typeface="Arial"/>
              <a:cs typeface="Arial"/>
              <a:sym typeface="Arial"/>
            </a:endParaRPr>
          </a:p>
        </p:txBody>
      </p:sp>
      <p:pic>
        <p:nvPicPr>
          <p:cNvPr id="1902" name="Google Shape;1902;p282" descr="Recycling - How to Properly Dispose of ..."/>
          <p:cNvPicPr preferRelativeResize="0"/>
          <p:nvPr/>
        </p:nvPicPr>
        <p:blipFill rotWithShape="1">
          <a:blip r:embed="rId3">
            <a:alphaModFix/>
          </a:blip>
          <a:srcRect/>
          <a:stretch/>
        </p:blipFill>
        <p:spPr>
          <a:xfrm>
            <a:off x="8635846" y="1755652"/>
            <a:ext cx="3028950" cy="1524000"/>
          </a:xfrm>
          <a:prstGeom prst="rect">
            <a:avLst/>
          </a:prstGeom>
          <a:noFill/>
          <a:ln>
            <a:noFill/>
          </a:ln>
        </p:spPr>
      </p:pic>
      <p:pic>
        <p:nvPicPr>
          <p:cNvPr id="1903" name="Google Shape;1903;p282" descr="Dispose Properly"/>
          <p:cNvPicPr preferRelativeResize="0"/>
          <p:nvPr/>
        </p:nvPicPr>
        <p:blipFill rotWithShape="1">
          <a:blip r:embed="rId4">
            <a:alphaModFix/>
          </a:blip>
          <a:srcRect/>
          <a:stretch/>
        </p:blipFill>
        <p:spPr>
          <a:xfrm>
            <a:off x="9082041" y="3755440"/>
            <a:ext cx="2143125" cy="2143125"/>
          </a:xfrm>
          <a:prstGeom prst="rect">
            <a:avLst/>
          </a:prstGeom>
          <a:noFill/>
          <a:ln>
            <a:noFill/>
          </a:ln>
        </p:spPr>
      </p:pic>
    </p:spTree>
    <p:extLst>
      <p:ext uri="{BB962C8B-B14F-4D97-AF65-F5344CB8AC3E}">
        <p14:creationId xmlns:p14="http://schemas.microsoft.com/office/powerpoint/2010/main" val="380231669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913"/>
        <p:cNvGrpSpPr/>
        <p:nvPr/>
      </p:nvGrpSpPr>
      <p:grpSpPr>
        <a:xfrm>
          <a:off x="0" y="0"/>
          <a:ext cx="0" cy="0"/>
          <a:chOff x="0" y="0"/>
          <a:chExt cx="0" cy="0"/>
        </a:xfrm>
      </p:grpSpPr>
      <p:sp>
        <p:nvSpPr>
          <p:cNvPr id="1914" name="Google Shape;1914;p284"/>
          <p:cNvSpPr/>
          <p:nvPr/>
        </p:nvSpPr>
        <p:spPr>
          <a:xfrm>
            <a:off x="286787" y="435856"/>
            <a:ext cx="406397" cy="387459"/>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1E4E7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1915" name="Google Shape;1915;p284"/>
          <p:cNvSpPr/>
          <p:nvPr/>
        </p:nvSpPr>
        <p:spPr>
          <a:xfrm>
            <a:off x="956454" y="435855"/>
            <a:ext cx="406397" cy="387459"/>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E75B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1916" name="Google Shape;1916;p284"/>
          <p:cNvSpPr/>
          <p:nvPr/>
        </p:nvSpPr>
        <p:spPr>
          <a:xfrm>
            <a:off x="1645457" y="435855"/>
            <a:ext cx="406397" cy="387459"/>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9CC2E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1917" name="Google Shape;1917;p284"/>
          <p:cNvSpPr txBox="1"/>
          <p:nvPr/>
        </p:nvSpPr>
        <p:spPr>
          <a:xfrm>
            <a:off x="693184" y="1816676"/>
            <a:ext cx="5829508" cy="1506823"/>
          </a:xfrm>
          <a:prstGeom prst="rect">
            <a:avLst/>
          </a:prstGeom>
          <a:noFill/>
          <a:ln>
            <a:noFill/>
          </a:ln>
        </p:spPr>
        <p:txBody>
          <a:bodyPr spcFirstLastPara="1" wrap="square" lIns="0" tIns="0" rIns="0" bIns="0" anchor="t" anchorCtr="0">
            <a:spAutoFit/>
          </a:bodyPr>
          <a:lstStyle/>
          <a:p>
            <a:pPr marL="0" marR="0" lvl="0" indent="0" algn="ctr" rtl="0">
              <a:lnSpc>
                <a:spcPct val="153277"/>
              </a:lnSpc>
              <a:spcBef>
                <a:spcPts val="0"/>
              </a:spcBef>
              <a:spcAft>
                <a:spcPts val="0"/>
              </a:spcAft>
              <a:buClr>
                <a:srgbClr val="4D593F"/>
              </a:buClr>
              <a:buSzPts val="3600"/>
              <a:buFont typeface="Arial"/>
              <a:buNone/>
            </a:pPr>
            <a:r>
              <a:rPr lang="vi-VN" sz="3200" b="1" i="0" u="none" strike="noStrike" cap="none">
                <a:solidFill>
                  <a:schemeClr val="dk1"/>
                </a:solidFill>
                <a:latin typeface="Arial"/>
                <a:ea typeface="Arial"/>
                <a:cs typeface="Arial"/>
                <a:sym typeface="Arial"/>
              </a:rPr>
              <a:t>2.3.2 </a:t>
            </a:r>
            <a:r>
              <a:rPr lang="en-US" sz="3200" b="1" i="0" u="none" strike="noStrike" cap="none" err="1">
                <a:solidFill>
                  <a:schemeClr val="dk1"/>
                </a:solidFill>
                <a:latin typeface="Arial"/>
                <a:ea typeface="Arial"/>
                <a:cs typeface="Arial"/>
                <a:sym typeface="Arial"/>
              </a:rPr>
              <a:t>Đặc</a:t>
            </a:r>
            <a:r>
              <a:rPr lang="en-US" sz="3200" b="1" i="0" u="none" strike="noStrike" cap="none">
                <a:solidFill>
                  <a:schemeClr val="dk1"/>
                </a:solidFill>
                <a:latin typeface="Arial"/>
                <a:ea typeface="Arial"/>
                <a:cs typeface="Arial"/>
                <a:sym typeface="Arial"/>
              </a:rPr>
              <a:t> </a:t>
            </a:r>
            <a:r>
              <a:rPr lang="en-US" sz="3200" b="1" i="0" u="none" strike="noStrike" cap="none" err="1">
                <a:solidFill>
                  <a:schemeClr val="dk1"/>
                </a:solidFill>
                <a:latin typeface="Arial"/>
                <a:ea typeface="Arial"/>
                <a:cs typeface="Arial"/>
                <a:sym typeface="Arial"/>
              </a:rPr>
              <a:t>điểm</a:t>
            </a:r>
            <a:r>
              <a:rPr lang="en-US" sz="3200" b="1" i="0" u="none" strike="noStrike" cap="none">
                <a:solidFill>
                  <a:schemeClr val="dk1"/>
                </a:solidFill>
                <a:latin typeface="Arial"/>
                <a:ea typeface="Arial"/>
                <a:cs typeface="Arial"/>
                <a:sym typeface="Arial"/>
              </a:rPr>
              <a:t> </a:t>
            </a:r>
            <a:r>
              <a:rPr lang="en-US" sz="3200" b="1" i="0" u="none" strike="noStrike" cap="none" err="1">
                <a:solidFill>
                  <a:schemeClr val="dk1"/>
                </a:solidFill>
                <a:latin typeface="Arial"/>
                <a:ea typeface="Arial"/>
                <a:cs typeface="Arial"/>
                <a:sym typeface="Arial"/>
              </a:rPr>
              <a:t>tình</a:t>
            </a:r>
            <a:r>
              <a:rPr lang="en-US" sz="3200" b="1" i="0" u="none" strike="noStrike" cap="none">
                <a:solidFill>
                  <a:schemeClr val="dk1"/>
                </a:solidFill>
                <a:latin typeface="Arial"/>
                <a:ea typeface="Arial"/>
                <a:cs typeface="Arial"/>
                <a:sym typeface="Arial"/>
              </a:rPr>
              <a:t> </a:t>
            </a:r>
            <a:r>
              <a:rPr lang="en-US" sz="3200" b="1" i="0" u="none" strike="noStrike" cap="none" err="1">
                <a:solidFill>
                  <a:schemeClr val="dk1"/>
                </a:solidFill>
                <a:latin typeface="Arial"/>
                <a:ea typeface="Arial"/>
                <a:cs typeface="Arial"/>
                <a:sym typeface="Arial"/>
              </a:rPr>
              <a:t>huống</a:t>
            </a:r>
            <a:r>
              <a:rPr lang="en-US" sz="3200" b="1" i="0" u="none" strike="noStrike" cap="none">
                <a:solidFill>
                  <a:schemeClr val="dk1"/>
                </a:solidFill>
                <a:latin typeface="Arial"/>
                <a:ea typeface="Arial"/>
                <a:cs typeface="Arial"/>
                <a:sym typeface="Arial"/>
              </a:rPr>
              <a:t> </a:t>
            </a:r>
            <a:endParaRPr sz="3200" b="0" i="0" u="none" strike="noStrike" cap="none">
              <a:solidFill>
                <a:schemeClr val="dk1"/>
              </a:solidFill>
              <a:latin typeface="Arial"/>
              <a:ea typeface="Arial"/>
              <a:cs typeface="Arial"/>
              <a:sym typeface="Arial"/>
            </a:endParaRPr>
          </a:p>
          <a:p>
            <a:pPr marL="0" marR="0" lvl="0" indent="0" algn="ctr" rtl="0">
              <a:lnSpc>
                <a:spcPct val="153277"/>
              </a:lnSpc>
              <a:spcBef>
                <a:spcPts val="0"/>
              </a:spcBef>
              <a:spcAft>
                <a:spcPts val="0"/>
              </a:spcAft>
              <a:buClr>
                <a:srgbClr val="4D593F"/>
              </a:buClr>
              <a:buSzPts val="3600"/>
              <a:buFont typeface="Arial"/>
              <a:buNone/>
            </a:pPr>
            <a:r>
              <a:rPr lang="en-US" sz="3200" b="1" i="0" u="none" strike="noStrike" cap="none" err="1">
                <a:solidFill>
                  <a:schemeClr val="dk1"/>
                </a:solidFill>
                <a:latin typeface="Arial"/>
                <a:ea typeface="Arial"/>
                <a:cs typeface="Arial"/>
                <a:sym typeface="Arial"/>
              </a:rPr>
              <a:t>và</a:t>
            </a:r>
            <a:r>
              <a:rPr lang="en-US" sz="3200" b="1" i="0" u="none" strike="noStrike" cap="none">
                <a:solidFill>
                  <a:schemeClr val="dk1"/>
                </a:solidFill>
                <a:latin typeface="Arial"/>
                <a:ea typeface="Arial"/>
                <a:cs typeface="Arial"/>
                <a:sym typeface="Arial"/>
              </a:rPr>
              <a:t> </a:t>
            </a:r>
            <a:r>
              <a:rPr lang="en-US" sz="3200" b="1" i="0" u="none" strike="noStrike" cap="none" err="1">
                <a:solidFill>
                  <a:schemeClr val="dk1"/>
                </a:solidFill>
                <a:latin typeface="Arial"/>
                <a:ea typeface="Arial"/>
                <a:cs typeface="Arial"/>
                <a:sym typeface="Arial"/>
              </a:rPr>
              <a:t>hành</a:t>
            </a:r>
            <a:r>
              <a:rPr lang="en-US" sz="3200" b="1" i="0" u="none" strike="noStrike" cap="none">
                <a:solidFill>
                  <a:schemeClr val="dk1"/>
                </a:solidFill>
                <a:latin typeface="Arial"/>
                <a:ea typeface="Arial"/>
                <a:cs typeface="Arial"/>
                <a:sym typeface="Arial"/>
              </a:rPr>
              <a:t> vi </a:t>
            </a:r>
            <a:r>
              <a:rPr lang="en-US" sz="3200" b="1" i="0" u="none" strike="noStrike" cap="none" err="1">
                <a:solidFill>
                  <a:schemeClr val="dk1"/>
                </a:solidFill>
                <a:latin typeface="Arial"/>
                <a:ea typeface="Arial"/>
                <a:cs typeface="Arial"/>
                <a:sym typeface="Arial"/>
              </a:rPr>
              <a:t>tiêu</a:t>
            </a:r>
            <a:r>
              <a:rPr lang="en-US" sz="3200" b="1" i="0" u="none" strike="noStrike" cap="none">
                <a:solidFill>
                  <a:schemeClr val="dk1"/>
                </a:solidFill>
                <a:latin typeface="Arial"/>
                <a:ea typeface="Arial"/>
                <a:cs typeface="Arial"/>
                <a:sym typeface="Arial"/>
              </a:rPr>
              <a:t> </a:t>
            </a:r>
            <a:r>
              <a:rPr lang="en-US" sz="3200" b="1" i="0" u="none" strike="noStrike" cap="none" err="1">
                <a:solidFill>
                  <a:schemeClr val="dk1"/>
                </a:solidFill>
                <a:latin typeface="Arial"/>
                <a:ea typeface="Arial"/>
                <a:cs typeface="Arial"/>
                <a:sym typeface="Arial"/>
              </a:rPr>
              <a:t>thụ</a:t>
            </a:r>
            <a:endParaRPr sz="3200" b="1" i="0" u="none" strike="noStrike" cap="none">
              <a:solidFill>
                <a:schemeClr val="dk1"/>
              </a:solidFill>
              <a:latin typeface="Arial"/>
              <a:ea typeface="Arial"/>
              <a:cs typeface="Arial"/>
              <a:sym typeface="Arial"/>
            </a:endParaRPr>
          </a:p>
        </p:txBody>
      </p:sp>
      <p:sp>
        <p:nvSpPr>
          <p:cNvPr id="1918" name="Google Shape;1918;p284"/>
          <p:cNvSpPr txBox="1"/>
          <p:nvPr/>
        </p:nvSpPr>
        <p:spPr>
          <a:xfrm>
            <a:off x="8103659" y="1380028"/>
            <a:ext cx="3740679" cy="356251"/>
          </a:xfrm>
          <a:prstGeom prst="rect">
            <a:avLst/>
          </a:prstGeom>
          <a:noFill/>
          <a:ln>
            <a:noFill/>
          </a:ln>
        </p:spPr>
        <p:txBody>
          <a:bodyPr spcFirstLastPara="1" wrap="square" lIns="0" tIns="0" rIns="0" bIns="0" anchor="t" anchorCtr="0">
            <a:spAutoFit/>
          </a:bodyPr>
          <a:lstStyle/>
          <a:p>
            <a:pPr marL="0" marR="0" lvl="0" indent="0" algn="l" rtl="0">
              <a:lnSpc>
                <a:spcPct val="150025"/>
              </a:lnSpc>
              <a:spcBef>
                <a:spcPts val="0"/>
              </a:spcBef>
              <a:spcAft>
                <a:spcPts val="0"/>
              </a:spcAft>
              <a:buClr>
                <a:srgbClr val="4D593F"/>
              </a:buClr>
              <a:buSzPts val="1999"/>
              <a:buFont typeface="Arial"/>
              <a:buNone/>
            </a:pPr>
            <a:r>
              <a:rPr lang="en-US" sz="1999" b="1" i="0" u="none" strike="noStrike" cap="none">
                <a:solidFill>
                  <a:srgbClr val="4D593F"/>
                </a:solidFill>
                <a:latin typeface="Arial"/>
                <a:ea typeface="Arial"/>
                <a:cs typeface="Arial"/>
                <a:sym typeface="Arial"/>
              </a:rPr>
              <a:t>Môi trường vật lý</a:t>
            </a:r>
            <a:endParaRPr sz="1999" b="1" i="0" u="none" strike="noStrike" cap="none">
              <a:solidFill>
                <a:srgbClr val="4D593F"/>
              </a:solidFill>
              <a:latin typeface="Arial"/>
              <a:ea typeface="Arial"/>
              <a:cs typeface="Arial"/>
              <a:sym typeface="Arial"/>
            </a:endParaRPr>
          </a:p>
        </p:txBody>
      </p:sp>
      <p:sp>
        <p:nvSpPr>
          <p:cNvPr id="1919" name="Google Shape;1919;p284"/>
          <p:cNvSpPr txBox="1"/>
          <p:nvPr/>
        </p:nvSpPr>
        <p:spPr>
          <a:xfrm>
            <a:off x="8085624" y="2392147"/>
            <a:ext cx="3988579" cy="356251"/>
          </a:xfrm>
          <a:prstGeom prst="rect">
            <a:avLst/>
          </a:prstGeom>
          <a:noFill/>
          <a:ln>
            <a:noFill/>
          </a:ln>
        </p:spPr>
        <p:txBody>
          <a:bodyPr spcFirstLastPara="1" wrap="square" lIns="0" tIns="0" rIns="0" bIns="0" anchor="t" anchorCtr="0">
            <a:spAutoFit/>
          </a:bodyPr>
          <a:lstStyle/>
          <a:p>
            <a:pPr marL="0" marR="0" lvl="0" indent="0" algn="l" rtl="0">
              <a:lnSpc>
                <a:spcPct val="150025"/>
              </a:lnSpc>
              <a:spcBef>
                <a:spcPts val="0"/>
              </a:spcBef>
              <a:spcAft>
                <a:spcPts val="0"/>
              </a:spcAft>
              <a:buClr>
                <a:srgbClr val="4D593F"/>
              </a:buClr>
              <a:buSzPts val="1999"/>
              <a:buFont typeface="Arial"/>
              <a:buNone/>
            </a:pPr>
            <a:r>
              <a:rPr lang="en-US" sz="1999" b="1" i="0" u="none" strike="noStrike" cap="none">
                <a:solidFill>
                  <a:srgbClr val="4D593F"/>
                </a:solidFill>
                <a:latin typeface="Arial"/>
                <a:ea typeface="Arial"/>
                <a:cs typeface="Arial"/>
                <a:sym typeface="Arial"/>
              </a:rPr>
              <a:t>Môi trường xã hội</a:t>
            </a:r>
            <a:endParaRPr sz="1999" b="1" i="0" u="none" strike="noStrike" cap="none">
              <a:solidFill>
                <a:srgbClr val="4D593F"/>
              </a:solidFill>
              <a:latin typeface="Arial"/>
              <a:ea typeface="Arial"/>
              <a:cs typeface="Arial"/>
              <a:sym typeface="Arial"/>
            </a:endParaRPr>
          </a:p>
        </p:txBody>
      </p:sp>
      <p:sp>
        <p:nvSpPr>
          <p:cNvPr id="1920" name="Google Shape;1920;p284"/>
          <p:cNvSpPr txBox="1"/>
          <p:nvPr/>
        </p:nvSpPr>
        <p:spPr>
          <a:xfrm>
            <a:off x="8085624" y="3373617"/>
            <a:ext cx="3988579" cy="346890"/>
          </a:xfrm>
          <a:prstGeom prst="rect">
            <a:avLst/>
          </a:prstGeom>
          <a:noFill/>
          <a:ln>
            <a:noFill/>
          </a:ln>
        </p:spPr>
        <p:txBody>
          <a:bodyPr spcFirstLastPara="1" wrap="square" lIns="0" tIns="0" rIns="0" bIns="0" anchor="t" anchorCtr="0">
            <a:spAutoFit/>
          </a:bodyPr>
          <a:lstStyle/>
          <a:p>
            <a:pPr marL="0" marR="0" lvl="0" indent="0" algn="l" rtl="0">
              <a:lnSpc>
                <a:spcPct val="150025"/>
              </a:lnSpc>
              <a:spcBef>
                <a:spcPts val="0"/>
              </a:spcBef>
              <a:spcAft>
                <a:spcPts val="0"/>
              </a:spcAft>
              <a:buClr>
                <a:srgbClr val="4D593F"/>
              </a:buClr>
              <a:buSzPts val="1999"/>
              <a:buFont typeface="Arial"/>
              <a:buNone/>
            </a:pPr>
            <a:r>
              <a:rPr lang="en-US" sz="1999" b="1" i="0" u="none" strike="noStrike" cap="none">
                <a:solidFill>
                  <a:srgbClr val="4D593F"/>
                </a:solidFill>
                <a:latin typeface="Arial"/>
                <a:ea typeface="Arial"/>
                <a:cs typeface="Arial"/>
                <a:sym typeface="Arial"/>
              </a:rPr>
              <a:t>Bối cảnh thời gian</a:t>
            </a:r>
            <a:endParaRPr sz="1999" b="1" i="0" u="none" strike="noStrike" cap="none">
              <a:solidFill>
                <a:srgbClr val="4D593F"/>
              </a:solidFill>
              <a:latin typeface="Arial"/>
              <a:ea typeface="Arial"/>
              <a:cs typeface="Arial"/>
              <a:sym typeface="Arial"/>
            </a:endParaRPr>
          </a:p>
        </p:txBody>
      </p:sp>
      <p:sp>
        <p:nvSpPr>
          <p:cNvPr id="1921" name="Google Shape;1921;p284"/>
          <p:cNvSpPr txBox="1"/>
          <p:nvPr/>
        </p:nvSpPr>
        <p:spPr>
          <a:xfrm>
            <a:off x="8085624" y="4425346"/>
            <a:ext cx="3833390" cy="346890"/>
          </a:xfrm>
          <a:prstGeom prst="rect">
            <a:avLst/>
          </a:prstGeom>
          <a:noFill/>
          <a:ln>
            <a:noFill/>
          </a:ln>
        </p:spPr>
        <p:txBody>
          <a:bodyPr spcFirstLastPara="1" wrap="square" lIns="0" tIns="0" rIns="0" bIns="0" anchor="t" anchorCtr="0">
            <a:spAutoFit/>
          </a:bodyPr>
          <a:lstStyle/>
          <a:p>
            <a:pPr marL="0" marR="0" lvl="0" indent="0" algn="l" rtl="0">
              <a:lnSpc>
                <a:spcPct val="150025"/>
              </a:lnSpc>
              <a:spcBef>
                <a:spcPts val="0"/>
              </a:spcBef>
              <a:spcAft>
                <a:spcPts val="0"/>
              </a:spcAft>
              <a:buClr>
                <a:srgbClr val="4D593F"/>
              </a:buClr>
              <a:buSzPts val="1999"/>
              <a:buFont typeface="Arial"/>
              <a:buNone/>
            </a:pPr>
            <a:r>
              <a:rPr lang="en-US" sz="1999" b="1" i="0" u="none" strike="noStrike" cap="none">
                <a:solidFill>
                  <a:srgbClr val="4D593F"/>
                </a:solidFill>
                <a:latin typeface="Arial"/>
                <a:ea typeface="Arial"/>
                <a:cs typeface="Arial"/>
                <a:sym typeface="Arial"/>
              </a:rPr>
              <a:t>Định hình nhiệm vụ</a:t>
            </a:r>
            <a:endParaRPr sz="1999" b="1" i="0" u="none" strike="noStrike" cap="none">
              <a:solidFill>
                <a:srgbClr val="4D593F"/>
              </a:solidFill>
              <a:latin typeface="Arial"/>
              <a:ea typeface="Arial"/>
              <a:cs typeface="Arial"/>
              <a:sym typeface="Arial"/>
            </a:endParaRPr>
          </a:p>
        </p:txBody>
      </p:sp>
      <p:sp>
        <p:nvSpPr>
          <p:cNvPr id="1922" name="Google Shape;1922;p284"/>
          <p:cNvSpPr txBox="1"/>
          <p:nvPr/>
        </p:nvSpPr>
        <p:spPr>
          <a:xfrm>
            <a:off x="8103660" y="5476931"/>
            <a:ext cx="3970543" cy="346890"/>
          </a:xfrm>
          <a:prstGeom prst="rect">
            <a:avLst/>
          </a:prstGeom>
          <a:noFill/>
          <a:ln>
            <a:noFill/>
          </a:ln>
        </p:spPr>
        <p:txBody>
          <a:bodyPr spcFirstLastPara="1" wrap="square" lIns="0" tIns="0" rIns="0" bIns="0" anchor="t" anchorCtr="0">
            <a:spAutoFit/>
          </a:bodyPr>
          <a:lstStyle/>
          <a:p>
            <a:pPr marL="0" marR="0" lvl="0" indent="0" algn="l" rtl="0">
              <a:lnSpc>
                <a:spcPct val="150025"/>
              </a:lnSpc>
              <a:spcBef>
                <a:spcPts val="0"/>
              </a:spcBef>
              <a:spcAft>
                <a:spcPts val="0"/>
              </a:spcAft>
              <a:buClr>
                <a:srgbClr val="4D593F"/>
              </a:buClr>
              <a:buSzPts val="1999"/>
              <a:buFont typeface="Arial"/>
              <a:buNone/>
            </a:pPr>
            <a:r>
              <a:rPr lang="en-US" sz="1999" b="1" i="0" u="none" strike="noStrike" cap="none">
                <a:solidFill>
                  <a:srgbClr val="4D593F"/>
                </a:solidFill>
                <a:latin typeface="Arial"/>
                <a:ea typeface="Arial"/>
                <a:cs typeface="Arial"/>
                <a:sym typeface="Arial"/>
              </a:rPr>
              <a:t>Trải nghiệm trước đây</a:t>
            </a:r>
            <a:endParaRPr sz="1999" b="1" i="0" u="none" strike="noStrike" cap="none">
              <a:solidFill>
                <a:srgbClr val="4D593F"/>
              </a:solidFill>
              <a:latin typeface="Arial"/>
              <a:ea typeface="Arial"/>
              <a:cs typeface="Arial"/>
              <a:sym typeface="Arial"/>
            </a:endParaRPr>
          </a:p>
        </p:txBody>
      </p:sp>
      <p:sp>
        <p:nvSpPr>
          <p:cNvPr id="1923" name="Google Shape;1923;p284"/>
          <p:cNvSpPr/>
          <p:nvPr/>
        </p:nvSpPr>
        <p:spPr>
          <a:xfrm>
            <a:off x="7570993" y="1015584"/>
            <a:ext cx="45719" cy="4971454"/>
          </a:xfrm>
          <a:prstGeom prst="roundRect">
            <a:avLst>
              <a:gd name="adj" fmla="val 16667"/>
            </a:avLst>
          </a:prstGeom>
          <a:solidFill>
            <a:srgbClr val="3F4F3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a:ea typeface="Arial"/>
              <a:cs typeface="Arial"/>
              <a:sym typeface="Arial"/>
            </a:endParaRPr>
          </a:p>
        </p:txBody>
      </p:sp>
      <p:sp>
        <p:nvSpPr>
          <p:cNvPr id="1924" name="Google Shape;1924;p284"/>
          <p:cNvSpPr/>
          <p:nvPr/>
        </p:nvSpPr>
        <p:spPr>
          <a:xfrm>
            <a:off x="7504975" y="1445606"/>
            <a:ext cx="255572" cy="23853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5" name="Google Shape;1925;p284"/>
          <p:cNvSpPr/>
          <p:nvPr/>
        </p:nvSpPr>
        <p:spPr>
          <a:xfrm flipH="1">
            <a:off x="7504975" y="2497215"/>
            <a:ext cx="255572" cy="23853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6" name="Google Shape;1926;p284"/>
          <p:cNvSpPr/>
          <p:nvPr/>
        </p:nvSpPr>
        <p:spPr>
          <a:xfrm flipH="1">
            <a:off x="7320431" y="3429000"/>
            <a:ext cx="440116" cy="41077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7" name="Google Shape;1927;p284"/>
          <p:cNvSpPr/>
          <p:nvPr/>
        </p:nvSpPr>
        <p:spPr>
          <a:xfrm>
            <a:off x="7504975" y="4526884"/>
            <a:ext cx="273225" cy="25500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8" name="Google Shape;1928;p284"/>
          <p:cNvSpPr/>
          <p:nvPr/>
        </p:nvSpPr>
        <p:spPr>
          <a:xfrm>
            <a:off x="7504975" y="5587407"/>
            <a:ext cx="273225" cy="255009"/>
          </a:xfrm>
          <a:prstGeom prst="rect">
            <a:avLst/>
          </a:prstGeom>
          <a:noFill/>
          <a:ln>
            <a:noFill/>
          </a:ln>
          <a:effectLst>
            <a:outerShdw blurRad="50800" algn="ctr" rotWithShape="0">
              <a:srgbClr val="000000">
                <a:alpha val="42745"/>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29" name="Google Shape;1929;p284" descr="Hành vi người tiêu dùng bị ảnh hưởng là do yếu tố nào? | bởi Lê Ngọc Hân |  Brands Vietnam"/>
          <p:cNvPicPr preferRelativeResize="0"/>
          <p:nvPr/>
        </p:nvPicPr>
        <p:blipFill rotWithShape="1">
          <a:blip r:embed="rId3">
            <a:alphaModFix/>
          </a:blip>
          <a:srcRect/>
          <a:stretch/>
        </p:blipFill>
        <p:spPr>
          <a:xfrm>
            <a:off x="1790075" y="3839774"/>
            <a:ext cx="3530600" cy="231140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2006"/>
        <p:cNvGrpSpPr/>
        <p:nvPr/>
      </p:nvGrpSpPr>
      <p:grpSpPr>
        <a:xfrm>
          <a:off x="0" y="0"/>
          <a:ext cx="0" cy="0"/>
          <a:chOff x="0" y="0"/>
          <a:chExt cx="0" cy="0"/>
        </a:xfrm>
      </p:grpSpPr>
      <p:sp>
        <p:nvSpPr>
          <p:cNvPr id="2007" name="Google Shape;2007;p295"/>
          <p:cNvSpPr txBox="1">
            <a:spLocks noGrp="1"/>
          </p:cNvSpPr>
          <p:nvPr>
            <p:ph type="body" idx="1"/>
          </p:nvPr>
        </p:nvSpPr>
        <p:spPr>
          <a:xfrm>
            <a:off x="568960" y="1365653"/>
            <a:ext cx="10441940" cy="4320772"/>
          </a:xfrm>
          <a:prstGeom prst="rect">
            <a:avLst/>
          </a:prstGeom>
          <a:noFill/>
          <a:ln>
            <a:noFill/>
          </a:ln>
        </p:spPr>
        <p:txBody>
          <a:bodyPr spcFirstLastPara="1" wrap="square" lIns="91425" tIns="45700" rIns="91425" bIns="45700" anchor="t" anchorCtr="0">
            <a:noAutofit/>
          </a:bodyPr>
          <a:lstStyle/>
          <a:p>
            <a:pPr marL="342900" lvl="0" algn="just">
              <a:lnSpc>
                <a:spcPct val="150000"/>
              </a:lnSpc>
              <a:spcBef>
                <a:spcPts val="0"/>
              </a:spcBef>
              <a:buSzPts val="2400"/>
            </a:pPr>
            <a:r>
              <a:rPr lang="en-US" err="1">
                <a:latin typeface="Arial"/>
                <a:ea typeface="Arial"/>
                <a:cs typeface="Arial"/>
                <a:sym typeface="Arial"/>
              </a:rPr>
              <a:t>Cá</a:t>
            </a:r>
            <a:r>
              <a:rPr lang="en-US" err="1"/>
              <a:t>c</a:t>
            </a:r>
            <a:r>
              <a:rPr lang="vi-VN"/>
              <a:t> </a:t>
            </a:r>
            <a:r>
              <a:rPr lang="en-US" err="1"/>
              <a:t>kỳ</a:t>
            </a:r>
            <a:r>
              <a:rPr lang="en-US"/>
              <a:t> </a:t>
            </a:r>
            <a:r>
              <a:rPr lang="en-US" err="1">
                <a:latin typeface="Arial"/>
                <a:ea typeface="Arial"/>
                <a:cs typeface="Arial"/>
                <a:sym typeface="Arial"/>
              </a:rPr>
              <a:t>nghỉ</a:t>
            </a:r>
            <a:r>
              <a:rPr lang="en-US">
                <a:latin typeface="Arial"/>
                <a:ea typeface="Arial"/>
                <a:cs typeface="Arial"/>
                <a:sym typeface="Arial"/>
              </a:rPr>
              <a:t> </a:t>
            </a:r>
            <a:r>
              <a:rPr lang="en-US" err="1">
                <a:latin typeface="Arial"/>
                <a:ea typeface="Arial"/>
                <a:cs typeface="Arial"/>
                <a:sym typeface="Arial"/>
              </a:rPr>
              <a:t>lễ</a:t>
            </a:r>
            <a:r>
              <a:rPr lang="en-US">
                <a:latin typeface="Arial"/>
                <a:ea typeface="Arial"/>
                <a:cs typeface="Arial"/>
                <a:sym typeface="Arial"/>
              </a:rPr>
              <a:t> </a:t>
            </a:r>
            <a:r>
              <a:rPr lang="en-US" err="1">
                <a:latin typeface="Arial"/>
                <a:ea typeface="Arial"/>
                <a:cs typeface="Arial"/>
                <a:sym typeface="Arial"/>
              </a:rPr>
              <a:t>đang</a:t>
            </a:r>
            <a:r>
              <a:rPr lang="en-US">
                <a:latin typeface="Arial"/>
                <a:ea typeface="Arial"/>
                <a:cs typeface="Arial"/>
                <a:sym typeface="Arial"/>
              </a:rPr>
              <a:t> </a:t>
            </a:r>
            <a:r>
              <a:rPr lang="en-US" err="1">
                <a:latin typeface="Arial"/>
                <a:ea typeface="Arial"/>
                <a:cs typeface="Arial"/>
                <a:sym typeface="Arial"/>
              </a:rPr>
              <a:t>được</a:t>
            </a:r>
            <a:r>
              <a:rPr lang="en-US">
                <a:latin typeface="Arial"/>
                <a:ea typeface="Arial"/>
                <a:cs typeface="Arial"/>
                <a:sym typeface="Arial"/>
              </a:rPr>
              <a:t> </a:t>
            </a:r>
            <a:r>
              <a:rPr lang="en-US" err="1">
                <a:latin typeface="Arial"/>
                <a:ea typeface="Arial"/>
                <a:cs typeface="Arial"/>
                <a:sym typeface="Arial"/>
              </a:rPr>
              <a:t>sự</a:t>
            </a:r>
            <a:r>
              <a:rPr lang="en-US">
                <a:latin typeface="Arial"/>
                <a:ea typeface="Arial"/>
                <a:cs typeface="Arial"/>
                <a:sym typeface="Arial"/>
              </a:rPr>
              <a:t> </a:t>
            </a:r>
            <a:r>
              <a:rPr lang="en-US" err="1">
                <a:latin typeface="Arial"/>
                <a:ea typeface="Arial"/>
                <a:cs typeface="Arial"/>
                <a:sym typeface="Arial"/>
              </a:rPr>
              <a:t>chú</a:t>
            </a:r>
            <a:r>
              <a:rPr lang="en-US">
                <a:latin typeface="Arial"/>
                <a:ea typeface="Arial"/>
                <a:cs typeface="Arial"/>
                <a:sym typeface="Arial"/>
              </a:rPr>
              <a:t> ý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quan</a:t>
            </a:r>
            <a:r>
              <a:rPr lang="en-US">
                <a:latin typeface="Arial"/>
                <a:ea typeface="Arial"/>
                <a:cs typeface="Arial"/>
                <a:sym typeface="Arial"/>
              </a:rPr>
              <a:t> </a:t>
            </a:r>
            <a:r>
              <a:rPr lang="en-US" err="1">
                <a:latin typeface="Arial"/>
                <a:ea typeface="Arial"/>
                <a:cs typeface="Arial"/>
                <a:sym typeface="Arial"/>
              </a:rPr>
              <a:t>tâm</a:t>
            </a:r>
            <a:r>
              <a:rPr lang="en-US">
                <a:latin typeface="Arial"/>
                <a:ea typeface="Arial"/>
                <a:cs typeface="Arial"/>
                <a:sym typeface="Arial"/>
              </a:rPr>
              <a:t> </a:t>
            </a:r>
            <a:r>
              <a:rPr lang="en-US" err="1">
                <a:latin typeface="Arial"/>
                <a:ea typeface="Arial"/>
                <a:cs typeface="Arial"/>
                <a:sym typeface="Arial"/>
              </a:rPr>
              <a:t>ngày</a:t>
            </a:r>
            <a:r>
              <a:rPr lang="en-US">
                <a:latin typeface="Arial"/>
                <a:ea typeface="Arial"/>
                <a:cs typeface="Arial"/>
                <a:sym typeface="Arial"/>
              </a:rPr>
              <a:t> </a:t>
            </a:r>
            <a:r>
              <a:rPr lang="en-US" err="1">
                <a:latin typeface="Arial"/>
                <a:ea typeface="Arial"/>
                <a:cs typeface="Arial"/>
                <a:sym typeface="Arial"/>
              </a:rPr>
              <a:t>càng</a:t>
            </a:r>
            <a:r>
              <a:rPr lang="en-US">
                <a:latin typeface="Arial"/>
                <a:ea typeface="Arial"/>
                <a:cs typeface="Arial"/>
                <a:sym typeface="Arial"/>
              </a:rPr>
              <a:t> </a:t>
            </a:r>
            <a:r>
              <a:rPr lang="en-US" err="1">
                <a:latin typeface="Arial"/>
                <a:ea typeface="Arial"/>
                <a:cs typeface="Arial"/>
                <a:sym typeface="Arial"/>
              </a:rPr>
              <a:t>tăng</a:t>
            </a:r>
            <a:r>
              <a:rPr lang="en-US">
                <a:latin typeface="Arial"/>
                <a:ea typeface="Arial"/>
                <a:cs typeface="Arial"/>
                <a:sym typeface="Arial"/>
              </a:rPr>
              <a:t> </a:t>
            </a:r>
            <a:r>
              <a:rPr lang="en-US" err="1">
                <a:latin typeface="Arial"/>
                <a:ea typeface="Arial"/>
                <a:cs typeface="Arial"/>
                <a:sym typeface="Arial"/>
              </a:rPr>
              <a:t>của</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học</a:t>
            </a:r>
            <a:r>
              <a:rPr lang="en-US">
                <a:latin typeface="Arial"/>
                <a:ea typeface="Arial"/>
                <a:cs typeface="Arial"/>
                <a:sym typeface="Arial"/>
              </a:rPr>
              <a:t> </a:t>
            </a:r>
            <a:r>
              <a:rPr lang="en-US" err="1">
                <a:latin typeface="Arial"/>
                <a:ea typeface="Arial"/>
                <a:cs typeface="Arial"/>
                <a:sym typeface="Arial"/>
              </a:rPr>
              <a:t>giả</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Marketer. </a:t>
            </a:r>
            <a:endParaRPr/>
          </a:p>
          <a:p>
            <a:pPr marL="342900" lvl="0" indent="-342900" algn="just" rtl="0">
              <a:lnSpc>
                <a:spcPct val="150000"/>
              </a:lnSpc>
              <a:spcBef>
                <a:spcPts val="1000"/>
              </a:spcBef>
              <a:spcAft>
                <a:spcPts val="0"/>
              </a:spcAft>
              <a:buClr>
                <a:schemeClr val="dk1"/>
              </a:buClr>
              <a:buSzPts val="2400"/>
              <a:buFont typeface="Arial"/>
              <a:buChar char="•"/>
            </a:pP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nghi</a:t>
            </a:r>
            <a:r>
              <a:rPr lang="en-US">
                <a:latin typeface="Arial"/>
                <a:ea typeface="Arial"/>
                <a:cs typeface="Arial"/>
                <a:sym typeface="Arial"/>
              </a:rPr>
              <a:t> </a:t>
            </a:r>
            <a:r>
              <a:rPr lang="en-US" err="1">
                <a:latin typeface="Arial"/>
                <a:ea typeface="Arial"/>
                <a:cs typeface="Arial"/>
                <a:sym typeface="Arial"/>
              </a:rPr>
              <a:t>thức</a:t>
            </a:r>
            <a:r>
              <a:rPr lang="en-US">
                <a:latin typeface="Arial"/>
                <a:ea typeface="Arial"/>
                <a:cs typeface="Arial"/>
                <a:sym typeface="Arial"/>
              </a:rPr>
              <a:t> </a:t>
            </a:r>
            <a:r>
              <a:rPr lang="en-US" err="1">
                <a:latin typeface="Arial"/>
                <a:ea typeface="Arial"/>
                <a:cs typeface="Arial"/>
                <a:sym typeface="Arial"/>
              </a:rPr>
              <a:t>tình</a:t>
            </a:r>
            <a:r>
              <a:rPr lang="en-US">
                <a:latin typeface="Arial"/>
                <a:ea typeface="Arial"/>
                <a:cs typeface="Arial"/>
                <a:sym typeface="Arial"/>
              </a:rPr>
              <a:t> </a:t>
            </a:r>
            <a:r>
              <a:rPr lang="en-US" err="1">
                <a:latin typeface="Arial"/>
                <a:ea typeface="Arial"/>
                <a:cs typeface="Arial"/>
                <a:sym typeface="Arial"/>
              </a:rPr>
              <a:t>huống</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thể</a:t>
            </a:r>
            <a:r>
              <a:rPr lang="en-US">
                <a:latin typeface="Arial"/>
                <a:ea typeface="Arial"/>
                <a:cs typeface="Arial"/>
                <a:sym typeface="Arial"/>
              </a:rPr>
              <a:t> </a:t>
            </a:r>
            <a:r>
              <a:rPr lang="en-US" err="1">
                <a:latin typeface="Arial"/>
                <a:ea typeface="Arial"/>
                <a:cs typeface="Arial"/>
                <a:sym typeface="Arial"/>
              </a:rPr>
              <a:t>được</a:t>
            </a:r>
            <a:r>
              <a:rPr lang="en-US">
                <a:latin typeface="Arial"/>
                <a:ea typeface="Arial"/>
                <a:cs typeface="Arial"/>
                <a:sym typeface="Arial"/>
              </a:rPr>
              <a:t> </a:t>
            </a:r>
            <a:r>
              <a:rPr lang="en-US" err="1">
                <a:latin typeface="Arial"/>
                <a:ea typeface="Arial"/>
                <a:cs typeface="Arial"/>
                <a:sym typeface="Arial"/>
              </a:rPr>
              <a:t>mô</a:t>
            </a:r>
            <a:r>
              <a:rPr lang="en-US">
                <a:latin typeface="Arial"/>
                <a:ea typeface="Arial"/>
                <a:cs typeface="Arial"/>
                <a:sym typeface="Arial"/>
              </a:rPr>
              <a:t> </a:t>
            </a:r>
            <a:r>
              <a:rPr lang="en-US" err="1">
                <a:latin typeface="Arial"/>
                <a:ea typeface="Arial"/>
                <a:cs typeface="Arial"/>
                <a:sym typeface="Arial"/>
              </a:rPr>
              <a:t>tả</a:t>
            </a:r>
            <a:r>
              <a:rPr lang="en-US">
                <a:latin typeface="Arial"/>
                <a:ea typeface="Arial"/>
                <a:cs typeface="Arial"/>
                <a:sym typeface="Arial"/>
              </a:rPr>
              <a:t> </a:t>
            </a:r>
            <a:r>
              <a:rPr lang="en-US" err="1">
                <a:latin typeface="Arial"/>
                <a:ea typeface="Arial"/>
                <a:cs typeface="Arial"/>
                <a:sym typeface="Arial"/>
              </a:rPr>
              <a:t>như</a:t>
            </a:r>
            <a:r>
              <a:rPr lang="en-US">
                <a:latin typeface="Arial"/>
                <a:ea typeface="Arial"/>
                <a:cs typeface="Arial"/>
                <a:sym typeface="Arial"/>
              </a:rPr>
              <a:t>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dịp</a:t>
            </a:r>
            <a:r>
              <a:rPr lang="en-US">
                <a:latin typeface="Arial"/>
                <a:ea typeface="Arial"/>
                <a:cs typeface="Arial"/>
                <a:sym typeface="Arial"/>
              </a:rPr>
              <a:t> </a:t>
            </a:r>
            <a:r>
              <a:rPr lang="en-US" err="1">
                <a:latin typeface="Arial"/>
                <a:ea typeface="Arial"/>
                <a:cs typeface="Arial"/>
                <a:sym typeface="Arial"/>
              </a:rPr>
              <a:t>được</a:t>
            </a:r>
            <a:r>
              <a:rPr lang="en-US">
                <a:latin typeface="Arial"/>
                <a:ea typeface="Arial"/>
                <a:cs typeface="Arial"/>
                <a:sym typeface="Arial"/>
              </a:rPr>
              <a:t> </a:t>
            </a:r>
            <a:r>
              <a:rPr lang="en-US" err="1">
                <a:latin typeface="Arial"/>
                <a:ea typeface="Arial"/>
                <a:cs typeface="Arial"/>
                <a:sym typeface="Arial"/>
              </a:rPr>
              <a:t>xác</a:t>
            </a:r>
            <a:r>
              <a:rPr lang="en-US">
                <a:latin typeface="Arial"/>
                <a:ea typeface="Arial"/>
                <a:cs typeface="Arial"/>
                <a:sym typeface="Arial"/>
              </a:rPr>
              <a:t> </a:t>
            </a:r>
            <a:r>
              <a:rPr lang="en-US" err="1">
                <a:latin typeface="Arial"/>
                <a:ea typeface="Arial"/>
                <a:cs typeface="Arial"/>
                <a:sym typeface="Arial"/>
              </a:rPr>
              <a:t>định</a:t>
            </a:r>
            <a:r>
              <a:rPr lang="en-US">
                <a:latin typeface="Arial"/>
                <a:ea typeface="Arial"/>
                <a:cs typeface="Arial"/>
                <a:sym typeface="Arial"/>
              </a:rPr>
              <a:t> </a:t>
            </a:r>
            <a:r>
              <a:rPr lang="en-US" err="1">
                <a:latin typeface="Arial"/>
                <a:ea typeface="Arial"/>
                <a:cs typeface="Arial"/>
                <a:sym typeface="Arial"/>
              </a:rPr>
              <a:t>để</a:t>
            </a:r>
            <a:r>
              <a:rPr lang="en-US">
                <a:latin typeface="Arial"/>
                <a:ea typeface="Arial"/>
                <a:cs typeface="Arial"/>
                <a:sym typeface="Arial"/>
              </a:rPr>
              <a:t> </a:t>
            </a:r>
            <a:r>
              <a:rPr lang="en-US" err="1">
                <a:latin typeface="Arial"/>
                <a:ea typeface="Arial"/>
                <a:cs typeface="Arial"/>
                <a:sym typeface="Arial"/>
              </a:rPr>
              <a:t>kích</a:t>
            </a:r>
            <a:r>
              <a:rPr lang="en-US">
                <a:latin typeface="Arial"/>
                <a:ea typeface="Arial"/>
                <a:cs typeface="Arial"/>
                <a:sym typeface="Arial"/>
              </a:rPr>
              <a:t> </a:t>
            </a:r>
            <a:r>
              <a:rPr lang="en-US" err="1">
                <a:latin typeface="Arial"/>
                <a:ea typeface="Arial"/>
                <a:cs typeface="Arial"/>
                <a:sym typeface="Arial"/>
              </a:rPr>
              <a:t>hoạt</a:t>
            </a:r>
            <a:r>
              <a:rPr lang="en-US">
                <a:latin typeface="Arial"/>
                <a:ea typeface="Arial"/>
                <a:cs typeface="Arial"/>
                <a:sym typeface="Arial"/>
              </a:rPr>
              <a:t>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tập</a:t>
            </a:r>
            <a:r>
              <a:rPr lang="en-US">
                <a:latin typeface="Arial"/>
                <a:ea typeface="Arial"/>
                <a:cs typeface="Arial"/>
                <a:sym typeface="Arial"/>
              </a:rPr>
              <a:t> </a:t>
            </a:r>
            <a:r>
              <a:rPr lang="en-US" err="1">
                <a:latin typeface="Arial"/>
                <a:ea typeface="Arial"/>
                <a:cs typeface="Arial"/>
                <a:sym typeface="Arial"/>
              </a:rPr>
              <a:t>hợp</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hành</a:t>
            </a:r>
            <a:r>
              <a:rPr lang="en-US">
                <a:latin typeface="Arial"/>
                <a:ea typeface="Arial"/>
                <a:cs typeface="Arial"/>
                <a:sym typeface="Arial"/>
              </a:rPr>
              <a:t> vi </a:t>
            </a:r>
            <a:r>
              <a:rPr lang="en-US" err="1">
                <a:latin typeface="Arial"/>
                <a:ea typeface="Arial"/>
                <a:cs typeface="Arial"/>
                <a:sym typeface="Arial"/>
              </a:rPr>
              <a:t>liên</a:t>
            </a:r>
            <a:r>
              <a:rPr lang="en-US">
                <a:latin typeface="Arial"/>
                <a:ea typeface="Arial"/>
                <a:cs typeface="Arial"/>
                <a:sym typeface="Arial"/>
              </a:rPr>
              <a:t> </a:t>
            </a:r>
            <a:r>
              <a:rPr lang="en-US" err="1">
                <a:latin typeface="Arial"/>
                <a:ea typeface="Arial"/>
                <a:cs typeface="Arial"/>
                <a:sym typeface="Arial"/>
              </a:rPr>
              <a:t>quan</a:t>
            </a:r>
            <a:r>
              <a:rPr lang="en-US">
                <a:latin typeface="Arial"/>
                <a:ea typeface="Arial"/>
                <a:cs typeface="Arial"/>
                <a:sym typeface="Arial"/>
              </a:rPr>
              <a:t> </a:t>
            </a:r>
            <a:r>
              <a:rPr lang="en-US" err="1">
                <a:latin typeface="Arial"/>
                <a:ea typeface="Arial"/>
                <a:cs typeface="Arial"/>
                <a:sym typeface="Arial"/>
              </a:rPr>
              <a:t>đến</a:t>
            </a:r>
            <a:r>
              <a:rPr lang="en-US">
                <a:latin typeface="Arial"/>
                <a:ea typeface="Arial"/>
                <a:cs typeface="Arial"/>
                <a:sym typeface="Arial"/>
              </a:rPr>
              <a:t> </a:t>
            </a:r>
            <a:r>
              <a:rPr lang="en-US" err="1">
                <a:latin typeface="Arial"/>
                <a:ea typeface="Arial"/>
                <a:cs typeface="Arial"/>
                <a:sym typeface="Arial"/>
              </a:rPr>
              <a:t>nhau</a:t>
            </a:r>
            <a:r>
              <a:rPr lang="en-US">
                <a:latin typeface="Arial"/>
                <a:ea typeface="Arial"/>
                <a:cs typeface="Arial"/>
                <a:sym typeface="Arial"/>
              </a:rPr>
              <a:t> </a:t>
            </a:r>
            <a:r>
              <a:rPr lang="en-US" err="1">
                <a:latin typeface="Arial"/>
                <a:ea typeface="Arial"/>
                <a:cs typeface="Arial"/>
                <a:sym typeface="Arial"/>
              </a:rPr>
              <a:t>xảy</a:t>
            </a:r>
            <a:r>
              <a:rPr lang="en-US">
                <a:latin typeface="Arial"/>
                <a:ea typeface="Arial"/>
                <a:cs typeface="Arial"/>
                <a:sym typeface="Arial"/>
              </a:rPr>
              <a:t> </a:t>
            </a:r>
            <a:r>
              <a:rPr lang="en-US" err="1">
                <a:latin typeface="Arial"/>
                <a:ea typeface="Arial"/>
                <a:cs typeface="Arial"/>
                <a:sym typeface="Arial"/>
              </a:rPr>
              <a:t>ra</a:t>
            </a:r>
            <a:r>
              <a:rPr lang="en-US">
                <a:latin typeface="Arial"/>
                <a:ea typeface="Arial"/>
                <a:cs typeface="Arial"/>
                <a:sym typeface="Arial"/>
              </a:rPr>
              <a:t> </a:t>
            </a:r>
            <a:r>
              <a:rPr lang="en-US" err="1">
                <a:latin typeface="Arial"/>
                <a:ea typeface="Arial"/>
                <a:cs typeface="Arial"/>
                <a:sym typeface="Arial"/>
              </a:rPr>
              <a:t>trong</a:t>
            </a:r>
            <a:r>
              <a:rPr lang="en-US">
                <a:latin typeface="Arial"/>
                <a:ea typeface="Arial"/>
                <a:cs typeface="Arial"/>
                <a:sym typeface="Arial"/>
              </a:rPr>
              <a:t> </a:t>
            </a:r>
            <a:r>
              <a:rPr lang="en-US" err="1">
                <a:latin typeface="Arial"/>
                <a:ea typeface="Arial"/>
                <a:cs typeface="Arial"/>
                <a:sym typeface="Arial"/>
              </a:rPr>
              <a:t>một</a:t>
            </a:r>
            <a:r>
              <a:rPr lang="en-US">
                <a:latin typeface="Arial"/>
                <a:ea typeface="Arial"/>
                <a:cs typeface="Arial"/>
                <a:sym typeface="Arial"/>
              </a:rPr>
              <a:t> </a:t>
            </a:r>
            <a:r>
              <a:rPr lang="en-US" err="1">
                <a:latin typeface="Arial"/>
                <a:ea typeface="Arial"/>
                <a:cs typeface="Arial"/>
                <a:sym typeface="Arial"/>
              </a:rPr>
              <a:t>định</a:t>
            </a:r>
            <a:r>
              <a:rPr lang="en-US">
                <a:latin typeface="Arial"/>
                <a:ea typeface="Arial"/>
                <a:cs typeface="Arial"/>
                <a:sym typeface="Arial"/>
              </a:rPr>
              <a:t> </a:t>
            </a:r>
            <a:r>
              <a:rPr lang="en-US" err="1">
                <a:latin typeface="Arial"/>
                <a:ea typeface="Arial"/>
                <a:cs typeface="Arial"/>
                <a:sym typeface="Arial"/>
              </a:rPr>
              <a:t>dạng</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a:t>
            </a:r>
            <a:r>
              <a:rPr lang="en-US" err="1">
                <a:latin typeface="Arial"/>
                <a:ea typeface="Arial"/>
                <a:cs typeface="Arial"/>
                <a:sym typeface="Arial"/>
              </a:rPr>
              <a:t>cấu</a:t>
            </a:r>
            <a:r>
              <a:rPr lang="en-US">
                <a:latin typeface="Arial"/>
                <a:ea typeface="Arial"/>
                <a:cs typeface="Arial"/>
                <a:sym typeface="Arial"/>
              </a:rPr>
              <a:t> </a:t>
            </a:r>
            <a:r>
              <a:rPr lang="en-US" err="1">
                <a:latin typeface="Arial"/>
                <a:ea typeface="Arial"/>
                <a:cs typeface="Arial"/>
                <a:sym typeface="Arial"/>
              </a:rPr>
              <a:t>trúc</a:t>
            </a:r>
            <a:r>
              <a:rPr lang="en-US">
                <a:latin typeface="Arial"/>
                <a:ea typeface="Arial"/>
                <a:cs typeface="Arial"/>
                <a:sym typeface="Arial"/>
              </a:rPr>
              <a:t> </a:t>
            </a:r>
            <a:r>
              <a:rPr lang="en-US" err="1">
                <a:latin typeface="Arial"/>
                <a:ea typeface="Arial"/>
                <a:cs typeface="Arial"/>
                <a:sym typeface="Arial"/>
              </a:rPr>
              <a:t>và</a:t>
            </a:r>
            <a:r>
              <a:rPr lang="en-US">
                <a:latin typeface="Arial"/>
                <a:ea typeface="Arial"/>
                <a:cs typeface="Arial"/>
                <a:sym typeface="Arial"/>
              </a:rPr>
              <a:t> </a:t>
            </a:r>
            <a:r>
              <a:rPr lang="en-US" err="1">
                <a:latin typeface="Arial"/>
                <a:ea typeface="Arial"/>
                <a:cs typeface="Arial"/>
                <a:sym typeface="Arial"/>
              </a:rPr>
              <a:t>có</a:t>
            </a:r>
            <a:r>
              <a:rPr lang="en-US">
                <a:latin typeface="Arial"/>
                <a:ea typeface="Arial"/>
                <a:cs typeface="Arial"/>
                <a:sym typeface="Arial"/>
              </a:rPr>
              <a:t> ý </a:t>
            </a:r>
            <a:r>
              <a:rPr lang="en-US" err="1">
                <a:latin typeface="Arial"/>
                <a:ea typeface="Arial"/>
                <a:cs typeface="Arial"/>
                <a:sym typeface="Arial"/>
              </a:rPr>
              <a:t>nghĩa</a:t>
            </a:r>
            <a:r>
              <a:rPr lang="en-US">
                <a:latin typeface="Arial"/>
                <a:ea typeface="Arial"/>
                <a:cs typeface="Arial"/>
                <a:sym typeface="Arial"/>
              </a:rPr>
              <a:t> </a:t>
            </a:r>
            <a:r>
              <a:rPr lang="en-US" err="1">
                <a:latin typeface="Arial"/>
                <a:ea typeface="Arial"/>
                <a:cs typeface="Arial"/>
                <a:sym typeface="Arial"/>
              </a:rPr>
              <a:t>tượng</a:t>
            </a:r>
            <a:r>
              <a:rPr lang="en-US">
                <a:latin typeface="Arial"/>
                <a:ea typeface="Arial"/>
                <a:cs typeface="Arial"/>
                <a:sym typeface="Arial"/>
              </a:rPr>
              <a:t> </a:t>
            </a:r>
            <a:r>
              <a:rPr lang="en-US" err="1">
                <a:latin typeface="Arial"/>
                <a:ea typeface="Arial"/>
                <a:cs typeface="Arial"/>
                <a:sym typeface="Arial"/>
              </a:rPr>
              <a:t>trưng</a:t>
            </a:r>
            <a:r>
              <a:rPr lang="en-US">
                <a:latin typeface="Arial"/>
                <a:ea typeface="Arial"/>
                <a:cs typeface="Arial"/>
                <a:sym typeface="Arial"/>
              </a:rPr>
              <a:t>. </a:t>
            </a:r>
            <a:endParaRPr/>
          </a:p>
          <a:p>
            <a:pPr marL="342900" lvl="0" indent="-190500" algn="just" rtl="0">
              <a:lnSpc>
                <a:spcPct val="150000"/>
              </a:lnSpc>
              <a:spcBef>
                <a:spcPts val="1000"/>
              </a:spcBef>
              <a:spcAft>
                <a:spcPts val="0"/>
              </a:spcAft>
              <a:buClr>
                <a:schemeClr val="dk1"/>
              </a:buClr>
              <a:buSzPts val="2400"/>
              <a:buFont typeface="Arial"/>
              <a:buNone/>
            </a:pPr>
            <a:endParaRPr>
              <a:latin typeface="Arial"/>
              <a:ea typeface="Arial"/>
              <a:cs typeface="Arial"/>
              <a:sym typeface="Arial"/>
            </a:endParaRPr>
          </a:p>
        </p:txBody>
      </p:sp>
      <p:sp>
        <p:nvSpPr>
          <p:cNvPr id="6" name="TextBox 5"/>
          <p:cNvSpPr txBox="1"/>
          <p:nvPr/>
        </p:nvSpPr>
        <p:spPr>
          <a:xfrm>
            <a:off x="829732" y="516467"/>
            <a:ext cx="3141135" cy="584775"/>
          </a:xfrm>
          <a:prstGeom prst="rect">
            <a:avLst/>
          </a:prstGeom>
          <a:noFill/>
        </p:spPr>
        <p:txBody>
          <a:bodyPr wrap="square" rtlCol="0">
            <a:spAutoFit/>
          </a:bodyPr>
          <a:lstStyle/>
          <a:p>
            <a:r>
              <a:rPr lang="vi-VN" sz="3200" b="1"/>
              <a:t>2.3.3 Lễ hội</a:t>
            </a:r>
            <a:endParaRPr lang="en-US" sz="3200" b="1"/>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017"/>
        <p:cNvGrpSpPr/>
        <p:nvPr/>
      </p:nvGrpSpPr>
      <p:grpSpPr>
        <a:xfrm>
          <a:off x="0" y="0"/>
          <a:ext cx="0" cy="0"/>
          <a:chOff x="0" y="0"/>
          <a:chExt cx="0" cy="0"/>
        </a:xfrm>
      </p:grpSpPr>
      <p:sp>
        <p:nvSpPr>
          <p:cNvPr id="2018" name="Google Shape;2018;p297"/>
          <p:cNvSpPr txBox="1"/>
          <p:nvPr/>
        </p:nvSpPr>
        <p:spPr>
          <a:xfrm>
            <a:off x="3981691" y="532435"/>
            <a:ext cx="6655443" cy="279384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Các tình huống nghi lễ có tầm quan trọng lớn đối với Marketer vì chúng thường liên quan đến các hành vi tiêu dùng được quy định. Ví dụ: Mỗi ngày lễ lớn Việt Nam đều có các nghi thức tiêu dùng liên quan đến nó. </a:t>
            </a:r>
            <a:endParaRPr sz="1400" b="0" i="0" u="none" strike="noStrike" cap="none">
              <a:solidFill>
                <a:srgbClr val="000000"/>
              </a:solidFill>
              <a:latin typeface="Arial"/>
              <a:ea typeface="Arial"/>
              <a:cs typeface="Arial"/>
              <a:sym typeface="Arial"/>
            </a:endParaRPr>
          </a:p>
        </p:txBody>
      </p:sp>
      <p:pic>
        <p:nvPicPr>
          <p:cNvPr id="2019" name="Google Shape;2019;p297" descr="LEC GROUP CHÚC MỪNG NGÀY QUỐC TẾ THIẾU NHI"/>
          <p:cNvPicPr preferRelativeResize="0">
            <a:picLocks noGrp="1"/>
          </p:cNvPicPr>
          <p:nvPr>
            <p:ph type="body" idx="1"/>
          </p:nvPr>
        </p:nvPicPr>
        <p:blipFill rotWithShape="1">
          <a:blip r:embed="rId3">
            <a:alphaModFix/>
          </a:blip>
          <a:srcRect/>
          <a:stretch/>
        </p:blipFill>
        <p:spPr>
          <a:xfrm>
            <a:off x="690301" y="828154"/>
            <a:ext cx="3403600" cy="2387600"/>
          </a:xfrm>
          <a:prstGeom prst="rect">
            <a:avLst/>
          </a:prstGeom>
          <a:noFill/>
          <a:ln>
            <a:noFill/>
          </a:ln>
        </p:spPr>
      </p:pic>
      <p:sp>
        <p:nvSpPr>
          <p:cNvPr id="2020" name="Google Shape;2020;p297"/>
          <p:cNvSpPr txBox="1"/>
          <p:nvPr/>
        </p:nvSpPr>
        <p:spPr>
          <a:xfrm>
            <a:off x="532435" y="3531724"/>
            <a:ext cx="6007261" cy="279384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Mặc dù có sự khác biệt đáng kể giữa các cá nhân và hộ gia đình nhưng các nhà tiếp thị có thể phát triển các sản phẩm và chương trình khuyến mãi chung cho các  tình huống nghi lễ phát sinh mỗi năm. </a:t>
            </a:r>
            <a:endParaRPr sz="1400" b="0" i="0" u="none" strike="noStrike" cap="none">
              <a:solidFill>
                <a:srgbClr val="000000"/>
              </a:solidFill>
              <a:latin typeface="Arial"/>
              <a:ea typeface="Arial"/>
              <a:cs typeface="Arial"/>
              <a:sym typeface="Arial"/>
            </a:endParaRPr>
          </a:p>
        </p:txBody>
      </p:sp>
      <p:pic>
        <p:nvPicPr>
          <p:cNvPr id="2021" name="Google Shape;2021;p297" descr="20/10 là ngày gì? Nguồn gốc, ý nghĩa ngày Phụ nữ Việt Nam 20/10 - Cool Mate"/>
          <p:cNvPicPr preferRelativeResize="0"/>
          <p:nvPr/>
        </p:nvPicPr>
        <p:blipFill rotWithShape="1">
          <a:blip r:embed="rId4">
            <a:alphaModFix/>
          </a:blip>
          <a:srcRect/>
          <a:stretch/>
        </p:blipFill>
        <p:spPr>
          <a:xfrm>
            <a:off x="6918606" y="3722145"/>
            <a:ext cx="3378200" cy="241300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025"/>
        <p:cNvGrpSpPr/>
        <p:nvPr/>
      </p:nvGrpSpPr>
      <p:grpSpPr>
        <a:xfrm>
          <a:off x="0" y="0"/>
          <a:ext cx="0" cy="0"/>
          <a:chOff x="0" y="0"/>
          <a:chExt cx="0" cy="0"/>
        </a:xfrm>
      </p:grpSpPr>
      <p:sp>
        <p:nvSpPr>
          <p:cNvPr id="2026" name="Google Shape;2026;p298"/>
          <p:cNvSpPr txBox="1">
            <a:spLocks noGrp="1"/>
          </p:cNvSpPr>
          <p:nvPr>
            <p:ph type="body" idx="1"/>
          </p:nvPr>
        </p:nvSpPr>
        <p:spPr>
          <a:xfrm>
            <a:off x="251748" y="563985"/>
            <a:ext cx="5974881" cy="4351338"/>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chemeClr val="dk1"/>
              </a:buClr>
              <a:buSzPts val="2400"/>
              <a:buFont typeface="Arial"/>
              <a:buChar char="•"/>
            </a:pPr>
            <a:r>
              <a:rPr lang="en-US" sz="2400" err="1">
                <a:latin typeface="Arial"/>
                <a:ea typeface="Arial"/>
                <a:cs typeface="Arial"/>
                <a:sym typeface="Arial"/>
              </a:rPr>
              <a:t>Các</a:t>
            </a:r>
            <a:r>
              <a:rPr lang="en-US" sz="2400">
                <a:latin typeface="Arial"/>
                <a:ea typeface="Arial"/>
                <a:cs typeface="Arial"/>
                <a:sym typeface="Arial"/>
              </a:rPr>
              <a:t> </a:t>
            </a:r>
            <a:r>
              <a:rPr lang="en-US" sz="2400" err="1">
                <a:latin typeface="Arial"/>
                <a:ea typeface="Arial"/>
                <a:cs typeface="Arial"/>
                <a:sym typeface="Arial"/>
              </a:rPr>
              <a:t>nhà</a:t>
            </a:r>
            <a:r>
              <a:rPr lang="en-US" sz="2400">
                <a:latin typeface="Arial"/>
                <a:ea typeface="Arial"/>
                <a:cs typeface="Arial"/>
                <a:sym typeface="Arial"/>
              </a:rPr>
              <a:t> </a:t>
            </a:r>
            <a:r>
              <a:rPr lang="en-US" sz="2400" err="1">
                <a:latin typeface="Arial"/>
                <a:ea typeface="Arial"/>
                <a:cs typeface="Arial"/>
                <a:sym typeface="Arial"/>
              </a:rPr>
              <a:t>bán</a:t>
            </a:r>
            <a:r>
              <a:rPr lang="en-US" sz="2400">
                <a:latin typeface="Arial"/>
                <a:ea typeface="Arial"/>
                <a:cs typeface="Arial"/>
                <a:sym typeface="Arial"/>
              </a:rPr>
              <a:t> </a:t>
            </a:r>
            <a:r>
              <a:rPr lang="en-US" sz="2400" err="1">
                <a:latin typeface="Arial"/>
                <a:ea typeface="Arial"/>
                <a:cs typeface="Arial"/>
                <a:sym typeface="Arial"/>
              </a:rPr>
              <a:t>lẻ</a:t>
            </a:r>
            <a:r>
              <a:rPr lang="en-US" sz="2400">
                <a:latin typeface="Arial"/>
                <a:ea typeface="Arial"/>
                <a:cs typeface="Arial"/>
                <a:sym typeface="Arial"/>
              </a:rPr>
              <a:t> </a:t>
            </a:r>
            <a:r>
              <a:rPr lang="en-US" sz="2400" err="1">
                <a:latin typeface="Arial"/>
                <a:ea typeface="Arial"/>
                <a:cs typeface="Arial"/>
                <a:sym typeface="Arial"/>
              </a:rPr>
              <a:t>trực</a:t>
            </a:r>
            <a:r>
              <a:rPr lang="en-US" sz="2400">
                <a:latin typeface="Arial"/>
                <a:ea typeface="Arial"/>
                <a:cs typeface="Arial"/>
                <a:sym typeface="Arial"/>
              </a:rPr>
              <a:t> </a:t>
            </a:r>
            <a:r>
              <a:rPr lang="en-US" sz="2400" err="1">
                <a:latin typeface="Arial"/>
                <a:ea typeface="Arial"/>
                <a:cs typeface="Arial"/>
                <a:sym typeface="Arial"/>
              </a:rPr>
              <a:t>tuyến</a:t>
            </a:r>
            <a:r>
              <a:rPr lang="en-US" sz="2400">
                <a:latin typeface="Arial"/>
                <a:ea typeface="Arial"/>
                <a:cs typeface="Arial"/>
                <a:sym typeface="Arial"/>
              </a:rPr>
              <a:t> </a:t>
            </a:r>
            <a:r>
              <a:rPr lang="en-US" sz="2400" err="1">
                <a:latin typeface="Arial"/>
                <a:ea typeface="Arial"/>
                <a:cs typeface="Arial"/>
                <a:sym typeface="Arial"/>
              </a:rPr>
              <a:t>đang</a:t>
            </a:r>
            <a:r>
              <a:rPr lang="en-US" sz="2400">
                <a:latin typeface="Arial"/>
                <a:ea typeface="Arial"/>
                <a:cs typeface="Arial"/>
                <a:sym typeface="Arial"/>
              </a:rPr>
              <a:t> </a:t>
            </a:r>
            <a:r>
              <a:rPr lang="en-US" sz="2400" err="1">
                <a:latin typeface="Arial"/>
                <a:ea typeface="Arial"/>
                <a:cs typeface="Arial"/>
                <a:sym typeface="Arial"/>
              </a:rPr>
              <a:t>tận</a:t>
            </a:r>
            <a:r>
              <a:rPr lang="en-US" sz="2400">
                <a:latin typeface="Arial"/>
                <a:ea typeface="Arial"/>
                <a:cs typeface="Arial"/>
                <a:sym typeface="Arial"/>
              </a:rPr>
              <a:t> </a:t>
            </a:r>
            <a:r>
              <a:rPr lang="en-US" sz="2400" err="1">
                <a:latin typeface="Arial"/>
                <a:ea typeface="Arial"/>
                <a:cs typeface="Arial"/>
                <a:sym typeface="Arial"/>
              </a:rPr>
              <a:t>dụng</a:t>
            </a:r>
            <a:r>
              <a:rPr lang="en-US" sz="2400">
                <a:latin typeface="Arial"/>
                <a:ea typeface="Arial"/>
                <a:cs typeface="Arial"/>
                <a:sym typeface="Arial"/>
              </a:rPr>
              <a:t> </a:t>
            </a:r>
            <a:r>
              <a:rPr lang="en-US" sz="2400" err="1">
                <a:latin typeface="Arial"/>
                <a:ea typeface="Arial"/>
                <a:cs typeface="Arial"/>
                <a:sym typeface="Arial"/>
              </a:rPr>
              <a:t>các</a:t>
            </a:r>
            <a:r>
              <a:rPr lang="en-US" sz="2400">
                <a:latin typeface="Arial"/>
                <a:ea typeface="Arial"/>
                <a:cs typeface="Arial"/>
                <a:sym typeface="Arial"/>
              </a:rPr>
              <a:t> </a:t>
            </a:r>
            <a:r>
              <a:rPr lang="en-US" sz="2400" err="1">
                <a:latin typeface="Arial"/>
                <a:ea typeface="Arial"/>
                <a:cs typeface="Arial"/>
                <a:sym typeface="Arial"/>
              </a:rPr>
              <a:t>nghi</a:t>
            </a:r>
            <a:r>
              <a:rPr lang="en-US" sz="2400">
                <a:latin typeface="Arial"/>
                <a:ea typeface="Arial"/>
                <a:cs typeface="Arial"/>
                <a:sym typeface="Arial"/>
              </a:rPr>
              <a:t> </a:t>
            </a:r>
            <a:r>
              <a:rPr lang="en-US" sz="2400" err="1">
                <a:latin typeface="Arial"/>
                <a:ea typeface="Arial"/>
                <a:cs typeface="Arial"/>
                <a:sym typeface="Arial"/>
              </a:rPr>
              <a:t>thức</a:t>
            </a:r>
            <a:r>
              <a:rPr lang="en-US" sz="2400">
                <a:latin typeface="Arial"/>
                <a:ea typeface="Arial"/>
                <a:cs typeface="Arial"/>
                <a:sym typeface="Arial"/>
              </a:rPr>
              <a:t> </a:t>
            </a:r>
            <a:r>
              <a:rPr lang="en-US" sz="2400" err="1">
                <a:latin typeface="Arial"/>
                <a:ea typeface="Arial"/>
                <a:cs typeface="Arial"/>
                <a:sym typeface="Arial"/>
              </a:rPr>
              <a:t>tiêu</a:t>
            </a:r>
            <a:r>
              <a:rPr lang="en-US" sz="2400">
                <a:latin typeface="Arial"/>
                <a:ea typeface="Arial"/>
                <a:cs typeface="Arial"/>
                <a:sym typeface="Arial"/>
              </a:rPr>
              <a:t> </a:t>
            </a:r>
            <a:r>
              <a:rPr lang="en-US" sz="2400" err="1">
                <a:latin typeface="Arial"/>
                <a:ea typeface="Arial"/>
                <a:cs typeface="Arial"/>
                <a:sym typeface="Arial"/>
              </a:rPr>
              <a:t>dùng</a:t>
            </a:r>
            <a:r>
              <a:rPr lang="en-US" sz="2400">
                <a:latin typeface="Arial"/>
                <a:ea typeface="Arial"/>
                <a:cs typeface="Arial"/>
                <a:sym typeface="Arial"/>
              </a:rPr>
              <a:t>.</a:t>
            </a:r>
            <a:endParaRPr/>
          </a:p>
          <a:p>
            <a:pPr marL="342900" lvl="0" indent="-342900" algn="just" rtl="0">
              <a:lnSpc>
                <a:spcPct val="150000"/>
              </a:lnSpc>
              <a:spcBef>
                <a:spcPts val="1000"/>
              </a:spcBef>
              <a:spcAft>
                <a:spcPts val="0"/>
              </a:spcAft>
              <a:buClr>
                <a:schemeClr val="dk1"/>
              </a:buClr>
              <a:buSzPts val="2400"/>
              <a:buFont typeface="Arial"/>
              <a:buChar char="•"/>
            </a:pPr>
            <a:r>
              <a:rPr lang="en-US" sz="2400" err="1">
                <a:latin typeface="Arial"/>
                <a:ea typeface="Arial"/>
                <a:cs typeface="Arial"/>
                <a:sym typeface="Arial"/>
              </a:rPr>
              <a:t>Các</a:t>
            </a:r>
            <a:r>
              <a:rPr lang="en-US" sz="2400">
                <a:latin typeface="Arial"/>
                <a:ea typeface="Arial"/>
                <a:cs typeface="Arial"/>
                <a:sym typeface="Arial"/>
              </a:rPr>
              <a:t> Marketer </a:t>
            </a:r>
            <a:r>
              <a:rPr lang="en-US" sz="2400" err="1">
                <a:latin typeface="Arial"/>
                <a:ea typeface="Arial"/>
                <a:cs typeface="Arial"/>
                <a:sym typeface="Arial"/>
              </a:rPr>
              <a:t>cũng</a:t>
            </a:r>
            <a:r>
              <a:rPr lang="en-US" sz="2400">
                <a:latin typeface="Arial"/>
                <a:ea typeface="Arial"/>
                <a:cs typeface="Arial"/>
                <a:sym typeface="Arial"/>
              </a:rPr>
              <a:t> </a:t>
            </a:r>
            <a:r>
              <a:rPr lang="en-US" sz="2400" err="1">
                <a:latin typeface="Arial"/>
                <a:ea typeface="Arial"/>
                <a:cs typeface="Arial"/>
                <a:sym typeface="Arial"/>
              </a:rPr>
              <a:t>cố</a:t>
            </a:r>
            <a:r>
              <a:rPr lang="en-US" sz="2400">
                <a:latin typeface="Arial"/>
                <a:ea typeface="Arial"/>
                <a:cs typeface="Arial"/>
                <a:sym typeface="Arial"/>
              </a:rPr>
              <a:t> </a:t>
            </a:r>
            <a:r>
              <a:rPr lang="en-US" sz="2400" err="1">
                <a:latin typeface="Arial"/>
                <a:ea typeface="Arial"/>
                <a:cs typeface="Arial"/>
                <a:sym typeface="Arial"/>
              </a:rPr>
              <a:t>gắng</a:t>
            </a:r>
            <a:r>
              <a:rPr lang="en-US" sz="2400">
                <a:latin typeface="Arial"/>
                <a:ea typeface="Arial"/>
                <a:cs typeface="Arial"/>
                <a:sym typeface="Arial"/>
              </a:rPr>
              <a:t> </a:t>
            </a:r>
            <a:r>
              <a:rPr lang="en-US" sz="2400" err="1">
                <a:latin typeface="Arial"/>
                <a:ea typeface="Arial"/>
                <a:cs typeface="Arial"/>
                <a:sym typeface="Arial"/>
              </a:rPr>
              <a:t>thay</a:t>
            </a:r>
            <a:r>
              <a:rPr lang="en-US" sz="2400">
                <a:latin typeface="Arial"/>
                <a:ea typeface="Arial"/>
                <a:cs typeface="Arial"/>
                <a:sym typeface="Arial"/>
              </a:rPr>
              <a:t> </a:t>
            </a:r>
            <a:r>
              <a:rPr lang="en-US" sz="2400" err="1">
                <a:latin typeface="Arial"/>
                <a:ea typeface="Arial"/>
                <a:cs typeface="Arial"/>
                <a:sym typeface="Arial"/>
              </a:rPr>
              <a:t>đổi</a:t>
            </a:r>
            <a:r>
              <a:rPr lang="en-US" sz="2400">
                <a:latin typeface="Arial"/>
                <a:ea typeface="Arial"/>
                <a:cs typeface="Arial"/>
                <a:sym typeface="Arial"/>
              </a:rPr>
              <a:t> </a:t>
            </a:r>
            <a:r>
              <a:rPr lang="en-US" sz="2400" err="1">
                <a:latin typeface="Arial"/>
                <a:ea typeface="Arial"/>
                <a:cs typeface="Arial"/>
                <a:sym typeface="Arial"/>
              </a:rPr>
              <a:t>hoặc</a:t>
            </a:r>
            <a:r>
              <a:rPr lang="en-US" sz="2400">
                <a:latin typeface="Arial"/>
                <a:ea typeface="Arial"/>
                <a:cs typeface="Arial"/>
                <a:sym typeface="Arial"/>
              </a:rPr>
              <a:t> </a:t>
            </a:r>
            <a:r>
              <a:rPr lang="en-US" sz="2400" err="1">
                <a:latin typeface="Arial"/>
                <a:ea typeface="Arial"/>
                <a:cs typeface="Arial"/>
                <a:sym typeface="Arial"/>
              </a:rPr>
              <a:t>tạo</a:t>
            </a:r>
            <a:r>
              <a:rPr lang="en-US" sz="2400">
                <a:latin typeface="Arial"/>
                <a:ea typeface="Arial"/>
                <a:cs typeface="Arial"/>
                <a:sym typeface="Arial"/>
              </a:rPr>
              <a:t> </a:t>
            </a:r>
            <a:r>
              <a:rPr lang="en-US" sz="2400" err="1">
                <a:latin typeface="Arial"/>
                <a:ea typeface="Arial"/>
                <a:cs typeface="Arial"/>
                <a:sym typeface="Arial"/>
              </a:rPr>
              <a:t>ra</a:t>
            </a:r>
            <a:r>
              <a:rPr lang="en-US" sz="2400">
                <a:latin typeface="Arial"/>
                <a:ea typeface="Arial"/>
                <a:cs typeface="Arial"/>
                <a:sym typeface="Arial"/>
              </a:rPr>
              <a:t> </a:t>
            </a:r>
            <a:r>
              <a:rPr lang="en-US" sz="2400" err="1">
                <a:latin typeface="Arial"/>
                <a:ea typeface="Arial"/>
                <a:cs typeface="Arial"/>
                <a:sym typeface="Arial"/>
              </a:rPr>
              <a:t>các</a:t>
            </a:r>
            <a:r>
              <a:rPr lang="en-US" sz="2400">
                <a:latin typeface="Arial"/>
                <a:ea typeface="Arial"/>
                <a:cs typeface="Arial"/>
                <a:sym typeface="Arial"/>
              </a:rPr>
              <a:t> </a:t>
            </a:r>
            <a:r>
              <a:rPr lang="en-US" sz="2400" err="1">
                <a:latin typeface="Arial"/>
                <a:ea typeface="Arial"/>
                <a:cs typeface="Arial"/>
                <a:sym typeface="Arial"/>
              </a:rPr>
              <a:t>mô</a:t>
            </a:r>
            <a:r>
              <a:rPr lang="en-US" sz="2400">
                <a:latin typeface="Arial"/>
                <a:ea typeface="Arial"/>
                <a:cs typeface="Arial"/>
                <a:sym typeface="Arial"/>
              </a:rPr>
              <a:t> </a:t>
            </a:r>
            <a:r>
              <a:rPr lang="en-US" sz="2400" err="1">
                <a:latin typeface="Arial"/>
                <a:ea typeface="Arial"/>
                <a:cs typeface="Arial"/>
                <a:sym typeface="Arial"/>
              </a:rPr>
              <a:t>hình</a:t>
            </a:r>
            <a:r>
              <a:rPr lang="en-US" sz="2400">
                <a:latin typeface="Arial"/>
                <a:ea typeface="Arial"/>
                <a:cs typeface="Arial"/>
                <a:sym typeface="Arial"/>
              </a:rPr>
              <a:t> </a:t>
            </a:r>
            <a:r>
              <a:rPr lang="en-US" sz="2400" err="1">
                <a:latin typeface="Arial"/>
                <a:ea typeface="Arial"/>
                <a:cs typeface="Arial"/>
                <a:sym typeface="Arial"/>
              </a:rPr>
              <a:t>tiêu</a:t>
            </a:r>
            <a:r>
              <a:rPr lang="en-US" sz="2400">
                <a:latin typeface="Arial"/>
                <a:ea typeface="Arial"/>
                <a:cs typeface="Arial"/>
                <a:sym typeface="Arial"/>
              </a:rPr>
              <a:t> </a:t>
            </a:r>
            <a:r>
              <a:rPr lang="en-US" sz="2400" err="1">
                <a:latin typeface="Arial"/>
                <a:ea typeface="Arial"/>
                <a:cs typeface="Arial"/>
                <a:sym typeface="Arial"/>
              </a:rPr>
              <a:t>dùng</a:t>
            </a:r>
            <a:r>
              <a:rPr lang="en-US" sz="2400">
                <a:latin typeface="Arial"/>
                <a:ea typeface="Arial"/>
                <a:cs typeface="Arial"/>
                <a:sym typeface="Arial"/>
              </a:rPr>
              <a:t> </a:t>
            </a:r>
            <a:r>
              <a:rPr lang="en-US" sz="2400" err="1">
                <a:latin typeface="Arial"/>
                <a:ea typeface="Arial"/>
                <a:cs typeface="Arial"/>
                <a:sym typeface="Arial"/>
              </a:rPr>
              <a:t>liên</a:t>
            </a:r>
            <a:r>
              <a:rPr lang="en-US" sz="2400">
                <a:latin typeface="Arial"/>
                <a:ea typeface="Arial"/>
                <a:cs typeface="Arial"/>
                <a:sym typeface="Arial"/>
              </a:rPr>
              <a:t> </a:t>
            </a:r>
            <a:r>
              <a:rPr lang="en-US" sz="2400" err="1">
                <a:latin typeface="Arial"/>
                <a:ea typeface="Arial"/>
                <a:cs typeface="Arial"/>
                <a:sym typeface="Arial"/>
              </a:rPr>
              <a:t>quan</a:t>
            </a:r>
            <a:r>
              <a:rPr lang="en-US" sz="2400">
                <a:latin typeface="Arial"/>
                <a:ea typeface="Arial"/>
                <a:cs typeface="Arial"/>
                <a:sym typeface="Arial"/>
              </a:rPr>
              <a:t> </a:t>
            </a:r>
            <a:r>
              <a:rPr lang="en-US" sz="2400" err="1">
                <a:latin typeface="Arial"/>
                <a:ea typeface="Arial"/>
                <a:cs typeface="Arial"/>
                <a:sym typeface="Arial"/>
              </a:rPr>
              <a:t>đến</a:t>
            </a:r>
            <a:r>
              <a:rPr lang="en-US" sz="2400">
                <a:latin typeface="Arial"/>
                <a:ea typeface="Arial"/>
                <a:cs typeface="Arial"/>
                <a:sym typeface="Arial"/>
              </a:rPr>
              <a:t> </a:t>
            </a:r>
            <a:r>
              <a:rPr lang="en-US" sz="2400" err="1">
                <a:latin typeface="Arial"/>
                <a:ea typeface="Arial"/>
                <a:cs typeface="Arial"/>
                <a:sym typeface="Arial"/>
              </a:rPr>
              <a:t>nghi</a:t>
            </a:r>
            <a:r>
              <a:rPr lang="en-US" sz="2400">
                <a:latin typeface="Arial"/>
                <a:ea typeface="Arial"/>
                <a:cs typeface="Arial"/>
                <a:sym typeface="Arial"/>
              </a:rPr>
              <a:t> </a:t>
            </a:r>
            <a:r>
              <a:rPr lang="en-US" sz="2400" err="1">
                <a:latin typeface="Arial"/>
                <a:ea typeface="Arial"/>
                <a:cs typeface="Arial"/>
                <a:sym typeface="Arial"/>
              </a:rPr>
              <a:t>lễ</a:t>
            </a:r>
            <a:r>
              <a:rPr lang="en-US" sz="2400">
                <a:latin typeface="Arial"/>
                <a:ea typeface="Arial"/>
                <a:cs typeface="Arial"/>
                <a:sym typeface="Arial"/>
              </a:rPr>
              <a:t> </a:t>
            </a:r>
            <a:r>
              <a:rPr lang="en-US" sz="2400" err="1">
                <a:latin typeface="Arial"/>
                <a:ea typeface="Arial"/>
                <a:cs typeface="Arial"/>
                <a:sym typeface="Arial"/>
              </a:rPr>
              <a:t>tình</a:t>
            </a:r>
            <a:r>
              <a:rPr lang="en-US" sz="2400">
                <a:latin typeface="Arial"/>
                <a:ea typeface="Arial"/>
                <a:cs typeface="Arial"/>
                <a:sym typeface="Arial"/>
              </a:rPr>
              <a:t> </a:t>
            </a:r>
            <a:r>
              <a:rPr lang="en-US" sz="2400" err="1">
                <a:latin typeface="Arial"/>
                <a:ea typeface="Arial"/>
                <a:cs typeface="Arial"/>
                <a:sym typeface="Arial"/>
              </a:rPr>
              <a:t>huống</a:t>
            </a:r>
            <a:r>
              <a:rPr lang="en-US" sz="2400">
                <a:latin typeface="Arial"/>
                <a:ea typeface="Arial"/>
                <a:cs typeface="Arial"/>
                <a:sym typeface="Arial"/>
              </a:rPr>
              <a:t> </a:t>
            </a:r>
            <a:r>
              <a:rPr lang="en-US" sz="2400" err="1">
                <a:latin typeface="Arial"/>
                <a:ea typeface="Arial"/>
                <a:cs typeface="Arial"/>
                <a:sym typeface="Arial"/>
              </a:rPr>
              <a:t>mới</a:t>
            </a:r>
            <a:r>
              <a:rPr lang="en-US" sz="2400">
                <a:latin typeface="Arial"/>
                <a:ea typeface="Arial"/>
                <a:cs typeface="Arial"/>
                <a:sym typeface="Arial"/>
              </a:rPr>
              <a:t> du </a:t>
            </a:r>
            <a:r>
              <a:rPr lang="en-US" sz="2400" err="1">
                <a:latin typeface="Arial"/>
                <a:ea typeface="Arial"/>
                <a:cs typeface="Arial"/>
                <a:sym typeface="Arial"/>
              </a:rPr>
              <a:t>nhập</a:t>
            </a:r>
            <a:r>
              <a:rPr lang="en-US" sz="2400">
                <a:latin typeface="Arial"/>
                <a:ea typeface="Arial"/>
                <a:cs typeface="Arial"/>
                <a:sym typeface="Arial"/>
              </a:rPr>
              <a:t> </a:t>
            </a:r>
            <a:r>
              <a:rPr lang="en-US" sz="2400" err="1">
                <a:latin typeface="Arial"/>
                <a:ea typeface="Arial"/>
                <a:cs typeface="Arial"/>
                <a:sym typeface="Arial"/>
              </a:rPr>
              <a:t>vào</a:t>
            </a:r>
            <a:r>
              <a:rPr lang="en-US" sz="2400">
                <a:latin typeface="Arial"/>
                <a:ea typeface="Arial"/>
                <a:cs typeface="Arial"/>
                <a:sym typeface="Arial"/>
              </a:rPr>
              <a:t> </a:t>
            </a:r>
            <a:r>
              <a:rPr lang="en-US" sz="2400" err="1">
                <a:latin typeface="Arial"/>
                <a:ea typeface="Arial"/>
                <a:cs typeface="Arial"/>
                <a:sym typeface="Arial"/>
              </a:rPr>
              <a:t>Việt</a:t>
            </a:r>
            <a:r>
              <a:rPr lang="en-US" sz="2400">
                <a:latin typeface="Arial"/>
                <a:ea typeface="Arial"/>
                <a:cs typeface="Arial"/>
                <a:sym typeface="Arial"/>
              </a:rPr>
              <a:t> Nam </a:t>
            </a:r>
            <a:r>
              <a:rPr lang="en-US" sz="2400" err="1">
                <a:latin typeface="Arial"/>
                <a:ea typeface="Arial"/>
                <a:cs typeface="Arial"/>
                <a:sym typeface="Arial"/>
              </a:rPr>
              <a:t>như</a:t>
            </a:r>
            <a:r>
              <a:rPr lang="en-US" sz="2400">
                <a:latin typeface="Arial"/>
                <a:ea typeface="Arial"/>
                <a:cs typeface="Arial"/>
                <a:sym typeface="Arial"/>
              </a:rPr>
              <a:t> </a:t>
            </a:r>
            <a:r>
              <a:rPr lang="en-US" sz="2400" err="1">
                <a:latin typeface="Arial"/>
                <a:ea typeface="Arial"/>
                <a:cs typeface="Arial"/>
                <a:sym typeface="Arial"/>
              </a:rPr>
              <a:t>lễ</a:t>
            </a:r>
            <a:r>
              <a:rPr lang="en-US" sz="2400">
                <a:latin typeface="Arial"/>
                <a:ea typeface="Arial"/>
                <a:cs typeface="Arial"/>
                <a:sym typeface="Arial"/>
              </a:rPr>
              <a:t> </a:t>
            </a:r>
            <a:r>
              <a:rPr lang="en-US" sz="2400" err="1">
                <a:latin typeface="Arial"/>
                <a:ea typeface="Arial"/>
                <a:cs typeface="Arial"/>
                <a:sym typeface="Arial"/>
              </a:rPr>
              <a:t>hội</a:t>
            </a:r>
            <a:r>
              <a:rPr lang="en-US" sz="2400">
                <a:latin typeface="Arial"/>
                <a:ea typeface="Arial"/>
                <a:cs typeface="Arial"/>
                <a:sym typeface="Arial"/>
              </a:rPr>
              <a:t> </a:t>
            </a:r>
            <a:r>
              <a:rPr lang="en-US" sz="2400" err="1">
                <a:latin typeface="Arial"/>
                <a:ea typeface="Arial"/>
                <a:cs typeface="Arial"/>
                <a:sym typeface="Arial"/>
              </a:rPr>
              <a:t>hóa</a:t>
            </a:r>
            <a:r>
              <a:rPr lang="en-US" sz="2400">
                <a:latin typeface="Arial"/>
                <a:ea typeface="Arial"/>
                <a:cs typeface="Arial"/>
                <a:sym typeface="Arial"/>
              </a:rPr>
              <a:t> </a:t>
            </a:r>
            <a:r>
              <a:rPr lang="en-US" sz="2400" err="1">
                <a:latin typeface="Arial"/>
                <a:ea typeface="Arial"/>
                <a:cs typeface="Arial"/>
                <a:sym typeface="Arial"/>
              </a:rPr>
              <a:t>trang</a:t>
            </a:r>
            <a:r>
              <a:rPr lang="en-US" sz="2400">
                <a:latin typeface="Arial"/>
                <a:ea typeface="Arial"/>
                <a:cs typeface="Arial"/>
                <a:sym typeface="Arial"/>
              </a:rPr>
              <a:t> (Halloween), </a:t>
            </a:r>
            <a:r>
              <a:rPr lang="en-US" sz="2400" err="1">
                <a:latin typeface="Arial"/>
                <a:ea typeface="Arial"/>
                <a:cs typeface="Arial"/>
                <a:sym typeface="Arial"/>
              </a:rPr>
              <a:t>lễ</a:t>
            </a:r>
            <a:r>
              <a:rPr lang="en-US" sz="2400">
                <a:latin typeface="Arial"/>
                <a:ea typeface="Arial"/>
                <a:cs typeface="Arial"/>
                <a:sym typeface="Arial"/>
              </a:rPr>
              <a:t> </a:t>
            </a:r>
            <a:r>
              <a:rPr lang="en-US" sz="2400" err="1">
                <a:latin typeface="Arial"/>
                <a:ea typeface="Arial"/>
                <a:cs typeface="Arial"/>
                <a:sym typeface="Arial"/>
              </a:rPr>
              <a:t>tình</a:t>
            </a:r>
            <a:r>
              <a:rPr lang="en-US" sz="2400">
                <a:latin typeface="Arial"/>
                <a:ea typeface="Arial"/>
                <a:cs typeface="Arial"/>
                <a:sym typeface="Arial"/>
              </a:rPr>
              <a:t> </a:t>
            </a:r>
            <a:r>
              <a:rPr lang="en-US" sz="2400" err="1">
                <a:latin typeface="Arial"/>
                <a:ea typeface="Arial"/>
                <a:cs typeface="Arial"/>
                <a:sym typeface="Arial"/>
              </a:rPr>
              <a:t>nhân</a:t>
            </a:r>
            <a:r>
              <a:rPr lang="en-US" sz="2400">
                <a:latin typeface="Arial"/>
                <a:ea typeface="Arial"/>
                <a:cs typeface="Arial"/>
                <a:sym typeface="Arial"/>
              </a:rPr>
              <a:t> Valentine, </a:t>
            </a:r>
            <a:r>
              <a:rPr lang="en-US" sz="2400" err="1">
                <a:latin typeface="Arial"/>
                <a:ea typeface="Arial"/>
                <a:cs typeface="Arial"/>
                <a:sym typeface="Arial"/>
              </a:rPr>
              <a:t>ngày</a:t>
            </a:r>
            <a:r>
              <a:rPr lang="en-US" sz="2400">
                <a:latin typeface="Arial"/>
                <a:ea typeface="Arial"/>
                <a:cs typeface="Arial"/>
                <a:sym typeface="Arial"/>
              </a:rPr>
              <a:t> </a:t>
            </a:r>
            <a:r>
              <a:rPr lang="en-US" sz="2400" err="1">
                <a:latin typeface="Arial"/>
                <a:ea typeface="Arial"/>
                <a:cs typeface="Arial"/>
                <a:sym typeface="Arial"/>
              </a:rPr>
              <a:t>quốc</a:t>
            </a:r>
            <a:r>
              <a:rPr lang="en-US" sz="2400">
                <a:latin typeface="Arial"/>
                <a:ea typeface="Arial"/>
                <a:cs typeface="Arial"/>
                <a:sym typeface="Arial"/>
              </a:rPr>
              <a:t> </a:t>
            </a:r>
            <a:r>
              <a:rPr lang="en-US" sz="2400" err="1">
                <a:latin typeface="Arial"/>
                <a:ea typeface="Arial"/>
                <a:cs typeface="Arial"/>
                <a:sym typeface="Arial"/>
              </a:rPr>
              <a:t>tế</a:t>
            </a:r>
            <a:r>
              <a:rPr lang="en-US" sz="2400">
                <a:latin typeface="Arial"/>
                <a:ea typeface="Arial"/>
                <a:cs typeface="Arial"/>
                <a:sym typeface="Arial"/>
              </a:rPr>
              <a:t> </a:t>
            </a:r>
            <a:r>
              <a:rPr lang="en-US" sz="2400" err="1">
                <a:latin typeface="Arial"/>
                <a:ea typeface="Arial"/>
                <a:cs typeface="Arial"/>
                <a:sym typeface="Arial"/>
              </a:rPr>
              <a:t>phụ</a:t>
            </a:r>
            <a:r>
              <a:rPr lang="en-US" sz="2400">
                <a:latin typeface="Arial"/>
                <a:ea typeface="Arial"/>
                <a:cs typeface="Arial"/>
                <a:sym typeface="Arial"/>
              </a:rPr>
              <a:t> </a:t>
            </a:r>
            <a:r>
              <a:rPr lang="en-US" sz="2400" err="1">
                <a:latin typeface="Arial"/>
                <a:ea typeface="Arial"/>
                <a:cs typeface="Arial"/>
                <a:sym typeface="Arial"/>
              </a:rPr>
              <a:t>nữ</a:t>
            </a:r>
            <a:r>
              <a:rPr lang="en-US" sz="2400">
                <a:latin typeface="Arial"/>
                <a:ea typeface="Arial"/>
                <a:cs typeface="Arial"/>
                <a:sym typeface="Arial"/>
              </a:rPr>
              <a:t> 8/3; </a:t>
            </a:r>
            <a:r>
              <a:rPr lang="en-US" sz="2400" err="1">
                <a:latin typeface="Arial"/>
                <a:ea typeface="Arial"/>
                <a:cs typeface="Arial"/>
                <a:sym typeface="Arial"/>
              </a:rPr>
              <a:t>ngày</a:t>
            </a:r>
            <a:r>
              <a:rPr lang="en-US" sz="2400">
                <a:latin typeface="Arial"/>
                <a:ea typeface="Arial"/>
                <a:cs typeface="Arial"/>
                <a:sym typeface="Arial"/>
              </a:rPr>
              <a:t> </a:t>
            </a:r>
            <a:r>
              <a:rPr lang="en-US" sz="2400" err="1">
                <a:latin typeface="Arial"/>
                <a:ea typeface="Arial"/>
                <a:cs typeface="Arial"/>
                <a:sym typeface="Arial"/>
              </a:rPr>
              <a:t>của</a:t>
            </a:r>
            <a:r>
              <a:rPr lang="en-US" sz="2400">
                <a:latin typeface="Arial"/>
                <a:ea typeface="Arial"/>
                <a:cs typeface="Arial"/>
                <a:sym typeface="Arial"/>
              </a:rPr>
              <a:t> cha, </a:t>
            </a:r>
            <a:r>
              <a:rPr lang="en-US" sz="2400" err="1">
                <a:latin typeface="Arial"/>
                <a:ea typeface="Arial"/>
                <a:cs typeface="Arial"/>
                <a:sym typeface="Arial"/>
              </a:rPr>
              <a:t>ngày</a:t>
            </a:r>
            <a:r>
              <a:rPr lang="en-US" sz="2400">
                <a:latin typeface="Arial"/>
                <a:ea typeface="Arial"/>
                <a:cs typeface="Arial"/>
                <a:sym typeface="Arial"/>
              </a:rPr>
              <a:t> </a:t>
            </a:r>
            <a:r>
              <a:rPr lang="en-US" sz="2400" err="1">
                <a:latin typeface="Arial"/>
                <a:ea typeface="Arial"/>
                <a:cs typeface="Arial"/>
                <a:sym typeface="Arial"/>
              </a:rPr>
              <a:t>của</a:t>
            </a:r>
            <a:r>
              <a:rPr lang="en-US" sz="2400">
                <a:latin typeface="Arial"/>
                <a:ea typeface="Arial"/>
                <a:cs typeface="Arial"/>
                <a:sym typeface="Arial"/>
              </a:rPr>
              <a:t> </a:t>
            </a:r>
            <a:r>
              <a:rPr lang="en-US" sz="2400" err="1">
                <a:latin typeface="Arial"/>
                <a:ea typeface="Arial"/>
                <a:cs typeface="Arial"/>
                <a:sym typeface="Arial"/>
              </a:rPr>
              <a:t>mẹ</a:t>
            </a:r>
            <a:r>
              <a:rPr lang="en-US" sz="2400">
                <a:latin typeface="Arial"/>
                <a:ea typeface="Arial"/>
                <a:cs typeface="Arial"/>
                <a:sym typeface="Arial"/>
              </a:rPr>
              <a:t>,..</a:t>
            </a:r>
            <a:endParaRPr/>
          </a:p>
        </p:txBody>
      </p:sp>
      <p:pic>
        <p:nvPicPr>
          <p:cNvPr id="2027" name="Google Shape;2027;p298" descr="Những chuyến bay 'xanh' Vietjet và niềm vui bất ngờ ngày Halloween"/>
          <p:cNvPicPr preferRelativeResize="0"/>
          <p:nvPr/>
        </p:nvPicPr>
        <p:blipFill rotWithShape="1">
          <a:blip r:embed="rId3">
            <a:alphaModFix/>
          </a:blip>
          <a:srcRect/>
          <a:stretch/>
        </p:blipFill>
        <p:spPr>
          <a:xfrm>
            <a:off x="7663487" y="2190750"/>
            <a:ext cx="3289300" cy="2476500"/>
          </a:xfrm>
          <a:prstGeom prst="rect">
            <a:avLst/>
          </a:prstGeom>
          <a:noFill/>
          <a:ln>
            <a:noFill/>
          </a:ln>
        </p:spPr>
      </p:pic>
      <p:pic>
        <p:nvPicPr>
          <p:cNvPr id="2028" name="Google Shape;2028;p298" descr="Lễ tình nhân Valentine 2022 là ngày nào? Valentine 14/2 nên tặng gì?"/>
          <p:cNvPicPr preferRelativeResize="0"/>
          <p:nvPr/>
        </p:nvPicPr>
        <p:blipFill rotWithShape="1">
          <a:blip r:embed="rId4">
            <a:alphaModFix/>
          </a:blip>
          <a:srcRect/>
          <a:stretch/>
        </p:blipFill>
        <p:spPr>
          <a:xfrm>
            <a:off x="6725567" y="0"/>
            <a:ext cx="3289300" cy="2286000"/>
          </a:xfrm>
          <a:prstGeom prst="rect">
            <a:avLst/>
          </a:prstGeom>
          <a:noFill/>
          <a:ln>
            <a:noFill/>
          </a:ln>
        </p:spPr>
      </p:pic>
      <p:pic>
        <p:nvPicPr>
          <p:cNvPr id="2029" name="Google Shape;2029;p298" descr="Đôi Điều Về “Ngày Của Cha, Ngày Của Mẹ”"/>
          <p:cNvPicPr preferRelativeResize="0"/>
          <p:nvPr/>
        </p:nvPicPr>
        <p:blipFill rotWithShape="1">
          <a:blip r:embed="rId5">
            <a:alphaModFix/>
          </a:blip>
          <a:srcRect/>
          <a:stretch/>
        </p:blipFill>
        <p:spPr>
          <a:xfrm>
            <a:off x="8300367" y="4420655"/>
            <a:ext cx="3429000" cy="229870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039"/>
        <p:cNvGrpSpPr/>
        <p:nvPr/>
      </p:nvGrpSpPr>
      <p:grpSpPr>
        <a:xfrm>
          <a:off x="0" y="0"/>
          <a:ext cx="0" cy="0"/>
          <a:chOff x="0" y="0"/>
          <a:chExt cx="0" cy="0"/>
        </a:xfrm>
      </p:grpSpPr>
      <p:sp>
        <p:nvSpPr>
          <p:cNvPr id="2040" name="Google Shape;2040;p300"/>
          <p:cNvSpPr txBox="1">
            <a:spLocks noGrp="1"/>
          </p:cNvSpPr>
          <p:nvPr>
            <p:ph type="title"/>
          </p:nvPr>
        </p:nvSpPr>
        <p:spPr>
          <a:xfrm>
            <a:off x="284878" y="60192"/>
            <a:ext cx="11068921" cy="1038941"/>
          </a:xfrm>
          <a:prstGeom prst="rect">
            <a:avLst/>
          </a:prstGeom>
          <a:noFill/>
          <a:ln>
            <a:noFill/>
          </a:ln>
        </p:spPr>
        <p:txBody>
          <a:bodyPr spcFirstLastPara="1" wrap="square" lIns="91425" tIns="45700" rIns="91425" bIns="45700" anchor="ctr" anchorCtr="0">
            <a:noAutofit/>
          </a:bodyPr>
          <a:lstStyle/>
          <a:p>
            <a:pPr>
              <a:lnSpc>
                <a:spcPct val="150000"/>
              </a:lnSpc>
              <a:buSzPts val="3600"/>
            </a:pPr>
            <a:r>
              <a:rPr lang="vi-VN" sz="2800" b="1"/>
              <a:t>2.3.4 Các tình huống mua hàng</a:t>
            </a:r>
            <a:br>
              <a:rPr lang="vi-VN" sz="2800" b="1"/>
            </a:br>
            <a:r>
              <a:rPr lang="vi-VN" sz="2400" b="1"/>
              <a:t>2.3.4</a:t>
            </a:r>
            <a:r>
              <a:rPr lang="en-US" sz="2400" b="1">
                <a:sym typeface="Arial"/>
              </a:rPr>
              <a:t>.1 Mua </a:t>
            </a:r>
            <a:r>
              <a:rPr lang="en-US" sz="2400" b="1" err="1">
                <a:sym typeface="Arial"/>
              </a:rPr>
              <a:t>hàng</a:t>
            </a:r>
            <a:r>
              <a:rPr lang="en-US" sz="2400" b="1">
                <a:sym typeface="Arial"/>
              </a:rPr>
              <a:t> </a:t>
            </a:r>
            <a:r>
              <a:rPr lang="en-US" sz="2400" b="1" err="1">
                <a:sym typeface="Arial"/>
              </a:rPr>
              <a:t>hoá</a:t>
            </a:r>
            <a:r>
              <a:rPr lang="en-US" sz="2400" b="1">
                <a:sym typeface="Arial"/>
              </a:rPr>
              <a:t> </a:t>
            </a:r>
            <a:r>
              <a:rPr lang="en-US" sz="2400" b="1" err="1">
                <a:sym typeface="Arial"/>
              </a:rPr>
              <a:t>giá</a:t>
            </a:r>
            <a:r>
              <a:rPr lang="en-US" sz="2400" b="1">
                <a:sym typeface="Arial"/>
              </a:rPr>
              <a:t> </a:t>
            </a:r>
            <a:r>
              <a:rPr lang="en-US" sz="2400" b="1" err="1">
                <a:sym typeface="Arial"/>
              </a:rPr>
              <a:t>trị</a:t>
            </a:r>
            <a:r>
              <a:rPr lang="en-US" sz="2400" b="1">
                <a:sym typeface="Arial"/>
              </a:rPr>
              <a:t> </a:t>
            </a:r>
            <a:r>
              <a:rPr lang="en-US" sz="2400" b="1" err="1">
                <a:sym typeface="Arial"/>
              </a:rPr>
              <a:t>thấp</a:t>
            </a:r>
            <a:r>
              <a:rPr lang="en-US" sz="2400" b="1">
                <a:sym typeface="Arial"/>
              </a:rPr>
              <a:t> </a:t>
            </a:r>
            <a:r>
              <a:rPr lang="en-US" sz="2400" b="1" err="1">
                <a:sym typeface="Arial"/>
              </a:rPr>
              <a:t>và</a:t>
            </a:r>
            <a:r>
              <a:rPr lang="en-US" sz="2400" b="1">
                <a:sym typeface="Arial"/>
              </a:rPr>
              <a:t> </a:t>
            </a:r>
            <a:r>
              <a:rPr lang="en-US" sz="2400" b="1" err="1">
                <a:sym typeface="Arial"/>
              </a:rPr>
              <a:t>thường</a:t>
            </a:r>
            <a:r>
              <a:rPr lang="en-US" sz="2400" b="1">
                <a:sym typeface="Arial"/>
              </a:rPr>
              <a:t> </a:t>
            </a:r>
            <a:r>
              <a:rPr lang="en-US" sz="2400" b="1" err="1">
                <a:sym typeface="Arial"/>
              </a:rPr>
              <a:t>xuyên</a:t>
            </a:r>
            <a:endParaRPr sz="2400"/>
          </a:p>
        </p:txBody>
      </p:sp>
      <p:grpSp>
        <p:nvGrpSpPr>
          <p:cNvPr id="2041" name="Google Shape;2041;p300"/>
          <p:cNvGrpSpPr/>
          <p:nvPr/>
        </p:nvGrpSpPr>
        <p:grpSpPr>
          <a:xfrm>
            <a:off x="284878" y="1099134"/>
            <a:ext cx="11658613" cy="5574486"/>
            <a:chOff x="5742849" y="1535205"/>
            <a:chExt cx="10842918" cy="4908532"/>
          </a:xfrm>
        </p:grpSpPr>
        <p:sp>
          <p:nvSpPr>
            <p:cNvPr id="2042" name="Google Shape;2042;p300"/>
            <p:cNvSpPr/>
            <p:nvPr/>
          </p:nvSpPr>
          <p:spPr>
            <a:xfrm>
              <a:off x="5742850" y="1579920"/>
              <a:ext cx="10842917" cy="4863817"/>
            </a:xfrm>
            <a:prstGeom prst="rect">
              <a:avLst/>
            </a:prstGeom>
            <a:solidFill>
              <a:srgbClr val="E1EFD8"/>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a:ea typeface="Arial"/>
                <a:cs typeface="Arial"/>
                <a:sym typeface="Arial"/>
              </a:endParaRPr>
            </a:p>
          </p:txBody>
        </p:sp>
        <p:sp>
          <p:nvSpPr>
            <p:cNvPr id="2043" name="Google Shape;2043;p300"/>
            <p:cNvSpPr/>
            <p:nvPr/>
          </p:nvSpPr>
          <p:spPr>
            <a:xfrm>
              <a:off x="5742849" y="1535205"/>
              <a:ext cx="513151" cy="530671"/>
            </a:xfrm>
            <a:custGeom>
              <a:avLst/>
              <a:gdLst/>
              <a:ahLst/>
              <a:cxnLst/>
              <a:rect l="l" t="t" r="r" b="b"/>
              <a:pathLst>
                <a:path w="374726" h="648430" extrusionOk="0">
                  <a:moveTo>
                    <a:pt x="200551" y="0"/>
                  </a:moveTo>
                  <a:cubicBezTo>
                    <a:pt x="208513" y="0"/>
                    <a:pt x="215148" y="332"/>
                    <a:pt x="220457" y="995"/>
                  </a:cubicBezTo>
                  <a:cubicBezTo>
                    <a:pt x="225765" y="1659"/>
                    <a:pt x="229912" y="2571"/>
                    <a:pt x="232898" y="3732"/>
                  </a:cubicBezTo>
                  <a:cubicBezTo>
                    <a:pt x="235883" y="4893"/>
                    <a:pt x="237874" y="6386"/>
                    <a:pt x="238869" y="8211"/>
                  </a:cubicBezTo>
                  <a:cubicBezTo>
                    <a:pt x="239865" y="10036"/>
                    <a:pt x="240362" y="11943"/>
                    <a:pt x="240362" y="13934"/>
                  </a:cubicBezTo>
                  <a:lnTo>
                    <a:pt x="240362" y="579755"/>
                  </a:lnTo>
                  <a:lnTo>
                    <a:pt x="356811" y="579755"/>
                  </a:lnTo>
                  <a:cubicBezTo>
                    <a:pt x="359465" y="579755"/>
                    <a:pt x="361953" y="580502"/>
                    <a:pt x="364276" y="581995"/>
                  </a:cubicBezTo>
                  <a:cubicBezTo>
                    <a:pt x="366598" y="583488"/>
                    <a:pt x="368506" y="585644"/>
                    <a:pt x="369999" y="588464"/>
                  </a:cubicBezTo>
                  <a:cubicBezTo>
                    <a:pt x="371491" y="591284"/>
                    <a:pt x="372653" y="594850"/>
                    <a:pt x="373482" y="599163"/>
                  </a:cubicBezTo>
                  <a:cubicBezTo>
                    <a:pt x="374311" y="603476"/>
                    <a:pt x="374726" y="608619"/>
                    <a:pt x="374726" y="614590"/>
                  </a:cubicBezTo>
                  <a:cubicBezTo>
                    <a:pt x="374726" y="620894"/>
                    <a:pt x="374228" y="626202"/>
                    <a:pt x="373233" y="630515"/>
                  </a:cubicBezTo>
                  <a:cubicBezTo>
                    <a:pt x="372238" y="634828"/>
                    <a:pt x="370911" y="638311"/>
                    <a:pt x="369252" y="640965"/>
                  </a:cubicBezTo>
                  <a:cubicBezTo>
                    <a:pt x="367593" y="643620"/>
                    <a:pt x="365686" y="645527"/>
                    <a:pt x="363529" y="646688"/>
                  </a:cubicBezTo>
                  <a:cubicBezTo>
                    <a:pt x="361373" y="647849"/>
                    <a:pt x="359133" y="648430"/>
                    <a:pt x="356811" y="648430"/>
                  </a:cubicBezTo>
                  <a:lnTo>
                    <a:pt x="20404" y="648430"/>
                  </a:lnTo>
                  <a:cubicBezTo>
                    <a:pt x="18081" y="648430"/>
                    <a:pt x="15925" y="647849"/>
                    <a:pt x="13934" y="646688"/>
                  </a:cubicBezTo>
                  <a:cubicBezTo>
                    <a:pt x="11944" y="645527"/>
                    <a:pt x="10036" y="643620"/>
                    <a:pt x="8211" y="640965"/>
                  </a:cubicBezTo>
                  <a:cubicBezTo>
                    <a:pt x="6387" y="638311"/>
                    <a:pt x="4977" y="634828"/>
                    <a:pt x="3981" y="630515"/>
                  </a:cubicBezTo>
                  <a:cubicBezTo>
                    <a:pt x="2986" y="626202"/>
                    <a:pt x="2488" y="620894"/>
                    <a:pt x="2488" y="614590"/>
                  </a:cubicBezTo>
                  <a:cubicBezTo>
                    <a:pt x="2488" y="608619"/>
                    <a:pt x="2986" y="603476"/>
                    <a:pt x="3981" y="599163"/>
                  </a:cubicBezTo>
                  <a:cubicBezTo>
                    <a:pt x="4977" y="594850"/>
                    <a:pt x="6221" y="591284"/>
                    <a:pt x="7714" y="588464"/>
                  </a:cubicBezTo>
                  <a:cubicBezTo>
                    <a:pt x="9207" y="585644"/>
                    <a:pt x="11031" y="583488"/>
                    <a:pt x="13188" y="581995"/>
                  </a:cubicBezTo>
                  <a:cubicBezTo>
                    <a:pt x="15344" y="580502"/>
                    <a:pt x="17749" y="579755"/>
                    <a:pt x="20404" y="579755"/>
                  </a:cubicBezTo>
                  <a:lnTo>
                    <a:pt x="154767" y="579755"/>
                  </a:lnTo>
                  <a:lnTo>
                    <a:pt x="154767" y="90073"/>
                  </a:lnTo>
                  <a:lnTo>
                    <a:pt x="30356" y="164222"/>
                  </a:lnTo>
                  <a:cubicBezTo>
                    <a:pt x="24053" y="167540"/>
                    <a:pt x="18994" y="169531"/>
                    <a:pt x="15178" y="170194"/>
                  </a:cubicBezTo>
                  <a:cubicBezTo>
                    <a:pt x="11363" y="170858"/>
                    <a:pt x="8294" y="170111"/>
                    <a:pt x="5972" y="167955"/>
                  </a:cubicBezTo>
                  <a:cubicBezTo>
                    <a:pt x="3650" y="165798"/>
                    <a:pt x="2074" y="162232"/>
                    <a:pt x="1244" y="157255"/>
                  </a:cubicBezTo>
                  <a:cubicBezTo>
                    <a:pt x="415" y="152279"/>
                    <a:pt x="0" y="145975"/>
                    <a:pt x="0" y="138345"/>
                  </a:cubicBezTo>
                  <a:cubicBezTo>
                    <a:pt x="0" y="132705"/>
                    <a:pt x="249" y="127894"/>
                    <a:pt x="747" y="123913"/>
                  </a:cubicBezTo>
                  <a:cubicBezTo>
                    <a:pt x="1244" y="119932"/>
                    <a:pt x="1991" y="116614"/>
                    <a:pt x="2986" y="113960"/>
                  </a:cubicBezTo>
                  <a:cubicBezTo>
                    <a:pt x="3981" y="111306"/>
                    <a:pt x="5391" y="108984"/>
                    <a:pt x="7216" y="106993"/>
                  </a:cubicBezTo>
                  <a:cubicBezTo>
                    <a:pt x="9041" y="105003"/>
                    <a:pt x="11446" y="103012"/>
                    <a:pt x="14432" y="101022"/>
                  </a:cubicBezTo>
                  <a:lnTo>
                    <a:pt x="162730" y="5972"/>
                  </a:lnTo>
                  <a:cubicBezTo>
                    <a:pt x="164057" y="4976"/>
                    <a:pt x="165716" y="4147"/>
                    <a:pt x="167706" y="3483"/>
                  </a:cubicBezTo>
                  <a:cubicBezTo>
                    <a:pt x="169697" y="2820"/>
                    <a:pt x="172185" y="2156"/>
                    <a:pt x="175171" y="1493"/>
                  </a:cubicBezTo>
                  <a:cubicBezTo>
                    <a:pt x="178157" y="829"/>
                    <a:pt x="181640" y="415"/>
                    <a:pt x="185621" y="249"/>
                  </a:cubicBezTo>
                  <a:cubicBezTo>
                    <a:pt x="189603" y="83"/>
                    <a:pt x="194579" y="0"/>
                    <a:pt x="200551" y="0"/>
                  </a:cubicBezTo>
                  <a:close/>
                </a:path>
              </a:pathLst>
            </a:custGeom>
            <a:solidFill>
              <a:schemeClr val="dk1"/>
            </a:solidFill>
            <a:ln>
              <a:noFill/>
            </a:ln>
            <a:effectLst>
              <a:outerShdw blurRad="50800" dist="38100" sx="109602" sy="109602" algn="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a:ea typeface="Arial"/>
                <a:cs typeface="Arial"/>
                <a:sym typeface="Arial"/>
              </a:endParaRPr>
            </a:p>
          </p:txBody>
        </p:sp>
      </p:grpSp>
      <p:sp>
        <p:nvSpPr>
          <p:cNvPr id="2044" name="Google Shape;2044;p300"/>
          <p:cNvSpPr txBox="1"/>
          <p:nvPr/>
        </p:nvSpPr>
        <p:spPr>
          <a:xfrm>
            <a:off x="1752131" y="988097"/>
            <a:ext cx="7953710" cy="1615787"/>
          </a:xfrm>
          <a:prstGeom prst="rect">
            <a:avLst/>
          </a:prstGeom>
          <a:noFill/>
          <a:ln>
            <a:noFill/>
          </a:ln>
        </p:spPr>
        <p:txBody>
          <a:bodyPr spcFirstLastPara="1" wrap="square" lIns="91425" tIns="45700" rIns="91425" bIns="45700" anchor="t" anchorCtr="0">
            <a:spAutoFit/>
          </a:bodyPr>
          <a:lstStyle/>
          <a:p>
            <a:pPr marL="285750" marR="0" lvl="0" indent="-171450" algn="ctr" rtl="0">
              <a:lnSpc>
                <a:spcPct val="100000"/>
              </a:lnSpc>
              <a:spcBef>
                <a:spcPts val="0"/>
              </a:spcBef>
              <a:spcAft>
                <a:spcPts val="0"/>
              </a:spcAft>
              <a:buClr>
                <a:schemeClr val="dk1"/>
              </a:buClr>
              <a:buSzPts val="1800"/>
              <a:buFont typeface="Arial"/>
              <a:buNone/>
            </a:pPr>
            <a:endParaRPr sz="1800" b="1" i="0" u="none" strike="noStrike" cap="none">
              <a:solidFill>
                <a:srgbClr val="3F4F3B"/>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err="1">
                <a:solidFill>
                  <a:srgbClr val="000000"/>
                </a:solidFill>
                <a:latin typeface="Arial"/>
                <a:ea typeface="Arial"/>
                <a:cs typeface="Arial"/>
                <a:sym typeface="Arial"/>
              </a:rPr>
              <a:t>Mất</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công</a:t>
            </a:r>
            <a:r>
              <a:rPr lang="en-US" sz="1800" b="1"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suy</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nghĩ</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nghiên</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cứu</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hoặc</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mất</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thời</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giờ</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cho</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việc</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mua</a:t>
            </a:r>
            <a:r>
              <a:rPr lang="en-US" sz="18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0" i="0" u="none" strike="noStrike" cap="none" err="1">
                <a:solidFill>
                  <a:srgbClr val="000000"/>
                </a:solidFill>
                <a:latin typeface="Arial"/>
                <a:ea typeface="Arial"/>
                <a:cs typeface="Arial"/>
                <a:sym typeface="Arial"/>
              </a:rPr>
              <a:t>Trải</a:t>
            </a:r>
            <a:r>
              <a:rPr lang="en-US" sz="1800" b="0" i="0" u="none" strike="noStrike" cap="none">
                <a:solidFill>
                  <a:srgbClr val="000000"/>
                </a:solidFill>
                <a:latin typeface="Arial"/>
                <a:ea typeface="Arial"/>
                <a:cs typeface="Arial"/>
                <a:sym typeface="Arial"/>
              </a:rPr>
              <a:t> qua </a:t>
            </a:r>
            <a:r>
              <a:rPr lang="en-US" sz="1800" b="1" i="0" u="none" strike="noStrike" cap="none" err="1">
                <a:solidFill>
                  <a:srgbClr val="000000"/>
                </a:solidFill>
                <a:latin typeface="Arial"/>
                <a:ea typeface="Arial"/>
                <a:cs typeface="Arial"/>
                <a:sym typeface="Arial"/>
              </a:rPr>
              <a:t>trình</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tự</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thông</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thường</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niềm</a:t>
            </a:r>
            <a:r>
              <a:rPr lang="en-US" sz="1800" b="0" i="0" u="none" strike="noStrike" cap="none">
                <a:solidFill>
                  <a:srgbClr val="000000"/>
                </a:solidFill>
                <a:latin typeface="Arial"/>
                <a:ea typeface="Arial"/>
                <a:cs typeface="Arial"/>
                <a:sym typeface="Arial"/>
              </a:rPr>
              <a:t> tin - </a:t>
            </a:r>
            <a:r>
              <a:rPr lang="en-US" sz="1800" b="0" i="0" u="none" strike="noStrike" cap="none" err="1">
                <a:solidFill>
                  <a:srgbClr val="000000"/>
                </a:solidFill>
                <a:latin typeface="Arial"/>
                <a:ea typeface="Arial"/>
                <a:cs typeface="Arial"/>
                <a:sym typeface="Arial"/>
              </a:rPr>
              <a:t>thái</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độ</a:t>
            </a:r>
            <a:r>
              <a:rPr lang="en-US" sz="1800" b="0" i="0" u="none" strike="noStrike" cap="none">
                <a:solidFill>
                  <a:srgbClr val="000000"/>
                </a:solidFill>
                <a:latin typeface="Arial"/>
                <a:ea typeface="Arial"/>
                <a:cs typeface="Arial"/>
                <a:sym typeface="Arial"/>
              </a:rPr>
              <a:t> - </a:t>
            </a:r>
            <a:r>
              <a:rPr lang="en-US" sz="1800" b="0" i="0" u="none" strike="noStrike" cap="none" err="1">
                <a:solidFill>
                  <a:srgbClr val="000000"/>
                </a:solidFill>
                <a:latin typeface="Arial"/>
                <a:ea typeface="Arial"/>
                <a:cs typeface="Arial"/>
                <a:sym typeface="Arial"/>
              </a:rPr>
              <a:t>hành</a:t>
            </a:r>
            <a:r>
              <a:rPr lang="en-US" sz="1800" b="0" i="0" u="none" strike="noStrike" cap="none">
                <a:solidFill>
                  <a:srgbClr val="000000"/>
                </a:solidFill>
                <a:latin typeface="Arial"/>
                <a:ea typeface="Arial"/>
                <a:cs typeface="Arial"/>
                <a:sym typeface="Arial"/>
              </a:rPr>
              <a:t> vi</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err="1">
                <a:solidFill>
                  <a:srgbClr val="000000"/>
                </a:solidFill>
                <a:latin typeface="Arial"/>
                <a:ea typeface="Arial"/>
                <a:cs typeface="Arial"/>
                <a:sym typeface="Arial"/>
              </a:rPr>
              <a:t>Bỏ</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công</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tìm</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kiếm</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thông</a:t>
            </a:r>
            <a:r>
              <a:rPr lang="en-US" sz="1800" b="1" i="0" u="none" strike="noStrike" cap="none">
                <a:solidFill>
                  <a:srgbClr val="000000"/>
                </a:solidFill>
                <a:latin typeface="Arial"/>
                <a:ea typeface="Arial"/>
                <a:cs typeface="Arial"/>
                <a:sym typeface="Arial"/>
              </a:rPr>
              <a:t> tin </a:t>
            </a:r>
            <a:r>
              <a:rPr lang="en-US" sz="1800" b="0" i="0" u="none" strike="noStrike" cap="none" err="1">
                <a:solidFill>
                  <a:srgbClr val="000000"/>
                </a:solidFill>
                <a:latin typeface="Arial"/>
                <a:ea typeface="Arial"/>
                <a:cs typeface="Arial"/>
                <a:sym typeface="Arial"/>
              </a:rPr>
              <a:t>về</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các</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nhãn</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hiệu</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và</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đánh</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giá</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các</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đặc</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điểm</a:t>
            </a:r>
            <a:endParaRPr sz="1800" b="0" i="0" u="none" strike="noStrike" cap="none">
              <a:solidFill>
                <a:srgbClr val="000000"/>
              </a:solidFill>
              <a:latin typeface="Arial"/>
              <a:ea typeface="Arial"/>
              <a:cs typeface="Arial"/>
              <a:sym typeface="Arial"/>
            </a:endParaRPr>
          </a:p>
        </p:txBody>
      </p:sp>
      <p:sp>
        <p:nvSpPr>
          <p:cNvPr id="2045" name="Google Shape;2045;p300"/>
          <p:cNvSpPr txBox="1"/>
          <p:nvPr/>
        </p:nvSpPr>
        <p:spPr>
          <a:xfrm>
            <a:off x="3160745" y="2741291"/>
            <a:ext cx="6529441" cy="1554272"/>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800"/>
              <a:buFont typeface="Arial"/>
              <a:buChar char="•"/>
            </a:pPr>
            <a:r>
              <a:rPr lang="en-US" sz="1800" b="0" i="0" u="none" strike="noStrike" cap="none" err="1">
                <a:solidFill>
                  <a:srgbClr val="000000"/>
                </a:solidFill>
                <a:latin typeface="Arial"/>
                <a:ea typeface="Arial"/>
                <a:cs typeface="Arial"/>
                <a:sym typeface="Arial"/>
              </a:rPr>
              <a:t>Mua</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hàng</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theo</a:t>
            </a:r>
            <a:r>
              <a:rPr lang="en-US" sz="1800" b="0"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thói</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quen</a:t>
            </a:r>
            <a:endParaRPr sz="1800" b="1"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0" i="0" u="none" strike="noStrike" cap="none" err="1">
                <a:solidFill>
                  <a:srgbClr val="000000"/>
                </a:solidFill>
                <a:latin typeface="Arial"/>
                <a:ea typeface="Arial"/>
                <a:cs typeface="Arial"/>
                <a:sym typeface="Arial"/>
              </a:rPr>
              <a:t>Quá</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trình</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mua</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sắm</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xuất</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phát</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từ</a:t>
            </a:r>
            <a:r>
              <a:rPr lang="en-US" sz="1800" b="0"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niềm</a:t>
            </a:r>
            <a:r>
              <a:rPr lang="en-US" sz="1800" b="1" i="0" u="none" strike="noStrike" cap="none">
                <a:solidFill>
                  <a:srgbClr val="000000"/>
                </a:solidFill>
                <a:latin typeface="Arial"/>
                <a:ea typeface="Arial"/>
                <a:cs typeface="Arial"/>
                <a:sym typeface="Arial"/>
              </a:rPr>
              <a:t> tin </a:t>
            </a:r>
            <a:r>
              <a:rPr lang="en-US" sz="1800" b="0" i="0" u="none" strike="noStrike" cap="none" err="1">
                <a:solidFill>
                  <a:srgbClr val="000000"/>
                </a:solidFill>
                <a:latin typeface="Arial"/>
                <a:ea typeface="Arial"/>
                <a:cs typeface="Arial"/>
                <a:sym typeface="Arial"/>
              </a:rPr>
              <a:t>vào</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nhãn</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hiệu</a:t>
            </a:r>
            <a:r>
              <a:rPr lang="en-US" sz="18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0" i="0" u="none" strike="noStrike" cap="none" err="1">
                <a:solidFill>
                  <a:srgbClr val="000000"/>
                </a:solidFill>
                <a:latin typeface="Arial"/>
                <a:ea typeface="Arial"/>
                <a:cs typeface="Arial"/>
                <a:sym typeface="Arial"/>
              </a:rPr>
              <a:t>Đánh</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giá</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các</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nhãn</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hiệu</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và</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quyết</a:t>
            </a:r>
            <a:r>
              <a:rPr lang="en-US" sz="1800" b="0" i="0" u="none" strike="noStrike" cap="none">
                <a:solidFill>
                  <a:srgbClr val="000000"/>
                </a:solidFill>
                <a:latin typeface="Arial"/>
                <a:ea typeface="Arial"/>
                <a:cs typeface="Arial"/>
                <a:sym typeface="Arial"/>
              </a:rPr>
              <a:t> </a:t>
            </a:r>
            <a:r>
              <a:rPr lang="en-US" sz="1800" b="0" i="0" u="none" strike="noStrike" cap="none" err="1">
                <a:solidFill>
                  <a:srgbClr val="000000"/>
                </a:solidFill>
                <a:latin typeface="Arial"/>
                <a:ea typeface="Arial"/>
                <a:cs typeface="Arial"/>
                <a:sym typeface="Arial"/>
              </a:rPr>
              <a:t>định</a:t>
            </a:r>
            <a:r>
              <a:rPr lang="en-US" sz="1800" b="0"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mua</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nhanh</a:t>
            </a:r>
            <a:r>
              <a:rPr lang="en-US" sz="1800" b="1" i="0" u="none" strike="noStrike" cap="none">
                <a:solidFill>
                  <a:srgbClr val="000000"/>
                </a:solidFill>
                <a:latin typeface="Arial"/>
                <a:ea typeface="Arial"/>
                <a:cs typeface="Arial"/>
                <a:sym typeface="Arial"/>
              </a:rPr>
              <a:t> </a:t>
            </a:r>
            <a:r>
              <a:rPr lang="en-US" sz="1800" b="1" i="0" u="none" strike="noStrike" cap="none" err="1">
                <a:solidFill>
                  <a:srgbClr val="000000"/>
                </a:solidFill>
                <a:latin typeface="Arial"/>
                <a:ea typeface="Arial"/>
                <a:cs typeface="Arial"/>
                <a:sym typeface="Arial"/>
              </a:rPr>
              <a:t>chóng</a:t>
            </a:r>
            <a:endParaRPr sz="1400" b="0" i="0" u="none" strike="noStrike" cap="none">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chemeClr val="dk1"/>
              </a:buClr>
              <a:buSzPts val="1400"/>
              <a:buFont typeface="Arial"/>
              <a:buNone/>
            </a:pPr>
            <a:endParaRPr sz="1400" b="0" i="0" u="none" strike="noStrike" cap="none">
              <a:solidFill>
                <a:srgbClr val="3F4F3B"/>
              </a:solidFill>
              <a:latin typeface="Arial"/>
              <a:ea typeface="Arial"/>
              <a:cs typeface="Arial"/>
              <a:sym typeface="Arial"/>
            </a:endParaRPr>
          </a:p>
        </p:txBody>
      </p:sp>
      <p:sp>
        <p:nvSpPr>
          <p:cNvPr id="2046" name="Google Shape;2046;p300"/>
          <p:cNvSpPr txBox="1"/>
          <p:nvPr/>
        </p:nvSpPr>
        <p:spPr>
          <a:xfrm>
            <a:off x="2165321" y="2867633"/>
            <a:ext cx="995424"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ĐẶC ĐIỂM HÀNH VI</a:t>
            </a:r>
            <a:endParaRPr sz="1400" b="0" i="0" u="none" strike="noStrike" cap="none">
              <a:solidFill>
                <a:srgbClr val="000000"/>
              </a:solidFill>
              <a:latin typeface="Arial"/>
              <a:ea typeface="Arial"/>
              <a:cs typeface="Arial"/>
              <a:sym typeface="Arial"/>
            </a:endParaRPr>
          </a:p>
        </p:txBody>
      </p:sp>
      <p:sp>
        <p:nvSpPr>
          <p:cNvPr id="2047" name="Google Shape;2047;p300"/>
          <p:cNvSpPr txBox="1"/>
          <p:nvPr/>
        </p:nvSpPr>
        <p:spPr>
          <a:xfrm>
            <a:off x="836632" y="4462284"/>
            <a:ext cx="162817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CHIẾN LƯỢC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MARKETING</a:t>
            </a:r>
            <a:endParaRPr sz="1400" b="0" i="0" u="none" strike="noStrike" cap="none">
              <a:solidFill>
                <a:srgbClr val="000000"/>
              </a:solidFill>
              <a:latin typeface="Arial"/>
              <a:ea typeface="Arial"/>
              <a:cs typeface="Arial"/>
              <a:sym typeface="Arial"/>
            </a:endParaRPr>
          </a:p>
        </p:txBody>
      </p:sp>
      <p:sp>
        <p:nvSpPr>
          <p:cNvPr id="2048" name="Google Shape;2048;p300"/>
          <p:cNvSpPr txBox="1"/>
          <p:nvPr/>
        </p:nvSpPr>
        <p:spPr>
          <a:xfrm>
            <a:off x="2457749" y="4268458"/>
            <a:ext cx="9251651" cy="216978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Sử dụng </a:t>
            </a:r>
            <a:r>
              <a:rPr lang="en-US" sz="1800" b="1" i="0" u="none" strike="noStrike" cap="none">
                <a:solidFill>
                  <a:srgbClr val="000000"/>
                </a:solidFill>
                <a:latin typeface="Arial"/>
                <a:ea typeface="Arial"/>
                <a:cs typeface="Arial"/>
                <a:sym typeface="Arial"/>
              </a:rPr>
              <a:t>giá cả và các biện pháp thúc đẩy </a:t>
            </a:r>
            <a:r>
              <a:rPr lang="en-US" sz="1800" b="0" i="0" u="none" strike="noStrike" cap="none">
                <a:solidFill>
                  <a:srgbClr val="000000"/>
                </a:solidFill>
                <a:latin typeface="Arial"/>
                <a:ea typeface="Arial"/>
                <a:cs typeface="Arial"/>
                <a:sym typeface="Arial"/>
              </a:rPr>
              <a:t>việc mua hàng để kích thích việc dùng thử sản phẩm </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Nhấn mạnh một vài đặc điểm chủ yếu </a:t>
            </a:r>
            <a:r>
              <a:rPr lang="en-US" sz="1800" b="0" i="0" u="none" strike="noStrike" cap="none">
                <a:solidFill>
                  <a:srgbClr val="000000"/>
                </a:solidFill>
                <a:latin typeface="Arial"/>
                <a:ea typeface="Arial"/>
                <a:cs typeface="Arial"/>
                <a:sym typeface="Arial"/>
              </a:rPr>
              <a:t>của sản phẩm và tập trung vào biểu tượng và hình ảnh </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Duy trì sự </a:t>
            </a:r>
            <a:r>
              <a:rPr lang="en-US" sz="1800" b="1" i="0" u="none" strike="noStrike" cap="none">
                <a:solidFill>
                  <a:srgbClr val="000000"/>
                </a:solidFill>
                <a:latin typeface="Arial"/>
                <a:ea typeface="Arial"/>
                <a:cs typeface="Arial"/>
                <a:sym typeface="Arial"/>
              </a:rPr>
              <a:t>ổn định về phẩm chất, dịch vụ và giá cả  </a:t>
            </a:r>
            <a:r>
              <a:rPr lang="en-US" sz="1800" b="0" i="0" u="none" strike="noStrike" cap="none">
                <a:solidFill>
                  <a:srgbClr val="000000"/>
                </a:solidFill>
                <a:latin typeface="Arial"/>
                <a:ea typeface="Arial"/>
                <a:cs typeface="Arial"/>
                <a:sym typeface="Arial"/>
              </a:rPr>
              <a:t>đối với KH cũ. </a:t>
            </a:r>
            <a:endParaRPr sz="1400" b="0" i="0" u="none" strike="noStrike" cap="none">
              <a:solidFill>
                <a:srgbClr val="000000"/>
              </a:solidFill>
              <a:latin typeface="Arial"/>
              <a:ea typeface="Arial"/>
              <a:cs typeface="Arial"/>
              <a:sym typeface="Arial"/>
            </a:endParaRPr>
          </a:p>
        </p:txBody>
      </p:sp>
      <p:sp>
        <p:nvSpPr>
          <p:cNvPr id="2049" name="Google Shape;2049;p300"/>
          <p:cNvSpPr txBox="1"/>
          <p:nvPr/>
        </p:nvSpPr>
        <p:spPr>
          <a:xfrm>
            <a:off x="499533" y="1724766"/>
            <a:ext cx="1332523"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F4F3B"/>
              </a:buClr>
              <a:buSzPts val="2000"/>
              <a:buFont typeface="Calibri"/>
              <a:buNone/>
            </a:pPr>
            <a:r>
              <a:rPr lang="en-US" sz="2000" b="1" i="0" u="none" strike="noStrike" cap="none">
                <a:solidFill>
                  <a:srgbClr val="3F4F3B"/>
                </a:solidFill>
                <a:latin typeface="Arial"/>
                <a:ea typeface="Arial"/>
                <a:cs typeface="Arial"/>
                <a:sym typeface="Arial"/>
              </a:rPr>
              <a:t>KHÔNG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054"/>
        <p:cNvGrpSpPr/>
        <p:nvPr/>
      </p:nvGrpSpPr>
      <p:grpSpPr>
        <a:xfrm>
          <a:off x="0" y="0"/>
          <a:ext cx="0" cy="0"/>
          <a:chOff x="0" y="0"/>
          <a:chExt cx="0" cy="0"/>
        </a:xfrm>
      </p:grpSpPr>
      <p:sp>
        <p:nvSpPr>
          <p:cNvPr id="2055" name="Google Shape;2055;p301"/>
          <p:cNvSpPr txBox="1">
            <a:spLocks noGrp="1"/>
          </p:cNvSpPr>
          <p:nvPr>
            <p:ph type="title"/>
          </p:nvPr>
        </p:nvSpPr>
        <p:spPr>
          <a:xfrm>
            <a:off x="122416" y="208442"/>
            <a:ext cx="10655513" cy="726873"/>
          </a:xfrm>
          <a:prstGeom prst="rect">
            <a:avLst/>
          </a:prstGeom>
          <a:noFill/>
          <a:ln>
            <a:noFill/>
          </a:ln>
        </p:spPr>
        <p:txBody>
          <a:bodyPr spcFirstLastPara="1" wrap="square" lIns="91425" tIns="45700" rIns="91425" bIns="45700" anchor="ctr" anchorCtr="0">
            <a:noAutofit/>
          </a:bodyPr>
          <a:lstStyle/>
          <a:p>
            <a:pPr marL="0" lvl="0" indent="0" algn="l" rtl="0">
              <a:lnSpc>
                <a:spcPct val="150000"/>
              </a:lnSpc>
              <a:spcBef>
                <a:spcPts val="0"/>
              </a:spcBef>
              <a:spcAft>
                <a:spcPts val="0"/>
              </a:spcAft>
              <a:buClr>
                <a:schemeClr val="dk1"/>
              </a:buClr>
              <a:buSzPct val="100000"/>
              <a:buFont typeface="Arial"/>
              <a:buNone/>
            </a:pPr>
            <a:r>
              <a:rPr lang="vi-VN" sz="2800" b="1"/>
              <a:t>2.3</a:t>
            </a:r>
            <a:r>
              <a:rPr lang="en-US" sz="2800" b="1">
                <a:sym typeface="Arial"/>
              </a:rPr>
              <a:t>.</a:t>
            </a:r>
            <a:r>
              <a:rPr lang="vi-VN" sz="2800" b="1"/>
              <a:t>4</a:t>
            </a:r>
            <a:r>
              <a:rPr lang="en-US" sz="2800" b="1">
                <a:sym typeface="Arial"/>
              </a:rPr>
              <a:t>.2. </a:t>
            </a:r>
            <a:r>
              <a:rPr lang="en-US" sz="2800" b="1" err="1">
                <a:sym typeface="Arial"/>
              </a:rPr>
              <a:t>Mua</a:t>
            </a:r>
            <a:r>
              <a:rPr lang="en-US" sz="2800" b="1">
                <a:sym typeface="Arial"/>
              </a:rPr>
              <a:t> </a:t>
            </a:r>
            <a:r>
              <a:rPr lang="en-US" sz="2800" b="1" err="1">
                <a:sym typeface="Arial"/>
              </a:rPr>
              <a:t>hàng</a:t>
            </a:r>
            <a:r>
              <a:rPr lang="en-US" sz="2800" b="1">
                <a:sym typeface="Arial"/>
              </a:rPr>
              <a:t> </a:t>
            </a:r>
            <a:r>
              <a:rPr lang="en-US" sz="2800" b="1" err="1">
                <a:sym typeface="Arial"/>
              </a:rPr>
              <a:t>quen</a:t>
            </a:r>
            <a:r>
              <a:rPr lang="en-US" sz="2800" b="1">
                <a:sym typeface="Arial"/>
              </a:rPr>
              <a:t> </a:t>
            </a:r>
            <a:r>
              <a:rPr lang="en-US" sz="2800" b="1" err="1">
                <a:sym typeface="Arial"/>
              </a:rPr>
              <a:t>thuộc</a:t>
            </a:r>
            <a:r>
              <a:rPr lang="en-US" sz="2800" b="1">
                <a:sym typeface="Arial"/>
              </a:rPr>
              <a:t> </a:t>
            </a:r>
            <a:r>
              <a:rPr lang="en-US" sz="2800" b="1" err="1">
                <a:sym typeface="Arial"/>
              </a:rPr>
              <a:t>nhưng</a:t>
            </a:r>
            <a:r>
              <a:rPr lang="en-US" sz="2800" b="1">
                <a:sym typeface="Arial"/>
              </a:rPr>
              <a:t> </a:t>
            </a:r>
            <a:r>
              <a:rPr lang="en-US" sz="2800" b="1" err="1">
                <a:sym typeface="Arial"/>
              </a:rPr>
              <a:t>nhãn</a:t>
            </a:r>
            <a:r>
              <a:rPr lang="en-US" sz="2800" b="1">
                <a:sym typeface="Arial"/>
              </a:rPr>
              <a:t> </a:t>
            </a:r>
            <a:r>
              <a:rPr lang="en-US" sz="2800" b="1" err="1">
                <a:sym typeface="Arial"/>
              </a:rPr>
              <a:t>hiệu</a:t>
            </a:r>
            <a:r>
              <a:rPr lang="en-US" sz="2800" b="1">
                <a:sym typeface="Arial"/>
              </a:rPr>
              <a:t> </a:t>
            </a:r>
            <a:r>
              <a:rPr lang="en-US" sz="2800" b="1" err="1">
                <a:sym typeface="Arial"/>
              </a:rPr>
              <a:t>mới</a:t>
            </a:r>
            <a:r>
              <a:rPr lang="en-US" sz="2800" b="1">
                <a:sym typeface="Arial"/>
              </a:rPr>
              <a:t> </a:t>
            </a:r>
            <a:r>
              <a:rPr lang="en-US" sz="2800" b="1" err="1">
                <a:sym typeface="Arial"/>
              </a:rPr>
              <a:t>lạ</a:t>
            </a:r>
            <a:endParaRPr sz="2800"/>
          </a:p>
        </p:txBody>
      </p:sp>
      <p:sp>
        <p:nvSpPr>
          <p:cNvPr id="2056" name="Google Shape;2056;p301"/>
          <p:cNvSpPr/>
          <p:nvPr/>
        </p:nvSpPr>
        <p:spPr>
          <a:xfrm>
            <a:off x="220047" y="1242744"/>
            <a:ext cx="11802254" cy="5010077"/>
          </a:xfrm>
          <a:prstGeom prst="rect">
            <a:avLst/>
          </a:prstGeom>
          <a:solidFill>
            <a:srgbClr val="FBE4D4">
              <a:alpha val="81961"/>
            </a:srgbClr>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a:ea typeface="Arial"/>
              <a:cs typeface="Arial"/>
              <a:sym typeface="Arial"/>
            </a:endParaRPr>
          </a:p>
        </p:txBody>
      </p:sp>
      <p:sp>
        <p:nvSpPr>
          <p:cNvPr id="2057" name="Google Shape;2057;p301"/>
          <p:cNvSpPr txBox="1"/>
          <p:nvPr/>
        </p:nvSpPr>
        <p:spPr>
          <a:xfrm>
            <a:off x="1096374" y="1853955"/>
            <a:ext cx="110868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KHÔNG</a:t>
            </a:r>
            <a:endParaRPr sz="1400" b="0" i="0" u="none" strike="noStrike" cap="none">
              <a:solidFill>
                <a:srgbClr val="000000"/>
              </a:solidFill>
              <a:latin typeface="Arial"/>
              <a:ea typeface="Arial"/>
              <a:cs typeface="Arial"/>
              <a:sym typeface="Arial"/>
            </a:endParaRPr>
          </a:p>
        </p:txBody>
      </p:sp>
      <p:sp>
        <p:nvSpPr>
          <p:cNvPr id="2058" name="Google Shape;2058;p301"/>
          <p:cNvSpPr txBox="1"/>
          <p:nvPr/>
        </p:nvSpPr>
        <p:spPr>
          <a:xfrm>
            <a:off x="2091469" y="1594684"/>
            <a:ext cx="5268923" cy="120032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Mất </a:t>
            </a:r>
            <a:r>
              <a:rPr lang="en-US" sz="1800" b="0" i="0" u="none" strike="noStrike" cap="none">
                <a:solidFill>
                  <a:srgbClr val="000000"/>
                </a:solidFill>
                <a:latin typeface="Arial"/>
                <a:ea typeface="Arial"/>
                <a:cs typeface="Arial"/>
                <a:sym typeface="Arial"/>
              </a:rPr>
              <a:t>nhiều</a:t>
            </a:r>
            <a:r>
              <a:rPr lang="en-US" sz="1800" b="1" i="0" u="none" strike="noStrike" cap="none">
                <a:solidFill>
                  <a:srgbClr val="000000"/>
                </a:solidFill>
                <a:latin typeface="Arial"/>
                <a:ea typeface="Arial"/>
                <a:cs typeface="Arial"/>
                <a:sym typeface="Arial"/>
              </a:rPr>
              <a:t> thời gian đánh giá và lựa chọn</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Đắn đo </a:t>
            </a:r>
            <a:r>
              <a:rPr lang="en-US" sz="1800" b="0" i="0" u="none" strike="noStrike" cap="none">
                <a:solidFill>
                  <a:srgbClr val="000000"/>
                </a:solidFill>
                <a:latin typeface="Arial"/>
                <a:ea typeface="Arial"/>
                <a:cs typeface="Arial"/>
                <a:sym typeface="Arial"/>
              </a:rPr>
              <a:t>ra </a:t>
            </a:r>
            <a:r>
              <a:rPr lang="en-US" sz="1800" b="1" i="0" u="none" strike="noStrike" cap="none">
                <a:solidFill>
                  <a:srgbClr val="000000"/>
                </a:solidFill>
                <a:latin typeface="Arial"/>
                <a:ea typeface="Arial"/>
                <a:cs typeface="Arial"/>
                <a:sym typeface="Arial"/>
              </a:rPr>
              <a:t>quyết định mua</a:t>
            </a:r>
            <a:endParaRPr sz="1800" b="1" i="0" u="none" strike="noStrike" cap="none">
              <a:solidFill>
                <a:srgbClr val="000000"/>
              </a:solidFill>
              <a:latin typeface="Arial"/>
              <a:ea typeface="Arial"/>
              <a:cs typeface="Arial"/>
              <a:sym typeface="Arial"/>
            </a:endParaRPr>
          </a:p>
          <a:p>
            <a:pPr marL="400050" marR="0" lvl="0" indent="-17145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59" name="Google Shape;2059;p301"/>
          <p:cNvSpPr txBox="1"/>
          <p:nvPr/>
        </p:nvSpPr>
        <p:spPr>
          <a:xfrm>
            <a:off x="1995142" y="2724008"/>
            <a:ext cx="995424"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C0C0C"/>
              </a:buClr>
              <a:buSzPts val="1800"/>
              <a:buFont typeface="Arial"/>
              <a:buNone/>
            </a:pPr>
            <a:r>
              <a:rPr lang="en-US" sz="1800" b="1" i="0" u="none" strike="noStrike" cap="none">
                <a:solidFill>
                  <a:srgbClr val="0C0C0C"/>
                </a:solidFill>
                <a:latin typeface="Arial"/>
                <a:ea typeface="Arial"/>
                <a:cs typeface="Arial"/>
                <a:sym typeface="Arial"/>
              </a:rPr>
              <a:t>ĐẶC ĐIỂM HÀNH VI</a:t>
            </a:r>
            <a:endParaRPr sz="1400" b="0" i="0" u="none" strike="noStrike" cap="none">
              <a:solidFill>
                <a:srgbClr val="000000"/>
              </a:solidFill>
              <a:latin typeface="Arial"/>
              <a:ea typeface="Arial"/>
              <a:cs typeface="Arial"/>
              <a:sym typeface="Arial"/>
            </a:endParaRPr>
          </a:p>
        </p:txBody>
      </p:sp>
      <p:sp>
        <p:nvSpPr>
          <p:cNvPr id="2060" name="Google Shape;2060;p301"/>
          <p:cNvSpPr txBox="1"/>
          <p:nvPr/>
        </p:nvSpPr>
        <p:spPr>
          <a:xfrm>
            <a:off x="3086893" y="2565491"/>
            <a:ext cx="7173638" cy="175428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Hành vi </a:t>
            </a:r>
            <a:r>
              <a:rPr lang="en-US" sz="1800" b="1" i="0" u="none" strike="noStrike" cap="none">
                <a:solidFill>
                  <a:srgbClr val="000000"/>
                </a:solidFill>
                <a:latin typeface="Arial"/>
                <a:ea typeface="Arial"/>
                <a:cs typeface="Arial"/>
                <a:sym typeface="Arial"/>
              </a:rPr>
              <a:t>tìm kiếm thông tin về nhãn hiệu</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Quá trình </a:t>
            </a:r>
            <a:r>
              <a:rPr lang="en-US" sz="1800" b="1" i="0" u="none" strike="noStrike" cap="none">
                <a:solidFill>
                  <a:srgbClr val="000000"/>
                </a:solidFill>
                <a:latin typeface="Arial"/>
                <a:ea typeface="Arial"/>
                <a:cs typeface="Arial"/>
                <a:sym typeface="Arial"/>
              </a:rPr>
              <a:t>đánh giá và quyết định mua rõ ràng</a:t>
            </a:r>
            <a:endParaRPr sz="1800" b="1"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Chuyển dịch hành vi mua sắm </a:t>
            </a:r>
            <a:r>
              <a:rPr lang="en-US" sz="1800" b="0" i="0" u="none" strike="noStrike" cap="none">
                <a:solidFill>
                  <a:srgbClr val="000000"/>
                </a:solidFill>
                <a:latin typeface="Arial"/>
                <a:ea typeface="Arial"/>
                <a:cs typeface="Arial"/>
                <a:sym typeface="Arial"/>
              </a:rPr>
              <a:t>do không thoả mãn nhu cầu với sản phẩm cũ</a:t>
            </a:r>
            <a:endParaRPr sz="1800" b="0" i="0" u="none" strike="noStrike" cap="none">
              <a:solidFill>
                <a:srgbClr val="000000"/>
              </a:solidFill>
              <a:latin typeface="Arial"/>
              <a:ea typeface="Arial"/>
              <a:cs typeface="Arial"/>
              <a:sym typeface="Arial"/>
            </a:endParaRPr>
          </a:p>
        </p:txBody>
      </p:sp>
      <p:sp>
        <p:nvSpPr>
          <p:cNvPr id="2061" name="Google Shape;2061;p301"/>
          <p:cNvSpPr txBox="1"/>
          <p:nvPr/>
        </p:nvSpPr>
        <p:spPr>
          <a:xfrm>
            <a:off x="804299" y="4557824"/>
            <a:ext cx="162817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C0C0C"/>
              </a:buClr>
              <a:buSzPts val="1800"/>
              <a:buFont typeface="Arial"/>
              <a:buNone/>
            </a:pPr>
            <a:r>
              <a:rPr lang="en-US" sz="1800" b="1" i="0" u="none" strike="noStrike" cap="none">
                <a:solidFill>
                  <a:srgbClr val="0C0C0C"/>
                </a:solidFill>
                <a:latin typeface="Arial"/>
                <a:ea typeface="Arial"/>
                <a:cs typeface="Arial"/>
                <a:sym typeface="Arial"/>
              </a:rPr>
              <a:t>CHIẾN LƯỢC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C0C0C"/>
              </a:buClr>
              <a:buSzPts val="1800"/>
              <a:buFont typeface="Arial"/>
              <a:buNone/>
            </a:pPr>
            <a:r>
              <a:rPr lang="en-US" sz="1800" b="1" i="0" u="none" strike="noStrike" cap="none">
                <a:solidFill>
                  <a:srgbClr val="0C0C0C"/>
                </a:solidFill>
                <a:latin typeface="Arial"/>
                <a:ea typeface="Arial"/>
                <a:cs typeface="Arial"/>
                <a:sym typeface="Arial"/>
              </a:rPr>
              <a:t>MARKETING</a:t>
            </a:r>
            <a:endParaRPr sz="1400" b="0" i="0" u="none" strike="noStrike" cap="none">
              <a:solidFill>
                <a:srgbClr val="000000"/>
              </a:solidFill>
              <a:latin typeface="Arial"/>
              <a:ea typeface="Arial"/>
              <a:cs typeface="Arial"/>
              <a:sym typeface="Arial"/>
            </a:endParaRPr>
          </a:p>
        </p:txBody>
      </p:sp>
      <p:sp>
        <p:nvSpPr>
          <p:cNvPr id="2062" name="Google Shape;2062;p301"/>
          <p:cNvSpPr txBox="1"/>
          <p:nvPr/>
        </p:nvSpPr>
        <p:spPr>
          <a:xfrm>
            <a:off x="2606979" y="4268458"/>
            <a:ext cx="8377500" cy="175428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Tập trung vào </a:t>
            </a:r>
            <a:r>
              <a:rPr lang="en-US" sz="1800" b="1" i="0" u="none" strike="noStrike" cap="none">
                <a:solidFill>
                  <a:srgbClr val="000000"/>
                </a:solidFill>
                <a:latin typeface="Arial"/>
                <a:ea typeface="Arial"/>
                <a:cs typeface="Arial"/>
                <a:sym typeface="Arial"/>
              </a:rPr>
              <a:t>cải tiến sản phẩm </a:t>
            </a:r>
            <a:r>
              <a:rPr lang="en-US" sz="1800" b="0" i="0" u="none" strike="noStrike" cap="none">
                <a:solidFill>
                  <a:srgbClr val="000000"/>
                </a:solidFill>
                <a:latin typeface="Arial"/>
                <a:ea typeface="Arial"/>
                <a:cs typeface="Arial"/>
                <a:sym typeface="Arial"/>
              </a:rPr>
              <a:t>tạo sự khác biệt với các sản phẩm hiện có</a:t>
            </a:r>
            <a:endParaRPr sz="18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Quan tâm đến việc truyền thông </a:t>
            </a:r>
            <a:r>
              <a:rPr lang="en-US" sz="1800" b="0" i="0" u="none" strike="noStrike" cap="none">
                <a:solidFill>
                  <a:srgbClr val="000000"/>
                </a:solidFill>
                <a:latin typeface="Arial"/>
                <a:ea typeface="Arial"/>
                <a:cs typeface="Arial"/>
                <a:sym typeface="Arial"/>
              </a:rPr>
              <a:t>sản phẩm để khách hàng chú ý</a:t>
            </a:r>
            <a:endParaRPr sz="18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Rộng rãi kênh phân phối </a:t>
            </a:r>
            <a:r>
              <a:rPr lang="en-US" sz="1800" b="0" i="0" u="none" strike="noStrike" cap="none">
                <a:solidFill>
                  <a:srgbClr val="000000"/>
                </a:solidFill>
                <a:latin typeface="Arial"/>
                <a:ea typeface="Arial"/>
                <a:cs typeface="Arial"/>
                <a:sym typeface="Arial"/>
              </a:rPr>
              <a:t>để khách hàng dễ tiếp cận</a:t>
            </a:r>
            <a:endParaRPr sz="1800" b="0" i="0" u="none" strike="noStrike" cap="none">
              <a:solidFill>
                <a:srgbClr val="000000"/>
              </a:solidFill>
              <a:latin typeface="Arial"/>
              <a:ea typeface="Arial"/>
              <a:cs typeface="Arial"/>
              <a:sym typeface="Arial"/>
            </a:endParaRPr>
          </a:p>
          <a:p>
            <a:pPr marL="400050" marR="0" lvl="0" indent="-171450" algn="l" rtl="0">
              <a:lnSpc>
                <a:spcPct val="150000"/>
              </a:lnSpc>
              <a:spcBef>
                <a:spcPts val="0"/>
              </a:spcBef>
              <a:spcAft>
                <a:spcPts val="0"/>
              </a:spcAft>
              <a:buClr>
                <a:schemeClr val="dk1"/>
              </a:buClr>
              <a:buSzPts val="1800"/>
              <a:buFont typeface="Arial"/>
              <a:buNone/>
            </a:pPr>
            <a:endParaRPr sz="1800" b="0" i="0" u="none" strike="noStrike" cap="none">
              <a:solidFill>
                <a:srgbClr val="3F4F3B"/>
              </a:solidFill>
              <a:latin typeface="Arial"/>
              <a:ea typeface="Arial"/>
              <a:cs typeface="Arial"/>
              <a:sym typeface="Arial"/>
            </a:endParaRPr>
          </a:p>
        </p:txBody>
      </p:sp>
      <p:sp>
        <p:nvSpPr>
          <p:cNvPr id="2064" name="Google Shape;2064;p301"/>
          <p:cNvSpPr txBox="1"/>
          <p:nvPr/>
        </p:nvSpPr>
        <p:spPr>
          <a:xfrm>
            <a:off x="406400" y="592112"/>
            <a:ext cx="689974" cy="16311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0"/>
              <a:buFont typeface="Calibri"/>
              <a:buNone/>
            </a:pPr>
            <a:r>
              <a:rPr lang="en-US" sz="10000" b="1"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50248028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068"/>
        <p:cNvGrpSpPr/>
        <p:nvPr/>
      </p:nvGrpSpPr>
      <p:grpSpPr>
        <a:xfrm>
          <a:off x="0" y="0"/>
          <a:ext cx="0" cy="0"/>
          <a:chOff x="0" y="0"/>
          <a:chExt cx="0" cy="0"/>
        </a:xfrm>
      </p:grpSpPr>
      <p:sp>
        <p:nvSpPr>
          <p:cNvPr id="2069" name="Google Shape;2069;p302"/>
          <p:cNvSpPr txBox="1">
            <a:spLocks noGrp="1"/>
          </p:cNvSpPr>
          <p:nvPr>
            <p:ph type="title"/>
          </p:nvPr>
        </p:nvSpPr>
        <p:spPr>
          <a:xfrm>
            <a:off x="182879" y="205542"/>
            <a:ext cx="10712918" cy="69365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vi-VN" sz="2800" b="1"/>
              <a:t>2.3</a:t>
            </a:r>
            <a:r>
              <a:rPr lang="en-US" sz="2800" b="1">
                <a:sym typeface="Arial"/>
              </a:rPr>
              <a:t>.</a:t>
            </a:r>
            <a:r>
              <a:rPr lang="vi-VN" sz="2800" b="1"/>
              <a:t>4</a:t>
            </a:r>
            <a:r>
              <a:rPr lang="en-US" sz="2800" b="1">
                <a:sym typeface="Arial"/>
              </a:rPr>
              <a:t>.</a:t>
            </a:r>
            <a:r>
              <a:rPr lang="vi-VN" sz="2800" b="1">
                <a:sym typeface="Arial"/>
              </a:rPr>
              <a:t>4</a:t>
            </a:r>
            <a:r>
              <a:rPr lang="en-US" sz="2800" b="1">
                <a:sym typeface="Arial"/>
              </a:rPr>
              <a:t> </a:t>
            </a:r>
            <a:r>
              <a:rPr lang="en-US" sz="2800" b="1" err="1">
                <a:sym typeface="Arial"/>
              </a:rPr>
              <a:t>Mua</a:t>
            </a:r>
            <a:r>
              <a:rPr lang="en-US" sz="2800" b="1">
                <a:sym typeface="Arial"/>
              </a:rPr>
              <a:t> </a:t>
            </a:r>
            <a:r>
              <a:rPr lang="en-US" sz="2800" b="1" err="1">
                <a:sym typeface="Arial"/>
              </a:rPr>
              <a:t>hàng</a:t>
            </a:r>
            <a:r>
              <a:rPr lang="en-US" sz="2800" b="1">
                <a:sym typeface="Arial"/>
              </a:rPr>
              <a:t> </a:t>
            </a:r>
            <a:r>
              <a:rPr lang="en-US" sz="2800" b="1" err="1">
                <a:sym typeface="Arial"/>
              </a:rPr>
              <a:t>hoàn</a:t>
            </a:r>
            <a:r>
              <a:rPr lang="en-US" sz="2800" b="1">
                <a:sym typeface="Arial"/>
              </a:rPr>
              <a:t> </a:t>
            </a:r>
            <a:r>
              <a:rPr lang="en-US" sz="2800" b="1" err="1">
                <a:sym typeface="Arial"/>
              </a:rPr>
              <a:t>toàn</a:t>
            </a:r>
            <a:r>
              <a:rPr lang="en-US" sz="2800" b="1">
                <a:sym typeface="Arial"/>
              </a:rPr>
              <a:t> </a:t>
            </a:r>
            <a:r>
              <a:rPr lang="en-US" sz="2800" b="1" err="1">
                <a:sym typeface="Arial"/>
              </a:rPr>
              <a:t>mới</a:t>
            </a:r>
            <a:r>
              <a:rPr lang="en-US" sz="2800" b="1">
                <a:sym typeface="Arial"/>
              </a:rPr>
              <a:t> </a:t>
            </a:r>
            <a:r>
              <a:rPr lang="en-US" sz="2800" b="1" err="1">
                <a:sym typeface="Arial"/>
              </a:rPr>
              <a:t>lạ</a:t>
            </a:r>
            <a:r>
              <a:rPr lang="en-US" sz="2800" b="1">
                <a:sym typeface="Arial"/>
              </a:rPr>
              <a:t> </a:t>
            </a:r>
            <a:r>
              <a:rPr lang="en-US" sz="2800" b="1" err="1">
                <a:sym typeface="Arial"/>
              </a:rPr>
              <a:t>với</a:t>
            </a:r>
            <a:r>
              <a:rPr lang="en-US" sz="2800" b="1">
                <a:sym typeface="Arial"/>
              </a:rPr>
              <a:t> </a:t>
            </a:r>
            <a:r>
              <a:rPr lang="en-US" sz="2800" b="1" err="1">
                <a:sym typeface="Arial"/>
              </a:rPr>
              <a:t>người</a:t>
            </a:r>
            <a:r>
              <a:rPr lang="en-US" sz="2800" b="1">
                <a:sym typeface="Arial"/>
              </a:rPr>
              <a:t> </a:t>
            </a:r>
            <a:r>
              <a:rPr lang="en-US" sz="2800" b="1" err="1">
                <a:sym typeface="Arial"/>
              </a:rPr>
              <a:t>mua</a:t>
            </a:r>
            <a:endParaRPr sz="2800"/>
          </a:p>
        </p:txBody>
      </p:sp>
      <p:sp>
        <p:nvSpPr>
          <p:cNvPr id="2070" name="Google Shape;2070;p302"/>
          <p:cNvSpPr/>
          <p:nvPr/>
        </p:nvSpPr>
        <p:spPr>
          <a:xfrm>
            <a:off x="182879" y="1310979"/>
            <a:ext cx="11492618" cy="5251724"/>
          </a:xfrm>
          <a:prstGeom prst="rect">
            <a:avLst/>
          </a:prstGeom>
          <a:solidFill>
            <a:srgbClr val="FFF2CC"/>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a:ea typeface="Arial"/>
              <a:cs typeface="Arial"/>
              <a:sym typeface="Arial"/>
            </a:endParaRPr>
          </a:p>
        </p:txBody>
      </p:sp>
      <p:sp>
        <p:nvSpPr>
          <p:cNvPr id="2071" name="Google Shape;2071;p302"/>
          <p:cNvSpPr txBox="1"/>
          <p:nvPr/>
        </p:nvSpPr>
        <p:spPr>
          <a:xfrm>
            <a:off x="1375698" y="1562298"/>
            <a:ext cx="110868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KHÔNG</a:t>
            </a:r>
            <a:endParaRPr sz="1400" b="0" i="0" u="none" strike="noStrike" cap="none">
              <a:solidFill>
                <a:srgbClr val="000000"/>
              </a:solidFill>
              <a:latin typeface="Arial"/>
              <a:ea typeface="Arial"/>
              <a:cs typeface="Arial"/>
              <a:sym typeface="Arial"/>
            </a:endParaRPr>
          </a:p>
        </p:txBody>
      </p:sp>
      <p:sp>
        <p:nvSpPr>
          <p:cNvPr id="2072" name="Google Shape;2072;p302"/>
          <p:cNvSpPr txBox="1"/>
          <p:nvPr/>
        </p:nvSpPr>
        <p:spPr>
          <a:xfrm>
            <a:off x="2606979" y="2629301"/>
            <a:ext cx="995424"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C0C0C"/>
              </a:buClr>
              <a:buSzPts val="1800"/>
              <a:buFont typeface="Arial"/>
              <a:buNone/>
            </a:pPr>
            <a:r>
              <a:rPr lang="en-US" sz="1800" b="1" i="0" u="none" strike="noStrike" cap="none">
                <a:solidFill>
                  <a:srgbClr val="0C0C0C"/>
                </a:solidFill>
                <a:latin typeface="Arial"/>
                <a:ea typeface="Arial"/>
                <a:cs typeface="Arial"/>
                <a:sym typeface="Arial"/>
              </a:rPr>
              <a:t>ĐẶC ĐIỂM HÀNH VI</a:t>
            </a:r>
            <a:endParaRPr sz="1400" b="0" i="0" u="none" strike="noStrike" cap="none">
              <a:solidFill>
                <a:srgbClr val="000000"/>
              </a:solidFill>
              <a:latin typeface="Arial"/>
              <a:ea typeface="Arial"/>
              <a:cs typeface="Arial"/>
              <a:sym typeface="Arial"/>
            </a:endParaRPr>
          </a:p>
        </p:txBody>
      </p:sp>
      <p:sp>
        <p:nvSpPr>
          <p:cNvPr id="2073" name="Google Shape;2073;p302"/>
          <p:cNvSpPr txBox="1"/>
          <p:nvPr/>
        </p:nvSpPr>
        <p:spPr>
          <a:xfrm>
            <a:off x="856213" y="4926371"/>
            <a:ext cx="162817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C0C0C"/>
              </a:buClr>
              <a:buSzPts val="1800"/>
              <a:buFont typeface="Arial"/>
              <a:buNone/>
            </a:pPr>
            <a:r>
              <a:rPr lang="en-US" sz="1800" b="1" i="0" u="none" strike="noStrike" cap="none">
                <a:solidFill>
                  <a:srgbClr val="0C0C0C"/>
                </a:solidFill>
                <a:latin typeface="Arial"/>
                <a:ea typeface="Arial"/>
                <a:cs typeface="Arial"/>
                <a:sym typeface="Arial"/>
              </a:rPr>
              <a:t>CHIẾN LƯỢC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C0C0C"/>
              </a:buClr>
              <a:buSzPts val="1800"/>
              <a:buFont typeface="Arial"/>
              <a:buNone/>
            </a:pPr>
            <a:r>
              <a:rPr lang="en-US" sz="1800" b="1" i="0" u="none" strike="noStrike" cap="none">
                <a:solidFill>
                  <a:srgbClr val="0C0C0C"/>
                </a:solidFill>
                <a:latin typeface="Arial"/>
                <a:ea typeface="Arial"/>
                <a:cs typeface="Arial"/>
                <a:sym typeface="Arial"/>
              </a:rPr>
              <a:t>MARKETING</a:t>
            </a:r>
            <a:endParaRPr sz="1400" b="0" i="0" u="none" strike="noStrike" cap="none">
              <a:solidFill>
                <a:srgbClr val="000000"/>
              </a:solidFill>
              <a:latin typeface="Arial"/>
              <a:ea typeface="Arial"/>
              <a:cs typeface="Arial"/>
              <a:sym typeface="Arial"/>
            </a:endParaRPr>
          </a:p>
        </p:txBody>
      </p:sp>
      <p:sp>
        <p:nvSpPr>
          <p:cNvPr id="2074" name="Google Shape;2074;p302"/>
          <p:cNvSpPr txBox="1"/>
          <p:nvPr/>
        </p:nvSpPr>
        <p:spPr>
          <a:xfrm>
            <a:off x="2606979" y="1383635"/>
            <a:ext cx="3904735" cy="92328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Có </a:t>
            </a:r>
            <a:r>
              <a:rPr lang="en-US" sz="1800" b="1" i="0" u="none" strike="noStrike" cap="none">
                <a:solidFill>
                  <a:srgbClr val="000000"/>
                </a:solidFill>
                <a:latin typeface="Arial"/>
                <a:ea typeface="Arial"/>
                <a:cs typeface="Arial"/>
                <a:sym typeface="Arial"/>
              </a:rPr>
              <a:t>kiến thức</a:t>
            </a:r>
            <a:r>
              <a:rPr lang="en-US" sz="1800" b="0" i="0" u="none" strike="noStrike" cap="none">
                <a:solidFill>
                  <a:srgbClr val="000000"/>
                </a:solidFill>
                <a:latin typeface="Arial"/>
                <a:ea typeface="Arial"/>
                <a:cs typeface="Arial"/>
                <a:sym typeface="Arial"/>
              </a:rPr>
              <a:t> về sản phẩm</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Kinh nghiệm </a:t>
            </a:r>
            <a:r>
              <a:rPr lang="en-US" sz="1800" b="0" i="0" u="none" strike="noStrike" cap="none">
                <a:solidFill>
                  <a:srgbClr val="000000"/>
                </a:solidFill>
                <a:latin typeface="Arial"/>
                <a:ea typeface="Arial"/>
                <a:cs typeface="Arial"/>
                <a:sym typeface="Arial"/>
              </a:rPr>
              <a:t>mua sắm trước đó</a:t>
            </a:r>
            <a:endParaRPr sz="1400" b="0" i="0" u="none" strike="noStrike" cap="none">
              <a:solidFill>
                <a:srgbClr val="000000"/>
              </a:solidFill>
              <a:latin typeface="Arial"/>
              <a:ea typeface="Arial"/>
              <a:cs typeface="Arial"/>
              <a:sym typeface="Arial"/>
            </a:endParaRPr>
          </a:p>
        </p:txBody>
      </p:sp>
      <p:sp>
        <p:nvSpPr>
          <p:cNvPr id="2075" name="Google Shape;2075;p302"/>
          <p:cNvSpPr txBox="1"/>
          <p:nvPr/>
        </p:nvSpPr>
        <p:spPr>
          <a:xfrm>
            <a:off x="3602403" y="2439359"/>
            <a:ext cx="7901738" cy="216978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Hành vi mua phức tạp</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Tìm kiếm các thông tin </a:t>
            </a:r>
            <a:r>
              <a:rPr lang="en-US" sz="1800" b="0" i="0" u="none" strike="noStrike" cap="none">
                <a:solidFill>
                  <a:srgbClr val="000000"/>
                </a:solidFill>
                <a:latin typeface="Arial"/>
                <a:ea typeface="Arial"/>
                <a:cs typeface="Arial"/>
                <a:sym typeface="Arial"/>
              </a:rPr>
              <a:t>về thuộc tính, đặc điểm, giá cả,..sau đó mới đánh giá và quyết định mua </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KH tìm kiếm thông tin để có kiến thức về sản phẩm và </a:t>
            </a:r>
            <a:r>
              <a:rPr lang="en-US" sz="1800" b="1" i="0" u="none" strike="noStrike" cap="none">
                <a:solidFill>
                  <a:srgbClr val="000000"/>
                </a:solidFill>
                <a:latin typeface="Arial"/>
                <a:ea typeface="Arial"/>
                <a:cs typeface="Arial"/>
                <a:sym typeface="Arial"/>
              </a:rPr>
              <a:t>xây dựng niềm tin</a:t>
            </a:r>
            <a:r>
              <a:rPr lang="en-US" sz="1800" b="0" i="0" u="none" strike="noStrike" cap="none">
                <a:solidFill>
                  <a:srgbClr val="000000"/>
                </a:solidFill>
                <a:latin typeface="Arial"/>
                <a:ea typeface="Arial"/>
                <a:cs typeface="Arial"/>
                <a:sym typeface="Arial"/>
              </a:rPr>
              <a:t> từ đó hình thành thái độ, và tiến tới lựa chọn sản phẩm cần mua </a:t>
            </a:r>
            <a:endParaRPr sz="1400" b="0" i="0" u="none" strike="noStrike" cap="none">
              <a:solidFill>
                <a:srgbClr val="000000"/>
              </a:solidFill>
              <a:latin typeface="Arial"/>
              <a:ea typeface="Arial"/>
              <a:cs typeface="Arial"/>
              <a:sym typeface="Arial"/>
            </a:endParaRPr>
          </a:p>
        </p:txBody>
      </p:sp>
      <p:sp>
        <p:nvSpPr>
          <p:cNvPr id="2076" name="Google Shape;2076;p302"/>
          <p:cNvSpPr txBox="1"/>
          <p:nvPr/>
        </p:nvSpPr>
        <p:spPr>
          <a:xfrm>
            <a:off x="2665877" y="4655174"/>
            <a:ext cx="7691673" cy="175428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Tiếp cận khách hàng </a:t>
            </a:r>
            <a:r>
              <a:rPr lang="en-US" sz="1800" b="0" i="0" u="none" strike="noStrike" cap="none">
                <a:solidFill>
                  <a:srgbClr val="000000"/>
                </a:solidFill>
                <a:latin typeface="Arial"/>
                <a:ea typeface="Arial"/>
                <a:cs typeface="Arial"/>
                <a:sym typeface="Arial"/>
              </a:rPr>
              <a:t>qua nhiều kênh truyền thông</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Tìm hiểu KH một cách cẩn thận </a:t>
            </a:r>
            <a:r>
              <a:rPr lang="en-US" sz="1800" b="0" i="0" u="none" strike="noStrike" cap="none">
                <a:solidFill>
                  <a:srgbClr val="000000"/>
                </a:solidFill>
                <a:latin typeface="Arial"/>
                <a:ea typeface="Arial"/>
                <a:cs typeface="Arial"/>
                <a:sym typeface="Arial"/>
              </a:rPr>
              <a:t>để đánh giá niềm tin, thái độ và hành vi của họ</a:t>
            </a:r>
            <a:endParaRPr sz="18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Thông tin về sản phẩm </a:t>
            </a:r>
            <a:r>
              <a:rPr lang="en-US" sz="1800" b="0" i="0" u="none" strike="noStrike" cap="none">
                <a:solidFill>
                  <a:srgbClr val="000000"/>
                </a:solidFill>
                <a:latin typeface="Arial"/>
                <a:ea typeface="Arial"/>
                <a:cs typeface="Arial"/>
                <a:sym typeface="Arial"/>
              </a:rPr>
              <a:t>một cách dễ hiểu và dễ nắm bắt </a:t>
            </a:r>
            <a:endParaRPr sz="1800" b="0" i="0" u="none" strike="noStrike" cap="none">
              <a:solidFill>
                <a:srgbClr val="000000"/>
              </a:solidFill>
              <a:latin typeface="Arial"/>
              <a:ea typeface="Arial"/>
              <a:cs typeface="Arial"/>
              <a:sym typeface="Arial"/>
            </a:endParaRPr>
          </a:p>
        </p:txBody>
      </p:sp>
      <p:sp>
        <p:nvSpPr>
          <p:cNvPr id="2078" name="Google Shape;2078;p302"/>
          <p:cNvSpPr txBox="1"/>
          <p:nvPr/>
        </p:nvSpPr>
        <p:spPr>
          <a:xfrm>
            <a:off x="407100" y="671851"/>
            <a:ext cx="846003" cy="16312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0"/>
              <a:buFont typeface="Calibri"/>
              <a:buNone/>
            </a:pPr>
            <a:r>
              <a:rPr lang="en-US" sz="10000" b="1" i="0" u="none" strike="noStrike" cap="none">
                <a:solidFill>
                  <a:srgbClr val="0000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58557085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082"/>
        <p:cNvGrpSpPr/>
        <p:nvPr/>
      </p:nvGrpSpPr>
      <p:grpSpPr>
        <a:xfrm>
          <a:off x="0" y="0"/>
          <a:ext cx="0" cy="0"/>
          <a:chOff x="0" y="0"/>
          <a:chExt cx="0" cy="0"/>
        </a:xfrm>
      </p:grpSpPr>
      <p:sp>
        <p:nvSpPr>
          <p:cNvPr id="2083" name="Google Shape;2083;p303"/>
          <p:cNvSpPr txBox="1">
            <a:spLocks noGrp="1"/>
          </p:cNvSpPr>
          <p:nvPr>
            <p:ph type="title"/>
          </p:nvPr>
        </p:nvSpPr>
        <p:spPr>
          <a:xfrm>
            <a:off x="561029" y="326505"/>
            <a:ext cx="10515600" cy="8705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vi-VN" sz="2800" b="1"/>
              <a:t>2.3.4.5</a:t>
            </a:r>
            <a:r>
              <a:rPr lang="en-US" sz="3600" b="1">
                <a:latin typeface="Arial"/>
                <a:ea typeface="Arial"/>
                <a:cs typeface="Arial"/>
                <a:sym typeface="Arial"/>
              </a:rPr>
              <a:t>. </a:t>
            </a:r>
            <a:r>
              <a:rPr lang="en-US" sz="2800" b="1" err="1">
                <a:latin typeface="Arial"/>
                <a:ea typeface="Arial"/>
                <a:cs typeface="Arial"/>
                <a:sym typeface="Arial"/>
              </a:rPr>
              <a:t>Mua</a:t>
            </a:r>
            <a:r>
              <a:rPr lang="en-US" sz="2800" b="1">
                <a:latin typeface="Arial"/>
                <a:ea typeface="Arial"/>
                <a:cs typeface="Arial"/>
                <a:sym typeface="Arial"/>
              </a:rPr>
              <a:t> </a:t>
            </a:r>
            <a:r>
              <a:rPr lang="en-US" sz="2800" b="1" err="1">
                <a:latin typeface="Arial"/>
                <a:ea typeface="Arial"/>
                <a:cs typeface="Arial"/>
                <a:sym typeface="Arial"/>
              </a:rPr>
              <a:t>hàng</a:t>
            </a:r>
            <a:r>
              <a:rPr lang="en-US" sz="2800" b="1">
                <a:latin typeface="Arial"/>
                <a:ea typeface="Arial"/>
                <a:cs typeface="Arial"/>
                <a:sym typeface="Arial"/>
              </a:rPr>
              <a:t> </a:t>
            </a:r>
            <a:r>
              <a:rPr lang="en-US" sz="2800" b="1" err="1">
                <a:latin typeface="Arial"/>
                <a:ea typeface="Arial"/>
                <a:cs typeface="Arial"/>
                <a:sym typeface="Arial"/>
              </a:rPr>
              <a:t>tình</a:t>
            </a:r>
            <a:r>
              <a:rPr lang="en-US" sz="2800" b="1">
                <a:latin typeface="Arial"/>
                <a:ea typeface="Arial"/>
                <a:cs typeface="Arial"/>
                <a:sym typeface="Arial"/>
              </a:rPr>
              <a:t> </a:t>
            </a:r>
            <a:r>
              <a:rPr lang="en-US" sz="2800" b="1" err="1">
                <a:latin typeface="Arial"/>
                <a:ea typeface="Arial"/>
                <a:cs typeface="Arial"/>
                <a:sym typeface="Arial"/>
              </a:rPr>
              <a:t>cờ</a:t>
            </a:r>
            <a:endParaRPr sz="2800"/>
          </a:p>
        </p:txBody>
      </p:sp>
      <p:sp>
        <p:nvSpPr>
          <p:cNvPr id="2084" name="Google Shape;2084;p303"/>
          <p:cNvSpPr txBox="1"/>
          <p:nvPr/>
        </p:nvSpPr>
        <p:spPr>
          <a:xfrm>
            <a:off x="116732" y="1632289"/>
            <a:ext cx="11664451" cy="369291"/>
          </a:xfrm>
          <a:prstGeom prst="rect">
            <a:avLst/>
          </a:prstGeom>
          <a:solidFill>
            <a:srgbClr val="DDEAF6"/>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2085" name="Google Shape;2085;p303"/>
          <p:cNvSpPr txBox="1">
            <a:spLocks noGrp="1"/>
          </p:cNvSpPr>
          <p:nvPr>
            <p:ph type="body" idx="1"/>
          </p:nvPr>
        </p:nvSpPr>
        <p:spPr>
          <a:xfrm>
            <a:off x="1003980" y="2323024"/>
            <a:ext cx="1216454" cy="341632"/>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dk1"/>
              </a:buClr>
              <a:buSzPts val="1800"/>
              <a:buNone/>
            </a:pPr>
            <a:r>
              <a:rPr lang="en-US" sz="1800" b="1">
                <a:latin typeface="Arial"/>
                <a:ea typeface="Arial"/>
                <a:cs typeface="Arial"/>
                <a:sym typeface="Arial"/>
              </a:rPr>
              <a:t>KHÔNG</a:t>
            </a:r>
            <a:endParaRPr/>
          </a:p>
        </p:txBody>
      </p:sp>
      <p:sp>
        <p:nvSpPr>
          <p:cNvPr id="2086" name="Google Shape;2086;p303"/>
          <p:cNvSpPr txBox="1"/>
          <p:nvPr/>
        </p:nvSpPr>
        <p:spPr>
          <a:xfrm>
            <a:off x="2220434" y="2043787"/>
            <a:ext cx="5268923" cy="92328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Có nhu cầu </a:t>
            </a:r>
            <a:r>
              <a:rPr lang="en-US" sz="1800" b="0" i="0" u="none" strike="noStrike" cap="none">
                <a:solidFill>
                  <a:srgbClr val="000000"/>
                </a:solidFill>
                <a:latin typeface="Arial"/>
                <a:ea typeface="Arial"/>
                <a:cs typeface="Arial"/>
                <a:sym typeface="Arial"/>
              </a:rPr>
              <a:t>trước khi mua</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Tìm hiểu thông tin </a:t>
            </a:r>
            <a:r>
              <a:rPr lang="en-US" sz="1800" b="0" i="0" u="none" strike="noStrike" cap="none">
                <a:solidFill>
                  <a:srgbClr val="000000"/>
                </a:solidFill>
                <a:latin typeface="Arial"/>
                <a:ea typeface="Arial"/>
                <a:cs typeface="Arial"/>
                <a:sym typeface="Arial"/>
              </a:rPr>
              <a:t>trước khi mua</a:t>
            </a:r>
            <a:endParaRPr sz="1800" b="0" i="0" u="none" strike="noStrike" cap="none">
              <a:solidFill>
                <a:srgbClr val="000000"/>
              </a:solidFill>
              <a:latin typeface="Arial"/>
              <a:ea typeface="Arial"/>
              <a:cs typeface="Arial"/>
              <a:sym typeface="Arial"/>
            </a:endParaRPr>
          </a:p>
        </p:txBody>
      </p:sp>
      <p:sp>
        <p:nvSpPr>
          <p:cNvPr id="2087" name="Google Shape;2087;p303"/>
          <p:cNvSpPr txBox="1"/>
          <p:nvPr/>
        </p:nvSpPr>
        <p:spPr>
          <a:xfrm>
            <a:off x="2282558" y="3400246"/>
            <a:ext cx="995424"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C0C0C"/>
              </a:buClr>
              <a:buSzPts val="1800"/>
              <a:buFont typeface="Arial"/>
              <a:buNone/>
            </a:pPr>
            <a:r>
              <a:rPr lang="en-US" sz="1800" b="1" i="0" u="none" strike="noStrike" cap="none">
                <a:solidFill>
                  <a:srgbClr val="0C0C0C"/>
                </a:solidFill>
                <a:latin typeface="Arial"/>
                <a:ea typeface="Arial"/>
                <a:cs typeface="Arial"/>
                <a:sym typeface="Arial"/>
              </a:rPr>
              <a:t>ĐẶC ĐIỂM HÀNH VI</a:t>
            </a:r>
            <a:endParaRPr sz="1400" b="0" i="0" u="none" strike="noStrike" cap="none">
              <a:solidFill>
                <a:srgbClr val="000000"/>
              </a:solidFill>
              <a:latin typeface="Arial"/>
              <a:ea typeface="Arial"/>
              <a:cs typeface="Arial"/>
              <a:sym typeface="Arial"/>
            </a:endParaRPr>
          </a:p>
        </p:txBody>
      </p:sp>
      <p:sp>
        <p:nvSpPr>
          <p:cNvPr id="2088" name="Google Shape;2088;p303"/>
          <p:cNvSpPr txBox="1"/>
          <p:nvPr/>
        </p:nvSpPr>
        <p:spPr>
          <a:xfrm>
            <a:off x="3174891" y="3235005"/>
            <a:ext cx="7901738" cy="133878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Hành vi mua hàng </a:t>
            </a:r>
            <a:r>
              <a:rPr lang="en-US" sz="1800" b="1" i="0" u="none" strike="noStrike" cap="none">
                <a:solidFill>
                  <a:srgbClr val="000000"/>
                </a:solidFill>
                <a:latin typeface="Arial"/>
                <a:ea typeface="Arial"/>
                <a:cs typeface="Arial"/>
                <a:sym typeface="Arial"/>
              </a:rPr>
              <a:t>dựa vào cảm xúc</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Bị cuốn hút </a:t>
            </a:r>
            <a:r>
              <a:rPr lang="en-US" sz="1800" b="0" i="0" u="none" strike="noStrike" cap="none">
                <a:solidFill>
                  <a:srgbClr val="000000"/>
                </a:solidFill>
                <a:latin typeface="Arial"/>
                <a:ea typeface="Arial"/>
                <a:cs typeface="Arial"/>
                <a:sym typeface="Arial"/>
              </a:rPr>
              <a:t>bởi vẻ </a:t>
            </a:r>
            <a:r>
              <a:rPr lang="en-US" sz="1800" b="1" i="0" u="none" strike="noStrike" cap="none">
                <a:solidFill>
                  <a:srgbClr val="000000"/>
                </a:solidFill>
                <a:latin typeface="Arial"/>
                <a:ea typeface="Arial"/>
                <a:cs typeface="Arial"/>
                <a:sym typeface="Arial"/>
              </a:rPr>
              <a:t>bề ngoài của sản phẩm</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Nhu cầu mua không rõ rệt</a:t>
            </a:r>
            <a:endParaRPr sz="1400" b="0" i="0" u="none" strike="noStrike" cap="none">
              <a:solidFill>
                <a:srgbClr val="000000"/>
              </a:solidFill>
              <a:latin typeface="Arial"/>
              <a:ea typeface="Arial"/>
              <a:cs typeface="Arial"/>
              <a:sym typeface="Arial"/>
            </a:endParaRPr>
          </a:p>
        </p:txBody>
      </p:sp>
      <p:sp>
        <p:nvSpPr>
          <p:cNvPr id="2089" name="Google Shape;2089;p303"/>
          <p:cNvSpPr txBox="1"/>
          <p:nvPr/>
        </p:nvSpPr>
        <p:spPr>
          <a:xfrm>
            <a:off x="1022390" y="4765816"/>
            <a:ext cx="162817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C0C0C"/>
              </a:buClr>
              <a:buSzPts val="1800"/>
              <a:buFont typeface="Arial"/>
              <a:buNone/>
            </a:pPr>
            <a:r>
              <a:rPr lang="en-US" sz="1800" b="1" i="0" u="none" strike="noStrike" cap="none">
                <a:solidFill>
                  <a:srgbClr val="0C0C0C"/>
                </a:solidFill>
                <a:latin typeface="Arial"/>
                <a:ea typeface="Arial"/>
                <a:cs typeface="Arial"/>
                <a:sym typeface="Arial"/>
              </a:rPr>
              <a:t>CHIẾN LƯỢC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C0C0C"/>
              </a:buClr>
              <a:buSzPts val="1800"/>
              <a:buFont typeface="Arial"/>
              <a:buNone/>
            </a:pPr>
            <a:r>
              <a:rPr lang="en-US" sz="1800" b="1" i="0" u="none" strike="noStrike" cap="none">
                <a:solidFill>
                  <a:srgbClr val="0C0C0C"/>
                </a:solidFill>
                <a:latin typeface="Arial"/>
                <a:ea typeface="Arial"/>
                <a:cs typeface="Arial"/>
                <a:sym typeface="Arial"/>
              </a:rPr>
              <a:t>MARKETING</a:t>
            </a:r>
            <a:endParaRPr sz="1400" b="0" i="0" u="none" strike="noStrike" cap="none">
              <a:solidFill>
                <a:srgbClr val="000000"/>
              </a:solidFill>
              <a:latin typeface="Arial"/>
              <a:ea typeface="Arial"/>
              <a:cs typeface="Arial"/>
              <a:sym typeface="Arial"/>
            </a:endParaRPr>
          </a:p>
        </p:txBody>
      </p:sp>
      <p:sp>
        <p:nvSpPr>
          <p:cNvPr id="2090" name="Google Shape;2090;p303"/>
          <p:cNvSpPr txBox="1"/>
          <p:nvPr/>
        </p:nvSpPr>
        <p:spPr>
          <a:xfrm>
            <a:off x="3260372" y="4997188"/>
            <a:ext cx="8075818" cy="92328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Tạo cảm xúc tích cực </a:t>
            </a:r>
            <a:r>
              <a:rPr lang="en-US" sz="1800" b="0" i="0" u="none" strike="noStrike" cap="none">
                <a:solidFill>
                  <a:srgbClr val="000000"/>
                </a:solidFill>
                <a:latin typeface="Arial"/>
                <a:ea typeface="Arial"/>
                <a:cs typeface="Arial"/>
                <a:sym typeface="Arial"/>
              </a:rPr>
              <a:t>cho KH bằng việc bài trí, đa dạng, màu sắc bao bì</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Xây dựng chiến lược </a:t>
            </a:r>
            <a:r>
              <a:rPr lang="en-US" sz="1800" b="1" i="0" u="none" strike="noStrike" cap="none">
                <a:solidFill>
                  <a:srgbClr val="000000"/>
                </a:solidFill>
                <a:latin typeface="Arial"/>
                <a:ea typeface="Arial"/>
                <a:cs typeface="Arial"/>
                <a:sym typeface="Arial"/>
              </a:rPr>
              <a:t>Marketing tại điểm bán</a:t>
            </a:r>
            <a:endParaRPr sz="1400" b="0" i="0" u="none" strike="noStrike" cap="none">
              <a:solidFill>
                <a:srgbClr val="000000"/>
              </a:solidFill>
              <a:latin typeface="Arial"/>
              <a:ea typeface="Arial"/>
              <a:cs typeface="Arial"/>
              <a:sym typeface="Arial"/>
            </a:endParaRPr>
          </a:p>
        </p:txBody>
      </p:sp>
      <p:sp>
        <p:nvSpPr>
          <p:cNvPr id="2092" name="Google Shape;2092;p303"/>
          <p:cNvSpPr txBox="1"/>
          <p:nvPr/>
        </p:nvSpPr>
        <p:spPr>
          <a:xfrm>
            <a:off x="250371" y="805597"/>
            <a:ext cx="846003" cy="16312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0"/>
              <a:buFont typeface="Calibri"/>
              <a:buNone/>
            </a:pPr>
            <a:r>
              <a:rPr lang="en-US" sz="10000" b="1"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63845565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066" y="289764"/>
            <a:ext cx="10515600" cy="1325563"/>
          </a:xfrm>
        </p:spPr>
        <p:txBody>
          <a:bodyPr>
            <a:normAutofit/>
          </a:bodyPr>
          <a:lstStyle/>
          <a:p>
            <a:r>
              <a:rPr lang="vi-VN" sz="3200" b="1">
                <a:solidFill>
                  <a:schemeClr val="tx1"/>
                </a:solidFill>
              </a:rPr>
              <a:t>Tóm tắt chương</a:t>
            </a:r>
            <a:endParaRPr lang="en-US" sz="3200" b="1">
              <a:solidFill>
                <a:schemeClr val="tx1"/>
              </a:solidFill>
            </a:endParaRPr>
          </a:p>
        </p:txBody>
      </p:sp>
      <p:sp>
        <p:nvSpPr>
          <p:cNvPr id="7" name="TextBox 6"/>
          <p:cNvSpPr txBox="1"/>
          <p:nvPr/>
        </p:nvSpPr>
        <p:spPr>
          <a:xfrm>
            <a:off x="584200" y="1396020"/>
            <a:ext cx="11194090" cy="461665"/>
          </a:xfrm>
          <a:prstGeom prst="rect">
            <a:avLst/>
          </a:prstGeom>
          <a:noFill/>
        </p:spPr>
        <p:txBody>
          <a:bodyPr wrap="none" anchor="t">
            <a:spAutoFit/>
          </a:bodyPr>
          <a:lstStyle/>
          <a:p>
            <a:pPr algn="l"/>
            <a:r>
              <a:rPr sz="2400" b="0">
                <a:solidFill>
                  <a:schemeClr val="tx1"/>
                </a:solidFill>
                <a:latin typeface="+mj-lt"/>
              </a:rPr>
              <a:t>• </a:t>
            </a:r>
            <a:r>
              <a:rPr sz="2400" b="0" err="1">
                <a:solidFill>
                  <a:schemeClr val="tx1"/>
                </a:solidFill>
                <a:latin typeface="+mj-lt"/>
              </a:rPr>
              <a:t>Văn</a:t>
            </a:r>
            <a:r>
              <a:rPr sz="2400" b="0">
                <a:solidFill>
                  <a:schemeClr val="tx1"/>
                </a:solidFill>
                <a:latin typeface="+mj-lt"/>
              </a:rPr>
              <a:t> </a:t>
            </a:r>
            <a:r>
              <a:rPr sz="2400" b="0" err="1">
                <a:solidFill>
                  <a:schemeClr val="tx1"/>
                </a:solidFill>
                <a:latin typeface="+mj-lt"/>
              </a:rPr>
              <a:t>hóa</a:t>
            </a:r>
            <a:r>
              <a:rPr sz="2400" b="0">
                <a:solidFill>
                  <a:schemeClr val="tx1"/>
                </a:solidFill>
                <a:latin typeface="+mj-lt"/>
              </a:rPr>
              <a:t> </a:t>
            </a:r>
            <a:r>
              <a:rPr sz="2400" b="0" err="1">
                <a:solidFill>
                  <a:schemeClr val="tx1"/>
                </a:solidFill>
                <a:latin typeface="+mj-lt"/>
              </a:rPr>
              <a:t>tạo</a:t>
            </a:r>
            <a:r>
              <a:rPr sz="2400" b="0">
                <a:solidFill>
                  <a:schemeClr val="tx1"/>
                </a:solidFill>
                <a:latin typeface="+mj-lt"/>
              </a:rPr>
              <a:t> </a:t>
            </a:r>
            <a:r>
              <a:rPr sz="2400" b="0" err="1">
                <a:solidFill>
                  <a:schemeClr val="tx1"/>
                </a:solidFill>
                <a:latin typeface="+mj-lt"/>
              </a:rPr>
              <a:t>ra</a:t>
            </a:r>
            <a:r>
              <a:rPr sz="2400" b="0">
                <a:solidFill>
                  <a:schemeClr val="tx1"/>
                </a:solidFill>
                <a:latin typeface="+mj-lt"/>
              </a:rPr>
              <a:t> </a:t>
            </a:r>
            <a:r>
              <a:rPr sz="2400" b="0" err="1">
                <a:solidFill>
                  <a:schemeClr val="tx1"/>
                </a:solidFill>
                <a:latin typeface="+mj-lt"/>
              </a:rPr>
              <a:t>hệ</a:t>
            </a:r>
            <a:r>
              <a:rPr sz="2400" b="0">
                <a:solidFill>
                  <a:schemeClr val="tx1"/>
                </a:solidFill>
                <a:latin typeface="+mj-lt"/>
              </a:rPr>
              <a:t> </a:t>
            </a:r>
            <a:r>
              <a:rPr sz="2400" b="0" err="1">
                <a:solidFill>
                  <a:schemeClr val="tx1"/>
                </a:solidFill>
                <a:latin typeface="+mj-lt"/>
              </a:rPr>
              <a:t>thống</a:t>
            </a:r>
            <a:r>
              <a:rPr sz="2400" b="0">
                <a:solidFill>
                  <a:schemeClr val="tx1"/>
                </a:solidFill>
                <a:latin typeface="+mj-lt"/>
              </a:rPr>
              <a:t> </a:t>
            </a:r>
            <a:r>
              <a:rPr sz="2400" b="0" err="1">
                <a:solidFill>
                  <a:schemeClr val="tx1"/>
                </a:solidFill>
                <a:latin typeface="+mj-lt"/>
              </a:rPr>
              <a:t>giá</a:t>
            </a:r>
            <a:r>
              <a:rPr sz="2400" b="0">
                <a:solidFill>
                  <a:schemeClr val="tx1"/>
                </a:solidFill>
                <a:latin typeface="+mj-lt"/>
              </a:rPr>
              <a:t> </a:t>
            </a:r>
            <a:r>
              <a:rPr sz="2400" b="0" err="1">
                <a:solidFill>
                  <a:schemeClr val="tx1"/>
                </a:solidFill>
                <a:latin typeface="+mj-lt"/>
              </a:rPr>
              <a:t>trị</a:t>
            </a:r>
            <a:r>
              <a:rPr sz="2400" b="0">
                <a:solidFill>
                  <a:schemeClr val="tx1"/>
                </a:solidFill>
                <a:latin typeface="+mj-lt"/>
              </a:rPr>
              <a:t>, </a:t>
            </a:r>
            <a:r>
              <a:rPr sz="2400" b="0" err="1">
                <a:solidFill>
                  <a:schemeClr val="tx1"/>
                </a:solidFill>
                <a:latin typeface="+mj-lt"/>
              </a:rPr>
              <a:t>chuẩn</a:t>
            </a:r>
            <a:r>
              <a:rPr sz="2400" b="0">
                <a:solidFill>
                  <a:schemeClr val="tx1"/>
                </a:solidFill>
                <a:latin typeface="+mj-lt"/>
              </a:rPr>
              <a:t> </a:t>
            </a:r>
            <a:r>
              <a:rPr sz="2400" b="0" err="1">
                <a:solidFill>
                  <a:schemeClr val="tx1"/>
                </a:solidFill>
                <a:latin typeface="+mj-lt"/>
              </a:rPr>
              <a:t>mực</a:t>
            </a:r>
            <a:r>
              <a:rPr sz="2400" b="0">
                <a:solidFill>
                  <a:schemeClr val="tx1"/>
                </a:solidFill>
                <a:latin typeface="+mj-lt"/>
              </a:rPr>
              <a:t> </a:t>
            </a:r>
            <a:r>
              <a:rPr sz="2400" b="0" err="1">
                <a:solidFill>
                  <a:schemeClr val="tx1"/>
                </a:solidFill>
                <a:latin typeface="+mj-lt"/>
              </a:rPr>
              <a:t>và</a:t>
            </a:r>
            <a:r>
              <a:rPr sz="2400" b="0">
                <a:solidFill>
                  <a:schemeClr val="tx1"/>
                </a:solidFill>
                <a:latin typeface="+mj-lt"/>
              </a:rPr>
              <a:t> </a:t>
            </a:r>
            <a:r>
              <a:rPr sz="2400" b="0" err="1">
                <a:solidFill>
                  <a:schemeClr val="tx1"/>
                </a:solidFill>
                <a:latin typeface="+mj-lt"/>
              </a:rPr>
              <a:t>phong</a:t>
            </a:r>
            <a:r>
              <a:rPr sz="2400" b="0">
                <a:solidFill>
                  <a:schemeClr val="tx1"/>
                </a:solidFill>
                <a:latin typeface="+mj-lt"/>
              </a:rPr>
              <a:t> </a:t>
            </a:r>
            <a:r>
              <a:rPr sz="2400" b="0" err="1">
                <a:solidFill>
                  <a:schemeClr val="tx1"/>
                </a:solidFill>
                <a:latin typeface="+mj-lt"/>
              </a:rPr>
              <a:t>tục</a:t>
            </a:r>
            <a:r>
              <a:rPr sz="2400" b="0">
                <a:solidFill>
                  <a:schemeClr val="tx1"/>
                </a:solidFill>
                <a:latin typeface="+mj-lt"/>
              </a:rPr>
              <a:t> </a:t>
            </a:r>
            <a:r>
              <a:rPr sz="2400" b="0" err="1">
                <a:solidFill>
                  <a:schemeClr val="tx1"/>
                </a:solidFill>
                <a:latin typeface="+mj-lt"/>
              </a:rPr>
              <a:t>định</a:t>
            </a:r>
            <a:r>
              <a:rPr sz="2400" b="0">
                <a:solidFill>
                  <a:schemeClr val="tx1"/>
                </a:solidFill>
                <a:latin typeface="+mj-lt"/>
              </a:rPr>
              <a:t> </a:t>
            </a:r>
            <a:r>
              <a:rPr sz="2400" b="0" err="1">
                <a:solidFill>
                  <a:schemeClr val="tx1"/>
                </a:solidFill>
                <a:latin typeface="+mj-lt"/>
              </a:rPr>
              <a:t>hướng</a:t>
            </a:r>
            <a:r>
              <a:rPr sz="2400" b="0">
                <a:solidFill>
                  <a:schemeClr val="tx1"/>
                </a:solidFill>
                <a:latin typeface="+mj-lt"/>
              </a:rPr>
              <a:t> </a:t>
            </a:r>
            <a:r>
              <a:rPr sz="2400" b="0" err="1">
                <a:solidFill>
                  <a:schemeClr val="tx1"/>
                </a:solidFill>
                <a:latin typeface="+mj-lt"/>
              </a:rPr>
              <a:t>tiêu</a:t>
            </a:r>
            <a:r>
              <a:rPr sz="2400" b="0">
                <a:solidFill>
                  <a:schemeClr val="tx1"/>
                </a:solidFill>
                <a:latin typeface="+mj-lt"/>
              </a:rPr>
              <a:t> </a:t>
            </a:r>
            <a:r>
              <a:rPr sz="2400" b="0" err="1">
                <a:solidFill>
                  <a:schemeClr val="tx1"/>
                </a:solidFill>
                <a:latin typeface="+mj-lt"/>
              </a:rPr>
              <a:t>dùng</a:t>
            </a:r>
            <a:r>
              <a:rPr sz="2400" b="0">
                <a:solidFill>
                  <a:schemeClr val="tx1"/>
                </a:solidFill>
                <a:latin typeface="+mj-lt"/>
              </a:rPr>
              <a:t>.</a:t>
            </a:r>
          </a:p>
        </p:txBody>
      </p:sp>
      <p:sp>
        <p:nvSpPr>
          <p:cNvPr id="10" name="TextBox 9"/>
          <p:cNvSpPr txBox="1"/>
          <p:nvPr/>
        </p:nvSpPr>
        <p:spPr>
          <a:xfrm>
            <a:off x="610649" y="2067475"/>
            <a:ext cx="11141191" cy="461665"/>
          </a:xfrm>
          <a:prstGeom prst="rect">
            <a:avLst/>
          </a:prstGeom>
          <a:noFill/>
        </p:spPr>
        <p:txBody>
          <a:bodyPr wrap="none" anchor="t">
            <a:spAutoFit/>
          </a:bodyPr>
          <a:lstStyle/>
          <a:p>
            <a:pPr algn="l"/>
            <a:r>
              <a:rPr sz="2400" b="0">
                <a:solidFill>
                  <a:schemeClr val="tx1"/>
                </a:solidFill>
                <a:latin typeface="+mj-lt"/>
              </a:rPr>
              <a:t>• </a:t>
            </a:r>
            <a:r>
              <a:rPr sz="2400" b="0" err="1">
                <a:solidFill>
                  <a:schemeClr val="tx1"/>
                </a:solidFill>
                <a:latin typeface="+mj-lt"/>
              </a:rPr>
              <a:t>Yếu</a:t>
            </a:r>
            <a:r>
              <a:rPr sz="2400" b="0">
                <a:solidFill>
                  <a:schemeClr val="tx1"/>
                </a:solidFill>
                <a:latin typeface="+mj-lt"/>
              </a:rPr>
              <a:t> </a:t>
            </a:r>
            <a:r>
              <a:rPr sz="2400" b="0" err="1">
                <a:solidFill>
                  <a:schemeClr val="tx1"/>
                </a:solidFill>
                <a:latin typeface="+mj-lt"/>
              </a:rPr>
              <a:t>tố</a:t>
            </a:r>
            <a:r>
              <a:rPr sz="2400" b="0">
                <a:solidFill>
                  <a:schemeClr val="tx1"/>
                </a:solidFill>
                <a:latin typeface="+mj-lt"/>
              </a:rPr>
              <a:t> </a:t>
            </a:r>
            <a:r>
              <a:rPr sz="2400" b="0" err="1">
                <a:solidFill>
                  <a:schemeClr val="tx1"/>
                </a:solidFill>
                <a:latin typeface="+mj-lt"/>
              </a:rPr>
              <a:t>xã</a:t>
            </a:r>
            <a:r>
              <a:rPr sz="2400" b="0">
                <a:solidFill>
                  <a:schemeClr val="tx1"/>
                </a:solidFill>
                <a:latin typeface="+mj-lt"/>
              </a:rPr>
              <a:t> </a:t>
            </a:r>
            <a:r>
              <a:rPr sz="2400" b="0" err="1">
                <a:solidFill>
                  <a:schemeClr val="tx1"/>
                </a:solidFill>
                <a:latin typeface="+mj-lt"/>
              </a:rPr>
              <a:t>hội</a:t>
            </a:r>
            <a:r>
              <a:rPr sz="2400" b="0">
                <a:solidFill>
                  <a:schemeClr val="tx1"/>
                </a:solidFill>
                <a:latin typeface="+mj-lt"/>
              </a:rPr>
              <a:t> </a:t>
            </a:r>
            <a:r>
              <a:rPr sz="2400" b="0" err="1">
                <a:solidFill>
                  <a:schemeClr val="tx1"/>
                </a:solidFill>
                <a:latin typeface="+mj-lt"/>
              </a:rPr>
              <a:t>tạo</a:t>
            </a:r>
            <a:r>
              <a:rPr sz="2400" b="0">
                <a:solidFill>
                  <a:schemeClr val="tx1"/>
                </a:solidFill>
                <a:latin typeface="+mj-lt"/>
              </a:rPr>
              <a:t> </a:t>
            </a:r>
            <a:r>
              <a:rPr sz="2400" b="0" err="1">
                <a:solidFill>
                  <a:schemeClr val="tx1"/>
                </a:solidFill>
                <a:latin typeface="+mj-lt"/>
              </a:rPr>
              <a:t>ảnh</a:t>
            </a:r>
            <a:r>
              <a:rPr sz="2400" b="0">
                <a:solidFill>
                  <a:schemeClr val="tx1"/>
                </a:solidFill>
                <a:latin typeface="+mj-lt"/>
              </a:rPr>
              <a:t> </a:t>
            </a:r>
            <a:r>
              <a:rPr sz="2400" b="0" err="1">
                <a:solidFill>
                  <a:schemeClr val="tx1"/>
                </a:solidFill>
                <a:latin typeface="+mj-lt"/>
              </a:rPr>
              <a:t>hưởng</a:t>
            </a:r>
            <a:r>
              <a:rPr sz="2400" b="0">
                <a:solidFill>
                  <a:schemeClr val="tx1"/>
                </a:solidFill>
                <a:latin typeface="+mj-lt"/>
              </a:rPr>
              <a:t> </a:t>
            </a:r>
            <a:r>
              <a:rPr sz="2400" b="0" err="1">
                <a:solidFill>
                  <a:schemeClr val="tx1"/>
                </a:solidFill>
                <a:latin typeface="+mj-lt"/>
              </a:rPr>
              <a:t>thông</a:t>
            </a:r>
            <a:r>
              <a:rPr sz="2400" b="0">
                <a:solidFill>
                  <a:schemeClr val="tx1"/>
                </a:solidFill>
                <a:latin typeface="+mj-lt"/>
              </a:rPr>
              <a:t> qua </a:t>
            </a:r>
            <a:r>
              <a:rPr sz="2400" b="0" err="1">
                <a:solidFill>
                  <a:schemeClr val="tx1"/>
                </a:solidFill>
                <a:latin typeface="+mj-lt"/>
              </a:rPr>
              <a:t>nhóm</a:t>
            </a:r>
            <a:r>
              <a:rPr sz="2400" b="0">
                <a:solidFill>
                  <a:schemeClr val="tx1"/>
                </a:solidFill>
                <a:latin typeface="+mj-lt"/>
              </a:rPr>
              <a:t> </a:t>
            </a:r>
            <a:r>
              <a:rPr sz="2400" b="0" err="1">
                <a:solidFill>
                  <a:schemeClr val="tx1"/>
                </a:solidFill>
                <a:latin typeface="+mj-lt"/>
              </a:rPr>
              <a:t>tham</a:t>
            </a:r>
            <a:r>
              <a:rPr sz="2400" b="0">
                <a:solidFill>
                  <a:schemeClr val="tx1"/>
                </a:solidFill>
                <a:latin typeface="+mj-lt"/>
              </a:rPr>
              <a:t> </a:t>
            </a:r>
            <a:r>
              <a:rPr sz="2400" b="0" err="1">
                <a:solidFill>
                  <a:schemeClr val="tx1"/>
                </a:solidFill>
                <a:latin typeface="+mj-lt"/>
              </a:rPr>
              <a:t>khảo</a:t>
            </a:r>
            <a:r>
              <a:rPr sz="2400" b="0">
                <a:solidFill>
                  <a:schemeClr val="tx1"/>
                </a:solidFill>
                <a:latin typeface="+mj-lt"/>
              </a:rPr>
              <a:t>, </a:t>
            </a:r>
            <a:r>
              <a:rPr sz="2400" b="0" err="1">
                <a:solidFill>
                  <a:schemeClr val="tx1"/>
                </a:solidFill>
                <a:latin typeface="+mj-lt"/>
              </a:rPr>
              <a:t>gia</a:t>
            </a:r>
            <a:r>
              <a:rPr sz="2400" b="0">
                <a:solidFill>
                  <a:schemeClr val="tx1"/>
                </a:solidFill>
                <a:latin typeface="+mj-lt"/>
              </a:rPr>
              <a:t> </a:t>
            </a:r>
            <a:r>
              <a:rPr sz="2400" b="0" err="1">
                <a:solidFill>
                  <a:schemeClr val="tx1"/>
                </a:solidFill>
                <a:latin typeface="+mj-lt"/>
              </a:rPr>
              <a:t>đình</a:t>
            </a:r>
            <a:r>
              <a:rPr sz="2400" b="0">
                <a:solidFill>
                  <a:schemeClr val="tx1"/>
                </a:solidFill>
                <a:latin typeface="+mj-lt"/>
              </a:rPr>
              <a:t> </a:t>
            </a:r>
            <a:r>
              <a:rPr sz="2400" b="0" err="1">
                <a:solidFill>
                  <a:schemeClr val="tx1"/>
                </a:solidFill>
                <a:latin typeface="+mj-lt"/>
              </a:rPr>
              <a:t>và</a:t>
            </a:r>
            <a:r>
              <a:rPr sz="2400" b="0">
                <a:solidFill>
                  <a:schemeClr val="tx1"/>
                </a:solidFill>
                <a:latin typeface="+mj-lt"/>
              </a:rPr>
              <a:t> </a:t>
            </a:r>
            <a:r>
              <a:rPr sz="2400" b="0" err="1">
                <a:solidFill>
                  <a:schemeClr val="tx1"/>
                </a:solidFill>
                <a:latin typeface="+mj-lt"/>
              </a:rPr>
              <a:t>giai</a:t>
            </a:r>
            <a:r>
              <a:rPr sz="2400" b="0">
                <a:solidFill>
                  <a:schemeClr val="tx1"/>
                </a:solidFill>
                <a:latin typeface="+mj-lt"/>
              </a:rPr>
              <a:t> </a:t>
            </a:r>
            <a:r>
              <a:rPr sz="2400" b="0" err="1">
                <a:solidFill>
                  <a:schemeClr val="tx1"/>
                </a:solidFill>
                <a:latin typeface="+mj-lt"/>
              </a:rPr>
              <a:t>tầng</a:t>
            </a:r>
            <a:r>
              <a:rPr sz="2400" b="0">
                <a:solidFill>
                  <a:schemeClr val="tx1"/>
                </a:solidFill>
                <a:latin typeface="+mj-lt"/>
              </a:rPr>
              <a:t>.</a:t>
            </a:r>
          </a:p>
        </p:txBody>
      </p:sp>
      <p:sp>
        <p:nvSpPr>
          <p:cNvPr id="12" name="Text Placeholder 11"/>
          <p:cNvSpPr txBox="1">
            <a:spLocks noGrp="1"/>
          </p:cNvSpPr>
          <p:nvPr>
            <p:ph type="body" idx="1"/>
          </p:nvPr>
        </p:nvSpPr>
        <p:spPr>
          <a:xfrm>
            <a:off x="491066" y="2738930"/>
            <a:ext cx="12042049" cy="552932"/>
          </a:xfrm>
          <a:prstGeom prst="rect">
            <a:avLst/>
          </a:prstGeom>
          <a:noFill/>
        </p:spPr>
        <p:txBody>
          <a:bodyPr wrap="none" anchor="t">
            <a:spAutoFit/>
          </a:bodyPr>
          <a:lstStyle/>
          <a:p>
            <a:pPr marL="114300" indent="0" algn="l">
              <a:buNone/>
            </a:pPr>
            <a:r>
              <a:rPr sz="2400" b="0">
                <a:solidFill>
                  <a:schemeClr val="tx1"/>
                </a:solidFill>
                <a:latin typeface="+mj-lt"/>
              </a:rPr>
              <a:t>• </a:t>
            </a:r>
            <a:r>
              <a:rPr sz="2400" b="0" err="1">
                <a:solidFill>
                  <a:schemeClr val="tx1"/>
                </a:solidFill>
                <a:latin typeface="+mj-lt"/>
              </a:rPr>
              <a:t>Tình</a:t>
            </a:r>
            <a:r>
              <a:rPr sz="2400" b="0">
                <a:solidFill>
                  <a:schemeClr val="tx1"/>
                </a:solidFill>
                <a:latin typeface="+mj-lt"/>
              </a:rPr>
              <a:t> </a:t>
            </a:r>
            <a:r>
              <a:rPr sz="2400" b="0" err="1">
                <a:solidFill>
                  <a:schemeClr val="tx1"/>
                </a:solidFill>
                <a:latin typeface="+mj-lt"/>
              </a:rPr>
              <a:t>huống</a:t>
            </a:r>
            <a:r>
              <a:rPr sz="2400" b="0">
                <a:solidFill>
                  <a:schemeClr val="tx1"/>
                </a:solidFill>
                <a:latin typeface="+mj-lt"/>
              </a:rPr>
              <a:t> </a:t>
            </a:r>
            <a:r>
              <a:rPr sz="2400" b="0" err="1">
                <a:solidFill>
                  <a:schemeClr val="tx1"/>
                </a:solidFill>
                <a:latin typeface="+mj-lt"/>
              </a:rPr>
              <a:t>làm</a:t>
            </a:r>
            <a:r>
              <a:rPr sz="2400" b="0">
                <a:solidFill>
                  <a:schemeClr val="tx1"/>
                </a:solidFill>
                <a:latin typeface="+mj-lt"/>
              </a:rPr>
              <a:t> </a:t>
            </a:r>
            <a:r>
              <a:rPr sz="2400" b="0" err="1">
                <a:solidFill>
                  <a:schemeClr val="tx1"/>
                </a:solidFill>
                <a:latin typeface="+mj-lt"/>
              </a:rPr>
              <a:t>hành</a:t>
            </a:r>
            <a:r>
              <a:rPr sz="2400" b="0">
                <a:solidFill>
                  <a:schemeClr val="tx1"/>
                </a:solidFill>
                <a:latin typeface="+mj-lt"/>
              </a:rPr>
              <a:t> vi </a:t>
            </a:r>
            <a:r>
              <a:rPr sz="2400" b="0" err="1">
                <a:solidFill>
                  <a:schemeClr val="tx1"/>
                </a:solidFill>
                <a:latin typeface="+mj-lt"/>
              </a:rPr>
              <a:t>thay</a:t>
            </a:r>
            <a:r>
              <a:rPr sz="2400" b="0">
                <a:solidFill>
                  <a:schemeClr val="tx1"/>
                </a:solidFill>
                <a:latin typeface="+mj-lt"/>
              </a:rPr>
              <a:t> </a:t>
            </a:r>
            <a:r>
              <a:rPr sz="2400" b="0" err="1">
                <a:solidFill>
                  <a:schemeClr val="tx1"/>
                </a:solidFill>
                <a:latin typeface="+mj-lt"/>
              </a:rPr>
              <a:t>đổi</a:t>
            </a:r>
            <a:r>
              <a:rPr sz="2400" b="0">
                <a:solidFill>
                  <a:schemeClr val="tx1"/>
                </a:solidFill>
                <a:latin typeface="+mj-lt"/>
              </a:rPr>
              <a:t> </a:t>
            </a:r>
            <a:r>
              <a:rPr sz="2400" b="0" err="1">
                <a:solidFill>
                  <a:schemeClr val="tx1"/>
                </a:solidFill>
                <a:latin typeface="+mj-lt"/>
              </a:rPr>
              <a:t>theo</a:t>
            </a:r>
            <a:r>
              <a:rPr sz="2400" b="0">
                <a:solidFill>
                  <a:schemeClr val="tx1"/>
                </a:solidFill>
                <a:latin typeface="+mj-lt"/>
              </a:rPr>
              <a:t> </a:t>
            </a:r>
            <a:r>
              <a:rPr sz="2400" b="0" err="1">
                <a:solidFill>
                  <a:schemeClr val="tx1"/>
                </a:solidFill>
                <a:latin typeface="+mj-lt"/>
              </a:rPr>
              <a:t>thời</a:t>
            </a:r>
            <a:r>
              <a:rPr sz="2400" b="0">
                <a:solidFill>
                  <a:schemeClr val="tx1"/>
                </a:solidFill>
                <a:latin typeface="+mj-lt"/>
              </a:rPr>
              <a:t> </a:t>
            </a:r>
            <a:r>
              <a:rPr sz="2400" b="0" err="1">
                <a:solidFill>
                  <a:schemeClr val="tx1"/>
                </a:solidFill>
                <a:latin typeface="+mj-lt"/>
              </a:rPr>
              <a:t>gian</a:t>
            </a:r>
            <a:r>
              <a:rPr sz="2400" b="0">
                <a:solidFill>
                  <a:schemeClr val="tx1"/>
                </a:solidFill>
                <a:latin typeface="+mj-lt"/>
              </a:rPr>
              <a:t>, </a:t>
            </a:r>
            <a:r>
              <a:rPr sz="2400" b="0" err="1">
                <a:solidFill>
                  <a:schemeClr val="tx1"/>
                </a:solidFill>
                <a:latin typeface="+mj-lt"/>
              </a:rPr>
              <a:t>địa</a:t>
            </a:r>
            <a:r>
              <a:rPr sz="2400" b="0">
                <a:solidFill>
                  <a:schemeClr val="tx1"/>
                </a:solidFill>
                <a:latin typeface="+mj-lt"/>
              </a:rPr>
              <a:t> </a:t>
            </a:r>
            <a:r>
              <a:rPr sz="2400" b="0" err="1">
                <a:solidFill>
                  <a:schemeClr val="tx1"/>
                </a:solidFill>
                <a:latin typeface="+mj-lt"/>
              </a:rPr>
              <a:t>điểm</a:t>
            </a:r>
            <a:r>
              <a:rPr sz="2400" b="0">
                <a:solidFill>
                  <a:schemeClr val="tx1"/>
                </a:solidFill>
                <a:latin typeface="+mj-lt"/>
              </a:rPr>
              <a:t>, </a:t>
            </a:r>
            <a:r>
              <a:rPr sz="2400" b="0" err="1">
                <a:solidFill>
                  <a:schemeClr val="tx1"/>
                </a:solidFill>
                <a:latin typeface="+mj-lt"/>
              </a:rPr>
              <a:t>môi</a:t>
            </a:r>
            <a:r>
              <a:rPr sz="2400" b="0">
                <a:solidFill>
                  <a:schemeClr val="tx1"/>
                </a:solidFill>
                <a:latin typeface="+mj-lt"/>
              </a:rPr>
              <a:t> </a:t>
            </a:r>
            <a:r>
              <a:rPr sz="2400" b="0" err="1">
                <a:solidFill>
                  <a:schemeClr val="tx1"/>
                </a:solidFill>
                <a:latin typeface="+mj-lt"/>
              </a:rPr>
              <a:t>trường</a:t>
            </a:r>
            <a:r>
              <a:rPr sz="2400" b="0">
                <a:solidFill>
                  <a:schemeClr val="tx1"/>
                </a:solidFill>
                <a:latin typeface="+mj-lt"/>
              </a:rPr>
              <a:t> </a:t>
            </a:r>
            <a:r>
              <a:rPr sz="2400" b="0" err="1">
                <a:solidFill>
                  <a:schemeClr val="tx1"/>
                </a:solidFill>
                <a:latin typeface="+mj-lt"/>
              </a:rPr>
              <a:t>và</a:t>
            </a:r>
            <a:r>
              <a:rPr sz="2400" b="0">
                <a:solidFill>
                  <a:schemeClr val="tx1"/>
                </a:solidFill>
                <a:latin typeface="+mj-lt"/>
              </a:rPr>
              <a:t> </a:t>
            </a:r>
            <a:r>
              <a:rPr sz="2400" b="0" err="1">
                <a:solidFill>
                  <a:schemeClr val="tx1"/>
                </a:solidFill>
                <a:latin typeface="+mj-lt"/>
              </a:rPr>
              <a:t>mục</a:t>
            </a:r>
            <a:r>
              <a:rPr sz="2400" b="0">
                <a:solidFill>
                  <a:schemeClr val="tx1"/>
                </a:solidFill>
                <a:latin typeface="+mj-lt"/>
              </a:rPr>
              <a:t> </a:t>
            </a:r>
            <a:r>
              <a:rPr sz="2400" b="0" err="1">
                <a:solidFill>
                  <a:schemeClr val="tx1"/>
                </a:solidFill>
                <a:latin typeface="+mj-lt"/>
              </a:rPr>
              <a:t>đích</a:t>
            </a:r>
            <a:r>
              <a:rPr sz="2400" b="0">
                <a:solidFill>
                  <a:schemeClr val="tx1"/>
                </a:solidFill>
                <a:latin typeface="+mj-lt"/>
              </a:rPr>
              <a:t>.</a:t>
            </a:r>
          </a:p>
        </p:txBody>
      </p:sp>
      <p:sp>
        <p:nvSpPr>
          <p:cNvPr id="14" name="TextBox 13"/>
          <p:cNvSpPr txBox="1"/>
          <p:nvPr/>
        </p:nvSpPr>
        <p:spPr>
          <a:xfrm>
            <a:off x="561391" y="3501652"/>
            <a:ext cx="10855857" cy="461665"/>
          </a:xfrm>
          <a:prstGeom prst="rect">
            <a:avLst/>
          </a:prstGeom>
          <a:noFill/>
        </p:spPr>
        <p:txBody>
          <a:bodyPr wrap="none" anchor="t">
            <a:spAutoFit/>
          </a:bodyPr>
          <a:lstStyle/>
          <a:p>
            <a:pPr algn="l"/>
            <a:r>
              <a:rPr sz="2400" b="0">
                <a:solidFill>
                  <a:schemeClr val="tx1"/>
                </a:solidFill>
                <a:latin typeface="+mj-lt"/>
              </a:rPr>
              <a:t>• Marketing </a:t>
            </a:r>
            <a:r>
              <a:rPr sz="2400" b="0" err="1">
                <a:solidFill>
                  <a:schemeClr val="tx1"/>
                </a:solidFill>
                <a:latin typeface="+mj-lt"/>
              </a:rPr>
              <a:t>hiệu</a:t>
            </a:r>
            <a:r>
              <a:rPr sz="2400" b="0">
                <a:solidFill>
                  <a:schemeClr val="tx1"/>
                </a:solidFill>
                <a:latin typeface="+mj-lt"/>
              </a:rPr>
              <a:t> </a:t>
            </a:r>
            <a:r>
              <a:rPr sz="2400" b="0" err="1">
                <a:solidFill>
                  <a:schemeClr val="tx1"/>
                </a:solidFill>
                <a:latin typeface="+mj-lt"/>
              </a:rPr>
              <a:t>quả</a:t>
            </a:r>
            <a:r>
              <a:rPr sz="2400" b="0">
                <a:solidFill>
                  <a:schemeClr val="tx1"/>
                </a:solidFill>
                <a:latin typeface="+mj-lt"/>
              </a:rPr>
              <a:t> </a:t>
            </a:r>
            <a:r>
              <a:rPr sz="2400" b="0" err="1">
                <a:solidFill>
                  <a:schemeClr val="tx1"/>
                </a:solidFill>
                <a:latin typeface="+mj-lt"/>
              </a:rPr>
              <a:t>cần</a:t>
            </a:r>
            <a:r>
              <a:rPr sz="2400" b="0">
                <a:solidFill>
                  <a:schemeClr val="tx1"/>
                </a:solidFill>
                <a:latin typeface="+mj-lt"/>
              </a:rPr>
              <a:t> </a:t>
            </a:r>
            <a:r>
              <a:rPr sz="2400" b="0" err="1">
                <a:solidFill>
                  <a:schemeClr val="tx1"/>
                </a:solidFill>
                <a:latin typeface="+mj-lt"/>
              </a:rPr>
              <a:t>phân</a:t>
            </a:r>
            <a:r>
              <a:rPr sz="2400" b="0">
                <a:solidFill>
                  <a:schemeClr val="tx1"/>
                </a:solidFill>
                <a:latin typeface="+mj-lt"/>
              </a:rPr>
              <a:t> </a:t>
            </a:r>
            <a:r>
              <a:rPr sz="2400" b="0" err="1">
                <a:solidFill>
                  <a:schemeClr val="tx1"/>
                </a:solidFill>
                <a:latin typeface="+mj-lt"/>
              </a:rPr>
              <a:t>tích</a:t>
            </a:r>
            <a:r>
              <a:rPr sz="2400" b="0">
                <a:solidFill>
                  <a:schemeClr val="tx1"/>
                </a:solidFill>
                <a:latin typeface="+mj-lt"/>
              </a:rPr>
              <a:t> </a:t>
            </a:r>
            <a:r>
              <a:rPr sz="2400" b="0" err="1">
                <a:solidFill>
                  <a:schemeClr val="tx1"/>
                </a:solidFill>
                <a:latin typeface="+mj-lt"/>
              </a:rPr>
              <a:t>khách</a:t>
            </a:r>
            <a:r>
              <a:rPr sz="2400" b="0">
                <a:solidFill>
                  <a:schemeClr val="tx1"/>
                </a:solidFill>
                <a:latin typeface="+mj-lt"/>
              </a:rPr>
              <a:t> </a:t>
            </a:r>
            <a:r>
              <a:rPr sz="2400" b="0" err="1">
                <a:solidFill>
                  <a:schemeClr val="tx1"/>
                </a:solidFill>
                <a:latin typeface="+mj-lt"/>
              </a:rPr>
              <a:t>hàng</a:t>
            </a:r>
            <a:r>
              <a:rPr sz="2400" b="0">
                <a:solidFill>
                  <a:schemeClr val="tx1"/>
                </a:solidFill>
                <a:latin typeface="+mj-lt"/>
              </a:rPr>
              <a:t> </a:t>
            </a:r>
            <a:r>
              <a:rPr sz="2400" b="0" err="1">
                <a:solidFill>
                  <a:schemeClr val="tx1"/>
                </a:solidFill>
                <a:latin typeface="+mj-lt"/>
              </a:rPr>
              <a:t>trong</a:t>
            </a:r>
            <a:r>
              <a:rPr sz="2400" b="0">
                <a:solidFill>
                  <a:schemeClr val="tx1"/>
                </a:solidFill>
                <a:latin typeface="+mj-lt"/>
              </a:rPr>
              <a:t> </a:t>
            </a:r>
            <a:r>
              <a:rPr sz="2400" b="0" err="1">
                <a:solidFill>
                  <a:schemeClr val="tx1"/>
                </a:solidFill>
                <a:latin typeface="+mj-lt"/>
              </a:rPr>
              <a:t>đúng</a:t>
            </a:r>
            <a:r>
              <a:rPr sz="2400" b="0">
                <a:solidFill>
                  <a:schemeClr val="tx1"/>
                </a:solidFill>
                <a:latin typeface="+mj-lt"/>
              </a:rPr>
              <a:t> </a:t>
            </a:r>
            <a:r>
              <a:rPr sz="2400" b="0" err="1">
                <a:solidFill>
                  <a:schemeClr val="tx1"/>
                </a:solidFill>
                <a:latin typeface="+mj-lt"/>
              </a:rPr>
              <a:t>bối</a:t>
            </a:r>
            <a:r>
              <a:rPr sz="2400" b="0">
                <a:solidFill>
                  <a:schemeClr val="tx1"/>
                </a:solidFill>
                <a:latin typeface="+mj-lt"/>
              </a:rPr>
              <a:t> </a:t>
            </a:r>
            <a:r>
              <a:rPr sz="2400" b="0" err="1">
                <a:solidFill>
                  <a:schemeClr val="tx1"/>
                </a:solidFill>
                <a:latin typeface="+mj-lt"/>
              </a:rPr>
              <a:t>cảnh</a:t>
            </a:r>
            <a:r>
              <a:rPr sz="2400" b="0">
                <a:solidFill>
                  <a:schemeClr val="tx1"/>
                </a:solidFill>
                <a:latin typeface="+mj-lt"/>
              </a:rPr>
              <a:t> </a:t>
            </a:r>
            <a:r>
              <a:rPr sz="2400" b="0" err="1">
                <a:solidFill>
                  <a:schemeClr val="tx1"/>
                </a:solidFill>
                <a:latin typeface="+mj-lt"/>
              </a:rPr>
              <a:t>tiêu</a:t>
            </a:r>
            <a:r>
              <a:rPr sz="2400" b="0">
                <a:solidFill>
                  <a:schemeClr val="tx1"/>
                </a:solidFill>
                <a:latin typeface="+mj-lt"/>
              </a:rPr>
              <a:t> </a:t>
            </a:r>
            <a:r>
              <a:rPr sz="2400" b="0" err="1">
                <a:solidFill>
                  <a:schemeClr val="tx1"/>
                </a:solidFill>
                <a:latin typeface="+mj-lt"/>
              </a:rPr>
              <a:t>dùng</a:t>
            </a:r>
            <a:r>
              <a:rPr sz="2400" b="0">
                <a:solidFill>
                  <a:schemeClr val="tx1"/>
                </a:solidFill>
                <a:latin typeface="+mj-lt"/>
              </a:rPr>
              <a:t>.</a:t>
            </a:r>
          </a:p>
        </p:txBody>
      </p:sp>
      <p:sp>
        <p:nvSpPr>
          <p:cNvPr id="15" name="TextBox 14"/>
          <p:cNvSpPr txBox="1"/>
          <p:nvPr/>
        </p:nvSpPr>
        <p:spPr>
          <a:xfrm>
            <a:off x="610649" y="4173107"/>
            <a:ext cx="10937884" cy="830997"/>
          </a:xfrm>
          <a:prstGeom prst="rect">
            <a:avLst/>
          </a:prstGeom>
          <a:noFill/>
        </p:spPr>
        <p:txBody>
          <a:bodyPr wrap="square" anchor="t">
            <a:spAutoFit/>
          </a:bodyPr>
          <a:lstStyle/>
          <a:p>
            <a:pPr algn="l"/>
            <a:r>
              <a:rPr sz="2400" b="0">
                <a:solidFill>
                  <a:schemeClr val="tx1"/>
                </a:solidFill>
                <a:latin typeface="+mj-lt"/>
              </a:rPr>
              <a:t>• </a:t>
            </a:r>
            <a:r>
              <a:rPr sz="2400" b="0" err="1">
                <a:solidFill>
                  <a:schemeClr val="tx1"/>
                </a:solidFill>
                <a:latin typeface="+mj-lt"/>
              </a:rPr>
              <a:t>Vận</a:t>
            </a:r>
            <a:r>
              <a:rPr sz="2400" b="0">
                <a:solidFill>
                  <a:schemeClr val="tx1"/>
                </a:solidFill>
                <a:latin typeface="+mj-lt"/>
              </a:rPr>
              <a:t> </a:t>
            </a:r>
            <a:r>
              <a:rPr sz="2400" b="0" err="1">
                <a:solidFill>
                  <a:schemeClr val="tx1"/>
                </a:solidFill>
                <a:latin typeface="+mj-lt"/>
              </a:rPr>
              <a:t>dụng</a:t>
            </a:r>
            <a:r>
              <a:rPr sz="2400" b="0">
                <a:solidFill>
                  <a:schemeClr val="tx1"/>
                </a:solidFill>
                <a:latin typeface="+mj-lt"/>
              </a:rPr>
              <a:t> 3 </a:t>
            </a:r>
            <a:r>
              <a:rPr sz="2400" b="0" err="1">
                <a:solidFill>
                  <a:schemeClr val="tx1"/>
                </a:solidFill>
                <a:latin typeface="+mj-lt"/>
              </a:rPr>
              <a:t>lớp</a:t>
            </a:r>
            <a:r>
              <a:rPr sz="2400" b="0">
                <a:solidFill>
                  <a:schemeClr val="tx1"/>
                </a:solidFill>
                <a:latin typeface="+mj-lt"/>
              </a:rPr>
              <a:t> </a:t>
            </a:r>
            <a:r>
              <a:rPr sz="2400" b="0" err="1">
                <a:solidFill>
                  <a:schemeClr val="tx1"/>
                </a:solidFill>
                <a:latin typeface="+mj-lt"/>
              </a:rPr>
              <a:t>ảnh</a:t>
            </a:r>
            <a:r>
              <a:rPr sz="2400" b="0">
                <a:solidFill>
                  <a:schemeClr val="tx1"/>
                </a:solidFill>
                <a:latin typeface="+mj-lt"/>
              </a:rPr>
              <a:t> </a:t>
            </a:r>
            <a:r>
              <a:rPr sz="2400" b="0" err="1">
                <a:solidFill>
                  <a:schemeClr val="tx1"/>
                </a:solidFill>
                <a:latin typeface="+mj-lt"/>
              </a:rPr>
              <a:t>hưởng</a:t>
            </a:r>
            <a:r>
              <a:rPr sz="2400" b="0">
                <a:solidFill>
                  <a:schemeClr val="tx1"/>
                </a:solidFill>
                <a:latin typeface="+mj-lt"/>
              </a:rPr>
              <a:t> </a:t>
            </a:r>
            <a:r>
              <a:rPr sz="2400" b="0" err="1">
                <a:solidFill>
                  <a:schemeClr val="tx1"/>
                </a:solidFill>
                <a:latin typeface="+mj-lt"/>
              </a:rPr>
              <a:t>giúp</a:t>
            </a:r>
            <a:r>
              <a:rPr sz="2400" b="0">
                <a:solidFill>
                  <a:schemeClr val="tx1"/>
                </a:solidFill>
                <a:latin typeface="+mj-lt"/>
              </a:rPr>
              <a:t> </a:t>
            </a:r>
            <a:r>
              <a:rPr sz="2400" b="0" err="1">
                <a:solidFill>
                  <a:schemeClr val="tx1"/>
                </a:solidFill>
                <a:latin typeface="+mj-lt"/>
              </a:rPr>
              <a:t>doanh</a:t>
            </a:r>
            <a:r>
              <a:rPr sz="2400" b="0">
                <a:solidFill>
                  <a:schemeClr val="tx1"/>
                </a:solidFill>
                <a:latin typeface="+mj-lt"/>
              </a:rPr>
              <a:t> </a:t>
            </a:r>
            <a:r>
              <a:rPr sz="2400" b="0" err="1">
                <a:solidFill>
                  <a:schemeClr val="tx1"/>
                </a:solidFill>
                <a:latin typeface="+mj-lt"/>
              </a:rPr>
              <a:t>nghiệp</a:t>
            </a:r>
            <a:r>
              <a:rPr sz="2400" b="0">
                <a:solidFill>
                  <a:schemeClr val="tx1"/>
                </a:solidFill>
                <a:latin typeface="+mj-lt"/>
              </a:rPr>
              <a:t> </a:t>
            </a:r>
            <a:r>
              <a:rPr sz="2400" b="0" err="1">
                <a:solidFill>
                  <a:schemeClr val="tx1"/>
                </a:solidFill>
                <a:latin typeface="+mj-lt"/>
              </a:rPr>
              <a:t>thiết</a:t>
            </a:r>
            <a:r>
              <a:rPr sz="2400" b="0">
                <a:solidFill>
                  <a:schemeClr val="tx1"/>
                </a:solidFill>
                <a:latin typeface="+mj-lt"/>
              </a:rPr>
              <a:t> </a:t>
            </a:r>
            <a:r>
              <a:rPr sz="2400" b="0" err="1">
                <a:solidFill>
                  <a:schemeClr val="tx1"/>
                </a:solidFill>
                <a:latin typeface="+mj-lt"/>
              </a:rPr>
              <a:t>kế</a:t>
            </a:r>
            <a:r>
              <a:rPr sz="2400" b="0">
                <a:solidFill>
                  <a:schemeClr val="tx1"/>
                </a:solidFill>
                <a:latin typeface="+mj-lt"/>
              </a:rPr>
              <a:t> </a:t>
            </a:r>
            <a:r>
              <a:rPr sz="2400" b="0" err="1">
                <a:solidFill>
                  <a:schemeClr val="tx1"/>
                </a:solidFill>
                <a:latin typeface="+mj-lt"/>
              </a:rPr>
              <a:t>sản</a:t>
            </a:r>
            <a:r>
              <a:rPr sz="2400" b="0">
                <a:solidFill>
                  <a:schemeClr val="tx1"/>
                </a:solidFill>
                <a:latin typeface="+mj-lt"/>
              </a:rPr>
              <a:t> </a:t>
            </a:r>
            <a:r>
              <a:rPr sz="2400" b="0" err="1">
                <a:solidFill>
                  <a:schemeClr val="tx1"/>
                </a:solidFill>
                <a:latin typeface="+mj-lt"/>
              </a:rPr>
              <a:t>phẩm</a:t>
            </a:r>
            <a:r>
              <a:rPr sz="2400" b="0">
                <a:solidFill>
                  <a:schemeClr val="tx1"/>
                </a:solidFill>
                <a:latin typeface="+mj-lt"/>
              </a:rPr>
              <a:t>, </a:t>
            </a:r>
            <a:r>
              <a:rPr sz="2400" b="0" err="1">
                <a:solidFill>
                  <a:schemeClr val="tx1"/>
                </a:solidFill>
                <a:latin typeface="+mj-lt"/>
              </a:rPr>
              <a:t>thông</a:t>
            </a:r>
            <a:r>
              <a:rPr sz="2400" b="0">
                <a:solidFill>
                  <a:schemeClr val="tx1"/>
                </a:solidFill>
                <a:latin typeface="+mj-lt"/>
              </a:rPr>
              <a:t> </a:t>
            </a:r>
            <a:r>
              <a:rPr sz="2400" b="0" err="1">
                <a:solidFill>
                  <a:schemeClr val="tx1"/>
                </a:solidFill>
                <a:latin typeface="+mj-lt"/>
              </a:rPr>
              <a:t>điệp</a:t>
            </a:r>
            <a:r>
              <a:rPr sz="2400" b="0">
                <a:solidFill>
                  <a:schemeClr val="tx1"/>
                </a:solidFill>
                <a:latin typeface="+mj-lt"/>
              </a:rPr>
              <a:t> </a:t>
            </a:r>
            <a:r>
              <a:rPr sz="2400" b="0" err="1">
                <a:solidFill>
                  <a:schemeClr val="tx1"/>
                </a:solidFill>
                <a:latin typeface="+mj-lt"/>
              </a:rPr>
              <a:t>và</a:t>
            </a:r>
            <a:r>
              <a:rPr sz="2400" b="0">
                <a:solidFill>
                  <a:schemeClr val="tx1"/>
                </a:solidFill>
                <a:latin typeface="+mj-lt"/>
              </a:rPr>
              <a:t> </a:t>
            </a:r>
            <a:r>
              <a:rPr sz="2400" b="0" err="1">
                <a:solidFill>
                  <a:schemeClr val="tx1"/>
                </a:solidFill>
                <a:latin typeface="+mj-lt"/>
              </a:rPr>
              <a:t>trải</a:t>
            </a:r>
            <a:r>
              <a:rPr sz="2400" b="0">
                <a:solidFill>
                  <a:schemeClr val="tx1"/>
                </a:solidFill>
                <a:latin typeface="+mj-lt"/>
              </a:rPr>
              <a:t> </a:t>
            </a:r>
            <a:r>
              <a:rPr sz="2400" b="0" err="1">
                <a:solidFill>
                  <a:schemeClr val="tx1"/>
                </a:solidFill>
                <a:latin typeface="+mj-lt"/>
              </a:rPr>
              <a:t>nghiệm</a:t>
            </a:r>
            <a:r>
              <a:rPr sz="2400" b="0">
                <a:solidFill>
                  <a:schemeClr val="tx1"/>
                </a:solidFill>
                <a:latin typeface="+mj-lt"/>
              </a:rPr>
              <a:t> </a:t>
            </a:r>
            <a:r>
              <a:rPr sz="2400" b="0" err="1">
                <a:solidFill>
                  <a:schemeClr val="tx1"/>
                </a:solidFill>
                <a:latin typeface="+mj-lt"/>
              </a:rPr>
              <a:t>phù</a:t>
            </a:r>
            <a:r>
              <a:rPr sz="2400" b="0">
                <a:solidFill>
                  <a:schemeClr val="tx1"/>
                </a:solidFill>
                <a:latin typeface="+mj-lt"/>
              </a:rPr>
              <a:t> </a:t>
            </a:r>
            <a:r>
              <a:rPr sz="2400" b="0" err="1">
                <a:solidFill>
                  <a:schemeClr val="tx1"/>
                </a:solidFill>
                <a:latin typeface="+mj-lt"/>
              </a:rPr>
              <a:t>hợp</a:t>
            </a:r>
            <a:r>
              <a:rPr sz="2400" b="0">
                <a:solidFill>
                  <a:schemeClr val="tx1"/>
                </a:solidFill>
                <a:latin typeface="+mj-lt"/>
              </a:rPr>
              <a:t>.</a:t>
            </a:r>
          </a:p>
        </p:txBody>
      </p:sp>
      <p:sp>
        <p:nvSpPr>
          <p:cNvPr id="17" name="TextBox 16"/>
          <p:cNvSpPr txBox="1"/>
          <p:nvPr/>
        </p:nvSpPr>
        <p:spPr>
          <a:xfrm>
            <a:off x="67733" y="5213894"/>
            <a:ext cx="13288457" cy="369332"/>
          </a:xfrm>
          <a:prstGeom prst="rect">
            <a:avLst/>
          </a:prstGeom>
          <a:noFill/>
        </p:spPr>
        <p:txBody>
          <a:bodyPr wrap="square" anchor="t">
            <a:spAutoFit/>
          </a:bodyPr>
          <a:lstStyle/>
          <a:p>
            <a:pPr algn="l"/>
            <a:r>
              <a:rPr sz="1800" b="1" err="1">
                <a:solidFill>
                  <a:srgbClr val="C00000"/>
                </a:solidFill>
                <a:latin typeface="Aptos"/>
              </a:rPr>
              <a:t>Hãy</a:t>
            </a:r>
            <a:r>
              <a:rPr sz="1800" b="1">
                <a:solidFill>
                  <a:srgbClr val="C00000"/>
                </a:solidFill>
                <a:latin typeface="Aptos"/>
              </a:rPr>
              <a:t> </a:t>
            </a:r>
            <a:r>
              <a:rPr sz="1800" b="1" err="1">
                <a:solidFill>
                  <a:srgbClr val="C00000"/>
                </a:solidFill>
                <a:latin typeface="Aptos"/>
              </a:rPr>
              <a:t>nhớ</a:t>
            </a:r>
            <a:r>
              <a:rPr sz="1800" b="1">
                <a:solidFill>
                  <a:srgbClr val="C00000"/>
                </a:solidFill>
                <a:latin typeface="Aptos"/>
              </a:rPr>
              <a:t>: KHÔNG </a:t>
            </a:r>
            <a:r>
              <a:rPr sz="1800" b="1" err="1">
                <a:solidFill>
                  <a:srgbClr val="C00000"/>
                </a:solidFill>
                <a:latin typeface="Aptos"/>
              </a:rPr>
              <a:t>chỉ</a:t>
            </a:r>
            <a:r>
              <a:rPr sz="1800" b="1">
                <a:solidFill>
                  <a:srgbClr val="C00000"/>
                </a:solidFill>
                <a:latin typeface="Aptos"/>
              </a:rPr>
              <a:t> </a:t>
            </a:r>
            <a:r>
              <a:rPr sz="1800" b="1" err="1">
                <a:solidFill>
                  <a:srgbClr val="C00000"/>
                </a:solidFill>
                <a:latin typeface="Aptos"/>
              </a:rPr>
              <a:t>hỏi</a:t>
            </a:r>
            <a:r>
              <a:rPr sz="1800" b="1">
                <a:solidFill>
                  <a:srgbClr val="C00000"/>
                </a:solidFill>
                <a:latin typeface="Aptos"/>
              </a:rPr>
              <a:t> “</a:t>
            </a:r>
            <a:r>
              <a:rPr sz="1800" b="1" err="1">
                <a:solidFill>
                  <a:srgbClr val="C00000"/>
                </a:solidFill>
                <a:latin typeface="Aptos"/>
              </a:rPr>
              <a:t>Khách</a:t>
            </a:r>
            <a:r>
              <a:rPr sz="1800" b="1">
                <a:solidFill>
                  <a:srgbClr val="C00000"/>
                </a:solidFill>
                <a:latin typeface="Aptos"/>
              </a:rPr>
              <a:t> </a:t>
            </a:r>
            <a:r>
              <a:rPr sz="1800" b="1" err="1">
                <a:solidFill>
                  <a:srgbClr val="C00000"/>
                </a:solidFill>
                <a:latin typeface="Aptos"/>
              </a:rPr>
              <a:t>hàng</a:t>
            </a:r>
            <a:r>
              <a:rPr sz="1800" b="1">
                <a:solidFill>
                  <a:srgbClr val="C00000"/>
                </a:solidFill>
                <a:latin typeface="Aptos"/>
              </a:rPr>
              <a:t> </a:t>
            </a:r>
            <a:r>
              <a:rPr sz="1800" b="1" err="1">
                <a:solidFill>
                  <a:srgbClr val="C00000"/>
                </a:solidFill>
                <a:latin typeface="Aptos"/>
              </a:rPr>
              <a:t>là</a:t>
            </a:r>
            <a:r>
              <a:rPr sz="1800" b="1">
                <a:solidFill>
                  <a:srgbClr val="C00000"/>
                </a:solidFill>
                <a:latin typeface="Aptos"/>
              </a:rPr>
              <a:t> </a:t>
            </a:r>
            <a:r>
              <a:rPr sz="1800" b="1" err="1">
                <a:solidFill>
                  <a:srgbClr val="C00000"/>
                </a:solidFill>
                <a:latin typeface="Aptos"/>
              </a:rPr>
              <a:t>ai</a:t>
            </a:r>
            <a:r>
              <a:rPr sz="1800" b="1">
                <a:solidFill>
                  <a:srgbClr val="C00000"/>
                </a:solidFill>
                <a:latin typeface="Aptos"/>
              </a:rPr>
              <a:t>?” </a:t>
            </a:r>
            <a:r>
              <a:rPr lang="vi-VN" sz="1800" b="1" err="1">
                <a:solidFill>
                  <a:srgbClr val="C00000"/>
                </a:solidFill>
                <a:latin typeface="Aptos"/>
              </a:rPr>
              <a:t>H</a:t>
            </a:r>
            <a:r>
              <a:rPr sz="1800" b="1" err="1">
                <a:solidFill>
                  <a:srgbClr val="C00000"/>
                </a:solidFill>
                <a:latin typeface="Aptos"/>
              </a:rPr>
              <a:t>ãy</a:t>
            </a:r>
            <a:r>
              <a:rPr sz="1800" b="1">
                <a:solidFill>
                  <a:srgbClr val="C00000"/>
                </a:solidFill>
                <a:latin typeface="Aptos"/>
              </a:rPr>
              <a:t> </a:t>
            </a:r>
            <a:r>
              <a:rPr sz="1800" b="1" err="1">
                <a:solidFill>
                  <a:srgbClr val="C00000"/>
                </a:solidFill>
                <a:latin typeface="Aptos"/>
              </a:rPr>
              <a:t>hỏi</a:t>
            </a:r>
            <a:r>
              <a:rPr sz="1800" b="1">
                <a:solidFill>
                  <a:srgbClr val="C00000"/>
                </a:solidFill>
                <a:latin typeface="Aptos"/>
              </a:rPr>
              <a:t> “</a:t>
            </a:r>
            <a:r>
              <a:rPr sz="1800" b="1" err="1">
                <a:solidFill>
                  <a:srgbClr val="C00000"/>
                </a:solidFill>
                <a:latin typeface="Aptos"/>
              </a:rPr>
              <a:t>Họ</a:t>
            </a:r>
            <a:r>
              <a:rPr sz="1800" b="1">
                <a:solidFill>
                  <a:srgbClr val="C00000"/>
                </a:solidFill>
                <a:latin typeface="Aptos"/>
              </a:rPr>
              <a:t> </a:t>
            </a:r>
            <a:r>
              <a:rPr sz="1800" b="1" err="1">
                <a:solidFill>
                  <a:srgbClr val="C00000"/>
                </a:solidFill>
                <a:latin typeface="Aptos"/>
              </a:rPr>
              <a:t>chịu</a:t>
            </a:r>
            <a:r>
              <a:rPr sz="1800" b="1">
                <a:solidFill>
                  <a:srgbClr val="C00000"/>
                </a:solidFill>
                <a:latin typeface="Aptos"/>
              </a:rPr>
              <a:t> </a:t>
            </a:r>
            <a:r>
              <a:rPr sz="1800" b="1" err="1">
                <a:solidFill>
                  <a:srgbClr val="C00000"/>
                </a:solidFill>
                <a:latin typeface="Aptos"/>
              </a:rPr>
              <a:t>ảnh</a:t>
            </a:r>
            <a:r>
              <a:rPr sz="1800" b="1">
                <a:solidFill>
                  <a:srgbClr val="C00000"/>
                </a:solidFill>
                <a:latin typeface="Aptos"/>
              </a:rPr>
              <a:t> </a:t>
            </a:r>
            <a:r>
              <a:rPr sz="1800" b="1" err="1">
                <a:solidFill>
                  <a:srgbClr val="C00000"/>
                </a:solidFill>
                <a:latin typeface="Aptos"/>
              </a:rPr>
              <a:t>hưởng</a:t>
            </a:r>
            <a:r>
              <a:rPr sz="1800" b="1">
                <a:solidFill>
                  <a:srgbClr val="C00000"/>
                </a:solidFill>
                <a:latin typeface="Aptos"/>
              </a:rPr>
              <a:t> </a:t>
            </a:r>
            <a:r>
              <a:rPr sz="1800" b="1" err="1">
                <a:solidFill>
                  <a:srgbClr val="C00000"/>
                </a:solidFill>
                <a:latin typeface="Aptos"/>
              </a:rPr>
              <a:t>bởi</a:t>
            </a:r>
            <a:r>
              <a:rPr sz="1800" b="1">
                <a:solidFill>
                  <a:srgbClr val="C00000"/>
                </a:solidFill>
                <a:latin typeface="Aptos"/>
              </a:rPr>
              <a:t> </a:t>
            </a:r>
            <a:r>
              <a:rPr sz="1800" b="1" err="1">
                <a:solidFill>
                  <a:srgbClr val="C00000"/>
                </a:solidFill>
                <a:latin typeface="Aptos"/>
              </a:rPr>
              <a:t>ai</a:t>
            </a:r>
            <a:r>
              <a:rPr sz="1800" b="1">
                <a:solidFill>
                  <a:srgbClr val="C00000"/>
                </a:solidFill>
                <a:latin typeface="Aptos"/>
              </a:rPr>
              <a:t> </a:t>
            </a:r>
            <a:r>
              <a:rPr sz="1800" b="1" err="1">
                <a:solidFill>
                  <a:srgbClr val="C00000"/>
                </a:solidFill>
                <a:latin typeface="Aptos"/>
              </a:rPr>
              <a:t>và</a:t>
            </a:r>
            <a:r>
              <a:rPr sz="1800" b="1">
                <a:solidFill>
                  <a:srgbClr val="C00000"/>
                </a:solidFill>
                <a:latin typeface="Aptos"/>
              </a:rPr>
              <a:t> </a:t>
            </a:r>
            <a:r>
              <a:rPr sz="1800" b="1" err="1">
                <a:solidFill>
                  <a:srgbClr val="C00000"/>
                </a:solidFill>
                <a:latin typeface="Aptos"/>
              </a:rPr>
              <a:t>đang</a:t>
            </a:r>
            <a:r>
              <a:rPr sz="1800" b="1">
                <a:solidFill>
                  <a:srgbClr val="C00000"/>
                </a:solidFill>
                <a:latin typeface="Aptos"/>
              </a:rPr>
              <a:t> ở </a:t>
            </a:r>
            <a:r>
              <a:rPr sz="1800" b="1" err="1">
                <a:solidFill>
                  <a:srgbClr val="C00000"/>
                </a:solidFill>
                <a:latin typeface="Aptos"/>
              </a:rPr>
              <a:t>tình</a:t>
            </a:r>
            <a:r>
              <a:rPr sz="1800" b="1">
                <a:solidFill>
                  <a:srgbClr val="C00000"/>
                </a:solidFill>
                <a:latin typeface="Aptos"/>
              </a:rPr>
              <a:t> </a:t>
            </a:r>
            <a:r>
              <a:rPr sz="1800" b="1" err="1">
                <a:solidFill>
                  <a:srgbClr val="C00000"/>
                </a:solidFill>
                <a:latin typeface="Aptos"/>
              </a:rPr>
              <a:t>huống</a:t>
            </a:r>
            <a:r>
              <a:rPr sz="1800" b="1">
                <a:solidFill>
                  <a:srgbClr val="C00000"/>
                </a:solidFill>
                <a:latin typeface="Aptos"/>
              </a:rPr>
              <a:t> </a:t>
            </a:r>
            <a:r>
              <a:rPr sz="1800" b="1" err="1">
                <a:solidFill>
                  <a:srgbClr val="C00000"/>
                </a:solidFill>
                <a:latin typeface="Aptos"/>
              </a:rPr>
              <a:t>nào</a:t>
            </a:r>
            <a:r>
              <a:rPr sz="1800" b="1">
                <a:solidFill>
                  <a:srgbClr val="C00000"/>
                </a:solidFill>
                <a:latin typeface="Aptos"/>
              </a:rPr>
              <a:t>?”</a:t>
            </a:r>
          </a:p>
        </p:txBody>
      </p:sp>
    </p:spTree>
    <p:extLst>
      <p:ext uri="{BB962C8B-B14F-4D97-AF65-F5344CB8AC3E}">
        <p14:creationId xmlns:p14="http://schemas.microsoft.com/office/powerpoint/2010/main" val="117109281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117"/>
        <p:cNvGrpSpPr/>
        <p:nvPr/>
      </p:nvGrpSpPr>
      <p:grpSpPr>
        <a:xfrm>
          <a:off x="0" y="0"/>
          <a:ext cx="0" cy="0"/>
          <a:chOff x="0" y="0"/>
          <a:chExt cx="0" cy="0"/>
        </a:xfrm>
      </p:grpSpPr>
      <p:sp>
        <p:nvSpPr>
          <p:cNvPr id="2118" name="Google Shape;2118;p308"/>
          <p:cNvSpPr txBox="1">
            <a:spLocks noGrp="1"/>
          </p:cNvSpPr>
          <p:nvPr>
            <p:ph type="title"/>
          </p:nvPr>
        </p:nvSpPr>
        <p:spPr>
          <a:xfrm>
            <a:off x="838200" y="365125"/>
            <a:ext cx="8280400" cy="9175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b="1">
                <a:latin typeface="Arial"/>
                <a:ea typeface="Arial"/>
                <a:cs typeface="Arial"/>
                <a:sym typeface="Arial"/>
              </a:rPr>
              <a:t>Câu hỏi thảo luận</a:t>
            </a:r>
            <a:endParaRPr/>
          </a:p>
        </p:txBody>
      </p:sp>
      <p:sp>
        <p:nvSpPr>
          <p:cNvPr id="2119" name="Google Shape;2119;p308"/>
          <p:cNvSpPr txBox="1">
            <a:spLocks noGrp="1"/>
          </p:cNvSpPr>
          <p:nvPr>
            <p:ph type="body" idx="1"/>
          </p:nvPr>
        </p:nvSpPr>
        <p:spPr>
          <a:xfrm>
            <a:off x="838200" y="1168400"/>
            <a:ext cx="10515600" cy="5008563"/>
          </a:xfrm>
          <a:prstGeom prst="rect">
            <a:avLst/>
          </a:prstGeom>
          <a:noFill/>
          <a:ln>
            <a:noFill/>
          </a:ln>
        </p:spPr>
        <p:txBody>
          <a:bodyPr spcFirstLastPara="1" wrap="square" lIns="91425" tIns="45700" rIns="91425" bIns="45700" anchor="t" anchorCtr="0">
            <a:normAutofit fontScale="92500" lnSpcReduction="10000"/>
          </a:bodyPr>
          <a:lstStyle/>
          <a:p>
            <a:pPr marL="514350" lvl="0" indent="-514350" algn="l" rtl="0">
              <a:lnSpc>
                <a:spcPct val="150000"/>
              </a:lnSpc>
              <a:spcBef>
                <a:spcPts val="0"/>
              </a:spcBef>
              <a:spcAft>
                <a:spcPts val="0"/>
              </a:spcAft>
              <a:buClr>
                <a:schemeClr val="dk1"/>
              </a:buClr>
              <a:buSzPct val="100000"/>
              <a:buFont typeface="Calibri"/>
              <a:buAutoNum type="arabicPeriod"/>
            </a:pPr>
            <a:r>
              <a:rPr lang="en-US" sz="2400">
                <a:latin typeface="Arial"/>
                <a:ea typeface="Arial"/>
                <a:cs typeface="Arial"/>
                <a:sym typeface="Arial"/>
              </a:rPr>
              <a:t>Hãy phân tích các tình huống ảnh hưởng đến hành vi mua hàng Online của khách hàng thế hệ Z ở Việt Nam? </a:t>
            </a:r>
            <a:endParaRPr sz="2400">
              <a:latin typeface="Arial"/>
              <a:ea typeface="Arial"/>
              <a:cs typeface="Arial"/>
              <a:sym typeface="Arial"/>
            </a:endParaRPr>
          </a:p>
          <a:p>
            <a:pPr marL="514350" lvl="0" indent="-514350" algn="l" rtl="0">
              <a:lnSpc>
                <a:spcPct val="150000"/>
              </a:lnSpc>
              <a:spcBef>
                <a:spcPts val="1000"/>
              </a:spcBef>
              <a:spcAft>
                <a:spcPts val="0"/>
              </a:spcAft>
              <a:buClr>
                <a:schemeClr val="dk1"/>
              </a:buClr>
              <a:buSzPct val="100000"/>
              <a:buFont typeface="Calibri"/>
              <a:buAutoNum type="arabicPeriod"/>
            </a:pPr>
            <a:r>
              <a:rPr lang="en-US" sz="2400">
                <a:latin typeface="Arial"/>
                <a:ea typeface="Arial"/>
                <a:cs typeface="Arial"/>
                <a:sym typeface="Arial"/>
              </a:rPr>
              <a:t>Hãy đề xuất chiến lược marketing dựa trên thải hồi sản phẩm để mang lại lợi thế cạnh tranh cho doanh nghiệp?</a:t>
            </a:r>
            <a:endParaRPr sz="2400">
              <a:latin typeface="Arial"/>
              <a:ea typeface="Arial"/>
              <a:cs typeface="Arial"/>
              <a:sym typeface="Arial"/>
            </a:endParaRPr>
          </a:p>
          <a:p>
            <a:pPr marL="514350" lvl="0" indent="-514350" algn="l" rtl="0">
              <a:lnSpc>
                <a:spcPct val="150000"/>
              </a:lnSpc>
              <a:spcBef>
                <a:spcPts val="1000"/>
              </a:spcBef>
              <a:spcAft>
                <a:spcPts val="0"/>
              </a:spcAft>
              <a:buClr>
                <a:schemeClr val="dk1"/>
              </a:buClr>
              <a:buSzPct val="100000"/>
              <a:buFont typeface="Calibri"/>
              <a:buAutoNum type="arabicPeriod"/>
            </a:pPr>
            <a:r>
              <a:rPr lang="en-US" sz="2400">
                <a:latin typeface="Arial"/>
                <a:ea typeface="Arial"/>
                <a:cs typeface="Arial"/>
                <a:sym typeface="Arial"/>
              </a:rPr>
              <a:t>Phân tích một số lễ hội chính ở Việt Nam và đề xuất hoạt động marketing dựa trên lễ hội?</a:t>
            </a:r>
            <a:endParaRPr sz="2400">
              <a:latin typeface="Arial"/>
              <a:ea typeface="Arial"/>
              <a:cs typeface="Arial"/>
              <a:sym typeface="Arial"/>
            </a:endParaRPr>
          </a:p>
          <a:p>
            <a:pPr marL="514350" lvl="0" indent="-514350" algn="l" rtl="0">
              <a:lnSpc>
                <a:spcPct val="150000"/>
              </a:lnSpc>
              <a:spcBef>
                <a:spcPts val="1000"/>
              </a:spcBef>
              <a:spcAft>
                <a:spcPts val="0"/>
              </a:spcAft>
              <a:buClr>
                <a:schemeClr val="dk1"/>
              </a:buClr>
              <a:buSzPct val="100000"/>
              <a:buFont typeface="Calibri"/>
              <a:buAutoNum type="arabicPeriod"/>
            </a:pPr>
            <a:r>
              <a:rPr lang="en-US" sz="2400">
                <a:latin typeface="Arial"/>
                <a:ea typeface="Arial"/>
                <a:cs typeface="Arial"/>
                <a:sym typeface="Arial"/>
              </a:rPr>
              <a:t>Tác động của các tình huống Viral marketing và </a:t>
            </a:r>
            <a:endParaRPr/>
          </a:p>
          <a:p>
            <a:pPr marL="0" lvl="0" indent="482600" algn="l" rtl="0">
              <a:lnSpc>
                <a:spcPct val="150000"/>
              </a:lnSpc>
              <a:spcBef>
                <a:spcPts val="1000"/>
              </a:spcBef>
              <a:spcAft>
                <a:spcPts val="0"/>
              </a:spcAft>
              <a:buClr>
                <a:schemeClr val="dk1"/>
              </a:buClr>
              <a:buSzPct val="100000"/>
              <a:buNone/>
            </a:pPr>
            <a:r>
              <a:rPr lang="en-US" sz="2400">
                <a:latin typeface="Arial"/>
                <a:ea typeface="Arial"/>
                <a:cs typeface="Arial"/>
                <a:sym typeface="Arial"/>
              </a:rPr>
              <a:t>KOLs đến hành vi mua hàng của giới trẻ như thế nào?</a:t>
            </a:r>
            <a:endParaRPr/>
          </a:p>
          <a:p>
            <a:pPr marL="0" lvl="0" indent="482600" algn="l" rtl="0">
              <a:lnSpc>
                <a:spcPct val="150000"/>
              </a:lnSpc>
              <a:spcBef>
                <a:spcPts val="1000"/>
              </a:spcBef>
              <a:spcAft>
                <a:spcPts val="0"/>
              </a:spcAft>
              <a:buClr>
                <a:schemeClr val="dk1"/>
              </a:buClr>
              <a:buSzPct val="100000"/>
              <a:buNone/>
            </a:pPr>
            <a:r>
              <a:rPr lang="en-US" sz="2400">
                <a:latin typeface="Arial"/>
                <a:ea typeface="Arial"/>
                <a:cs typeface="Arial"/>
                <a:sym typeface="Arial"/>
              </a:rPr>
              <a:t> Áp dụng vào marketing sao cho hiệu quả?</a:t>
            </a:r>
            <a:endParaRPr sz="2400">
              <a:latin typeface="Arial"/>
              <a:ea typeface="Arial"/>
              <a:cs typeface="Arial"/>
              <a:sym typeface="Arial"/>
            </a:endParaRPr>
          </a:p>
          <a:p>
            <a:pPr marL="0" lvl="0" indent="0" algn="l" rtl="0">
              <a:lnSpc>
                <a:spcPct val="90000"/>
              </a:lnSpc>
              <a:spcBef>
                <a:spcPts val="1000"/>
              </a:spcBef>
              <a:spcAft>
                <a:spcPts val="0"/>
              </a:spcAft>
              <a:buClr>
                <a:schemeClr val="dk1"/>
              </a:buClr>
              <a:buSzPct val="100000"/>
              <a:buNone/>
            </a:pPr>
            <a:endParaRPr/>
          </a:p>
        </p:txBody>
      </p:sp>
      <p:pic>
        <p:nvPicPr>
          <p:cNvPr id="2120" name="Google Shape;2120;p308" descr="KỸ NĂNG XỬ LÝ TÌNH HUỐNG TRONG BÁN HÀNG TRỰC TIẾP VÀ QUA ĐIỆN THOẠI -  Happykey"/>
          <p:cNvPicPr preferRelativeResize="0"/>
          <p:nvPr/>
        </p:nvPicPr>
        <p:blipFill rotWithShape="1">
          <a:blip r:embed="rId3">
            <a:alphaModFix/>
          </a:blip>
          <a:srcRect/>
          <a:stretch/>
        </p:blipFill>
        <p:spPr>
          <a:xfrm>
            <a:off x="8559800" y="3992563"/>
            <a:ext cx="3219450" cy="2336800"/>
          </a:xfrm>
          <a:prstGeom prst="rect">
            <a:avLst/>
          </a:prstGeom>
          <a:noFill/>
          <a:ln>
            <a:noFill/>
          </a:ln>
        </p:spPr>
      </p:pic>
    </p:spTree>
    <p:extLst>
      <p:ext uri="{BB962C8B-B14F-4D97-AF65-F5344CB8AC3E}">
        <p14:creationId xmlns:p14="http://schemas.microsoft.com/office/powerpoint/2010/main" val="22128139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099" y="2066396"/>
            <a:ext cx="11813822" cy="2387600"/>
          </a:xfrm>
        </p:spPr>
        <p:txBody>
          <a:bodyPr>
            <a:noAutofit/>
          </a:bodyPr>
          <a:lstStyle/>
          <a:p>
            <a:pPr>
              <a:lnSpc>
                <a:spcPct val="150000"/>
              </a:lnSpc>
            </a:pPr>
            <a:r>
              <a:rPr lang="en-GB" sz="4800" b="1">
                <a:latin typeface="Arial" panose="020B0604020202020204" pitchFamily="34" charset="0"/>
                <a:cs typeface="Arial" panose="020B0604020202020204" pitchFamily="34" charset="0"/>
              </a:rPr>
              <a:t>CHƯƠNG 3</a:t>
            </a:r>
            <a:br>
              <a:rPr lang="en-GB" sz="5400" b="1">
                <a:latin typeface="Arial" panose="020B0604020202020204" pitchFamily="34" charset="0"/>
                <a:cs typeface="Arial" panose="020B0604020202020204" pitchFamily="34" charset="0"/>
              </a:rPr>
            </a:br>
            <a:r>
              <a:rPr lang="en-GB" sz="4800" b="1">
                <a:latin typeface="Arial" panose="020B0604020202020204" pitchFamily="34" charset="0"/>
                <a:cs typeface="Arial" panose="020B0604020202020204" pitchFamily="34" charset="0"/>
              </a:rPr>
              <a:t>CÁC YẾU TỐ TÂM LÝ ẢNH HƯỞNG ĐẾN HÀNH VI KHÁCH HÀNG CÁ NHÂN</a:t>
            </a:r>
          </a:p>
        </p:txBody>
      </p:sp>
    </p:spTree>
    <p:extLst>
      <p:ext uri="{BB962C8B-B14F-4D97-AF65-F5344CB8AC3E}">
        <p14:creationId xmlns:p14="http://schemas.microsoft.com/office/powerpoint/2010/main" val="48525557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A6532-4FB4-344C-ACEE-05A196DC9CF8}"/>
              </a:ext>
            </a:extLst>
          </p:cNvPr>
          <p:cNvSpPr>
            <a:spLocks noGrp="1"/>
          </p:cNvSpPr>
          <p:nvPr>
            <p:ph type="title"/>
          </p:nvPr>
        </p:nvSpPr>
        <p:spPr>
          <a:xfrm>
            <a:off x="586740" y="319405"/>
            <a:ext cx="10515600" cy="960755"/>
          </a:xfrm>
        </p:spPr>
        <p:txBody>
          <a:bodyPr>
            <a:normAutofit/>
          </a:bodyPr>
          <a:lstStyle/>
          <a:p>
            <a:r>
              <a:rPr lang="en-VN" sz="3600" b="1">
                <a:latin typeface="Arial" panose="020B0604020202020204" pitchFamily="34" charset="0"/>
                <a:cs typeface="Arial" panose="020B0604020202020204" pitchFamily="34" charset="0"/>
              </a:rPr>
              <a:t>MỤC TIÊU CHƯƠNG </a:t>
            </a:r>
            <a:r>
              <a:rPr lang="en-US" sz="3600" b="1">
                <a:latin typeface="Arial" panose="020B0604020202020204" pitchFamily="34" charset="0"/>
                <a:cs typeface="Arial" panose="020B0604020202020204" pitchFamily="34" charset="0"/>
              </a:rPr>
              <a:t>3</a:t>
            </a:r>
            <a:endParaRPr lang="en-VN" sz="3600" b="1">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3D9A9502-F169-AB30-4EA1-1A8335361FDB}"/>
              </a:ext>
            </a:extLst>
          </p:cNvPr>
          <p:cNvSpPr txBox="1"/>
          <p:nvPr/>
        </p:nvSpPr>
        <p:spPr>
          <a:xfrm>
            <a:off x="0" y="1432689"/>
            <a:ext cx="11599333" cy="4928850"/>
          </a:xfrm>
          <a:prstGeom prst="rect">
            <a:avLst/>
          </a:prstGeom>
          <a:noFill/>
        </p:spPr>
        <p:txBody>
          <a:bodyPr wrap="square">
            <a:spAutoFit/>
          </a:bodyPr>
          <a:lstStyle/>
          <a:p>
            <a:pPr marL="1016000" lvl="1" indent="-558800" algn="just">
              <a:lnSpc>
                <a:spcPts val="3600"/>
              </a:lnSpc>
              <a:spcBef>
                <a:spcPts val="500"/>
              </a:spcBef>
              <a:buClr>
                <a:schemeClr val="dk1"/>
              </a:buClr>
              <a:buSzPct val="100000"/>
              <a:buFont typeface="Noto Sans Symbols"/>
              <a:buChar char="⮚"/>
            </a:pPr>
            <a:r>
              <a:rPr lang="en-US" sz="2700" err="1">
                <a:solidFill>
                  <a:schemeClr val="dk1"/>
                </a:solidFill>
                <a:sym typeface="Calibri"/>
              </a:rPr>
              <a:t>Giải</a:t>
            </a:r>
            <a:r>
              <a:rPr lang="en-US" sz="2700">
                <a:solidFill>
                  <a:schemeClr val="dk1"/>
                </a:solidFill>
                <a:sym typeface="Calibri"/>
              </a:rPr>
              <a:t> </a:t>
            </a:r>
            <a:r>
              <a:rPr lang="en-US" sz="2700" err="1">
                <a:solidFill>
                  <a:schemeClr val="dk1"/>
                </a:solidFill>
                <a:sym typeface="Calibri"/>
              </a:rPr>
              <a:t>thích</a:t>
            </a:r>
            <a:r>
              <a:rPr lang="en-US" sz="2700">
                <a:solidFill>
                  <a:schemeClr val="dk1"/>
                </a:solidFill>
                <a:sym typeface="Calibri"/>
              </a:rPr>
              <a:t> </a:t>
            </a:r>
            <a:r>
              <a:rPr lang="en-US" sz="2700" err="1">
                <a:solidFill>
                  <a:schemeClr val="dk1"/>
                </a:solidFill>
                <a:sym typeface="Calibri"/>
              </a:rPr>
              <a:t>vai</a:t>
            </a:r>
            <a:r>
              <a:rPr lang="en-US" sz="2700">
                <a:solidFill>
                  <a:schemeClr val="dk1"/>
                </a:solidFill>
                <a:sym typeface="Calibri"/>
              </a:rPr>
              <a:t> </a:t>
            </a:r>
            <a:r>
              <a:rPr lang="en-US" sz="2700" err="1">
                <a:solidFill>
                  <a:schemeClr val="dk1"/>
                </a:solidFill>
                <a:sym typeface="Calibri"/>
              </a:rPr>
              <a:t>trò</a:t>
            </a:r>
            <a:r>
              <a:rPr lang="en-US" sz="2700">
                <a:solidFill>
                  <a:schemeClr val="dk1"/>
                </a:solidFill>
                <a:sym typeface="Calibri"/>
              </a:rPr>
              <a:t> </a:t>
            </a:r>
            <a:r>
              <a:rPr lang="en-US" sz="2700" err="1">
                <a:solidFill>
                  <a:schemeClr val="dk1"/>
                </a:solidFill>
                <a:sym typeface="Calibri"/>
              </a:rPr>
              <a:t>của</a:t>
            </a:r>
            <a:r>
              <a:rPr lang="en-US" sz="2700">
                <a:solidFill>
                  <a:schemeClr val="dk1"/>
                </a:solidFill>
                <a:sym typeface="Calibri"/>
              </a:rPr>
              <a:t> </a:t>
            </a:r>
            <a:r>
              <a:rPr lang="en-US" sz="2700" err="1">
                <a:solidFill>
                  <a:schemeClr val="dk1"/>
                </a:solidFill>
                <a:sym typeface="Calibri"/>
              </a:rPr>
              <a:t>nhu</a:t>
            </a:r>
            <a:r>
              <a:rPr lang="en-US" sz="2700">
                <a:solidFill>
                  <a:schemeClr val="dk1"/>
                </a:solidFill>
                <a:sym typeface="Calibri"/>
              </a:rPr>
              <a:t> </a:t>
            </a:r>
            <a:r>
              <a:rPr lang="en-US" sz="2700" err="1">
                <a:solidFill>
                  <a:schemeClr val="dk1"/>
                </a:solidFill>
                <a:sym typeface="Calibri"/>
              </a:rPr>
              <a:t>cầu</a:t>
            </a:r>
            <a:r>
              <a:rPr lang="en-US" sz="2700">
                <a:solidFill>
                  <a:schemeClr val="dk1"/>
                </a:solidFill>
                <a:sym typeface="Calibri"/>
              </a:rPr>
              <a:t> </a:t>
            </a:r>
            <a:r>
              <a:rPr lang="en-US" sz="2700" err="1">
                <a:solidFill>
                  <a:schemeClr val="dk1"/>
                </a:solidFill>
                <a:sym typeface="Calibri"/>
              </a:rPr>
              <a:t>và</a:t>
            </a:r>
            <a:r>
              <a:rPr lang="en-US" sz="2700">
                <a:solidFill>
                  <a:schemeClr val="dk1"/>
                </a:solidFill>
                <a:sym typeface="Calibri"/>
              </a:rPr>
              <a:t> </a:t>
            </a:r>
            <a:r>
              <a:rPr lang="en-US" sz="2700" err="1">
                <a:solidFill>
                  <a:schemeClr val="dk1"/>
                </a:solidFill>
                <a:sym typeface="Calibri"/>
              </a:rPr>
              <a:t>động</a:t>
            </a:r>
            <a:r>
              <a:rPr lang="en-US" sz="2700">
                <a:solidFill>
                  <a:schemeClr val="dk1"/>
                </a:solidFill>
                <a:sym typeface="Calibri"/>
              </a:rPr>
              <a:t> </a:t>
            </a:r>
            <a:r>
              <a:rPr lang="en-US" sz="2700" err="1">
                <a:solidFill>
                  <a:schemeClr val="dk1"/>
                </a:solidFill>
                <a:sym typeface="Calibri"/>
              </a:rPr>
              <a:t>cơ</a:t>
            </a:r>
            <a:r>
              <a:rPr lang="en-US" sz="2700">
                <a:solidFill>
                  <a:schemeClr val="dk1"/>
                </a:solidFill>
                <a:sym typeface="Calibri"/>
              </a:rPr>
              <a:t> </a:t>
            </a:r>
            <a:r>
              <a:rPr lang="en-US" sz="2700" err="1">
                <a:solidFill>
                  <a:schemeClr val="dk1"/>
                </a:solidFill>
                <a:sym typeface="Calibri"/>
              </a:rPr>
              <a:t>trong</a:t>
            </a:r>
            <a:r>
              <a:rPr lang="en-US" sz="2700">
                <a:solidFill>
                  <a:schemeClr val="dk1"/>
                </a:solidFill>
                <a:sym typeface="Calibri"/>
              </a:rPr>
              <a:t> </a:t>
            </a:r>
            <a:r>
              <a:rPr lang="en-US" sz="2700" err="1">
                <a:solidFill>
                  <a:schemeClr val="dk1"/>
                </a:solidFill>
                <a:sym typeface="Calibri"/>
              </a:rPr>
              <a:t>việc</a:t>
            </a:r>
            <a:r>
              <a:rPr lang="en-US" sz="2700">
                <a:solidFill>
                  <a:schemeClr val="dk1"/>
                </a:solidFill>
                <a:sym typeface="Calibri"/>
              </a:rPr>
              <a:t> </a:t>
            </a:r>
            <a:r>
              <a:rPr lang="en-US" sz="2700" err="1">
                <a:solidFill>
                  <a:schemeClr val="dk1"/>
                </a:solidFill>
                <a:sym typeface="Calibri"/>
              </a:rPr>
              <a:t>thúc</a:t>
            </a:r>
            <a:r>
              <a:rPr lang="en-US" sz="2700">
                <a:solidFill>
                  <a:schemeClr val="dk1"/>
                </a:solidFill>
                <a:sym typeface="Calibri"/>
              </a:rPr>
              <a:t> </a:t>
            </a:r>
            <a:r>
              <a:rPr lang="en-US" sz="2700" err="1">
                <a:solidFill>
                  <a:schemeClr val="dk1"/>
                </a:solidFill>
                <a:sym typeface="Calibri"/>
              </a:rPr>
              <a:t>đẩy</a:t>
            </a:r>
            <a:r>
              <a:rPr lang="en-US" sz="2700">
                <a:solidFill>
                  <a:schemeClr val="dk1"/>
                </a:solidFill>
                <a:sym typeface="Calibri"/>
              </a:rPr>
              <a:t> </a:t>
            </a:r>
            <a:r>
              <a:rPr lang="en-US" sz="2700" err="1">
                <a:solidFill>
                  <a:schemeClr val="dk1"/>
                </a:solidFill>
                <a:sym typeface="Calibri"/>
              </a:rPr>
              <a:t>hành</a:t>
            </a:r>
            <a:r>
              <a:rPr lang="en-US" sz="2700">
                <a:solidFill>
                  <a:schemeClr val="dk1"/>
                </a:solidFill>
                <a:sym typeface="Calibri"/>
              </a:rPr>
              <a:t> vi </a:t>
            </a:r>
            <a:r>
              <a:rPr lang="en-US" sz="2700" err="1">
                <a:solidFill>
                  <a:schemeClr val="dk1"/>
                </a:solidFill>
                <a:sym typeface="Calibri"/>
              </a:rPr>
              <a:t>của</a:t>
            </a:r>
            <a:r>
              <a:rPr lang="en-US" sz="2700">
                <a:solidFill>
                  <a:schemeClr val="dk1"/>
                </a:solidFill>
                <a:sym typeface="Calibri"/>
              </a:rPr>
              <a:t> </a:t>
            </a:r>
            <a:r>
              <a:rPr lang="en-US" sz="2700" err="1">
                <a:solidFill>
                  <a:schemeClr val="dk1"/>
                </a:solidFill>
                <a:sym typeface="Calibri"/>
              </a:rPr>
              <a:t>người</a:t>
            </a:r>
            <a:r>
              <a:rPr lang="en-US" sz="2700">
                <a:solidFill>
                  <a:schemeClr val="dk1"/>
                </a:solidFill>
                <a:sym typeface="Calibri"/>
              </a:rPr>
              <a:t> </a:t>
            </a:r>
            <a:r>
              <a:rPr lang="en-US" sz="2700" err="1">
                <a:solidFill>
                  <a:schemeClr val="dk1"/>
                </a:solidFill>
                <a:sym typeface="Calibri"/>
              </a:rPr>
              <a:t>tiêu</a:t>
            </a:r>
            <a:r>
              <a:rPr lang="en-US" sz="2700">
                <a:solidFill>
                  <a:schemeClr val="dk1"/>
                </a:solidFill>
                <a:sym typeface="Calibri"/>
              </a:rPr>
              <a:t> </a:t>
            </a:r>
            <a:r>
              <a:rPr lang="en-US" sz="2700" err="1">
                <a:solidFill>
                  <a:schemeClr val="dk1"/>
                </a:solidFill>
                <a:sym typeface="Calibri"/>
              </a:rPr>
              <a:t>dùng</a:t>
            </a:r>
            <a:r>
              <a:rPr lang="en-US" sz="2700">
                <a:solidFill>
                  <a:schemeClr val="dk1"/>
                </a:solidFill>
                <a:sym typeface="Calibri"/>
              </a:rPr>
              <a:t>. </a:t>
            </a:r>
          </a:p>
          <a:p>
            <a:pPr marL="1016000" lvl="1" indent="-558800" algn="just">
              <a:lnSpc>
                <a:spcPts val="3600"/>
              </a:lnSpc>
              <a:spcBef>
                <a:spcPts val="500"/>
              </a:spcBef>
              <a:buClr>
                <a:schemeClr val="dk1"/>
              </a:buClr>
              <a:buSzPct val="100000"/>
              <a:buFont typeface="Noto Sans Symbols"/>
              <a:buChar char="⮚"/>
            </a:pPr>
            <a:r>
              <a:rPr lang="en-US" sz="2700" err="1">
                <a:solidFill>
                  <a:schemeClr val="dk1"/>
                </a:solidFill>
              </a:rPr>
              <a:t>Phân</a:t>
            </a:r>
            <a:r>
              <a:rPr lang="en-US" sz="2700">
                <a:solidFill>
                  <a:schemeClr val="dk1"/>
                </a:solidFill>
              </a:rPr>
              <a:t> </a:t>
            </a:r>
            <a:r>
              <a:rPr lang="en-US" sz="2700" err="1">
                <a:solidFill>
                  <a:schemeClr val="dk1"/>
                </a:solidFill>
              </a:rPr>
              <a:t>tích</a:t>
            </a:r>
            <a:r>
              <a:rPr lang="en-US" sz="2700">
                <a:solidFill>
                  <a:schemeClr val="dk1"/>
                </a:solidFill>
              </a:rPr>
              <a:t> </a:t>
            </a:r>
            <a:r>
              <a:rPr lang="en-US" sz="2700" err="1">
                <a:solidFill>
                  <a:schemeClr val="dk1"/>
                </a:solidFill>
              </a:rPr>
              <a:t>quá</a:t>
            </a:r>
            <a:r>
              <a:rPr lang="en-US" sz="2700">
                <a:solidFill>
                  <a:schemeClr val="dk1"/>
                </a:solidFill>
              </a:rPr>
              <a:t> </a:t>
            </a:r>
            <a:r>
              <a:rPr lang="en-US" sz="2700" err="1">
                <a:solidFill>
                  <a:schemeClr val="dk1"/>
                </a:solidFill>
              </a:rPr>
              <a:t>trình</a:t>
            </a:r>
            <a:r>
              <a:rPr lang="en-US" sz="2700">
                <a:solidFill>
                  <a:schemeClr val="dk1"/>
                </a:solidFill>
              </a:rPr>
              <a:t> </a:t>
            </a:r>
            <a:r>
              <a:rPr lang="en-US" sz="2700" err="1">
                <a:solidFill>
                  <a:schemeClr val="dk1"/>
                </a:solidFill>
              </a:rPr>
              <a:t>nhận</a:t>
            </a:r>
            <a:r>
              <a:rPr lang="en-US" sz="2700">
                <a:solidFill>
                  <a:schemeClr val="dk1"/>
                </a:solidFill>
              </a:rPr>
              <a:t> </a:t>
            </a:r>
            <a:r>
              <a:rPr lang="en-US" sz="2700" err="1">
                <a:solidFill>
                  <a:schemeClr val="dk1"/>
                </a:solidFill>
              </a:rPr>
              <a:t>thức</a:t>
            </a:r>
            <a:r>
              <a:rPr lang="en-US" sz="2700">
                <a:solidFill>
                  <a:schemeClr val="dk1"/>
                </a:solidFill>
              </a:rPr>
              <a:t> </a:t>
            </a:r>
            <a:r>
              <a:rPr lang="en-US" sz="2700" err="1">
                <a:solidFill>
                  <a:schemeClr val="dk1"/>
                </a:solidFill>
              </a:rPr>
              <a:t>và</a:t>
            </a:r>
            <a:r>
              <a:rPr lang="en-US" sz="2700">
                <a:solidFill>
                  <a:schemeClr val="dk1"/>
                </a:solidFill>
              </a:rPr>
              <a:t> </a:t>
            </a:r>
            <a:r>
              <a:rPr lang="en-US" sz="2700" err="1">
                <a:solidFill>
                  <a:schemeClr val="dk1"/>
                </a:solidFill>
              </a:rPr>
              <a:t>cách</a:t>
            </a:r>
            <a:r>
              <a:rPr lang="en-US" sz="2700">
                <a:solidFill>
                  <a:schemeClr val="dk1"/>
                </a:solidFill>
              </a:rPr>
              <a:t> </a:t>
            </a:r>
            <a:r>
              <a:rPr lang="en-US" sz="2700" err="1">
                <a:solidFill>
                  <a:schemeClr val="dk1"/>
                </a:solidFill>
              </a:rPr>
              <a:t>người</a:t>
            </a:r>
            <a:r>
              <a:rPr lang="en-US" sz="2700">
                <a:solidFill>
                  <a:schemeClr val="dk1"/>
                </a:solidFill>
              </a:rPr>
              <a:t> </a:t>
            </a:r>
            <a:r>
              <a:rPr lang="en-US" sz="2700" err="1">
                <a:solidFill>
                  <a:schemeClr val="dk1"/>
                </a:solidFill>
              </a:rPr>
              <a:t>tiêu</a:t>
            </a:r>
            <a:r>
              <a:rPr lang="en-US" sz="2700">
                <a:solidFill>
                  <a:schemeClr val="dk1"/>
                </a:solidFill>
              </a:rPr>
              <a:t> </a:t>
            </a:r>
            <a:r>
              <a:rPr lang="en-US" sz="2700" err="1">
                <a:solidFill>
                  <a:schemeClr val="dk1"/>
                </a:solidFill>
              </a:rPr>
              <a:t>dùng</a:t>
            </a:r>
            <a:r>
              <a:rPr lang="en-US" sz="2700">
                <a:solidFill>
                  <a:schemeClr val="dk1"/>
                </a:solidFill>
              </a:rPr>
              <a:t> </a:t>
            </a:r>
            <a:r>
              <a:rPr lang="en-US" sz="2700" err="1">
                <a:solidFill>
                  <a:schemeClr val="dk1"/>
                </a:solidFill>
              </a:rPr>
              <a:t>lựa</a:t>
            </a:r>
            <a:r>
              <a:rPr lang="en-US" sz="2700">
                <a:solidFill>
                  <a:schemeClr val="dk1"/>
                </a:solidFill>
              </a:rPr>
              <a:t> </a:t>
            </a:r>
            <a:r>
              <a:rPr lang="en-US" sz="2700" err="1">
                <a:solidFill>
                  <a:schemeClr val="dk1"/>
                </a:solidFill>
              </a:rPr>
              <a:t>chọn</a:t>
            </a:r>
            <a:r>
              <a:rPr lang="en-US" sz="2700">
                <a:solidFill>
                  <a:schemeClr val="dk1"/>
                </a:solidFill>
              </a:rPr>
              <a:t>, </a:t>
            </a:r>
            <a:r>
              <a:rPr lang="en-US" sz="2700" err="1">
                <a:solidFill>
                  <a:schemeClr val="dk1"/>
                </a:solidFill>
              </a:rPr>
              <a:t>tổ</a:t>
            </a:r>
            <a:r>
              <a:rPr lang="en-US" sz="2700">
                <a:solidFill>
                  <a:schemeClr val="dk1"/>
                </a:solidFill>
              </a:rPr>
              <a:t> </a:t>
            </a:r>
            <a:r>
              <a:rPr lang="en-US" sz="2700" err="1">
                <a:solidFill>
                  <a:schemeClr val="dk1"/>
                </a:solidFill>
              </a:rPr>
              <a:t>chức</a:t>
            </a:r>
            <a:r>
              <a:rPr lang="en-US" sz="2700">
                <a:solidFill>
                  <a:schemeClr val="dk1"/>
                </a:solidFill>
              </a:rPr>
              <a:t> </a:t>
            </a:r>
            <a:r>
              <a:rPr lang="en-US" sz="2700" err="1">
                <a:solidFill>
                  <a:schemeClr val="dk1"/>
                </a:solidFill>
              </a:rPr>
              <a:t>và</a:t>
            </a:r>
            <a:r>
              <a:rPr lang="en-US" sz="2700">
                <a:solidFill>
                  <a:schemeClr val="dk1"/>
                </a:solidFill>
              </a:rPr>
              <a:t> </a:t>
            </a:r>
            <a:r>
              <a:rPr lang="en-US" sz="2700" err="1">
                <a:solidFill>
                  <a:schemeClr val="dk1"/>
                </a:solidFill>
              </a:rPr>
              <a:t>diễn</a:t>
            </a:r>
            <a:r>
              <a:rPr lang="en-US" sz="2700">
                <a:solidFill>
                  <a:schemeClr val="dk1"/>
                </a:solidFill>
              </a:rPr>
              <a:t> </a:t>
            </a:r>
            <a:r>
              <a:rPr lang="en-US" sz="2700" err="1">
                <a:solidFill>
                  <a:schemeClr val="dk1"/>
                </a:solidFill>
              </a:rPr>
              <a:t>giải</a:t>
            </a:r>
            <a:r>
              <a:rPr lang="en-US" sz="2700">
                <a:solidFill>
                  <a:schemeClr val="dk1"/>
                </a:solidFill>
              </a:rPr>
              <a:t> </a:t>
            </a:r>
            <a:r>
              <a:rPr lang="en-US" sz="2700" err="1">
                <a:solidFill>
                  <a:schemeClr val="dk1"/>
                </a:solidFill>
              </a:rPr>
              <a:t>các</a:t>
            </a:r>
            <a:r>
              <a:rPr lang="en-US" sz="2700">
                <a:solidFill>
                  <a:schemeClr val="dk1"/>
                </a:solidFill>
              </a:rPr>
              <a:t> </a:t>
            </a:r>
            <a:r>
              <a:rPr lang="en-US" sz="2700" err="1">
                <a:solidFill>
                  <a:schemeClr val="dk1"/>
                </a:solidFill>
              </a:rPr>
              <a:t>kích</a:t>
            </a:r>
            <a:r>
              <a:rPr lang="en-US" sz="2700">
                <a:solidFill>
                  <a:schemeClr val="dk1"/>
                </a:solidFill>
              </a:rPr>
              <a:t> </a:t>
            </a:r>
            <a:r>
              <a:rPr lang="en-US" sz="2700" err="1">
                <a:solidFill>
                  <a:schemeClr val="dk1"/>
                </a:solidFill>
              </a:rPr>
              <a:t>thích</a:t>
            </a:r>
            <a:r>
              <a:rPr lang="en-US" sz="2700">
                <a:solidFill>
                  <a:schemeClr val="dk1"/>
                </a:solidFill>
              </a:rPr>
              <a:t> marketing. </a:t>
            </a:r>
          </a:p>
          <a:p>
            <a:pPr marL="1016000" lvl="1" indent="-558800" algn="just">
              <a:lnSpc>
                <a:spcPts val="3600"/>
              </a:lnSpc>
              <a:spcBef>
                <a:spcPts val="500"/>
              </a:spcBef>
              <a:buClr>
                <a:schemeClr val="dk1"/>
              </a:buClr>
              <a:buSzPct val="100000"/>
              <a:buFont typeface="Noto Sans Symbols"/>
              <a:buChar char="⮚"/>
            </a:pPr>
            <a:r>
              <a:rPr lang="en-US" sz="2700" err="1">
                <a:solidFill>
                  <a:schemeClr val="dk1"/>
                </a:solidFill>
              </a:rPr>
              <a:t>Giải</a:t>
            </a:r>
            <a:r>
              <a:rPr lang="en-US" sz="2700">
                <a:solidFill>
                  <a:schemeClr val="dk1"/>
                </a:solidFill>
              </a:rPr>
              <a:t> </a:t>
            </a:r>
            <a:r>
              <a:rPr lang="en-US" sz="2700" err="1">
                <a:solidFill>
                  <a:schemeClr val="dk1"/>
                </a:solidFill>
              </a:rPr>
              <a:t>thích</a:t>
            </a:r>
            <a:r>
              <a:rPr lang="en-US" sz="2700">
                <a:solidFill>
                  <a:schemeClr val="dk1"/>
                </a:solidFill>
              </a:rPr>
              <a:t> </a:t>
            </a:r>
            <a:r>
              <a:rPr lang="en-US" sz="2700" err="1">
                <a:solidFill>
                  <a:schemeClr val="dk1"/>
                </a:solidFill>
              </a:rPr>
              <a:t>quá</a:t>
            </a:r>
            <a:r>
              <a:rPr lang="en-US" sz="2700">
                <a:solidFill>
                  <a:schemeClr val="dk1"/>
                </a:solidFill>
              </a:rPr>
              <a:t> </a:t>
            </a:r>
            <a:r>
              <a:rPr lang="en-US" sz="2700" err="1">
                <a:solidFill>
                  <a:schemeClr val="dk1"/>
                </a:solidFill>
              </a:rPr>
              <a:t>trình</a:t>
            </a:r>
            <a:r>
              <a:rPr lang="en-US" sz="2700">
                <a:solidFill>
                  <a:schemeClr val="dk1"/>
                </a:solidFill>
              </a:rPr>
              <a:t> </a:t>
            </a:r>
            <a:r>
              <a:rPr lang="en-US" sz="2700" err="1">
                <a:solidFill>
                  <a:schemeClr val="dk1"/>
                </a:solidFill>
              </a:rPr>
              <a:t>học</a:t>
            </a:r>
            <a:r>
              <a:rPr lang="en-US" sz="2700">
                <a:solidFill>
                  <a:schemeClr val="dk1"/>
                </a:solidFill>
              </a:rPr>
              <a:t> </a:t>
            </a:r>
            <a:r>
              <a:rPr lang="en-US" sz="2700" err="1">
                <a:solidFill>
                  <a:schemeClr val="dk1"/>
                </a:solidFill>
              </a:rPr>
              <a:t>hỏi</a:t>
            </a:r>
            <a:r>
              <a:rPr lang="en-US" sz="2700">
                <a:solidFill>
                  <a:schemeClr val="dk1"/>
                </a:solidFill>
              </a:rPr>
              <a:t> </a:t>
            </a:r>
            <a:r>
              <a:rPr lang="en-US" sz="2700" err="1">
                <a:solidFill>
                  <a:schemeClr val="dk1"/>
                </a:solidFill>
              </a:rPr>
              <a:t>và</a:t>
            </a:r>
            <a:r>
              <a:rPr lang="en-US" sz="2700">
                <a:solidFill>
                  <a:schemeClr val="dk1"/>
                </a:solidFill>
              </a:rPr>
              <a:t> </a:t>
            </a:r>
            <a:r>
              <a:rPr lang="en-US" sz="2700" err="1">
                <a:solidFill>
                  <a:schemeClr val="dk1"/>
                </a:solidFill>
              </a:rPr>
              <a:t>cách</a:t>
            </a:r>
            <a:r>
              <a:rPr lang="en-US" sz="2700">
                <a:solidFill>
                  <a:schemeClr val="dk1"/>
                </a:solidFill>
              </a:rPr>
              <a:t> </a:t>
            </a:r>
            <a:r>
              <a:rPr lang="en-US" sz="2700" err="1">
                <a:solidFill>
                  <a:schemeClr val="dk1"/>
                </a:solidFill>
              </a:rPr>
              <a:t>trải</a:t>
            </a:r>
            <a:r>
              <a:rPr lang="en-US" sz="2700">
                <a:solidFill>
                  <a:schemeClr val="dk1"/>
                </a:solidFill>
              </a:rPr>
              <a:t> </a:t>
            </a:r>
            <a:r>
              <a:rPr lang="en-US" sz="2700" err="1">
                <a:solidFill>
                  <a:schemeClr val="dk1"/>
                </a:solidFill>
              </a:rPr>
              <a:t>nghiệm</a:t>
            </a:r>
            <a:r>
              <a:rPr lang="en-US" sz="2700">
                <a:solidFill>
                  <a:schemeClr val="dk1"/>
                </a:solidFill>
              </a:rPr>
              <a:t>, </a:t>
            </a:r>
            <a:r>
              <a:rPr lang="en-US" sz="2700" err="1">
                <a:solidFill>
                  <a:schemeClr val="dk1"/>
                </a:solidFill>
              </a:rPr>
              <a:t>thông</a:t>
            </a:r>
            <a:r>
              <a:rPr lang="en-US" sz="2700">
                <a:solidFill>
                  <a:schemeClr val="dk1"/>
                </a:solidFill>
              </a:rPr>
              <a:t> tin </a:t>
            </a:r>
            <a:r>
              <a:rPr lang="en-US" sz="2700" err="1">
                <a:solidFill>
                  <a:schemeClr val="dk1"/>
                </a:solidFill>
              </a:rPr>
              <a:t>và</a:t>
            </a:r>
            <a:r>
              <a:rPr lang="en-US" sz="2700">
                <a:solidFill>
                  <a:schemeClr val="dk1"/>
                </a:solidFill>
              </a:rPr>
              <a:t> </a:t>
            </a:r>
            <a:r>
              <a:rPr lang="en-US" sz="2700" err="1">
                <a:solidFill>
                  <a:schemeClr val="dk1"/>
                </a:solidFill>
              </a:rPr>
              <a:t>sự</a:t>
            </a:r>
            <a:r>
              <a:rPr lang="en-US" sz="2700">
                <a:solidFill>
                  <a:schemeClr val="dk1"/>
                </a:solidFill>
              </a:rPr>
              <a:t> </a:t>
            </a:r>
            <a:r>
              <a:rPr lang="en-US" sz="2700" err="1">
                <a:solidFill>
                  <a:schemeClr val="dk1"/>
                </a:solidFill>
              </a:rPr>
              <a:t>củng</a:t>
            </a:r>
            <a:r>
              <a:rPr lang="en-US" sz="2700">
                <a:solidFill>
                  <a:schemeClr val="dk1"/>
                </a:solidFill>
              </a:rPr>
              <a:t> </a:t>
            </a:r>
            <a:r>
              <a:rPr lang="en-US" sz="2700" err="1">
                <a:solidFill>
                  <a:schemeClr val="dk1"/>
                </a:solidFill>
              </a:rPr>
              <a:t>cố</a:t>
            </a:r>
            <a:r>
              <a:rPr lang="en-US" sz="2700">
                <a:solidFill>
                  <a:schemeClr val="dk1"/>
                </a:solidFill>
              </a:rPr>
              <a:t> </a:t>
            </a:r>
            <a:r>
              <a:rPr lang="en-US" sz="2700" err="1">
                <a:solidFill>
                  <a:schemeClr val="dk1"/>
                </a:solidFill>
              </a:rPr>
              <a:t>làm</a:t>
            </a:r>
            <a:r>
              <a:rPr lang="en-US" sz="2700">
                <a:solidFill>
                  <a:schemeClr val="dk1"/>
                </a:solidFill>
              </a:rPr>
              <a:t> </a:t>
            </a:r>
            <a:r>
              <a:rPr lang="en-US" sz="2700" err="1">
                <a:solidFill>
                  <a:schemeClr val="dk1"/>
                </a:solidFill>
              </a:rPr>
              <a:t>thay</a:t>
            </a:r>
            <a:r>
              <a:rPr lang="en-US" sz="2700">
                <a:solidFill>
                  <a:schemeClr val="dk1"/>
                </a:solidFill>
              </a:rPr>
              <a:t> </a:t>
            </a:r>
            <a:r>
              <a:rPr lang="en-US" sz="2700" err="1">
                <a:solidFill>
                  <a:schemeClr val="dk1"/>
                </a:solidFill>
              </a:rPr>
              <a:t>đổi</a:t>
            </a:r>
            <a:r>
              <a:rPr lang="en-US" sz="2700">
                <a:solidFill>
                  <a:schemeClr val="dk1"/>
                </a:solidFill>
              </a:rPr>
              <a:t> </a:t>
            </a:r>
            <a:r>
              <a:rPr lang="en-US" sz="2700" err="1">
                <a:solidFill>
                  <a:schemeClr val="dk1"/>
                </a:solidFill>
              </a:rPr>
              <a:t>hành</a:t>
            </a:r>
            <a:r>
              <a:rPr lang="en-US" sz="2700">
                <a:solidFill>
                  <a:schemeClr val="dk1"/>
                </a:solidFill>
              </a:rPr>
              <a:t> vi </a:t>
            </a:r>
            <a:r>
              <a:rPr lang="en-US" sz="2700" err="1">
                <a:solidFill>
                  <a:schemeClr val="dk1"/>
                </a:solidFill>
              </a:rPr>
              <a:t>người</a:t>
            </a:r>
            <a:r>
              <a:rPr lang="en-US" sz="2700">
                <a:solidFill>
                  <a:schemeClr val="dk1"/>
                </a:solidFill>
              </a:rPr>
              <a:t> </a:t>
            </a:r>
            <a:r>
              <a:rPr lang="en-US" sz="2700" err="1">
                <a:solidFill>
                  <a:schemeClr val="dk1"/>
                </a:solidFill>
              </a:rPr>
              <a:t>tiêu</a:t>
            </a:r>
            <a:r>
              <a:rPr lang="en-US" sz="2700">
                <a:solidFill>
                  <a:schemeClr val="dk1"/>
                </a:solidFill>
              </a:rPr>
              <a:t> </a:t>
            </a:r>
            <a:r>
              <a:rPr lang="en-US" sz="2700" err="1">
                <a:solidFill>
                  <a:schemeClr val="dk1"/>
                </a:solidFill>
              </a:rPr>
              <a:t>dùng</a:t>
            </a:r>
            <a:r>
              <a:rPr lang="en-US" sz="2700">
                <a:solidFill>
                  <a:schemeClr val="dk1"/>
                </a:solidFill>
              </a:rPr>
              <a:t>. </a:t>
            </a:r>
          </a:p>
          <a:p>
            <a:pPr marL="1016000" lvl="1" indent="-558800" algn="just">
              <a:lnSpc>
                <a:spcPts val="3600"/>
              </a:lnSpc>
              <a:spcBef>
                <a:spcPts val="500"/>
              </a:spcBef>
              <a:buClr>
                <a:schemeClr val="dk1"/>
              </a:buClr>
              <a:buSzPct val="100000"/>
              <a:buFont typeface="Noto Sans Symbols"/>
              <a:buChar char="⮚"/>
            </a:pPr>
            <a:r>
              <a:rPr lang="en-US" sz="2700" err="1">
                <a:solidFill>
                  <a:schemeClr val="dk1"/>
                </a:solidFill>
              </a:rPr>
              <a:t>Phân</a:t>
            </a:r>
            <a:r>
              <a:rPr lang="en-US" sz="2700">
                <a:solidFill>
                  <a:schemeClr val="dk1"/>
                </a:solidFill>
              </a:rPr>
              <a:t> </a:t>
            </a:r>
            <a:r>
              <a:rPr lang="en-US" sz="2700" err="1">
                <a:solidFill>
                  <a:schemeClr val="dk1"/>
                </a:solidFill>
              </a:rPr>
              <a:t>tích</a:t>
            </a:r>
            <a:r>
              <a:rPr lang="en-US" sz="2700">
                <a:solidFill>
                  <a:schemeClr val="dk1"/>
                </a:solidFill>
              </a:rPr>
              <a:t> </a:t>
            </a:r>
            <a:r>
              <a:rPr lang="en-US" sz="2700" err="1">
                <a:solidFill>
                  <a:schemeClr val="dk1"/>
                </a:solidFill>
              </a:rPr>
              <a:t>sự</a:t>
            </a:r>
            <a:r>
              <a:rPr lang="en-US" sz="2700">
                <a:solidFill>
                  <a:schemeClr val="dk1"/>
                </a:solidFill>
              </a:rPr>
              <a:t> </a:t>
            </a:r>
            <a:r>
              <a:rPr lang="en-US" sz="2700" err="1">
                <a:solidFill>
                  <a:schemeClr val="dk1"/>
                </a:solidFill>
              </a:rPr>
              <a:t>hình</a:t>
            </a:r>
            <a:r>
              <a:rPr lang="en-US" sz="2700">
                <a:solidFill>
                  <a:schemeClr val="dk1"/>
                </a:solidFill>
              </a:rPr>
              <a:t> </a:t>
            </a:r>
            <a:r>
              <a:rPr lang="en-US" sz="2700" err="1">
                <a:solidFill>
                  <a:schemeClr val="dk1"/>
                </a:solidFill>
              </a:rPr>
              <a:t>thành</a:t>
            </a:r>
            <a:r>
              <a:rPr lang="en-US" sz="2700">
                <a:solidFill>
                  <a:schemeClr val="dk1"/>
                </a:solidFill>
              </a:rPr>
              <a:t> </a:t>
            </a:r>
            <a:r>
              <a:rPr lang="en-US" sz="2700" err="1">
                <a:solidFill>
                  <a:schemeClr val="dk1"/>
                </a:solidFill>
              </a:rPr>
              <a:t>thái</a:t>
            </a:r>
            <a:r>
              <a:rPr lang="en-US" sz="2700">
                <a:solidFill>
                  <a:schemeClr val="dk1"/>
                </a:solidFill>
              </a:rPr>
              <a:t> </a:t>
            </a:r>
            <a:r>
              <a:rPr lang="en-US" sz="2700" err="1">
                <a:solidFill>
                  <a:schemeClr val="dk1"/>
                </a:solidFill>
              </a:rPr>
              <a:t>độ</a:t>
            </a:r>
            <a:r>
              <a:rPr lang="en-US" sz="2700">
                <a:solidFill>
                  <a:schemeClr val="dk1"/>
                </a:solidFill>
              </a:rPr>
              <a:t> </a:t>
            </a:r>
            <a:r>
              <a:rPr lang="en-US" sz="2700" err="1">
                <a:solidFill>
                  <a:schemeClr val="dk1"/>
                </a:solidFill>
              </a:rPr>
              <a:t>và</a:t>
            </a:r>
            <a:r>
              <a:rPr lang="en-US" sz="2700">
                <a:solidFill>
                  <a:schemeClr val="dk1"/>
                </a:solidFill>
              </a:rPr>
              <a:t> </a:t>
            </a:r>
            <a:r>
              <a:rPr lang="en-US" sz="2700" err="1">
                <a:solidFill>
                  <a:schemeClr val="dk1"/>
                </a:solidFill>
              </a:rPr>
              <a:t>mối</a:t>
            </a:r>
            <a:r>
              <a:rPr lang="en-US" sz="2700">
                <a:solidFill>
                  <a:schemeClr val="dk1"/>
                </a:solidFill>
              </a:rPr>
              <a:t> </a:t>
            </a:r>
            <a:r>
              <a:rPr lang="en-US" sz="2700" err="1">
                <a:solidFill>
                  <a:schemeClr val="dk1"/>
                </a:solidFill>
              </a:rPr>
              <a:t>quan</a:t>
            </a:r>
            <a:r>
              <a:rPr lang="en-US" sz="2700">
                <a:solidFill>
                  <a:schemeClr val="dk1"/>
                </a:solidFill>
              </a:rPr>
              <a:t> </a:t>
            </a:r>
            <a:r>
              <a:rPr lang="en-US" sz="2700" err="1">
                <a:solidFill>
                  <a:schemeClr val="dk1"/>
                </a:solidFill>
              </a:rPr>
              <a:t>hệ</a:t>
            </a:r>
            <a:r>
              <a:rPr lang="en-US" sz="2700">
                <a:solidFill>
                  <a:schemeClr val="dk1"/>
                </a:solidFill>
              </a:rPr>
              <a:t> </a:t>
            </a:r>
            <a:r>
              <a:rPr lang="en-US" sz="2700" err="1">
                <a:solidFill>
                  <a:schemeClr val="dk1"/>
                </a:solidFill>
              </a:rPr>
              <a:t>giữa</a:t>
            </a:r>
            <a:r>
              <a:rPr lang="en-US" sz="2700">
                <a:solidFill>
                  <a:schemeClr val="dk1"/>
                </a:solidFill>
              </a:rPr>
              <a:t> </a:t>
            </a:r>
            <a:r>
              <a:rPr lang="en-US" sz="2700" err="1">
                <a:solidFill>
                  <a:schemeClr val="dk1"/>
                </a:solidFill>
              </a:rPr>
              <a:t>nhận</a:t>
            </a:r>
            <a:r>
              <a:rPr lang="en-US" sz="2700">
                <a:solidFill>
                  <a:schemeClr val="dk1"/>
                </a:solidFill>
              </a:rPr>
              <a:t> </a:t>
            </a:r>
            <a:r>
              <a:rPr lang="en-US" sz="2700" err="1">
                <a:solidFill>
                  <a:schemeClr val="dk1"/>
                </a:solidFill>
              </a:rPr>
              <a:t>thức</a:t>
            </a:r>
            <a:r>
              <a:rPr lang="en-US" sz="2700">
                <a:solidFill>
                  <a:schemeClr val="dk1"/>
                </a:solidFill>
              </a:rPr>
              <a:t> – </a:t>
            </a:r>
            <a:r>
              <a:rPr lang="en-US" sz="2700" err="1">
                <a:solidFill>
                  <a:schemeClr val="dk1"/>
                </a:solidFill>
              </a:rPr>
              <a:t>cảm</a:t>
            </a:r>
            <a:r>
              <a:rPr lang="en-US" sz="2700">
                <a:solidFill>
                  <a:schemeClr val="dk1"/>
                </a:solidFill>
              </a:rPr>
              <a:t> </a:t>
            </a:r>
            <a:r>
              <a:rPr lang="en-US" sz="2700" err="1">
                <a:solidFill>
                  <a:schemeClr val="dk1"/>
                </a:solidFill>
              </a:rPr>
              <a:t>xúc</a:t>
            </a:r>
            <a:r>
              <a:rPr lang="en-US" sz="2700">
                <a:solidFill>
                  <a:schemeClr val="dk1"/>
                </a:solidFill>
              </a:rPr>
              <a:t> – ý </a:t>
            </a:r>
            <a:r>
              <a:rPr lang="en-US" sz="2700" err="1">
                <a:solidFill>
                  <a:schemeClr val="dk1"/>
                </a:solidFill>
              </a:rPr>
              <a:t>định</a:t>
            </a:r>
            <a:r>
              <a:rPr lang="en-US" sz="2700">
                <a:solidFill>
                  <a:schemeClr val="dk1"/>
                </a:solidFill>
              </a:rPr>
              <a:t>/</a:t>
            </a:r>
            <a:r>
              <a:rPr lang="en-US" sz="2700" err="1">
                <a:solidFill>
                  <a:schemeClr val="dk1"/>
                </a:solidFill>
              </a:rPr>
              <a:t>hành</a:t>
            </a:r>
            <a:r>
              <a:rPr lang="en-US" sz="2700">
                <a:solidFill>
                  <a:schemeClr val="dk1"/>
                </a:solidFill>
              </a:rPr>
              <a:t> vi. </a:t>
            </a:r>
          </a:p>
          <a:p>
            <a:pPr marL="1016000" lvl="1" indent="-558800" algn="just">
              <a:lnSpc>
                <a:spcPts val="3600"/>
              </a:lnSpc>
              <a:spcBef>
                <a:spcPts val="500"/>
              </a:spcBef>
              <a:buClr>
                <a:schemeClr val="dk1"/>
              </a:buClr>
              <a:buSzPct val="100000"/>
              <a:buFont typeface="Noto Sans Symbols"/>
              <a:buChar char="⮚"/>
            </a:pPr>
            <a:r>
              <a:rPr lang="en-US" sz="2700" err="1">
                <a:solidFill>
                  <a:schemeClr val="dk1"/>
                </a:solidFill>
              </a:rPr>
              <a:t>Vận</a:t>
            </a:r>
            <a:r>
              <a:rPr lang="en-US" sz="2700">
                <a:solidFill>
                  <a:schemeClr val="dk1"/>
                </a:solidFill>
              </a:rPr>
              <a:t> </a:t>
            </a:r>
            <a:r>
              <a:rPr lang="en-US" sz="2700" err="1">
                <a:solidFill>
                  <a:schemeClr val="dk1"/>
                </a:solidFill>
              </a:rPr>
              <a:t>dụng</a:t>
            </a:r>
            <a:r>
              <a:rPr lang="en-US" sz="2700">
                <a:solidFill>
                  <a:schemeClr val="dk1"/>
                </a:solidFill>
              </a:rPr>
              <a:t> </a:t>
            </a:r>
            <a:r>
              <a:rPr lang="en-US" sz="2700" err="1">
                <a:solidFill>
                  <a:schemeClr val="dk1"/>
                </a:solidFill>
              </a:rPr>
              <a:t>các</a:t>
            </a:r>
            <a:r>
              <a:rPr lang="en-US" sz="2700">
                <a:solidFill>
                  <a:schemeClr val="dk1"/>
                </a:solidFill>
              </a:rPr>
              <a:t> </a:t>
            </a:r>
            <a:r>
              <a:rPr lang="en-US" sz="2700" err="1">
                <a:solidFill>
                  <a:schemeClr val="dk1"/>
                </a:solidFill>
              </a:rPr>
              <a:t>lý</a:t>
            </a:r>
            <a:r>
              <a:rPr lang="en-US" sz="2700">
                <a:solidFill>
                  <a:schemeClr val="dk1"/>
                </a:solidFill>
              </a:rPr>
              <a:t> </a:t>
            </a:r>
            <a:r>
              <a:rPr lang="en-US" sz="2700" err="1">
                <a:solidFill>
                  <a:schemeClr val="dk1"/>
                </a:solidFill>
              </a:rPr>
              <a:t>thuyết</a:t>
            </a:r>
            <a:r>
              <a:rPr lang="en-US" sz="2700">
                <a:solidFill>
                  <a:schemeClr val="dk1"/>
                </a:solidFill>
              </a:rPr>
              <a:t> </a:t>
            </a:r>
            <a:r>
              <a:rPr lang="en-US" sz="2700" err="1">
                <a:solidFill>
                  <a:schemeClr val="dk1"/>
                </a:solidFill>
              </a:rPr>
              <a:t>tâm</a:t>
            </a:r>
            <a:r>
              <a:rPr lang="en-US" sz="2700">
                <a:solidFill>
                  <a:schemeClr val="dk1"/>
                </a:solidFill>
              </a:rPr>
              <a:t> </a:t>
            </a:r>
            <a:r>
              <a:rPr lang="en-US" sz="2700" err="1">
                <a:solidFill>
                  <a:schemeClr val="dk1"/>
                </a:solidFill>
              </a:rPr>
              <a:t>lý</a:t>
            </a:r>
            <a:r>
              <a:rPr lang="en-US" sz="2700">
                <a:solidFill>
                  <a:schemeClr val="dk1"/>
                </a:solidFill>
              </a:rPr>
              <a:t> </a:t>
            </a:r>
            <a:r>
              <a:rPr lang="en-US" sz="2700" err="1">
                <a:solidFill>
                  <a:schemeClr val="dk1"/>
                </a:solidFill>
              </a:rPr>
              <a:t>để</a:t>
            </a:r>
            <a:r>
              <a:rPr lang="en-US" sz="2700">
                <a:solidFill>
                  <a:schemeClr val="dk1"/>
                </a:solidFill>
              </a:rPr>
              <a:t> </a:t>
            </a:r>
            <a:r>
              <a:rPr lang="en-US" sz="2700" err="1">
                <a:solidFill>
                  <a:schemeClr val="dk1"/>
                </a:solidFill>
              </a:rPr>
              <a:t>giải</a:t>
            </a:r>
            <a:r>
              <a:rPr lang="en-US" sz="2700">
                <a:solidFill>
                  <a:schemeClr val="dk1"/>
                </a:solidFill>
              </a:rPr>
              <a:t> </a:t>
            </a:r>
            <a:r>
              <a:rPr lang="en-US" sz="2700" err="1">
                <a:solidFill>
                  <a:schemeClr val="dk1"/>
                </a:solidFill>
              </a:rPr>
              <a:t>thích</a:t>
            </a:r>
            <a:r>
              <a:rPr lang="en-US" sz="2700">
                <a:solidFill>
                  <a:schemeClr val="dk1"/>
                </a:solidFill>
              </a:rPr>
              <a:t> </a:t>
            </a:r>
            <a:r>
              <a:rPr lang="en-US" sz="2700" err="1">
                <a:solidFill>
                  <a:schemeClr val="dk1"/>
                </a:solidFill>
              </a:rPr>
              <a:t>hành</a:t>
            </a:r>
            <a:r>
              <a:rPr lang="en-US" sz="2700">
                <a:solidFill>
                  <a:schemeClr val="dk1"/>
                </a:solidFill>
              </a:rPr>
              <a:t> vi </a:t>
            </a:r>
            <a:r>
              <a:rPr lang="en-US" sz="2700" err="1">
                <a:solidFill>
                  <a:schemeClr val="dk1"/>
                </a:solidFill>
              </a:rPr>
              <a:t>khách</a:t>
            </a:r>
            <a:r>
              <a:rPr lang="en-US" sz="2700">
                <a:solidFill>
                  <a:schemeClr val="dk1"/>
                </a:solidFill>
              </a:rPr>
              <a:t> </a:t>
            </a:r>
            <a:r>
              <a:rPr lang="en-US" sz="2700" err="1">
                <a:solidFill>
                  <a:schemeClr val="dk1"/>
                </a:solidFill>
              </a:rPr>
              <a:t>hàng</a:t>
            </a:r>
            <a:r>
              <a:rPr lang="en-US" sz="2700">
                <a:solidFill>
                  <a:schemeClr val="dk1"/>
                </a:solidFill>
              </a:rPr>
              <a:t> </a:t>
            </a:r>
            <a:r>
              <a:rPr lang="en-US" sz="2700" err="1">
                <a:solidFill>
                  <a:schemeClr val="dk1"/>
                </a:solidFill>
              </a:rPr>
              <a:t>và</a:t>
            </a:r>
            <a:r>
              <a:rPr lang="en-US" sz="2700">
                <a:solidFill>
                  <a:schemeClr val="dk1"/>
                </a:solidFill>
              </a:rPr>
              <a:t> </a:t>
            </a:r>
            <a:r>
              <a:rPr lang="en-US" sz="2700" err="1">
                <a:solidFill>
                  <a:schemeClr val="dk1"/>
                </a:solidFill>
              </a:rPr>
              <a:t>đề</a:t>
            </a:r>
            <a:r>
              <a:rPr lang="en-US" sz="2700">
                <a:solidFill>
                  <a:schemeClr val="dk1"/>
                </a:solidFill>
              </a:rPr>
              <a:t> </a:t>
            </a:r>
            <a:r>
              <a:rPr lang="en-US" sz="2700" err="1">
                <a:solidFill>
                  <a:schemeClr val="dk1"/>
                </a:solidFill>
              </a:rPr>
              <a:t>xuất</a:t>
            </a:r>
            <a:r>
              <a:rPr lang="en-US" sz="2700">
                <a:solidFill>
                  <a:schemeClr val="dk1"/>
                </a:solidFill>
              </a:rPr>
              <a:t> </a:t>
            </a:r>
            <a:r>
              <a:rPr lang="en-US" sz="2700" err="1">
                <a:solidFill>
                  <a:schemeClr val="dk1"/>
                </a:solidFill>
              </a:rPr>
              <a:t>chiến</a:t>
            </a:r>
            <a:r>
              <a:rPr lang="en-US" sz="2700">
                <a:solidFill>
                  <a:schemeClr val="dk1"/>
                </a:solidFill>
              </a:rPr>
              <a:t> </a:t>
            </a:r>
            <a:r>
              <a:rPr lang="en-US" sz="2700" err="1">
                <a:solidFill>
                  <a:schemeClr val="dk1"/>
                </a:solidFill>
              </a:rPr>
              <a:t>lược</a:t>
            </a:r>
            <a:r>
              <a:rPr lang="en-US" sz="2700">
                <a:solidFill>
                  <a:schemeClr val="dk1"/>
                </a:solidFill>
              </a:rPr>
              <a:t> marketing </a:t>
            </a:r>
            <a:r>
              <a:rPr lang="en-US" sz="2700" err="1">
                <a:solidFill>
                  <a:schemeClr val="dk1"/>
                </a:solidFill>
              </a:rPr>
              <a:t>phù</a:t>
            </a:r>
            <a:r>
              <a:rPr lang="en-US" sz="2700">
                <a:solidFill>
                  <a:schemeClr val="dk1"/>
                </a:solidFill>
              </a:rPr>
              <a:t> </a:t>
            </a:r>
            <a:r>
              <a:rPr lang="en-US" sz="2700" err="1">
                <a:solidFill>
                  <a:schemeClr val="dk1"/>
                </a:solidFill>
              </a:rPr>
              <a:t>hợp</a:t>
            </a:r>
            <a:r>
              <a:rPr lang="en-US" sz="2700">
                <a:solidFill>
                  <a:schemeClr val="dk1"/>
                </a:solidFill>
              </a:rPr>
              <a:t>.</a:t>
            </a:r>
          </a:p>
        </p:txBody>
      </p:sp>
    </p:spTree>
    <p:extLst>
      <p:ext uri="{BB962C8B-B14F-4D97-AF65-F5344CB8AC3E}">
        <p14:creationId xmlns:p14="http://schemas.microsoft.com/office/powerpoint/2010/main" val="67397450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462AA-829A-904B-9C6A-B6B39C260D61}"/>
              </a:ext>
            </a:extLst>
          </p:cNvPr>
          <p:cNvSpPr>
            <a:spLocks noGrp="1"/>
          </p:cNvSpPr>
          <p:nvPr>
            <p:ph type="title"/>
          </p:nvPr>
        </p:nvSpPr>
        <p:spPr/>
        <p:txBody>
          <a:bodyPr>
            <a:normAutofit/>
          </a:bodyPr>
          <a:lstStyle/>
          <a:p>
            <a:r>
              <a:rPr lang="en-VN" sz="3600" b="1">
                <a:latin typeface="Arial" panose="020B0604020202020204" pitchFamily="34" charset="0"/>
                <a:cs typeface="Arial" panose="020B0604020202020204" pitchFamily="34" charset="0"/>
              </a:rPr>
              <a:t>NỘI DUNG CHƯƠNG </a:t>
            </a:r>
            <a:r>
              <a:rPr lang="en-US" sz="3600" b="1">
                <a:latin typeface="Arial" panose="020B0604020202020204" pitchFamily="34" charset="0"/>
                <a:cs typeface="Arial" panose="020B0604020202020204" pitchFamily="34" charset="0"/>
              </a:rPr>
              <a:t>3</a:t>
            </a:r>
            <a:endParaRPr lang="en-VN" sz="3600" b="1">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62C8441-8A37-4749-93CE-837659015701}"/>
              </a:ext>
            </a:extLst>
          </p:cNvPr>
          <p:cNvSpPr>
            <a:spLocks noGrp="1"/>
          </p:cNvSpPr>
          <p:nvPr>
            <p:ph idx="1"/>
          </p:nvPr>
        </p:nvSpPr>
        <p:spPr/>
        <p:txBody>
          <a:bodyPr>
            <a:noAutofit/>
          </a:bodyPr>
          <a:lstStyle/>
          <a:p>
            <a:pPr marL="0" marR="0" indent="0" algn="just">
              <a:lnSpc>
                <a:spcPct val="150000"/>
              </a:lnSpc>
              <a:spcBef>
                <a:spcPts val="0"/>
              </a:spcBef>
              <a:spcAft>
                <a:spcPts val="0"/>
              </a:spcAft>
              <a:buNone/>
              <a:tabLst>
                <a:tab pos="381000" algn="l"/>
              </a:tabLst>
            </a:pPr>
            <a:r>
              <a:rPr lang="en-US" sz="3600">
                <a:effectLst/>
                <a:latin typeface="Arial" panose="020B0604020202020204" pitchFamily="34" charset="0"/>
                <a:ea typeface="Calibri" panose="020F0502020204030204" pitchFamily="34" charset="0"/>
                <a:cs typeface="Arial" panose="020B0604020202020204" pitchFamily="34" charset="0"/>
              </a:rPr>
              <a:t>3.1. Nhu </a:t>
            </a:r>
            <a:r>
              <a:rPr lang="en-US" sz="3600" err="1">
                <a:effectLst/>
                <a:latin typeface="Arial" panose="020B0604020202020204" pitchFamily="34" charset="0"/>
                <a:ea typeface="Calibri" panose="020F0502020204030204" pitchFamily="34" charset="0"/>
                <a:cs typeface="Arial" panose="020B0604020202020204" pitchFamily="34" charset="0"/>
              </a:rPr>
              <a:t>cầu</a:t>
            </a:r>
            <a:r>
              <a:rPr lang="en-US" sz="3600">
                <a:effectLst/>
                <a:latin typeface="Arial" panose="020B0604020202020204" pitchFamily="34" charset="0"/>
                <a:ea typeface="Calibri" panose="020F0502020204030204" pitchFamily="34" charset="0"/>
                <a:cs typeface="Arial" panose="020B0604020202020204" pitchFamily="34" charset="0"/>
              </a:rPr>
              <a:t> </a:t>
            </a:r>
            <a:r>
              <a:rPr lang="en-US" sz="3600" err="1">
                <a:effectLst/>
                <a:latin typeface="Arial" panose="020B0604020202020204" pitchFamily="34" charset="0"/>
                <a:ea typeface="Calibri" panose="020F0502020204030204" pitchFamily="34" charset="0"/>
                <a:cs typeface="Arial" panose="020B0604020202020204" pitchFamily="34" charset="0"/>
              </a:rPr>
              <a:t>và</a:t>
            </a:r>
            <a:r>
              <a:rPr lang="en-US" sz="3600">
                <a:effectLst/>
                <a:latin typeface="Arial" panose="020B0604020202020204" pitchFamily="34" charset="0"/>
                <a:ea typeface="Calibri" panose="020F0502020204030204" pitchFamily="34" charset="0"/>
                <a:cs typeface="Arial" panose="020B0604020202020204" pitchFamily="34" charset="0"/>
              </a:rPr>
              <a:t> </a:t>
            </a:r>
            <a:r>
              <a:rPr lang="en-US" sz="3600" err="1">
                <a:effectLst/>
                <a:latin typeface="Arial" panose="020B0604020202020204" pitchFamily="34" charset="0"/>
                <a:ea typeface="Calibri" panose="020F0502020204030204" pitchFamily="34" charset="0"/>
                <a:cs typeface="Arial" panose="020B0604020202020204" pitchFamily="34" charset="0"/>
              </a:rPr>
              <a:t>động</a:t>
            </a:r>
            <a:r>
              <a:rPr lang="en-US" sz="3600">
                <a:effectLst/>
                <a:latin typeface="Arial" panose="020B0604020202020204" pitchFamily="34" charset="0"/>
                <a:ea typeface="Calibri" panose="020F0502020204030204" pitchFamily="34" charset="0"/>
                <a:cs typeface="Arial" panose="020B0604020202020204" pitchFamily="34" charset="0"/>
              </a:rPr>
              <a:t> </a:t>
            </a:r>
            <a:r>
              <a:rPr lang="en-US" sz="3600" err="1">
                <a:effectLst/>
                <a:latin typeface="Arial" panose="020B0604020202020204" pitchFamily="34" charset="0"/>
                <a:ea typeface="Calibri" panose="020F0502020204030204" pitchFamily="34" charset="0"/>
                <a:cs typeface="Arial" panose="020B0604020202020204" pitchFamily="34" charset="0"/>
              </a:rPr>
              <a:t>cơ</a:t>
            </a:r>
            <a:endParaRPr lang="en-US" sz="3600">
              <a:effectLst/>
              <a:latin typeface="Arial" panose="020B0604020202020204" pitchFamily="34" charset="0"/>
              <a:ea typeface="Times New Roman" panose="02020603050405020304" pitchFamily="18" charset="0"/>
              <a:cs typeface="Arial" panose="020B0604020202020204" pitchFamily="34" charset="0"/>
            </a:endParaRPr>
          </a:p>
          <a:p>
            <a:pPr marL="0" marR="0" indent="0" algn="just">
              <a:lnSpc>
                <a:spcPct val="150000"/>
              </a:lnSpc>
              <a:spcBef>
                <a:spcPts val="0"/>
              </a:spcBef>
              <a:spcAft>
                <a:spcPts val="0"/>
              </a:spcAft>
              <a:buNone/>
              <a:tabLst>
                <a:tab pos="381000" algn="l"/>
              </a:tabLst>
            </a:pPr>
            <a:r>
              <a:rPr lang="en-US" sz="3600">
                <a:effectLst/>
                <a:latin typeface="Arial" panose="020B0604020202020204" pitchFamily="34" charset="0"/>
                <a:ea typeface="Calibri" panose="020F0502020204030204" pitchFamily="34" charset="0"/>
                <a:cs typeface="Arial" panose="020B0604020202020204" pitchFamily="34" charset="0"/>
              </a:rPr>
              <a:t>3.2. </a:t>
            </a:r>
            <a:r>
              <a:rPr lang="en-US" sz="3600" err="1">
                <a:effectLst/>
                <a:latin typeface="Arial" panose="020B0604020202020204" pitchFamily="34" charset="0"/>
                <a:ea typeface="Calibri" panose="020F0502020204030204" pitchFamily="34" charset="0"/>
                <a:cs typeface="Arial" panose="020B0604020202020204" pitchFamily="34" charset="0"/>
              </a:rPr>
              <a:t>Nhận</a:t>
            </a:r>
            <a:r>
              <a:rPr lang="en-US" sz="3600">
                <a:effectLst/>
                <a:latin typeface="Arial" panose="020B0604020202020204" pitchFamily="34" charset="0"/>
                <a:ea typeface="Calibri" panose="020F0502020204030204" pitchFamily="34" charset="0"/>
                <a:cs typeface="Arial" panose="020B0604020202020204" pitchFamily="34" charset="0"/>
              </a:rPr>
              <a:t> </a:t>
            </a:r>
            <a:r>
              <a:rPr lang="en-US" sz="3600" err="1">
                <a:effectLst/>
                <a:latin typeface="Arial" panose="020B0604020202020204" pitchFamily="34" charset="0"/>
                <a:ea typeface="Calibri" panose="020F0502020204030204" pitchFamily="34" charset="0"/>
                <a:cs typeface="Arial" panose="020B0604020202020204" pitchFamily="34" charset="0"/>
              </a:rPr>
              <a:t>thức</a:t>
            </a:r>
            <a:endParaRPr lang="en-US" sz="3600">
              <a:effectLst/>
              <a:latin typeface="Arial" panose="020B0604020202020204" pitchFamily="34" charset="0"/>
              <a:ea typeface="Times New Roman" panose="02020603050405020304" pitchFamily="18" charset="0"/>
              <a:cs typeface="Arial" panose="020B0604020202020204" pitchFamily="34" charset="0"/>
            </a:endParaRPr>
          </a:p>
          <a:p>
            <a:pPr marL="0" marR="0" indent="0" algn="just">
              <a:lnSpc>
                <a:spcPct val="150000"/>
              </a:lnSpc>
              <a:spcBef>
                <a:spcPts val="0"/>
              </a:spcBef>
              <a:spcAft>
                <a:spcPts val="0"/>
              </a:spcAft>
              <a:buNone/>
              <a:tabLst>
                <a:tab pos="381000" algn="l"/>
              </a:tabLst>
            </a:pPr>
            <a:r>
              <a:rPr lang="en-US" sz="3600">
                <a:effectLst/>
                <a:latin typeface="Arial" panose="020B0604020202020204" pitchFamily="34" charset="0"/>
                <a:ea typeface="Calibri" panose="020F0502020204030204" pitchFamily="34" charset="0"/>
                <a:cs typeface="Arial" panose="020B0604020202020204" pitchFamily="34" charset="0"/>
              </a:rPr>
              <a:t>3.3. Học </a:t>
            </a:r>
            <a:r>
              <a:rPr lang="en-US" sz="3600" err="1">
                <a:effectLst/>
                <a:latin typeface="Arial" panose="020B0604020202020204" pitchFamily="34" charset="0"/>
                <a:ea typeface="Calibri" panose="020F0502020204030204" pitchFamily="34" charset="0"/>
                <a:cs typeface="Arial" panose="020B0604020202020204" pitchFamily="34" charset="0"/>
              </a:rPr>
              <a:t>hỏi</a:t>
            </a:r>
            <a:endParaRPr lang="en-US" sz="3600">
              <a:effectLst/>
              <a:latin typeface="Arial" panose="020B0604020202020204" pitchFamily="34" charset="0"/>
              <a:ea typeface="Times New Roman" panose="02020603050405020304" pitchFamily="18" charset="0"/>
              <a:cs typeface="Arial" panose="020B0604020202020204" pitchFamily="34" charset="0"/>
            </a:endParaRPr>
          </a:p>
          <a:p>
            <a:pPr marL="0" marR="0" indent="0" algn="just">
              <a:lnSpc>
                <a:spcPct val="150000"/>
              </a:lnSpc>
              <a:spcBef>
                <a:spcPts val="0"/>
              </a:spcBef>
              <a:spcAft>
                <a:spcPts val="0"/>
              </a:spcAft>
              <a:buNone/>
              <a:tabLst>
                <a:tab pos="381000" algn="l"/>
              </a:tabLst>
            </a:pPr>
            <a:r>
              <a:rPr lang="en-US" sz="3600">
                <a:effectLst/>
                <a:latin typeface="Arial" panose="020B0604020202020204" pitchFamily="34" charset="0"/>
                <a:ea typeface="Calibri" panose="020F0502020204030204" pitchFamily="34" charset="0"/>
                <a:cs typeface="Arial" panose="020B0604020202020204" pitchFamily="34" charset="0"/>
              </a:rPr>
              <a:t>3.4. Thái </a:t>
            </a:r>
            <a:r>
              <a:rPr lang="en-US" sz="3600" err="1">
                <a:effectLst/>
                <a:latin typeface="Arial" panose="020B0604020202020204" pitchFamily="34" charset="0"/>
                <a:ea typeface="Calibri" panose="020F0502020204030204" pitchFamily="34" charset="0"/>
                <a:cs typeface="Arial" panose="020B0604020202020204" pitchFamily="34" charset="0"/>
              </a:rPr>
              <a:t>độ</a:t>
            </a:r>
            <a:endParaRPr lang="en-US" sz="3600">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7954005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09621C1-2933-1646-A825-8537ED47EBD0}"/>
              </a:ext>
            </a:extLst>
          </p:cNvPr>
          <p:cNvSpPr>
            <a:spLocks noGrp="1"/>
          </p:cNvSpPr>
          <p:nvPr>
            <p:ph type="ctrTitle"/>
          </p:nvPr>
        </p:nvSpPr>
        <p:spPr/>
        <p:txBody>
          <a:bodyPr>
            <a:normAutofit/>
          </a:bodyPr>
          <a:lstStyle/>
          <a:p>
            <a:pPr marL="0" marR="0" indent="0">
              <a:lnSpc>
                <a:spcPct val="150000"/>
              </a:lnSpc>
              <a:spcBef>
                <a:spcPts val="0"/>
              </a:spcBef>
              <a:spcAft>
                <a:spcPts val="0"/>
              </a:spcAft>
              <a:buNone/>
              <a:tabLst>
                <a:tab pos="381000" algn="l"/>
              </a:tabLst>
            </a:pPr>
            <a:r>
              <a:rPr lang="en-US" sz="3600" b="1">
                <a:effectLst/>
                <a:latin typeface="Arial" panose="020B0604020202020204" pitchFamily="34" charset="0"/>
                <a:ea typeface="Calibri" panose="020F0502020204030204" pitchFamily="34" charset="0"/>
                <a:cs typeface="Arial" panose="020B0604020202020204" pitchFamily="34" charset="0"/>
              </a:rPr>
              <a:t>3.1. NHU CẦU VÀ ĐỘNG CƠ</a:t>
            </a:r>
            <a:endParaRPr lang="en-US" sz="3600" b="1">
              <a:effectLst/>
              <a:latin typeface="Arial" panose="020B0604020202020204" pitchFamily="34" charset="0"/>
              <a:ea typeface="Times New Roman" panose="02020603050405020304" pitchFamily="18" charset="0"/>
              <a:cs typeface="Arial" panose="020B0604020202020204" pitchFamily="34" charset="0"/>
            </a:endParaRPr>
          </a:p>
        </p:txBody>
      </p:sp>
      <p:sp>
        <p:nvSpPr>
          <p:cNvPr id="2" name="Subtitle 1">
            <a:extLst>
              <a:ext uri="{FF2B5EF4-FFF2-40B4-BE49-F238E27FC236}">
                <a16:creationId xmlns:a16="http://schemas.microsoft.com/office/drawing/2014/main" id="{8B6498DE-5B2C-DD3A-15A0-552CAC9CDCF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91704351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5115"/>
            <a:ext cx="10515600" cy="549275"/>
          </a:xfrm>
        </p:spPr>
        <p:txBody>
          <a:bodyPr>
            <a:normAutofit/>
          </a:bodyPr>
          <a:lstStyle/>
          <a:p>
            <a:r>
              <a:rPr lang="en-US" sz="2800" b="1" kern="0">
                <a:latin typeface="Arial" panose="020B0604020202020204" pitchFamily="34" charset="0"/>
                <a:ea typeface="Times New Roman" panose="02020603050405020304" pitchFamily="18" charset="0"/>
                <a:cs typeface="Arial" panose="020B0604020202020204" pitchFamily="34" charset="0"/>
              </a:rPr>
              <a:t>3.1</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.1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Khái</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niệm</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và</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bản</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chất</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của</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nhu</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cầu</a:t>
            </a:r>
            <a:endParaRPr lang="en-US" sz="28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57578" y="834390"/>
            <a:ext cx="10515600" cy="4351338"/>
          </a:xfrm>
        </p:spPr>
        <p:txBody>
          <a:bodyPr>
            <a:normAutofit/>
          </a:bodyPr>
          <a:lstStyle/>
          <a:p>
            <a:pPr marL="0" indent="0">
              <a:buNone/>
              <a:defRPr sz="2000" b="1"/>
            </a:pPr>
            <a:r>
              <a:rPr lang="vi-VN" sz="2500"/>
              <a:t>Nhu cầu là gì?</a:t>
            </a:r>
          </a:p>
          <a:p>
            <a:pPr>
              <a:defRPr sz="1600"/>
            </a:pPr>
            <a:r>
              <a:rPr lang="vi-VN" sz="2500"/>
              <a:t>Là cảm giác hoặc khao khát về một điều còn thiếu.</a:t>
            </a:r>
          </a:p>
          <a:p>
            <a:pPr>
              <a:defRPr sz="1600"/>
            </a:pPr>
            <a:r>
              <a:rPr lang="vi-VN" sz="2500"/>
              <a:t>Con người thực hiện các hoạt động khác nhau để thỏa mãn sự thiếu hụt đó.</a:t>
            </a:r>
          </a:p>
          <a:p>
            <a:pPr>
              <a:defRPr sz="1600"/>
            </a:pPr>
            <a:r>
              <a:rPr lang="vi-VN" sz="2500"/>
              <a:t>Mọi hành vi của con người đều gắn với một nhu cầu hoặc động cơ cụ thể.</a:t>
            </a:r>
            <a:endParaRPr lang="en-US" sz="2500"/>
          </a:p>
          <a:p>
            <a:pPr marL="0" indent="0">
              <a:buNone/>
              <a:defRPr sz="1600"/>
            </a:pPr>
            <a:r>
              <a:rPr lang="en-US" sz="2500" b="1" err="1"/>
              <a:t>Từ</a:t>
            </a:r>
            <a:r>
              <a:rPr lang="en-US" sz="2500" b="1"/>
              <a:t> </a:t>
            </a:r>
            <a:r>
              <a:rPr lang="en-US" sz="2500" b="1" err="1"/>
              <a:t>nhu</a:t>
            </a:r>
            <a:r>
              <a:rPr lang="en-US" sz="2500" b="1"/>
              <a:t> </a:t>
            </a:r>
            <a:r>
              <a:rPr lang="en-US" sz="2500" b="1" err="1"/>
              <a:t>cầu</a:t>
            </a:r>
            <a:r>
              <a:rPr lang="en-US" sz="2500" b="1"/>
              <a:t> </a:t>
            </a:r>
            <a:r>
              <a:rPr lang="en-US" sz="2500" b="1" err="1"/>
              <a:t>đến</a:t>
            </a:r>
            <a:r>
              <a:rPr lang="en-US" sz="2500" b="1"/>
              <a:t> </a:t>
            </a:r>
            <a:r>
              <a:rPr lang="en-US" sz="2500" b="1" err="1"/>
              <a:t>hành</a:t>
            </a:r>
            <a:r>
              <a:rPr lang="en-US" sz="2500" b="1"/>
              <a:t> vi: </a:t>
            </a:r>
            <a:r>
              <a:rPr lang="en-US" sz="2500"/>
              <a:t>Nhu </a:t>
            </a:r>
            <a:r>
              <a:rPr lang="en-US" sz="2500" err="1"/>
              <a:t>cầu</a:t>
            </a:r>
            <a:r>
              <a:rPr lang="en-US" sz="2500"/>
              <a:t> → </a:t>
            </a:r>
            <a:r>
              <a:rPr lang="en-US" sz="2500" err="1"/>
              <a:t>Động</a:t>
            </a:r>
            <a:r>
              <a:rPr lang="en-US" sz="2500"/>
              <a:t> </a:t>
            </a:r>
            <a:r>
              <a:rPr lang="en-US" sz="2500" err="1"/>
              <a:t>cơ</a:t>
            </a:r>
            <a:r>
              <a:rPr lang="en-US" sz="2500"/>
              <a:t> → </a:t>
            </a:r>
            <a:r>
              <a:rPr lang="en-US" sz="2500" err="1"/>
              <a:t>Hành</a:t>
            </a:r>
            <a:r>
              <a:rPr lang="en-US" sz="2500"/>
              <a:t> vi → </a:t>
            </a:r>
            <a:r>
              <a:rPr lang="en-US" sz="2500" err="1"/>
              <a:t>Mục</a:t>
            </a:r>
            <a:r>
              <a:rPr lang="en-US" sz="2500"/>
              <a:t> </a:t>
            </a:r>
            <a:r>
              <a:rPr lang="en-US" sz="2500" err="1"/>
              <a:t>đích</a:t>
            </a:r>
            <a:r>
              <a:rPr lang="en-US" sz="2500"/>
              <a:t> / </a:t>
            </a:r>
            <a:r>
              <a:rPr lang="en-US" sz="2500" err="1"/>
              <a:t>Sự</a:t>
            </a:r>
            <a:r>
              <a:rPr lang="en-US" sz="2500"/>
              <a:t> </a:t>
            </a:r>
            <a:r>
              <a:rPr lang="en-US" sz="2500" err="1"/>
              <a:t>thỏa</a:t>
            </a:r>
            <a:r>
              <a:rPr lang="en-US" sz="2500"/>
              <a:t> </a:t>
            </a:r>
            <a:r>
              <a:rPr lang="en-US" sz="2500" err="1"/>
              <a:t>mãn</a:t>
            </a:r>
            <a:endParaRPr lang="en-US" sz="2500"/>
          </a:p>
          <a:p>
            <a:pPr marL="0" indent="0">
              <a:buNone/>
              <a:defRPr sz="1600"/>
            </a:pPr>
            <a:r>
              <a:rPr lang="en-US" sz="2500" b="1" err="1"/>
              <a:t>Có</a:t>
            </a:r>
            <a:r>
              <a:rPr lang="en-US" sz="2500" b="1"/>
              <a:t> 3 </a:t>
            </a:r>
            <a:r>
              <a:rPr lang="en-US" sz="2500" b="1" err="1"/>
              <a:t>loại</a:t>
            </a:r>
            <a:r>
              <a:rPr lang="en-US" sz="2500" b="1"/>
              <a:t> </a:t>
            </a:r>
            <a:r>
              <a:rPr lang="en-US" sz="2500" b="1" err="1"/>
              <a:t>nhu</a:t>
            </a:r>
            <a:r>
              <a:rPr lang="en-US" sz="2500" b="1"/>
              <a:t> </a:t>
            </a:r>
            <a:r>
              <a:rPr lang="en-US" sz="2500" b="1" err="1"/>
              <a:t>cầu</a:t>
            </a:r>
            <a:endParaRPr lang="vi-VN" sz="2500" b="1"/>
          </a:p>
        </p:txBody>
      </p:sp>
      <p:graphicFrame>
        <p:nvGraphicFramePr>
          <p:cNvPr id="4" name="Table 3">
            <a:extLst>
              <a:ext uri="{FF2B5EF4-FFF2-40B4-BE49-F238E27FC236}">
                <a16:creationId xmlns:a16="http://schemas.microsoft.com/office/drawing/2014/main" id="{A2C9F906-51FA-AEEC-4912-0C75BC99FAB3}"/>
              </a:ext>
            </a:extLst>
          </p:cNvPr>
          <p:cNvGraphicFramePr>
            <a:graphicFrameLocks noGrp="1"/>
          </p:cNvGraphicFramePr>
          <p:nvPr/>
        </p:nvGraphicFramePr>
        <p:xfrm>
          <a:off x="657578" y="4853605"/>
          <a:ext cx="10515600" cy="1584960"/>
        </p:xfrm>
        <a:graphic>
          <a:graphicData uri="http://schemas.openxmlformats.org/drawingml/2006/table">
            <a:tbl>
              <a:tblPr>
                <a:tableStyleId>{5C22544A-7EE6-4342-B048-85BDC9FD1C3A}</a:tableStyleId>
              </a:tblPr>
              <a:tblGrid>
                <a:gridCol w="2108200">
                  <a:extLst>
                    <a:ext uri="{9D8B030D-6E8A-4147-A177-3AD203B41FA5}">
                      <a16:colId xmlns:a16="http://schemas.microsoft.com/office/drawing/2014/main" val="3590380609"/>
                    </a:ext>
                  </a:extLst>
                </a:gridCol>
                <a:gridCol w="4492978">
                  <a:extLst>
                    <a:ext uri="{9D8B030D-6E8A-4147-A177-3AD203B41FA5}">
                      <a16:colId xmlns:a16="http://schemas.microsoft.com/office/drawing/2014/main" val="4234271965"/>
                    </a:ext>
                  </a:extLst>
                </a:gridCol>
                <a:gridCol w="3914422">
                  <a:extLst>
                    <a:ext uri="{9D8B030D-6E8A-4147-A177-3AD203B41FA5}">
                      <a16:colId xmlns:a16="http://schemas.microsoft.com/office/drawing/2014/main" val="2026789032"/>
                    </a:ext>
                  </a:extLst>
                </a:gridCol>
              </a:tblGrid>
              <a:tr h="0">
                <a:tc>
                  <a:txBody>
                    <a:bodyPr/>
                    <a:lstStyle/>
                    <a:p>
                      <a:pPr>
                        <a:buNone/>
                      </a:pPr>
                      <a:r>
                        <a:rPr lang="en-US" sz="2000" b="1" err="1">
                          <a:latin typeface="Arial" panose="020B0604020202020204" pitchFamily="34" charset="0"/>
                          <a:cs typeface="Arial" panose="020B0604020202020204" pitchFamily="34" charset="0"/>
                        </a:rPr>
                        <a:t>Nhóm</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nhu</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cầu</a:t>
                      </a:r>
                      <a:endParaRPr lang="en-US" sz="2000" b="1">
                        <a:latin typeface="Arial" panose="020B0604020202020204" pitchFamily="34" charset="0"/>
                        <a:cs typeface="Arial" panose="020B0604020202020204" pitchFamily="34" charset="0"/>
                      </a:endParaRPr>
                    </a:p>
                  </a:txBody>
                  <a:tcPr anchor="ctr"/>
                </a:tc>
                <a:tc>
                  <a:txBody>
                    <a:bodyPr/>
                    <a:lstStyle/>
                    <a:p>
                      <a:pPr>
                        <a:buNone/>
                      </a:pPr>
                      <a:r>
                        <a:rPr lang="en-US" sz="2000" b="1" err="1">
                          <a:latin typeface="Arial" panose="020B0604020202020204" pitchFamily="34" charset="0"/>
                          <a:cs typeface="Arial" panose="020B0604020202020204" pitchFamily="34" charset="0"/>
                        </a:rPr>
                        <a:t>Bản</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chất</a:t>
                      </a:r>
                      <a:endParaRPr lang="en-US" sz="2000" b="1">
                        <a:latin typeface="Arial" panose="020B0604020202020204" pitchFamily="34" charset="0"/>
                        <a:cs typeface="Arial" panose="020B0604020202020204" pitchFamily="34" charset="0"/>
                      </a:endParaRPr>
                    </a:p>
                  </a:txBody>
                  <a:tcPr anchor="ctr"/>
                </a:tc>
                <a:tc>
                  <a:txBody>
                    <a:bodyPr/>
                    <a:lstStyle/>
                    <a:p>
                      <a:pPr>
                        <a:buNone/>
                      </a:pPr>
                      <a:r>
                        <a:rPr lang="en-US" sz="2000" b="1" err="1">
                          <a:latin typeface="Arial" panose="020B0604020202020204" pitchFamily="34" charset="0"/>
                          <a:cs typeface="Arial" panose="020B0604020202020204" pitchFamily="34" charset="0"/>
                        </a:rPr>
                        <a:t>Ví</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dụ</a:t>
                      </a:r>
                      <a:endParaRPr lang="en-US" sz="2000" b="1">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030938035"/>
                  </a:ext>
                </a:extLst>
              </a:tr>
              <a:tr h="0">
                <a:tc>
                  <a:txBody>
                    <a:bodyPr/>
                    <a:lstStyle/>
                    <a:p>
                      <a:pPr>
                        <a:buNone/>
                      </a:pPr>
                      <a:r>
                        <a:rPr lang="en-US" sz="2000">
                          <a:latin typeface="Arial" panose="020B0604020202020204" pitchFamily="34" charset="0"/>
                          <a:cs typeface="Arial" panose="020B0604020202020204" pitchFamily="34" charset="0"/>
                        </a:rPr>
                        <a:t>Sinh lý</a:t>
                      </a:r>
                    </a:p>
                  </a:txBody>
                  <a:tcPr anchor="ctr"/>
                </a:tc>
                <a:tc>
                  <a:txBody>
                    <a:bodyPr/>
                    <a:lstStyle/>
                    <a:p>
                      <a:pPr>
                        <a:buNone/>
                      </a:pPr>
                      <a:r>
                        <a:rPr lang="en-US" sz="2000">
                          <a:latin typeface="Arial" panose="020B0604020202020204" pitchFamily="34" charset="0"/>
                          <a:cs typeface="Arial" panose="020B0604020202020204" pitchFamily="34" charset="0"/>
                        </a:rPr>
                        <a:t>Bẩm sinh, duy trì sự sống</a:t>
                      </a:r>
                    </a:p>
                  </a:txBody>
                  <a:tcPr anchor="ctr"/>
                </a:tc>
                <a:tc>
                  <a:txBody>
                    <a:bodyPr/>
                    <a:lstStyle/>
                    <a:p>
                      <a:pPr>
                        <a:buNone/>
                      </a:pPr>
                      <a:r>
                        <a:rPr lang="en-US" sz="2000">
                          <a:latin typeface="Arial" panose="020B0604020202020204" pitchFamily="34" charset="0"/>
                          <a:cs typeface="Arial" panose="020B0604020202020204" pitchFamily="34" charset="0"/>
                        </a:rPr>
                        <a:t>Thực phẩm, không khí</a:t>
                      </a:r>
                    </a:p>
                  </a:txBody>
                  <a:tcPr anchor="ctr"/>
                </a:tc>
                <a:extLst>
                  <a:ext uri="{0D108BD9-81ED-4DB2-BD59-A6C34878D82A}">
                    <a16:rowId xmlns:a16="http://schemas.microsoft.com/office/drawing/2014/main" val="2202438538"/>
                  </a:ext>
                </a:extLst>
              </a:tr>
              <a:tr h="0">
                <a:tc>
                  <a:txBody>
                    <a:bodyPr/>
                    <a:lstStyle/>
                    <a:p>
                      <a:pPr>
                        <a:buNone/>
                      </a:pPr>
                      <a:r>
                        <a:rPr lang="en-US" sz="2000">
                          <a:latin typeface="Arial" panose="020B0604020202020204" pitchFamily="34" charset="0"/>
                          <a:cs typeface="Arial" panose="020B0604020202020204" pitchFamily="34" charset="0"/>
                        </a:rPr>
                        <a:t>Tâm lý</a:t>
                      </a:r>
                    </a:p>
                  </a:txBody>
                  <a:tcPr anchor="ctr"/>
                </a:tc>
                <a:tc>
                  <a:txBody>
                    <a:bodyPr/>
                    <a:lstStyle/>
                    <a:p>
                      <a:pPr>
                        <a:buNone/>
                      </a:pPr>
                      <a:r>
                        <a:rPr lang="en-US" sz="2000">
                          <a:latin typeface="Arial" panose="020B0604020202020204" pitchFamily="34" charset="0"/>
                          <a:cs typeface="Arial" panose="020B0604020202020204" pitchFamily="34" charset="0"/>
                        </a:rPr>
                        <a:t>Liên </a:t>
                      </a:r>
                      <a:r>
                        <a:rPr lang="en-US" sz="2000" err="1">
                          <a:latin typeface="Arial" panose="020B0604020202020204" pitchFamily="34" charset="0"/>
                          <a:cs typeface="Arial" panose="020B0604020202020204" pitchFamily="34" charset="0"/>
                        </a:rPr>
                        <a:t>quan</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đến</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năng</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lực</a:t>
                      </a:r>
                      <a:r>
                        <a:rPr lang="en-US" sz="2000">
                          <a:latin typeface="Arial" panose="020B0604020202020204" pitchFamily="34" charset="0"/>
                          <a:cs typeface="Arial" panose="020B0604020202020204" pitchFamily="34" charset="0"/>
                        </a:rPr>
                        <a:t>/</a:t>
                      </a:r>
                      <a:r>
                        <a:rPr lang="en-US" sz="2000" err="1">
                          <a:latin typeface="Arial" panose="020B0604020202020204" pitchFamily="34" charset="0"/>
                          <a:cs typeface="Arial" panose="020B0604020202020204" pitchFamily="34" charset="0"/>
                        </a:rPr>
                        <a:t>cá</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nhân</a:t>
                      </a:r>
                      <a:endParaRPr lang="en-US" sz="2000">
                        <a:latin typeface="Arial" panose="020B0604020202020204" pitchFamily="34" charset="0"/>
                        <a:cs typeface="Arial" panose="020B0604020202020204" pitchFamily="34" charset="0"/>
                      </a:endParaRPr>
                    </a:p>
                  </a:txBody>
                  <a:tcPr anchor="ctr"/>
                </a:tc>
                <a:tc>
                  <a:txBody>
                    <a:bodyPr/>
                    <a:lstStyle/>
                    <a:p>
                      <a:pPr>
                        <a:buNone/>
                      </a:pPr>
                      <a:r>
                        <a:rPr lang="en-US" sz="2000">
                          <a:latin typeface="Arial" panose="020B0604020202020204" pitchFamily="34" charset="0"/>
                          <a:cs typeface="Arial" panose="020B0604020202020204" pitchFamily="34" charset="0"/>
                        </a:rPr>
                        <a:t>Thành tựu, khẳng định bản thân</a:t>
                      </a:r>
                    </a:p>
                  </a:txBody>
                  <a:tcPr anchor="ctr"/>
                </a:tc>
                <a:extLst>
                  <a:ext uri="{0D108BD9-81ED-4DB2-BD59-A6C34878D82A}">
                    <a16:rowId xmlns:a16="http://schemas.microsoft.com/office/drawing/2014/main" val="3209510964"/>
                  </a:ext>
                </a:extLst>
              </a:tr>
              <a:tr h="0">
                <a:tc>
                  <a:txBody>
                    <a:bodyPr/>
                    <a:lstStyle/>
                    <a:p>
                      <a:pPr>
                        <a:buNone/>
                      </a:pPr>
                      <a:r>
                        <a:rPr lang="en-US" sz="2000" err="1">
                          <a:latin typeface="Arial" panose="020B0604020202020204" pitchFamily="34" charset="0"/>
                          <a:cs typeface="Arial" panose="020B0604020202020204" pitchFamily="34" charset="0"/>
                        </a:rPr>
                        <a:t>Được</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học</a:t>
                      </a:r>
                      <a:endParaRPr lang="en-US" sz="2000">
                        <a:latin typeface="Arial" panose="020B0604020202020204" pitchFamily="34" charset="0"/>
                        <a:cs typeface="Arial" panose="020B0604020202020204" pitchFamily="34" charset="0"/>
                      </a:endParaRPr>
                    </a:p>
                  </a:txBody>
                  <a:tcPr anchor="ctr"/>
                </a:tc>
                <a:tc>
                  <a:txBody>
                    <a:bodyPr/>
                    <a:lstStyle/>
                    <a:p>
                      <a:pPr>
                        <a:buNone/>
                      </a:pPr>
                      <a:r>
                        <a:rPr lang="en-US" sz="2000">
                          <a:latin typeface="Arial" panose="020B0604020202020204" pitchFamily="34" charset="0"/>
                          <a:cs typeface="Arial" panose="020B0604020202020204" pitchFamily="34" charset="0"/>
                        </a:rPr>
                        <a:t>Hình thành qua văn hóa, xã hội</a:t>
                      </a:r>
                    </a:p>
                  </a:txBody>
                  <a:tcPr anchor="ctr"/>
                </a:tc>
                <a:tc>
                  <a:txBody>
                    <a:bodyPr/>
                    <a:lstStyle/>
                    <a:p>
                      <a:pPr>
                        <a:buNone/>
                      </a:pPr>
                      <a:r>
                        <a:rPr lang="en-US" sz="2000" err="1">
                          <a:latin typeface="Arial" panose="020B0604020202020204" pitchFamily="34" charset="0"/>
                          <a:cs typeface="Arial" panose="020B0604020202020204" pitchFamily="34" charset="0"/>
                        </a:rPr>
                        <a:t>Địa</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vị</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sở</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hữu</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phong</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cách</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sống</a:t>
                      </a:r>
                      <a:endParaRPr lang="en-US" sz="2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48975395"/>
                  </a:ext>
                </a:extLst>
              </a:tr>
            </a:tbl>
          </a:graphicData>
        </a:graphic>
      </p:graphicFrame>
    </p:spTree>
    <p:extLst>
      <p:ext uri="{BB962C8B-B14F-4D97-AF65-F5344CB8AC3E}">
        <p14:creationId xmlns:p14="http://schemas.microsoft.com/office/powerpoint/2010/main" val="53660638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125095"/>
            <a:ext cx="10515600" cy="1325563"/>
          </a:xfrm>
        </p:spPr>
        <p:txBody>
          <a:bodyPr>
            <a:normAutofit/>
          </a:bodyPr>
          <a:lstStyle/>
          <a:p>
            <a:r>
              <a:rPr lang="en-US" sz="2800" b="1" kern="0">
                <a:latin typeface="Arial" panose="020B0604020202020204" pitchFamily="34" charset="0"/>
                <a:ea typeface="Times New Roman" panose="02020603050405020304" pitchFamily="18" charset="0"/>
                <a:cs typeface="Arial" panose="020B0604020202020204" pitchFamily="34" charset="0"/>
              </a:rPr>
              <a:t>3.1.2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Kích</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thích</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nhu</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cầu</a:t>
            </a:r>
            <a:endParaRPr lang="en-US" sz="2800">
              <a:latin typeface="Arial" panose="020B0604020202020204" pitchFamily="34" charset="0"/>
              <a:cs typeface="Arial" panose="020B0604020202020204" pitchFamily="34" charset="0"/>
            </a:endParaRPr>
          </a:p>
        </p:txBody>
      </p:sp>
      <p:graphicFrame>
        <p:nvGraphicFramePr>
          <p:cNvPr id="4" name="Content Placeholder 3">
            <a:extLst>
              <a:ext uri="{FF2B5EF4-FFF2-40B4-BE49-F238E27FC236}">
                <a16:creationId xmlns:a16="http://schemas.microsoft.com/office/drawing/2014/main" id="{609F20F4-505C-B507-185C-2408719AA457}"/>
              </a:ext>
            </a:extLst>
          </p:cNvPr>
          <p:cNvGraphicFramePr>
            <a:graphicFrameLocks noGrp="1"/>
          </p:cNvGraphicFramePr>
          <p:nvPr>
            <p:ph idx="1"/>
            <p:extLst>
              <p:ext uri="{D42A27DB-BD31-4B8C-83A1-F6EECF244321}">
                <p14:modId xmlns:p14="http://schemas.microsoft.com/office/powerpoint/2010/main" val="2078670849"/>
              </p:ext>
            </p:extLst>
          </p:nvPr>
        </p:nvGraphicFramePr>
        <p:xfrm>
          <a:off x="828675" y="134937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332514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F2692-C86A-F37F-35E1-E87179BC8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4C38F-052F-572B-DEDC-93F8B33575B8}"/>
              </a:ext>
            </a:extLst>
          </p:cNvPr>
          <p:cNvSpPr>
            <a:spLocks noGrp="1"/>
          </p:cNvSpPr>
          <p:nvPr>
            <p:ph type="title"/>
          </p:nvPr>
        </p:nvSpPr>
        <p:spPr>
          <a:xfrm>
            <a:off x="623711" y="8645"/>
            <a:ext cx="10515600" cy="962906"/>
          </a:xfrm>
        </p:spPr>
        <p:txBody>
          <a:bodyPr>
            <a:normAutofit/>
          </a:bodyPr>
          <a:lstStyle/>
          <a:p>
            <a:r>
              <a:rPr lang="en-US" sz="2800" b="1" kern="0">
                <a:latin typeface="Arial" panose="020B0604020202020204" pitchFamily="34" charset="0"/>
                <a:ea typeface="Times New Roman" panose="02020603050405020304" pitchFamily="18" charset="0"/>
                <a:cs typeface="Arial" panose="020B0604020202020204" pitchFamily="34" charset="0"/>
              </a:rPr>
              <a:t>3.1.3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Mục</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đích</a:t>
            </a:r>
            <a:endParaRPr lang="en-US" sz="280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F8119B4-B6CD-FA02-7875-6F35F39304C1}"/>
              </a:ext>
            </a:extLst>
          </p:cNvPr>
          <p:cNvSpPr>
            <a:spLocks noGrp="1"/>
          </p:cNvSpPr>
          <p:nvPr>
            <p:ph idx="1"/>
          </p:nvPr>
        </p:nvSpPr>
        <p:spPr>
          <a:xfrm>
            <a:off x="409222" y="787047"/>
            <a:ext cx="9603458" cy="4351338"/>
          </a:xfrm>
        </p:spPr>
        <p:txBody>
          <a:bodyPr>
            <a:noAutofit/>
          </a:bodyPr>
          <a:lstStyle/>
          <a:p>
            <a:pPr algn="just">
              <a:lnSpc>
                <a:spcPct val="150000"/>
              </a:lnSpc>
              <a:spcBef>
                <a:spcPts val="0"/>
              </a:spcBef>
              <a:buFont typeface="Wingdings" pitchFamily="2" charset="2"/>
              <a:buChar char="Ø"/>
            </a:pPr>
            <a:r>
              <a:rPr lang="vi-VN">
                <a:latin typeface="Arial" panose="020B0604020202020204" pitchFamily="34" charset="0"/>
                <a:cs typeface="Arial" panose="020B0604020202020204" pitchFamily="34" charset="0"/>
              </a:rPr>
              <a:t> Mục đích là kết quả </a:t>
            </a:r>
            <a:r>
              <a:rPr lang="en-US" err="1">
                <a:latin typeface="Arial" panose="020B0604020202020204" pitchFamily="34" charset="0"/>
                <a:cs typeface="Arial" panose="020B0604020202020204" pitchFamily="34" charset="0"/>
              </a:rPr>
              <a:t>mong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đợi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của</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động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lực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hành</a:t>
            </a:r>
            <a:r>
              <a:rPr lang="en-US">
                <a:latin typeface="Arial" panose="020B0604020202020204" pitchFamily="34" charset="0"/>
                <a:cs typeface="Arial" panose="020B0604020202020204" pitchFamily="34" charset="0"/>
              </a:rPr>
              <a:t> vi. </a:t>
            </a:r>
            <a:r>
              <a:rPr lang="en-US" err="1">
                <a:latin typeface="Arial" panose="020B0604020202020204" pitchFamily="34" charset="0"/>
                <a:cs typeface="Arial" panose="020B0604020202020204" pitchFamily="34" charset="0"/>
              </a:rPr>
              <a:t>Mục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tiêu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có</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thể</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chung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chung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hoặc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cụ</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thể</a:t>
            </a:r>
            <a:r>
              <a:rPr lang="en-US">
                <a:latin typeface="Arial" panose="020B0604020202020204" pitchFamily="34" charset="0"/>
                <a:cs typeface="Arial" panose="020B0604020202020204" pitchFamily="34" charset="0"/>
              </a:rPr>
              <a:t>.</a:t>
            </a:r>
            <a:endParaRPr lang="vi-VN">
              <a:latin typeface="Arial" panose="020B0604020202020204" pitchFamily="34" charset="0"/>
              <a:cs typeface="Arial" panose="020B0604020202020204" pitchFamily="34" charset="0"/>
            </a:endParaRPr>
          </a:p>
          <a:p>
            <a:pPr algn="just">
              <a:lnSpc>
                <a:spcPct val="150000"/>
              </a:lnSpc>
              <a:spcBef>
                <a:spcPts val="0"/>
              </a:spcBef>
              <a:buFont typeface="Wingdings" pitchFamily="2" charset="2"/>
              <a:buChar char="Ø"/>
            </a:pPr>
            <a:r>
              <a:rPr lang="en-US" err="1">
                <a:latin typeface="Arial" panose="020B0604020202020204" pitchFamily="34" charset="0"/>
                <a:cs typeface="Arial" panose="020B0604020202020204" pitchFamily="34" charset="0"/>
              </a:rPr>
              <a:t>Lựa</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chọn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mục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tiêu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để</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thỏa</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mãn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cầu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sẽ</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phụ</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thuộc</a:t>
            </a:r>
            <a:r>
              <a:rPr lang="en-US">
                <a:latin typeface="Arial" panose="020B0604020202020204" pitchFamily="34" charset="0"/>
                <a:cs typeface="Arial" panose="020B0604020202020204" pitchFamily="34" charset="0"/>
              </a:rPr>
              <a:t>:</a:t>
            </a:r>
          </a:p>
          <a:p>
            <a:pPr marL="857250" algn="just">
              <a:lnSpc>
                <a:spcPct val="150000"/>
              </a:lnSpc>
              <a:spcBef>
                <a:spcPts val="0"/>
              </a:spcBef>
            </a:pPr>
            <a:r>
              <a:rPr lang="en-US">
                <a:latin typeface="Arial" panose="020B0604020202020204" pitchFamily="34" charset="0"/>
                <a:cs typeface="Arial" panose="020B0604020202020204" pitchFamily="34" charset="0"/>
              </a:rPr>
              <a:t>Kinh </a:t>
            </a:r>
            <a:r>
              <a:rPr lang="en-US" err="1">
                <a:latin typeface="Arial" panose="020B0604020202020204" pitchFamily="34" charset="0"/>
                <a:cs typeface="Arial" panose="020B0604020202020204" pitchFamily="34" charset="0"/>
              </a:rPr>
              <a:t>nghiệm</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cá</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nhận</a:t>
            </a:r>
            <a:endParaRPr lang="en-US">
              <a:latin typeface="Arial" panose="020B0604020202020204" pitchFamily="34" charset="0"/>
              <a:cs typeface="Arial" panose="020B0604020202020204" pitchFamily="34" charset="0"/>
            </a:endParaRPr>
          </a:p>
          <a:p>
            <a:pPr marL="857250" algn="just">
              <a:lnSpc>
                <a:spcPct val="150000"/>
              </a:lnSpc>
              <a:spcBef>
                <a:spcPts val="0"/>
              </a:spcBef>
            </a:pPr>
            <a:r>
              <a:rPr lang="en-US">
                <a:latin typeface="Arial" panose="020B0604020202020204" pitchFamily="34" charset="0"/>
                <a:cs typeface="Arial" panose="020B0604020202020204" pitchFamily="34" charset="0"/>
              </a:rPr>
              <a:t>Các </a:t>
            </a:r>
            <a:r>
              <a:rPr lang="en-US" err="1">
                <a:latin typeface="Arial" panose="020B0604020202020204" pitchFamily="34" charset="0"/>
                <a:cs typeface="Arial" panose="020B0604020202020204" pitchFamily="34" charset="0"/>
              </a:rPr>
              <a:t>chuẩn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mực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giá</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trị</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xã</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hội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văn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hóa</a:t>
            </a:r>
            <a:endParaRPr lang="en-US">
              <a:latin typeface="Arial" panose="020B0604020202020204" pitchFamily="34" charset="0"/>
              <a:cs typeface="Arial" panose="020B0604020202020204" pitchFamily="34" charset="0"/>
            </a:endParaRPr>
          </a:p>
          <a:p>
            <a:pPr marL="857250" algn="just">
              <a:lnSpc>
                <a:spcPct val="150000"/>
              </a:lnSpc>
              <a:spcBef>
                <a:spcPts val="0"/>
              </a:spcBef>
            </a:pPr>
            <a:r>
              <a:rPr lang="en-US">
                <a:latin typeface="Arial" panose="020B0604020202020204" pitchFamily="34" charset="0"/>
                <a:cs typeface="Arial" panose="020B0604020202020204" pitchFamily="34" charset="0"/>
              </a:rPr>
              <a:t>Các </a:t>
            </a:r>
            <a:r>
              <a:rPr lang="en-US" err="1">
                <a:latin typeface="Arial" panose="020B0604020202020204" pitchFamily="34" charset="0"/>
                <a:cs typeface="Arial" panose="020B0604020202020204" pitchFamily="34" charset="0"/>
              </a:rPr>
              <a:t>chuẩn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mực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giá</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trị</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cá</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nhân</a:t>
            </a:r>
            <a:endParaRPr lang="en-US">
              <a:latin typeface="Arial" panose="020B0604020202020204" pitchFamily="34" charset="0"/>
              <a:cs typeface="Arial" panose="020B0604020202020204" pitchFamily="34" charset="0"/>
            </a:endParaRPr>
          </a:p>
          <a:p>
            <a:pPr marL="857250" algn="just">
              <a:lnSpc>
                <a:spcPct val="150000"/>
              </a:lnSpc>
              <a:spcBef>
                <a:spcPts val="0"/>
              </a:spcBef>
            </a:pPr>
            <a:r>
              <a:rPr lang="en-US" err="1">
                <a:latin typeface="Arial" panose="020B0604020202020204" pitchFamily="34" charset="0"/>
                <a:cs typeface="Arial" panose="020B0604020202020204" pitchFamily="34" charset="0"/>
              </a:rPr>
              <a:t>Năng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lực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thể</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chế</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trí</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tuệ</a:t>
            </a:r>
            <a:endParaRPr lang="en-US">
              <a:latin typeface="Arial" panose="020B0604020202020204" pitchFamily="34" charset="0"/>
              <a:cs typeface="Arial" panose="020B0604020202020204" pitchFamily="34" charset="0"/>
            </a:endParaRPr>
          </a:p>
          <a:p>
            <a:pPr marL="857250" algn="just">
              <a:lnSpc>
                <a:spcPct val="150000"/>
              </a:lnSpc>
              <a:spcBef>
                <a:spcPts val="0"/>
              </a:spcBef>
            </a:pPr>
            <a:r>
              <a:rPr lang="en-US" err="1">
                <a:latin typeface="Arial" panose="020B0604020202020204" pitchFamily="34" charset="0"/>
                <a:cs typeface="Arial" panose="020B0604020202020204" pitchFamily="34" charset="0"/>
              </a:rPr>
              <a:t>Khả</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năng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tiếp</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cận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mục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tiêu</a:t>
            </a:r>
            <a:endParaRPr lang="en-US">
              <a:latin typeface="Arial" panose="020B0604020202020204" pitchFamily="34" charset="0"/>
              <a:cs typeface="Arial" panose="020B0604020202020204" pitchFamily="34" charset="0"/>
            </a:endParaRPr>
          </a:p>
          <a:p>
            <a:pPr marL="857250" algn="just">
              <a:lnSpc>
                <a:spcPct val="150000"/>
              </a:lnSpc>
              <a:spcBef>
                <a:spcPts val="0"/>
              </a:spcBef>
            </a:pPr>
            <a:r>
              <a:rPr lang="en-US" err="1">
                <a:latin typeface="Arial" panose="020B0604020202020204" pitchFamily="34" charset="0"/>
                <a:cs typeface="Arial" panose="020B0604020202020204" pitchFamily="34" charset="0"/>
              </a:rPr>
              <a:t>Hình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ảnh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bản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thân</a:t>
            </a: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630511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900A9-69A1-DACE-55B5-5E9596FE53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5FEC3C-E276-D493-6CD8-372221DE36FA}"/>
              </a:ext>
            </a:extLst>
          </p:cNvPr>
          <p:cNvSpPr>
            <a:spLocks noGrp="1"/>
          </p:cNvSpPr>
          <p:nvPr>
            <p:ph type="title"/>
          </p:nvPr>
        </p:nvSpPr>
        <p:spPr>
          <a:xfrm>
            <a:off x="630936" y="0"/>
            <a:ext cx="10515600" cy="954108"/>
          </a:xfrm>
        </p:spPr>
        <p:txBody>
          <a:bodyPr>
            <a:normAutofit/>
          </a:bodyPr>
          <a:lstStyle/>
          <a:p>
            <a:r>
              <a:rPr lang="en-US" sz="2800" b="1" kern="0">
                <a:latin typeface="Arial" panose="020B0604020202020204" pitchFamily="34" charset="0"/>
                <a:ea typeface="Times New Roman" panose="02020603050405020304" pitchFamily="18" charset="0"/>
                <a:cs typeface="Arial" panose="020B0604020202020204" pitchFamily="34" charset="0"/>
              </a:rPr>
              <a:t>3.1.3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Mục</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đích</a:t>
            </a:r>
            <a:endParaRPr lang="en-US" sz="280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72A83BF-3D78-0797-33F8-88A9ED8F30E0}"/>
              </a:ext>
            </a:extLst>
          </p:cNvPr>
          <p:cNvSpPr>
            <a:spLocks noGrp="1"/>
          </p:cNvSpPr>
          <p:nvPr>
            <p:ph idx="1"/>
          </p:nvPr>
        </p:nvSpPr>
        <p:spPr>
          <a:xfrm>
            <a:off x="409222" y="787047"/>
            <a:ext cx="10515600" cy="4351338"/>
          </a:xfrm>
        </p:spPr>
        <p:txBody>
          <a:bodyPr>
            <a:noAutofit/>
          </a:bodyPr>
          <a:lstStyle/>
          <a:p>
            <a:pPr algn="just">
              <a:lnSpc>
                <a:spcPct val="150000"/>
              </a:lnSpc>
              <a:spcBef>
                <a:spcPts val="0"/>
              </a:spcBef>
              <a:buFont typeface="Wingdings" pitchFamily="2" charset="2"/>
              <a:buChar char="Ø"/>
            </a:pPr>
            <a:r>
              <a:rPr lang="vi-VN">
                <a:latin typeface="Arial" panose="020B0604020202020204" pitchFamily="34" charset="0"/>
                <a:cs typeface="Arial" panose="020B0604020202020204" pitchFamily="34" charset="0"/>
              </a:rPr>
              <a:t> </a:t>
            </a:r>
            <a:r>
              <a:rPr lang="en-US" i="1">
                <a:latin typeface="Arial" panose="020B0604020202020204" pitchFamily="34" charset="0"/>
                <a:cs typeface="Arial" panose="020B0604020202020204" pitchFamily="34" charset="0"/>
              </a:rPr>
              <a:t>Lý </a:t>
            </a:r>
            <a:r>
              <a:rPr lang="en-US" i="1" err="1">
                <a:latin typeface="Arial" panose="020B0604020202020204" pitchFamily="34" charset="0"/>
                <a:cs typeface="Arial" panose="020B0604020202020204" pitchFamily="34" charset="0"/>
              </a:rPr>
              <a:t>thuyết</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giảm</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thiểu</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động</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lực</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của</a:t>
            </a:r>
            <a:r>
              <a:rPr lang="en-US" i="1">
                <a:latin typeface="Arial" panose="020B0604020202020204" pitchFamily="34" charset="0"/>
                <a:cs typeface="Arial" panose="020B0604020202020204" pitchFamily="34" charset="0"/>
              </a:rPr>
              <a:t> Hull</a:t>
            </a:r>
          </a:p>
          <a:p>
            <a:pPr marL="0" indent="0" algn="just">
              <a:lnSpc>
                <a:spcPct val="150000"/>
              </a:lnSpc>
              <a:spcBef>
                <a:spcPts val="0"/>
              </a:spcBef>
              <a:buNone/>
            </a:pPr>
            <a:r>
              <a:rPr lang="en-US">
                <a:solidFill>
                  <a:srgbClr val="2E3440"/>
                </a:solidFill>
                <a:latin typeface="Arial" pitchFamily="34" charset="0"/>
                <a:ea typeface="Arial" pitchFamily="34" charset="-122"/>
                <a:cs typeface="Arial" pitchFamily="34" charset="-120"/>
              </a:rPr>
              <a:t>Drive-reduction theory: </a:t>
            </a:r>
            <a:r>
              <a:rPr lang="en-US" err="1">
                <a:solidFill>
                  <a:srgbClr val="2E3440"/>
                </a:solidFill>
                <a:latin typeface="Arial" pitchFamily="34" charset="0"/>
                <a:ea typeface="Arial" pitchFamily="34" charset="-122"/>
                <a:cs typeface="Arial" pitchFamily="34" charset="-120"/>
              </a:rPr>
              <a:t>nhu</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cầu</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sinh</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lý</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tạo</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ra</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động</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lực</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hành</a:t>
            </a:r>
            <a:r>
              <a:rPr lang="en-US">
                <a:solidFill>
                  <a:srgbClr val="2E3440"/>
                </a:solidFill>
                <a:latin typeface="Arial" pitchFamily="34" charset="0"/>
                <a:ea typeface="Arial" pitchFamily="34" charset="-122"/>
                <a:cs typeface="Arial" pitchFamily="34" charset="-120"/>
              </a:rPr>
              <a:t> vi </a:t>
            </a:r>
            <a:r>
              <a:rPr lang="en-US" err="1">
                <a:solidFill>
                  <a:srgbClr val="2E3440"/>
                </a:solidFill>
                <a:latin typeface="Arial" pitchFamily="34" charset="0"/>
                <a:ea typeface="Arial" pitchFamily="34" charset="-122"/>
                <a:cs typeface="Arial" pitchFamily="34" charset="-120"/>
              </a:rPr>
              <a:t>hướng</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tới</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mục</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tiêu</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giúp</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giảm</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căng</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thẳng</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và</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đưa</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cơ</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thể</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về</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cân</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bằng</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nội</a:t>
            </a:r>
            <a:r>
              <a:rPr lang="en-US">
                <a:solidFill>
                  <a:srgbClr val="2E3440"/>
                </a:solidFill>
                <a:latin typeface="Arial" pitchFamily="34" charset="0"/>
                <a:ea typeface="Arial" pitchFamily="34" charset="-122"/>
                <a:cs typeface="Arial" pitchFamily="34" charset="-120"/>
              </a:rPr>
              <a:t> </a:t>
            </a:r>
            <a:r>
              <a:rPr lang="en-US" err="1">
                <a:solidFill>
                  <a:srgbClr val="2E3440"/>
                </a:solidFill>
                <a:latin typeface="Arial" pitchFamily="34" charset="0"/>
                <a:ea typeface="Arial" pitchFamily="34" charset="-122"/>
                <a:cs typeface="Arial" pitchFamily="34" charset="-120"/>
              </a:rPr>
              <a:t>môi</a:t>
            </a:r>
            <a:r>
              <a:rPr lang="en-US">
                <a:solidFill>
                  <a:srgbClr val="2E3440"/>
                </a:solidFill>
                <a:latin typeface="Arial" pitchFamily="34" charset="0"/>
                <a:ea typeface="Arial" pitchFamily="34" charset="-122"/>
                <a:cs typeface="Arial" pitchFamily="34" charset="-120"/>
              </a:rPr>
              <a:t>.</a:t>
            </a:r>
            <a:endParaRPr lang="en-US"/>
          </a:p>
          <a:p>
            <a:pPr marL="0" indent="0" algn="just">
              <a:lnSpc>
                <a:spcPct val="150000"/>
              </a:lnSpc>
              <a:spcBef>
                <a:spcPts val="0"/>
              </a:spcBef>
              <a:buNone/>
            </a:pPr>
            <a:endParaRPr lang="en-US">
              <a:latin typeface="Arial" panose="020B0604020202020204" pitchFamily="34" charset="0"/>
              <a:cs typeface="Arial" panose="020B0604020202020204" pitchFamily="34" charset="0"/>
            </a:endParaRPr>
          </a:p>
        </p:txBody>
      </p:sp>
      <p:sp>
        <p:nvSpPr>
          <p:cNvPr id="33" name="Shape 3">
            <a:extLst>
              <a:ext uri="{FF2B5EF4-FFF2-40B4-BE49-F238E27FC236}">
                <a16:creationId xmlns:a16="http://schemas.microsoft.com/office/drawing/2014/main" id="{004294E9-8449-F4CB-8EB1-0F23E6CEACDF}"/>
              </a:ext>
            </a:extLst>
          </p:cNvPr>
          <p:cNvSpPr/>
          <p:nvPr/>
        </p:nvSpPr>
        <p:spPr>
          <a:xfrm>
            <a:off x="630936" y="3697676"/>
            <a:ext cx="1828800" cy="1170432"/>
          </a:xfrm>
          <a:prstGeom prst="roundRect">
            <a:avLst>
              <a:gd name="adj" fmla="val 6250"/>
            </a:avLst>
          </a:prstGeom>
          <a:solidFill>
            <a:srgbClr val="FFFFFF"/>
          </a:solidFill>
          <a:ln w="8890">
            <a:solidFill>
              <a:srgbClr val="CBD5E1"/>
            </a:solidFill>
            <a:prstDash val="solid"/>
          </a:ln>
        </p:spPr>
        <p:txBody>
          <a:bodyPr/>
          <a:lstStyle/>
          <a:p>
            <a:endParaRPr lang="en-US">
              <a:latin typeface="Arial" panose="020B0604020202020204" pitchFamily="34" charset="0"/>
              <a:cs typeface="Arial" panose="020B0604020202020204" pitchFamily="34" charset="0"/>
            </a:endParaRPr>
          </a:p>
        </p:txBody>
      </p:sp>
      <p:sp>
        <p:nvSpPr>
          <p:cNvPr id="35" name="Text 4">
            <a:extLst>
              <a:ext uri="{FF2B5EF4-FFF2-40B4-BE49-F238E27FC236}">
                <a16:creationId xmlns:a16="http://schemas.microsoft.com/office/drawing/2014/main" id="{77A0554C-7A55-A5F6-84DC-23AD24675C4F}"/>
              </a:ext>
            </a:extLst>
          </p:cNvPr>
          <p:cNvSpPr/>
          <p:nvPr/>
        </p:nvSpPr>
        <p:spPr>
          <a:xfrm>
            <a:off x="777240" y="3862268"/>
            <a:ext cx="292608" cy="228600"/>
          </a:xfrm>
          <a:prstGeom prst="rect">
            <a:avLst/>
          </a:prstGeom>
          <a:noFill/>
          <a:ln/>
        </p:spPr>
        <p:txBody>
          <a:bodyPr wrap="square" lIns="0" tIns="0" rIns="0" bIns="0" rtlCol="0" anchor="ctr"/>
          <a:lstStyle/>
          <a:p>
            <a:pPr marL="0" indent="0">
              <a:buNone/>
            </a:pPr>
            <a:r>
              <a:rPr lang="en-US" b="1">
                <a:solidFill>
                  <a:srgbClr val="315B96"/>
                </a:solidFill>
                <a:latin typeface="Arial" panose="020B0604020202020204" pitchFamily="34" charset="0"/>
                <a:ea typeface="Arial" pitchFamily="34" charset="-122"/>
                <a:cs typeface="Arial" panose="020B0604020202020204" pitchFamily="34" charset="0"/>
              </a:rPr>
              <a:t>1</a:t>
            </a:r>
            <a:endParaRPr lang="en-US">
              <a:latin typeface="Arial" panose="020B0604020202020204" pitchFamily="34" charset="0"/>
              <a:cs typeface="Arial" panose="020B0604020202020204" pitchFamily="34" charset="0"/>
            </a:endParaRPr>
          </a:p>
        </p:txBody>
      </p:sp>
      <p:sp>
        <p:nvSpPr>
          <p:cNvPr id="37" name="Text 5">
            <a:extLst>
              <a:ext uri="{FF2B5EF4-FFF2-40B4-BE49-F238E27FC236}">
                <a16:creationId xmlns:a16="http://schemas.microsoft.com/office/drawing/2014/main" id="{961ECFF7-0B71-0F6F-3E38-AC3F04CC3D97}"/>
              </a:ext>
            </a:extLst>
          </p:cNvPr>
          <p:cNvSpPr/>
          <p:nvPr/>
        </p:nvSpPr>
        <p:spPr>
          <a:xfrm>
            <a:off x="1088136" y="3862268"/>
            <a:ext cx="1188720" cy="256032"/>
          </a:xfrm>
          <a:prstGeom prst="rect">
            <a:avLst/>
          </a:prstGeom>
          <a:noFill/>
          <a:ln/>
        </p:spPr>
        <p:txBody>
          <a:bodyPr wrap="square" lIns="0" tIns="0" rIns="0" bIns="0" rtlCol="0" anchor="ctr"/>
          <a:lstStyle/>
          <a:p>
            <a:pPr marL="0" indent="0">
              <a:buNone/>
            </a:pPr>
            <a:r>
              <a:rPr lang="en-US" b="1">
                <a:solidFill>
                  <a:srgbClr val="233041"/>
                </a:solidFill>
                <a:latin typeface="Arial" panose="020B0604020202020204" pitchFamily="34" charset="0"/>
                <a:ea typeface="Arial" pitchFamily="34" charset="-122"/>
                <a:cs typeface="Arial" panose="020B0604020202020204" pitchFamily="34" charset="0"/>
              </a:rPr>
              <a:t>Nhu cầu</a:t>
            </a:r>
            <a:endParaRPr lang="en-US">
              <a:latin typeface="Arial" panose="020B0604020202020204" pitchFamily="34" charset="0"/>
              <a:cs typeface="Arial" panose="020B0604020202020204" pitchFamily="34" charset="0"/>
            </a:endParaRPr>
          </a:p>
        </p:txBody>
      </p:sp>
      <p:sp>
        <p:nvSpPr>
          <p:cNvPr id="39" name="Text 6">
            <a:extLst>
              <a:ext uri="{FF2B5EF4-FFF2-40B4-BE49-F238E27FC236}">
                <a16:creationId xmlns:a16="http://schemas.microsoft.com/office/drawing/2014/main" id="{01F51E7D-5DB3-F7B8-CC65-5D57F68B8E08}"/>
              </a:ext>
            </a:extLst>
          </p:cNvPr>
          <p:cNvSpPr/>
          <p:nvPr/>
        </p:nvSpPr>
        <p:spPr>
          <a:xfrm>
            <a:off x="850392" y="4264604"/>
            <a:ext cx="1463040" cy="347472"/>
          </a:xfrm>
          <a:prstGeom prst="rect">
            <a:avLst/>
          </a:prstGeom>
          <a:noFill/>
          <a:ln/>
        </p:spPr>
        <p:txBody>
          <a:bodyPr wrap="square" lIns="0" tIns="0" rIns="0" bIns="0" rtlCol="0" anchor="ctr">
            <a:noAutofit/>
          </a:bodyPr>
          <a:lstStyle/>
          <a:p>
            <a:pPr marL="0" indent="0" algn="ctr">
              <a:buNone/>
            </a:pPr>
            <a:r>
              <a:rPr lang="en-US">
                <a:solidFill>
                  <a:srgbClr val="667085"/>
                </a:solidFill>
                <a:latin typeface="Arial" panose="020B0604020202020204" pitchFamily="34" charset="0"/>
                <a:ea typeface="Arial" pitchFamily="34" charset="-122"/>
                <a:cs typeface="Arial" panose="020B0604020202020204" pitchFamily="34" charset="0"/>
              </a:rPr>
              <a:t>Thiếu hụt sinh lý</a:t>
            </a:r>
            <a:endParaRPr lang="en-US">
              <a:latin typeface="Arial" panose="020B0604020202020204" pitchFamily="34" charset="0"/>
              <a:cs typeface="Arial" panose="020B0604020202020204" pitchFamily="34" charset="0"/>
            </a:endParaRPr>
          </a:p>
        </p:txBody>
      </p:sp>
      <p:sp>
        <p:nvSpPr>
          <p:cNvPr id="41" name="Text 7">
            <a:extLst>
              <a:ext uri="{FF2B5EF4-FFF2-40B4-BE49-F238E27FC236}">
                <a16:creationId xmlns:a16="http://schemas.microsoft.com/office/drawing/2014/main" id="{5737A47A-273D-C0CB-EDF9-B7B2E76A69A3}"/>
              </a:ext>
            </a:extLst>
          </p:cNvPr>
          <p:cNvSpPr/>
          <p:nvPr/>
        </p:nvSpPr>
        <p:spPr>
          <a:xfrm>
            <a:off x="2670048" y="4136588"/>
            <a:ext cx="347472" cy="182880"/>
          </a:xfrm>
          <a:prstGeom prst="rect">
            <a:avLst/>
          </a:prstGeom>
          <a:noFill/>
          <a:ln/>
        </p:spPr>
        <p:txBody>
          <a:bodyPr wrap="square" lIns="0" tIns="0" rIns="0" bIns="0" rtlCol="0" anchor="ctr"/>
          <a:lstStyle/>
          <a:p>
            <a:pPr marL="0" indent="0" algn="ctr">
              <a:buNone/>
            </a:pPr>
            <a:r>
              <a:rPr lang="en-US" b="1">
                <a:solidFill>
                  <a:srgbClr val="315B96"/>
                </a:solidFill>
                <a:latin typeface="Arial" panose="020B0604020202020204" pitchFamily="34" charset="0"/>
                <a:ea typeface="Arial" pitchFamily="34" charset="-122"/>
                <a:cs typeface="Arial" panose="020B0604020202020204" pitchFamily="34" charset="0"/>
              </a:rPr>
              <a:t>→</a:t>
            </a:r>
            <a:endParaRPr lang="en-US">
              <a:latin typeface="Arial" panose="020B0604020202020204" pitchFamily="34" charset="0"/>
              <a:cs typeface="Arial" panose="020B0604020202020204" pitchFamily="34" charset="0"/>
            </a:endParaRPr>
          </a:p>
        </p:txBody>
      </p:sp>
      <p:sp>
        <p:nvSpPr>
          <p:cNvPr id="43" name="Shape 8">
            <a:extLst>
              <a:ext uri="{FF2B5EF4-FFF2-40B4-BE49-F238E27FC236}">
                <a16:creationId xmlns:a16="http://schemas.microsoft.com/office/drawing/2014/main" id="{FE8446D5-D84C-790E-A5B3-9926EB70CF60}"/>
              </a:ext>
            </a:extLst>
          </p:cNvPr>
          <p:cNvSpPr/>
          <p:nvPr/>
        </p:nvSpPr>
        <p:spPr>
          <a:xfrm>
            <a:off x="3401568" y="3697676"/>
            <a:ext cx="1828800" cy="1170432"/>
          </a:xfrm>
          <a:prstGeom prst="roundRect">
            <a:avLst>
              <a:gd name="adj" fmla="val 6250"/>
            </a:avLst>
          </a:prstGeom>
          <a:solidFill>
            <a:srgbClr val="E7EFFA"/>
          </a:solidFill>
          <a:ln w="8890">
            <a:solidFill>
              <a:srgbClr val="A8BEDB"/>
            </a:solidFill>
            <a:prstDash val="solid"/>
          </a:ln>
        </p:spPr>
        <p:txBody>
          <a:bodyPr/>
          <a:lstStyle/>
          <a:p>
            <a:endParaRPr lang="en-US">
              <a:latin typeface="Arial" panose="020B0604020202020204" pitchFamily="34" charset="0"/>
              <a:cs typeface="Arial" panose="020B0604020202020204" pitchFamily="34" charset="0"/>
            </a:endParaRPr>
          </a:p>
        </p:txBody>
      </p:sp>
      <p:sp>
        <p:nvSpPr>
          <p:cNvPr id="45" name="Text 9">
            <a:extLst>
              <a:ext uri="{FF2B5EF4-FFF2-40B4-BE49-F238E27FC236}">
                <a16:creationId xmlns:a16="http://schemas.microsoft.com/office/drawing/2014/main" id="{872419F8-0E32-7E25-F923-33F5EA6C9A31}"/>
              </a:ext>
            </a:extLst>
          </p:cNvPr>
          <p:cNvSpPr/>
          <p:nvPr/>
        </p:nvSpPr>
        <p:spPr>
          <a:xfrm>
            <a:off x="3547872" y="3862268"/>
            <a:ext cx="292608" cy="228600"/>
          </a:xfrm>
          <a:prstGeom prst="rect">
            <a:avLst/>
          </a:prstGeom>
          <a:noFill/>
          <a:ln/>
        </p:spPr>
        <p:txBody>
          <a:bodyPr wrap="square" lIns="0" tIns="0" rIns="0" bIns="0" rtlCol="0" anchor="ctr"/>
          <a:lstStyle/>
          <a:p>
            <a:pPr marL="0" indent="0">
              <a:buNone/>
            </a:pPr>
            <a:r>
              <a:rPr lang="en-US" b="1">
                <a:solidFill>
                  <a:srgbClr val="315B96"/>
                </a:solidFill>
                <a:latin typeface="Arial" panose="020B0604020202020204" pitchFamily="34" charset="0"/>
                <a:ea typeface="Arial" pitchFamily="34" charset="-122"/>
                <a:cs typeface="Arial" panose="020B0604020202020204" pitchFamily="34" charset="0"/>
              </a:rPr>
              <a:t>2</a:t>
            </a:r>
            <a:endParaRPr lang="en-US">
              <a:latin typeface="Arial" panose="020B0604020202020204" pitchFamily="34" charset="0"/>
              <a:cs typeface="Arial" panose="020B0604020202020204" pitchFamily="34" charset="0"/>
            </a:endParaRPr>
          </a:p>
        </p:txBody>
      </p:sp>
      <p:sp>
        <p:nvSpPr>
          <p:cNvPr id="47" name="Text 10">
            <a:extLst>
              <a:ext uri="{FF2B5EF4-FFF2-40B4-BE49-F238E27FC236}">
                <a16:creationId xmlns:a16="http://schemas.microsoft.com/office/drawing/2014/main" id="{F386978D-B00E-E2D1-A9F2-1B235BF58873}"/>
              </a:ext>
            </a:extLst>
          </p:cNvPr>
          <p:cNvSpPr/>
          <p:nvPr/>
        </p:nvSpPr>
        <p:spPr>
          <a:xfrm>
            <a:off x="3858768" y="3862268"/>
            <a:ext cx="1188720" cy="256032"/>
          </a:xfrm>
          <a:prstGeom prst="rect">
            <a:avLst/>
          </a:prstGeom>
          <a:noFill/>
          <a:ln/>
        </p:spPr>
        <p:txBody>
          <a:bodyPr wrap="square" lIns="0" tIns="0" rIns="0" bIns="0" rtlCol="0" anchor="ctr"/>
          <a:lstStyle/>
          <a:p>
            <a:pPr marL="0" indent="0">
              <a:buNone/>
            </a:pPr>
            <a:r>
              <a:rPr lang="en-US" b="1">
                <a:solidFill>
                  <a:srgbClr val="233041"/>
                </a:solidFill>
                <a:latin typeface="Arial" panose="020B0604020202020204" pitchFamily="34" charset="0"/>
                <a:ea typeface="Arial" pitchFamily="34" charset="-122"/>
                <a:cs typeface="Arial" panose="020B0604020202020204" pitchFamily="34" charset="0"/>
              </a:rPr>
              <a:t>Động lực</a:t>
            </a:r>
            <a:endParaRPr lang="en-US">
              <a:latin typeface="Arial" panose="020B0604020202020204" pitchFamily="34" charset="0"/>
              <a:cs typeface="Arial" panose="020B0604020202020204" pitchFamily="34" charset="0"/>
            </a:endParaRPr>
          </a:p>
        </p:txBody>
      </p:sp>
      <p:sp>
        <p:nvSpPr>
          <p:cNvPr id="49" name="Text 11">
            <a:extLst>
              <a:ext uri="{FF2B5EF4-FFF2-40B4-BE49-F238E27FC236}">
                <a16:creationId xmlns:a16="http://schemas.microsoft.com/office/drawing/2014/main" id="{C56532A6-F651-9BEE-4456-CDA55D3A1A7F}"/>
              </a:ext>
            </a:extLst>
          </p:cNvPr>
          <p:cNvSpPr/>
          <p:nvPr/>
        </p:nvSpPr>
        <p:spPr>
          <a:xfrm>
            <a:off x="3621024" y="4264604"/>
            <a:ext cx="1463040" cy="347472"/>
          </a:xfrm>
          <a:prstGeom prst="rect">
            <a:avLst/>
          </a:prstGeom>
          <a:noFill/>
          <a:ln/>
        </p:spPr>
        <p:txBody>
          <a:bodyPr wrap="square" lIns="0" tIns="0" rIns="0" bIns="0" rtlCol="0" anchor="ctr">
            <a:noAutofit/>
          </a:bodyPr>
          <a:lstStyle/>
          <a:p>
            <a:pPr marL="0" indent="0" algn="ctr">
              <a:buNone/>
            </a:pPr>
            <a:r>
              <a:rPr lang="en-US">
                <a:solidFill>
                  <a:srgbClr val="667085"/>
                </a:solidFill>
                <a:latin typeface="Arial" panose="020B0604020202020204" pitchFamily="34" charset="0"/>
                <a:ea typeface="Arial" pitchFamily="34" charset="-122"/>
                <a:cs typeface="Arial" panose="020B0604020202020204" pitchFamily="34" charset="0"/>
              </a:rPr>
              <a:t>Trạng thái thúc đẩy</a:t>
            </a:r>
            <a:endParaRPr lang="en-US">
              <a:latin typeface="Arial" panose="020B0604020202020204" pitchFamily="34" charset="0"/>
              <a:cs typeface="Arial" panose="020B0604020202020204" pitchFamily="34" charset="0"/>
            </a:endParaRPr>
          </a:p>
        </p:txBody>
      </p:sp>
      <p:sp>
        <p:nvSpPr>
          <p:cNvPr id="51" name="Text 12">
            <a:extLst>
              <a:ext uri="{FF2B5EF4-FFF2-40B4-BE49-F238E27FC236}">
                <a16:creationId xmlns:a16="http://schemas.microsoft.com/office/drawing/2014/main" id="{A5896C91-8618-4165-4F15-24B7DDDD2397}"/>
              </a:ext>
            </a:extLst>
          </p:cNvPr>
          <p:cNvSpPr/>
          <p:nvPr/>
        </p:nvSpPr>
        <p:spPr>
          <a:xfrm>
            <a:off x="5440680" y="4136588"/>
            <a:ext cx="347472" cy="182880"/>
          </a:xfrm>
          <a:prstGeom prst="rect">
            <a:avLst/>
          </a:prstGeom>
          <a:noFill/>
          <a:ln/>
        </p:spPr>
        <p:txBody>
          <a:bodyPr wrap="square" lIns="0" tIns="0" rIns="0" bIns="0" rtlCol="0" anchor="ctr"/>
          <a:lstStyle/>
          <a:p>
            <a:pPr marL="0" indent="0" algn="ctr">
              <a:buNone/>
            </a:pPr>
            <a:r>
              <a:rPr lang="en-US" b="1">
                <a:solidFill>
                  <a:srgbClr val="315B96"/>
                </a:solidFill>
                <a:latin typeface="Arial" panose="020B0604020202020204" pitchFamily="34" charset="0"/>
                <a:ea typeface="Arial" pitchFamily="34" charset="-122"/>
                <a:cs typeface="Arial" panose="020B0604020202020204" pitchFamily="34" charset="0"/>
              </a:rPr>
              <a:t>→</a:t>
            </a:r>
            <a:endParaRPr lang="en-US">
              <a:latin typeface="Arial" panose="020B0604020202020204" pitchFamily="34" charset="0"/>
              <a:cs typeface="Arial" panose="020B0604020202020204" pitchFamily="34" charset="0"/>
            </a:endParaRPr>
          </a:p>
        </p:txBody>
      </p:sp>
      <p:sp>
        <p:nvSpPr>
          <p:cNvPr id="53" name="Shape 13">
            <a:extLst>
              <a:ext uri="{FF2B5EF4-FFF2-40B4-BE49-F238E27FC236}">
                <a16:creationId xmlns:a16="http://schemas.microsoft.com/office/drawing/2014/main" id="{6CB31AB6-F6EA-870B-DF4F-97D693F7BA15}"/>
              </a:ext>
            </a:extLst>
          </p:cNvPr>
          <p:cNvSpPr/>
          <p:nvPr/>
        </p:nvSpPr>
        <p:spPr>
          <a:xfrm>
            <a:off x="6172200" y="3697676"/>
            <a:ext cx="1828800" cy="1170432"/>
          </a:xfrm>
          <a:prstGeom prst="roundRect">
            <a:avLst>
              <a:gd name="adj" fmla="val 6250"/>
            </a:avLst>
          </a:prstGeom>
          <a:solidFill>
            <a:srgbClr val="FFFFFF"/>
          </a:solidFill>
          <a:ln w="8890">
            <a:solidFill>
              <a:srgbClr val="CBD5E1"/>
            </a:solidFill>
            <a:prstDash val="solid"/>
          </a:ln>
        </p:spPr>
        <p:txBody>
          <a:bodyPr/>
          <a:lstStyle/>
          <a:p>
            <a:endParaRPr lang="en-US">
              <a:latin typeface="Arial" panose="020B0604020202020204" pitchFamily="34" charset="0"/>
              <a:cs typeface="Arial" panose="020B0604020202020204" pitchFamily="34" charset="0"/>
            </a:endParaRPr>
          </a:p>
        </p:txBody>
      </p:sp>
      <p:sp>
        <p:nvSpPr>
          <p:cNvPr id="55" name="Text 14">
            <a:extLst>
              <a:ext uri="{FF2B5EF4-FFF2-40B4-BE49-F238E27FC236}">
                <a16:creationId xmlns:a16="http://schemas.microsoft.com/office/drawing/2014/main" id="{41FB9D5D-C098-AAB7-31FE-172F19415294}"/>
              </a:ext>
            </a:extLst>
          </p:cNvPr>
          <p:cNvSpPr/>
          <p:nvPr/>
        </p:nvSpPr>
        <p:spPr>
          <a:xfrm>
            <a:off x="6318504" y="3862268"/>
            <a:ext cx="292608" cy="228600"/>
          </a:xfrm>
          <a:prstGeom prst="rect">
            <a:avLst/>
          </a:prstGeom>
          <a:noFill/>
          <a:ln/>
        </p:spPr>
        <p:txBody>
          <a:bodyPr wrap="square" lIns="0" tIns="0" rIns="0" bIns="0" rtlCol="0" anchor="ctr"/>
          <a:lstStyle/>
          <a:p>
            <a:pPr marL="0" indent="0">
              <a:buNone/>
            </a:pPr>
            <a:r>
              <a:rPr lang="en-US" b="1">
                <a:solidFill>
                  <a:srgbClr val="315B96"/>
                </a:solidFill>
                <a:latin typeface="Arial" panose="020B0604020202020204" pitchFamily="34" charset="0"/>
                <a:ea typeface="Arial" pitchFamily="34" charset="-122"/>
                <a:cs typeface="Arial" panose="020B0604020202020204" pitchFamily="34" charset="0"/>
              </a:rPr>
              <a:t>3</a:t>
            </a:r>
            <a:endParaRPr lang="en-US">
              <a:latin typeface="Arial" panose="020B0604020202020204" pitchFamily="34" charset="0"/>
              <a:cs typeface="Arial" panose="020B0604020202020204" pitchFamily="34" charset="0"/>
            </a:endParaRPr>
          </a:p>
        </p:txBody>
      </p:sp>
      <p:sp>
        <p:nvSpPr>
          <p:cNvPr id="57" name="Text 15">
            <a:extLst>
              <a:ext uri="{FF2B5EF4-FFF2-40B4-BE49-F238E27FC236}">
                <a16:creationId xmlns:a16="http://schemas.microsoft.com/office/drawing/2014/main" id="{D7C829F7-5B39-6E99-06D5-6FEC998797CB}"/>
              </a:ext>
            </a:extLst>
          </p:cNvPr>
          <p:cNvSpPr/>
          <p:nvPr/>
        </p:nvSpPr>
        <p:spPr>
          <a:xfrm>
            <a:off x="6629400" y="3862268"/>
            <a:ext cx="1188720" cy="256032"/>
          </a:xfrm>
          <a:prstGeom prst="rect">
            <a:avLst/>
          </a:prstGeom>
          <a:noFill/>
          <a:ln/>
        </p:spPr>
        <p:txBody>
          <a:bodyPr wrap="square" lIns="0" tIns="0" rIns="0" bIns="0" rtlCol="0" anchor="ctr"/>
          <a:lstStyle/>
          <a:p>
            <a:pPr marL="0" indent="0">
              <a:buNone/>
            </a:pPr>
            <a:r>
              <a:rPr lang="en-US" b="1">
                <a:solidFill>
                  <a:srgbClr val="233041"/>
                </a:solidFill>
                <a:latin typeface="Arial" panose="020B0604020202020204" pitchFamily="34" charset="0"/>
                <a:ea typeface="Arial" pitchFamily="34" charset="-122"/>
                <a:cs typeface="Arial" panose="020B0604020202020204" pitchFamily="34" charset="0"/>
              </a:rPr>
              <a:t>Hành vi</a:t>
            </a:r>
            <a:endParaRPr lang="en-US">
              <a:latin typeface="Arial" panose="020B0604020202020204" pitchFamily="34" charset="0"/>
              <a:cs typeface="Arial" panose="020B0604020202020204" pitchFamily="34" charset="0"/>
            </a:endParaRPr>
          </a:p>
        </p:txBody>
      </p:sp>
      <p:sp>
        <p:nvSpPr>
          <p:cNvPr id="59" name="Text 16">
            <a:extLst>
              <a:ext uri="{FF2B5EF4-FFF2-40B4-BE49-F238E27FC236}">
                <a16:creationId xmlns:a16="http://schemas.microsoft.com/office/drawing/2014/main" id="{09433127-8B9D-F049-A1A5-EEDD35169B34}"/>
              </a:ext>
            </a:extLst>
          </p:cNvPr>
          <p:cNvSpPr/>
          <p:nvPr/>
        </p:nvSpPr>
        <p:spPr>
          <a:xfrm>
            <a:off x="6391656" y="4264604"/>
            <a:ext cx="1463040" cy="347472"/>
          </a:xfrm>
          <a:prstGeom prst="rect">
            <a:avLst/>
          </a:prstGeom>
          <a:noFill/>
          <a:ln/>
        </p:spPr>
        <p:txBody>
          <a:bodyPr wrap="square" lIns="0" tIns="0" rIns="0" bIns="0" rtlCol="0" anchor="ctr">
            <a:noAutofit/>
          </a:bodyPr>
          <a:lstStyle/>
          <a:p>
            <a:pPr marL="0" indent="0" algn="ctr">
              <a:buNone/>
            </a:pPr>
            <a:r>
              <a:rPr lang="en-US">
                <a:solidFill>
                  <a:srgbClr val="667085"/>
                </a:solidFill>
                <a:latin typeface="Arial" panose="020B0604020202020204" pitchFamily="34" charset="0"/>
                <a:ea typeface="Arial" pitchFamily="34" charset="-122"/>
                <a:cs typeface="Arial" panose="020B0604020202020204" pitchFamily="34" charset="0"/>
              </a:rPr>
              <a:t>Hướng đến mục tiêu</a:t>
            </a:r>
            <a:endParaRPr lang="en-US">
              <a:latin typeface="Arial" panose="020B0604020202020204" pitchFamily="34" charset="0"/>
              <a:cs typeface="Arial" panose="020B0604020202020204" pitchFamily="34" charset="0"/>
            </a:endParaRPr>
          </a:p>
        </p:txBody>
      </p:sp>
      <p:sp>
        <p:nvSpPr>
          <p:cNvPr id="61" name="Text 17">
            <a:extLst>
              <a:ext uri="{FF2B5EF4-FFF2-40B4-BE49-F238E27FC236}">
                <a16:creationId xmlns:a16="http://schemas.microsoft.com/office/drawing/2014/main" id="{95FF9965-94CD-8A6A-249D-58E76F818F48}"/>
              </a:ext>
            </a:extLst>
          </p:cNvPr>
          <p:cNvSpPr/>
          <p:nvPr/>
        </p:nvSpPr>
        <p:spPr>
          <a:xfrm>
            <a:off x="8211312" y="4136588"/>
            <a:ext cx="347472" cy="182880"/>
          </a:xfrm>
          <a:prstGeom prst="rect">
            <a:avLst/>
          </a:prstGeom>
          <a:noFill/>
          <a:ln/>
        </p:spPr>
        <p:txBody>
          <a:bodyPr wrap="square" lIns="0" tIns="0" rIns="0" bIns="0" rtlCol="0" anchor="ctr"/>
          <a:lstStyle/>
          <a:p>
            <a:pPr marL="0" indent="0" algn="ctr">
              <a:buNone/>
            </a:pPr>
            <a:r>
              <a:rPr lang="en-US" b="1">
                <a:solidFill>
                  <a:srgbClr val="315B96"/>
                </a:solidFill>
                <a:latin typeface="Arial" panose="020B0604020202020204" pitchFamily="34" charset="0"/>
                <a:ea typeface="Arial" pitchFamily="34" charset="-122"/>
                <a:cs typeface="Arial" panose="020B0604020202020204" pitchFamily="34" charset="0"/>
              </a:rPr>
              <a:t>→</a:t>
            </a:r>
            <a:endParaRPr lang="en-US">
              <a:latin typeface="Arial" panose="020B0604020202020204" pitchFamily="34" charset="0"/>
              <a:cs typeface="Arial" panose="020B0604020202020204" pitchFamily="34" charset="0"/>
            </a:endParaRPr>
          </a:p>
        </p:txBody>
      </p:sp>
      <p:sp>
        <p:nvSpPr>
          <p:cNvPr id="63" name="Shape 18">
            <a:extLst>
              <a:ext uri="{FF2B5EF4-FFF2-40B4-BE49-F238E27FC236}">
                <a16:creationId xmlns:a16="http://schemas.microsoft.com/office/drawing/2014/main" id="{BB9222A2-F676-589B-AE9E-D63E3DDD2D0F}"/>
              </a:ext>
            </a:extLst>
          </p:cNvPr>
          <p:cNvSpPr/>
          <p:nvPr/>
        </p:nvSpPr>
        <p:spPr>
          <a:xfrm>
            <a:off x="8942832" y="3697676"/>
            <a:ext cx="1828800" cy="1170432"/>
          </a:xfrm>
          <a:prstGeom prst="roundRect">
            <a:avLst>
              <a:gd name="adj" fmla="val 6250"/>
            </a:avLst>
          </a:prstGeom>
          <a:solidFill>
            <a:srgbClr val="FFFFFF"/>
          </a:solidFill>
          <a:ln w="8890">
            <a:solidFill>
              <a:srgbClr val="CBD5E1"/>
            </a:solidFill>
            <a:prstDash val="solid"/>
          </a:ln>
        </p:spPr>
        <p:txBody>
          <a:bodyPr/>
          <a:lstStyle/>
          <a:p>
            <a:endParaRPr lang="en-US">
              <a:latin typeface="Arial" panose="020B0604020202020204" pitchFamily="34" charset="0"/>
              <a:cs typeface="Arial" panose="020B0604020202020204" pitchFamily="34" charset="0"/>
            </a:endParaRPr>
          </a:p>
        </p:txBody>
      </p:sp>
      <p:sp>
        <p:nvSpPr>
          <p:cNvPr id="65" name="Text 19">
            <a:extLst>
              <a:ext uri="{FF2B5EF4-FFF2-40B4-BE49-F238E27FC236}">
                <a16:creationId xmlns:a16="http://schemas.microsoft.com/office/drawing/2014/main" id="{50886D19-9737-AD9D-8E89-B75A30E3030A}"/>
              </a:ext>
            </a:extLst>
          </p:cNvPr>
          <p:cNvSpPr/>
          <p:nvPr/>
        </p:nvSpPr>
        <p:spPr>
          <a:xfrm>
            <a:off x="9089136" y="3862268"/>
            <a:ext cx="292608" cy="228600"/>
          </a:xfrm>
          <a:prstGeom prst="rect">
            <a:avLst/>
          </a:prstGeom>
          <a:noFill/>
          <a:ln/>
        </p:spPr>
        <p:txBody>
          <a:bodyPr wrap="square" lIns="0" tIns="0" rIns="0" bIns="0" rtlCol="0" anchor="ctr"/>
          <a:lstStyle/>
          <a:p>
            <a:pPr marL="0" indent="0">
              <a:buNone/>
            </a:pPr>
            <a:r>
              <a:rPr lang="en-US" b="1">
                <a:solidFill>
                  <a:srgbClr val="315B96"/>
                </a:solidFill>
                <a:latin typeface="Arial" panose="020B0604020202020204" pitchFamily="34" charset="0"/>
                <a:ea typeface="Arial" pitchFamily="34" charset="-122"/>
                <a:cs typeface="Arial" panose="020B0604020202020204" pitchFamily="34" charset="0"/>
              </a:rPr>
              <a:t>4</a:t>
            </a:r>
            <a:endParaRPr lang="en-US">
              <a:latin typeface="Arial" panose="020B0604020202020204" pitchFamily="34" charset="0"/>
              <a:cs typeface="Arial" panose="020B0604020202020204" pitchFamily="34" charset="0"/>
            </a:endParaRPr>
          </a:p>
        </p:txBody>
      </p:sp>
      <p:sp>
        <p:nvSpPr>
          <p:cNvPr id="67" name="Text 20">
            <a:extLst>
              <a:ext uri="{FF2B5EF4-FFF2-40B4-BE49-F238E27FC236}">
                <a16:creationId xmlns:a16="http://schemas.microsoft.com/office/drawing/2014/main" id="{F1637D1F-64B1-2106-31FF-EBB020562BE7}"/>
              </a:ext>
            </a:extLst>
          </p:cNvPr>
          <p:cNvSpPr/>
          <p:nvPr/>
        </p:nvSpPr>
        <p:spPr>
          <a:xfrm>
            <a:off x="9400032" y="3862268"/>
            <a:ext cx="1188720" cy="256032"/>
          </a:xfrm>
          <a:prstGeom prst="rect">
            <a:avLst/>
          </a:prstGeom>
          <a:noFill/>
          <a:ln/>
        </p:spPr>
        <p:txBody>
          <a:bodyPr wrap="square" lIns="0" tIns="0" rIns="0" bIns="0" rtlCol="0" anchor="ctr"/>
          <a:lstStyle/>
          <a:p>
            <a:pPr marL="0" indent="0">
              <a:buNone/>
            </a:pPr>
            <a:r>
              <a:rPr lang="en-US" b="1">
                <a:solidFill>
                  <a:srgbClr val="233041"/>
                </a:solidFill>
                <a:latin typeface="Arial" panose="020B0604020202020204" pitchFamily="34" charset="0"/>
                <a:ea typeface="Arial" pitchFamily="34" charset="-122"/>
                <a:cs typeface="Arial" panose="020B0604020202020204" pitchFamily="34" charset="0"/>
              </a:rPr>
              <a:t>Cân bằng</a:t>
            </a:r>
            <a:endParaRPr lang="en-US">
              <a:latin typeface="Arial" panose="020B0604020202020204" pitchFamily="34" charset="0"/>
              <a:cs typeface="Arial" panose="020B0604020202020204" pitchFamily="34" charset="0"/>
            </a:endParaRPr>
          </a:p>
        </p:txBody>
      </p:sp>
      <p:sp>
        <p:nvSpPr>
          <p:cNvPr id="69" name="Text 21">
            <a:extLst>
              <a:ext uri="{FF2B5EF4-FFF2-40B4-BE49-F238E27FC236}">
                <a16:creationId xmlns:a16="http://schemas.microsoft.com/office/drawing/2014/main" id="{1B3276BD-E97C-7CC7-7A30-1DA560F2947A}"/>
              </a:ext>
            </a:extLst>
          </p:cNvPr>
          <p:cNvSpPr/>
          <p:nvPr/>
        </p:nvSpPr>
        <p:spPr>
          <a:xfrm>
            <a:off x="9162288" y="4264604"/>
            <a:ext cx="1463040" cy="347472"/>
          </a:xfrm>
          <a:prstGeom prst="rect">
            <a:avLst/>
          </a:prstGeom>
          <a:noFill/>
          <a:ln/>
        </p:spPr>
        <p:txBody>
          <a:bodyPr wrap="square" lIns="0" tIns="0" rIns="0" bIns="0" rtlCol="0" anchor="ctr">
            <a:noAutofit/>
          </a:bodyPr>
          <a:lstStyle/>
          <a:p>
            <a:pPr marL="0" indent="0" algn="ctr">
              <a:buNone/>
            </a:pPr>
            <a:r>
              <a:rPr lang="en-US">
                <a:solidFill>
                  <a:srgbClr val="667085"/>
                </a:solidFill>
                <a:latin typeface="Arial" panose="020B0604020202020204" pitchFamily="34" charset="0"/>
                <a:ea typeface="Arial" pitchFamily="34" charset="-122"/>
                <a:cs typeface="Arial" panose="020B0604020202020204" pitchFamily="34" charset="0"/>
              </a:rPr>
              <a:t>Nhu cầu được thỏa mãn</a:t>
            </a:r>
            <a:endParaRPr lang="en-US">
              <a:latin typeface="Arial" panose="020B0604020202020204" pitchFamily="34" charset="0"/>
              <a:cs typeface="Arial" panose="020B0604020202020204" pitchFamily="34" charset="0"/>
            </a:endParaRPr>
          </a:p>
        </p:txBody>
      </p:sp>
      <p:sp>
        <p:nvSpPr>
          <p:cNvPr id="71" name="TextBox 70">
            <a:extLst>
              <a:ext uri="{FF2B5EF4-FFF2-40B4-BE49-F238E27FC236}">
                <a16:creationId xmlns:a16="http://schemas.microsoft.com/office/drawing/2014/main" id="{D7C37EB2-6AB1-0400-1D41-E9848D05E9C3}"/>
              </a:ext>
            </a:extLst>
          </p:cNvPr>
          <p:cNvSpPr txBox="1"/>
          <p:nvPr/>
        </p:nvSpPr>
        <p:spPr>
          <a:xfrm>
            <a:off x="225779" y="5228259"/>
            <a:ext cx="11480798" cy="954107"/>
          </a:xfrm>
          <a:prstGeom prst="rect">
            <a:avLst/>
          </a:prstGeom>
          <a:noFill/>
        </p:spPr>
        <p:txBody>
          <a:bodyPr wrap="square">
            <a:spAutoFit/>
          </a:bodyPr>
          <a:lstStyle/>
          <a:p>
            <a:pPr marL="0" indent="0">
              <a:buNone/>
            </a:pPr>
            <a:r>
              <a:rPr lang="en-US" sz="2800" err="1">
                <a:solidFill>
                  <a:srgbClr val="2E3440"/>
                </a:solidFill>
                <a:latin typeface="Arial" pitchFamily="34" charset="0"/>
                <a:ea typeface="Arial" pitchFamily="34" charset="-122"/>
                <a:cs typeface="Arial" pitchFamily="34" charset="-120"/>
              </a:rPr>
              <a:t>Ví</a:t>
            </a:r>
            <a:r>
              <a:rPr lang="en-US" sz="2800">
                <a:solidFill>
                  <a:srgbClr val="2E3440"/>
                </a:solidFill>
                <a:latin typeface="Arial" pitchFamily="34" charset="0"/>
                <a:ea typeface="Arial" pitchFamily="34" charset="-122"/>
                <a:cs typeface="Arial" pitchFamily="34" charset="-120"/>
              </a:rPr>
              <a:t> </a:t>
            </a:r>
            <a:r>
              <a:rPr lang="en-US" sz="2800" err="1">
                <a:solidFill>
                  <a:srgbClr val="2E3440"/>
                </a:solidFill>
                <a:latin typeface="Arial" pitchFamily="34" charset="0"/>
                <a:ea typeface="Arial" pitchFamily="34" charset="-122"/>
                <a:cs typeface="Arial" pitchFamily="34" charset="-120"/>
              </a:rPr>
              <a:t>dụ</a:t>
            </a:r>
            <a:r>
              <a:rPr lang="en-US" sz="2800">
                <a:solidFill>
                  <a:srgbClr val="2E3440"/>
                </a:solidFill>
                <a:latin typeface="Arial" pitchFamily="34" charset="0"/>
                <a:ea typeface="Arial" pitchFamily="34" charset="-122"/>
                <a:cs typeface="Arial" pitchFamily="34" charset="-120"/>
              </a:rPr>
              <a:t>: </a:t>
            </a:r>
            <a:r>
              <a:rPr lang="en-US" sz="2800" err="1">
                <a:solidFill>
                  <a:srgbClr val="2E3440"/>
                </a:solidFill>
                <a:latin typeface="Arial" pitchFamily="34" charset="0"/>
                <a:ea typeface="Arial" pitchFamily="34" charset="-122"/>
                <a:cs typeface="Arial" pitchFamily="34" charset="-120"/>
              </a:rPr>
              <a:t>Đường</a:t>
            </a:r>
            <a:r>
              <a:rPr lang="en-US" sz="2800">
                <a:solidFill>
                  <a:srgbClr val="2E3440"/>
                </a:solidFill>
                <a:latin typeface="Arial" pitchFamily="34" charset="0"/>
                <a:ea typeface="Arial" pitchFamily="34" charset="-122"/>
                <a:cs typeface="Arial" pitchFamily="34" charset="-120"/>
              </a:rPr>
              <a:t> </a:t>
            </a:r>
            <a:r>
              <a:rPr lang="en-US" sz="2800" err="1">
                <a:solidFill>
                  <a:srgbClr val="2E3440"/>
                </a:solidFill>
                <a:latin typeface="Arial" pitchFamily="34" charset="0"/>
                <a:ea typeface="Arial" pitchFamily="34" charset="-122"/>
                <a:cs typeface="Arial" pitchFamily="34" charset="-120"/>
              </a:rPr>
              <a:t>huyết</a:t>
            </a:r>
            <a:r>
              <a:rPr lang="en-US" sz="2800">
                <a:solidFill>
                  <a:srgbClr val="2E3440"/>
                </a:solidFill>
                <a:latin typeface="Arial" pitchFamily="34" charset="0"/>
                <a:ea typeface="Arial" pitchFamily="34" charset="-122"/>
                <a:cs typeface="Arial" pitchFamily="34" charset="-120"/>
              </a:rPr>
              <a:t> </a:t>
            </a:r>
            <a:r>
              <a:rPr lang="en-US" sz="2800" err="1">
                <a:solidFill>
                  <a:srgbClr val="2E3440"/>
                </a:solidFill>
                <a:latin typeface="Arial" pitchFamily="34" charset="0"/>
                <a:ea typeface="Arial" pitchFamily="34" charset="-122"/>
                <a:cs typeface="Arial" pitchFamily="34" charset="-120"/>
              </a:rPr>
              <a:t>thấp</a:t>
            </a:r>
            <a:r>
              <a:rPr lang="en-US" sz="2800">
                <a:solidFill>
                  <a:srgbClr val="2E3440"/>
                </a:solidFill>
                <a:latin typeface="Arial" pitchFamily="34" charset="0"/>
                <a:ea typeface="Arial" pitchFamily="34" charset="-122"/>
                <a:cs typeface="Arial" pitchFamily="34" charset="-120"/>
              </a:rPr>
              <a:t> → </a:t>
            </a:r>
            <a:r>
              <a:rPr lang="en-US" sz="2800" err="1">
                <a:solidFill>
                  <a:srgbClr val="2E3440"/>
                </a:solidFill>
                <a:latin typeface="Arial" pitchFamily="34" charset="0"/>
                <a:ea typeface="Arial" pitchFamily="34" charset="-122"/>
                <a:cs typeface="Arial" pitchFamily="34" charset="-120"/>
              </a:rPr>
              <a:t>đói</a:t>
            </a:r>
            <a:r>
              <a:rPr lang="en-US" sz="2800">
                <a:solidFill>
                  <a:srgbClr val="2E3440"/>
                </a:solidFill>
                <a:latin typeface="Arial" pitchFamily="34" charset="0"/>
                <a:ea typeface="Arial" pitchFamily="34" charset="-122"/>
                <a:cs typeface="Arial" pitchFamily="34" charset="-120"/>
              </a:rPr>
              <a:t> → </a:t>
            </a:r>
            <a:r>
              <a:rPr lang="en-US" sz="2800" err="1">
                <a:solidFill>
                  <a:srgbClr val="2E3440"/>
                </a:solidFill>
                <a:latin typeface="Arial" pitchFamily="34" charset="0"/>
                <a:ea typeface="Arial" pitchFamily="34" charset="-122"/>
                <a:cs typeface="Arial" pitchFamily="34" charset="-120"/>
              </a:rPr>
              <a:t>tìm</a:t>
            </a:r>
            <a:r>
              <a:rPr lang="en-US" sz="2800">
                <a:solidFill>
                  <a:srgbClr val="2E3440"/>
                </a:solidFill>
                <a:latin typeface="Arial" pitchFamily="34" charset="0"/>
                <a:ea typeface="Arial" pitchFamily="34" charset="-122"/>
                <a:cs typeface="Arial" pitchFamily="34" charset="-120"/>
              </a:rPr>
              <a:t> </a:t>
            </a:r>
            <a:r>
              <a:rPr lang="en-US" sz="2800" err="1">
                <a:solidFill>
                  <a:srgbClr val="2E3440"/>
                </a:solidFill>
                <a:latin typeface="Arial" pitchFamily="34" charset="0"/>
                <a:ea typeface="Arial" pitchFamily="34" charset="-122"/>
                <a:cs typeface="Arial" pitchFamily="34" charset="-120"/>
              </a:rPr>
              <a:t>và</a:t>
            </a:r>
            <a:r>
              <a:rPr lang="en-US" sz="2800">
                <a:solidFill>
                  <a:srgbClr val="2E3440"/>
                </a:solidFill>
                <a:latin typeface="Arial" pitchFamily="34" charset="0"/>
                <a:ea typeface="Arial" pitchFamily="34" charset="-122"/>
                <a:cs typeface="Arial" pitchFamily="34" charset="-120"/>
              </a:rPr>
              <a:t> </a:t>
            </a:r>
            <a:r>
              <a:rPr lang="en-US" sz="2800" err="1">
                <a:solidFill>
                  <a:srgbClr val="2E3440"/>
                </a:solidFill>
                <a:latin typeface="Arial" pitchFamily="34" charset="0"/>
                <a:ea typeface="Arial" pitchFamily="34" charset="-122"/>
                <a:cs typeface="Arial" pitchFamily="34" charset="-120"/>
              </a:rPr>
              <a:t>ăn</a:t>
            </a:r>
            <a:r>
              <a:rPr lang="en-US" sz="2800">
                <a:solidFill>
                  <a:srgbClr val="2E3440"/>
                </a:solidFill>
                <a:latin typeface="Arial" pitchFamily="34" charset="0"/>
                <a:ea typeface="Arial" pitchFamily="34" charset="-122"/>
                <a:cs typeface="Arial" pitchFamily="34" charset="-120"/>
              </a:rPr>
              <a:t> </a:t>
            </a:r>
            <a:r>
              <a:rPr lang="en-US" sz="2800" err="1">
                <a:solidFill>
                  <a:srgbClr val="2E3440"/>
                </a:solidFill>
                <a:latin typeface="Arial" pitchFamily="34" charset="0"/>
                <a:ea typeface="Arial" pitchFamily="34" charset="-122"/>
                <a:cs typeface="Arial" pitchFamily="34" charset="-120"/>
              </a:rPr>
              <a:t>thức</a:t>
            </a:r>
            <a:r>
              <a:rPr lang="en-US" sz="2800">
                <a:solidFill>
                  <a:srgbClr val="2E3440"/>
                </a:solidFill>
                <a:latin typeface="Arial" pitchFamily="34" charset="0"/>
                <a:ea typeface="Arial" pitchFamily="34" charset="-122"/>
                <a:cs typeface="Arial" pitchFamily="34" charset="-120"/>
              </a:rPr>
              <a:t> </a:t>
            </a:r>
            <a:r>
              <a:rPr lang="en-US" sz="2800" err="1">
                <a:solidFill>
                  <a:srgbClr val="2E3440"/>
                </a:solidFill>
                <a:latin typeface="Arial" pitchFamily="34" charset="0"/>
                <a:ea typeface="Arial" pitchFamily="34" charset="-122"/>
                <a:cs typeface="Arial" pitchFamily="34" charset="-120"/>
              </a:rPr>
              <a:t>ăn</a:t>
            </a:r>
            <a:r>
              <a:rPr lang="en-US" sz="2800">
                <a:solidFill>
                  <a:srgbClr val="2E3440"/>
                </a:solidFill>
                <a:latin typeface="Arial" pitchFamily="34" charset="0"/>
                <a:ea typeface="Arial" pitchFamily="34" charset="-122"/>
                <a:cs typeface="Arial" pitchFamily="34" charset="-120"/>
              </a:rPr>
              <a:t> → </a:t>
            </a:r>
            <a:r>
              <a:rPr lang="en-US" sz="2800" err="1">
                <a:solidFill>
                  <a:srgbClr val="2E3440"/>
                </a:solidFill>
                <a:latin typeface="Arial" pitchFamily="34" charset="0"/>
                <a:ea typeface="Arial" pitchFamily="34" charset="-122"/>
                <a:cs typeface="Arial" pitchFamily="34" charset="-120"/>
              </a:rPr>
              <a:t>cảm</a:t>
            </a:r>
            <a:r>
              <a:rPr lang="en-US" sz="2800">
                <a:solidFill>
                  <a:srgbClr val="2E3440"/>
                </a:solidFill>
                <a:latin typeface="Arial" pitchFamily="34" charset="0"/>
                <a:ea typeface="Arial" pitchFamily="34" charset="-122"/>
                <a:cs typeface="Arial" pitchFamily="34" charset="-120"/>
              </a:rPr>
              <a:t> </a:t>
            </a:r>
            <a:r>
              <a:rPr lang="en-US" sz="2800" err="1">
                <a:solidFill>
                  <a:srgbClr val="2E3440"/>
                </a:solidFill>
                <a:latin typeface="Arial" pitchFamily="34" charset="0"/>
                <a:ea typeface="Arial" pitchFamily="34" charset="-122"/>
                <a:cs typeface="Arial" pitchFamily="34" charset="-120"/>
              </a:rPr>
              <a:t>giác</a:t>
            </a:r>
            <a:r>
              <a:rPr lang="en-US" sz="2800">
                <a:solidFill>
                  <a:srgbClr val="2E3440"/>
                </a:solidFill>
                <a:latin typeface="Arial" pitchFamily="34" charset="0"/>
                <a:ea typeface="Arial" pitchFamily="34" charset="-122"/>
                <a:cs typeface="Arial" pitchFamily="34" charset="-120"/>
              </a:rPr>
              <a:t> </a:t>
            </a:r>
            <a:r>
              <a:rPr lang="en-US" sz="2800" err="1">
                <a:solidFill>
                  <a:srgbClr val="2E3440"/>
                </a:solidFill>
                <a:latin typeface="Arial" pitchFamily="34" charset="0"/>
                <a:ea typeface="Arial" pitchFamily="34" charset="-122"/>
                <a:cs typeface="Arial" pitchFamily="34" charset="-120"/>
              </a:rPr>
              <a:t>đói</a:t>
            </a:r>
            <a:r>
              <a:rPr lang="en-US" sz="2800">
                <a:solidFill>
                  <a:srgbClr val="2E3440"/>
                </a:solidFill>
                <a:latin typeface="Arial" pitchFamily="34" charset="0"/>
                <a:ea typeface="Arial" pitchFamily="34" charset="-122"/>
                <a:cs typeface="Arial" pitchFamily="34" charset="-120"/>
              </a:rPr>
              <a:t> </a:t>
            </a:r>
            <a:r>
              <a:rPr lang="en-US" sz="2800" err="1">
                <a:solidFill>
                  <a:srgbClr val="2E3440"/>
                </a:solidFill>
                <a:latin typeface="Arial" pitchFamily="34" charset="0"/>
                <a:ea typeface="Arial" pitchFamily="34" charset="-122"/>
                <a:cs typeface="Arial" pitchFamily="34" charset="-120"/>
              </a:rPr>
              <a:t>giảm</a:t>
            </a:r>
            <a:r>
              <a:rPr lang="en-US" sz="2800">
                <a:solidFill>
                  <a:srgbClr val="2E3440"/>
                </a:solidFill>
                <a:latin typeface="Arial" pitchFamily="34" charset="0"/>
                <a:ea typeface="Arial" pitchFamily="34" charset="-122"/>
                <a:cs typeface="Arial" pitchFamily="34" charset="-120"/>
              </a:rPr>
              <a:t> → </a:t>
            </a:r>
            <a:r>
              <a:rPr lang="en-US" sz="2800" err="1">
                <a:solidFill>
                  <a:srgbClr val="2E3440"/>
                </a:solidFill>
                <a:latin typeface="Arial" pitchFamily="34" charset="0"/>
                <a:ea typeface="Arial" pitchFamily="34" charset="-122"/>
                <a:cs typeface="Arial" pitchFamily="34" charset="-120"/>
              </a:rPr>
              <a:t>đường</a:t>
            </a:r>
            <a:r>
              <a:rPr lang="en-US" sz="2800">
                <a:solidFill>
                  <a:srgbClr val="2E3440"/>
                </a:solidFill>
                <a:latin typeface="Arial" pitchFamily="34" charset="0"/>
                <a:ea typeface="Arial" pitchFamily="34" charset="-122"/>
                <a:cs typeface="Arial" pitchFamily="34" charset="-120"/>
              </a:rPr>
              <a:t> </a:t>
            </a:r>
            <a:r>
              <a:rPr lang="en-US" sz="2800" err="1">
                <a:solidFill>
                  <a:srgbClr val="2E3440"/>
                </a:solidFill>
                <a:latin typeface="Arial" pitchFamily="34" charset="0"/>
                <a:ea typeface="Arial" pitchFamily="34" charset="-122"/>
                <a:cs typeface="Arial" pitchFamily="34" charset="-120"/>
              </a:rPr>
              <a:t>huyết</a:t>
            </a:r>
            <a:r>
              <a:rPr lang="en-US" sz="2800">
                <a:solidFill>
                  <a:srgbClr val="2E3440"/>
                </a:solidFill>
                <a:latin typeface="Arial" pitchFamily="34" charset="0"/>
                <a:ea typeface="Arial" pitchFamily="34" charset="-122"/>
                <a:cs typeface="Arial" pitchFamily="34" charset="-120"/>
              </a:rPr>
              <a:t> </a:t>
            </a:r>
            <a:r>
              <a:rPr lang="en-US" sz="2800" err="1">
                <a:solidFill>
                  <a:srgbClr val="2E3440"/>
                </a:solidFill>
                <a:latin typeface="Arial" pitchFamily="34" charset="0"/>
                <a:ea typeface="Arial" pitchFamily="34" charset="-122"/>
                <a:cs typeface="Arial" pitchFamily="34" charset="-120"/>
              </a:rPr>
              <a:t>trở</a:t>
            </a:r>
            <a:r>
              <a:rPr lang="en-US" sz="2800">
                <a:solidFill>
                  <a:srgbClr val="2E3440"/>
                </a:solidFill>
                <a:latin typeface="Arial" pitchFamily="34" charset="0"/>
                <a:ea typeface="Arial" pitchFamily="34" charset="-122"/>
                <a:cs typeface="Arial" pitchFamily="34" charset="-120"/>
              </a:rPr>
              <a:t> </a:t>
            </a:r>
            <a:r>
              <a:rPr lang="en-US" sz="2800" err="1">
                <a:solidFill>
                  <a:srgbClr val="2E3440"/>
                </a:solidFill>
                <a:latin typeface="Arial" pitchFamily="34" charset="0"/>
                <a:ea typeface="Arial" pitchFamily="34" charset="-122"/>
                <a:cs typeface="Arial" pitchFamily="34" charset="-120"/>
              </a:rPr>
              <a:t>lại</a:t>
            </a:r>
            <a:r>
              <a:rPr lang="en-US" sz="2800">
                <a:solidFill>
                  <a:srgbClr val="2E3440"/>
                </a:solidFill>
                <a:latin typeface="Arial" pitchFamily="34" charset="0"/>
                <a:ea typeface="Arial" pitchFamily="34" charset="-122"/>
                <a:cs typeface="Arial" pitchFamily="34" charset="-120"/>
              </a:rPr>
              <a:t> </a:t>
            </a:r>
            <a:r>
              <a:rPr lang="en-US" sz="2800" err="1">
                <a:solidFill>
                  <a:srgbClr val="2E3440"/>
                </a:solidFill>
                <a:latin typeface="Arial" pitchFamily="34" charset="0"/>
                <a:ea typeface="Arial" pitchFamily="34" charset="-122"/>
                <a:cs typeface="Arial" pitchFamily="34" charset="-120"/>
              </a:rPr>
              <a:t>bình</a:t>
            </a:r>
            <a:r>
              <a:rPr lang="en-US" sz="2800">
                <a:solidFill>
                  <a:srgbClr val="2E3440"/>
                </a:solidFill>
                <a:latin typeface="Arial" pitchFamily="34" charset="0"/>
                <a:ea typeface="Arial" pitchFamily="34" charset="-122"/>
                <a:cs typeface="Arial" pitchFamily="34" charset="-120"/>
              </a:rPr>
              <a:t> </a:t>
            </a:r>
            <a:r>
              <a:rPr lang="en-US" sz="2800" err="1">
                <a:solidFill>
                  <a:srgbClr val="2E3440"/>
                </a:solidFill>
                <a:latin typeface="Arial" pitchFamily="34" charset="0"/>
                <a:ea typeface="Arial" pitchFamily="34" charset="-122"/>
                <a:cs typeface="Arial" pitchFamily="34" charset="-120"/>
              </a:rPr>
              <a:t>thường</a:t>
            </a:r>
            <a:r>
              <a:rPr lang="en-US" sz="2800">
                <a:solidFill>
                  <a:srgbClr val="2E3440"/>
                </a:solidFill>
                <a:latin typeface="Arial" pitchFamily="34" charset="0"/>
                <a:ea typeface="Arial" pitchFamily="34" charset="-122"/>
                <a:cs typeface="Arial" pitchFamily="34" charset="-120"/>
              </a:rPr>
              <a:t>.</a:t>
            </a:r>
            <a:endParaRPr lang="en-US" sz="2800"/>
          </a:p>
        </p:txBody>
      </p:sp>
    </p:spTree>
    <p:extLst>
      <p:ext uri="{BB962C8B-B14F-4D97-AF65-F5344CB8AC3E}">
        <p14:creationId xmlns:p14="http://schemas.microsoft.com/office/powerpoint/2010/main" val="248229017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75B2C-DFC7-2742-874F-DAACE05754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756F6A-2806-100F-9B5F-9271C7C1F074}"/>
              </a:ext>
            </a:extLst>
          </p:cNvPr>
          <p:cNvSpPr>
            <a:spLocks noGrp="1"/>
          </p:cNvSpPr>
          <p:nvPr>
            <p:ph type="title"/>
          </p:nvPr>
        </p:nvSpPr>
        <p:spPr>
          <a:xfrm>
            <a:off x="623711" y="8644"/>
            <a:ext cx="10515600" cy="1325563"/>
          </a:xfrm>
        </p:spPr>
        <p:txBody>
          <a:bodyPr>
            <a:normAutofit/>
          </a:bodyPr>
          <a:lstStyle/>
          <a:p>
            <a:pPr marL="457200" indent="-342900" algn="just">
              <a:lnSpc>
                <a:spcPct val="150000"/>
              </a:lnSpc>
              <a:buFont typeface="Wingdings" pitchFamily="2" charset="2"/>
              <a:buChar char="Ø"/>
            </a:pPr>
            <a:r>
              <a:rPr lang="en-US" sz="2800" i="1">
                <a:latin typeface="Arial" panose="020B0604020202020204" pitchFamily="34" charset="0"/>
                <a:cs typeface="Arial" panose="020B0604020202020204" pitchFamily="34" charset="0"/>
              </a:rPr>
              <a:t>Lý </a:t>
            </a:r>
            <a:r>
              <a:rPr lang="en-US" sz="2800" i="1" err="1">
                <a:latin typeface="Arial" panose="020B0604020202020204" pitchFamily="34" charset="0"/>
                <a:cs typeface="Arial" panose="020B0604020202020204" pitchFamily="34" charset="0"/>
              </a:rPr>
              <a:t>thuyết</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giảm</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thiểu</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động</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lực</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của</a:t>
            </a:r>
            <a:r>
              <a:rPr lang="en-US" sz="2800" i="1">
                <a:latin typeface="Arial" panose="020B0604020202020204" pitchFamily="34" charset="0"/>
                <a:cs typeface="Arial" panose="020B0604020202020204" pitchFamily="34" charset="0"/>
              </a:rPr>
              <a:t> Hull</a:t>
            </a:r>
          </a:p>
        </p:txBody>
      </p:sp>
      <p:sp>
        <p:nvSpPr>
          <p:cNvPr id="3" name="Content Placeholder 2">
            <a:extLst>
              <a:ext uri="{FF2B5EF4-FFF2-40B4-BE49-F238E27FC236}">
                <a16:creationId xmlns:a16="http://schemas.microsoft.com/office/drawing/2014/main" id="{64A3F9AF-D955-07A9-BCF5-56E36B915530}"/>
              </a:ext>
            </a:extLst>
          </p:cNvPr>
          <p:cNvSpPr>
            <a:spLocks noGrp="1"/>
          </p:cNvSpPr>
          <p:nvPr>
            <p:ph idx="1"/>
          </p:nvPr>
        </p:nvSpPr>
        <p:spPr>
          <a:xfrm>
            <a:off x="1177240" y="883157"/>
            <a:ext cx="10515600" cy="4351338"/>
          </a:xfrm>
        </p:spPr>
        <p:txBody>
          <a:bodyPr>
            <a:noAutofit/>
          </a:bodyPr>
          <a:lstStyle/>
          <a:p>
            <a:pPr marL="0" indent="0" algn="just">
              <a:lnSpc>
                <a:spcPct val="150000"/>
              </a:lnSpc>
              <a:spcBef>
                <a:spcPts val="0"/>
              </a:spcBef>
              <a:buNone/>
            </a:pPr>
            <a:r>
              <a:rPr lang="en-US" err="1">
                <a:latin typeface="Arial" panose="020B0604020202020204" pitchFamily="34" charset="0"/>
                <a:cs typeface="Arial" panose="020B0604020202020204" pitchFamily="34" charset="0"/>
              </a:rPr>
              <a:t>Bảng</a:t>
            </a:r>
            <a:r>
              <a:rPr lang="en-US">
                <a:latin typeface="Arial" panose="020B0604020202020204" pitchFamily="34" charset="0"/>
                <a:cs typeface="Arial" panose="020B0604020202020204" pitchFamily="34" charset="0"/>
              </a:rPr>
              <a:t> 3.1 </a:t>
            </a:r>
            <a:r>
              <a:rPr lang="en-US" err="1">
                <a:latin typeface="Arial" panose="020B0604020202020204" pitchFamily="34" charset="0"/>
                <a:cs typeface="Arial" panose="020B0604020202020204" pitchFamily="34" charset="0"/>
              </a:rPr>
              <a:t>Mối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tương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quan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giữa</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kích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thích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cầu</a:t>
            </a:r>
            <a:endParaRPr lang="en-US">
              <a:latin typeface="Arial" panose="020B0604020202020204" pitchFamily="34" charset="0"/>
              <a:cs typeface="Arial" panose="020B0604020202020204" pitchFamily="34" charset="0"/>
            </a:endParaRPr>
          </a:p>
          <a:p>
            <a:pPr marL="0" indent="0" algn="just">
              <a:lnSpc>
                <a:spcPct val="150000"/>
              </a:lnSpc>
              <a:spcBef>
                <a:spcPts val="0"/>
              </a:spcBef>
              <a:buNone/>
            </a:pPr>
            <a:endParaRPr lang="en-US">
              <a:latin typeface="Arial" panose="020B0604020202020204" pitchFamily="34" charset="0"/>
              <a:cs typeface="Arial" panose="020B0604020202020204" pitchFamily="34" charset="0"/>
            </a:endParaRPr>
          </a:p>
        </p:txBody>
      </p:sp>
      <p:sp>
        <p:nvSpPr>
          <p:cNvPr id="6" name="Shape 2">
            <a:extLst>
              <a:ext uri="{FF2B5EF4-FFF2-40B4-BE49-F238E27FC236}">
                <a16:creationId xmlns:a16="http://schemas.microsoft.com/office/drawing/2014/main" id="{BA8F2AED-EE6D-55E2-2710-16D5E50B76EF}"/>
              </a:ext>
            </a:extLst>
          </p:cNvPr>
          <p:cNvSpPr/>
          <p:nvPr/>
        </p:nvSpPr>
        <p:spPr>
          <a:xfrm>
            <a:off x="685800" y="1692773"/>
            <a:ext cx="2103120" cy="438912"/>
          </a:xfrm>
          <a:prstGeom prst="rect">
            <a:avLst/>
          </a:prstGeom>
          <a:solidFill>
            <a:srgbClr val="233041"/>
          </a:solidFill>
          <a:ln w="12700">
            <a:solidFill>
              <a:srgbClr val="233041"/>
            </a:solidFill>
            <a:prstDash val="solid"/>
          </a:ln>
        </p:spPr>
        <p:txBody>
          <a:bodyPr/>
          <a:lstStyle/>
          <a:p>
            <a:endParaRPr lang="en-US">
              <a:latin typeface="Arial" panose="020B0604020202020204" pitchFamily="34" charset="0"/>
              <a:cs typeface="Arial" panose="020B0604020202020204" pitchFamily="34" charset="0"/>
            </a:endParaRPr>
          </a:p>
        </p:txBody>
      </p:sp>
      <p:sp>
        <p:nvSpPr>
          <p:cNvPr id="7" name="Text 3">
            <a:extLst>
              <a:ext uri="{FF2B5EF4-FFF2-40B4-BE49-F238E27FC236}">
                <a16:creationId xmlns:a16="http://schemas.microsoft.com/office/drawing/2014/main" id="{06653093-A3DC-82D3-C5BF-C2B3CEE101BA}"/>
              </a:ext>
            </a:extLst>
          </p:cNvPr>
          <p:cNvSpPr/>
          <p:nvPr/>
        </p:nvSpPr>
        <p:spPr>
          <a:xfrm>
            <a:off x="795528" y="1820789"/>
            <a:ext cx="1883664" cy="128016"/>
          </a:xfrm>
          <a:prstGeom prst="rect">
            <a:avLst/>
          </a:prstGeom>
          <a:noFill/>
          <a:ln/>
        </p:spPr>
        <p:txBody>
          <a:bodyPr wrap="square" lIns="0" tIns="0" rIns="0" bIns="0" rtlCol="0" anchor="ctr">
            <a:noAutofit/>
          </a:bodyPr>
          <a:lstStyle/>
          <a:p>
            <a:pPr marL="0" indent="0">
              <a:buNone/>
            </a:pPr>
            <a:r>
              <a:rPr lang="en-US" b="1">
                <a:solidFill>
                  <a:srgbClr val="FFFFFF"/>
                </a:solidFill>
                <a:latin typeface="Arial" panose="020B0604020202020204" pitchFamily="34" charset="0"/>
                <a:ea typeface="Arial" pitchFamily="34" charset="-122"/>
                <a:cs typeface="Arial" panose="020B0604020202020204" pitchFamily="34" charset="0"/>
              </a:rPr>
              <a:t>Loại kích thích</a:t>
            </a:r>
            <a:endParaRPr lang="en-US">
              <a:latin typeface="Arial" panose="020B0604020202020204" pitchFamily="34" charset="0"/>
              <a:cs typeface="Arial" panose="020B0604020202020204" pitchFamily="34" charset="0"/>
            </a:endParaRPr>
          </a:p>
        </p:txBody>
      </p:sp>
      <p:sp>
        <p:nvSpPr>
          <p:cNvPr id="8" name="Shape 4">
            <a:extLst>
              <a:ext uri="{FF2B5EF4-FFF2-40B4-BE49-F238E27FC236}">
                <a16:creationId xmlns:a16="http://schemas.microsoft.com/office/drawing/2014/main" id="{FBFA5042-14ED-8597-07A2-B1175A82D5D8}"/>
              </a:ext>
            </a:extLst>
          </p:cNvPr>
          <p:cNvSpPr/>
          <p:nvPr/>
        </p:nvSpPr>
        <p:spPr>
          <a:xfrm>
            <a:off x="2788920" y="1692773"/>
            <a:ext cx="5212080" cy="438912"/>
          </a:xfrm>
          <a:prstGeom prst="rect">
            <a:avLst/>
          </a:prstGeom>
          <a:solidFill>
            <a:srgbClr val="233041"/>
          </a:solidFill>
          <a:ln w="12700">
            <a:solidFill>
              <a:srgbClr val="233041"/>
            </a:solidFill>
            <a:prstDash val="solid"/>
          </a:ln>
        </p:spPr>
        <p:txBody>
          <a:bodyPr/>
          <a:lstStyle/>
          <a:p>
            <a:endParaRPr lang="en-US">
              <a:latin typeface="Arial" panose="020B0604020202020204" pitchFamily="34" charset="0"/>
              <a:cs typeface="Arial" panose="020B0604020202020204" pitchFamily="34" charset="0"/>
            </a:endParaRPr>
          </a:p>
        </p:txBody>
      </p:sp>
      <p:sp>
        <p:nvSpPr>
          <p:cNvPr id="9" name="Text 5">
            <a:extLst>
              <a:ext uri="{FF2B5EF4-FFF2-40B4-BE49-F238E27FC236}">
                <a16:creationId xmlns:a16="http://schemas.microsoft.com/office/drawing/2014/main" id="{85E6A030-EDC4-7208-F647-6B8F1F5FEA40}"/>
              </a:ext>
            </a:extLst>
          </p:cNvPr>
          <p:cNvSpPr/>
          <p:nvPr/>
        </p:nvSpPr>
        <p:spPr>
          <a:xfrm>
            <a:off x="2898648" y="1820789"/>
            <a:ext cx="4992624" cy="128016"/>
          </a:xfrm>
          <a:prstGeom prst="rect">
            <a:avLst/>
          </a:prstGeom>
          <a:noFill/>
          <a:ln/>
        </p:spPr>
        <p:txBody>
          <a:bodyPr wrap="square" lIns="0" tIns="0" rIns="0" bIns="0" rtlCol="0" anchor="ctr">
            <a:noAutofit/>
          </a:bodyPr>
          <a:lstStyle/>
          <a:p>
            <a:pPr marL="0" indent="0">
              <a:buNone/>
            </a:pPr>
            <a:r>
              <a:rPr lang="en-US" b="1">
                <a:solidFill>
                  <a:srgbClr val="FFFFFF"/>
                </a:solidFill>
                <a:latin typeface="Arial" panose="020B0604020202020204" pitchFamily="34" charset="0"/>
                <a:ea typeface="Arial" pitchFamily="34" charset="-122"/>
                <a:cs typeface="Arial" panose="020B0604020202020204" pitchFamily="34" charset="0"/>
              </a:rPr>
              <a:t>Cơ chế</a:t>
            </a:r>
            <a:endParaRPr lang="en-US">
              <a:latin typeface="Arial" panose="020B0604020202020204" pitchFamily="34" charset="0"/>
              <a:cs typeface="Arial" panose="020B0604020202020204" pitchFamily="34" charset="0"/>
            </a:endParaRPr>
          </a:p>
        </p:txBody>
      </p:sp>
      <p:sp>
        <p:nvSpPr>
          <p:cNvPr id="10" name="Shape 6">
            <a:extLst>
              <a:ext uri="{FF2B5EF4-FFF2-40B4-BE49-F238E27FC236}">
                <a16:creationId xmlns:a16="http://schemas.microsoft.com/office/drawing/2014/main" id="{B993D4A8-B7DC-8976-4F72-DDF233A6F93B}"/>
              </a:ext>
            </a:extLst>
          </p:cNvPr>
          <p:cNvSpPr/>
          <p:nvPr/>
        </p:nvSpPr>
        <p:spPr>
          <a:xfrm>
            <a:off x="8001000" y="1692773"/>
            <a:ext cx="3520440" cy="438912"/>
          </a:xfrm>
          <a:prstGeom prst="rect">
            <a:avLst/>
          </a:prstGeom>
          <a:solidFill>
            <a:srgbClr val="233041"/>
          </a:solidFill>
          <a:ln w="12700">
            <a:solidFill>
              <a:srgbClr val="233041"/>
            </a:solidFill>
            <a:prstDash val="solid"/>
          </a:ln>
        </p:spPr>
        <p:txBody>
          <a:bodyPr/>
          <a:lstStyle/>
          <a:p>
            <a:endParaRPr lang="en-US">
              <a:latin typeface="Arial" panose="020B0604020202020204" pitchFamily="34" charset="0"/>
              <a:cs typeface="Arial" panose="020B0604020202020204" pitchFamily="34" charset="0"/>
            </a:endParaRPr>
          </a:p>
        </p:txBody>
      </p:sp>
      <p:sp>
        <p:nvSpPr>
          <p:cNvPr id="11" name="Text 7">
            <a:extLst>
              <a:ext uri="{FF2B5EF4-FFF2-40B4-BE49-F238E27FC236}">
                <a16:creationId xmlns:a16="http://schemas.microsoft.com/office/drawing/2014/main" id="{50B0C4AE-D5E4-954D-1E95-5877536141BC}"/>
              </a:ext>
            </a:extLst>
          </p:cNvPr>
          <p:cNvSpPr/>
          <p:nvPr/>
        </p:nvSpPr>
        <p:spPr>
          <a:xfrm>
            <a:off x="8110728" y="1820789"/>
            <a:ext cx="3300984" cy="128016"/>
          </a:xfrm>
          <a:prstGeom prst="rect">
            <a:avLst/>
          </a:prstGeom>
          <a:noFill/>
          <a:ln/>
        </p:spPr>
        <p:txBody>
          <a:bodyPr wrap="square" lIns="0" tIns="0" rIns="0" bIns="0" rtlCol="0" anchor="ctr">
            <a:noAutofit/>
          </a:bodyPr>
          <a:lstStyle/>
          <a:p>
            <a:pPr marL="0" indent="0">
              <a:buNone/>
            </a:pPr>
            <a:r>
              <a:rPr lang="en-US" b="1">
                <a:solidFill>
                  <a:srgbClr val="FFFFFF"/>
                </a:solidFill>
                <a:latin typeface="Arial" panose="020B0604020202020204" pitchFamily="34" charset="0"/>
                <a:ea typeface="Arial" pitchFamily="34" charset="-122"/>
                <a:cs typeface="Arial" panose="020B0604020202020204" pitchFamily="34" charset="0"/>
              </a:rPr>
              <a:t>Nhu cầu được khơi dậy</a:t>
            </a:r>
            <a:endParaRPr lang="en-US">
              <a:latin typeface="Arial" panose="020B0604020202020204" pitchFamily="34" charset="0"/>
              <a:cs typeface="Arial" panose="020B0604020202020204" pitchFamily="34" charset="0"/>
            </a:endParaRPr>
          </a:p>
        </p:txBody>
      </p:sp>
      <p:sp>
        <p:nvSpPr>
          <p:cNvPr id="12" name="Shape 8">
            <a:extLst>
              <a:ext uri="{FF2B5EF4-FFF2-40B4-BE49-F238E27FC236}">
                <a16:creationId xmlns:a16="http://schemas.microsoft.com/office/drawing/2014/main" id="{FFBFA79F-32E6-DDEC-7079-48A5356CE31A}"/>
              </a:ext>
            </a:extLst>
          </p:cNvPr>
          <p:cNvSpPr/>
          <p:nvPr/>
        </p:nvSpPr>
        <p:spPr>
          <a:xfrm>
            <a:off x="685800" y="2131685"/>
            <a:ext cx="2103120" cy="731520"/>
          </a:xfrm>
          <a:prstGeom prst="rect">
            <a:avLst/>
          </a:prstGeom>
          <a:solidFill>
            <a:srgbClr val="FFFFFF"/>
          </a:solidFill>
          <a:ln w="8890">
            <a:solidFill>
              <a:srgbClr val="D6DCE5"/>
            </a:solidFill>
            <a:prstDash val="solid"/>
          </a:ln>
        </p:spPr>
        <p:txBody>
          <a:bodyPr/>
          <a:lstStyle/>
          <a:p>
            <a:endParaRPr lang="en-US">
              <a:latin typeface="Arial" panose="020B0604020202020204" pitchFamily="34" charset="0"/>
              <a:cs typeface="Arial" panose="020B0604020202020204" pitchFamily="34" charset="0"/>
            </a:endParaRPr>
          </a:p>
        </p:txBody>
      </p:sp>
      <p:sp>
        <p:nvSpPr>
          <p:cNvPr id="13" name="Text 9">
            <a:extLst>
              <a:ext uri="{FF2B5EF4-FFF2-40B4-BE49-F238E27FC236}">
                <a16:creationId xmlns:a16="http://schemas.microsoft.com/office/drawing/2014/main" id="{B1FA3BD7-3EFE-3934-E6FC-3D5EF7E0C180}"/>
              </a:ext>
            </a:extLst>
          </p:cNvPr>
          <p:cNvSpPr/>
          <p:nvPr/>
        </p:nvSpPr>
        <p:spPr>
          <a:xfrm>
            <a:off x="795528" y="2241413"/>
            <a:ext cx="1883664" cy="548640"/>
          </a:xfrm>
          <a:prstGeom prst="rect">
            <a:avLst/>
          </a:prstGeom>
          <a:noFill/>
          <a:ln/>
        </p:spPr>
        <p:txBody>
          <a:bodyPr wrap="square" lIns="254" tIns="254" rIns="254" bIns="254" rtlCol="0" anchor="ctr">
            <a:normAutofit/>
          </a:bodyPr>
          <a:lstStyle/>
          <a:p>
            <a:pPr marL="0" indent="0">
              <a:buNone/>
            </a:pPr>
            <a:r>
              <a:rPr lang="en-US" b="1">
                <a:solidFill>
                  <a:srgbClr val="2E3440"/>
                </a:solidFill>
                <a:latin typeface="Arial" panose="020B0604020202020204" pitchFamily="34" charset="0"/>
                <a:ea typeface="Arial" pitchFamily="34" charset="-122"/>
                <a:cs typeface="Arial" panose="020B0604020202020204" pitchFamily="34" charset="0"/>
              </a:rPr>
              <a:t>Sinh lý học</a:t>
            </a:r>
            <a:endParaRPr lang="en-US">
              <a:latin typeface="Arial" panose="020B0604020202020204" pitchFamily="34" charset="0"/>
              <a:cs typeface="Arial" panose="020B0604020202020204" pitchFamily="34" charset="0"/>
            </a:endParaRPr>
          </a:p>
        </p:txBody>
      </p:sp>
      <p:sp>
        <p:nvSpPr>
          <p:cNvPr id="14" name="Shape 10">
            <a:extLst>
              <a:ext uri="{FF2B5EF4-FFF2-40B4-BE49-F238E27FC236}">
                <a16:creationId xmlns:a16="http://schemas.microsoft.com/office/drawing/2014/main" id="{D3AF1986-7CDF-A541-2B31-40F72B74ED63}"/>
              </a:ext>
            </a:extLst>
          </p:cNvPr>
          <p:cNvSpPr/>
          <p:nvPr/>
        </p:nvSpPr>
        <p:spPr>
          <a:xfrm>
            <a:off x="2788920" y="2131685"/>
            <a:ext cx="5212080" cy="731520"/>
          </a:xfrm>
          <a:prstGeom prst="rect">
            <a:avLst/>
          </a:prstGeom>
          <a:solidFill>
            <a:srgbClr val="FFFFFF"/>
          </a:solidFill>
          <a:ln w="8890">
            <a:solidFill>
              <a:srgbClr val="D6DCE5"/>
            </a:solidFill>
            <a:prstDash val="solid"/>
          </a:ln>
        </p:spPr>
        <p:txBody>
          <a:bodyPr/>
          <a:lstStyle/>
          <a:p>
            <a:endParaRPr lang="en-US">
              <a:latin typeface="Arial" panose="020B0604020202020204" pitchFamily="34" charset="0"/>
              <a:cs typeface="Arial" panose="020B0604020202020204" pitchFamily="34" charset="0"/>
            </a:endParaRPr>
          </a:p>
        </p:txBody>
      </p:sp>
      <p:sp>
        <p:nvSpPr>
          <p:cNvPr id="15" name="Text 11">
            <a:extLst>
              <a:ext uri="{FF2B5EF4-FFF2-40B4-BE49-F238E27FC236}">
                <a16:creationId xmlns:a16="http://schemas.microsoft.com/office/drawing/2014/main" id="{D63BE500-1B3E-9550-E438-6BD434395D6E}"/>
              </a:ext>
            </a:extLst>
          </p:cNvPr>
          <p:cNvSpPr/>
          <p:nvPr/>
        </p:nvSpPr>
        <p:spPr>
          <a:xfrm>
            <a:off x="2898648" y="2241413"/>
            <a:ext cx="4992624" cy="548640"/>
          </a:xfrm>
          <a:prstGeom prst="rect">
            <a:avLst/>
          </a:prstGeom>
          <a:noFill/>
          <a:ln/>
        </p:spPr>
        <p:txBody>
          <a:bodyPr wrap="square" lIns="254" tIns="254" rIns="254" bIns="254" rtlCol="0" anchor="ctr">
            <a:normAutofit/>
          </a:bodyPr>
          <a:lstStyle/>
          <a:p>
            <a:pPr marL="0" indent="0">
              <a:buNone/>
            </a:pPr>
            <a:r>
              <a:rPr lang="en-US">
                <a:solidFill>
                  <a:srgbClr val="2E3440"/>
                </a:solidFill>
                <a:latin typeface="Arial" panose="020B0604020202020204" pitchFamily="34" charset="0"/>
                <a:ea typeface="Arial" pitchFamily="34" charset="-122"/>
                <a:cs typeface="Arial" panose="020B0604020202020204" pitchFamily="34" charset="0"/>
              </a:rPr>
              <a:t>Khô cổ</a:t>
            </a:r>
            <a:endParaRPr lang="en-US">
              <a:latin typeface="Arial" panose="020B0604020202020204" pitchFamily="34" charset="0"/>
              <a:cs typeface="Arial" panose="020B0604020202020204" pitchFamily="34" charset="0"/>
            </a:endParaRPr>
          </a:p>
        </p:txBody>
      </p:sp>
      <p:sp>
        <p:nvSpPr>
          <p:cNvPr id="16" name="Shape 12">
            <a:extLst>
              <a:ext uri="{FF2B5EF4-FFF2-40B4-BE49-F238E27FC236}">
                <a16:creationId xmlns:a16="http://schemas.microsoft.com/office/drawing/2014/main" id="{848C10C5-4EB2-2B51-52D7-868544013BC3}"/>
              </a:ext>
            </a:extLst>
          </p:cNvPr>
          <p:cNvSpPr/>
          <p:nvPr/>
        </p:nvSpPr>
        <p:spPr>
          <a:xfrm>
            <a:off x="8001000" y="2131685"/>
            <a:ext cx="3520440" cy="731520"/>
          </a:xfrm>
          <a:prstGeom prst="rect">
            <a:avLst/>
          </a:prstGeom>
          <a:solidFill>
            <a:srgbClr val="FFFFFF"/>
          </a:solidFill>
          <a:ln w="8890">
            <a:solidFill>
              <a:srgbClr val="D6DCE5"/>
            </a:solidFill>
            <a:prstDash val="solid"/>
          </a:ln>
        </p:spPr>
        <p:txBody>
          <a:bodyPr/>
          <a:lstStyle/>
          <a:p>
            <a:endParaRPr lang="en-US">
              <a:latin typeface="Arial" panose="020B0604020202020204" pitchFamily="34" charset="0"/>
              <a:cs typeface="Arial" panose="020B0604020202020204" pitchFamily="34" charset="0"/>
            </a:endParaRPr>
          </a:p>
        </p:txBody>
      </p:sp>
      <p:sp>
        <p:nvSpPr>
          <p:cNvPr id="17" name="Text 13">
            <a:extLst>
              <a:ext uri="{FF2B5EF4-FFF2-40B4-BE49-F238E27FC236}">
                <a16:creationId xmlns:a16="http://schemas.microsoft.com/office/drawing/2014/main" id="{11123044-5EDF-EEDD-2A91-AA52603CF8FA}"/>
              </a:ext>
            </a:extLst>
          </p:cNvPr>
          <p:cNvSpPr/>
          <p:nvPr/>
        </p:nvSpPr>
        <p:spPr>
          <a:xfrm>
            <a:off x="8110728" y="2241413"/>
            <a:ext cx="3300984" cy="548640"/>
          </a:xfrm>
          <a:prstGeom prst="rect">
            <a:avLst/>
          </a:prstGeom>
          <a:noFill/>
          <a:ln/>
        </p:spPr>
        <p:txBody>
          <a:bodyPr wrap="square" lIns="254" tIns="254" rIns="254" bIns="254" rtlCol="0" anchor="ctr">
            <a:normAutofit/>
          </a:bodyPr>
          <a:lstStyle/>
          <a:p>
            <a:pPr marL="0" indent="0">
              <a:buNone/>
            </a:pPr>
            <a:r>
              <a:rPr lang="en-US" b="1">
                <a:solidFill>
                  <a:srgbClr val="315B96"/>
                </a:solidFill>
                <a:latin typeface="Arial" panose="020B0604020202020204" pitchFamily="34" charset="0"/>
                <a:ea typeface="Arial" pitchFamily="34" charset="-122"/>
                <a:cs typeface="Arial" panose="020B0604020202020204" pitchFamily="34" charset="0"/>
              </a:rPr>
              <a:t>Khát (chính)</a:t>
            </a:r>
            <a:endParaRPr lang="en-US">
              <a:latin typeface="Arial" panose="020B0604020202020204" pitchFamily="34" charset="0"/>
              <a:cs typeface="Arial" panose="020B0604020202020204" pitchFamily="34" charset="0"/>
            </a:endParaRPr>
          </a:p>
        </p:txBody>
      </p:sp>
      <p:sp>
        <p:nvSpPr>
          <p:cNvPr id="18" name="Shape 14">
            <a:extLst>
              <a:ext uri="{FF2B5EF4-FFF2-40B4-BE49-F238E27FC236}">
                <a16:creationId xmlns:a16="http://schemas.microsoft.com/office/drawing/2014/main" id="{A2166EA5-0D7E-86C2-D000-FA299AEFFFB0}"/>
              </a:ext>
            </a:extLst>
          </p:cNvPr>
          <p:cNvSpPr/>
          <p:nvPr/>
        </p:nvSpPr>
        <p:spPr>
          <a:xfrm>
            <a:off x="685800" y="2863205"/>
            <a:ext cx="2103120" cy="1188720"/>
          </a:xfrm>
          <a:prstGeom prst="rect">
            <a:avLst/>
          </a:prstGeom>
          <a:solidFill>
            <a:srgbClr val="F2F5F8"/>
          </a:solidFill>
          <a:ln w="8890">
            <a:solidFill>
              <a:srgbClr val="D6DCE5"/>
            </a:solidFill>
            <a:prstDash val="solid"/>
          </a:ln>
        </p:spPr>
        <p:txBody>
          <a:bodyPr/>
          <a:lstStyle/>
          <a:p>
            <a:endParaRPr lang="en-US">
              <a:latin typeface="Arial" panose="020B0604020202020204" pitchFamily="34" charset="0"/>
              <a:cs typeface="Arial" panose="020B0604020202020204" pitchFamily="34" charset="0"/>
            </a:endParaRPr>
          </a:p>
        </p:txBody>
      </p:sp>
      <p:sp>
        <p:nvSpPr>
          <p:cNvPr id="19" name="Text 15">
            <a:extLst>
              <a:ext uri="{FF2B5EF4-FFF2-40B4-BE49-F238E27FC236}">
                <a16:creationId xmlns:a16="http://schemas.microsoft.com/office/drawing/2014/main" id="{4A5ED198-FE89-A82D-8034-C050225B5AB4}"/>
              </a:ext>
            </a:extLst>
          </p:cNvPr>
          <p:cNvSpPr/>
          <p:nvPr/>
        </p:nvSpPr>
        <p:spPr>
          <a:xfrm>
            <a:off x="795528" y="2972933"/>
            <a:ext cx="1883664" cy="1005840"/>
          </a:xfrm>
          <a:prstGeom prst="rect">
            <a:avLst/>
          </a:prstGeom>
          <a:noFill/>
          <a:ln/>
        </p:spPr>
        <p:txBody>
          <a:bodyPr wrap="square" lIns="254" tIns="254" rIns="254" bIns="254" rtlCol="0" anchor="ctr">
            <a:normAutofit/>
          </a:bodyPr>
          <a:lstStyle/>
          <a:p>
            <a:pPr marL="0" indent="0">
              <a:buNone/>
            </a:pPr>
            <a:r>
              <a:rPr lang="en-US" b="1">
                <a:solidFill>
                  <a:srgbClr val="2E3440"/>
                </a:solidFill>
                <a:latin typeface="Arial" panose="020B0604020202020204" pitchFamily="34" charset="0"/>
                <a:ea typeface="Arial" pitchFamily="34" charset="-122"/>
                <a:cs typeface="Arial" panose="020B0604020202020204" pitchFamily="34" charset="0"/>
              </a:rPr>
              <a:t>Nhận thức</a:t>
            </a:r>
            <a:endParaRPr lang="en-US">
              <a:latin typeface="Arial" panose="020B0604020202020204" pitchFamily="34" charset="0"/>
              <a:cs typeface="Arial" panose="020B0604020202020204" pitchFamily="34" charset="0"/>
            </a:endParaRPr>
          </a:p>
        </p:txBody>
      </p:sp>
      <p:sp>
        <p:nvSpPr>
          <p:cNvPr id="20" name="Shape 16">
            <a:extLst>
              <a:ext uri="{FF2B5EF4-FFF2-40B4-BE49-F238E27FC236}">
                <a16:creationId xmlns:a16="http://schemas.microsoft.com/office/drawing/2014/main" id="{0ED56D5E-963D-8B43-7E66-BB053E9D8599}"/>
              </a:ext>
            </a:extLst>
          </p:cNvPr>
          <p:cNvSpPr/>
          <p:nvPr/>
        </p:nvSpPr>
        <p:spPr>
          <a:xfrm>
            <a:off x="2788920" y="2863205"/>
            <a:ext cx="5212080" cy="1188720"/>
          </a:xfrm>
          <a:prstGeom prst="rect">
            <a:avLst/>
          </a:prstGeom>
          <a:solidFill>
            <a:srgbClr val="F2F5F8"/>
          </a:solidFill>
          <a:ln w="8890">
            <a:solidFill>
              <a:srgbClr val="D6DCE5"/>
            </a:solidFill>
            <a:prstDash val="solid"/>
          </a:ln>
        </p:spPr>
        <p:txBody>
          <a:bodyPr/>
          <a:lstStyle/>
          <a:p>
            <a:endParaRPr lang="en-US">
              <a:latin typeface="Arial" panose="020B0604020202020204" pitchFamily="34" charset="0"/>
              <a:cs typeface="Arial" panose="020B0604020202020204" pitchFamily="34" charset="0"/>
            </a:endParaRPr>
          </a:p>
        </p:txBody>
      </p:sp>
      <p:sp>
        <p:nvSpPr>
          <p:cNvPr id="21" name="Text 17">
            <a:extLst>
              <a:ext uri="{FF2B5EF4-FFF2-40B4-BE49-F238E27FC236}">
                <a16:creationId xmlns:a16="http://schemas.microsoft.com/office/drawing/2014/main" id="{B66AE23C-D3D0-95AF-631A-3B516D92EA9C}"/>
              </a:ext>
            </a:extLst>
          </p:cNvPr>
          <p:cNvSpPr/>
          <p:nvPr/>
        </p:nvSpPr>
        <p:spPr>
          <a:xfrm>
            <a:off x="2898648" y="2972933"/>
            <a:ext cx="4992624" cy="1005840"/>
          </a:xfrm>
          <a:prstGeom prst="rect">
            <a:avLst/>
          </a:prstGeom>
          <a:noFill/>
          <a:ln/>
        </p:spPr>
        <p:txBody>
          <a:bodyPr wrap="square" lIns="254" tIns="254" rIns="254" bIns="254" rtlCol="0" anchor="ctr">
            <a:normAutofit/>
          </a:bodyPr>
          <a:lstStyle/>
          <a:p>
            <a:pPr marL="0" indent="0">
              <a:buNone/>
            </a:pPr>
            <a:r>
              <a:rPr lang="en-US">
                <a:solidFill>
                  <a:srgbClr val="2E3440"/>
                </a:solidFill>
                <a:latin typeface="Arial" panose="020B0604020202020204" pitchFamily="34" charset="0"/>
                <a:ea typeface="Arial" pitchFamily="34" charset="-122"/>
                <a:cs typeface="Arial" panose="020B0604020202020204" pitchFamily="34" charset="0"/>
              </a:rPr>
              <a:t>Nhìn thấy quảng cáo nhắc sinh nhật bạn; nhớ người con đang ở xa</a:t>
            </a:r>
            <a:endParaRPr lang="en-US">
              <a:latin typeface="Arial" panose="020B0604020202020204" pitchFamily="34" charset="0"/>
              <a:cs typeface="Arial" panose="020B0604020202020204" pitchFamily="34" charset="0"/>
            </a:endParaRPr>
          </a:p>
        </p:txBody>
      </p:sp>
      <p:sp>
        <p:nvSpPr>
          <p:cNvPr id="22" name="Shape 18">
            <a:extLst>
              <a:ext uri="{FF2B5EF4-FFF2-40B4-BE49-F238E27FC236}">
                <a16:creationId xmlns:a16="http://schemas.microsoft.com/office/drawing/2014/main" id="{C8F96237-FCF8-E562-A6EA-030CC4A85DC9}"/>
              </a:ext>
            </a:extLst>
          </p:cNvPr>
          <p:cNvSpPr/>
          <p:nvPr/>
        </p:nvSpPr>
        <p:spPr>
          <a:xfrm>
            <a:off x="8001000" y="2863205"/>
            <a:ext cx="3520440" cy="1188720"/>
          </a:xfrm>
          <a:prstGeom prst="rect">
            <a:avLst/>
          </a:prstGeom>
          <a:solidFill>
            <a:srgbClr val="F2F5F8"/>
          </a:solidFill>
          <a:ln w="8890">
            <a:solidFill>
              <a:srgbClr val="D6DCE5"/>
            </a:solidFill>
            <a:prstDash val="solid"/>
          </a:ln>
        </p:spPr>
        <p:txBody>
          <a:bodyPr/>
          <a:lstStyle/>
          <a:p>
            <a:endParaRPr lang="en-US">
              <a:latin typeface="Arial" panose="020B0604020202020204" pitchFamily="34" charset="0"/>
              <a:cs typeface="Arial" panose="020B0604020202020204" pitchFamily="34" charset="0"/>
            </a:endParaRPr>
          </a:p>
        </p:txBody>
      </p:sp>
      <p:sp>
        <p:nvSpPr>
          <p:cNvPr id="23" name="Text 19">
            <a:extLst>
              <a:ext uri="{FF2B5EF4-FFF2-40B4-BE49-F238E27FC236}">
                <a16:creationId xmlns:a16="http://schemas.microsoft.com/office/drawing/2014/main" id="{67048208-8A3C-EF51-45D6-9D7571F55454}"/>
              </a:ext>
            </a:extLst>
          </p:cNvPr>
          <p:cNvSpPr/>
          <p:nvPr/>
        </p:nvSpPr>
        <p:spPr>
          <a:xfrm>
            <a:off x="8110728" y="2972933"/>
            <a:ext cx="3300984" cy="1005840"/>
          </a:xfrm>
          <a:prstGeom prst="rect">
            <a:avLst/>
          </a:prstGeom>
          <a:noFill/>
          <a:ln/>
        </p:spPr>
        <p:txBody>
          <a:bodyPr wrap="square" lIns="254" tIns="254" rIns="254" bIns="254" rtlCol="0" anchor="ctr">
            <a:normAutofit/>
          </a:bodyPr>
          <a:lstStyle/>
          <a:p>
            <a:pPr marL="0" indent="0">
              <a:buNone/>
            </a:pPr>
            <a:r>
              <a:rPr lang="en-US" b="1">
                <a:solidFill>
                  <a:srgbClr val="315B96"/>
                </a:solidFill>
                <a:latin typeface="Arial" panose="020B0604020202020204" pitchFamily="34" charset="0"/>
                <a:ea typeface="Arial" pitchFamily="34" charset="-122"/>
                <a:cs typeface="Arial" panose="020B0604020202020204" pitchFamily="34" charset="0"/>
              </a:rPr>
              <a:t>Tình cảm xã hội</a:t>
            </a:r>
            <a:endParaRPr lang="en-US">
              <a:latin typeface="Arial" panose="020B0604020202020204" pitchFamily="34" charset="0"/>
              <a:cs typeface="Arial" panose="020B0604020202020204" pitchFamily="34" charset="0"/>
            </a:endParaRPr>
          </a:p>
        </p:txBody>
      </p:sp>
      <p:sp>
        <p:nvSpPr>
          <p:cNvPr id="24" name="Shape 20">
            <a:extLst>
              <a:ext uri="{FF2B5EF4-FFF2-40B4-BE49-F238E27FC236}">
                <a16:creationId xmlns:a16="http://schemas.microsoft.com/office/drawing/2014/main" id="{C4F5575E-ADF8-DF6A-F99B-203DD7D88E1C}"/>
              </a:ext>
            </a:extLst>
          </p:cNvPr>
          <p:cNvSpPr/>
          <p:nvPr/>
        </p:nvSpPr>
        <p:spPr>
          <a:xfrm>
            <a:off x="685800" y="4051925"/>
            <a:ext cx="2103120" cy="731520"/>
          </a:xfrm>
          <a:prstGeom prst="rect">
            <a:avLst/>
          </a:prstGeom>
          <a:solidFill>
            <a:srgbClr val="FFFFFF"/>
          </a:solidFill>
          <a:ln w="8890">
            <a:solidFill>
              <a:srgbClr val="D6DCE5"/>
            </a:solidFill>
            <a:prstDash val="solid"/>
          </a:ln>
        </p:spPr>
        <p:txBody>
          <a:bodyPr/>
          <a:lstStyle/>
          <a:p>
            <a:endParaRPr lang="en-US">
              <a:latin typeface="Arial" panose="020B0604020202020204" pitchFamily="34" charset="0"/>
              <a:cs typeface="Arial" panose="020B0604020202020204" pitchFamily="34" charset="0"/>
            </a:endParaRPr>
          </a:p>
        </p:txBody>
      </p:sp>
      <p:sp>
        <p:nvSpPr>
          <p:cNvPr id="25" name="Text 21">
            <a:extLst>
              <a:ext uri="{FF2B5EF4-FFF2-40B4-BE49-F238E27FC236}">
                <a16:creationId xmlns:a16="http://schemas.microsoft.com/office/drawing/2014/main" id="{9531ACF8-2CCC-1D09-7EA1-630B03207A17}"/>
              </a:ext>
            </a:extLst>
          </p:cNvPr>
          <p:cNvSpPr/>
          <p:nvPr/>
        </p:nvSpPr>
        <p:spPr>
          <a:xfrm>
            <a:off x="795528" y="4161653"/>
            <a:ext cx="1883664" cy="548640"/>
          </a:xfrm>
          <a:prstGeom prst="rect">
            <a:avLst/>
          </a:prstGeom>
          <a:noFill/>
          <a:ln/>
        </p:spPr>
        <p:txBody>
          <a:bodyPr wrap="square" lIns="254" tIns="254" rIns="254" bIns="254" rtlCol="0" anchor="ctr">
            <a:normAutofit/>
          </a:bodyPr>
          <a:lstStyle/>
          <a:p>
            <a:pPr marL="0" indent="0">
              <a:buNone/>
            </a:pPr>
            <a:r>
              <a:rPr lang="en-US" b="1">
                <a:solidFill>
                  <a:srgbClr val="2E3440"/>
                </a:solidFill>
                <a:latin typeface="Arial" panose="020B0604020202020204" pitchFamily="34" charset="0"/>
                <a:ea typeface="Arial" pitchFamily="34" charset="-122"/>
                <a:cs typeface="Arial" panose="020B0604020202020204" pitchFamily="34" charset="0"/>
              </a:rPr>
              <a:t>Môi trường</a:t>
            </a:r>
            <a:endParaRPr lang="en-US">
              <a:latin typeface="Arial" panose="020B0604020202020204" pitchFamily="34" charset="0"/>
              <a:cs typeface="Arial" panose="020B0604020202020204" pitchFamily="34" charset="0"/>
            </a:endParaRPr>
          </a:p>
        </p:txBody>
      </p:sp>
      <p:sp>
        <p:nvSpPr>
          <p:cNvPr id="26" name="Shape 22">
            <a:extLst>
              <a:ext uri="{FF2B5EF4-FFF2-40B4-BE49-F238E27FC236}">
                <a16:creationId xmlns:a16="http://schemas.microsoft.com/office/drawing/2014/main" id="{1B58900E-77BB-3055-F976-7C9F2E912046}"/>
              </a:ext>
            </a:extLst>
          </p:cNvPr>
          <p:cNvSpPr/>
          <p:nvPr/>
        </p:nvSpPr>
        <p:spPr>
          <a:xfrm>
            <a:off x="2788920" y="4051925"/>
            <a:ext cx="5212080" cy="731520"/>
          </a:xfrm>
          <a:prstGeom prst="rect">
            <a:avLst/>
          </a:prstGeom>
          <a:solidFill>
            <a:srgbClr val="FFFFFF"/>
          </a:solidFill>
          <a:ln w="8890">
            <a:solidFill>
              <a:srgbClr val="D6DCE5"/>
            </a:solidFill>
            <a:prstDash val="solid"/>
          </a:ln>
        </p:spPr>
        <p:txBody>
          <a:bodyPr/>
          <a:lstStyle/>
          <a:p>
            <a:endParaRPr lang="en-US">
              <a:latin typeface="Arial" panose="020B0604020202020204" pitchFamily="34" charset="0"/>
              <a:cs typeface="Arial" panose="020B0604020202020204" pitchFamily="34" charset="0"/>
            </a:endParaRPr>
          </a:p>
        </p:txBody>
      </p:sp>
      <p:sp>
        <p:nvSpPr>
          <p:cNvPr id="27" name="Text 23">
            <a:extLst>
              <a:ext uri="{FF2B5EF4-FFF2-40B4-BE49-F238E27FC236}">
                <a16:creationId xmlns:a16="http://schemas.microsoft.com/office/drawing/2014/main" id="{F9883093-AB49-82A5-D4A8-0EED3EB0F9D1}"/>
              </a:ext>
            </a:extLst>
          </p:cNvPr>
          <p:cNvSpPr/>
          <p:nvPr/>
        </p:nvSpPr>
        <p:spPr>
          <a:xfrm>
            <a:off x="2898648" y="4161653"/>
            <a:ext cx="4992624" cy="548640"/>
          </a:xfrm>
          <a:prstGeom prst="rect">
            <a:avLst/>
          </a:prstGeom>
          <a:noFill/>
          <a:ln/>
        </p:spPr>
        <p:txBody>
          <a:bodyPr wrap="square" lIns="254" tIns="254" rIns="254" bIns="254" rtlCol="0" anchor="ctr">
            <a:normAutofit/>
          </a:bodyPr>
          <a:lstStyle/>
          <a:p>
            <a:pPr marL="0" indent="0">
              <a:buNone/>
            </a:pPr>
            <a:r>
              <a:rPr lang="en-US">
                <a:solidFill>
                  <a:srgbClr val="2E3440"/>
                </a:solidFill>
                <a:latin typeface="Arial" panose="020B0604020202020204" pitchFamily="34" charset="0"/>
                <a:ea typeface="Arial" pitchFamily="34" charset="-122"/>
                <a:cs typeface="Arial" panose="020B0604020202020204" pitchFamily="34" charset="0"/>
              </a:rPr>
              <a:t>Tìm đúng nhà cái uy tín và phù hợp với túi tiền</a:t>
            </a:r>
            <a:endParaRPr lang="en-US">
              <a:latin typeface="Arial" panose="020B0604020202020204" pitchFamily="34" charset="0"/>
              <a:cs typeface="Arial" panose="020B0604020202020204" pitchFamily="34" charset="0"/>
            </a:endParaRPr>
          </a:p>
        </p:txBody>
      </p:sp>
      <p:sp>
        <p:nvSpPr>
          <p:cNvPr id="28" name="Shape 24">
            <a:extLst>
              <a:ext uri="{FF2B5EF4-FFF2-40B4-BE49-F238E27FC236}">
                <a16:creationId xmlns:a16="http://schemas.microsoft.com/office/drawing/2014/main" id="{C2EBA1EC-916B-FD9D-DB17-2D49BB9C8441}"/>
              </a:ext>
            </a:extLst>
          </p:cNvPr>
          <p:cNvSpPr/>
          <p:nvPr/>
        </p:nvSpPr>
        <p:spPr>
          <a:xfrm>
            <a:off x="8001000" y="4051925"/>
            <a:ext cx="3520440" cy="731520"/>
          </a:xfrm>
          <a:prstGeom prst="rect">
            <a:avLst/>
          </a:prstGeom>
          <a:solidFill>
            <a:srgbClr val="FFFFFF"/>
          </a:solidFill>
          <a:ln w="8890">
            <a:solidFill>
              <a:srgbClr val="D6DCE5"/>
            </a:solidFill>
            <a:prstDash val="solid"/>
          </a:ln>
        </p:spPr>
        <p:txBody>
          <a:bodyPr/>
          <a:lstStyle/>
          <a:p>
            <a:endParaRPr lang="en-US">
              <a:latin typeface="Arial" panose="020B0604020202020204" pitchFamily="34" charset="0"/>
              <a:cs typeface="Arial" panose="020B0604020202020204" pitchFamily="34" charset="0"/>
            </a:endParaRPr>
          </a:p>
        </p:txBody>
      </p:sp>
      <p:sp>
        <p:nvSpPr>
          <p:cNvPr id="29" name="Text 25">
            <a:extLst>
              <a:ext uri="{FF2B5EF4-FFF2-40B4-BE49-F238E27FC236}">
                <a16:creationId xmlns:a16="http://schemas.microsoft.com/office/drawing/2014/main" id="{D15BA5B6-EB97-F4D5-DD5B-F7220EE41F55}"/>
              </a:ext>
            </a:extLst>
          </p:cNvPr>
          <p:cNvSpPr/>
          <p:nvPr/>
        </p:nvSpPr>
        <p:spPr>
          <a:xfrm>
            <a:off x="8110728" y="4161653"/>
            <a:ext cx="3300984" cy="548640"/>
          </a:xfrm>
          <a:prstGeom prst="rect">
            <a:avLst/>
          </a:prstGeom>
          <a:noFill/>
          <a:ln/>
        </p:spPr>
        <p:txBody>
          <a:bodyPr wrap="square" lIns="254" tIns="254" rIns="254" bIns="254" rtlCol="0" anchor="ctr">
            <a:normAutofit/>
          </a:bodyPr>
          <a:lstStyle/>
          <a:p>
            <a:pPr marL="0" indent="0">
              <a:buNone/>
            </a:pPr>
            <a:r>
              <a:rPr lang="en-US" b="1">
                <a:solidFill>
                  <a:srgbClr val="315B96"/>
                </a:solidFill>
                <a:latin typeface="Arial" panose="020B0604020202020204" pitchFamily="34" charset="0"/>
                <a:ea typeface="Arial" pitchFamily="34" charset="-122"/>
                <a:cs typeface="Arial" panose="020B0604020202020204" pitchFamily="34" charset="0"/>
              </a:rPr>
              <a:t>Thành công, uy tín</a:t>
            </a:r>
            <a:endParaRPr lang="en-US">
              <a:latin typeface="Arial" panose="020B0604020202020204" pitchFamily="34" charset="0"/>
              <a:cs typeface="Arial" panose="020B0604020202020204" pitchFamily="34" charset="0"/>
            </a:endParaRPr>
          </a:p>
        </p:txBody>
      </p:sp>
      <p:sp>
        <p:nvSpPr>
          <p:cNvPr id="30" name="Shape 26">
            <a:extLst>
              <a:ext uri="{FF2B5EF4-FFF2-40B4-BE49-F238E27FC236}">
                <a16:creationId xmlns:a16="http://schemas.microsoft.com/office/drawing/2014/main" id="{BCA5C267-297A-3627-004B-E6F5CC29567E}"/>
              </a:ext>
            </a:extLst>
          </p:cNvPr>
          <p:cNvSpPr/>
          <p:nvPr/>
        </p:nvSpPr>
        <p:spPr>
          <a:xfrm>
            <a:off x="685800" y="4783445"/>
            <a:ext cx="2103120" cy="731520"/>
          </a:xfrm>
          <a:prstGeom prst="rect">
            <a:avLst/>
          </a:prstGeom>
          <a:solidFill>
            <a:srgbClr val="F2F5F8"/>
          </a:solidFill>
          <a:ln w="8890">
            <a:solidFill>
              <a:srgbClr val="D6DCE5"/>
            </a:solidFill>
            <a:prstDash val="solid"/>
          </a:ln>
        </p:spPr>
        <p:txBody>
          <a:bodyPr/>
          <a:lstStyle/>
          <a:p>
            <a:endParaRPr lang="en-US">
              <a:latin typeface="Arial" panose="020B0604020202020204" pitchFamily="34" charset="0"/>
              <a:cs typeface="Arial" panose="020B0604020202020204" pitchFamily="34" charset="0"/>
            </a:endParaRPr>
          </a:p>
        </p:txBody>
      </p:sp>
      <p:sp>
        <p:nvSpPr>
          <p:cNvPr id="31" name="Text 27">
            <a:extLst>
              <a:ext uri="{FF2B5EF4-FFF2-40B4-BE49-F238E27FC236}">
                <a16:creationId xmlns:a16="http://schemas.microsoft.com/office/drawing/2014/main" id="{63D7B228-2C8D-5B27-4CBB-60B287083690}"/>
              </a:ext>
            </a:extLst>
          </p:cNvPr>
          <p:cNvSpPr/>
          <p:nvPr/>
        </p:nvSpPr>
        <p:spPr>
          <a:xfrm>
            <a:off x="795528" y="4893173"/>
            <a:ext cx="1883664" cy="548640"/>
          </a:xfrm>
          <a:prstGeom prst="rect">
            <a:avLst/>
          </a:prstGeom>
          <a:noFill/>
          <a:ln/>
        </p:spPr>
        <p:txBody>
          <a:bodyPr wrap="square" lIns="254" tIns="254" rIns="254" bIns="254" rtlCol="0" anchor="ctr">
            <a:normAutofit/>
          </a:bodyPr>
          <a:lstStyle/>
          <a:p>
            <a:pPr marL="0" indent="0">
              <a:buNone/>
            </a:pPr>
            <a:r>
              <a:rPr lang="en-US" b="1">
                <a:solidFill>
                  <a:srgbClr val="2E3440"/>
                </a:solidFill>
                <a:latin typeface="Arial" panose="020B0604020202020204" pitchFamily="34" charset="0"/>
                <a:ea typeface="Arial" pitchFamily="34" charset="-122"/>
                <a:cs typeface="Arial" panose="020B0604020202020204" pitchFamily="34" charset="0"/>
              </a:rPr>
              <a:t>Tâm lý</a:t>
            </a:r>
            <a:endParaRPr lang="en-US">
              <a:latin typeface="Arial" panose="020B0604020202020204" pitchFamily="34" charset="0"/>
              <a:cs typeface="Arial" panose="020B0604020202020204" pitchFamily="34" charset="0"/>
            </a:endParaRPr>
          </a:p>
        </p:txBody>
      </p:sp>
      <p:sp>
        <p:nvSpPr>
          <p:cNvPr id="32" name="Shape 28">
            <a:extLst>
              <a:ext uri="{FF2B5EF4-FFF2-40B4-BE49-F238E27FC236}">
                <a16:creationId xmlns:a16="http://schemas.microsoft.com/office/drawing/2014/main" id="{4BB8B3FC-A417-A2AB-AE06-976D6B6BB293}"/>
              </a:ext>
            </a:extLst>
          </p:cNvPr>
          <p:cNvSpPr/>
          <p:nvPr/>
        </p:nvSpPr>
        <p:spPr>
          <a:xfrm>
            <a:off x="2788920" y="4783445"/>
            <a:ext cx="5212080" cy="731520"/>
          </a:xfrm>
          <a:prstGeom prst="rect">
            <a:avLst/>
          </a:prstGeom>
          <a:solidFill>
            <a:srgbClr val="F2F5F8"/>
          </a:solidFill>
          <a:ln w="8890">
            <a:solidFill>
              <a:srgbClr val="D6DCE5"/>
            </a:solidFill>
            <a:prstDash val="solid"/>
          </a:ln>
        </p:spPr>
        <p:txBody>
          <a:bodyPr/>
          <a:lstStyle/>
          <a:p>
            <a:endParaRPr lang="en-US">
              <a:latin typeface="Arial" panose="020B0604020202020204" pitchFamily="34" charset="0"/>
              <a:cs typeface="Arial" panose="020B0604020202020204" pitchFamily="34" charset="0"/>
            </a:endParaRPr>
          </a:p>
        </p:txBody>
      </p:sp>
      <p:sp>
        <p:nvSpPr>
          <p:cNvPr id="34" name="Text 29">
            <a:extLst>
              <a:ext uri="{FF2B5EF4-FFF2-40B4-BE49-F238E27FC236}">
                <a16:creationId xmlns:a16="http://schemas.microsoft.com/office/drawing/2014/main" id="{1E775255-B9A2-EE03-9055-77E94F2E8248}"/>
              </a:ext>
            </a:extLst>
          </p:cNvPr>
          <p:cNvSpPr/>
          <p:nvPr/>
        </p:nvSpPr>
        <p:spPr>
          <a:xfrm>
            <a:off x="2898648" y="4893173"/>
            <a:ext cx="4992624" cy="548640"/>
          </a:xfrm>
          <a:prstGeom prst="rect">
            <a:avLst/>
          </a:prstGeom>
          <a:noFill/>
          <a:ln/>
        </p:spPr>
        <p:txBody>
          <a:bodyPr wrap="square" lIns="254" tIns="254" rIns="254" bIns="254" rtlCol="0" anchor="ctr">
            <a:normAutofit/>
          </a:bodyPr>
          <a:lstStyle/>
          <a:p>
            <a:pPr marL="0" indent="0">
              <a:buNone/>
            </a:pPr>
            <a:r>
              <a:rPr lang="en-US">
                <a:solidFill>
                  <a:srgbClr val="2E3440"/>
                </a:solidFill>
                <a:latin typeface="Arial" panose="020B0604020202020204" pitchFamily="34" charset="0"/>
                <a:ea typeface="Arial" pitchFamily="34" charset="-122"/>
                <a:cs typeface="Arial" panose="020B0604020202020204" pitchFamily="34" charset="0"/>
              </a:rPr>
              <a:t>Cặp vợ chồng già ở một mình sợ bị trộm</a:t>
            </a:r>
            <a:endParaRPr lang="en-US">
              <a:latin typeface="Arial" panose="020B0604020202020204" pitchFamily="34" charset="0"/>
              <a:cs typeface="Arial" panose="020B0604020202020204" pitchFamily="34" charset="0"/>
            </a:endParaRPr>
          </a:p>
        </p:txBody>
      </p:sp>
      <p:sp>
        <p:nvSpPr>
          <p:cNvPr id="36" name="Shape 30">
            <a:extLst>
              <a:ext uri="{FF2B5EF4-FFF2-40B4-BE49-F238E27FC236}">
                <a16:creationId xmlns:a16="http://schemas.microsoft.com/office/drawing/2014/main" id="{EF4C392B-C82F-A533-DE85-0C8F5F75F335}"/>
              </a:ext>
            </a:extLst>
          </p:cNvPr>
          <p:cNvSpPr/>
          <p:nvPr/>
        </p:nvSpPr>
        <p:spPr>
          <a:xfrm>
            <a:off x="8001000" y="4783445"/>
            <a:ext cx="3520440" cy="731520"/>
          </a:xfrm>
          <a:prstGeom prst="rect">
            <a:avLst/>
          </a:prstGeom>
          <a:solidFill>
            <a:srgbClr val="F2F5F8"/>
          </a:solidFill>
          <a:ln w="8890">
            <a:solidFill>
              <a:srgbClr val="D6DCE5"/>
            </a:solidFill>
            <a:prstDash val="solid"/>
          </a:ln>
        </p:spPr>
        <p:txBody>
          <a:bodyPr/>
          <a:lstStyle/>
          <a:p>
            <a:endParaRPr lang="en-US">
              <a:latin typeface="Arial" panose="020B0604020202020204" pitchFamily="34" charset="0"/>
              <a:cs typeface="Arial" panose="020B0604020202020204" pitchFamily="34" charset="0"/>
            </a:endParaRPr>
          </a:p>
        </p:txBody>
      </p:sp>
      <p:sp>
        <p:nvSpPr>
          <p:cNvPr id="38" name="Text 31">
            <a:extLst>
              <a:ext uri="{FF2B5EF4-FFF2-40B4-BE49-F238E27FC236}">
                <a16:creationId xmlns:a16="http://schemas.microsoft.com/office/drawing/2014/main" id="{46B0FDEE-BADC-F26C-56B1-22E9DFB4B846}"/>
              </a:ext>
            </a:extLst>
          </p:cNvPr>
          <p:cNvSpPr/>
          <p:nvPr/>
        </p:nvSpPr>
        <p:spPr>
          <a:xfrm>
            <a:off x="8110728" y="4893173"/>
            <a:ext cx="3300984" cy="548640"/>
          </a:xfrm>
          <a:prstGeom prst="rect">
            <a:avLst/>
          </a:prstGeom>
          <a:noFill/>
          <a:ln/>
        </p:spPr>
        <p:txBody>
          <a:bodyPr wrap="square" lIns="254" tIns="254" rIns="254" bIns="254" rtlCol="0" anchor="ctr">
            <a:normAutofit/>
          </a:bodyPr>
          <a:lstStyle/>
          <a:p>
            <a:pPr marL="0" indent="0">
              <a:buNone/>
            </a:pPr>
            <a:r>
              <a:rPr lang="en-US" b="1">
                <a:solidFill>
                  <a:srgbClr val="315B96"/>
                </a:solidFill>
                <a:latin typeface="Arial" panose="020B0604020202020204" pitchFamily="34" charset="0"/>
                <a:ea typeface="Arial" pitchFamily="34" charset="-122"/>
                <a:cs typeface="Arial" panose="020B0604020202020204" pitchFamily="34" charset="0"/>
              </a:rPr>
              <a:t>Bảo vệ</a:t>
            </a:r>
            <a:endParaRPr lang="en-US">
              <a:latin typeface="Arial" panose="020B0604020202020204" pitchFamily="34" charset="0"/>
              <a:cs typeface="Arial" panose="020B0604020202020204" pitchFamily="34" charset="0"/>
            </a:endParaRPr>
          </a:p>
        </p:txBody>
      </p:sp>
      <p:sp>
        <p:nvSpPr>
          <p:cNvPr id="42" name="Text 33">
            <a:extLst>
              <a:ext uri="{FF2B5EF4-FFF2-40B4-BE49-F238E27FC236}">
                <a16:creationId xmlns:a16="http://schemas.microsoft.com/office/drawing/2014/main" id="{DA756765-D6DE-6094-CE18-7DDF0DE1C5A0}"/>
              </a:ext>
            </a:extLst>
          </p:cNvPr>
          <p:cNvSpPr/>
          <p:nvPr/>
        </p:nvSpPr>
        <p:spPr>
          <a:xfrm>
            <a:off x="914400" y="5852160"/>
            <a:ext cx="10241280" cy="164592"/>
          </a:xfrm>
          <a:prstGeom prst="rect">
            <a:avLst/>
          </a:prstGeom>
          <a:noFill/>
          <a:ln/>
        </p:spPr>
        <p:txBody>
          <a:bodyPr wrap="square" lIns="0" tIns="0" rIns="0" bIns="0" rtlCol="0" anchor="ctr">
            <a:noAutofit/>
          </a:bodyPr>
          <a:lstStyle/>
          <a:p>
            <a:pPr marL="0" indent="0">
              <a:buNone/>
            </a:pPr>
            <a:r>
              <a:rPr lang="en-US" sz="2200" b="1">
                <a:solidFill>
                  <a:srgbClr val="2D8068"/>
                </a:solidFill>
                <a:latin typeface="Arial" pitchFamily="34" charset="0"/>
                <a:ea typeface="Arial" pitchFamily="34" charset="-122"/>
                <a:cs typeface="Arial" pitchFamily="34" charset="-120"/>
              </a:rPr>
              <a:t>Nhu </a:t>
            </a:r>
            <a:r>
              <a:rPr lang="en-US" sz="2200" b="1" err="1">
                <a:solidFill>
                  <a:srgbClr val="2D8068"/>
                </a:solidFill>
                <a:latin typeface="Arial" pitchFamily="34" charset="0"/>
                <a:ea typeface="Arial" pitchFamily="34" charset="-122"/>
                <a:cs typeface="Arial" pitchFamily="34" charset="-120"/>
              </a:rPr>
              <a:t>cầu</a:t>
            </a:r>
            <a:r>
              <a:rPr lang="en-US" sz="2200" b="1">
                <a:solidFill>
                  <a:srgbClr val="2D8068"/>
                </a:solidFill>
                <a:latin typeface="Arial" pitchFamily="34" charset="0"/>
                <a:ea typeface="Arial" pitchFamily="34" charset="-122"/>
                <a:cs typeface="Arial" pitchFamily="34" charset="-120"/>
              </a:rPr>
              <a:t> không chỉ xuất phát từ sinh lý mà còn có thể được kích hoạt bởi nhận thức, môi trường và trạng thái tâm lý.</a:t>
            </a:r>
            <a:endParaRPr lang="en-US" sz="2200"/>
          </a:p>
        </p:txBody>
      </p:sp>
      <p:sp>
        <p:nvSpPr>
          <p:cNvPr id="44" name="Slide Number Placeholder 0">
            <a:extLst>
              <a:ext uri="{FF2B5EF4-FFF2-40B4-BE49-F238E27FC236}">
                <a16:creationId xmlns:a16="http://schemas.microsoft.com/office/drawing/2014/main" id="{695BFE12-1224-329C-0DE7-C2461C252265}"/>
              </a:ext>
            </a:extLst>
          </p:cNvPr>
          <p:cNvSpPr txBox="1">
            <a:spLocks/>
          </p:cNvSpPr>
          <p:nvPr/>
        </p:nvSpPr>
        <p:spPr>
          <a:xfrm>
            <a:off x="11292840" y="6950573"/>
            <a:ext cx="800000" cy="300000"/>
          </a:xfrm>
          <a:prstGeom prst="rect">
            <a:avLst/>
          </a:prstGeom>
          <a:extLst>
            <a:ext uri="{C572A759-6A51-4108-AA02-DFA0A04FC94B}">
              <ma14:wrappingTextBoxFlag xmlns:ma14="http://schemas.microsoft.com/office/mac/drawingml/2011/main" xmlns="" val="0"/>
            </a:ext>
          </a:extLst>
        </p:spPr>
        <p:txBody>
          <a:bodyPr vert="horz" lIns="91440" tIns="45720" rIns="91440" bIns="45720" rtlCol="0" anchor="ctr"/>
          <a:lstStyle>
            <a:defPPr>
              <a:defRPr lang="en-VN"/>
            </a:defPPr>
            <a:lvl1pPr marL="0" algn="r" defTabSz="914400" rtl="0" eaLnBrk="1" latinLnBrk="0" hangingPunct="1">
              <a:defRPr sz="750" kern="1200">
                <a:solidFill>
                  <a:srgbClr val="77808D"/>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z="1800" smtClean="0">
                <a:latin typeface="Arial" panose="020B0604020202020204" pitchFamily="34" charset="0"/>
                <a:cs typeface="Arial" panose="020B0604020202020204" pitchFamily="34" charset="0"/>
              </a:rPr>
              <a:pPr algn="l"/>
              <a:t>100</a:t>
            </a:fld>
            <a:endParaRPr lang="en-US" sz="1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609033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2911" y="-165452"/>
            <a:ext cx="10515600" cy="1325563"/>
          </a:xfrm>
        </p:spPr>
        <p:txBody>
          <a:bodyPr>
            <a:normAutofit/>
          </a:bodyPr>
          <a:lstStyle/>
          <a:p>
            <a:pPr marL="457200" indent="-342900" algn="just">
              <a:lnSpc>
                <a:spcPct val="150000"/>
              </a:lnSpc>
              <a:buFont typeface="Wingdings" pitchFamily="2" charset="2"/>
              <a:buChar char="Ø"/>
            </a:pPr>
            <a:r>
              <a:rPr lang="en-US" sz="2800" i="1">
                <a:latin typeface="Arial" panose="020B0604020202020204" pitchFamily="34" charset="0"/>
                <a:cs typeface="Arial" panose="020B0604020202020204" pitchFamily="34" charset="0"/>
              </a:rPr>
              <a:t>Lý </a:t>
            </a:r>
            <a:r>
              <a:rPr lang="en-US" sz="2800" i="1" err="1">
                <a:latin typeface="Arial" panose="020B0604020202020204" pitchFamily="34" charset="0"/>
                <a:cs typeface="Arial" panose="020B0604020202020204" pitchFamily="34" charset="0"/>
              </a:rPr>
              <a:t>thuyết</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giảm</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thiểu</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động</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lực</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của</a:t>
            </a:r>
            <a:r>
              <a:rPr lang="en-US" sz="2800" i="1">
                <a:latin typeface="Arial" panose="020B0604020202020204" pitchFamily="34" charset="0"/>
                <a:cs typeface="Arial" panose="020B0604020202020204" pitchFamily="34" charset="0"/>
              </a:rPr>
              <a:t> Hull</a:t>
            </a:r>
          </a:p>
        </p:txBody>
      </p:sp>
      <p:graphicFrame>
        <p:nvGraphicFramePr>
          <p:cNvPr id="6" name="Table 5">
            <a:extLst>
              <a:ext uri="{FF2B5EF4-FFF2-40B4-BE49-F238E27FC236}">
                <a16:creationId xmlns:a16="http://schemas.microsoft.com/office/drawing/2014/main" id="{0F8B00C5-2166-1FE8-6F00-E5F37E3F8A2D}"/>
              </a:ext>
            </a:extLst>
          </p:cNvPr>
          <p:cNvGraphicFramePr>
            <a:graphicFrameLocks noGrp="1"/>
          </p:cNvGraphicFramePr>
          <p:nvPr/>
        </p:nvGraphicFramePr>
        <p:xfrm>
          <a:off x="268110" y="1403104"/>
          <a:ext cx="10515600" cy="249936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3411385352"/>
                    </a:ext>
                  </a:extLst>
                </a:gridCol>
                <a:gridCol w="5257800">
                  <a:extLst>
                    <a:ext uri="{9D8B030D-6E8A-4147-A177-3AD203B41FA5}">
                      <a16:colId xmlns:a16="http://schemas.microsoft.com/office/drawing/2014/main" val="1067455174"/>
                    </a:ext>
                  </a:extLst>
                </a:gridCol>
              </a:tblGrid>
              <a:tr h="0">
                <a:tc>
                  <a:txBody>
                    <a:bodyPr/>
                    <a:lstStyle/>
                    <a:p>
                      <a:pPr>
                        <a:buNone/>
                      </a:pPr>
                      <a:r>
                        <a:rPr lang="en-US" sz="2800" b="1" err="1">
                          <a:latin typeface="Arial" panose="020B0604020202020204" pitchFamily="34" charset="0"/>
                          <a:cs typeface="Arial" panose="020B0604020202020204" pitchFamily="34" charset="0"/>
                        </a:rPr>
                        <a:t>Động</a:t>
                      </a:r>
                      <a:r>
                        <a:rPr lang="en-US" sz="2800" b="1">
                          <a:latin typeface="Arial" panose="020B0604020202020204" pitchFamily="34" charset="0"/>
                          <a:cs typeface="Arial" panose="020B0604020202020204" pitchFamily="34" charset="0"/>
                        </a:rPr>
                        <a:t> </a:t>
                      </a:r>
                      <a:r>
                        <a:rPr lang="en-US" sz="2800" b="1" err="1">
                          <a:latin typeface="Arial" panose="020B0604020202020204" pitchFamily="34" charset="0"/>
                          <a:cs typeface="Arial" panose="020B0604020202020204" pitchFamily="34" charset="0"/>
                        </a:rPr>
                        <a:t>lực</a:t>
                      </a:r>
                      <a:r>
                        <a:rPr lang="en-US" sz="2800" b="1">
                          <a:latin typeface="Arial" panose="020B0604020202020204" pitchFamily="34" charset="0"/>
                          <a:cs typeface="Arial" panose="020B0604020202020204" pitchFamily="34" charset="0"/>
                        </a:rPr>
                        <a:t> </a:t>
                      </a:r>
                      <a:r>
                        <a:rPr lang="en-US" sz="2800" b="1" err="1">
                          <a:latin typeface="Arial" panose="020B0604020202020204" pitchFamily="34" charset="0"/>
                          <a:cs typeface="Arial" panose="020B0604020202020204" pitchFamily="34" charset="0"/>
                        </a:rPr>
                        <a:t>sơ</a:t>
                      </a:r>
                      <a:r>
                        <a:rPr lang="en-US" sz="2800" b="1">
                          <a:latin typeface="Arial" panose="020B0604020202020204" pitchFamily="34" charset="0"/>
                          <a:cs typeface="Arial" panose="020B0604020202020204" pitchFamily="34" charset="0"/>
                        </a:rPr>
                        <a:t> </a:t>
                      </a:r>
                      <a:r>
                        <a:rPr lang="en-US" sz="2800" b="1" err="1">
                          <a:latin typeface="Arial" panose="020B0604020202020204" pitchFamily="34" charset="0"/>
                          <a:cs typeface="Arial" panose="020B0604020202020204" pitchFamily="34" charset="0"/>
                        </a:rPr>
                        <a:t>cấp</a:t>
                      </a:r>
                      <a:endParaRPr lang="en-US" sz="2800" b="1">
                        <a:latin typeface="Arial" panose="020B0604020202020204" pitchFamily="34" charset="0"/>
                        <a:cs typeface="Arial" panose="020B0604020202020204" pitchFamily="34" charset="0"/>
                      </a:endParaRPr>
                    </a:p>
                  </a:txBody>
                  <a:tcPr anchor="ctr"/>
                </a:tc>
                <a:tc>
                  <a:txBody>
                    <a:bodyPr/>
                    <a:lstStyle/>
                    <a:p>
                      <a:pPr>
                        <a:buNone/>
                      </a:pPr>
                      <a:r>
                        <a:rPr lang="en-US" sz="2800" b="1" err="1">
                          <a:latin typeface="Arial" panose="020B0604020202020204" pitchFamily="34" charset="0"/>
                          <a:cs typeface="Arial" panose="020B0604020202020204" pitchFamily="34" charset="0"/>
                        </a:rPr>
                        <a:t>Động</a:t>
                      </a:r>
                      <a:r>
                        <a:rPr lang="en-US" sz="2800" b="1">
                          <a:latin typeface="Arial" panose="020B0604020202020204" pitchFamily="34" charset="0"/>
                          <a:cs typeface="Arial" panose="020B0604020202020204" pitchFamily="34" charset="0"/>
                        </a:rPr>
                        <a:t> </a:t>
                      </a:r>
                      <a:r>
                        <a:rPr lang="en-US" sz="2800" b="1" err="1">
                          <a:latin typeface="Arial" panose="020B0604020202020204" pitchFamily="34" charset="0"/>
                          <a:cs typeface="Arial" panose="020B0604020202020204" pitchFamily="34" charset="0"/>
                        </a:rPr>
                        <a:t>lực</a:t>
                      </a:r>
                      <a:r>
                        <a:rPr lang="en-US" sz="2800" b="1">
                          <a:latin typeface="Arial" panose="020B0604020202020204" pitchFamily="34" charset="0"/>
                          <a:cs typeface="Arial" panose="020B0604020202020204" pitchFamily="34" charset="0"/>
                        </a:rPr>
                        <a:t> </a:t>
                      </a:r>
                      <a:r>
                        <a:rPr lang="en-US" sz="2800" b="1" err="1">
                          <a:latin typeface="Arial" panose="020B0604020202020204" pitchFamily="34" charset="0"/>
                          <a:cs typeface="Arial" panose="020B0604020202020204" pitchFamily="34" charset="0"/>
                        </a:rPr>
                        <a:t>thứ</a:t>
                      </a:r>
                      <a:r>
                        <a:rPr lang="en-US" sz="2800" b="1">
                          <a:latin typeface="Arial" panose="020B0604020202020204" pitchFamily="34" charset="0"/>
                          <a:cs typeface="Arial" panose="020B0604020202020204" pitchFamily="34" charset="0"/>
                        </a:rPr>
                        <a:t> </a:t>
                      </a:r>
                      <a:r>
                        <a:rPr lang="en-US" sz="2800" b="1" err="1">
                          <a:latin typeface="Arial" panose="020B0604020202020204" pitchFamily="34" charset="0"/>
                          <a:cs typeface="Arial" panose="020B0604020202020204" pitchFamily="34" charset="0"/>
                        </a:rPr>
                        <a:t>cấp</a:t>
                      </a:r>
                      <a:endParaRPr lang="en-US" sz="2800" b="1">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292073239"/>
                  </a:ext>
                </a:extLst>
              </a:tr>
              <a:tr h="0">
                <a:tc>
                  <a:txBody>
                    <a:bodyPr/>
                    <a:lstStyle/>
                    <a:p>
                      <a:pPr>
                        <a:buNone/>
                      </a:pPr>
                      <a:r>
                        <a:rPr lang="en-US" sz="2800">
                          <a:latin typeface="Arial" panose="020B0604020202020204" pitchFamily="34" charset="0"/>
                          <a:cs typeface="Arial" panose="020B0604020202020204" pitchFamily="34" charset="0"/>
                        </a:rPr>
                        <a:t>Mang </a:t>
                      </a:r>
                      <a:r>
                        <a:rPr lang="en-US" sz="2800" err="1">
                          <a:latin typeface="Arial" panose="020B0604020202020204" pitchFamily="34" charset="0"/>
                          <a:cs typeface="Arial" panose="020B0604020202020204" pitchFamily="34" charset="0"/>
                        </a:rPr>
                        <a:t>tính</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sinh</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học</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bẩm</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sinh</a:t>
                      </a:r>
                      <a:endParaRPr lang="en-US" sz="2800">
                        <a:latin typeface="Arial" panose="020B0604020202020204" pitchFamily="34" charset="0"/>
                        <a:cs typeface="Arial" panose="020B0604020202020204" pitchFamily="34" charset="0"/>
                      </a:endParaRPr>
                    </a:p>
                  </a:txBody>
                  <a:tcPr anchor="ctr"/>
                </a:tc>
                <a:tc>
                  <a:txBody>
                    <a:bodyPr/>
                    <a:lstStyle/>
                    <a:p>
                      <a:pPr>
                        <a:buNone/>
                      </a:pPr>
                      <a:r>
                        <a:rPr lang="en-US" sz="2800">
                          <a:latin typeface="Arial" panose="020B0604020202020204" pitchFamily="34" charset="0"/>
                          <a:cs typeface="Arial" panose="020B0604020202020204" pitchFamily="34" charset="0"/>
                        </a:rPr>
                        <a:t>Hình thành từ xã hội và học hỏi</a:t>
                      </a:r>
                    </a:p>
                  </a:txBody>
                  <a:tcPr anchor="ctr"/>
                </a:tc>
                <a:extLst>
                  <a:ext uri="{0D108BD9-81ED-4DB2-BD59-A6C34878D82A}">
                    <a16:rowId xmlns:a16="http://schemas.microsoft.com/office/drawing/2014/main" val="2330647689"/>
                  </a:ext>
                </a:extLst>
              </a:tr>
              <a:tr h="0">
                <a:tc>
                  <a:txBody>
                    <a:bodyPr/>
                    <a:lstStyle/>
                    <a:p>
                      <a:pPr>
                        <a:buNone/>
                      </a:pPr>
                      <a:r>
                        <a:rPr lang="en-US" sz="2800" err="1">
                          <a:latin typeface="Arial" panose="020B0604020202020204" pitchFamily="34" charset="0"/>
                          <a:cs typeface="Arial" panose="020B0604020202020204" pitchFamily="34" charset="0"/>
                        </a:rPr>
                        <a:t>Gắn</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với</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sự</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tồn</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tại</a:t>
                      </a:r>
                      <a:endParaRPr lang="en-US" sz="2800">
                        <a:latin typeface="Arial" panose="020B0604020202020204" pitchFamily="34" charset="0"/>
                        <a:cs typeface="Arial" panose="020B0604020202020204" pitchFamily="34" charset="0"/>
                      </a:endParaRPr>
                    </a:p>
                  </a:txBody>
                  <a:tcPr anchor="ctr"/>
                </a:tc>
                <a:tc>
                  <a:txBody>
                    <a:bodyPr/>
                    <a:lstStyle/>
                    <a:p>
                      <a:pPr>
                        <a:buNone/>
                      </a:pPr>
                      <a:r>
                        <a:rPr lang="en-US" sz="2800">
                          <a:latin typeface="Arial" panose="020B0604020202020204" pitchFamily="34" charset="0"/>
                          <a:cs typeface="Arial" panose="020B0604020202020204" pitchFamily="34" charset="0"/>
                        </a:rPr>
                        <a:t>Không trực tiếp cần thiết cho sự tồn tại</a:t>
                      </a:r>
                    </a:p>
                  </a:txBody>
                  <a:tcPr anchor="ctr"/>
                </a:tc>
                <a:extLst>
                  <a:ext uri="{0D108BD9-81ED-4DB2-BD59-A6C34878D82A}">
                    <a16:rowId xmlns:a16="http://schemas.microsoft.com/office/drawing/2014/main" val="2662168320"/>
                  </a:ext>
                </a:extLst>
              </a:tr>
              <a:tr h="0">
                <a:tc>
                  <a:txBody>
                    <a:bodyPr/>
                    <a:lstStyle/>
                    <a:p>
                      <a:pPr>
                        <a:buNone/>
                      </a:pPr>
                      <a:r>
                        <a:rPr lang="en-US" sz="2800">
                          <a:latin typeface="Arial" panose="020B0604020202020204" pitchFamily="34" charset="0"/>
                          <a:cs typeface="Arial" panose="020B0604020202020204" pitchFamily="34" charset="0"/>
                        </a:rPr>
                        <a:t>Đói, khát, nhu cầu tình dục</a:t>
                      </a:r>
                    </a:p>
                  </a:txBody>
                  <a:tcPr anchor="ctr"/>
                </a:tc>
                <a:tc>
                  <a:txBody>
                    <a:bodyPr/>
                    <a:lstStyle/>
                    <a:p>
                      <a:pPr>
                        <a:buNone/>
                      </a:pPr>
                      <a:r>
                        <a:rPr lang="en-US" sz="2800" err="1">
                          <a:latin typeface="Arial" panose="020B0604020202020204" pitchFamily="34" charset="0"/>
                          <a:cs typeface="Arial" panose="020B0604020202020204" pitchFamily="34" charset="0"/>
                        </a:rPr>
                        <a:t>Giàu</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có</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địa</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vị</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uy</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tín</a:t>
                      </a:r>
                      <a:r>
                        <a:rPr lang="en-US" sz="2800">
                          <a:latin typeface="Arial" panose="020B0604020202020204" pitchFamily="34" charset="0"/>
                          <a:cs typeface="Arial" panose="020B0604020202020204" pitchFamily="34" charset="0"/>
                        </a:rPr>
                        <a:t>…</a:t>
                      </a:r>
                    </a:p>
                  </a:txBody>
                  <a:tcPr anchor="ctr"/>
                </a:tc>
                <a:extLst>
                  <a:ext uri="{0D108BD9-81ED-4DB2-BD59-A6C34878D82A}">
                    <a16:rowId xmlns:a16="http://schemas.microsoft.com/office/drawing/2014/main" val="1598016425"/>
                  </a:ext>
                </a:extLst>
              </a:tr>
            </a:tbl>
          </a:graphicData>
        </a:graphic>
      </p:graphicFrame>
      <p:sp>
        <p:nvSpPr>
          <p:cNvPr id="8" name="TextBox 7">
            <a:extLst>
              <a:ext uri="{FF2B5EF4-FFF2-40B4-BE49-F238E27FC236}">
                <a16:creationId xmlns:a16="http://schemas.microsoft.com/office/drawing/2014/main" id="{6F8777B9-4E18-FB67-B0FC-FDC4A03ED92F}"/>
              </a:ext>
            </a:extLst>
          </p:cNvPr>
          <p:cNvSpPr txBox="1"/>
          <p:nvPr/>
        </p:nvSpPr>
        <p:spPr>
          <a:xfrm>
            <a:off x="186266" y="4454225"/>
            <a:ext cx="11288889" cy="1246495"/>
          </a:xfrm>
          <a:prstGeom prst="rect">
            <a:avLst/>
          </a:prstGeom>
          <a:noFill/>
        </p:spPr>
        <p:txBody>
          <a:bodyPr wrap="square">
            <a:spAutoFit/>
          </a:bodyPr>
          <a:lstStyle/>
          <a:p>
            <a:pPr>
              <a:buNone/>
            </a:pPr>
            <a:r>
              <a:rPr lang="en-US" sz="2500" err="1">
                <a:latin typeface="Arial" panose="020B0604020202020204" pitchFamily="34" charset="0"/>
                <a:cs typeface="Arial" panose="020B0604020202020204" pitchFamily="34" charset="0"/>
              </a:rPr>
              <a:t>Động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lực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thứ</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cấp</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có</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thể</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giúp</a:t>
            </a:r>
            <a:r>
              <a:rPr lang="en-US" sz="2500">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thỏa</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mãn</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gián</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tiếp</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động</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lực</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sơ</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cấp</a:t>
            </a:r>
            <a:r>
              <a:rPr lang="en-US" sz="2500">
                <a:latin typeface="Arial" panose="020B0604020202020204" pitchFamily="34" charset="0"/>
                <a:cs typeface="Arial" panose="020B0604020202020204" pitchFamily="34" charset="0"/>
              </a:rPr>
              <a:t>.</a:t>
            </a:r>
          </a:p>
          <a:p>
            <a:pPr>
              <a:buNone/>
            </a:pPr>
            <a:r>
              <a:rPr lang="en-US" sz="2500" b="1" err="1">
                <a:latin typeface="Arial" panose="020B0604020202020204" pitchFamily="34" charset="0"/>
                <a:cs typeface="Arial" panose="020B0604020202020204" pitchFamily="34" charset="0"/>
              </a:rPr>
              <a:t>Ví</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dụ</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Mong</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muốn</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giàu</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có</a:t>
            </a:r>
            <a:r>
              <a:rPr lang="en-US" sz="2500" b="1">
                <a:latin typeface="Arial" panose="020B0604020202020204" pitchFamily="34" charset="0"/>
                <a:cs typeface="Arial" panose="020B0604020202020204" pitchFamily="34" charset="0"/>
              </a:rPr>
              <a:t> → </a:t>
            </a:r>
            <a:r>
              <a:rPr lang="en-US" sz="2500" b="1" err="1">
                <a:latin typeface="Arial" panose="020B0604020202020204" pitchFamily="34" charset="0"/>
                <a:cs typeface="Arial" panose="020B0604020202020204" pitchFamily="34" charset="0"/>
              </a:rPr>
              <a:t>Có</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tiền</a:t>
            </a:r>
            <a:r>
              <a:rPr lang="en-US" sz="2500" b="1">
                <a:latin typeface="Arial" panose="020B0604020202020204" pitchFamily="34" charset="0"/>
                <a:cs typeface="Arial" panose="020B0604020202020204" pitchFamily="34" charset="0"/>
              </a:rPr>
              <a:t> → Mua </a:t>
            </a:r>
            <a:r>
              <a:rPr lang="en-US" sz="2500" b="1" err="1">
                <a:latin typeface="Arial" panose="020B0604020202020204" pitchFamily="34" charset="0"/>
                <a:cs typeface="Arial" panose="020B0604020202020204" pitchFamily="34" charset="0"/>
              </a:rPr>
              <a:t>thức</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ăn</a:t>
            </a:r>
            <a:r>
              <a:rPr lang="en-US" sz="2500" b="1">
                <a:latin typeface="Arial" panose="020B0604020202020204" pitchFamily="34" charset="0"/>
                <a:cs typeface="Arial" panose="020B0604020202020204" pitchFamily="34" charset="0"/>
              </a:rPr>
              <a:t>/</a:t>
            </a:r>
            <a:r>
              <a:rPr lang="en-US" sz="2500" b="1" err="1">
                <a:latin typeface="Arial" panose="020B0604020202020204" pitchFamily="34" charset="0"/>
                <a:cs typeface="Arial" panose="020B0604020202020204" pitchFamily="34" charset="0"/>
              </a:rPr>
              <a:t>chỗ</a:t>
            </a:r>
            <a:r>
              <a:rPr lang="en-US" sz="2500" b="1">
                <a:latin typeface="Arial" panose="020B0604020202020204" pitchFamily="34" charset="0"/>
                <a:cs typeface="Arial" panose="020B0604020202020204" pitchFamily="34" charset="0"/>
              </a:rPr>
              <a:t> ở → </a:t>
            </a:r>
            <a:r>
              <a:rPr lang="en-US" sz="2500" b="1" err="1">
                <a:latin typeface="Arial" panose="020B0604020202020204" pitchFamily="34" charset="0"/>
                <a:cs typeface="Arial" panose="020B0604020202020204" pitchFamily="34" charset="0"/>
              </a:rPr>
              <a:t>Thỏa</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mãn</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nhu</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cầu</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cơ</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bản</a:t>
            </a:r>
            <a:endParaRPr lang="en-US" sz="25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889690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98615-A12F-C422-3310-C55E843447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57AB0-E281-724C-F476-6796D2752632}"/>
              </a:ext>
            </a:extLst>
          </p:cNvPr>
          <p:cNvSpPr>
            <a:spLocks noGrp="1"/>
          </p:cNvSpPr>
          <p:nvPr>
            <p:ph type="title"/>
          </p:nvPr>
        </p:nvSpPr>
        <p:spPr>
          <a:xfrm>
            <a:off x="341489" y="-217170"/>
            <a:ext cx="10515600" cy="1325563"/>
          </a:xfrm>
        </p:spPr>
        <p:txBody>
          <a:bodyPr>
            <a:normAutofit/>
          </a:bodyPr>
          <a:lstStyle/>
          <a:p>
            <a:pPr marL="457200" indent="-342900" algn="just">
              <a:lnSpc>
                <a:spcPct val="150000"/>
              </a:lnSpc>
              <a:buFont typeface="Wingdings" pitchFamily="2" charset="2"/>
              <a:buChar char="Ø"/>
            </a:pPr>
            <a:r>
              <a:rPr lang="en-US" sz="2800" i="1">
                <a:latin typeface="Arial" panose="020B0604020202020204" pitchFamily="34" charset="0"/>
                <a:cs typeface="Arial" panose="020B0604020202020204" pitchFamily="34" charset="0"/>
              </a:rPr>
              <a:t>Lý </a:t>
            </a:r>
            <a:r>
              <a:rPr lang="en-US" sz="2800" i="1" err="1">
                <a:latin typeface="Arial" panose="020B0604020202020204" pitchFamily="34" charset="0"/>
                <a:cs typeface="Arial" panose="020B0604020202020204" pitchFamily="34" charset="0"/>
              </a:rPr>
              <a:t>thuyết</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giảm</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thiểu</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động</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lực</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của</a:t>
            </a:r>
            <a:r>
              <a:rPr lang="en-US" sz="2800" i="1">
                <a:latin typeface="Arial" panose="020B0604020202020204" pitchFamily="34" charset="0"/>
                <a:cs typeface="Arial" panose="020B0604020202020204" pitchFamily="34" charset="0"/>
              </a:rPr>
              <a:t> Hull</a:t>
            </a:r>
          </a:p>
        </p:txBody>
      </p:sp>
      <p:sp>
        <p:nvSpPr>
          <p:cNvPr id="4" name="TextBox 3">
            <a:extLst>
              <a:ext uri="{FF2B5EF4-FFF2-40B4-BE49-F238E27FC236}">
                <a16:creationId xmlns:a16="http://schemas.microsoft.com/office/drawing/2014/main" id="{78058592-6E7D-129F-1A5A-E4CA8FC49D0A}"/>
              </a:ext>
            </a:extLst>
          </p:cNvPr>
          <p:cNvSpPr txBox="1"/>
          <p:nvPr/>
        </p:nvSpPr>
        <p:spPr>
          <a:xfrm>
            <a:off x="341489" y="770720"/>
            <a:ext cx="10978444" cy="6192657"/>
          </a:xfrm>
          <a:prstGeom prst="rect">
            <a:avLst/>
          </a:prstGeom>
          <a:noFill/>
        </p:spPr>
        <p:txBody>
          <a:bodyPr wrap="square">
            <a:spAutoFit/>
          </a:bodyPr>
          <a:lstStyle/>
          <a:p>
            <a:pPr>
              <a:lnSpc>
                <a:spcPts val="4000"/>
              </a:lnSpc>
              <a:buNone/>
            </a:pPr>
            <a:r>
              <a:rPr lang="en-US" sz="2500" b="1" err="1">
                <a:latin typeface="Arial" panose="020B0604020202020204" pitchFamily="34" charset="0"/>
                <a:cs typeface="Arial" panose="020B0604020202020204" pitchFamily="34" charset="0"/>
              </a:rPr>
              <a:t>Động</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lực</a:t>
            </a:r>
            <a:r>
              <a:rPr lang="en-US" sz="2500" b="1">
                <a:latin typeface="Arial" panose="020B0604020202020204" pitchFamily="34" charset="0"/>
                <a:cs typeface="Arial" panose="020B0604020202020204" pitchFamily="34" charset="0"/>
              </a:rPr>
              <a:t> &amp; </a:t>
            </a:r>
            <a:r>
              <a:rPr lang="en-US" sz="2500" b="1" err="1">
                <a:latin typeface="Arial" panose="020B0604020202020204" pitchFamily="34" charset="0"/>
                <a:cs typeface="Arial" panose="020B0604020202020204" pitchFamily="34" charset="0"/>
              </a:rPr>
              <a:t>học</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hỏi</a:t>
            </a:r>
            <a:endParaRPr lang="en-US" sz="2500">
              <a:latin typeface="Arial" panose="020B0604020202020204" pitchFamily="34" charset="0"/>
              <a:cs typeface="Arial" panose="020B0604020202020204" pitchFamily="34" charset="0"/>
            </a:endParaRPr>
          </a:p>
          <a:p>
            <a:pPr marL="342900" lvl="0" indent="-342900">
              <a:lnSpc>
                <a:spcPts val="4000"/>
              </a:lnSpc>
              <a:buFont typeface="Arial" panose="020B0604020202020204" pitchFamily="34" charset="0"/>
              <a:buChar char="•"/>
            </a:pPr>
            <a:r>
              <a:rPr lang="en-US" sz="2500" err="1">
                <a:latin typeface="Arial" panose="020B0604020202020204" pitchFamily="34" charset="0"/>
                <a:cs typeface="Arial" panose="020B0604020202020204" pitchFamily="34" charset="0"/>
              </a:rPr>
              <a:t>Hành</a:t>
            </a:r>
            <a:r>
              <a:rPr lang="en-US" sz="2500">
                <a:latin typeface="Arial" panose="020B0604020202020204" pitchFamily="34" charset="0"/>
                <a:cs typeface="Arial" panose="020B0604020202020204" pitchFamily="34" charset="0"/>
              </a:rPr>
              <a:t> vi </a:t>
            </a:r>
            <a:r>
              <a:rPr lang="en-US" sz="2500" err="1">
                <a:latin typeface="Arial" panose="020B0604020202020204" pitchFamily="34" charset="0"/>
                <a:cs typeface="Arial" panose="020B0604020202020204" pitchFamily="34" charset="0"/>
              </a:rPr>
              <a:t>giúp</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giảm</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động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lực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thành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công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có</a:t>
            </a:r>
            <a:r>
              <a:rPr lang="en-US" sz="2500">
                <a:latin typeface="Arial" panose="020B0604020202020204" pitchFamily="34" charset="0"/>
                <a:cs typeface="Arial" panose="020B0604020202020204" pitchFamily="34" charset="0"/>
              </a:rPr>
              <a:t> xu </a:t>
            </a:r>
            <a:r>
              <a:rPr lang="en-US" sz="2500" err="1">
                <a:latin typeface="Arial" panose="020B0604020202020204" pitchFamily="34" charset="0"/>
                <a:cs typeface="Arial" panose="020B0604020202020204" pitchFamily="34" charset="0"/>
              </a:rPr>
              <a:t>hướng</a:t>
            </a:r>
            <a:r>
              <a:rPr lang="en-US" sz="2500">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được</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lặp</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lại</a:t>
            </a:r>
            <a:r>
              <a:rPr lang="en-US" sz="2500">
                <a:latin typeface="Arial" panose="020B0604020202020204" pitchFamily="34" charset="0"/>
                <a:cs typeface="Arial" panose="020B0604020202020204" pitchFamily="34" charset="0"/>
              </a:rPr>
              <a:t>. </a:t>
            </a:r>
          </a:p>
          <a:p>
            <a:pPr marL="342900" lvl="0" indent="-342900">
              <a:lnSpc>
                <a:spcPts val="4000"/>
              </a:lnSpc>
              <a:buFont typeface="Arial" panose="020B0604020202020204" pitchFamily="34" charset="0"/>
              <a:buChar char="•"/>
            </a:pPr>
            <a:r>
              <a:rPr lang="en-US" sz="2500">
                <a:latin typeface="Arial" panose="020B0604020202020204" pitchFamily="34" charset="0"/>
                <a:cs typeface="Arial" panose="020B0604020202020204" pitchFamily="34" charset="0"/>
              </a:rPr>
              <a:t>Qua </a:t>
            </a:r>
            <a:r>
              <a:rPr lang="en-US" sz="2500" err="1">
                <a:latin typeface="Arial" panose="020B0604020202020204" pitchFamily="34" charset="0"/>
                <a:cs typeface="Arial" panose="020B0604020202020204" pitchFamily="34" charset="0"/>
              </a:rPr>
              <a:t>trải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nghiệm</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hành</a:t>
            </a:r>
            <a:r>
              <a:rPr lang="en-US" sz="2500">
                <a:latin typeface="Arial" panose="020B0604020202020204" pitchFamily="34" charset="0"/>
                <a:cs typeface="Arial" panose="020B0604020202020204" pitchFamily="34" charset="0"/>
              </a:rPr>
              <a:t> vi </a:t>
            </a:r>
            <a:r>
              <a:rPr lang="en-US" sz="2500" err="1">
                <a:latin typeface="Arial" panose="020B0604020202020204" pitchFamily="34" charset="0"/>
                <a:cs typeface="Arial" panose="020B0604020202020204" pitchFamily="34" charset="0"/>
              </a:rPr>
              <a:t>đó</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có</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thể</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trở</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thành</a:t>
            </a:r>
            <a:r>
              <a:rPr lang="en-US" sz="2500">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thói</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quen</a:t>
            </a:r>
            <a:r>
              <a:rPr lang="en-US" sz="2500">
                <a:latin typeface="Arial" panose="020B0604020202020204" pitchFamily="34" charset="0"/>
                <a:cs typeface="Arial" panose="020B0604020202020204" pitchFamily="34" charset="0"/>
              </a:rPr>
              <a:t>. </a:t>
            </a:r>
          </a:p>
          <a:p>
            <a:pPr marL="342900" lvl="0" indent="-342900">
              <a:lnSpc>
                <a:spcPts val="4000"/>
              </a:lnSpc>
              <a:buFont typeface="Arial" panose="020B0604020202020204" pitchFamily="34" charset="0"/>
              <a:buChar char="•"/>
            </a:pPr>
            <a:r>
              <a:rPr lang="en-US" sz="2500" err="1">
                <a:latin typeface="Arial" panose="020B0604020202020204" pitchFamily="34" charset="0"/>
                <a:cs typeface="Arial" panose="020B0604020202020204" pitchFamily="34" charset="0"/>
              </a:rPr>
              <a:t>Nhiều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động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lực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có</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thể</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cùng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tồn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tại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và</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tác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động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đến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hành</a:t>
            </a:r>
            <a:r>
              <a:rPr lang="en-US" sz="2500">
                <a:latin typeface="Arial" panose="020B0604020202020204" pitchFamily="34" charset="0"/>
                <a:cs typeface="Arial" panose="020B0604020202020204" pitchFamily="34" charset="0"/>
              </a:rPr>
              <a:t> vi. </a:t>
            </a:r>
          </a:p>
          <a:p>
            <a:pPr>
              <a:lnSpc>
                <a:spcPts val="4000"/>
              </a:lnSpc>
              <a:buNone/>
            </a:pPr>
            <a:r>
              <a:rPr lang="en-US" sz="2500" b="1" err="1">
                <a:latin typeface="Arial" panose="020B0604020202020204" pitchFamily="34" charset="0"/>
                <a:cs typeface="Arial" panose="020B0604020202020204" pitchFamily="34" charset="0"/>
              </a:rPr>
              <a:t>Ví</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dụ</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tiêu</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dùng</a:t>
            </a:r>
            <a:r>
              <a:rPr lang="en-US" sz="2500" b="1">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Khát</a:t>
            </a:r>
            <a:r>
              <a:rPr lang="en-US" sz="2500">
                <a:latin typeface="Arial" panose="020B0604020202020204" pitchFamily="34" charset="0"/>
                <a:cs typeface="Arial" panose="020B0604020202020204" pitchFamily="34" charset="0"/>
              </a:rPr>
              <a:t> → </a:t>
            </a:r>
            <a:r>
              <a:rPr lang="en-US" sz="2500" err="1">
                <a:latin typeface="Arial" panose="020B0604020202020204" pitchFamily="34" charset="0"/>
                <a:cs typeface="Arial" panose="020B0604020202020204" pitchFamily="34" charset="0"/>
              </a:rPr>
              <a:t>mua</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Vĩnh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Hảo</a:t>
            </a:r>
            <a:r>
              <a:rPr lang="en-US" sz="2500">
                <a:latin typeface="Arial" panose="020B0604020202020204" pitchFamily="34" charset="0"/>
                <a:cs typeface="Arial" panose="020B0604020202020204" pitchFamily="34" charset="0"/>
              </a:rPr>
              <a:t> → </a:t>
            </a:r>
            <a:r>
              <a:rPr lang="en-US" sz="2500" err="1">
                <a:latin typeface="Arial" panose="020B0604020202020204" pitchFamily="34" charset="0"/>
                <a:cs typeface="Arial" panose="020B0604020202020204" pitchFamily="34" charset="0"/>
              </a:rPr>
              <a:t>cảm</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thấy</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thỏa</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mãn</a:t>
            </a:r>
            <a:br>
              <a:rPr lang="en-US" sz="2500">
                <a:latin typeface="Arial" panose="020B0604020202020204" pitchFamily="34" charset="0"/>
                <a:cs typeface="Arial" panose="020B0604020202020204" pitchFamily="34" charset="0"/>
              </a:rPr>
            </a:b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lần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sau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khát</a:t>
            </a:r>
            <a:r>
              <a:rPr lang="en-US" sz="2500">
                <a:latin typeface="Arial" panose="020B0604020202020204" pitchFamily="34" charset="0"/>
                <a:cs typeface="Arial" panose="020B0604020202020204" pitchFamily="34" charset="0"/>
              </a:rPr>
              <a:t> → </a:t>
            </a:r>
            <a:r>
              <a:rPr lang="en-US" sz="2500" err="1">
                <a:latin typeface="Arial" panose="020B0604020202020204" pitchFamily="34" charset="0"/>
                <a:cs typeface="Arial" panose="020B0604020202020204" pitchFamily="34" charset="0"/>
              </a:rPr>
              <a:t>có</a:t>
            </a:r>
            <a:r>
              <a:rPr lang="en-US" sz="2500">
                <a:latin typeface="Arial" panose="020B0604020202020204" pitchFamily="34" charset="0"/>
                <a:cs typeface="Arial" panose="020B0604020202020204" pitchFamily="34" charset="0"/>
              </a:rPr>
              <a:t> xu </a:t>
            </a:r>
            <a:r>
              <a:rPr lang="en-US" sz="2500" err="1">
                <a:latin typeface="Arial" panose="020B0604020202020204" pitchFamily="34" charset="0"/>
                <a:cs typeface="Arial" panose="020B0604020202020204" pitchFamily="34" charset="0"/>
              </a:rPr>
              <a:t>hướng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tiếp</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tục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lựa</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chọn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Vĩnh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Hảo</a:t>
            </a:r>
            <a:r>
              <a:rPr lang="en-US" sz="2500">
                <a:latin typeface="Arial" panose="020B0604020202020204" pitchFamily="34" charset="0"/>
                <a:cs typeface="Arial" panose="020B0604020202020204" pitchFamily="34" charset="0"/>
              </a:rPr>
              <a:t>.</a:t>
            </a:r>
          </a:p>
          <a:p>
            <a:pPr>
              <a:lnSpc>
                <a:spcPts val="4000"/>
              </a:lnSpc>
            </a:pPr>
            <a:endParaRPr lang="en-US" sz="2500" b="1">
              <a:latin typeface="Arial" panose="020B0604020202020204" pitchFamily="34" charset="0"/>
              <a:cs typeface="Arial" panose="020B0604020202020204" pitchFamily="34" charset="0"/>
            </a:endParaRPr>
          </a:p>
          <a:p>
            <a:pPr>
              <a:lnSpc>
                <a:spcPts val="4000"/>
              </a:lnSpc>
            </a:pPr>
            <a:r>
              <a:rPr lang="en-US" sz="2500" b="1" err="1">
                <a:latin typeface="Arial" panose="020B0604020202020204" pitchFamily="34" charset="0"/>
                <a:cs typeface="Arial" panose="020B0604020202020204" pitchFamily="34" charset="0"/>
              </a:rPr>
              <a:t>Hạn</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chế</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của</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lý</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thuyết</a:t>
            </a:r>
            <a:endParaRPr lang="en-US" sz="2500">
              <a:latin typeface="Arial" panose="020B0604020202020204" pitchFamily="34" charset="0"/>
              <a:cs typeface="Arial" panose="020B0604020202020204" pitchFamily="34" charset="0"/>
            </a:endParaRPr>
          </a:p>
          <a:p>
            <a:pPr>
              <a:lnSpc>
                <a:spcPts val="4000"/>
              </a:lnSpc>
            </a:pPr>
            <a:r>
              <a:rPr lang="en-US" sz="2500">
                <a:latin typeface="Arial" panose="020B0604020202020204" pitchFamily="34" charset="0"/>
                <a:cs typeface="Arial" panose="020B0604020202020204" pitchFamily="34" charset="0"/>
              </a:rPr>
              <a:t>Lý </a:t>
            </a:r>
            <a:r>
              <a:rPr lang="en-US" sz="2500" err="1">
                <a:latin typeface="Arial" panose="020B0604020202020204" pitchFamily="34" charset="0"/>
                <a:cs typeface="Arial" panose="020B0604020202020204" pitchFamily="34" charset="0"/>
              </a:rPr>
              <a:t>thuyết</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khó</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giải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thích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những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hành</a:t>
            </a:r>
            <a:r>
              <a:rPr lang="en-US" sz="2500">
                <a:latin typeface="Arial" panose="020B0604020202020204" pitchFamily="34" charset="0"/>
                <a:cs typeface="Arial" panose="020B0604020202020204" pitchFamily="34" charset="0"/>
              </a:rPr>
              <a:t> vi </a:t>
            </a:r>
            <a:r>
              <a:rPr lang="en-US" sz="2500" err="1">
                <a:latin typeface="Arial" panose="020B0604020202020204" pitchFamily="34" charset="0"/>
                <a:cs typeface="Arial" panose="020B0604020202020204" pitchFamily="34" charset="0"/>
              </a:rPr>
              <a:t>mà</a:t>
            </a:r>
            <a:r>
              <a:rPr lang="en-US" sz="2500">
                <a:latin typeface="Arial" panose="020B0604020202020204" pitchFamily="34" charset="0"/>
                <a:cs typeface="Arial" panose="020B0604020202020204" pitchFamily="34" charset="0"/>
              </a:rPr>
              <a:t> con </a:t>
            </a:r>
            <a:r>
              <a:rPr lang="en-US" sz="2500" err="1">
                <a:latin typeface="Arial" panose="020B0604020202020204" pitchFamily="34" charset="0"/>
                <a:cs typeface="Arial" panose="020B0604020202020204" pitchFamily="34" charset="0"/>
              </a:rPr>
              <a:t>người</a:t>
            </a:r>
            <a:r>
              <a:rPr lang="en-US" sz="2500">
                <a:latin typeface="Arial" panose="020B0604020202020204" pitchFamily="34" charset="0"/>
                <a:cs typeface="Arial" panose="020B0604020202020204" pitchFamily="34" charset="0"/>
              </a:rPr>
              <a:t>:</a:t>
            </a:r>
          </a:p>
          <a:p>
            <a:pPr lvl="0">
              <a:lnSpc>
                <a:spcPts val="4000"/>
              </a:lnSpc>
            </a:pPr>
            <a:r>
              <a:rPr lang="en-US" sz="2500" err="1">
                <a:latin typeface="Arial" panose="020B0604020202020204" pitchFamily="34" charset="0"/>
                <a:cs typeface="Arial" panose="020B0604020202020204" pitchFamily="34" charset="0"/>
              </a:rPr>
              <a:t>Chủ</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động</a:t>
            </a:r>
            <a:r>
              <a:rPr lang="en-US" sz="2500">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tìm</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kiếm</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kích</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thích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dù</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không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có</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thiếu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hụt</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sinh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lý</a:t>
            </a:r>
            <a:r>
              <a:rPr lang="en-US" sz="2500">
                <a:latin typeface="Arial" panose="020B0604020202020204" pitchFamily="34" charset="0"/>
                <a:cs typeface="Arial" panose="020B0604020202020204" pitchFamily="34" charset="0"/>
              </a:rPr>
              <a:t>. </a:t>
            </a:r>
          </a:p>
          <a:p>
            <a:pPr lvl="0">
              <a:lnSpc>
                <a:spcPts val="4000"/>
              </a:lnSpc>
            </a:pPr>
            <a:r>
              <a:rPr lang="en-US" sz="2500" err="1">
                <a:latin typeface="Arial" panose="020B0604020202020204" pitchFamily="34" charset="0"/>
                <a:cs typeface="Arial" panose="020B0604020202020204" pitchFamily="34" charset="0"/>
              </a:rPr>
              <a:t>Khám</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phá</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trải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nghiệm</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cái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mới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Thực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hiện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hành</a:t>
            </a:r>
            <a:r>
              <a:rPr lang="en-US" sz="2500">
                <a:latin typeface="Arial" panose="020B0604020202020204" pitchFamily="34" charset="0"/>
                <a:cs typeface="Arial" panose="020B0604020202020204" pitchFamily="34" charset="0"/>
              </a:rPr>
              <a:t> vi </a:t>
            </a:r>
            <a:r>
              <a:rPr lang="en-US" sz="2500" err="1">
                <a:latin typeface="Arial" panose="020B0604020202020204" pitchFamily="34" charset="0"/>
                <a:cs typeface="Arial" panose="020B0604020202020204" pitchFamily="34" charset="0"/>
              </a:rPr>
              <a:t>để</a:t>
            </a:r>
            <a:r>
              <a:rPr lang="en-US" sz="2500">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tìm</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kiếm</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niềm</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vui</a:t>
            </a:r>
            <a:r>
              <a:rPr lang="en-US" sz="2500">
                <a:latin typeface="Arial" panose="020B0604020202020204" pitchFamily="34" charset="0"/>
                <a:cs typeface="Arial" panose="020B0604020202020204" pitchFamily="34" charset="0"/>
              </a:rPr>
              <a:t>.</a:t>
            </a:r>
          </a:p>
          <a:p>
            <a:pPr>
              <a:lnSpc>
                <a:spcPts val="4000"/>
              </a:lnSpc>
              <a:buNone/>
            </a:pPr>
            <a:endParaRPr lang="en-US" sz="25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022999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806" y="0"/>
            <a:ext cx="10515600" cy="1006317"/>
          </a:xfrm>
        </p:spPr>
        <p:txBody>
          <a:bodyPr>
            <a:normAutofit/>
          </a:bodyPr>
          <a:lstStyle/>
          <a:p>
            <a:r>
              <a:rPr lang="en-US" sz="2800" b="1" kern="0">
                <a:latin typeface="Arial" panose="020B0604020202020204" pitchFamily="34" charset="0"/>
                <a:ea typeface="Times New Roman" panose="02020603050405020304" pitchFamily="18" charset="0"/>
                <a:cs typeface="Arial" panose="020B0604020202020204" pitchFamily="34" charset="0"/>
              </a:rPr>
              <a:t>3.1.4 Nhu </a:t>
            </a:r>
            <a:r>
              <a:rPr lang="en-US" sz="2800" b="1" kern="0" err="1">
                <a:latin typeface="Arial" panose="020B0604020202020204" pitchFamily="34" charset="0"/>
                <a:ea typeface="Times New Roman" panose="02020603050405020304" pitchFamily="18" charset="0"/>
                <a:cs typeface="Arial" panose="020B0604020202020204" pitchFamily="34" charset="0"/>
              </a:rPr>
              <a:t>cầu</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và</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mong</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muốn</a:t>
            </a:r>
            <a:r>
              <a:rPr lang="en-US" sz="2800" b="1" kern="0">
                <a:latin typeface="Arial" panose="020B0604020202020204" pitchFamily="34" charset="0"/>
                <a:ea typeface="Times New Roman" panose="02020603050405020304" pitchFamily="18" charset="0"/>
                <a:cs typeface="Arial" panose="020B0604020202020204" pitchFamily="34" charset="0"/>
              </a:rPr>
              <a:t> </a:t>
            </a:r>
            <a:endParaRPr lang="en-US" sz="28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41252" y="891522"/>
            <a:ext cx="11449755" cy="4351338"/>
          </a:xfrm>
        </p:spPr>
        <p:txBody>
          <a:bodyPr>
            <a:noAutofit/>
          </a:bodyPr>
          <a:lstStyle/>
          <a:p>
            <a:r>
              <a:rPr lang="en-US" sz="2500" b="1"/>
              <a:t>Nhu </a:t>
            </a:r>
            <a:r>
              <a:rPr lang="en-US" sz="2500" b="1" err="1"/>
              <a:t>cầu</a:t>
            </a:r>
            <a:r>
              <a:rPr lang="en-US" sz="2500" b="1"/>
              <a:t> (Need)</a:t>
            </a:r>
            <a:br>
              <a:rPr lang="en-US" sz="2500"/>
            </a:br>
            <a:r>
              <a:rPr lang="en-US" sz="2500" err="1"/>
              <a:t>Là</a:t>
            </a:r>
            <a:r>
              <a:rPr lang="en-US" sz="2500"/>
              <a:t> </a:t>
            </a:r>
            <a:r>
              <a:rPr lang="en-US" sz="2500" err="1"/>
              <a:t>trạng</a:t>
            </a:r>
            <a:r>
              <a:rPr lang="en-US" sz="2500"/>
              <a:t> </a:t>
            </a:r>
            <a:r>
              <a:rPr lang="en-US" sz="2500" err="1"/>
              <a:t>thái</a:t>
            </a:r>
            <a:r>
              <a:rPr lang="en-US" sz="2500"/>
              <a:t> </a:t>
            </a:r>
            <a:r>
              <a:rPr lang="en-US" sz="2500" err="1"/>
              <a:t>thiếu</a:t>
            </a:r>
            <a:r>
              <a:rPr lang="en-US" sz="2500"/>
              <a:t> </a:t>
            </a:r>
            <a:r>
              <a:rPr lang="en-US" sz="2500" err="1"/>
              <a:t>hụt</a:t>
            </a:r>
            <a:r>
              <a:rPr lang="en-US" sz="2500"/>
              <a:t> </a:t>
            </a:r>
            <a:r>
              <a:rPr lang="en-US" sz="2500" err="1"/>
              <a:t>khiến</a:t>
            </a:r>
            <a:r>
              <a:rPr lang="en-US" sz="2500"/>
              <a:t> </a:t>
            </a:r>
            <a:r>
              <a:rPr lang="en-US" sz="2500" err="1"/>
              <a:t>khách</a:t>
            </a:r>
            <a:r>
              <a:rPr lang="en-US" sz="2500"/>
              <a:t> </a:t>
            </a:r>
            <a:r>
              <a:rPr lang="en-US" sz="2500" err="1"/>
              <a:t>hàng</a:t>
            </a:r>
            <a:r>
              <a:rPr lang="en-US" sz="2500"/>
              <a:t> </a:t>
            </a:r>
            <a:r>
              <a:rPr lang="en-US" sz="2500" b="1" err="1"/>
              <a:t>hành</a:t>
            </a:r>
            <a:r>
              <a:rPr lang="en-US" sz="2500" b="1"/>
              <a:t> </a:t>
            </a:r>
            <a:r>
              <a:rPr lang="en-US" sz="2500" b="1" err="1"/>
              <a:t>động</a:t>
            </a:r>
            <a:r>
              <a:rPr lang="en-US" sz="2500" b="1"/>
              <a:t> </a:t>
            </a:r>
            <a:r>
              <a:rPr lang="en-US" sz="2500" b="1" err="1"/>
              <a:t>để</a:t>
            </a:r>
            <a:r>
              <a:rPr lang="en-US" sz="2500" b="1"/>
              <a:t> </a:t>
            </a:r>
            <a:r>
              <a:rPr lang="en-US" sz="2500" b="1" err="1"/>
              <a:t>cải</a:t>
            </a:r>
            <a:r>
              <a:rPr lang="en-US" sz="2500" b="1"/>
              <a:t> </a:t>
            </a:r>
            <a:r>
              <a:rPr lang="en-US" sz="2500" b="1" err="1"/>
              <a:t>thiện</a:t>
            </a:r>
            <a:r>
              <a:rPr lang="en-US" sz="2500" b="1"/>
              <a:t> </a:t>
            </a:r>
            <a:r>
              <a:rPr lang="en-US" sz="2500" b="1" err="1"/>
              <a:t>tình</a:t>
            </a:r>
            <a:r>
              <a:rPr lang="en-US" sz="2500" b="1"/>
              <a:t> </a:t>
            </a:r>
            <a:r>
              <a:rPr lang="en-US" sz="2500" b="1" err="1"/>
              <a:t>trạng</a:t>
            </a:r>
            <a:r>
              <a:rPr lang="en-US" sz="2500" b="1"/>
              <a:t> </a:t>
            </a:r>
            <a:r>
              <a:rPr lang="en-US" sz="2500" b="1" err="1"/>
              <a:t>hiện</a:t>
            </a:r>
            <a:r>
              <a:rPr lang="en-US" sz="2500" b="1"/>
              <a:t> </a:t>
            </a:r>
            <a:r>
              <a:rPr lang="en-US" sz="2500" b="1" err="1"/>
              <a:t>tại</a:t>
            </a:r>
            <a:r>
              <a:rPr lang="en-US" sz="2500"/>
              <a:t>.</a:t>
            </a:r>
            <a:br>
              <a:rPr lang="en-US" sz="2500"/>
            </a:br>
            <a:r>
              <a:rPr lang="en-US" sz="2500" i="1" err="1"/>
              <a:t>Ví</a:t>
            </a:r>
            <a:r>
              <a:rPr lang="en-US" sz="2500" i="1"/>
              <a:t> </a:t>
            </a:r>
            <a:r>
              <a:rPr lang="en-US" sz="2500" i="1" err="1"/>
              <a:t>dụ</a:t>
            </a:r>
            <a:r>
              <a:rPr lang="en-US" sz="2500" i="1"/>
              <a:t>: </a:t>
            </a:r>
            <a:r>
              <a:rPr lang="en-US" sz="2500" i="1" err="1"/>
              <a:t>Đói</a:t>
            </a:r>
            <a:r>
              <a:rPr lang="en-US" sz="2500" i="1"/>
              <a:t> → </a:t>
            </a:r>
            <a:r>
              <a:rPr lang="en-US" sz="2500" i="1" err="1"/>
              <a:t>cần</a:t>
            </a:r>
            <a:r>
              <a:rPr lang="en-US" sz="2500" i="1"/>
              <a:t> </a:t>
            </a:r>
            <a:r>
              <a:rPr lang="en-US" sz="2500" i="1" err="1"/>
              <a:t>thực</a:t>
            </a:r>
            <a:r>
              <a:rPr lang="en-US" sz="2500" i="1"/>
              <a:t> </a:t>
            </a:r>
            <a:r>
              <a:rPr lang="en-US" sz="2500" i="1" err="1"/>
              <a:t>phẩm</a:t>
            </a:r>
            <a:r>
              <a:rPr lang="en-US" sz="2500" i="1"/>
              <a:t>.</a:t>
            </a:r>
            <a:endParaRPr lang="en-US" sz="2500"/>
          </a:p>
          <a:p>
            <a:r>
              <a:rPr lang="en-US" sz="2500" b="1" err="1"/>
              <a:t>Mong</a:t>
            </a:r>
            <a:r>
              <a:rPr lang="en-US" sz="2500" b="1"/>
              <a:t> </a:t>
            </a:r>
            <a:r>
              <a:rPr lang="en-US" sz="2500" b="1" err="1"/>
              <a:t>muốn</a:t>
            </a:r>
            <a:r>
              <a:rPr lang="en-US" sz="2500" b="1"/>
              <a:t> (Want)</a:t>
            </a:r>
            <a:br>
              <a:rPr lang="en-US" sz="2500"/>
            </a:br>
            <a:r>
              <a:rPr lang="en-US" sz="2500" err="1"/>
              <a:t>Là</a:t>
            </a:r>
            <a:r>
              <a:rPr lang="en-US" sz="2500"/>
              <a:t> </a:t>
            </a:r>
            <a:r>
              <a:rPr lang="en-US" sz="2500" err="1"/>
              <a:t>cách</a:t>
            </a:r>
            <a:r>
              <a:rPr lang="en-US" sz="2500"/>
              <a:t> </a:t>
            </a:r>
            <a:r>
              <a:rPr lang="en-US" sz="2500" err="1"/>
              <a:t>cụ</a:t>
            </a:r>
            <a:r>
              <a:rPr lang="en-US" sz="2500"/>
              <a:t> </a:t>
            </a:r>
            <a:r>
              <a:rPr lang="en-US" sz="2500" err="1"/>
              <a:t>thể</a:t>
            </a:r>
            <a:r>
              <a:rPr lang="en-US" sz="2500"/>
              <a:t> </a:t>
            </a:r>
            <a:r>
              <a:rPr lang="en-US" sz="2500" err="1"/>
              <a:t>mà</a:t>
            </a:r>
            <a:r>
              <a:rPr lang="en-US" sz="2500"/>
              <a:t> </a:t>
            </a:r>
            <a:r>
              <a:rPr lang="en-US" sz="2500" err="1"/>
              <a:t>khách</a:t>
            </a:r>
            <a:r>
              <a:rPr lang="en-US" sz="2500"/>
              <a:t> </a:t>
            </a:r>
            <a:r>
              <a:rPr lang="en-US" sz="2500" err="1"/>
              <a:t>hàng</a:t>
            </a:r>
            <a:r>
              <a:rPr lang="en-US" sz="2500"/>
              <a:t> </a:t>
            </a:r>
            <a:r>
              <a:rPr lang="en-US" sz="2500" b="1" err="1"/>
              <a:t>muốn</a:t>
            </a:r>
            <a:r>
              <a:rPr lang="en-US" sz="2500" b="1"/>
              <a:t> </a:t>
            </a:r>
            <a:r>
              <a:rPr lang="en-US" sz="2500" b="1" err="1"/>
              <a:t>thỏa</a:t>
            </a:r>
            <a:r>
              <a:rPr lang="en-US" sz="2500" b="1"/>
              <a:t> </a:t>
            </a:r>
            <a:r>
              <a:rPr lang="en-US" sz="2500" b="1" err="1"/>
              <a:t>mãn</a:t>
            </a:r>
            <a:r>
              <a:rPr lang="en-US" sz="2500" b="1"/>
              <a:t> </a:t>
            </a:r>
            <a:r>
              <a:rPr lang="en-US" sz="2500" b="1" err="1"/>
              <a:t>nhu</a:t>
            </a:r>
            <a:r>
              <a:rPr lang="en-US" sz="2500" b="1"/>
              <a:t> </a:t>
            </a:r>
            <a:r>
              <a:rPr lang="en-US" sz="2500" b="1" err="1"/>
              <a:t>cầu</a:t>
            </a:r>
            <a:r>
              <a:rPr lang="en-US" sz="2500"/>
              <a:t>, </a:t>
            </a:r>
            <a:r>
              <a:rPr lang="en-US" sz="2500" err="1"/>
              <a:t>nhằm</a:t>
            </a:r>
            <a:r>
              <a:rPr lang="en-US" sz="2500"/>
              <a:t> </a:t>
            </a:r>
            <a:r>
              <a:rPr lang="en-US" sz="2500" err="1"/>
              <a:t>đạt</a:t>
            </a:r>
            <a:r>
              <a:rPr lang="en-US" sz="2500"/>
              <a:t> </a:t>
            </a:r>
            <a:r>
              <a:rPr lang="en-US" sz="2500" err="1"/>
              <a:t>mức</a:t>
            </a:r>
            <a:r>
              <a:rPr lang="en-US" sz="2500"/>
              <a:t> </a:t>
            </a:r>
            <a:r>
              <a:rPr lang="en-US" sz="2500" err="1"/>
              <a:t>hài</a:t>
            </a:r>
            <a:r>
              <a:rPr lang="en-US" sz="2500"/>
              <a:t> </a:t>
            </a:r>
            <a:r>
              <a:rPr lang="en-US" sz="2500" err="1"/>
              <a:t>lòng</a:t>
            </a:r>
            <a:r>
              <a:rPr lang="en-US" sz="2500"/>
              <a:t> </a:t>
            </a:r>
            <a:r>
              <a:rPr lang="en-US" sz="2500" err="1"/>
              <a:t>cao</a:t>
            </a:r>
            <a:r>
              <a:rPr lang="en-US" sz="2500"/>
              <a:t> </a:t>
            </a:r>
            <a:r>
              <a:rPr lang="en-US" sz="2500" err="1"/>
              <a:t>hơn</a:t>
            </a:r>
            <a:r>
              <a:rPr lang="en-US" sz="2500"/>
              <a:t>.</a:t>
            </a:r>
            <a:br>
              <a:rPr lang="en-US" sz="2500"/>
            </a:br>
            <a:r>
              <a:rPr lang="en-US" sz="2500" i="1" err="1"/>
              <a:t>Ví</a:t>
            </a:r>
            <a:r>
              <a:rPr lang="en-US" sz="2500" i="1"/>
              <a:t> </a:t>
            </a:r>
            <a:r>
              <a:rPr lang="en-US" sz="2500" i="1" err="1"/>
              <a:t>dụ</a:t>
            </a:r>
            <a:r>
              <a:rPr lang="en-US" sz="2500" i="1"/>
              <a:t>: </a:t>
            </a:r>
            <a:r>
              <a:rPr lang="en-US" sz="2500" i="1" err="1"/>
              <a:t>Đói</a:t>
            </a:r>
            <a:r>
              <a:rPr lang="en-US" sz="2500" i="1"/>
              <a:t> → </a:t>
            </a:r>
            <a:r>
              <a:rPr lang="en-US" sz="2500" i="1" err="1"/>
              <a:t>muốn</a:t>
            </a:r>
            <a:r>
              <a:rPr lang="en-US" sz="2500" i="1"/>
              <a:t> </a:t>
            </a:r>
            <a:r>
              <a:rPr lang="en-US" sz="2500" i="1" err="1"/>
              <a:t>ăn</a:t>
            </a:r>
            <a:r>
              <a:rPr lang="en-US" sz="2500" i="1"/>
              <a:t> hamburger.</a:t>
            </a:r>
            <a:endParaRPr lang="en-US" sz="2500"/>
          </a:p>
          <a:p>
            <a:r>
              <a:rPr lang="en-US" sz="2500" b="1"/>
              <a:t>Các </a:t>
            </a:r>
            <a:r>
              <a:rPr lang="en-US" sz="2500" b="1" err="1"/>
              <a:t>yếu</a:t>
            </a:r>
            <a:r>
              <a:rPr lang="en-US" sz="2500" b="1"/>
              <a:t> </a:t>
            </a:r>
            <a:r>
              <a:rPr lang="en-US" sz="2500" b="1" err="1"/>
              <a:t>tố</a:t>
            </a:r>
            <a:r>
              <a:rPr lang="en-US" sz="2500" b="1"/>
              <a:t> </a:t>
            </a:r>
            <a:r>
              <a:rPr lang="en-US" sz="2500" b="1" err="1"/>
              <a:t>hình</a:t>
            </a:r>
            <a:r>
              <a:rPr lang="en-US" sz="2500" b="1"/>
              <a:t> </a:t>
            </a:r>
            <a:r>
              <a:rPr lang="en-US" sz="2500" b="1" err="1"/>
              <a:t>thành</a:t>
            </a:r>
            <a:r>
              <a:rPr lang="en-US" sz="2500" b="1"/>
              <a:t> </a:t>
            </a:r>
            <a:r>
              <a:rPr lang="en-US" sz="2500" b="1" err="1"/>
              <a:t>nhu</a:t>
            </a:r>
            <a:r>
              <a:rPr lang="en-US" sz="2500" b="1"/>
              <a:t> </a:t>
            </a:r>
            <a:r>
              <a:rPr lang="en-US" sz="2500" b="1" err="1"/>
              <a:t>cầu</a:t>
            </a:r>
            <a:endParaRPr lang="en-US" sz="2500"/>
          </a:p>
          <a:p>
            <a:pPr marL="0" lvl="0" indent="0">
              <a:buNone/>
            </a:pPr>
            <a:r>
              <a:rPr lang="en-US" sz="2500" err="1"/>
              <a:t>Đặc</a:t>
            </a:r>
            <a:r>
              <a:rPr lang="en-US" sz="2500"/>
              <a:t> </a:t>
            </a:r>
            <a:r>
              <a:rPr lang="en-US" sz="2500" err="1"/>
              <a:t>điểm</a:t>
            </a:r>
            <a:r>
              <a:rPr lang="en-US" sz="2500"/>
              <a:t> </a:t>
            </a:r>
            <a:r>
              <a:rPr lang="en-US" sz="2500" err="1"/>
              <a:t>cá</a:t>
            </a:r>
            <a:r>
              <a:rPr lang="en-US" sz="2500"/>
              <a:t> </a:t>
            </a:r>
            <a:r>
              <a:rPr lang="en-US" sz="2500" err="1"/>
              <a:t>nhân</a:t>
            </a:r>
            <a:r>
              <a:rPr lang="en-US" sz="2500"/>
              <a:t>: di </a:t>
            </a:r>
            <a:r>
              <a:rPr lang="en-US" sz="2500" err="1"/>
              <a:t>truyền</a:t>
            </a:r>
            <a:r>
              <a:rPr lang="en-US" sz="2500"/>
              <a:t>, </a:t>
            </a:r>
            <a:r>
              <a:rPr lang="en-US" sz="2500" err="1"/>
              <a:t>sinh</a:t>
            </a:r>
            <a:r>
              <a:rPr lang="en-US" sz="2500"/>
              <a:t> </a:t>
            </a:r>
            <a:r>
              <a:rPr lang="en-US" sz="2500" err="1"/>
              <a:t>học</a:t>
            </a:r>
            <a:r>
              <a:rPr lang="en-US" sz="2500"/>
              <a:t>, </a:t>
            </a:r>
            <a:r>
              <a:rPr lang="en-US" sz="2500" err="1"/>
              <a:t>tâm</a:t>
            </a:r>
            <a:r>
              <a:rPr lang="en-US" sz="2500"/>
              <a:t> </a:t>
            </a:r>
            <a:r>
              <a:rPr lang="en-US" sz="2500" err="1"/>
              <a:t>trạng</a:t>
            </a:r>
            <a:r>
              <a:rPr lang="en-US" sz="2500"/>
              <a:t> – </a:t>
            </a:r>
            <a:r>
              <a:rPr lang="en-US" sz="2500" err="1"/>
              <a:t>cảm</a:t>
            </a:r>
            <a:r>
              <a:rPr lang="en-US" sz="2500"/>
              <a:t> </a:t>
            </a:r>
            <a:r>
              <a:rPr lang="en-US" sz="2500" err="1"/>
              <a:t>xúc</a:t>
            </a:r>
            <a:r>
              <a:rPr lang="en-US" sz="2500"/>
              <a:t> </a:t>
            </a:r>
          </a:p>
          <a:p>
            <a:pPr marL="0" lvl="0" indent="0">
              <a:buNone/>
            </a:pPr>
            <a:r>
              <a:rPr lang="en-US" sz="2500" err="1"/>
              <a:t>Môi</a:t>
            </a:r>
            <a:r>
              <a:rPr lang="en-US" sz="2500"/>
              <a:t> </a:t>
            </a:r>
            <a:r>
              <a:rPr lang="en-US" sz="2500" err="1"/>
              <a:t>trường</a:t>
            </a:r>
            <a:r>
              <a:rPr lang="en-US" sz="2500"/>
              <a:t> </a:t>
            </a:r>
            <a:r>
              <a:rPr lang="en-US" sz="2500" err="1"/>
              <a:t>vật</a:t>
            </a:r>
            <a:r>
              <a:rPr lang="en-US" sz="2500"/>
              <a:t> </a:t>
            </a:r>
            <a:r>
              <a:rPr lang="en-US" sz="2500" err="1"/>
              <a:t>lý</a:t>
            </a:r>
            <a:r>
              <a:rPr lang="en-US" sz="2500"/>
              <a:t>: </a:t>
            </a:r>
            <a:r>
              <a:rPr lang="en-US" sz="2500" err="1"/>
              <a:t>khí</a:t>
            </a:r>
            <a:r>
              <a:rPr lang="en-US" sz="2500"/>
              <a:t> </a:t>
            </a:r>
            <a:r>
              <a:rPr lang="en-US" sz="2500" err="1"/>
              <a:t>hậu</a:t>
            </a:r>
            <a:r>
              <a:rPr lang="en-US" sz="2500"/>
              <a:t>, </a:t>
            </a:r>
            <a:r>
              <a:rPr lang="en-US" sz="2500" err="1"/>
              <a:t>địa</a:t>
            </a:r>
            <a:r>
              <a:rPr lang="en-US" sz="2500"/>
              <a:t> </a:t>
            </a:r>
            <a:r>
              <a:rPr lang="en-US" sz="2500" err="1"/>
              <a:t>hình</a:t>
            </a:r>
            <a:r>
              <a:rPr lang="en-US" sz="2500"/>
              <a:t>, </a:t>
            </a:r>
            <a:r>
              <a:rPr lang="en-US" sz="2500" err="1"/>
              <a:t>hệ</a:t>
            </a:r>
            <a:r>
              <a:rPr lang="en-US" sz="2500"/>
              <a:t> </a:t>
            </a:r>
            <a:r>
              <a:rPr lang="en-US" sz="2500" err="1"/>
              <a:t>sinh</a:t>
            </a:r>
            <a:r>
              <a:rPr lang="en-US" sz="2500"/>
              <a:t> </a:t>
            </a:r>
            <a:r>
              <a:rPr lang="en-US" sz="2500" err="1"/>
              <a:t>thái</a:t>
            </a:r>
            <a:r>
              <a:rPr lang="en-US" sz="2500"/>
              <a:t> </a:t>
            </a:r>
          </a:p>
          <a:p>
            <a:r>
              <a:rPr lang="en-US" sz="2500" b="1"/>
              <a:t>Các </a:t>
            </a:r>
            <a:r>
              <a:rPr lang="en-US" sz="2500" b="1" err="1"/>
              <a:t>yếu</a:t>
            </a:r>
            <a:r>
              <a:rPr lang="en-US" sz="2500" b="1"/>
              <a:t> </a:t>
            </a:r>
            <a:r>
              <a:rPr lang="en-US" sz="2500" b="1" err="1"/>
              <a:t>tố</a:t>
            </a:r>
            <a:r>
              <a:rPr lang="en-US" sz="2500" b="1"/>
              <a:t> </a:t>
            </a:r>
            <a:r>
              <a:rPr lang="en-US" sz="2500" b="1" err="1"/>
              <a:t>hình</a:t>
            </a:r>
            <a:r>
              <a:rPr lang="en-US" sz="2500" b="1"/>
              <a:t> </a:t>
            </a:r>
            <a:r>
              <a:rPr lang="en-US" sz="2500" b="1" err="1"/>
              <a:t>thành</a:t>
            </a:r>
            <a:r>
              <a:rPr lang="en-US" sz="2500" b="1"/>
              <a:t> </a:t>
            </a:r>
            <a:r>
              <a:rPr lang="en-US" sz="2500" b="1" err="1"/>
              <a:t>mong</a:t>
            </a:r>
            <a:r>
              <a:rPr lang="en-US" sz="2500" b="1"/>
              <a:t> </a:t>
            </a:r>
            <a:r>
              <a:rPr lang="en-US" sz="2500" b="1" err="1"/>
              <a:t>muốn</a:t>
            </a:r>
            <a:r>
              <a:rPr lang="en-US" sz="2500" b="1"/>
              <a:t>: </a:t>
            </a:r>
            <a:r>
              <a:rPr lang="en-US" sz="2500" err="1"/>
              <a:t>Bối</a:t>
            </a:r>
            <a:r>
              <a:rPr lang="en-US" sz="2500"/>
              <a:t> </a:t>
            </a:r>
            <a:r>
              <a:rPr lang="en-US" sz="2500" err="1"/>
              <a:t>cảnh</a:t>
            </a:r>
            <a:r>
              <a:rPr lang="en-US" sz="2500"/>
              <a:t> </a:t>
            </a:r>
            <a:r>
              <a:rPr lang="en-US" sz="2500" err="1"/>
              <a:t>cá</a:t>
            </a:r>
            <a:r>
              <a:rPr lang="en-US" sz="2500"/>
              <a:t> </a:t>
            </a:r>
            <a:r>
              <a:rPr lang="en-US" sz="2500" err="1"/>
              <a:t>nhân</a:t>
            </a:r>
            <a:r>
              <a:rPr lang="en-US" sz="2500"/>
              <a:t>: </a:t>
            </a:r>
            <a:r>
              <a:rPr lang="en-US" sz="2500" err="1"/>
              <a:t>giá</a:t>
            </a:r>
            <a:r>
              <a:rPr lang="en-US" sz="2500"/>
              <a:t> </a:t>
            </a:r>
            <a:r>
              <a:rPr lang="en-US" sz="2500" err="1"/>
              <a:t>trị</a:t>
            </a:r>
            <a:r>
              <a:rPr lang="en-US" sz="2500"/>
              <a:t>, </a:t>
            </a:r>
            <a:r>
              <a:rPr lang="en-US" sz="2500" err="1"/>
              <a:t>thu</a:t>
            </a:r>
            <a:r>
              <a:rPr lang="en-US" sz="2500"/>
              <a:t> </a:t>
            </a:r>
            <a:r>
              <a:rPr lang="en-US" sz="2500" err="1"/>
              <a:t>nhập</a:t>
            </a:r>
            <a:r>
              <a:rPr lang="en-US" sz="2500"/>
              <a:t>, </a:t>
            </a:r>
            <a:r>
              <a:rPr lang="en-US" sz="2500" err="1"/>
              <a:t>nguồn</a:t>
            </a:r>
            <a:r>
              <a:rPr lang="en-US" sz="2500"/>
              <a:t> </a:t>
            </a:r>
            <a:r>
              <a:rPr lang="en-US" sz="2500" err="1"/>
              <a:t>lực</a:t>
            </a:r>
            <a:r>
              <a:rPr lang="en-US" sz="2500"/>
              <a:t> ; </a:t>
            </a:r>
            <a:r>
              <a:rPr lang="en-US" sz="2500" err="1"/>
              <a:t>Bối</a:t>
            </a:r>
            <a:r>
              <a:rPr lang="en-US" sz="2500"/>
              <a:t> </a:t>
            </a:r>
            <a:r>
              <a:rPr lang="en-US" sz="2500" err="1"/>
              <a:t>cảnh</a:t>
            </a:r>
            <a:r>
              <a:rPr lang="en-US" sz="2500"/>
              <a:t> </a:t>
            </a:r>
            <a:r>
              <a:rPr lang="en-US" sz="2500" err="1"/>
              <a:t>xã</a:t>
            </a:r>
            <a:r>
              <a:rPr lang="en-US" sz="2500"/>
              <a:t> </a:t>
            </a:r>
            <a:r>
              <a:rPr lang="en-US" sz="2500" err="1"/>
              <a:t>hội</a:t>
            </a:r>
            <a:r>
              <a:rPr lang="en-US" sz="2500"/>
              <a:t>/</a:t>
            </a:r>
            <a:r>
              <a:rPr lang="en-US" sz="2500" err="1"/>
              <a:t>thể</a:t>
            </a:r>
            <a:r>
              <a:rPr lang="en-US" sz="2500"/>
              <a:t> </a:t>
            </a:r>
            <a:r>
              <a:rPr lang="en-US" sz="2500" err="1"/>
              <a:t>chế</a:t>
            </a:r>
            <a:r>
              <a:rPr lang="en-US" sz="2500"/>
              <a:t>; Văn </a:t>
            </a:r>
            <a:r>
              <a:rPr lang="en-US" sz="2500" err="1"/>
              <a:t>hóa</a:t>
            </a:r>
            <a:r>
              <a:rPr lang="en-US" sz="2500"/>
              <a:t>; </a:t>
            </a:r>
            <a:r>
              <a:rPr lang="en-US" sz="2500" err="1"/>
              <a:t>Môi</a:t>
            </a:r>
            <a:r>
              <a:rPr lang="en-US" sz="2500"/>
              <a:t> </a:t>
            </a:r>
            <a:r>
              <a:rPr lang="en-US" sz="2500" err="1"/>
              <a:t>trường</a:t>
            </a:r>
            <a:r>
              <a:rPr lang="en-US" sz="2500"/>
              <a:t>: </a:t>
            </a:r>
            <a:r>
              <a:rPr lang="en-US" sz="2500" err="1"/>
              <a:t>kinh</a:t>
            </a:r>
            <a:r>
              <a:rPr lang="en-US" sz="2500"/>
              <a:t> </a:t>
            </a:r>
            <a:r>
              <a:rPr lang="en-US" sz="2500" err="1"/>
              <a:t>tế</a:t>
            </a:r>
            <a:r>
              <a:rPr lang="en-US" sz="2500"/>
              <a:t>, </a:t>
            </a:r>
            <a:r>
              <a:rPr lang="en-US" sz="2500" err="1"/>
              <a:t>công</a:t>
            </a:r>
            <a:r>
              <a:rPr lang="en-US" sz="2500"/>
              <a:t> </a:t>
            </a:r>
            <a:r>
              <a:rPr lang="en-US" sz="2500" err="1"/>
              <a:t>nghệ</a:t>
            </a:r>
            <a:r>
              <a:rPr lang="en-US" sz="2500"/>
              <a:t>, </a:t>
            </a:r>
            <a:r>
              <a:rPr lang="en-US" sz="2500" err="1"/>
              <a:t>chính</a:t>
            </a:r>
            <a:r>
              <a:rPr lang="en-US" sz="2500"/>
              <a:t> </a:t>
            </a:r>
            <a:r>
              <a:rPr lang="en-US" sz="2500" err="1"/>
              <a:t>sách</a:t>
            </a:r>
            <a:endParaRPr lang="en-US" sz="2500"/>
          </a:p>
        </p:txBody>
      </p:sp>
    </p:spTree>
    <p:extLst>
      <p:ext uri="{BB962C8B-B14F-4D97-AF65-F5344CB8AC3E}">
        <p14:creationId xmlns:p14="http://schemas.microsoft.com/office/powerpoint/2010/main" val="323132195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19C0C-A7F5-052A-2BFC-790DAA78FC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7CC0D6-458A-00E9-C0E7-7A675FA68682}"/>
              </a:ext>
            </a:extLst>
          </p:cNvPr>
          <p:cNvSpPr>
            <a:spLocks noGrp="1"/>
          </p:cNvSpPr>
          <p:nvPr>
            <p:ph type="title"/>
          </p:nvPr>
        </p:nvSpPr>
        <p:spPr>
          <a:xfrm>
            <a:off x="657578" y="18220"/>
            <a:ext cx="10515600" cy="1325563"/>
          </a:xfrm>
        </p:spPr>
        <p:txBody>
          <a:bodyPr vert="horz" lIns="91440" tIns="45720" rIns="91440" bIns="45720" rtlCol="0" anchor="b">
            <a:normAutofit/>
          </a:bodyPr>
          <a:lstStyle/>
          <a:p>
            <a:pPr marL="457200" indent="-342900" algn="just">
              <a:lnSpc>
                <a:spcPct val="150000"/>
              </a:lnSpc>
              <a:buFont typeface="Wingdings" pitchFamily="2" charset="2"/>
              <a:buChar char="Ø"/>
            </a:pPr>
            <a:r>
              <a:rPr lang="en-US" sz="2800" i="1">
                <a:latin typeface="Arial" panose="020B0604020202020204" pitchFamily="34" charset="0"/>
                <a:cs typeface="Arial" panose="020B0604020202020204" pitchFamily="34" charset="0"/>
              </a:rPr>
              <a:t>Lý </a:t>
            </a:r>
            <a:r>
              <a:rPr lang="en-US" sz="2800" i="1" err="1">
                <a:latin typeface="Arial" panose="020B0604020202020204" pitchFamily="34" charset="0"/>
                <a:cs typeface="Arial" panose="020B0604020202020204" pitchFamily="34" charset="0"/>
              </a:rPr>
              <a:t>thuyết</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nhu</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cầu</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của</a:t>
            </a:r>
            <a:r>
              <a:rPr lang="en-US" sz="2800" i="1">
                <a:latin typeface="Arial" panose="020B0604020202020204" pitchFamily="34" charset="0"/>
                <a:cs typeface="Arial" panose="020B0604020202020204" pitchFamily="34" charset="0"/>
              </a:rPr>
              <a:t> Maslow</a:t>
            </a:r>
          </a:p>
        </p:txBody>
      </p:sp>
      <p:sp>
        <p:nvSpPr>
          <p:cNvPr id="5" name="Content Placeholder 4">
            <a:extLst>
              <a:ext uri="{FF2B5EF4-FFF2-40B4-BE49-F238E27FC236}">
                <a16:creationId xmlns:a16="http://schemas.microsoft.com/office/drawing/2014/main" id="{5DB295E4-F64B-0753-BA35-161219683DBC}"/>
              </a:ext>
            </a:extLst>
          </p:cNvPr>
          <p:cNvSpPr>
            <a:spLocks noGrp="1"/>
          </p:cNvSpPr>
          <p:nvPr>
            <p:ph idx="1"/>
          </p:nvPr>
        </p:nvSpPr>
        <p:spPr/>
        <p:txBody>
          <a:bodyPr/>
          <a:lstStyle/>
          <a:p>
            <a:endParaRPr lang="en-US"/>
          </a:p>
        </p:txBody>
      </p:sp>
      <p:pic>
        <p:nvPicPr>
          <p:cNvPr id="1025" name="Picture 1" descr="Image result for Maslow asia&quot;">
            <a:extLst>
              <a:ext uri="{FF2B5EF4-FFF2-40B4-BE49-F238E27FC236}">
                <a16:creationId xmlns:a16="http://schemas.microsoft.com/office/drawing/2014/main" id="{C38EA7DF-B4E3-E448-89DB-E6330270BE6B}"/>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l="443" t="3452"/>
          <a:stretch>
            <a:fillRect/>
          </a:stretch>
        </p:blipFill>
        <p:spPr bwMode="auto">
          <a:xfrm>
            <a:off x="1584524" y="1863801"/>
            <a:ext cx="9022951" cy="444074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a:extLst>
              <a:ext uri="{FF2B5EF4-FFF2-40B4-BE49-F238E27FC236}">
                <a16:creationId xmlns:a16="http://schemas.microsoft.com/office/drawing/2014/main" id="{1C3BBF15-4640-D11A-8CCD-D2F0491CE6AF}"/>
              </a:ext>
            </a:extLst>
          </p:cNvPr>
          <p:cNvSpPr>
            <a:spLocks noChangeArrowheads="1"/>
          </p:cNvSpPr>
          <p:nvPr/>
        </p:nvSpPr>
        <p:spPr bwMode="auto">
          <a:xfrm flipV="1">
            <a:off x="3858447" y="2903837"/>
            <a:ext cx="1357281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sp>
        <p:nvSpPr>
          <p:cNvPr id="6" name="Title 1">
            <a:extLst>
              <a:ext uri="{FF2B5EF4-FFF2-40B4-BE49-F238E27FC236}">
                <a16:creationId xmlns:a16="http://schemas.microsoft.com/office/drawing/2014/main" id="{3DE09BC3-A148-9109-3B85-D278C9C2B253}"/>
              </a:ext>
            </a:extLst>
          </p:cNvPr>
          <p:cNvSpPr txBox="1">
            <a:spLocks/>
          </p:cNvSpPr>
          <p:nvPr/>
        </p:nvSpPr>
        <p:spPr>
          <a:xfrm>
            <a:off x="476956" y="-2976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kern="0">
                <a:latin typeface="Arial" panose="020B0604020202020204" pitchFamily="34" charset="0"/>
                <a:ea typeface="Times New Roman" panose="02020603050405020304" pitchFamily="18" charset="0"/>
                <a:cs typeface="Arial" panose="020B0604020202020204" pitchFamily="34" charset="0"/>
              </a:rPr>
              <a:t>3.1.5 Các </a:t>
            </a:r>
            <a:r>
              <a:rPr lang="en-US" sz="2800" b="1" kern="0" err="1">
                <a:latin typeface="Arial" panose="020B0604020202020204" pitchFamily="34" charset="0"/>
                <a:ea typeface="Times New Roman" panose="02020603050405020304" pitchFamily="18" charset="0"/>
                <a:cs typeface="Arial" panose="020B0604020202020204" pitchFamily="34" charset="0"/>
              </a:rPr>
              <a:t>lý</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thuyết</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về</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nhu</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cầu</a:t>
            </a:r>
            <a:endParaRPr lang="en-US"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6691297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0621E-05E8-3559-AC37-B5AC4EEA9B83}"/>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F96FE912-DDC9-4924-056B-F00C5714B1AD}"/>
              </a:ext>
            </a:extLst>
          </p:cNvPr>
          <p:cNvGraphicFramePr>
            <a:graphicFrameLocks noGrp="1"/>
          </p:cNvGraphicFramePr>
          <p:nvPr>
            <p:extLst>
              <p:ext uri="{D42A27DB-BD31-4B8C-83A1-F6EECF244321}">
                <p14:modId xmlns:p14="http://schemas.microsoft.com/office/powerpoint/2010/main" val="446690865"/>
              </p:ext>
            </p:extLst>
          </p:nvPr>
        </p:nvGraphicFramePr>
        <p:xfrm>
          <a:off x="199980" y="1227404"/>
          <a:ext cx="11433000" cy="5242560"/>
        </p:xfrm>
        <a:graphic>
          <a:graphicData uri="http://schemas.openxmlformats.org/drawingml/2006/table">
            <a:tbl>
              <a:tblPr>
                <a:tableStyleId>{5C22544A-7EE6-4342-B048-85BDC9FD1C3A}</a:tableStyleId>
              </a:tblPr>
              <a:tblGrid>
                <a:gridCol w="3520800">
                  <a:extLst>
                    <a:ext uri="{9D8B030D-6E8A-4147-A177-3AD203B41FA5}">
                      <a16:colId xmlns:a16="http://schemas.microsoft.com/office/drawing/2014/main" val="2484047550"/>
                    </a:ext>
                  </a:extLst>
                </a:gridCol>
                <a:gridCol w="4101200">
                  <a:extLst>
                    <a:ext uri="{9D8B030D-6E8A-4147-A177-3AD203B41FA5}">
                      <a16:colId xmlns:a16="http://schemas.microsoft.com/office/drawing/2014/main" val="552266051"/>
                    </a:ext>
                  </a:extLst>
                </a:gridCol>
                <a:gridCol w="3811000">
                  <a:extLst>
                    <a:ext uri="{9D8B030D-6E8A-4147-A177-3AD203B41FA5}">
                      <a16:colId xmlns:a16="http://schemas.microsoft.com/office/drawing/2014/main" val="3704346186"/>
                    </a:ext>
                  </a:extLst>
                </a:gridCol>
              </a:tblGrid>
              <a:tr h="0">
                <a:tc>
                  <a:txBody>
                    <a:bodyPr/>
                    <a:lstStyle/>
                    <a:p>
                      <a:pPr algn="ctr">
                        <a:buNone/>
                      </a:pPr>
                      <a:r>
                        <a:rPr lang="en-US" sz="2800" b="1" err="1">
                          <a:latin typeface="Arial" panose="020B0604020202020204" pitchFamily="34" charset="0"/>
                          <a:cs typeface="Arial" panose="020B0604020202020204" pitchFamily="34" charset="0"/>
                        </a:rPr>
                        <a:t>Cấp</a:t>
                      </a:r>
                      <a:r>
                        <a:rPr lang="en-US" sz="2800" b="1">
                          <a:latin typeface="Arial" panose="020B0604020202020204" pitchFamily="34" charset="0"/>
                          <a:cs typeface="Arial" panose="020B0604020202020204" pitchFamily="34" charset="0"/>
                        </a:rPr>
                        <a:t> </a:t>
                      </a:r>
                      <a:r>
                        <a:rPr lang="en-US" sz="2800" b="1" err="1">
                          <a:latin typeface="Arial" panose="020B0604020202020204" pitchFamily="34" charset="0"/>
                          <a:cs typeface="Arial" panose="020B0604020202020204" pitchFamily="34" charset="0"/>
                        </a:rPr>
                        <a:t>độ</a:t>
                      </a:r>
                      <a:endParaRPr lang="en-US" sz="2800" b="1">
                        <a:latin typeface="Arial" panose="020B0604020202020204" pitchFamily="34" charset="0"/>
                        <a:cs typeface="Arial" panose="020B0604020202020204" pitchFamily="34" charset="0"/>
                      </a:endParaRPr>
                    </a:p>
                  </a:txBody>
                  <a:tcPr anchor="ctr">
                    <a:solidFill>
                      <a:schemeClr val="accent5"/>
                    </a:solidFill>
                  </a:tcPr>
                </a:tc>
                <a:tc>
                  <a:txBody>
                    <a:bodyPr/>
                    <a:lstStyle/>
                    <a:p>
                      <a:pPr algn="ctr">
                        <a:buNone/>
                      </a:pPr>
                      <a:r>
                        <a:rPr lang="en-US" sz="2800" b="1">
                          <a:latin typeface="Arial" panose="020B0604020202020204" pitchFamily="34" charset="0"/>
                          <a:cs typeface="Arial" panose="020B0604020202020204" pitchFamily="34" charset="0"/>
                        </a:rPr>
                        <a:t>Nhu </a:t>
                      </a:r>
                      <a:r>
                        <a:rPr lang="en-US" sz="2800" b="1" err="1">
                          <a:latin typeface="Arial" panose="020B0604020202020204" pitchFamily="34" charset="0"/>
                          <a:cs typeface="Arial" panose="020B0604020202020204" pitchFamily="34" charset="0"/>
                        </a:rPr>
                        <a:t>cầu</a:t>
                      </a:r>
                      <a:endParaRPr lang="en-US" sz="2800" b="1">
                        <a:latin typeface="Arial" panose="020B0604020202020204" pitchFamily="34" charset="0"/>
                        <a:cs typeface="Arial" panose="020B0604020202020204" pitchFamily="34" charset="0"/>
                      </a:endParaRPr>
                    </a:p>
                  </a:txBody>
                  <a:tcPr anchor="ctr">
                    <a:solidFill>
                      <a:schemeClr val="accent5"/>
                    </a:solidFill>
                  </a:tcPr>
                </a:tc>
                <a:tc>
                  <a:txBody>
                    <a:bodyPr/>
                    <a:lstStyle/>
                    <a:p>
                      <a:pPr algn="ctr">
                        <a:buNone/>
                      </a:pPr>
                      <a:r>
                        <a:rPr lang="en-US" sz="2800" b="1" err="1">
                          <a:latin typeface="Arial" panose="020B0604020202020204" pitchFamily="34" charset="0"/>
                          <a:cs typeface="Arial" panose="020B0604020202020204" pitchFamily="34" charset="0"/>
                        </a:rPr>
                        <a:t>Biểu</a:t>
                      </a:r>
                      <a:r>
                        <a:rPr lang="en-US" sz="2800" b="1">
                          <a:latin typeface="Arial" panose="020B0604020202020204" pitchFamily="34" charset="0"/>
                          <a:cs typeface="Arial" panose="020B0604020202020204" pitchFamily="34" charset="0"/>
                        </a:rPr>
                        <a:t> </a:t>
                      </a:r>
                      <a:r>
                        <a:rPr lang="en-US" sz="2800" b="1" err="1">
                          <a:latin typeface="Arial" panose="020B0604020202020204" pitchFamily="34" charset="0"/>
                          <a:cs typeface="Arial" panose="020B0604020202020204" pitchFamily="34" charset="0"/>
                        </a:rPr>
                        <a:t>hiện</a:t>
                      </a:r>
                      <a:r>
                        <a:rPr lang="en-US" sz="2800" b="1">
                          <a:latin typeface="Arial" panose="020B0604020202020204" pitchFamily="34" charset="0"/>
                          <a:cs typeface="Arial" panose="020B0604020202020204" pitchFamily="34" charset="0"/>
                        </a:rPr>
                        <a:t> </a:t>
                      </a:r>
                      <a:r>
                        <a:rPr lang="en-US" sz="2800" b="1" err="1">
                          <a:latin typeface="Arial" panose="020B0604020202020204" pitchFamily="34" charset="0"/>
                          <a:cs typeface="Arial" panose="020B0604020202020204" pitchFamily="34" charset="0"/>
                        </a:rPr>
                        <a:t>trong</a:t>
                      </a:r>
                      <a:r>
                        <a:rPr lang="en-US" sz="2800" b="1">
                          <a:latin typeface="Arial" panose="020B0604020202020204" pitchFamily="34" charset="0"/>
                          <a:cs typeface="Arial" panose="020B0604020202020204" pitchFamily="34" charset="0"/>
                        </a:rPr>
                        <a:t> </a:t>
                      </a:r>
                      <a:r>
                        <a:rPr lang="en-US" sz="2800" b="1" err="1">
                          <a:latin typeface="Arial" panose="020B0604020202020204" pitchFamily="34" charset="0"/>
                          <a:cs typeface="Arial" panose="020B0604020202020204" pitchFamily="34" charset="0"/>
                        </a:rPr>
                        <a:t>tiêu</a:t>
                      </a:r>
                      <a:r>
                        <a:rPr lang="en-US" sz="2800" b="1">
                          <a:latin typeface="Arial" panose="020B0604020202020204" pitchFamily="34" charset="0"/>
                          <a:cs typeface="Arial" panose="020B0604020202020204" pitchFamily="34" charset="0"/>
                        </a:rPr>
                        <a:t> </a:t>
                      </a:r>
                      <a:r>
                        <a:rPr lang="en-US" sz="2800" b="1" err="1">
                          <a:latin typeface="Arial" panose="020B0604020202020204" pitchFamily="34" charset="0"/>
                          <a:cs typeface="Arial" panose="020B0604020202020204" pitchFamily="34" charset="0"/>
                        </a:rPr>
                        <a:t>dùng</a:t>
                      </a:r>
                      <a:endParaRPr lang="en-US" sz="2800" b="1">
                        <a:latin typeface="Arial" panose="020B0604020202020204" pitchFamily="34" charset="0"/>
                        <a:cs typeface="Arial" panose="020B0604020202020204" pitchFamily="34" charset="0"/>
                      </a:endParaRPr>
                    </a:p>
                  </a:txBody>
                  <a:tcPr anchor="ctr">
                    <a:solidFill>
                      <a:schemeClr val="accent5"/>
                    </a:solidFill>
                  </a:tcPr>
                </a:tc>
                <a:extLst>
                  <a:ext uri="{0D108BD9-81ED-4DB2-BD59-A6C34878D82A}">
                    <a16:rowId xmlns:a16="http://schemas.microsoft.com/office/drawing/2014/main" val="797688889"/>
                  </a:ext>
                </a:extLst>
              </a:tr>
              <a:tr h="0">
                <a:tc>
                  <a:txBody>
                    <a:bodyPr/>
                    <a:lstStyle/>
                    <a:p>
                      <a:pPr>
                        <a:buNone/>
                      </a:pPr>
                      <a:r>
                        <a:rPr lang="en-US" sz="2800">
                          <a:latin typeface="Arial" panose="020B0604020202020204" pitchFamily="34" charset="0"/>
                          <a:cs typeface="Arial" panose="020B0604020202020204" pitchFamily="34" charset="0"/>
                        </a:rPr>
                        <a:t>5. Khẳng định bản thân</a:t>
                      </a:r>
                    </a:p>
                  </a:txBody>
                  <a:tcPr anchor="ctr"/>
                </a:tc>
                <a:tc>
                  <a:txBody>
                    <a:bodyPr/>
                    <a:lstStyle/>
                    <a:p>
                      <a:pPr>
                        <a:buNone/>
                      </a:pPr>
                      <a:r>
                        <a:rPr lang="en-US" sz="2800">
                          <a:latin typeface="Arial" panose="020B0604020202020204" pitchFamily="34" charset="0"/>
                          <a:cs typeface="Arial" panose="020B0604020202020204" pitchFamily="34" charset="0"/>
                        </a:rPr>
                        <a:t>Phát triển bản thân, kiến thức, kỹ năng</a:t>
                      </a:r>
                    </a:p>
                  </a:txBody>
                  <a:tcPr anchor="ctr"/>
                </a:tc>
                <a:tc>
                  <a:txBody>
                    <a:bodyPr/>
                    <a:lstStyle/>
                    <a:p>
                      <a:pPr>
                        <a:buNone/>
                      </a:pPr>
                      <a:r>
                        <a:rPr lang="en-US" sz="2800">
                          <a:latin typeface="Arial" panose="020B0604020202020204" pitchFamily="34" charset="0"/>
                          <a:cs typeface="Arial" panose="020B0604020202020204" pitchFamily="34" charset="0"/>
                        </a:rPr>
                        <a:t>Học tập, du lịch, trải nghiệm</a:t>
                      </a:r>
                    </a:p>
                  </a:txBody>
                  <a:tcPr anchor="ctr"/>
                </a:tc>
                <a:extLst>
                  <a:ext uri="{0D108BD9-81ED-4DB2-BD59-A6C34878D82A}">
                    <a16:rowId xmlns:a16="http://schemas.microsoft.com/office/drawing/2014/main" val="1107045826"/>
                  </a:ext>
                </a:extLst>
              </a:tr>
              <a:tr h="0">
                <a:tc>
                  <a:txBody>
                    <a:bodyPr/>
                    <a:lstStyle/>
                    <a:p>
                      <a:pPr>
                        <a:buNone/>
                      </a:pPr>
                      <a:r>
                        <a:rPr lang="en-US" sz="2800">
                          <a:latin typeface="Arial" panose="020B0604020202020204" pitchFamily="34" charset="0"/>
                          <a:cs typeface="Arial" panose="020B0604020202020204" pitchFamily="34" charset="0"/>
                        </a:rPr>
                        <a:t>4. </a:t>
                      </a:r>
                      <a:r>
                        <a:rPr lang="en-US" sz="2800" err="1">
                          <a:latin typeface="Arial" panose="020B0604020202020204" pitchFamily="34" charset="0"/>
                          <a:cs typeface="Arial" panose="020B0604020202020204" pitchFamily="34" charset="0"/>
                        </a:rPr>
                        <a:t>Thể</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hiện</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bản</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thân</a:t>
                      </a:r>
                      <a:endParaRPr lang="en-US" sz="2800">
                        <a:latin typeface="Arial" panose="020B0604020202020204" pitchFamily="34" charset="0"/>
                        <a:cs typeface="Arial" panose="020B0604020202020204" pitchFamily="34" charset="0"/>
                      </a:endParaRPr>
                    </a:p>
                  </a:txBody>
                  <a:tcPr anchor="ctr"/>
                </a:tc>
                <a:tc>
                  <a:txBody>
                    <a:bodyPr/>
                    <a:lstStyle/>
                    <a:p>
                      <a:pPr>
                        <a:buNone/>
                      </a:pPr>
                      <a:r>
                        <a:rPr lang="en-US" sz="2800" err="1">
                          <a:latin typeface="Arial" panose="020B0604020202020204" pitchFamily="34" charset="0"/>
                          <a:cs typeface="Arial" panose="020B0604020202020204" pitchFamily="34" charset="0"/>
                        </a:rPr>
                        <a:t>Được</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công</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nhận</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thành</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đạt</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hình</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ảnh</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cá</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nhân</a:t>
                      </a:r>
                      <a:endParaRPr lang="en-US" sz="2800">
                        <a:latin typeface="Arial" panose="020B0604020202020204" pitchFamily="34" charset="0"/>
                        <a:cs typeface="Arial" panose="020B0604020202020204" pitchFamily="34" charset="0"/>
                      </a:endParaRPr>
                    </a:p>
                  </a:txBody>
                  <a:tcPr anchor="ctr"/>
                </a:tc>
                <a:tc>
                  <a:txBody>
                    <a:bodyPr/>
                    <a:lstStyle/>
                    <a:p>
                      <a:pPr>
                        <a:buNone/>
                      </a:pPr>
                      <a:r>
                        <a:rPr lang="en-US" sz="2800">
                          <a:latin typeface="Arial" panose="020B0604020202020204" pitchFamily="34" charset="0"/>
                          <a:cs typeface="Arial" panose="020B0604020202020204" pitchFamily="34" charset="0"/>
                        </a:rPr>
                        <a:t>Xe sang, thời trang, hàng cao cấp</a:t>
                      </a:r>
                    </a:p>
                  </a:txBody>
                  <a:tcPr anchor="ctr"/>
                </a:tc>
                <a:extLst>
                  <a:ext uri="{0D108BD9-81ED-4DB2-BD59-A6C34878D82A}">
                    <a16:rowId xmlns:a16="http://schemas.microsoft.com/office/drawing/2014/main" val="3970789278"/>
                  </a:ext>
                </a:extLst>
              </a:tr>
              <a:tr h="0">
                <a:tc>
                  <a:txBody>
                    <a:bodyPr/>
                    <a:lstStyle/>
                    <a:p>
                      <a:pPr>
                        <a:buNone/>
                      </a:pPr>
                      <a:r>
                        <a:rPr lang="en-US" sz="2800">
                          <a:latin typeface="Arial" panose="020B0604020202020204" pitchFamily="34" charset="0"/>
                          <a:cs typeface="Arial" panose="020B0604020202020204" pitchFamily="34" charset="0"/>
                        </a:rPr>
                        <a:t>3. Xã hội</a:t>
                      </a:r>
                    </a:p>
                  </a:txBody>
                  <a:tcPr anchor="ctr"/>
                </a:tc>
                <a:tc>
                  <a:txBody>
                    <a:bodyPr/>
                    <a:lstStyle/>
                    <a:p>
                      <a:pPr>
                        <a:buNone/>
                      </a:pPr>
                      <a:r>
                        <a:rPr lang="en-US" sz="2800">
                          <a:latin typeface="Arial" panose="020B0604020202020204" pitchFamily="34" charset="0"/>
                          <a:cs typeface="Arial" panose="020B0604020202020204" pitchFamily="34" charset="0"/>
                        </a:rPr>
                        <a:t>Kết nối, tình cảm, thuộc về một nhóm</a:t>
                      </a:r>
                    </a:p>
                  </a:txBody>
                  <a:tcPr anchor="ctr"/>
                </a:tc>
                <a:tc>
                  <a:txBody>
                    <a:bodyPr/>
                    <a:lstStyle/>
                    <a:p>
                      <a:pPr>
                        <a:buNone/>
                      </a:pPr>
                      <a:r>
                        <a:rPr lang="en-US" sz="2800">
                          <a:latin typeface="Arial" panose="020B0604020202020204" pitchFamily="34" charset="0"/>
                          <a:cs typeface="Arial" panose="020B0604020202020204" pitchFamily="34" charset="0"/>
                        </a:rPr>
                        <a:t>Quà tặng, sản phẩm cộng đồng</a:t>
                      </a:r>
                    </a:p>
                  </a:txBody>
                  <a:tcPr anchor="ctr"/>
                </a:tc>
                <a:extLst>
                  <a:ext uri="{0D108BD9-81ED-4DB2-BD59-A6C34878D82A}">
                    <a16:rowId xmlns:a16="http://schemas.microsoft.com/office/drawing/2014/main" val="1173818113"/>
                  </a:ext>
                </a:extLst>
              </a:tr>
              <a:tr h="0">
                <a:tc>
                  <a:txBody>
                    <a:bodyPr/>
                    <a:lstStyle/>
                    <a:p>
                      <a:pPr>
                        <a:buNone/>
                      </a:pPr>
                      <a:r>
                        <a:rPr lang="en-US" sz="2800">
                          <a:latin typeface="Arial" panose="020B0604020202020204" pitchFamily="34" charset="0"/>
                          <a:cs typeface="Arial" panose="020B0604020202020204" pitchFamily="34" charset="0"/>
                        </a:rPr>
                        <a:t>2. An toàn</a:t>
                      </a:r>
                    </a:p>
                  </a:txBody>
                  <a:tcPr anchor="ctr"/>
                </a:tc>
                <a:tc>
                  <a:txBody>
                    <a:bodyPr/>
                    <a:lstStyle/>
                    <a:p>
                      <a:pPr>
                        <a:buNone/>
                      </a:pPr>
                      <a:r>
                        <a:rPr lang="en-US" sz="2800">
                          <a:latin typeface="Arial" panose="020B0604020202020204" pitchFamily="34" charset="0"/>
                          <a:cs typeface="Arial" panose="020B0604020202020204" pitchFamily="34" charset="0"/>
                        </a:rPr>
                        <a:t>Bảo vệ, ổn định, an toàn tài chính</a:t>
                      </a:r>
                    </a:p>
                  </a:txBody>
                  <a:tcPr anchor="ctr"/>
                </a:tc>
                <a:tc>
                  <a:txBody>
                    <a:bodyPr/>
                    <a:lstStyle/>
                    <a:p>
                      <a:pPr>
                        <a:buNone/>
                      </a:pPr>
                      <a:r>
                        <a:rPr lang="en-US" sz="2800">
                          <a:latin typeface="Arial" panose="020B0604020202020204" pitchFamily="34" charset="0"/>
                          <a:cs typeface="Arial" panose="020B0604020202020204" pitchFamily="34" charset="0"/>
                        </a:rPr>
                        <a:t>Bảo hiểm, sản phẩm bảo vệ</a:t>
                      </a:r>
                    </a:p>
                  </a:txBody>
                  <a:tcPr anchor="ctr"/>
                </a:tc>
                <a:extLst>
                  <a:ext uri="{0D108BD9-81ED-4DB2-BD59-A6C34878D82A}">
                    <a16:rowId xmlns:a16="http://schemas.microsoft.com/office/drawing/2014/main" val="2071462832"/>
                  </a:ext>
                </a:extLst>
              </a:tr>
              <a:tr h="0">
                <a:tc>
                  <a:txBody>
                    <a:bodyPr/>
                    <a:lstStyle/>
                    <a:p>
                      <a:pPr>
                        <a:buNone/>
                      </a:pPr>
                      <a:r>
                        <a:rPr lang="en-US" sz="2800">
                          <a:latin typeface="Arial" panose="020B0604020202020204" pitchFamily="34" charset="0"/>
                          <a:cs typeface="Arial" panose="020B0604020202020204" pitchFamily="34" charset="0"/>
                        </a:rPr>
                        <a:t>1. Sinh </a:t>
                      </a:r>
                      <a:r>
                        <a:rPr lang="en-US" sz="2800" err="1">
                          <a:latin typeface="Arial" panose="020B0604020202020204" pitchFamily="34" charset="0"/>
                          <a:cs typeface="Arial" panose="020B0604020202020204" pitchFamily="34" charset="0"/>
                        </a:rPr>
                        <a:t>lý</a:t>
                      </a:r>
                      <a:endParaRPr lang="en-US" sz="2800">
                        <a:latin typeface="Arial" panose="020B0604020202020204" pitchFamily="34" charset="0"/>
                        <a:cs typeface="Arial" panose="020B0604020202020204" pitchFamily="34" charset="0"/>
                      </a:endParaRPr>
                    </a:p>
                  </a:txBody>
                  <a:tcPr anchor="ctr"/>
                </a:tc>
                <a:tc>
                  <a:txBody>
                    <a:bodyPr/>
                    <a:lstStyle/>
                    <a:p>
                      <a:pPr>
                        <a:buNone/>
                      </a:pPr>
                      <a:r>
                        <a:rPr lang="en-US" sz="2800">
                          <a:latin typeface="Arial" panose="020B0604020202020204" pitchFamily="34" charset="0"/>
                          <a:cs typeface="Arial" panose="020B0604020202020204" pitchFamily="34" charset="0"/>
                        </a:rPr>
                        <a:t>Ăn, uống, ngủ, nghỉ ngơi</a:t>
                      </a:r>
                    </a:p>
                  </a:txBody>
                  <a:tcPr anchor="ctr"/>
                </a:tc>
                <a:tc>
                  <a:txBody>
                    <a:bodyPr/>
                    <a:lstStyle/>
                    <a:p>
                      <a:pPr>
                        <a:buNone/>
                      </a:pPr>
                      <a:r>
                        <a:rPr lang="en-US" sz="2800" err="1">
                          <a:latin typeface="Arial" panose="020B0604020202020204" pitchFamily="34" charset="0"/>
                          <a:cs typeface="Arial" panose="020B0604020202020204" pitchFamily="34" charset="0"/>
                        </a:rPr>
                        <a:t>Thực</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phẩm</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đồ</a:t>
                      </a:r>
                      <a:r>
                        <a:rPr lang="en-US" sz="2800">
                          <a:latin typeface="Arial" panose="020B0604020202020204" pitchFamily="34" charset="0"/>
                          <a:cs typeface="Arial" panose="020B0604020202020204" pitchFamily="34" charset="0"/>
                        </a:rPr>
                        <a:t> </a:t>
                      </a:r>
                      <a:r>
                        <a:rPr lang="en-US" sz="2800" err="1">
                          <a:latin typeface="Arial" panose="020B0604020202020204" pitchFamily="34" charset="0"/>
                          <a:cs typeface="Arial" panose="020B0604020202020204" pitchFamily="34" charset="0"/>
                        </a:rPr>
                        <a:t>uống</a:t>
                      </a:r>
                      <a:endParaRPr lang="en-US" sz="28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498343133"/>
                  </a:ext>
                </a:extLst>
              </a:tr>
            </a:tbl>
          </a:graphicData>
        </a:graphic>
      </p:graphicFrame>
    </p:spTree>
    <p:extLst>
      <p:ext uri="{BB962C8B-B14F-4D97-AF65-F5344CB8AC3E}">
        <p14:creationId xmlns:p14="http://schemas.microsoft.com/office/powerpoint/2010/main" val="9647868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5BC12-AD0F-D4E4-59BC-AE8BBB6CB36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5836C6-E264-D222-103F-EEC862DD0606}"/>
              </a:ext>
            </a:extLst>
          </p:cNvPr>
          <p:cNvSpPr>
            <a:spLocks noGrp="1"/>
          </p:cNvSpPr>
          <p:nvPr>
            <p:ph idx="1"/>
          </p:nvPr>
        </p:nvSpPr>
        <p:spPr>
          <a:xfrm>
            <a:off x="344311" y="1825625"/>
            <a:ext cx="11232445" cy="4351338"/>
          </a:xfrm>
        </p:spPr>
        <p:txBody>
          <a:bodyPr>
            <a:noAutofit/>
          </a:bodyPr>
          <a:lstStyle/>
          <a:p>
            <a:pPr marL="0" indent="0" algn="just">
              <a:spcBef>
                <a:spcPts val="0"/>
              </a:spcBef>
              <a:buNone/>
            </a:pPr>
            <a:r>
              <a:rPr lang="en-US">
                <a:latin typeface="Arial" panose="020B0604020202020204" pitchFamily="34" charset="0"/>
                <a:cs typeface="Arial" panose="020B0604020202020204" pitchFamily="34" charset="0"/>
              </a:rPr>
              <a:t>Maslow </a:t>
            </a:r>
            <a:r>
              <a:rPr lang="en-US" err="1">
                <a:latin typeface="Arial" panose="020B0604020202020204" pitchFamily="34" charset="0"/>
                <a:cs typeface="Arial" panose="020B0604020202020204" pitchFamily="34" charset="0"/>
              </a:rPr>
              <a:t>không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chỉ</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giải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thích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khách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hàng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cần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gì</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còn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giúp</a:t>
            </a:r>
            <a:r>
              <a:rPr lang="en-US">
                <a:latin typeface="Arial" panose="020B0604020202020204" pitchFamily="34" charset="0"/>
                <a:cs typeface="Arial" panose="020B0604020202020204" pitchFamily="34" charset="0"/>
              </a:rPr>
              <a:t> marketer </a:t>
            </a:r>
            <a:r>
              <a:rPr lang="en-US" err="1">
                <a:latin typeface="Arial" panose="020B0604020202020204" pitchFamily="34" charset="0"/>
                <a:cs typeface="Arial" panose="020B0604020202020204" pitchFamily="34" charset="0"/>
              </a:rPr>
              <a:t>tạo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giá</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trị</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cao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hơn</a:t>
            </a:r>
            <a:r>
              <a:rPr lang="en-US">
                <a:latin typeface="Arial" panose="020B0604020202020204" pitchFamily="34" charset="0"/>
                <a:cs typeface="Arial" panose="020B0604020202020204" pitchFamily="34" charset="0"/>
              </a:rPr>
              <a:t>.</a:t>
            </a:r>
          </a:p>
          <a:p>
            <a:pPr marL="0" indent="0">
              <a:buNone/>
            </a:pPr>
            <a:r>
              <a:rPr lang="en-US" b="1">
                <a:latin typeface="Arial" panose="020B0604020202020204" pitchFamily="34" charset="0"/>
                <a:cs typeface="Arial" panose="020B0604020202020204" pitchFamily="34" charset="0"/>
              </a:rPr>
              <a:t>① </a:t>
            </a:r>
            <a:r>
              <a:rPr lang="en-US" b="1" err="1">
                <a:latin typeface="Arial" panose="020B0604020202020204" pitchFamily="34" charset="0"/>
                <a:cs typeface="Arial" panose="020B0604020202020204" pitchFamily="34" charset="0"/>
              </a:rPr>
              <a:t>Nâng</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cao</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giá</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trị</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sản</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phẩm</a:t>
            </a:r>
            <a:r>
              <a:rPr lang="en-US" b="1">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Một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sản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phẩm</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có</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thể</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được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định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vị</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để</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đáp</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ứng</a:t>
            </a:r>
            <a:r>
              <a:rPr lang="en-US">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nhiều</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cấp</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độ</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nhu</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cầu</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khác</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nhau</a:t>
            </a:r>
            <a:r>
              <a:rPr lang="en-US">
                <a:latin typeface="Arial" panose="020B0604020202020204" pitchFamily="34" charset="0"/>
                <a:cs typeface="Arial" panose="020B0604020202020204" pitchFamily="34" charset="0"/>
              </a:rPr>
              <a:t>.</a:t>
            </a:r>
          </a:p>
          <a:p>
            <a:pPr marL="0" indent="0">
              <a:buNone/>
            </a:pPr>
            <a:r>
              <a:rPr lang="en-US" b="1">
                <a:latin typeface="Arial" panose="020B0604020202020204" pitchFamily="34" charset="0"/>
                <a:cs typeface="Arial" panose="020B0604020202020204" pitchFamily="34" charset="0"/>
              </a:rPr>
              <a:t>② </a:t>
            </a:r>
            <a:r>
              <a:rPr lang="en-US" b="1" err="1">
                <a:latin typeface="Arial" panose="020B0604020202020204" pitchFamily="34" charset="0"/>
                <a:cs typeface="Arial" panose="020B0604020202020204" pitchFamily="34" charset="0"/>
              </a:rPr>
              <a:t>Phân</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khúc</a:t>
            </a:r>
            <a:r>
              <a:rPr lang="en-US" b="1">
                <a:latin typeface="Arial" panose="020B0604020202020204" pitchFamily="34" charset="0"/>
                <a:cs typeface="Arial" panose="020B0604020202020204" pitchFamily="34" charset="0"/>
              </a:rPr>
              <a:t> &amp; </a:t>
            </a:r>
            <a:r>
              <a:rPr lang="en-US" b="1" err="1">
                <a:latin typeface="Arial" panose="020B0604020202020204" pitchFamily="34" charset="0"/>
                <a:cs typeface="Arial" panose="020B0604020202020204" pitchFamily="34" charset="0"/>
              </a:rPr>
              <a:t>định</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vị</a:t>
            </a:r>
            <a:r>
              <a:rPr lang="en-US" b="1">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Phân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khúc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khách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hàng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theo</a:t>
            </a:r>
            <a:r>
              <a:rPr lang="en-US">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nhu</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cầu</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mà</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họ</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muốn</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thỏa</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mãn</a:t>
            </a:r>
            <a:r>
              <a:rPr lang="en-US">
                <a:latin typeface="Arial" panose="020B0604020202020204" pitchFamily="34" charset="0"/>
                <a:cs typeface="Arial" panose="020B0604020202020204" pitchFamily="34" charset="0"/>
              </a:rPr>
              <a:t> → </a:t>
            </a:r>
            <a:r>
              <a:rPr lang="en-US" err="1">
                <a:latin typeface="Arial" panose="020B0604020202020204" pitchFamily="34" charset="0"/>
                <a:cs typeface="Arial" panose="020B0604020202020204" pitchFamily="34" charset="0"/>
              </a:rPr>
              <a:t>lựa</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chọn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định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vị</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phù</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hợp</a:t>
            </a:r>
            <a:r>
              <a:rPr lang="en-US">
                <a:latin typeface="Arial" panose="020B0604020202020204" pitchFamily="34" charset="0"/>
                <a:cs typeface="Arial" panose="020B0604020202020204" pitchFamily="34" charset="0"/>
              </a:rPr>
              <a:t>.</a:t>
            </a:r>
          </a:p>
          <a:p>
            <a:pPr marL="0" indent="0">
              <a:buNone/>
            </a:pPr>
            <a:r>
              <a:rPr lang="en-US" b="1">
                <a:latin typeface="Arial" panose="020B0604020202020204" pitchFamily="34" charset="0"/>
                <a:cs typeface="Arial" panose="020B0604020202020204" pitchFamily="34" charset="0"/>
              </a:rPr>
              <a:t>③ </a:t>
            </a:r>
            <a:r>
              <a:rPr lang="en-US" b="1" err="1">
                <a:latin typeface="Arial" panose="020B0604020202020204" pitchFamily="34" charset="0"/>
                <a:cs typeface="Arial" panose="020B0604020202020204" pitchFamily="34" charset="0"/>
              </a:rPr>
              <a:t>Truyền</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thông</a:t>
            </a:r>
            <a:r>
              <a:rPr lang="en-US" b="1">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Xây</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dựng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thông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điệp</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dựa</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trên</a:t>
            </a:r>
            <a:r>
              <a:rPr lang="en-US">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nhu</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cầu</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sâu</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hơn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của</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người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tiêu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dùng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thay</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vì</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chỉ</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nói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về</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tính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năng</a:t>
            </a:r>
            <a:r>
              <a:rPr lang="en-US">
                <a:latin typeface="Arial" panose="020B0604020202020204" pitchFamily="34" charset="0"/>
                <a:cs typeface="Arial" panose="020B0604020202020204" pitchFamily="34" charset="0"/>
              </a:rPr>
              <a:t>.</a:t>
            </a:r>
          </a:p>
          <a:p>
            <a:pPr marL="0" indent="0" algn="just">
              <a:spcBef>
                <a:spcPts val="0"/>
              </a:spcBef>
              <a:buNone/>
            </a:pPr>
            <a:endParaRPr lang="vi-VN">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C87D6E43-BA53-7240-067F-576B4FCB0E7D}"/>
              </a:ext>
            </a:extLst>
          </p:cNvPr>
          <p:cNvSpPr>
            <a:spLocks noGrp="1"/>
          </p:cNvSpPr>
          <p:nvPr>
            <p:ph type="title"/>
          </p:nvPr>
        </p:nvSpPr>
        <p:spPr>
          <a:xfrm>
            <a:off x="239889" y="238354"/>
            <a:ext cx="10515600" cy="1325563"/>
          </a:xfrm>
        </p:spPr>
        <p:txBody>
          <a:bodyPr vert="horz" lIns="91440" tIns="45720" rIns="91440" bIns="45720" rtlCol="0" anchor="b">
            <a:normAutofit/>
          </a:bodyPr>
          <a:lstStyle/>
          <a:p>
            <a:pPr marL="457200" indent="-342900" algn="just">
              <a:lnSpc>
                <a:spcPct val="150000"/>
              </a:lnSpc>
              <a:buFont typeface="Wingdings" pitchFamily="2" charset="2"/>
              <a:buChar char="Ø"/>
            </a:pPr>
            <a:r>
              <a:rPr lang="en-US" sz="2800" i="1" err="1">
                <a:latin typeface="Arial" panose="020B0604020202020204" pitchFamily="34" charset="0"/>
                <a:cs typeface="Arial" panose="020B0604020202020204" pitchFamily="34" charset="0"/>
              </a:rPr>
              <a:t>Ứng</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dụng</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lý</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thuyết</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của</a:t>
            </a:r>
            <a:r>
              <a:rPr lang="en-US" sz="2800" i="1">
                <a:latin typeface="Arial" panose="020B0604020202020204" pitchFamily="34" charset="0"/>
                <a:cs typeface="Arial" panose="020B0604020202020204" pitchFamily="34" charset="0"/>
              </a:rPr>
              <a:t> Maslow </a:t>
            </a:r>
            <a:r>
              <a:rPr lang="en-US" sz="2800" i="1" err="1">
                <a:latin typeface="Arial" panose="020B0604020202020204" pitchFamily="34" charset="0"/>
                <a:cs typeface="Arial" panose="020B0604020202020204" pitchFamily="34" charset="0"/>
              </a:rPr>
              <a:t>vào</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chiến</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lược</a:t>
            </a:r>
            <a:r>
              <a:rPr lang="en-US" sz="2800" i="1">
                <a:latin typeface="Arial" panose="020B0604020202020204" pitchFamily="34" charset="0"/>
                <a:cs typeface="Arial" panose="020B0604020202020204" pitchFamily="34" charset="0"/>
              </a:rPr>
              <a:t> Marketing</a:t>
            </a:r>
          </a:p>
        </p:txBody>
      </p:sp>
    </p:spTree>
    <p:extLst>
      <p:ext uri="{BB962C8B-B14F-4D97-AF65-F5344CB8AC3E}">
        <p14:creationId xmlns:p14="http://schemas.microsoft.com/office/powerpoint/2010/main" val="86009570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CC047-E898-B055-8372-0044A55B41A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00EDE9D-42AD-81A2-4905-2412C61B8999}"/>
              </a:ext>
            </a:extLst>
          </p:cNvPr>
          <p:cNvSpPr txBox="1">
            <a:spLocks/>
          </p:cNvSpPr>
          <p:nvPr/>
        </p:nvSpPr>
        <p:spPr>
          <a:xfrm>
            <a:off x="428978" y="-557513"/>
            <a:ext cx="10515600"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342900" algn="just">
              <a:lnSpc>
                <a:spcPct val="150000"/>
              </a:lnSpc>
              <a:spcBef>
                <a:spcPts val="0"/>
              </a:spcBef>
              <a:buClr>
                <a:schemeClr val="dk1"/>
              </a:buClr>
              <a:buSzPts val="1800"/>
              <a:buFont typeface="Wingdings" pitchFamily="2" charset="2"/>
              <a:buChar char="Ø"/>
            </a:pPr>
            <a:r>
              <a:rPr lang="en-US" sz="2800" i="1" err="1">
                <a:solidFill>
                  <a:schemeClr val="dk1"/>
                </a:solidFill>
                <a:latin typeface="Arial" panose="020B0604020202020204" pitchFamily="34" charset="0"/>
                <a:cs typeface="Arial" panose="020B0604020202020204" pitchFamily="34" charset="0"/>
              </a:rPr>
              <a:t>Thuyết</a:t>
            </a:r>
            <a:r>
              <a:rPr lang="en-US" sz="2800" i="1">
                <a:solidFill>
                  <a:schemeClr val="dk1"/>
                </a:solidFill>
                <a:latin typeface="Arial" panose="020B0604020202020204" pitchFamily="34" charset="0"/>
                <a:cs typeface="Arial" panose="020B0604020202020204" pitchFamily="34" charset="0"/>
              </a:rPr>
              <a:t> </a:t>
            </a:r>
            <a:r>
              <a:rPr lang="en-US" sz="2800" i="1" err="1">
                <a:solidFill>
                  <a:schemeClr val="dk1"/>
                </a:solidFill>
                <a:latin typeface="Arial" panose="020B0604020202020204" pitchFamily="34" charset="0"/>
                <a:cs typeface="Arial" panose="020B0604020202020204" pitchFamily="34" charset="0"/>
              </a:rPr>
              <a:t>nhu</a:t>
            </a:r>
            <a:r>
              <a:rPr lang="en-US" sz="2800" i="1">
                <a:solidFill>
                  <a:schemeClr val="dk1"/>
                </a:solidFill>
                <a:latin typeface="Arial" panose="020B0604020202020204" pitchFamily="34" charset="0"/>
                <a:cs typeface="Arial" panose="020B0604020202020204" pitchFamily="34" charset="0"/>
              </a:rPr>
              <a:t> </a:t>
            </a:r>
            <a:r>
              <a:rPr lang="en-US" sz="2800" i="1" err="1">
                <a:solidFill>
                  <a:schemeClr val="dk1"/>
                </a:solidFill>
                <a:latin typeface="Arial" panose="020B0604020202020204" pitchFamily="34" charset="0"/>
                <a:cs typeface="Arial" panose="020B0604020202020204" pitchFamily="34" charset="0"/>
              </a:rPr>
              <a:t>cầu</a:t>
            </a:r>
            <a:r>
              <a:rPr lang="en-US" sz="2800" i="1">
                <a:solidFill>
                  <a:schemeClr val="dk1"/>
                </a:solidFill>
                <a:latin typeface="Arial" panose="020B0604020202020204" pitchFamily="34" charset="0"/>
                <a:cs typeface="Arial" panose="020B0604020202020204" pitchFamily="34" charset="0"/>
              </a:rPr>
              <a:t> Murray &amp; Edwards</a:t>
            </a:r>
          </a:p>
        </p:txBody>
      </p:sp>
      <p:sp>
        <p:nvSpPr>
          <p:cNvPr id="10" name="TextBox 9">
            <a:extLst>
              <a:ext uri="{FF2B5EF4-FFF2-40B4-BE49-F238E27FC236}">
                <a16:creationId xmlns:a16="http://schemas.microsoft.com/office/drawing/2014/main" id="{5878CBC7-C33A-20D4-7624-1ECD5F019F4B}"/>
              </a:ext>
            </a:extLst>
          </p:cNvPr>
          <p:cNvSpPr txBox="1"/>
          <p:nvPr/>
        </p:nvSpPr>
        <p:spPr>
          <a:xfrm>
            <a:off x="381000" y="779906"/>
            <a:ext cx="8573911" cy="769441"/>
          </a:xfrm>
          <a:prstGeom prst="rect">
            <a:avLst/>
          </a:prstGeom>
          <a:noFill/>
        </p:spPr>
        <p:txBody>
          <a:bodyPr wrap="square">
            <a:spAutoFit/>
          </a:bodyPr>
          <a:lstStyle/>
          <a:p>
            <a:r>
              <a:rPr lang="en-US" sz="2200" b="1">
                <a:latin typeface="Arial" panose="020B0604020202020204" pitchFamily="34" charset="0"/>
                <a:cs typeface="Arial" panose="020B0604020202020204" pitchFamily="34" charset="0"/>
              </a:rPr>
              <a:t>Murray (1938)</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cho</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rằng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hành</a:t>
            </a:r>
            <a:r>
              <a:rPr lang="en-US" sz="2200">
                <a:latin typeface="Arial" panose="020B0604020202020204" pitchFamily="34" charset="0"/>
                <a:cs typeface="Arial" panose="020B0604020202020204" pitchFamily="34" charset="0"/>
              </a:rPr>
              <a:t> vi con </a:t>
            </a:r>
            <a:r>
              <a:rPr lang="en-US" sz="2200" err="1">
                <a:latin typeface="Arial" panose="020B0604020202020204" pitchFamily="34" charset="0"/>
                <a:cs typeface="Arial" panose="020B0604020202020204" pitchFamily="34" charset="0"/>
              </a:rPr>
              <a:t>người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được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thúc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đẩy</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bởi</a:t>
            </a:r>
            <a:r>
              <a:rPr lang="en-US" sz="2200">
                <a:latin typeface="Arial" panose="020B0604020202020204" pitchFamily="34" charset="0"/>
                <a:cs typeface="Arial" panose="020B0604020202020204" pitchFamily="34" charset="0"/>
              </a:rPr>
              <a:t> </a:t>
            </a:r>
            <a:r>
              <a:rPr lang="en-US" sz="2200" b="1">
                <a:latin typeface="Arial" panose="020B0604020202020204" pitchFamily="34" charset="0"/>
                <a:cs typeface="Arial" panose="020B0604020202020204" pitchFamily="34" charset="0"/>
              </a:rPr>
              <a:t>5 </a:t>
            </a:r>
            <a:r>
              <a:rPr lang="en-US" sz="2200" b="1" err="1">
                <a:latin typeface="Arial" panose="020B0604020202020204" pitchFamily="34" charset="0"/>
                <a:cs typeface="Arial" panose="020B0604020202020204" pitchFamily="34" charset="0"/>
              </a:rPr>
              <a:t>nhóm</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nhu</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cầu</a:t>
            </a:r>
            <a:r>
              <a:rPr lang="en-US" sz="2200">
                <a:latin typeface="Arial" panose="020B0604020202020204" pitchFamily="34" charset="0"/>
                <a:cs typeface="Arial" panose="020B0604020202020204" pitchFamily="34" charset="0"/>
              </a:rPr>
              <a:t>:</a:t>
            </a:r>
          </a:p>
        </p:txBody>
      </p:sp>
      <p:graphicFrame>
        <p:nvGraphicFramePr>
          <p:cNvPr id="11" name="Table 10">
            <a:extLst>
              <a:ext uri="{FF2B5EF4-FFF2-40B4-BE49-F238E27FC236}">
                <a16:creationId xmlns:a16="http://schemas.microsoft.com/office/drawing/2014/main" id="{775B36F1-755C-51B3-0BAA-E7CB1AF67429}"/>
              </a:ext>
            </a:extLst>
          </p:cNvPr>
          <p:cNvGraphicFramePr>
            <a:graphicFrameLocks noGrp="1"/>
          </p:cNvGraphicFramePr>
          <p:nvPr/>
        </p:nvGraphicFramePr>
        <p:xfrm>
          <a:off x="381000" y="1549347"/>
          <a:ext cx="10515600" cy="256032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1314173719"/>
                    </a:ext>
                  </a:extLst>
                </a:gridCol>
                <a:gridCol w="5257800">
                  <a:extLst>
                    <a:ext uri="{9D8B030D-6E8A-4147-A177-3AD203B41FA5}">
                      <a16:colId xmlns:a16="http://schemas.microsoft.com/office/drawing/2014/main" val="4264805916"/>
                    </a:ext>
                  </a:extLst>
                </a:gridCol>
              </a:tblGrid>
              <a:tr h="0">
                <a:tc>
                  <a:txBody>
                    <a:bodyPr/>
                    <a:lstStyle/>
                    <a:p>
                      <a:pPr>
                        <a:buNone/>
                      </a:pPr>
                      <a:r>
                        <a:rPr lang="en-US" sz="2200" err="1">
                          <a:latin typeface="Arial" panose="020B0604020202020204" pitchFamily="34" charset="0"/>
                          <a:cs typeface="Arial" panose="020B0604020202020204" pitchFamily="34" charset="0"/>
                        </a:rPr>
                        <a:t>Nhóm</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cầu</a:t>
                      </a:r>
                      <a:endParaRPr lang="en-US" sz="2200">
                        <a:latin typeface="Arial" panose="020B0604020202020204" pitchFamily="34" charset="0"/>
                        <a:cs typeface="Arial" panose="020B0604020202020204" pitchFamily="34" charset="0"/>
                      </a:endParaRPr>
                    </a:p>
                  </a:txBody>
                  <a:tcPr anchor="ctr"/>
                </a:tc>
                <a:tc>
                  <a:txBody>
                    <a:bodyPr/>
                    <a:lstStyle/>
                    <a:p>
                      <a:pPr>
                        <a:buNone/>
                      </a:pPr>
                      <a:r>
                        <a:rPr lang="en-US" sz="2200">
                          <a:latin typeface="Arial" panose="020B0604020202020204" pitchFamily="34" charset="0"/>
                          <a:cs typeface="Arial" panose="020B0604020202020204" pitchFamily="34" charset="0"/>
                        </a:rPr>
                        <a:t>Ý nghĩa ngắn gọn</a:t>
                      </a:r>
                    </a:p>
                  </a:txBody>
                  <a:tcPr anchor="ctr"/>
                </a:tc>
                <a:extLst>
                  <a:ext uri="{0D108BD9-81ED-4DB2-BD59-A6C34878D82A}">
                    <a16:rowId xmlns:a16="http://schemas.microsoft.com/office/drawing/2014/main" val="2384076596"/>
                  </a:ext>
                </a:extLst>
              </a:tr>
              <a:tr h="0">
                <a:tc>
                  <a:txBody>
                    <a:bodyPr/>
                    <a:lstStyle/>
                    <a:p>
                      <a:pPr>
                        <a:buNone/>
                      </a:pPr>
                      <a:r>
                        <a:rPr lang="en-US" sz="2200">
                          <a:latin typeface="Arial" panose="020B0604020202020204" pitchFamily="34" charset="0"/>
                          <a:cs typeface="Arial" panose="020B0604020202020204" pitchFamily="34" charset="0"/>
                        </a:rPr>
                        <a:t>🏆 Tham vọng</a:t>
                      </a:r>
                    </a:p>
                  </a:txBody>
                  <a:tcPr anchor="ctr"/>
                </a:tc>
                <a:tc>
                  <a:txBody>
                    <a:bodyPr/>
                    <a:lstStyle/>
                    <a:p>
                      <a:pPr>
                        <a:buNone/>
                      </a:pPr>
                      <a:r>
                        <a:rPr lang="en-US" sz="2200">
                          <a:latin typeface="Arial" panose="020B0604020202020204" pitchFamily="34" charset="0"/>
                          <a:cs typeface="Arial" panose="020B0604020202020204" pitchFamily="34" charset="0"/>
                        </a:rPr>
                        <a:t>Thành </a:t>
                      </a:r>
                      <a:r>
                        <a:rPr lang="en-US" sz="2200" err="1">
                          <a:latin typeface="Arial" panose="020B0604020202020204" pitchFamily="34" charset="0"/>
                          <a:cs typeface="Arial" panose="020B0604020202020204" pitchFamily="34" charset="0"/>
                        </a:rPr>
                        <a:t>tích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phát</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triển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đạt</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mục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tiêu</a:t>
                      </a:r>
                      <a:endParaRPr lang="en-US" sz="22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482864283"/>
                  </a:ext>
                </a:extLst>
              </a:tr>
              <a:tr h="0">
                <a:tc>
                  <a:txBody>
                    <a:bodyPr/>
                    <a:lstStyle/>
                    <a:p>
                      <a:pPr>
                        <a:buNone/>
                      </a:pPr>
                      <a:r>
                        <a:rPr lang="en-US" sz="2200">
                          <a:latin typeface="Arial" panose="020B0604020202020204" pitchFamily="34" charset="0"/>
                          <a:cs typeface="Arial" panose="020B0604020202020204" pitchFamily="34" charset="0"/>
                        </a:rPr>
                        <a:t>💎 Vật chất</a:t>
                      </a:r>
                    </a:p>
                  </a:txBody>
                  <a:tcPr anchor="ctr"/>
                </a:tc>
                <a:tc>
                  <a:txBody>
                    <a:bodyPr/>
                    <a:lstStyle/>
                    <a:p>
                      <a:pPr>
                        <a:buNone/>
                      </a:pPr>
                      <a:r>
                        <a:rPr lang="en-US" sz="2200" err="1">
                          <a:latin typeface="Arial" panose="020B0604020202020204" pitchFamily="34" charset="0"/>
                          <a:cs typeface="Arial" panose="020B0604020202020204" pitchFamily="34" charset="0"/>
                        </a:rPr>
                        <a:t>Sở</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hữu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hưởng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thụ</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vật</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chất</a:t>
                      </a:r>
                      <a:endParaRPr lang="en-US" sz="22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251819363"/>
                  </a:ext>
                </a:extLst>
              </a:tr>
              <a:tr h="0">
                <a:tc>
                  <a:txBody>
                    <a:bodyPr/>
                    <a:lstStyle/>
                    <a:p>
                      <a:pPr>
                        <a:buNone/>
                      </a:pPr>
                      <a:r>
                        <a:rPr lang="en-US" sz="2200">
                          <a:latin typeface="Arial" panose="020B0604020202020204" pitchFamily="34" charset="0"/>
                          <a:cs typeface="Arial" panose="020B0604020202020204" pitchFamily="34" charset="0"/>
                        </a:rPr>
                        <a:t>👑 Quyền lực</a:t>
                      </a:r>
                    </a:p>
                  </a:txBody>
                  <a:tcPr anchor="ctr"/>
                </a:tc>
                <a:tc>
                  <a:txBody>
                    <a:bodyPr/>
                    <a:lstStyle/>
                    <a:p>
                      <a:pPr>
                        <a:buNone/>
                      </a:pPr>
                      <a:r>
                        <a:rPr lang="en-US" sz="2200">
                          <a:latin typeface="Arial" panose="020B0604020202020204" pitchFamily="34" charset="0"/>
                          <a:cs typeface="Arial" panose="020B0604020202020204" pitchFamily="34" charset="0"/>
                        </a:rPr>
                        <a:t>Ảnh hưởng, kiểm soát người khác</a:t>
                      </a:r>
                    </a:p>
                  </a:txBody>
                  <a:tcPr anchor="ctr"/>
                </a:tc>
                <a:extLst>
                  <a:ext uri="{0D108BD9-81ED-4DB2-BD59-A6C34878D82A}">
                    <a16:rowId xmlns:a16="http://schemas.microsoft.com/office/drawing/2014/main" val="2614561030"/>
                  </a:ext>
                </a:extLst>
              </a:tr>
              <a:tr h="0">
                <a:tc>
                  <a:txBody>
                    <a:bodyPr/>
                    <a:lstStyle/>
                    <a:p>
                      <a:pPr>
                        <a:buNone/>
                      </a:pP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Tình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cảm</a:t>
                      </a:r>
                      <a:endParaRPr lang="en-US" sz="2200">
                        <a:latin typeface="Arial" panose="020B0604020202020204" pitchFamily="34" charset="0"/>
                        <a:cs typeface="Arial" panose="020B0604020202020204" pitchFamily="34" charset="0"/>
                      </a:endParaRPr>
                    </a:p>
                  </a:txBody>
                  <a:tcPr anchor="ctr"/>
                </a:tc>
                <a:tc>
                  <a:txBody>
                    <a:bodyPr/>
                    <a:lstStyle/>
                    <a:p>
                      <a:pPr>
                        <a:buNone/>
                      </a:pPr>
                      <a:r>
                        <a:rPr lang="en-US" sz="2200">
                          <a:latin typeface="Arial" panose="020B0604020202020204" pitchFamily="34" charset="0"/>
                          <a:cs typeface="Arial" panose="020B0604020202020204" pitchFamily="34" charset="0"/>
                        </a:rPr>
                        <a:t>Quan </a:t>
                      </a:r>
                      <a:r>
                        <a:rPr lang="en-US" sz="2200" err="1">
                          <a:latin typeface="Arial" panose="020B0604020202020204" pitchFamily="34" charset="0"/>
                          <a:cs typeface="Arial" panose="020B0604020202020204" pitchFamily="34" charset="0"/>
                        </a:rPr>
                        <a:t>hệ</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yêu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thương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gắn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kết</a:t>
                      </a:r>
                      <a:endParaRPr lang="en-US" sz="22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394407700"/>
                  </a:ext>
                </a:extLst>
              </a:tr>
              <a:tr h="0">
                <a:tc>
                  <a:txBody>
                    <a:bodyPr/>
                    <a:lstStyle/>
                    <a:p>
                      <a:pPr>
                        <a:buNone/>
                      </a:pPr>
                      <a:r>
                        <a:rPr lang="en-US" sz="2200">
                          <a:latin typeface="Arial" panose="020B0604020202020204" pitchFamily="34" charset="0"/>
                          <a:cs typeface="Arial" panose="020B0604020202020204" pitchFamily="34" charset="0"/>
                        </a:rPr>
                        <a:t>💡 Thông tin</a:t>
                      </a:r>
                    </a:p>
                  </a:txBody>
                  <a:tcPr anchor="ctr"/>
                </a:tc>
                <a:tc>
                  <a:txBody>
                    <a:bodyPr/>
                    <a:lstStyle/>
                    <a:p>
                      <a:pPr>
                        <a:buNone/>
                      </a:pPr>
                      <a:r>
                        <a:rPr lang="en-US" sz="2200" err="1">
                          <a:latin typeface="Arial" panose="020B0604020202020204" pitchFamily="34" charset="0"/>
                          <a:cs typeface="Arial" panose="020B0604020202020204" pitchFamily="34" charset="0"/>
                        </a:rPr>
                        <a:t>Hiểu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biết</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khám</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phá</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kiến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thức</a:t>
                      </a:r>
                      <a:endParaRPr lang="en-US" sz="22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338988047"/>
                  </a:ext>
                </a:extLst>
              </a:tr>
            </a:tbl>
          </a:graphicData>
        </a:graphic>
      </p:graphicFrame>
      <p:sp>
        <p:nvSpPr>
          <p:cNvPr id="13" name="TextBox 12">
            <a:extLst>
              <a:ext uri="{FF2B5EF4-FFF2-40B4-BE49-F238E27FC236}">
                <a16:creationId xmlns:a16="http://schemas.microsoft.com/office/drawing/2014/main" id="{ADAB0201-9185-9F30-DA8E-063CA3772AC9}"/>
              </a:ext>
            </a:extLst>
          </p:cNvPr>
          <p:cNvSpPr txBox="1"/>
          <p:nvPr/>
        </p:nvSpPr>
        <p:spPr>
          <a:xfrm>
            <a:off x="222954" y="4135598"/>
            <a:ext cx="11588046" cy="769441"/>
          </a:xfrm>
          <a:prstGeom prst="rect">
            <a:avLst/>
          </a:prstGeom>
          <a:noFill/>
        </p:spPr>
        <p:txBody>
          <a:bodyPr wrap="square">
            <a:spAutoFit/>
          </a:bodyPr>
          <a:lstStyle/>
          <a:p>
            <a:r>
              <a:rPr lang="en-US" sz="2200">
                <a:latin typeface="Arial" panose="020B0604020202020204" pitchFamily="34" charset="0"/>
                <a:cs typeface="Arial" panose="020B0604020202020204" pitchFamily="34" charset="0"/>
              </a:rPr>
              <a:t>Các </a:t>
            </a:r>
            <a:r>
              <a:rPr lang="en-US" sz="2200" err="1">
                <a:latin typeface="Arial" panose="020B0604020202020204" pitchFamily="34" charset="0"/>
                <a:cs typeface="Arial" panose="020B0604020202020204" pitchFamily="34" charset="0"/>
              </a:rPr>
              <a:t>nhu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cầu</a:t>
            </a:r>
            <a:r>
              <a:rPr lang="en-US" sz="2200">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không</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nhất</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thiết</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có</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thứ</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bậc</a:t>
            </a:r>
            <a:r>
              <a:rPr lang="en-US" sz="2200">
                <a:latin typeface="Arial" panose="020B0604020202020204" pitchFamily="34" charset="0"/>
                <a:cs typeface="Arial" panose="020B0604020202020204" pitchFamily="34" charset="0"/>
              </a:rPr>
              <a:t> → </a:t>
            </a:r>
            <a:r>
              <a:rPr lang="en-US" sz="2200" err="1">
                <a:latin typeface="Arial" panose="020B0604020202020204" pitchFamily="34" charset="0"/>
                <a:cs typeface="Arial" panose="020B0604020202020204" pitchFamily="34" charset="0"/>
              </a:rPr>
              <a:t>có</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thể</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cùng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tồn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tại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tương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hỗ</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hoặc</a:t>
            </a:r>
            <a:r>
              <a:rPr lang="en-US" sz="2200">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mâu</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thuẫn</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với</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nhau</a:t>
            </a:r>
            <a:r>
              <a:rPr lang="en-US" sz="2200">
                <a:latin typeface="Arial" panose="020B0604020202020204" pitchFamily="34" charset="0"/>
                <a:cs typeface="Arial" panose="020B0604020202020204" pitchFamily="34" charset="0"/>
              </a:rPr>
              <a:t>.</a:t>
            </a:r>
          </a:p>
        </p:txBody>
      </p:sp>
      <p:sp>
        <p:nvSpPr>
          <p:cNvPr id="15" name="TextBox 14">
            <a:extLst>
              <a:ext uri="{FF2B5EF4-FFF2-40B4-BE49-F238E27FC236}">
                <a16:creationId xmlns:a16="http://schemas.microsoft.com/office/drawing/2014/main" id="{D2AA75EC-25B5-1262-571A-1A99F1596CD5}"/>
              </a:ext>
            </a:extLst>
          </p:cNvPr>
          <p:cNvSpPr txBox="1"/>
          <p:nvPr/>
        </p:nvSpPr>
        <p:spPr>
          <a:xfrm>
            <a:off x="222954" y="4930970"/>
            <a:ext cx="11370733" cy="1446550"/>
          </a:xfrm>
          <a:prstGeom prst="rect">
            <a:avLst/>
          </a:prstGeom>
          <a:noFill/>
        </p:spPr>
        <p:txBody>
          <a:bodyPr wrap="square">
            <a:spAutoFit/>
          </a:bodyPr>
          <a:lstStyle/>
          <a:p>
            <a:pPr>
              <a:buNone/>
            </a:pPr>
            <a:r>
              <a:rPr lang="en-US" sz="2200" b="1" err="1">
                <a:latin typeface="Arial" panose="020B0604020202020204" pitchFamily="34" charset="0"/>
                <a:cs typeface="Arial" panose="020B0604020202020204" pitchFamily="34" charset="0"/>
              </a:rPr>
              <a:t>Ví</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dụ</a:t>
            </a:r>
            <a:r>
              <a:rPr lang="en-US" sz="2200" b="1">
                <a:latin typeface="Arial" panose="020B0604020202020204" pitchFamily="34" charset="0"/>
                <a:cs typeface="Arial" panose="020B0604020202020204" pitchFamily="34" charset="0"/>
              </a:rPr>
              <a:t>: Quyền </a:t>
            </a:r>
            <a:r>
              <a:rPr lang="en-US" sz="2200" b="1" err="1">
                <a:latin typeface="Arial" panose="020B0604020202020204" pitchFamily="34" charset="0"/>
                <a:cs typeface="Arial" panose="020B0604020202020204" pitchFamily="34" charset="0"/>
              </a:rPr>
              <a:t>lực</a:t>
            </a:r>
            <a:r>
              <a:rPr lang="en-US" sz="2200" b="1">
                <a:latin typeface="Arial" panose="020B0604020202020204" pitchFamily="34" charset="0"/>
                <a:cs typeface="Arial" panose="020B0604020202020204" pitchFamily="34" charset="0"/>
              </a:rPr>
              <a:t> ↑ ↔ </a:t>
            </a:r>
            <a:r>
              <a:rPr lang="en-US" sz="2200" b="1" err="1">
                <a:latin typeface="Arial" panose="020B0604020202020204" pitchFamily="34" charset="0"/>
                <a:cs typeface="Arial" panose="020B0604020202020204" pitchFamily="34" charset="0"/>
              </a:rPr>
              <a:t>Tình</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cảm</a:t>
            </a:r>
            <a:r>
              <a:rPr lang="en-US" sz="2200" b="1">
                <a:latin typeface="Arial" panose="020B0604020202020204" pitchFamily="34" charset="0"/>
                <a:cs typeface="Arial" panose="020B0604020202020204" pitchFamily="34" charset="0"/>
              </a:rPr>
              <a:t> ↓</a:t>
            </a:r>
            <a:br>
              <a:rPr lang="en-US" sz="2200">
                <a:latin typeface="Arial" panose="020B0604020202020204" pitchFamily="34" charset="0"/>
                <a:cs typeface="Arial" panose="020B0604020202020204" pitchFamily="34" charset="0"/>
              </a:rPr>
            </a:br>
            <a:r>
              <a:rPr lang="en-US" sz="2200" err="1">
                <a:latin typeface="Arial" panose="020B0604020202020204" pitchFamily="34" charset="0"/>
                <a:cs typeface="Arial" panose="020B0604020202020204" pitchFamily="34" charset="0"/>
              </a:rPr>
              <a:t>Mong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muốn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kiểm</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soát</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người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khác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quá</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mức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có</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thể</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ảnh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hưởng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đến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các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mối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quan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hệ</a:t>
            </a:r>
            <a:r>
              <a:rPr lang="en-US" sz="2200">
                <a:latin typeface="Arial" panose="020B0604020202020204" pitchFamily="34" charset="0"/>
                <a:cs typeface="Arial" panose="020B0604020202020204" pitchFamily="34" charset="0"/>
              </a:rPr>
              <a:t>.</a:t>
            </a:r>
          </a:p>
          <a:p>
            <a:pPr>
              <a:buNone/>
            </a:pPr>
            <a:r>
              <a:rPr lang="en-US" sz="2200" b="1">
                <a:latin typeface="Arial" panose="020B0604020202020204" pitchFamily="34" charset="0"/>
                <a:cs typeface="Arial" panose="020B0604020202020204" pitchFamily="34" charset="0"/>
              </a:rPr>
              <a:t>Edwards (1959):</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tiếp</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tục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phát</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triển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lý</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thuyết</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của</a:t>
            </a:r>
            <a:r>
              <a:rPr lang="en-US" sz="2200">
                <a:latin typeface="Arial" panose="020B0604020202020204" pitchFamily="34" charset="0"/>
                <a:cs typeface="Arial" panose="020B0604020202020204" pitchFamily="34" charset="0"/>
              </a:rPr>
              <a:t> Murray </a:t>
            </a:r>
            <a:r>
              <a:rPr lang="en-US" sz="2200" err="1">
                <a:latin typeface="Arial" panose="020B0604020202020204" pitchFamily="34" charset="0"/>
                <a:cs typeface="Arial" panose="020B0604020202020204" pitchFamily="34" charset="0"/>
              </a:rPr>
              <a:t>thành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hệ</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thống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nghiên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cứu</a:t>
            </a:r>
            <a:r>
              <a:rPr lang="en-US" sz="2200">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nhu</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cầu</a:t>
            </a:r>
            <a:r>
              <a:rPr lang="en-US" sz="2200" b="1">
                <a:latin typeface="Arial" panose="020B0604020202020204" pitchFamily="34" charset="0"/>
                <a:cs typeface="Arial" panose="020B0604020202020204" pitchFamily="34" charset="0"/>
              </a:rPr>
              <a:t> – </a:t>
            </a:r>
            <a:r>
              <a:rPr lang="en-US" sz="2200" b="1" err="1">
                <a:latin typeface="Arial" panose="020B0604020202020204" pitchFamily="34" charset="0"/>
                <a:cs typeface="Arial" panose="020B0604020202020204" pitchFamily="34" charset="0"/>
              </a:rPr>
              <a:t>động</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cơ</a:t>
            </a:r>
            <a:r>
              <a:rPr lang="en-US" sz="2200" b="1">
                <a:latin typeface="Arial" panose="020B0604020202020204" pitchFamily="34" charset="0"/>
                <a:cs typeface="Arial" panose="020B0604020202020204" pitchFamily="34" charset="0"/>
              </a:rPr>
              <a:t> – </a:t>
            </a:r>
            <a:r>
              <a:rPr lang="en-US" sz="2200" b="1" err="1">
                <a:latin typeface="Arial" panose="020B0604020202020204" pitchFamily="34" charset="0"/>
                <a:cs typeface="Arial" panose="020B0604020202020204" pitchFamily="34" charset="0"/>
              </a:rPr>
              <a:t>tính</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cách</a:t>
            </a:r>
            <a:r>
              <a:rPr lang="en-US" sz="2200" b="1">
                <a:latin typeface="Arial" panose="020B0604020202020204" pitchFamily="34" charset="0"/>
                <a:cs typeface="Arial" panose="020B0604020202020204" pitchFamily="34" charset="0"/>
              </a:rPr>
              <a:t> – </a:t>
            </a:r>
            <a:r>
              <a:rPr lang="en-US" sz="2200" b="1" err="1">
                <a:latin typeface="Arial" panose="020B0604020202020204" pitchFamily="34" charset="0"/>
                <a:cs typeface="Arial" panose="020B0604020202020204" pitchFamily="34" charset="0"/>
              </a:rPr>
              <a:t>hành</a:t>
            </a:r>
            <a:r>
              <a:rPr lang="en-US" sz="2200" b="1">
                <a:latin typeface="Arial" panose="020B0604020202020204" pitchFamily="34" charset="0"/>
                <a:cs typeface="Arial" panose="020B0604020202020204" pitchFamily="34" charset="0"/>
              </a:rPr>
              <a:t> vi</a:t>
            </a:r>
            <a:r>
              <a:rPr lang="en-US" sz="220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23371061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AF610-A71D-2636-882F-EC90440BB5C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EB5756C-1E83-1686-1DB9-CBDB89229D9E}"/>
              </a:ext>
            </a:extLst>
          </p:cNvPr>
          <p:cNvSpPr txBox="1">
            <a:spLocks/>
          </p:cNvSpPr>
          <p:nvPr/>
        </p:nvSpPr>
        <p:spPr>
          <a:xfrm>
            <a:off x="428978" y="-557513"/>
            <a:ext cx="10515600"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342900" algn="just">
              <a:lnSpc>
                <a:spcPct val="150000"/>
              </a:lnSpc>
              <a:spcBef>
                <a:spcPts val="0"/>
              </a:spcBef>
              <a:buClr>
                <a:schemeClr val="dk1"/>
              </a:buClr>
              <a:buSzPts val="1800"/>
              <a:buFont typeface="Wingdings" pitchFamily="2" charset="2"/>
              <a:buChar char="Ø"/>
            </a:pPr>
            <a:r>
              <a:rPr lang="en-US" sz="2800" i="1" err="1">
                <a:solidFill>
                  <a:schemeClr val="dk1"/>
                </a:solidFill>
                <a:latin typeface="Arial" panose="020B0604020202020204" pitchFamily="34" charset="0"/>
                <a:cs typeface="Arial" panose="020B0604020202020204" pitchFamily="34" charset="0"/>
              </a:rPr>
              <a:t>Hệ</a:t>
            </a:r>
            <a:r>
              <a:rPr lang="en-US" sz="2800" i="1">
                <a:solidFill>
                  <a:schemeClr val="dk1"/>
                </a:solidFill>
                <a:latin typeface="Arial" panose="020B0604020202020204" pitchFamily="34" charset="0"/>
                <a:cs typeface="Arial" panose="020B0604020202020204" pitchFamily="34" charset="0"/>
              </a:rPr>
              <a:t> </a:t>
            </a:r>
            <a:r>
              <a:rPr lang="en-US" sz="2800" i="1" err="1">
                <a:solidFill>
                  <a:schemeClr val="dk1"/>
                </a:solidFill>
                <a:latin typeface="Arial" panose="020B0604020202020204" pitchFamily="34" charset="0"/>
                <a:cs typeface="Arial" panose="020B0604020202020204" pitchFamily="34" charset="0"/>
              </a:rPr>
              <a:t>thống</a:t>
            </a:r>
            <a:r>
              <a:rPr lang="en-US" sz="2800" i="1">
                <a:solidFill>
                  <a:schemeClr val="dk1"/>
                </a:solidFill>
                <a:latin typeface="Arial" panose="020B0604020202020204" pitchFamily="34" charset="0"/>
                <a:cs typeface="Arial" panose="020B0604020202020204" pitchFamily="34" charset="0"/>
              </a:rPr>
              <a:t> </a:t>
            </a:r>
            <a:r>
              <a:rPr lang="en-US" sz="2800" i="1" err="1">
                <a:solidFill>
                  <a:schemeClr val="dk1"/>
                </a:solidFill>
                <a:latin typeface="Arial" panose="020B0604020202020204" pitchFamily="34" charset="0"/>
                <a:cs typeface="Arial" panose="020B0604020202020204" pitchFamily="34" charset="0"/>
              </a:rPr>
              <a:t>nhu</a:t>
            </a:r>
            <a:r>
              <a:rPr lang="en-US" sz="2800" i="1">
                <a:solidFill>
                  <a:schemeClr val="dk1"/>
                </a:solidFill>
                <a:latin typeface="Arial" panose="020B0604020202020204" pitchFamily="34" charset="0"/>
                <a:cs typeface="Arial" panose="020B0604020202020204" pitchFamily="34" charset="0"/>
              </a:rPr>
              <a:t> </a:t>
            </a:r>
            <a:r>
              <a:rPr lang="en-US" sz="2800" i="1" err="1">
                <a:solidFill>
                  <a:schemeClr val="dk1"/>
                </a:solidFill>
                <a:latin typeface="Arial" panose="020B0604020202020204" pitchFamily="34" charset="0"/>
                <a:cs typeface="Arial" panose="020B0604020202020204" pitchFamily="34" charset="0"/>
              </a:rPr>
              <a:t>cầu</a:t>
            </a:r>
            <a:r>
              <a:rPr lang="en-US" sz="2800" i="1">
                <a:solidFill>
                  <a:schemeClr val="dk1"/>
                </a:solidFill>
                <a:latin typeface="Arial" panose="020B0604020202020204" pitchFamily="34" charset="0"/>
                <a:cs typeface="Arial" panose="020B0604020202020204" pitchFamily="34" charset="0"/>
              </a:rPr>
              <a:t> Sheth</a:t>
            </a:r>
          </a:p>
        </p:txBody>
      </p:sp>
      <p:sp>
        <p:nvSpPr>
          <p:cNvPr id="10" name="TextBox 9">
            <a:extLst>
              <a:ext uri="{FF2B5EF4-FFF2-40B4-BE49-F238E27FC236}">
                <a16:creationId xmlns:a16="http://schemas.microsoft.com/office/drawing/2014/main" id="{6A6B2D47-49D0-1BAF-3AA9-8437F2F54083}"/>
              </a:ext>
            </a:extLst>
          </p:cNvPr>
          <p:cNvSpPr txBox="1"/>
          <p:nvPr/>
        </p:nvSpPr>
        <p:spPr>
          <a:xfrm>
            <a:off x="381000" y="779906"/>
            <a:ext cx="8573911" cy="461665"/>
          </a:xfrm>
          <a:prstGeom prst="rect">
            <a:avLst/>
          </a:prstGeom>
          <a:noFill/>
        </p:spPr>
        <p:txBody>
          <a:bodyPr wrap="square">
            <a:spAutoFit/>
          </a:bodyPr>
          <a:lstStyle/>
          <a:p>
            <a:r>
              <a:rPr lang="en-US" sz="2400">
                <a:latin typeface="Arial" panose="020B0604020202020204" pitchFamily="34" charset="0"/>
                <a:cs typeface="Arial" panose="020B0604020202020204" pitchFamily="34" charset="0"/>
              </a:rPr>
              <a:t>5 NHU CẦU THÚC ĐẨY HÀNH VI TIÊU DÙNG</a:t>
            </a:r>
            <a:endParaRPr lang="en-US" sz="220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A55B3DB-2DE5-5096-6695-1A336491F5D9}"/>
              </a:ext>
            </a:extLst>
          </p:cNvPr>
          <p:cNvSpPr txBox="1"/>
          <p:nvPr/>
        </p:nvSpPr>
        <p:spPr>
          <a:xfrm>
            <a:off x="381000" y="1269478"/>
            <a:ext cx="11167535" cy="5170646"/>
          </a:xfrm>
          <a:prstGeom prst="rect">
            <a:avLst/>
          </a:prstGeom>
          <a:noFill/>
        </p:spPr>
        <p:txBody>
          <a:bodyPr wrap="square">
            <a:spAutoFit/>
          </a:bodyPr>
          <a:lstStyle/>
          <a:p>
            <a:pPr>
              <a:buNone/>
            </a:pPr>
            <a:r>
              <a:rPr lang="en-US" sz="2200" b="1">
                <a:latin typeface="Arial" panose="020B0604020202020204" pitchFamily="34" charset="0"/>
                <a:cs typeface="Arial" panose="020B0604020202020204" pitchFamily="34" charset="0"/>
              </a:rPr>
              <a:t>⚙️ Chức năng</a:t>
            </a:r>
            <a:br>
              <a:rPr lang="en-US" sz="2200">
                <a:latin typeface="Arial" panose="020B0604020202020204" pitchFamily="34" charset="0"/>
                <a:cs typeface="Arial" panose="020B0604020202020204" pitchFamily="34" charset="0"/>
              </a:rPr>
            </a:br>
            <a:r>
              <a:rPr lang="en-US" sz="2200">
                <a:latin typeface="Arial" panose="020B0604020202020204" pitchFamily="34" charset="0"/>
                <a:cs typeface="Arial" panose="020B0604020202020204" pitchFamily="34" charset="0"/>
              </a:rPr>
              <a:t>Sản phẩm giải quyết vấn đề gì?</a:t>
            </a:r>
            <a:br>
              <a:rPr lang="en-US" sz="2200">
                <a:latin typeface="Arial" panose="020B0604020202020204" pitchFamily="34" charset="0"/>
                <a:cs typeface="Arial" panose="020B0604020202020204" pitchFamily="34" charset="0"/>
              </a:rPr>
            </a:br>
            <a:r>
              <a:rPr lang="en-US" sz="2200">
                <a:latin typeface="Arial" panose="020B0604020202020204" pitchFamily="34" charset="0"/>
                <a:cs typeface="Arial" panose="020B0604020202020204" pitchFamily="34" charset="0"/>
              </a:rPr>
              <a:t>→ </a:t>
            </a:r>
            <a:r>
              <a:rPr lang="en-US" sz="2200" i="1">
                <a:latin typeface="Arial" panose="020B0604020202020204" pitchFamily="34" charset="0"/>
                <a:cs typeface="Arial" panose="020B0604020202020204" pitchFamily="34" charset="0"/>
              </a:rPr>
              <a:t>Xà phòng → vệ sinh, tẩy rửa</a:t>
            </a:r>
            <a:endParaRPr lang="en-US" sz="2200">
              <a:latin typeface="Arial" panose="020B0604020202020204" pitchFamily="34" charset="0"/>
              <a:cs typeface="Arial" panose="020B0604020202020204" pitchFamily="34" charset="0"/>
            </a:endParaRPr>
          </a:p>
          <a:p>
            <a:pPr>
              <a:buNone/>
            </a:pPr>
            <a:r>
              <a:rPr lang="en-US" sz="2200" b="1">
                <a:latin typeface="Arial" panose="020B0604020202020204" pitchFamily="34" charset="0"/>
                <a:cs typeface="Arial" panose="020B0604020202020204" pitchFamily="34" charset="0"/>
              </a:rPr>
              <a:t>👥 Xã hội</a:t>
            </a:r>
            <a:br>
              <a:rPr lang="en-US" sz="2200">
                <a:latin typeface="Arial" panose="020B0604020202020204" pitchFamily="34" charset="0"/>
                <a:cs typeface="Arial" panose="020B0604020202020204" pitchFamily="34" charset="0"/>
              </a:rPr>
            </a:br>
            <a:r>
              <a:rPr lang="en-US" sz="2200">
                <a:latin typeface="Arial" panose="020B0604020202020204" pitchFamily="34" charset="0"/>
                <a:cs typeface="Arial" panose="020B0604020202020204" pitchFamily="34" charset="0"/>
              </a:rPr>
              <a:t>Sản phẩm giúp tôi thể hiện mình thuộc nhóm nào?</a:t>
            </a:r>
            <a:br>
              <a:rPr lang="en-US" sz="2200">
                <a:latin typeface="Arial" panose="020B0604020202020204" pitchFamily="34" charset="0"/>
                <a:cs typeface="Arial" panose="020B0604020202020204" pitchFamily="34" charset="0"/>
              </a:rPr>
            </a:br>
            <a:r>
              <a:rPr lang="en-US" sz="2200">
                <a:latin typeface="Arial" panose="020B0604020202020204" pitchFamily="34" charset="0"/>
                <a:cs typeface="Arial" panose="020B0604020202020204" pitchFamily="34" charset="0"/>
              </a:rPr>
              <a:t>→ </a:t>
            </a:r>
            <a:r>
              <a:rPr lang="en-US" sz="2200" i="1">
                <a:latin typeface="Arial" panose="020B0604020202020204" pitchFamily="34" charset="0"/>
                <a:cs typeface="Arial" panose="020B0604020202020204" pitchFamily="34" charset="0"/>
              </a:rPr>
              <a:t>iPhone → hình ảnh/địa vị trong nhóm</a:t>
            </a:r>
            <a:endParaRPr lang="en-US" sz="2200">
              <a:latin typeface="Arial" panose="020B0604020202020204" pitchFamily="34" charset="0"/>
              <a:cs typeface="Arial" panose="020B0604020202020204" pitchFamily="34" charset="0"/>
            </a:endParaRPr>
          </a:p>
          <a:p>
            <a:pPr>
              <a:buNone/>
            </a:pPr>
            <a:r>
              <a:rPr lang="en-US" sz="2200" b="1">
                <a:latin typeface="Arial" panose="020B0604020202020204" pitchFamily="34" charset="0"/>
                <a:cs typeface="Arial" panose="020B0604020202020204" pitchFamily="34" charset="0"/>
              </a:rPr>
              <a:t>❤️ Tình cảm</a:t>
            </a:r>
            <a:br>
              <a:rPr lang="en-US" sz="2200">
                <a:latin typeface="Arial" panose="020B0604020202020204" pitchFamily="34" charset="0"/>
                <a:cs typeface="Arial" panose="020B0604020202020204" pitchFamily="34" charset="0"/>
              </a:rPr>
            </a:br>
            <a:r>
              <a:rPr lang="en-US" sz="2200">
                <a:latin typeface="Arial" panose="020B0604020202020204" pitchFamily="34" charset="0"/>
                <a:cs typeface="Arial" panose="020B0604020202020204" pitchFamily="34" charset="0"/>
              </a:rPr>
              <a:t>Sản phẩm tạo cho tôi cảm xúc gì?</a:t>
            </a:r>
            <a:br>
              <a:rPr lang="en-US" sz="2200">
                <a:latin typeface="Arial" panose="020B0604020202020204" pitchFamily="34" charset="0"/>
                <a:cs typeface="Arial" panose="020B0604020202020204" pitchFamily="34" charset="0"/>
              </a:rPr>
            </a:br>
            <a:r>
              <a:rPr lang="en-US" sz="2200">
                <a:latin typeface="Arial" panose="020B0604020202020204" pitchFamily="34" charset="0"/>
                <a:cs typeface="Arial" panose="020B0604020202020204" pitchFamily="34" charset="0"/>
              </a:rPr>
              <a:t>→ </a:t>
            </a:r>
            <a:r>
              <a:rPr lang="en-US" sz="2200" i="1">
                <a:latin typeface="Arial" panose="020B0604020202020204" pitchFamily="34" charset="0"/>
                <a:cs typeface="Arial" panose="020B0604020202020204" pitchFamily="34" charset="0"/>
              </a:rPr>
              <a:t>Nhận quà → vui sướng</a:t>
            </a:r>
            <a:endParaRPr lang="en-US" sz="2200">
              <a:latin typeface="Arial" panose="020B0604020202020204" pitchFamily="34" charset="0"/>
              <a:cs typeface="Arial" panose="020B0604020202020204" pitchFamily="34" charset="0"/>
            </a:endParaRPr>
          </a:p>
          <a:p>
            <a:pPr>
              <a:buNone/>
            </a:pPr>
            <a:r>
              <a:rPr lang="en-US" sz="2200" b="1">
                <a:latin typeface="Arial" panose="020B0604020202020204" pitchFamily="34" charset="0"/>
                <a:cs typeface="Arial" panose="020B0604020202020204" pitchFamily="34" charset="0"/>
              </a:rPr>
              <a:t>🧠 Nhận thức</a:t>
            </a:r>
            <a:br>
              <a:rPr lang="en-US" sz="2200">
                <a:latin typeface="Arial" panose="020B0604020202020204" pitchFamily="34" charset="0"/>
                <a:cs typeface="Arial" panose="020B0604020202020204" pitchFamily="34" charset="0"/>
              </a:rPr>
            </a:br>
            <a:r>
              <a:rPr lang="en-US" sz="2200">
                <a:latin typeface="Arial" panose="020B0604020202020204" pitchFamily="34" charset="0"/>
                <a:cs typeface="Arial" panose="020B0604020202020204" pitchFamily="34" charset="0"/>
              </a:rPr>
              <a:t>Sản phẩm giúp tôi biết thêm điều gì?</a:t>
            </a:r>
            <a:br>
              <a:rPr lang="en-US" sz="2200">
                <a:latin typeface="Arial" panose="020B0604020202020204" pitchFamily="34" charset="0"/>
                <a:cs typeface="Arial" panose="020B0604020202020204" pitchFamily="34" charset="0"/>
              </a:rPr>
            </a:br>
            <a:r>
              <a:rPr lang="en-US" sz="2200">
                <a:latin typeface="Arial" panose="020B0604020202020204" pitchFamily="34" charset="0"/>
                <a:cs typeface="Arial" panose="020B0604020202020204" pitchFamily="34" charset="0"/>
              </a:rPr>
              <a:t>→ </a:t>
            </a:r>
            <a:r>
              <a:rPr lang="en-US" sz="2200" i="1">
                <a:latin typeface="Arial" panose="020B0604020202020204" pitchFamily="34" charset="0"/>
                <a:cs typeface="Arial" panose="020B0604020202020204" pitchFamily="34" charset="0"/>
              </a:rPr>
              <a:t>Đọc báo, học tập → kiến thức</a:t>
            </a:r>
            <a:endParaRPr lang="en-US" sz="2200">
              <a:latin typeface="Arial" panose="020B0604020202020204" pitchFamily="34" charset="0"/>
              <a:cs typeface="Arial" panose="020B0604020202020204" pitchFamily="34" charset="0"/>
            </a:endParaRPr>
          </a:p>
          <a:p>
            <a:pPr>
              <a:buNone/>
            </a:pPr>
            <a:r>
              <a:rPr lang="en-US" sz="2200" b="1">
                <a:latin typeface="Arial" panose="020B0604020202020204" pitchFamily="34" charset="0"/>
                <a:cs typeface="Arial" panose="020B0604020202020204" pitchFamily="34" charset="0"/>
              </a:rPr>
              <a:t>⏱️ Hoàn cảnh</a:t>
            </a:r>
            <a:br>
              <a:rPr lang="en-US" sz="2200">
                <a:latin typeface="Arial" panose="020B0604020202020204" pitchFamily="34" charset="0"/>
                <a:cs typeface="Arial" panose="020B0604020202020204" pitchFamily="34" charset="0"/>
              </a:rPr>
            </a:br>
            <a:r>
              <a:rPr lang="en-US" sz="2200">
                <a:latin typeface="Arial" panose="020B0604020202020204" pitchFamily="34" charset="0"/>
                <a:cs typeface="Arial" panose="020B0604020202020204" pitchFamily="34" charset="0"/>
              </a:rPr>
              <a:t>Tình huống hiện tại khiến nhu cầu phát sinh?</a:t>
            </a:r>
            <a:br>
              <a:rPr lang="en-US" sz="2200">
                <a:latin typeface="Arial" panose="020B0604020202020204" pitchFamily="34" charset="0"/>
                <a:cs typeface="Arial" panose="020B0604020202020204" pitchFamily="34" charset="0"/>
              </a:rPr>
            </a:br>
            <a:r>
              <a:rPr lang="en-US" sz="2200">
                <a:latin typeface="Arial" panose="020B0604020202020204" pitchFamily="34" charset="0"/>
                <a:cs typeface="Arial" panose="020B0604020202020204" pitchFamily="34" charset="0"/>
              </a:rPr>
              <a:t>→ </a:t>
            </a:r>
            <a:r>
              <a:rPr lang="en-US" sz="2200" i="1">
                <a:latin typeface="Arial" panose="020B0604020202020204" pitchFamily="34" charset="0"/>
                <a:cs typeface="Arial" panose="020B0604020202020204" pitchFamily="34" charset="0"/>
              </a:rPr>
              <a:t>Xe hư giữa đường → sửa xe khẩn cấp</a:t>
            </a:r>
            <a:endParaRPr lang="en-US" sz="2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706222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0C8EB-EC66-75D5-6532-D26CF43192D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9EED1CC-9B6A-A877-422C-436BEE34E25F}"/>
              </a:ext>
            </a:extLst>
          </p:cNvPr>
          <p:cNvSpPr txBox="1">
            <a:spLocks/>
          </p:cNvSpPr>
          <p:nvPr/>
        </p:nvSpPr>
        <p:spPr>
          <a:xfrm>
            <a:off x="428978" y="-557513"/>
            <a:ext cx="10515600"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342900" algn="just">
              <a:lnSpc>
                <a:spcPct val="150000"/>
              </a:lnSpc>
              <a:spcBef>
                <a:spcPts val="0"/>
              </a:spcBef>
              <a:buClr>
                <a:schemeClr val="dk1"/>
              </a:buClr>
              <a:buSzPts val="1800"/>
              <a:buFont typeface="Wingdings" pitchFamily="2" charset="2"/>
              <a:buChar char="Ø"/>
            </a:pPr>
            <a:r>
              <a:rPr lang="en-US" sz="2800" i="1">
                <a:solidFill>
                  <a:schemeClr val="dk1"/>
                </a:solidFill>
                <a:latin typeface="Arial" panose="020B0604020202020204" pitchFamily="34" charset="0"/>
                <a:cs typeface="Arial" panose="020B0604020202020204" pitchFamily="34" charset="0"/>
              </a:rPr>
              <a:t>Lý </a:t>
            </a:r>
            <a:r>
              <a:rPr lang="en-US" sz="2800" i="1" err="1">
                <a:solidFill>
                  <a:schemeClr val="dk1"/>
                </a:solidFill>
                <a:latin typeface="Arial" panose="020B0604020202020204" pitchFamily="34" charset="0"/>
                <a:cs typeface="Arial" panose="020B0604020202020204" pitchFamily="34" charset="0"/>
              </a:rPr>
              <a:t>thuyết</a:t>
            </a:r>
            <a:r>
              <a:rPr lang="en-US" sz="2800" i="1">
                <a:solidFill>
                  <a:schemeClr val="dk1"/>
                </a:solidFill>
                <a:latin typeface="Arial" panose="020B0604020202020204" pitchFamily="34" charset="0"/>
                <a:cs typeface="Arial" panose="020B0604020202020204" pitchFamily="34" charset="0"/>
              </a:rPr>
              <a:t> </a:t>
            </a:r>
            <a:r>
              <a:rPr lang="en-US" sz="2800" i="1" err="1">
                <a:solidFill>
                  <a:schemeClr val="dk1"/>
                </a:solidFill>
                <a:latin typeface="Arial" panose="020B0604020202020204" pitchFamily="34" charset="0"/>
                <a:cs typeface="Arial" panose="020B0604020202020204" pitchFamily="34" charset="0"/>
              </a:rPr>
              <a:t>ba</a:t>
            </a:r>
            <a:r>
              <a:rPr lang="en-US" sz="2800" i="1">
                <a:solidFill>
                  <a:schemeClr val="dk1"/>
                </a:solidFill>
                <a:latin typeface="Arial" panose="020B0604020202020204" pitchFamily="34" charset="0"/>
                <a:cs typeface="Arial" panose="020B0604020202020204" pitchFamily="34" charset="0"/>
              </a:rPr>
              <a:t> </a:t>
            </a:r>
            <a:r>
              <a:rPr lang="en-US" sz="2800" i="1" err="1">
                <a:solidFill>
                  <a:schemeClr val="dk1"/>
                </a:solidFill>
                <a:latin typeface="Arial" panose="020B0604020202020204" pitchFamily="34" charset="0"/>
                <a:cs typeface="Arial" panose="020B0604020202020204" pitchFamily="34" charset="0"/>
              </a:rPr>
              <a:t>nhu</a:t>
            </a:r>
            <a:r>
              <a:rPr lang="en-US" sz="2800" i="1">
                <a:solidFill>
                  <a:schemeClr val="dk1"/>
                </a:solidFill>
                <a:latin typeface="Arial" panose="020B0604020202020204" pitchFamily="34" charset="0"/>
                <a:cs typeface="Arial" panose="020B0604020202020204" pitchFamily="34" charset="0"/>
              </a:rPr>
              <a:t> </a:t>
            </a:r>
            <a:r>
              <a:rPr lang="en-US" sz="2800" i="1" err="1">
                <a:solidFill>
                  <a:schemeClr val="dk1"/>
                </a:solidFill>
                <a:latin typeface="Arial" panose="020B0604020202020204" pitchFamily="34" charset="0"/>
                <a:cs typeface="Arial" panose="020B0604020202020204" pitchFamily="34" charset="0"/>
              </a:rPr>
              <a:t>cầu</a:t>
            </a:r>
            <a:r>
              <a:rPr lang="en-US" sz="2800" i="1">
                <a:solidFill>
                  <a:schemeClr val="dk1"/>
                </a:solidFill>
                <a:latin typeface="Arial" panose="020B0604020202020204" pitchFamily="34" charset="0"/>
                <a:cs typeface="Arial" panose="020B0604020202020204" pitchFamily="34" charset="0"/>
              </a:rPr>
              <a:t> McClelland </a:t>
            </a:r>
          </a:p>
        </p:txBody>
      </p:sp>
      <p:sp>
        <p:nvSpPr>
          <p:cNvPr id="3" name="TextBox 2">
            <a:extLst>
              <a:ext uri="{FF2B5EF4-FFF2-40B4-BE49-F238E27FC236}">
                <a16:creationId xmlns:a16="http://schemas.microsoft.com/office/drawing/2014/main" id="{03D3F055-740A-3CAD-E7A7-3937A496210F}"/>
              </a:ext>
            </a:extLst>
          </p:cNvPr>
          <p:cNvSpPr txBox="1"/>
          <p:nvPr/>
        </p:nvSpPr>
        <p:spPr>
          <a:xfrm>
            <a:off x="381001" y="942101"/>
            <a:ext cx="5963356" cy="3785652"/>
          </a:xfrm>
          <a:prstGeom prst="rect">
            <a:avLst/>
          </a:prstGeom>
          <a:noFill/>
        </p:spPr>
        <p:txBody>
          <a:bodyPr wrap="square">
            <a:spAutoFit/>
          </a:bodyPr>
          <a:lstStyle/>
          <a:p>
            <a:pPr>
              <a:buNone/>
            </a:pPr>
            <a:r>
              <a:rPr lang="en-US" sz="2400" b="1">
                <a:latin typeface="Arial" panose="020B0604020202020204" pitchFamily="34" charset="0"/>
                <a:cs typeface="Arial" panose="020B0604020202020204" pitchFamily="34" charset="0"/>
              </a:rPr>
              <a:t>McClelland (1960)</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đề</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xuất</a:t>
            </a:r>
            <a:r>
              <a:rPr lang="en-US" sz="2400">
                <a:latin typeface="Arial" panose="020B0604020202020204" pitchFamily="34" charset="0"/>
                <a:cs typeface="Arial" panose="020B0604020202020204" pitchFamily="34" charset="0"/>
              </a:rPr>
              <a:t> 3 </a:t>
            </a:r>
            <a:r>
              <a:rPr lang="en-US" sz="2400" err="1">
                <a:latin typeface="Arial" panose="020B0604020202020204" pitchFamily="34" charset="0"/>
                <a:cs typeface="Arial" panose="020B0604020202020204" pitchFamily="34" charset="0"/>
              </a:rPr>
              <a:t>nhóm</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nhu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cầu</a:t>
            </a:r>
            <a:r>
              <a:rPr lang="en-US" sz="2400">
                <a:latin typeface="Arial" panose="020B0604020202020204" pitchFamily="34" charset="0"/>
                <a:cs typeface="Arial" panose="020B0604020202020204" pitchFamily="34" charset="0"/>
              </a:rPr>
              <a:t>:</a:t>
            </a:r>
          </a:p>
          <a:p>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nACH</a:t>
            </a:r>
            <a:r>
              <a:rPr lang="en-US" sz="2400" b="1">
                <a:latin typeface="Arial" panose="020B0604020202020204" pitchFamily="34" charset="0"/>
                <a:cs typeface="Arial" panose="020B0604020202020204" pitchFamily="34" charset="0"/>
              </a:rPr>
              <a:t> — Achievement</a:t>
            </a:r>
          </a:p>
          <a:p>
            <a:r>
              <a:rPr lang="en-US" sz="2400" b="1">
                <a:latin typeface="Arial" panose="020B0604020202020204" pitchFamily="34" charset="0"/>
                <a:cs typeface="Arial" panose="020B0604020202020204" pitchFamily="34" charset="0"/>
              </a:rPr>
              <a:t>Nhu </a:t>
            </a:r>
            <a:r>
              <a:rPr lang="en-US" sz="2400" b="1" err="1">
                <a:latin typeface="Arial" panose="020B0604020202020204" pitchFamily="34" charset="0"/>
                <a:cs typeface="Arial" panose="020B0604020202020204" pitchFamily="34" charset="0"/>
              </a:rPr>
              <a:t>cầu</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thành</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tích</a:t>
            </a:r>
            <a:endParaRPr lang="en-US" sz="2400">
              <a:latin typeface="Arial" panose="020B0604020202020204" pitchFamily="34" charset="0"/>
              <a:cs typeface="Arial" panose="020B0604020202020204" pitchFamily="34" charset="0"/>
            </a:endParaRPr>
          </a:p>
          <a:p>
            <a:pPr lvl="0"/>
            <a:r>
              <a:rPr lang="en-US" sz="2400" err="1">
                <a:latin typeface="Arial" panose="020B0604020202020204" pitchFamily="34" charset="0"/>
                <a:cs typeface="Arial" panose="020B0604020202020204" pitchFamily="34" charset="0"/>
              </a:rPr>
              <a:t>Muốn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đạt</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kết</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quả</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xuất</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sắc</a:t>
            </a:r>
            <a:r>
              <a:rPr lang="en-US" sz="2400">
                <a:latin typeface="Arial" panose="020B0604020202020204" pitchFamily="34" charset="0"/>
                <a:cs typeface="Arial" panose="020B0604020202020204" pitchFamily="34" charset="0"/>
              </a:rPr>
              <a:t> </a:t>
            </a:r>
          </a:p>
          <a:p>
            <a:pPr lvl="0"/>
            <a:r>
              <a:rPr lang="en-US" sz="2400">
                <a:latin typeface="Arial" panose="020B0604020202020204" pitchFamily="34" charset="0"/>
                <a:cs typeface="Arial" panose="020B0604020202020204" pitchFamily="34" charset="0"/>
              </a:rPr>
              <a:t>Thích </a:t>
            </a:r>
            <a:r>
              <a:rPr lang="en-US" sz="2400" err="1">
                <a:latin typeface="Arial" panose="020B0604020202020204" pitchFamily="34" charset="0"/>
                <a:cs typeface="Arial" panose="020B0604020202020204" pitchFamily="34" charset="0"/>
              </a:rPr>
              <a:t>mục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tiêu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có</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tính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thử</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thách</a:t>
            </a:r>
            <a:r>
              <a:rPr lang="en-US" sz="2400">
                <a:latin typeface="Arial" panose="020B0604020202020204" pitchFamily="34" charset="0"/>
                <a:cs typeface="Arial" panose="020B0604020202020204" pitchFamily="34" charset="0"/>
              </a:rPr>
              <a:t> </a:t>
            </a:r>
          </a:p>
          <a:p>
            <a:pPr lvl="0"/>
            <a:r>
              <a:rPr lang="en-US" sz="2400" err="1">
                <a:latin typeface="Arial" panose="020B0604020202020204" pitchFamily="34" charset="0"/>
                <a:cs typeface="Arial" panose="020B0604020202020204" pitchFamily="34" charset="0"/>
              </a:rPr>
              <a:t>Tránh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nhiệm</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vụ</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quá</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dễ</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hoặc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quá</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khó</a:t>
            </a:r>
            <a:r>
              <a:rPr lang="en-US" sz="2400">
                <a:latin typeface="Arial" panose="020B0604020202020204" pitchFamily="34" charset="0"/>
                <a:cs typeface="Arial" panose="020B0604020202020204" pitchFamily="34" charset="0"/>
              </a:rPr>
              <a:t> </a:t>
            </a:r>
          </a:p>
          <a:p>
            <a:pPr lvl="0"/>
            <a:r>
              <a:rPr lang="en-US" sz="2400">
                <a:latin typeface="Arial" panose="020B0604020202020204" pitchFamily="34" charset="0"/>
                <a:cs typeface="Arial" panose="020B0604020202020204" pitchFamily="34" charset="0"/>
              </a:rPr>
              <a:t>Thích </a:t>
            </a:r>
            <a:r>
              <a:rPr lang="en-US" sz="2400" err="1">
                <a:latin typeface="Arial" panose="020B0604020202020204" pitchFamily="34" charset="0"/>
                <a:cs typeface="Arial" panose="020B0604020202020204" pitchFamily="34" charset="0"/>
              </a:rPr>
              <a:t>tình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huống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mà</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kết</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quả</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phụ</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thuộc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vào</a:t>
            </a:r>
            <a:r>
              <a:rPr lang="en-US" sz="2400">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năng</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lực</a:t>
            </a:r>
            <a:r>
              <a:rPr lang="en-US" sz="2400">
                <a:latin typeface="Arial" panose="020B0604020202020204" pitchFamily="34" charset="0"/>
                <a:cs typeface="Arial" panose="020B0604020202020204" pitchFamily="34" charset="0"/>
              </a:rPr>
              <a:t> </a:t>
            </a:r>
          </a:p>
          <a:p>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Tôi</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muốn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đạt</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được</a:t>
            </a:r>
            <a:r>
              <a:rPr lang="en-US" sz="2400" b="1">
                <a:latin typeface="Arial" panose="020B0604020202020204" pitchFamily="34" charset="0"/>
                <a:cs typeface="Arial" panose="020B0604020202020204" pitchFamily="34" charset="0"/>
              </a:rPr>
              <a:t>.”</a:t>
            </a:r>
            <a:endParaRPr lang="en-US" sz="240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11C90E5F-327D-0993-02F7-D33750C2FB38}"/>
              </a:ext>
            </a:extLst>
          </p:cNvPr>
          <p:cNvSpPr txBox="1"/>
          <p:nvPr/>
        </p:nvSpPr>
        <p:spPr>
          <a:xfrm>
            <a:off x="6028268" y="1779265"/>
            <a:ext cx="6096000" cy="4524315"/>
          </a:xfrm>
          <a:prstGeom prst="rect">
            <a:avLst/>
          </a:prstGeom>
          <a:noFill/>
        </p:spPr>
        <p:txBody>
          <a:bodyPr wrap="square">
            <a:spAutoFit/>
          </a:bodyPr>
          <a:lstStyle/>
          <a:p>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nPOW</a:t>
            </a:r>
            <a:r>
              <a:rPr lang="en-US" sz="2400" b="1">
                <a:latin typeface="Arial" panose="020B0604020202020204" pitchFamily="34" charset="0"/>
                <a:cs typeface="Arial" panose="020B0604020202020204" pitchFamily="34" charset="0"/>
              </a:rPr>
              <a:t> — Power</a:t>
            </a:r>
          </a:p>
          <a:p>
            <a:r>
              <a:rPr lang="en-US" sz="2400" b="1">
                <a:latin typeface="Arial" panose="020B0604020202020204" pitchFamily="34" charset="0"/>
                <a:cs typeface="Arial" panose="020B0604020202020204" pitchFamily="34" charset="0"/>
              </a:rPr>
              <a:t>Nhu </a:t>
            </a:r>
            <a:r>
              <a:rPr lang="en-US" sz="2400" b="1" err="1">
                <a:latin typeface="Arial" panose="020B0604020202020204" pitchFamily="34" charset="0"/>
                <a:cs typeface="Arial" panose="020B0604020202020204" pitchFamily="34" charset="0"/>
              </a:rPr>
              <a:t>cầu</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quyền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lực</a:t>
            </a:r>
            <a:endParaRPr lang="en-US" sz="2400">
              <a:latin typeface="Arial" panose="020B0604020202020204" pitchFamily="34" charset="0"/>
              <a:cs typeface="Arial" panose="020B0604020202020204" pitchFamily="34" charset="0"/>
            </a:endParaRPr>
          </a:p>
          <a:p>
            <a:pPr lvl="0"/>
            <a:r>
              <a:rPr lang="en-US" sz="2400" err="1">
                <a:latin typeface="Arial" panose="020B0604020202020204" pitchFamily="34" charset="0"/>
                <a:cs typeface="Arial" panose="020B0604020202020204" pitchFamily="34" charset="0"/>
              </a:rPr>
              <a:t>Muốn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ảnh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hưởng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đến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người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khác</a:t>
            </a:r>
            <a:r>
              <a:rPr lang="en-US" sz="2400">
                <a:latin typeface="Arial" panose="020B0604020202020204" pitchFamily="34" charset="0"/>
                <a:cs typeface="Arial" panose="020B0604020202020204" pitchFamily="34" charset="0"/>
              </a:rPr>
              <a:t> </a:t>
            </a:r>
          </a:p>
          <a:p>
            <a:pPr lvl="0"/>
            <a:r>
              <a:rPr lang="en-US" sz="2400">
                <a:latin typeface="Arial" panose="020B0604020202020204" pitchFamily="34" charset="0"/>
                <a:cs typeface="Arial" panose="020B0604020202020204" pitchFamily="34" charset="0"/>
              </a:rPr>
              <a:t>Thích </a:t>
            </a:r>
            <a:r>
              <a:rPr lang="en-US" sz="2400" err="1">
                <a:latin typeface="Arial" panose="020B0604020202020204" pitchFamily="34" charset="0"/>
                <a:cs typeface="Arial" panose="020B0604020202020204" pitchFamily="34" charset="0"/>
              </a:rPr>
              <a:t>phụ</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trách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kiểm</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soát</a:t>
            </a:r>
            <a:r>
              <a:rPr lang="en-US" sz="2400">
                <a:latin typeface="Arial" panose="020B0604020202020204" pitchFamily="34" charset="0"/>
                <a:cs typeface="Arial" panose="020B0604020202020204" pitchFamily="34" charset="0"/>
              </a:rPr>
              <a:t> </a:t>
            </a:r>
          </a:p>
          <a:p>
            <a:pPr lvl="0"/>
            <a:r>
              <a:rPr lang="en-US" sz="2400">
                <a:latin typeface="Arial" panose="020B0604020202020204" pitchFamily="34" charset="0"/>
                <a:cs typeface="Arial" panose="020B0604020202020204" pitchFamily="34" charset="0"/>
              </a:rPr>
              <a:t>Quan </a:t>
            </a:r>
            <a:r>
              <a:rPr lang="en-US" sz="2400" err="1">
                <a:latin typeface="Arial" panose="020B0604020202020204" pitchFamily="34" charset="0"/>
                <a:cs typeface="Arial" panose="020B0604020202020204" pitchFamily="34" charset="0"/>
              </a:rPr>
              <a:t>tâm</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đến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quyền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lực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và</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uy</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tín</a:t>
            </a:r>
            <a:r>
              <a:rPr lang="en-US" sz="2400">
                <a:latin typeface="Arial" panose="020B0604020202020204" pitchFamily="34" charset="0"/>
                <a:cs typeface="Arial" panose="020B0604020202020204" pitchFamily="34" charset="0"/>
              </a:rPr>
              <a:t> </a:t>
            </a:r>
          </a:p>
          <a:p>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Tôi</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muốn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tạo</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ảnh</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hưởng</a:t>
            </a:r>
            <a:r>
              <a:rPr lang="en-US" sz="2400" b="1">
                <a:latin typeface="Arial" panose="020B0604020202020204" pitchFamily="34" charset="0"/>
                <a:cs typeface="Arial" panose="020B0604020202020204" pitchFamily="34" charset="0"/>
              </a:rPr>
              <a:t>.”</a:t>
            </a:r>
            <a:endParaRPr lang="en-US" sz="2400">
              <a:latin typeface="Arial" panose="020B0604020202020204" pitchFamily="34" charset="0"/>
              <a:cs typeface="Arial" panose="020B0604020202020204" pitchFamily="34" charset="0"/>
            </a:endParaRPr>
          </a:p>
          <a:p>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nAFF</a:t>
            </a:r>
            <a:r>
              <a:rPr lang="en-US" sz="2400" b="1">
                <a:latin typeface="Arial" panose="020B0604020202020204" pitchFamily="34" charset="0"/>
                <a:cs typeface="Arial" panose="020B0604020202020204" pitchFamily="34" charset="0"/>
              </a:rPr>
              <a:t> — Affiliation</a:t>
            </a:r>
          </a:p>
          <a:p>
            <a:r>
              <a:rPr lang="en-US" sz="2400" b="1">
                <a:latin typeface="Arial" panose="020B0604020202020204" pitchFamily="34" charset="0"/>
                <a:cs typeface="Arial" panose="020B0604020202020204" pitchFamily="34" charset="0"/>
              </a:rPr>
              <a:t>Nhu </a:t>
            </a:r>
            <a:r>
              <a:rPr lang="en-US" sz="2400" b="1" err="1">
                <a:latin typeface="Arial" panose="020B0604020202020204" pitchFamily="34" charset="0"/>
                <a:cs typeface="Arial" panose="020B0604020202020204" pitchFamily="34" charset="0"/>
              </a:rPr>
              <a:t>cầu</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liên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kết</a:t>
            </a:r>
            <a:endParaRPr lang="en-US" sz="2400">
              <a:latin typeface="Arial" panose="020B0604020202020204" pitchFamily="34" charset="0"/>
              <a:cs typeface="Arial" panose="020B0604020202020204" pitchFamily="34" charset="0"/>
            </a:endParaRPr>
          </a:p>
          <a:p>
            <a:pPr lvl="0"/>
            <a:r>
              <a:rPr lang="en-US" sz="2400" err="1">
                <a:latin typeface="Arial" panose="020B0604020202020204" pitchFamily="34" charset="0"/>
                <a:cs typeface="Arial" panose="020B0604020202020204" pitchFamily="34" charset="0"/>
              </a:rPr>
              <a:t>Tìm</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kiếm</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tình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bạn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và</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quan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hệ</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gần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gũi</a:t>
            </a:r>
            <a:r>
              <a:rPr lang="en-US" sz="2400">
                <a:latin typeface="Arial" panose="020B0604020202020204" pitchFamily="34" charset="0"/>
                <a:cs typeface="Arial" panose="020B0604020202020204" pitchFamily="34" charset="0"/>
              </a:rPr>
              <a:t> </a:t>
            </a:r>
          </a:p>
          <a:p>
            <a:pPr lvl="0"/>
            <a:r>
              <a:rPr lang="en-US" sz="2400">
                <a:latin typeface="Arial" panose="020B0604020202020204" pitchFamily="34" charset="0"/>
                <a:cs typeface="Arial" panose="020B0604020202020204" pitchFamily="34" charset="0"/>
              </a:rPr>
              <a:t>Thích </a:t>
            </a:r>
            <a:r>
              <a:rPr lang="en-US" sz="2400" b="1" err="1">
                <a:latin typeface="Arial" panose="020B0604020202020204" pitchFamily="34" charset="0"/>
                <a:cs typeface="Arial" panose="020B0604020202020204" pitchFamily="34" charset="0"/>
              </a:rPr>
              <a:t>hợp</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tác</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hơn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cạnh</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tranh</a:t>
            </a:r>
            <a:r>
              <a:rPr lang="en-US" sz="2400">
                <a:latin typeface="Arial" panose="020B0604020202020204" pitchFamily="34" charset="0"/>
                <a:cs typeface="Arial" panose="020B0604020202020204" pitchFamily="34" charset="0"/>
              </a:rPr>
              <a:t> </a:t>
            </a:r>
          </a:p>
          <a:p>
            <a:pPr lvl="0"/>
            <a:r>
              <a:rPr lang="en-US" sz="2400" err="1">
                <a:latin typeface="Arial" panose="020B0604020202020204" pitchFamily="34" charset="0"/>
                <a:cs typeface="Arial" panose="020B0604020202020204" pitchFamily="34" charset="0"/>
              </a:rPr>
              <a:t>Mong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muốn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được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chấp</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nhận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và</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thuộc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về</a:t>
            </a:r>
            <a:r>
              <a:rPr lang="en-US" sz="2400">
                <a:latin typeface="Arial" panose="020B0604020202020204" pitchFamily="34" charset="0"/>
                <a:cs typeface="Arial" panose="020B0604020202020204" pitchFamily="34" charset="0"/>
              </a:rPr>
              <a:t> </a:t>
            </a:r>
          </a:p>
          <a:p>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Tôi</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muốn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kết</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nối</a:t>
            </a:r>
            <a:r>
              <a:rPr lang="en-US" sz="2400" b="1">
                <a:latin typeface="Arial" panose="020B0604020202020204" pitchFamily="34" charset="0"/>
                <a:cs typeface="Arial" panose="020B0604020202020204" pitchFamily="34" charset="0"/>
              </a:rPr>
              <a:t>.”</a:t>
            </a:r>
            <a:endParaRPr lang="en-US"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211843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31587"/>
            <a:ext cx="10515600" cy="1325563"/>
          </a:xfrm>
        </p:spPr>
        <p:txBody>
          <a:bodyPr>
            <a:normAutofit/>
          </a:bodyPr>
          <a:lstStyle/>
          <a:p>
            <a:r>
              <a:rPr lang="en-US" sz="2800" b="1" kern="0">
                <a:latin typeface="Arial" panose="020B0604020202020204" pitchFamily="34" charset="0"/>
                <a:ea typeface="Times New Roman" panose="02020603050405020304" pitchFamily="18" charset="0"/>
                <a:cs typeface="Arial" panose="020B0604020202020204" pitchFamily="34" charset="0"/>
              </a:rPr>
              <a:t>3.1.6 </a:t>
            </a:r>
            <a:r>
              <a:rPr lang="en-US" sz="2800" b="1" kern="0" err="1">
                <a:latin typeface="Arial" panose="020B0604020202020204" pitchFamily="34" charset="0"/>
                <a:ea typeface="Times New Roman" panose="02020603050405020304" pitchFamily="18" charset="0"/>
                <a:cs typeface="Arial" panose="020B0604020202020204" pitchFamily="34" charset="0"/>
              </a:rPr>
              <a:t>Cảm</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xúc</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của</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khách</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hàng</a:t>
            </a:r>
            <a:endParaRPr lang="en-US" sz="28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96334" y="877358"/>
            <a:ext cx="10515600" cy="4351338"/>
          </a:xfrm>
        </p:spPr>
        <p:txBody>
          <a:bodyPr>
            <a:noAutofit/>
          </a:bodyPr>
          <a:lstStyle/>
          <a:p>
            <a:r>
              <a:rPr lang="en-US" sz="2200">
                <a:latin typeface="Arial" panose="020B0604020202020204" pitchFamily="34" charset="0"/>
                <a:cs typeface="Arial" panose="020B0604020202020204" pitchFamily="34" charset="0"/>
              </a:rPr>
              <a:t>Theo </a:t>
            </a:r>
            <a:r>
              <a:rPr lang="en-US" sz="2200" b="1">
                <a:latin typeface="Arial" panose="020B0604020202020204" pitchFamily="34" charset="0"/>
                <a:cs typeface="Arial" panose="020B0604020202020204" pitchFamily="34" charset="0"/>
              </a:rPr>
              <a:t>Schachter (1962)</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cảm</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xúc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hình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thành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từ</a:t>
            </a:r>
            <a:r>
              <a:rPr lang="en-US" sz="2200">
                <a:latin typeface="Arial" panose="020B0604020202020204" pitchFamily="34" charset="0"/>
                <a:cs typeface="Arial" panose="020B0604020202020204" pitchFamily="34" charset="0"/>
              </a:rPr>
              <a:t>:</a:t>
            </a:r>
          </a:p>
          <a:p>
            <a:r>
              <a:rPr lang="en-US" sz="2200" b="1" err="1">
                <a:latin typeface="Arial" panose="020B0604020202020204" pitchFamily="34" charset="0"/>
                <a:cs typeface="Arial" panose="020B0604020202020204" pitchFamily="34" charset="0"/>
              </a:rPr>
              <a:t>Kích</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thích</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sinh</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lý</a:t>
            </a:r>
            <a:r>
              <a:rPr lang="en-US" sz="2200" b="1">
                <a:latin typeface="Arial" panose="020B0604020202020204" pitchFamily="34" charset="0"/>
                <a:cs typeface="Arial" panose="020B0604020202020204" pitchFamily="34" charset="0"/>
              </a:rPr>
              <a:t> + </a:t>
            </a:r>
            <a:r>
              <a:rPr lang="en-US" sz="2200" b="1" err="1">
                <a:latin typeface="Arial" panose="020B0604020202020204" pitchFamily="34" charset="0"/>
                <a:cs typeface="Arial" panose="020B0604020202020204" pitchFamily="34" charset="0"/>
              </a:rPr>
              <a:t>Diễn</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giải</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nhận</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thức</a:t>
            </a:r>
            <a:r>
              <a:rPr lang="en-US" sz="2200" b="1">
                <a:latin typeface="Arial" panose="020B0604020202020204" pitchFamily="34" charset="0"/>
                <a:cs typeface="Arial" panose="020B0604020202020204" pitchFamily="34" charset="0"/>
              </a:rPr>
              <a:t> → </a:t>
            </a:r>
            <a:r>
              <a:rPr lang="en-US" sz="2200" b="1" err="1">
                <a:latin typeface="Arial" panose="020B0604020202020204" pitchFamily="34" charset="0"/>
                <a:cs typeface="Arial" panose="020B0604020202020204" pitchFamily="34" charset="0"/>
              </a:rPr>
              <a:t>Cảm</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xúc</a:t>
            </a:r>
            <a:r>
              <a:rPr lang="en-US" sz="2200" b="1">
                <a:latin typeface="Arial" panose="020B0604020202020204" pitchFamily="34" charset="0"/>
                <a:cs typeface="Arial" panose="020B0604020202020204" pitchFamily="34" charset="0"/>
              </a:rPr>
              <a:t> → </a:t>
            </a:r>
            <a:r>
              <a:rPr lang="en-US" sz="2200" b="1" err="1">
                <a:latin typeface="Arial" panose="020B0604020202020204" pitchFamily="34" charset="0"/>
                <a:cs typeface="Arial" panose="020B0604020202020204" pitchFamily="34" charset="0"/>
              </a:rPr>
              <a:t>Phản</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ứng</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hành</a:t>
            </a:r>
            <a:r>
              <a:rPr lang="en-US" sz="2200" b="1">
                <a:latin typeface="Arial" panose="020B0604020202020204" pitchFamily="34" charset="0"/>
                <a:cs typeface="Arial" panose="020B0604020202020204" pitchFamily="34" charset="0"/>
              </a:rPr>
              <a:t> vi</a:t>
            </a:r>
            <a:endParaRPr lang="en-US" sz="2200">
              <a:latin typeface="Arial" panose="020B0604020202020204" pitchFamily="34" charset="0"/>
              <a:cs typeface="Arial" panose="020B0604020202020204" pitchFamily="34" charset="0"/>
            </a:endParaRPr>
          </a:p>
          <a:p>
            <a:r>
              <a:rPr lang="en-US" sz="2200" err="1">
                <a:latin typeface="Arial" panose="020B0604020202020204" pitchFamily="34" charset="0"/>
                <a:cs typeface="Arial" panose="020B0604020202020204" pitchFamily="34" charset="0"/>
              </a:rPr>
              <a:t>Ví</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dụ</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Một</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quảng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cáo</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lãng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mạn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có</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thể</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tạo</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cảm</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xúc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tích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cực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và</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làm</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thay</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đổi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cách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khách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hàng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đánh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giá</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thương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hiệu</a:t>
            </a:r>
            <a:r>
              <a:rPr lang="en-US" sz="2200">
                <a:latin typeface="Arial" panose="020B0604020202020204" pitchFamily="34" charset="0"/>
                <a:cs typeface="Arial" panose="020B0604020202020204" pitchFamily="34" charset="0"/>
              </a:rPr>
              <a:t>.</a:t>
            </a:r>
          </a:p>
          <a:p>
            <a:r>
              <a:rPr lang="en-US" sz="2200" b="1">
                <a:latin typeface="Arial" panose="020B0604020202020204" pitchFamily="34" charset="0"/>
                <a:cs typeface="Arial" panose="020B0604020202020204" pitchFamily="34" charset="0"/>
              </a:rPr>
              <a:t>8 </a:t>
            </a:r>
            <a:r>
              <a:rPr lang="en-US" sz="2200" b="1" err="1">
                <a:latin typeface="Arial" panose="020B0604020202020204" pitchFamily="34" charset="0"/>
                <a:cs typeface="Arial" panose="020B0604020202020204" pitchFamily="34" charset="0"/>
              </a:rPr>
              <a:t>nhóm</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cảm</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xúc</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chính</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theo</a:t>
            </a:r>
            <a:r>
              <a:rPr lang="en-US" sz="2200" b="1">
                <a:latin typeface="Arial" panose="020B0604020202020204" pitchFamily="34" charset="0"/>
                <a:cs typeface="Arial" panose="020B0604020202020204" pitchFamily="34" charset="0"/>
              </a:rPr>
              <a:t> Plutchik:</a:t>
            </a:r>
            <a:endParaRPr lang="en-US" sz="2200">
              <a:latin typeface="Arial" panose="020B0604020202020204" pitchFamily="34" charset="0"/>
              <a:cs typeface="Arial" panose="020B0604020202020204" pitchFamily="34" charset="0"/>
            </a:endParaRPr>
          </a:p>
          <a:p>
            <a:pPr lvl="0"/>
            <a:r>
              <a:rPr lang="en-US" sz="2200" err="1">
                <a:latin typeface="Arial" panose="020B0604020202020204" pitchFamily="34" charset="0"/>
                <a:cs typeface="Arial" panose="020B0604020202020204" pitchFamily="34" charset="0"/>
              </a:rPr>
              <a:t>Sợ</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hãi</a:t>
            </a:r>
            <a:r>
              <a:rPr lang="en-US" sz="2200">
                <a:latin typeface="Arial" panose="020B0604020202020204" pitchFamily="34" charset="0"/>
                <a:cs typeface="Arial" panose="020B0604020202020204" pitchFamily="34" charset="0"/>
              </a:rPr>
              <a:t> </a:t>
            </a:r>
          </a:p>
          <a:p>
            <a:pPr lvl="0"/>
            <a:r>
              <a:rPr lang="en-US" sz="2200" err="1">
                <a:latin typeface="Arial" panose="020B0604020202020204" pitchFamily="34" charset="0"/>
                <a:cs typeface="Arial" panose="020B0604020202020204" pitchFamily="34" charset="0"/>
              </a:rPr>
              <a:t>Giận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dữ</a:t>
            </a:r>
            <a:r>
              <a:rPr lang="en-US" sz="2200">
                <a:latin typeface="Arial" panose="020B0604020202020204" pitchFamily="34" charset="0"/>
                <a:cs typeface="Arial" panose="020B0604020202020204" pitchFamily="34" charset="0"/>
              </a:rPr>
              <a:t> </a:t>
            </a:r>
          </a:p>
          <a:p>
            <a:pPr lvl="0"/>
            <a:r>
              <a:rPr lang="en-US" sz="2200">
                <a:latin typeface="Arial" panose="020B0604020202020204" pitchFamily="34" charset="0"/>
                <a:cs typeface="Arial" panose="020B0604020202020204" pitchFamily="34" charset="0"/>
              </a:rPr>
              <a:t>Vui </a:t>
            </a:r>
            <a:r>
              <a:rPr lang="en-US" sz="2200" err="1">
                <a:latin typeface="Arial" panose="020B0604020202020204" pitchFamily="34" charset="0"/>
                <a:cs typeface="Arial" panose="020B0604020202020204" pitchFamily="34" charset="0"/>
              </a:rPr>
              <a:t>vẻ</a:t>
            </a:r>
            <a:r>
              <a:rPr lang="en-US" sz="2200">
                <a:latin typeface="Arial" panose="020B0604020202020204" pitchFamily="34" charset="0"/>
                <a:cs typeface="Arial" panose="020B0604020202020204" pitchFamily="34" charset="0"/>
              </a:rPr>
              <a:t> </a:t>
            </a:r>
          </a:p>
          <a:p>
            <a:pPr lvl="0"/>
            <a:r>
              <a:rPr lang="en-US" sz="2200" err="1">
                <a:latin typeface="Arial" panose="020B0604020202020204" pitchFamily="34" charset="0"/>
                <a:cs typeface="Arial" panose="020B0604020202020204" pitchFamily="34" charset="0"/>
              </a:rPr>
              <a:t>Buồn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bã</a:t>
            </a:r>
            <a:r>
              <a:rPr lang="en-US" sz="2200">
                <a:latin typeface="Arial" panose="020B0604020202020204" pitchFamily="34" charset="0"/>
                <a:cs typeface="Arial" panose="020B0604020202020204" pitchFamily="34" charset="0"/>
              </a:rPr>
              <a:t> </a:t>
            </a:r>
          </a:p>
          <a:p>
            <a:pPr lvl="0"/>
            <a:r>
              <a:rPr lang="en-US" sz="2200" err="1">
                <a:latin typeface="Arial" panose="020B0604020202020204" pitchFamily="34" charset="0"/>
                <a:cs typeface="Arial" panose="020B0604020202020204" pitchFamily="34" charset="0"/>
              </a:rPr>
              <a:t>Chấp</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nhận</a:t>
            </a:r>
            <a:r>
              <a:rPr lang="en-US" sz="2200">
                <a:latin typeface="Arial" panose="020B0604020202020204" pitchFamily="34" charset="0"/>
                <a:cs typeface="Arial" panose="020B0604020202020204" pitchFamily="34" charset="0"/>
              </a:rPr>
              <a:t> </a:t>
            </a:r>
          </a:p>
          <a:p>
            <a:pPr lvl="0"/>
            <a:r>
              <a:rPr lang="en-US" sz="2200" err="1">
                <a:latin typeface="Arial" panose="020B0604020202020204" pitchFamily="34" charset="0"/>
                <a:cs typeface="Arial" panose="020B0604020202020204" pitchFamily="34" charset="0"/>
              </a:rPr>
              <a:t>Ghê</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tởm</a:t>
            </a:r>
            <a:r>
              <a:rPr lang="en-US" sz="2200">
                <a:latin typeface="Arial" panose="020B0604020202020204" pitchFamily="34" charset="0"/>
                <a:cs typeface="Arial" panose="020B0604020202020204" pitchFamily="34" charset="0"/>
              </a:rPr>
              <a:t> </a:t>
            </a:r>
          </a:p>
          <a:p>
            <a:pPr lvl="0"/>
            <a:r>
              <a:rPr lang="en-US" sz="2200" err="1">
                <a:latin typeface="Arial" panose="020B0604020202020204" pitchFamily="34" charset="0"/>
                <a:cs typeface="Arial" panose="020B0604020202020204" pitchFamily="34" charset="0"/>
              </a:rPr>
              <a:t>Mong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đợi</a:t>
            </a:r>
            <a:r>
              <a:rPr lang="en-US" sz="2200">
                <a:latin typeface="Arial" panose="020B0604020202020204" pitchFamily="34" charset="0"/>
                <a:cs typeface="Arial" panose="020B0604020202020204" pitchFamily="34" charset="0"/>
              </a:rPr>
              <a:t> </a:t>
            </a:r>
          </a:p>
          <a:p>
            <a:pPr lvl="0"/>
            <a:r>
              <a:rPr lang="en-US" sz="2200" err="1">
                <a:latin typeface="Arial" panose="020B0604020202020204" pitchFamily="34" charset="0"/>
                <a:cs typeface="Arial" panose="020B0604020202020204" pitchFamily="34" charset="0"/>
              </a:rPr>
              <a:t>Ngạc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nhiên</a:t>
            </a:r>
            <a:endParaRPr lang="en-US" sz="2200">
              <a:latin typeface="Arial" panose="020B0604020202020204" pitchFamily="34" charset="0"/>
              <a:cs typeface="Arial" panose="020B0604020202020204" pitchFamily="34" charset="0"/>
            </a:endParaRPr>
          </a:p>
          <a:p>
            <a:pPr marL="0" indent="0" algn="just">
              <a:lnSpc>
                <a:spcPct val="150000"/>
              </a:lnSpc>
              <a:spcBef>
                <a:spcPts val="0"/>
              </a:spcBef>
              <a:buNone/>
            </a:pPr>
            <a:endParaRPr lang="en-US" sz="220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B7EE307-401B-B64B-9307-5D2FD11F6C83}"/>
              </a:ext>
            </a:extLst>
          </p:cNvPr>
          <p:cNvSpPr txBox="1"/>
          <p:nvPr/>
        </p:nvSpPr>
        <p:spPr>
          <a:xfrm>
            <a:off x="4803422" y="4175457"/>
            <a:ext cx="6096000" cy="861774"/>
          </a:xfrm>
          <a:prstGeom prst="rect">
            <a:avLst/>
          </a:prstGeom>
          <a:noFill/>
        </p:spPr>
        <p:txBody>
          <a:bodyPr wrap="square">
            <a:spAutoFit/>
          </a:bodyPr>
          <a:lstStyle/>
          <a:p>
            <a:pPr>
              <a:buNone/>
            </a:pPr>
            <a:r>
              <a:rPr lang="en-US" sz="2500">
                <a:solidFill>
                  <a:schemeClr val="accent1">
                    <a:lumMod val="50000"/>
                  </a:schemeClr>
                </a:solidFill>
                <a:latin typeface="Arial" panose="020B0604020202020204" pitchFamily="34" charset="0"/>
                <a:cs typeface="Arial" panose="020B0604020202020204" pitchFamily="34" charset="0"/>
                <a:sym typeface="Wingdings" panose="05000000000000000000" pitchFamily="2" charset="2"/>
              </a:rPr>
              <a:t> </a:t>
            </a:r>
            <a:r>
              <a:rPr lang="en-US" sz="2500">
                <a:solidFill>
                  <a:schemeClr val="accent1">
                    <a:lumMod val="50000"/>
                  </a:schemeClr>
                </a:solidFill>
                <a:latin typeface="Arial" panose="020B0604020202020204" pitchFamily="34" charset="0"/>
                <a:cs typeface="Arial" panose="020B0604020202020204" pitchFamily="34" charset="0"/>
              </a:rPr>
              <a:t>Marketer </a:t>
            </a:r>
            <a:r>
              <a:rPr lang="en-US" sz="2500" err="1">
                <a:solidFill>
                  <a:schemeClr val="accent1">
                    <a:lumMod val="50000"/>
                  </a:schemeClr>
                </a:solidFill>
                <a:latin typeface="Arial" panose="020B0604020202020204" pitchFamily="34" charset="0"/>
                <a:cs typeface="Arial" panose="020B0604020202020204" pitchFamily="34" charset="0"/>
              </a:rPr>
              <a:t>không</a:t>
            </a:r>
            <a:r>
              <a:rPr lang="en-US" sz="2500">
                <a:solidFill>
                  <a:schemeClr val="accent1">
                    <a:lumMod val="50000"/>
                  </a:schemeClr>
                </a:solidFill>
                <a:latin typeface="Arial" panose="020B0604020202020204" pitchFamily="34" charset="0"/>
                <a:cs typeface="Arial" panose="020B0604020202020204" pitchFamily="34" charset="0"/>
              </a:rPr>
              <a:t> </a:t>
            </a:r>
            <a:r>
              <a:rPr lang="en-US" sz="2500" err="1">
                <a:solidFill>
                  <a:schemeClr val="accent1">
                    <a:lumMod val="50000"/>
                  </a:schemeClr>
                </a:solidFill>
                <a:latin typeface="Arial" panose="020B0604020202020204" pitchFamily="34" charset="0"/>
                <a:cs typeface="Arial" panose="020B0604020202020204" pitchFamily="34" charset="0"/>
              </a:rPr>
              <a:t>chỉ</a:t>
            </a:r>
            <a:r>
              <a:rPr lang="en-US" sz="2500">
                <a:solidFill>
                  <a:schemeClr val="accent1">
                    <a:lumMod val="50000"/>
                  </a:schemeClr>
                </a:solidFill>
                <a:latin typeface="Arial" panose="020B0604020202020204" pitchFamily="34" charset="0"/>
                <a:cs typeface="Arial" panose="020B0604020202020204" pitchFamily="34" charset="0"/>
              </a:rPr>
              <a:t> </a:t>
            </a:r>
            <a:r>
              <a:rPr lang="en-US" sz="2500" err="1">
                <a:solidFill>
                  <a:schemeClr val="accent1">
                    <a:lumMod val="50000"/>
                  </a:schemeClr>
                </a:solidFill>
                <a:latin typeface="Arial" panose="020B0604020202020204" pitchFamily="34" charset="0"/>
                <a:cs typeface="Arial" panose="020B0604020202020204" pitchFamily="34" charset="0"/>
              </a:rPr>
              <a:t>truyền</a:t>
            </a:r>
            <a:r>
              <a:rPr lang="en-US" sz="2500">
                <a:solidFill>
                  <a:schemeClr val="accent1">
                    <a:lumMod val="50000"/>
                  </a:schemeClr>
                </a:solidFill>
                <a:latin typeface="Arial" panose="020B0604020202020204" pitchFamily="34" charset="0"/>
                <a:cs typeface="Arial" panose="020B0604020202020204" pitchFamily="34" charset="0"/>
              </a:rPr>
              <a:t> </a:t>
            </a:r>
            <a:r>
              <a:rPr lang="en-US" sz="2500" err="1">
                <a:solidFill>
                  <a:schemeClr val="accent1">
                    <a:lumMod val="50000"/>
                  </a:schemeClr>
                </a:solidFill>
                <a:latin typeface="Arial" panose="020B0604020202020204" pitchFamily="34" charset="0"/>
                <a:cs typeface="Arial" panose="020B0604020202020204" pitchFamily="34" charset="0"/>
              </a:rPr>
              <a:t>thông</a:t>
            </a:r>
            <a:r>
              <a:rPr lang="en-US" sz="2500">
                <a:solidFill>
                  <a:schemeClr val="accent1">
                    <a:lumMod val="50000"/>
                  </a:schemeClr>
                </a:solidFill>
                <a:latin typeface="Arial" panose="020B0604020202020204" pitchFamily="34" charset="0"/>
                <a:cs typeface="Arial" panose="020B0604020202020204" pitchFamily="34" charset="0"/>
              </a:rPr>
              <a:t> </a:t>
            </a:r>
            <a:r>
              <a:rPr lang="en-US" sz="2500" err="1">
                <a:solidFill>
                  <a:schemeClr val="accent1">
                    <a:lumMod val="50000"/>
                  </a:schemeClr>
                </a:solidFill>
                <a:latin typeface="Arial" panose="020B0604020202020204" pitchFamily="34" charset="0"/>
                <a:cs typeface="Arial" panose="020B0604020202020204" pitchFamily="34" charset="0"/>
              </a:rPr>
              <a:t>thông</a:t>
            </a:r>
            <a:r>
              <a:rPr lang="en-US" sz="2500">
                <a:solidFill>
                  <a:schemeClr val="accent1">
                    <a:lumMod val="50000"/>
                  </a:schemeClr>
                </a:solidFill>
                <a:latin typeface="Arial" panose="020B0604020202020204" pitchFamily="34" charset="0"/>
                <a:cs typeface="Arial" panose="020B0604020202020204" pitchFamily="34" charset="0"/>
              </a:rPr>
              <a:t> tin </a:t>
            </a:r>
            <a:r>
              <a:rPr lang="en-US" sz="2500" err="1">
                <a:solidFill>
                  <a:schemeClr val="accent1">
                    <a:lumMod val="50000"/>
                  </a:schemeClr>
                </a:solidFill>
                <a:latin typeface="Arial" panose="020B0604020202020204" pitchFamily="34" charset="0"/>
                <a:cs typeface="Arial" panose="020B0604020202020204" pitchFamily="34" charset="0"/>
              </a:rPr>
              <a:t>mà</a:t>
            </a:r>
            <a:r>
              <a:rPr lang="en-US" sz="2500">
                <a:solidFill>
                  <a:schemeClr val="accent1">
                    <a:lumMod val="50000"/>
                  </a:schemeClr>
                </a:solidFill>
                <a:latin typeface="Arial" panose="020B0604020202020204" pitchFamily="34" charset="0"/>
                <a:cs typeface="Arial" panose="020B0604020202020204" pitchFamily="34" charset="0"/>
              </a:rPr>
              <a:t> </a:t>
            </a:r>
            <a:r>
              <a:rPr lang="en-US" sz="2500" err="1">
                <a:solidFill>
                  <a:schemeClr val="accent1">
                    <a:lumMod val="50000"/>
                  </a:schemeClr>
                </a:solidFill>
                <a:latin typeface="Arial" panose="020B0604020202020204" pitchFamily="34" charset="0"/>
                <a:cs typeface="Arial" panose="020B0604020202020204" pitchFamily="34" charset="0"/>
              </a:rPr>
              <a:t>còn</a:t>
            </a:r>
            <a:r>
              <a:rPr lang="en-US" sz="2500">
                <a:solidFill>
                  <a:schemeClr val="accent1">
                    <a:lumMod val="50000"/>
                  </a:schemeClr>
                </a:solidFill>
                <a:latin typeface="Arial" panose="020B0604020202020204" pitchFamily="34" charset="0"/>
                <a:cs typeface="Arial" panose="020B0604020202020204" pitchFamily="34" charset="0"/>
              </a:rPr>
              <a:t> </a:t>
            </a:r>
            <a:r>
              <a:rPr lang="en-US" sz="2500" err="1">
                <a:solidFill>
                  <a:schemeClr val="accent1">
                    <a:lumMod val="50000"/>
                  </a:schemeClr>
                </a:solidFill>
                <a:latin typeface="Arial" panose="020B0604020202020204" pitchFamily="34" charset="0"/>
                <a:cs typeface="Arial" panose="020B0604020202020204" pitchFamily="34" charset="0"/>
              </a:rPr>
              <a:t>thiết</a:t>
            </a:r>
            <a:r>
              <a:rPr lang="en-US" sz="2500">
                <a:solidFill>
                  <a:schemeClr val="accent1">
                    <a:lumMod val="50000"/>
                  </a:schemeClr>
                </a:solidFill>
                <a:latin typeface="Arial" panose="020B0604020202020204" pitchFamily="34" charset="0"/>
                <a:cs typeface="Arial" panose="020B0604020202020204" pitchFamily="34" charset="0"/>
              </a:rPr>
              <a:t> </a:t>
            </a:r>
            <a:r>
              <a:rPr lang="en-US" sz="2500" err="1">
                <a:solidFill>
                  <a:schemeClr val="accent1">
                    <a:lumMod val="50000"/>
                  </a:schemeClr>
                </a:solidFill>
                <a:latin typeface="Arial" panose="020B0604020202020204" pitchFamily="34" charset="0"/>
                <a:cs typeface="Arial" panose="020B0604020202020204" pitchFamily="34" charset="0"/>
              </a:rPr>
              <a:t>kế</a:t>
            </a:r>
            <a:r>
              <a:rPr lang="en-US" sz="2500">
                <a:solidFill>
                  <a:schemeClr val="accent1">
                    <a:lumMod val="50000"/>
                  </a:schemeClr>
                </a:solidFill>
                <a:latin typeface="Arial" panose="020B0604020202020204" pitchFamily="34" charset="0"/>
                <a:cs typeface="Arial" panose="020B0604020202020204" pitchFamily="34" charset="0"/>
              </a:rPr>
              <a:t> </a:t>
            </a:r>
            <a:r>
              <a:rPr lang="en-US" sz="2500" b="1" err="1">
                <a:solidFill>
                  <a:schemeClr val="accent1">
                    <a:lumMod val="50000"/>
                  </a:schemeClr>
                </a:solidFill>
                <a:latin typeface="Arial" panose="020B0604020202020204" pitchFamily="34" charset="0"/>
                <a:cs typeface="Arial" panose="020B0604020202020204" pitchFamily="34" charset="0"/>
              </a:rPr>
              <a:t>trải</a:t>
            </a:r>
            <a:r>
              <a:rPr lang="en-US" sz="2500" b="1">
                <a:solidFill>
                  <a:schemeClr val="accent1">
                    <a:lumMod val="50000"/>
                  </a:schemeClr>
                </a:solidFill>
                <a:latin typeface="Arial" panose="020B0604020202020204" pitchFamily="34" charset="0"/>
                <a:cs typeface="Arial" panose="020B0604020202020204" pitchFamily="34" charset="0"/>
              </a:rPr>
              <a:t> </a:t>
            </a:r>
            <a:r>
              <a:rPr lang="en-US" sz="2500" b="1" err="1">
                <a:solidFill>
                  <a:schemeClr val="accent1">
                    <a:lumMod val="50000"/>
                  </a:schemeClr>
                </a:solidFill>
                <a:latin typeface="Arial" panose="020B0604020202020204" pitchFamily="34" charset="0"/>
                <a:cs typeface="Arial" panose="020B0604020202020204" pitchFamily="34" charset="0"/>
              </a:rPr>
              <a:t>nghiệm</a:t>
            </a:r>
            <a:r>
              <a:rPr lang="en-US" sz="2500" b="1">
                <a:solidFill>
                  <a:schemeClr val="accent1">
                    <a:lumMod val="50000"/>
                  </a:schemeClr>
                </a:solidFill>
                <a:latin typeface="Arial" panose="020B0604020202020204" pitchFamily="34" charset="0"/>
                <a:cs typeface="Arial" panose="020B0604020202020204" pitchFamily="34" charset="0"/>
              </a:rPr>
              <a:t> </a:t>
            </a:r>
            <a:r>
              <a:rPr lang="en-US" sz="2500" b="1" err="1">
                <a:solidFill>
                  <a:schemeClr val="accent1">
                    <a:lumMod val="50000"/>
                  </a:schemeClr>
                </a:solidFill>
                <a:latin typeface="Arial" panose="020B0604020202020204" pitchFamily="34" charset="0"/>
                <a:cs typeface="Arial" panose="020B0604020202020204" pitchFamily="34" charset="0"/>
              </a:rPr>
              <a:t>cảm</a:t>
            </a:r>
            <a:r>
              <a:rPr lang="en-US" sz="2500" b="1">
                <a:solidFill>
                  <a:schemeClr val="accent1">
                    <a:lumMod val="50000"/>
                  </a:schemeClr>
                </a:solidFill>
                <a:latin typeface="Arial" panose="020B0604020202020204" pitchFamily="34" charset="0"/>
                <a:cs typeface="Arial" panose="020B0604020202020204" pitchFamily="34" charset="0"/>
              </a:rPr>
              <a:t> </a:t>
            </a:r>
            <a:r>
              <a:rPr lang="en-US" sz="2500" b="1" err="1">
                <a:solidFill>
                  <a:schemeClr val="accent1">
                    <a:lumMod val="50000"/>
                  </a:schemeClr>
                </a:solidFill>
                <a:latin typeface="Arial" panose="020B0604020202020204" pitchFamily="34" charset="0"/>
                <a:cs typeface="Arial" panose="020B0604020202020204" pitchFamily="34" charset="0"/>
              </a:rPr>
              <a:t>xúc</a:t>
            </a:r>
            <a:r>
              <a:rPr lang="en-US" sz="2500">
                <a:solidFill>
                  <a:schemeClr val="accent1">
                    <a:lumMod val="50000"/>
                  </a:schemeClr>
                </a:solidFill>
                <a:latin typeface="Arial" panose="020B0604020202020204" pitchFamily="34" charset="0"/>
                <a:cs typeface="Arial" panose="020B0604020202020204" pitchFamily="34" charset="0"/>
              </a:rPr>
              <a:t>.</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962E7-EFF2-E914-3180-60EA67EF5B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7ED2AB-4FE9-6ADE-60DC-98E3E8A80D4E}"/>
              </a:ext>
            </a:extLst>
          </p:cNvPr>
          <p:cNvSpPr>
            <a:spLocks noGrp="1"/>
          </p:cNvSpPr>
          <p:nvPr>
            <p:ph type="title"/>
          </p:nvPr>
        </p:nvSpPr>
        <p:spPr>
          <a:xfrm>
            <a:off x="533400" y="-131587"/>
            <a:ext cx="10515600" cy="1325563"/>
          </a:xfrm>
        </p:spPr>
        <p:txBody>
          <a:bodyPr>
            <a:normAutofit/>
          </a:bodyPr>
          <a:lstStyle/>
          <a:p>
            <a:r>
              <a:rPr lang="en-US" sz="2800" i="1" kern="0">
                <a:latin typeface="Arial" panose="020B0604020202020204" pitchFamily="34" charset="0"/>
                <a:ea typeface="Times New Roman" panose="02020603050405020304" pitchFamily="18" charset="0"/>
                <a:cs typeface="Arial" panose="020B0604020202020204" pitchFamily="34" charset="0"/>
              </a:rPr>
              <a:t>Nhu </a:t>
            </a:r>
            <a:r>
              <a:rPr lang="en-US" sz="2800" i="1" kern="0" err="1">
                <a:latin typeface="Arial" panose="020B0604020202020204" pitchFamily="34" charset="0"/>
                <a:ea typeface="Times New Roman" panose="02020603050405020304" pitchFamily="18" charset="0"/>
                <a:cs typeface="Arial" panose="020B0604020202020204" pitchFamily="34" charset="0"/>
              </a:rPr>
              <a:t>cầu</a:t>
            </a:r>
            <a:r>
              <a:rPr lang="en-US" sz="2800" i="1" kern="0">
                <a:latin typeface="Arial" panose="020B0604020202020204" pitchFamily="34" charset="0"/>
                <a:ea typeface="Times New Roman" panose="02020603050405020304" pitchFamily="18" charset="0"/>
                <a:cs typeface="Arial" panose="020B0604020202020204" pitchFamily="34" charset="0"/>
              </a:rPr>
              <a:t>, </a:t>
            </a:r>
            <a:r>
              <a:rPr lang="en-US" sz="2800" i="1" kern="0" err="1">
                <a:latin typeface="Arial" panose="020B0604020202020204" pitchFamily="34" charset="0"/>
                <a:ea typeface="Times New Roman" panose="02020603050405020304" pitchFamily="18" charset="0"/>
                <a:cs typeface="Arial" panose="020B0604020202020204" pitchFamily="34" charset="0"/>
              </a:rPr>
              <a:t>động</a:t>
            </a:r>
            <a:r>
              <a:rPr lang="en-US" sz="2800" i="1" kern="0">
                <a:latin typeface="Arial" panose="020B0604020202020204" pitchFamily="34" charset="0"/>
                <a:ea typeface="Times New Roman" panose="02020603050405020304" pitchFamily="18" charset="0"/>
                <a:cs typeface="Arial" panose="020B0604020202020204" pitchFamily="34" charset="0"/>
              </a:rPr>
              <a:t> </a:t>
            </a:r>
            <a:r>
              <a:rPr lang="en-US" sz="2800" i="1" kern="0" err="1">
                <a:latin typeface="Arial" panose="020B0604020202020204" pitchFamily="34" charset="0"/>
                <a:ea typeface="Times New Roman" panose="02020603050405020304" pitchFamily="18" charset="0"/>
                <a:cs typeface="Arial" panose="020B0604020202020204" pitchFamily="34" charset="0"/>
              </a:rPr>
              <a:t>lực</a:t>
            </a:r>
            <a:r>
              <a:rPr lang="en-US" sz="2800" i="1" kern="0">
                <a:latin typeface="Arial" panose="020B0604020202020204" pitchFamily="34" charset="0"/>
                <a:ea typeface="Times New Roman" panose="02020603050405020304" pitchFamily="18" charset="0"/>
                <a:cs typeface="Arial" panose="020B0604020202020204" pitchFamily="34" charset="0"/>
              </a:rPr>
              <a:t> </a:t>
            </a:r>
            <a:r>
              <a:rPr lang="en-US" sz="2800" i="1" kern="0" err="1">
                <a:latin typeface="Arial" panose="020B0604020202020204" pitchFamily="34" charset="0"/>
                <a:ea typeface="Times New Roman" panose="02020603050405020304" pitchFamily="18" charset="0"/>
                <a:cs typeface="Arial" panose="020B0604020202020204" pitchFamily="34" charset="0"/>
              </a:rPr>
              <a:t>và</a:t>
            </a:r>
            <a:r>
              <a:rPr lang="en-US" sz="2800" i="1" kern="0">
                <a:latin typeface="Arial" panose="020B0604020202020204" pitchFamily="34" charset="0"/>
                <a:ea typeface="Times New Roman" panose="02020603050405020304" pitchFamily="18" charset="0"/>
                <a:cs typeface="Arial" panose="020B0604020202020204" pitchFamily="34" charset="0"/>
              </a:rPr>
              <a:t> </a:t>
            </a:r>
            <a:r>
              <a:rPr lang="en-US" sz="2800" i="1" kern="0" err="1">
                <a:latin typeface="Arial" panose="020B0604020202020204" pitchFamily="34" charset="0"/>
                <a:ea typeface="Times New Roman" panose="02020603050405020304" pitchFamily="18" charset="0"/>
                <a:cs typeface="Arial" panose="020B0604020202020204" pitchFamily="34" charset="0"/>
              </a:rPr>
              <a:t>mục</a:t>
            </a:r>
            <a:r>
              <a:rPr lang="en-US" sz="2800" i="1" kern="0">
                <a:latin typeface="Arial" panose="020B0604020202020204" pitchFamily="34" charset="0"/>
                <a:ea typeface="Times New Roman" panose="02020603050405020304" pitchFamily="18" charset="0"/>
                <a:cs typeface="Arial" panose="020B0604020202020204" pitchFamily="34" charset="0"/>
              </a:rPr>
              <a:t> </a:t>
            </a:r>
            <a:r>
              <a:rPr lang="en-US" sz="2800" i="1" kern="0" err="1">
                <a:latin typeface="Arial" panose="020B0604020202020204" pitchFamily="34" charset="0"/>
                <a:ea typeface="Times New Roman" panose="02020603050405020304" pitchFamily="18" charset="0"/>
                <a:cs typeface="Arial" panose="020B0604020202020204" pitchFamily="34" charset="0"/>
              </a:rPr>
              <a:t>tiêu</a:t>
            </a:r>
            <a:endParaRPr lang="en-US" sz="2800" i="1">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8E7A9F7-2462-54A3-CC89-DDF16DEED8A7}"/>
              </a:ext>
            </a:extLst>
          </p:cNvPr>
          <p:cNvSpPr>
            <a:spLocks noGrp="1"/>
          </p:cNvSpPr>
          <p:nvPr>
            <p:ph idx="1"/>
          </p:nvPr>
        </p:nvSpPr>
        <p:spPr>
          <a:xfrm>
            <a:off x="296334" y="857250"/>
            <a:ext cx="10515600" cy="4351338"/>
          </a:xfrm>
        </p:spPr>
        <p:txBody>
          <a:bodyPr>
            <a:noAutofit/>
          </a:bodyPr>
          <a:lstStyle/>
          <a:p>
            <a:r>
              <a:rPr lang="en-US" sz="2400" b="1">
                <a:latin typeface="Arial" panose="020B0604020202020204" pitchFamily="34" charset="0"/>
                <a:cs typeface="Arial" panose="020B0604020202020204" pitchFamily="34" charset="0"/>
              </a:rPr>
              <a:t>Nhu </a:t>
            </a:r>
            <a:r>
              <a:rPr lang="en-US" sz="2400" b="1" err="1">
                <a:latin typeface="Arial" panose="020B0604020202020204" pitchFamily="34" charset="0"/>
                <a:cs typeface="Arial" panose="020B0604020202020204" pitchFamily="34" charset="0"/>
              </a:rPr>
              <a:t>cầu</a:t>
            </a:r>
            <a:r>
              <a:rPr lang="en-US" sz="2400" b="1">
                <a:latin typeface="Arial" panose="020B0604020202020204" pitchFamily="34" charset="0"/>
                <a:cs typeface="Arial" panose="020B0604020202020204" pitchFamily="34" charset="0"/>
              </a:rPr>
              <a:t> → </a:t>
            </a:r>
            <a:r>
              <a:rPr lang="en-US" sz="2400" b="1" err="1">
                <a:latin typeface="Arial" panose="020B0604020202020204" pitchFamily="34" charset="0"/>
                <a:cs typeface="Arial" panose="020B0604020202020204" pitchFamily="34" charset="0"/>
              </a:rPr>
              <a:t>Động</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lực</a:t>
            </a:r>
            <a:r>
              <a:rPr lang="en-US" sz="2400" b="1">
                <a:latin typeface="Arial" panose="020B0604020202020204" pitchFamily="34" charset="0"/>
                <a:cs typeface="Arial" panose="020B0604020202020204" pitchFamily="34" charset="0"/>
              </a:rPr>
              <a:t> → </a:t>
            </a:r>
            <a:r>
              <a:rPr lang="en-US" sz="2400" b="1" err="1">
                <a:latin typeface="Arial" panose="020B0604020202020204" pitchFamily="34" charset="0"/>
                <a:cs typeface="Arial" panose="020B0604020202020204" pitchFamily="34" charset="0"/>
              </a:rPr>
              <a:t>Mục</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tiêu</a:t>
            </a:r>
            <a:r>
              <a:rPr lang="en-US" sz="2400" b="1">
                <a:latin typeface="Arial" panose="020B0604020202020204" pitchFamily="34" charset="0"/>
                <a:cs typeface="Arial" panose="020B0604020202020204" pitchFamily="34" charset="0"/>
              </a:rPr>
              <a:t> → </a:t>
            </a:r>
            <a:r>
              <a:rPr lang="en-US" sz="2400" b="1" err="1">
                <a:latin typeface="Arial" panose="020B0604020202020204" pitchFamily="34" charset="0"/>
                <a:cs typeface="Arial" panose="020B0604020202020204" pitchFamily="34" charset="0"/>
              </a:rPr>
              <a:t>Hành</a:t>
            </a:r>
            <a:r>
              <a:rPr lang="en-US" sz="2400" b="1">
                <a:latin typeface="Arial" panose="020B0604020202020204" pitchFamily="34" charset="0"/>
                <a:cs typeface="Arial" panose="020B0604020202020204" pitchFamily="34" charset="0"/>
              </a:rPr>
              <a:t> vi</a:t>
            </a:r>
            <a:endParaRPr lang="en-US" sz="2400">
              <a:latin typeface="Arial" panose="020B0604020202020204" pitchFamily="34" charset="0"/>
              <a:cs typeface="Arial" panose="020B0604020202020204" pitchFamily="34" charset="0"/>
            </a:endParaRPr>
          </a:p>
          <a:p>
            <a:pPr lvl="0"/>
            <a:r>
              <a:rPr lang="en-US" sz="2400" b="1">
                <a:latin typeface="Arial" panose="020B0604020202020204" pitchFamily="34" charset="0"/>
                <a:cs typeface="Arial" panose="020B0604020202020204" pitchFamily="34" charset="0"/>
              </a:rPr>
              <a:t>Nhu </a:t>
            </a:r>
            <a:r>
              <a:rPr lang="en-US" sz="2400" b="1" err="1">
                <a:latin typeface="Arial" panose="020B0604020202020204" pitchFamily="34" charset="0"/>
                <a:cs typeface="Arial" panose="020B0604020202020204" pitchFamily="34" charset="0"/>
              </a:rPr>
              <a:t>cầu</a:t>
            </a:r>
            <a:r>
              <a:rPr lang="en-US" sz="2400" b="1">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trạng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thái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thiếu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hụt</a:t>
            </a:r>
            <a:r>
              <a:rPr lang="en-US" sz="2400">
                <a:latin typeface="Arial" panose="020B0604020202020204" pitchFamily="34" charset="0"/>
                <a:cs typeface="Arial" panose="020B0604020202020204" pitchFamily="34" charset="0"/>
              </a:rPr>
              <a:t> </a:t>
            </a:r>
          </a:p>
          <a:p>
            <a:pPr lvl="0"/>
            <a:r>
              <a:rPr lang="en-US" sz="2400" b="1" err="1">
                <a:latin typeface="Arial" panose="020B0604020202020204" pitchFamily="34" charset="0"/>
                <a:cs typeface="Arial" panose="020B0604020202020204" pitchFamily="34" charset="0"/>
              </a:rPr>
              <a:t>Động</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lực</a:t>
            </a:r>
            <a:r>
              <a:rPr lang="en-US" sz="2400" b="1">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lực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thúc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đẩy</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cá</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nhân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hành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động</a:t>
            </a:r>
            <a:r>
              <a:rPr lang="en-US" sz="2400">
                <a:latin typeface="Arial" panose="020B0604020202020204" pitchFamily="34" charset="0"/>
                <a:cs typeface="Arial" panose="020B0604020202020204" pitchFamily="34" charset="0"/>
              </a:rPr>
              <a:t> </a:t>
            </a:r>
          </a:p>
          <a:p>
            <a:pPr lvl="0"/>
            <a:r>
              <a:rPr lang="en-US" sz="2400" b="1" err="1">
                <a:latin typeface="Arial" panose="020B0604020202020204" pitchFamily="34" charset="0"/>
                <a:cs typeface="Arial" panose="020B0604020202020204" pitchFamily="34" charset="0"/>
              </a:rPr>
              <a:t>Mục</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tiêu</a:t>
            </a:r>
            <a:r>
              <a:rPr lang="en-US" sz="2400" b="1">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trạng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thái</a:t>
            </a:r>
            <a:r>
              <a:rPr lang="en-US" sz="2400">
                <a:latin typeface="Arial" panose="020B0604020202020204" pitchFamily="34" charset="0"/>
                <a:cs typeface="Arial" panose="020B0604020202020204" pitchFamily="34" charset="0"/>
              </a:rPr>
              <a:t>/</a:t>
            </a:r>
            <a:r>
              <a:rPr lang="en-US" sz="2400" err="1">
                <a:latin typeface="Arial" panose="020B0604020202020204" pitchFamily="34" charset="0"/>
                <a:cs typeface="Arial" panose="020B0604020202020204" pitchFamily="34" charset="0"/>
              </a:rPr>
              <a:t>kết</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quả</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mà</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cá</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nhân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muốn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đạt</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tới</a:t>
            </a:r>
            <a:r>
              <a:rPr lang="en-US" sz="2400">
                <a:latin typeface="Arial" panose="020B0604020202020204" pitchFamily="34" charset="0"/>
                <a:cs typeface="Arial" panose="020B0604020202020204" pitchFamily="34" charset="0"/>
              </a:rPr>
              <a:t> </a:t>
            </a:r>
          </a:p>
          <a:p>
            <a:r>
              <a:rPr lang="en-US" sz="2400" b="1" err="1">
                <a:latin typeface="Arial" panose="020B0604020202020204" pitchFamily="34" charset="0"/>
                <a:cs typeface="Arial" panose="020B0604020202020204" pitchFamily="34" charset="0"/>
              </a:rPr>
              <a:t>Người</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tiêu</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dùng</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thường</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có</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nhiều</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nhu</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cầu</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cùng</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lúc</a:t>
            </a:r>
            <a:endParaRPr lang="en-US" sz="2400" b="1">
              <a:latin typeface="Arial" panose="020B0604020202020204" pitchFamily="34" charset="0"/>
              <a:cs typeface="Arial" panose="020B0604020202020204" pitchFamily="34" charset="0"/>
            </a:endParaRPr>
          </a:p>
          <a:p>
            <a:pPr marL="0" indent="0">
              <a:buNone/>
            </a:pPr>
            <a:r>
              <a:rPr lang="en-US" sz="2400" err="1">
                <a:latin typeface="Arial" panose="020B0604020202020204" pitchFamily="34" charset="0"/>
                <a:cs typeface="Arial" panose="020B0604020202020204" pitchFamily="34" charset="0"/>
              </a:rPr>
              <a:t>Ví</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dụ</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khi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mua</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một</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chiếc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xe</a:t>
            </a:r>
            <a:r>
              <a:rPr lang="en-US" sz="2400">
                <a:latin typeface="Arial" panose="020B0604020202020204" pitchFamily="34" charset="0"/>
                <a:cs typeface="Arial" panose="020B0604020202020204" pitchFamily="34" charset="0"/>
              </a:rPr>
              <a:t>:</a:t>
            </a:r>
          </a:p>
          <a:p>
            <a:pPr lvl="0"/>
            <a:r>
              <a:rPr lang="en-US" sz="2400" err="1">
                <a:latin typeface="Arial" panose="020B0604020202020204" pitchFamily="34" charset="0"/>
                <a:cs typeface="Arial" panose="020B0604020202020204" pitchFamily="34" charset="0"/>
              </a:rPr>
              <a:t>Giá</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thấp</a:t>
            </a:r>
            <a:r>
              <a:rPr lang="en-US" sz="2400">
                <a:latin typeface="Arial" panose="020B0604020202020204" pitchFamily="34" charset="0"/>
                <a:cs typeface="Arial" panose="020B0604020202020204" pitchFamily="34" charset="0"/>
              </a:rPr>
              <a:t> </a:t>
            </a:r>
          </a:p>
          <a:p>
            <a:pPr lvl="0"/>
            <a:r>
              <a:rPr lang="en-US" sz="2400" err="1">
                <a:latin typeface="Arial" panose="020B0604020202020204" pitchFamily="34" charset="0"/>
                <a:cs typeface="Arial" panose="020B0604020202020204" pitchFamily="34" charset="0"/>
              </a:rPr>
              <a:t>Tiết</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kiệm</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nhiên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liệu</a:t>
            </a:r>
            <a:r>
              <a:rPr lang="en-US" sz="2400">
                <a:latin typeface="Arial" panose="020B0604020202020204" pitchFamily="34" charset="0"/>
                <a:cs typeface="Arial" panose="020B0604020202020204" pitchFamily="34" charset="0"/>
              </a:rPr>
              <a:t> </a:t>
            </a:r>
          </a:p>
          <a:p>
            <a:pPr lvl="0"/>
            <a:r>
              <a:rPr lang="en-US" sz="2400" err="1">
                <a:latin typeface="Arial" panose="020B0604020202020204" pitchFamily="34" charset="0"/>
                <a:cs typeface="Arial" panose="020B0604020202020204" pitchFamily="34" charset="0"/>
              </a:rPr>
              <a:t>Tiện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nghi</a:t>
            </a:r>
            <a:r>
              <a:rPr lang="en-US" sz="2400">
                <a:latin typeface="Arial" panose="020B0604020202020204" pitchFamily="34" charset="0"/>
                <a:cs typeface="Arial" panose="020B0604020202020204" pitchFamily="34" charset="0"/>
              </a:rPr>
              <a:t> </a:t>
            </a:r>
          </a:p>
          <a:p>
            <a:pPr lvl="0"/>
            <a:r>
              <a:rPr lang="en-US" sz="2400" err="1">
                <a:latin typeface="Arial" panose="020B0604020202020204" pitchFamily="34" charset="0"/>
                <a:cs typeface="Arial" panose="020B0604020202020204" pitchFamily="34" charset="0"/>
              </a:rPr>
              <a:t>Hình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ảnh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thương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hiệu</a:t>
            </a:r>
            <a:r>
              <a:rPr lang="en-US" sz="2400">
                <a:latin typeface="Arial" panose="020B0604020202020204" pitchFamily="34" charset="0"/>
                <a:cs typeface="Arial" panose="020B0604020202020204" pitchFamily="34" charset="0"/>
              </a:rPr>
              <a:t> </a:t>
            </a:r>
          </a:p>
          <a:p>
            <a:pPr lvl="0"/>
            <a:r>
              <a:rPr lang="en-US" sz="2400" err="1">
                <a:latin typeface="Arial" panose="020B0604020202020204" pitchFamily="34" charset="0"/>
                <a:cs typeface="Arial" panose="020B0604020202020204" pitchFamily="34" charset="0"/>
              </a:rPr>
              <a:t>Địa</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vị</a:t>
            </a:r>
            <a:endParaRPr lang="en-US" sz="2400">
              <a:latin typeface="Arial" panose="020B0604020202020204" pitchFamily="34" charset="0"/>
              <a:cs typeface="Arial" panose="020B0604020202020204" pitchFamily="34" charset="0"/>
            </a:endParaRPr>
          </a:p>
          <a:p>
            <a:pPr marL="0" lvl="0" indent="0">
              <a:buNone/>
            </a:pPr>
            <a:r>
              <a:rPr lang="en-US" sz="2400" b="1" err="1">
                <a:latin typeface="Arial" panose="020B0604020202020204" pitchFamily="34" charset="0"/>
                <a:cs typeface="Arial" panose="020B0604020202020204" pitchFamily="34" charset="0"/>
              </a:rPr>
              <a:t>Phân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loại</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nhu</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cầu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nhu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cầu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bên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trong</a:t>
            </a:r>
            <a:r>
              <a:rPr lang="en-US" sz="2400">
                <a:latin typeface="Arial" panose="020B0604020202020204" pitchFamily="34" charset="0"/>
                <a:cs typeface="Arial" panose="020B0604020202020204" pitchFamily="34" charset="0"/>
              </a:rPr>
              <a:t> (Mua tai </a:t>
            </a:r>
            <a:r>
              <a:rPr lang="en-US" sz="2400" err="1">
                <a:latin typeface="Arial" panose="020B0604020202020204" pitchFamily="34" charset="0"/>
                <a:cs typeface="Arial" panose="020B0604020202020204" pitchFamily="34" charset="0"/>
              </a:rPr>
              <a:t>nghe</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để</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thư</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giãn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tận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hưởng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nhu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cầu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bên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ngoài</a:t>
            </a:r>
            <a:r>
              <a:rPr lang="en-US" sz="2400">
                <a:latin typeface="Arial" panose="020B0604020202020204" pitchFamily="34" charset="0"/>
                <a:cs typeface="Arial" panose="020B0604020202020204" pitchFamily="34" charset="0"/>
              </a:rPr>
              <a:t> (Mua </a:t>
            </a:r>
            <a:r>
              <a:rPr lang="en-US" sz="2400" err="1">
                <a:latin typeface="Arial" panose="020B0604020202020204" pitchFamily="34" charset="0"/>
                <a:cs typeface="Arial" panose="020B0604020202020204" pitchFamily="34" charset="0"/>
              </a:rPr>
              <a:t>đồng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hồ</a:t>
            </a:r>
            <a:r>
              <a:rPr lang="en-US" sz="2400">
                <a:latin typeface="Arial" panose="020B0604020202020204" pitchFamily="34" charset="0"/>
                <a:cs typeface="Arial" panose="020B0604020202020204" pitchFamily="34" charset="0"/>
              </a:rPr>
              <a:t>/</a:t>
            </a:r>
            <a:r>
              <a:rPr lang="en-US" sz="2400" err="1">
                <a:latin typeface="Arial" panose="020B0604020202020204" pitchFamily="34" charset="0"/>
                <a:cs typeface="Arial" panose="020B0604020202020204" pitchFamily="34" charset="0"/>
              </a:rPr>
              <a:t>đồ</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hiệu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để</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gây</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ấn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tượng</a:t>
            </a:r>
            <a:r>
              <a:rPr lang="en-US" sz="2400">
                <a:latin typeface="Arial" panose="020B0604020202020204" pitchFamily="34" charset="0"/>
                <a:cs typeface="Arial" panose="020B0604020202020204" pitchFamily="34" charset="0"/>
              </a:rPr>
              <a:t>)</a:t>
            </a:r>
          </a:p>
          <a:p>
            <a:pPr marL="0" indent="0">
              <a:buNone/>
            </a:pPr>
            <a:endParaRPr lang="en-US"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6706842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79C82-4F29-6DD3-F891-A13662202B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6094E4-5E57-57A0-9C1E-E111838081E2}"/>
              </a:ext>
            </a:extLst>
          </p:cNvPr>
          <p:cNvSpPr>
            <a:spLocks noGrp="1"/>
          </p:cNvSpPr>
          <p:nvPr>
            <p:ph type="title"/>
          </p:nvPr>
        </p:nvSpPr>
        <p:spPr>
          <a:xfrm>
            <a:off x="533400" y="-131587"/>
            <a:ext cx="10515600" cy="1325563"/>
          </a:xfrm>
        </p:spPr>
        <p:txBody>
          <a:bodyPr>
            <a:normAutofit/>
          </a:bodyPr>
          <a:lstStyle/>
          <a:p>
            <a:r>
              <a:rPr lang="en-US" sz="2800" i="1" kern="0" err="1">
                <a:latin typeface="Arial" panose="020B0604020202020204" pitchFamily="34" charset="0"/>
                <a:ea typeface="Times New Roman" panose="02020603050405020304" pitchFamily="18" charset="0"/>
                <a:cs typeface="Arial" panose="020B0604020202020204" pitchFamily="34" charset="0"/>
              </a:rPr>
              <a:t>Khái</a:t>
            </a:r>
            <a:r>
              <a:rPr lang="en-US" sz="2800" i="1" kern="0">
                <a:latin typeface="Arial" panose="020B0604020202020204" pitchFamily="34" charset="0"/>
                <a:ea typeface="Times New Roman" panose="02020603050405020304" pitchFamily="18" charset="0"/>
                <a:cs typeface="Arial" panose="020B0604020202020204" pitchFamily="34" charset="0"/>
              </a:rPr>
              <a:t> </a:t>
            </a:r>
            <a:r>
              <a:rPr lang="en-US" sz="2800" i="1" kern="0" err="1">
                <a:latin typeface="Arial" panose="020B0604020202020204" pitchFamily="34" charset="0"/>
                <a:ea typeface="Times New Roman" panose="02020603050405020304" pitchFamily="18" charset="0"/>
                <a:cs typeface="Arial" panose="020B0604020202020204" pitchFamily="34" charset="0"/>
              </a:rPr>
              <a:t>niệm</a:t>
            </a:r>
            <a:r>
              <a:rPr lang="en-US" sz="2800" i="1" kern="0">
                <a:latin typeface="Arial" panose="020B0604020202020204" pitchFamily="34" charset="0"/>
                <a:ea typeface="Times New Roman" panose="02020603050405020304" pitchFamily="18" charset="0"/>
                <a:cs typeface="Arial" panose="020B0604020202020204" pitchFamily="34" charset="0"/>
              </a:rPr>
              <a:t> </a:t>
            </a:r>
            <a:r>
              <a:rPr lang="en-US" sz="2800" i="1" kern="0" err="1">
                <a:latin typeface="Arial" panose="020B0604020202020204" pitchFamily="34" charset="0"/>
                <a:ea typeface="Times New Roman" panose="02020603050405020304" pitchFamily="18" charset="0"/>
                <a:cs typeface="Arial" panose="020B0604020202020204" pitchFamily="34" charset="0"/>
              </a:rPr>
              <a:t>tự</a:t>
            </a:r>
            <a:r>
              <a:rPr lang="en-US" sz="2800" i="1" kern="0">
                <a:latin typeface="Arial" panose="020B0604020202020204" pitchFamily="34" charset="0"/>
                <a:ea typeface="Times New Roman" panose="02020603050405020304" pitchFamily="18" charset="0"/>
                <a:cs typeface="Arial" panose="020B0604020202020204" pitchFamily="34" charset="0"/>
              </a:rPr>
              <a:t> </a:t>
            </a:r>
            <a:r>
              <a:rPr lang="en-US" sz="2800" i="1" kern="0" err="1">
                <a:latin typeface="Arial" panose="020B0604020202020204" pitchFamily="34" charset="0"/>
                <a:ea typeface="Times New Roman" panose="02020603050405020304" pitchFamily="18" charset="0"/>
                <a:cs typeface="Arial" panose="020B0604020202020204" pitchFamily="34" charset="0"/>
              </a:rPr>
              <a:t>thể</a:t>
            </a:r>
            <a:r>
              <a:rPr lang="en-US" sz="2800" i="1" kern="0">
                <a:latin typeface="Arial" panose="020B0604020202020204" pitchFamily="34" charset="0"/>
                <a:ea typeface="Times New Roman" panose="02020603050405020304" pitchFamily="18" charset="0"/>
                <a:cs typeface="Arial" panose="020B0604020202020204" pitchFamily="34" charset="0"/>
              </a:rPr>
              <a:t> </a:t>
            </a:r>
            <a:r>
              <a:rPr lang="en-US" sz="2800" i="1" kern="0" err="1">
                <a:latin typeface="Arial" panose="020B0604020202020204" pitchFamily="34" charset="0"/>
                <a:ea typeface="Times New Roman" panose="02020603050405020304" pitchFamily="18" charset="0"/>
                <a:cs typeface="Arial" panose="020B0604020202020204" pitchFamily="34" charset="0"/>
              </a:rPr>
              <a:t>hiện</a:t>
            </a:r>
            <a:r>
              <a:rPr lang="en-US" sz="2800" i="1" kern="0">
                <a:latin typeface="Arial" panose="020B0604020202020204" pitchFamily="34" charset="0"/>
                <a:ea typeface="Times New Roman" panose="02020603050405020304" pitchFamily="18" charset="0"/>
                <a:cs typeface="Arial" panose="020B0604020202020204" pitchFamily="34" charset="0"/>
              </a:rPr>
              <a:t> </a:t>
            </a:r>
            <a:r>
              <a:rPr lang="en-US" sz="2800" i="1" kern="0" err="1">
                <a:latin typeface="Arial" panose="020B0604020202020204" pitchFamily="34" charset="0"/>
                <a:ea typeface="Times New Roman" panose="02020603050405020304" pitchFamily="18" charset="0"/>
                <a:cs typeface="Arial" panose="020B0604020202020204" pitchFamily="34" charset="0"/>
              </a:rPr>
              <a:t>và</a:t>
            </a:r>
            <a:r>
              <a:rPr lang="en-US" sz="2800" i="1" kern="0">
                <a:latin typeface="Arial" panose="020B0604020202020204" pitchFamily="34" charset="0"/>
                <a:ea typeface="Times New Roman" panose="02020603050405020304" pitchFamily="18" charset="0"/>
                <a:cs typeface="Arial" panose="020B0604020202020204" pitchFamily="34" charset="0"/>
              </a:rPr>
              <a:t> ý </a:t>
            </a:r>
            <a:r>
              <a:rPr lang="en-US" sz="2800" i="1" kern="0" err="1">
                <a:latin typeface="Arial" panose="020B0604020202020204" pitchFamily="34" charset="0"/>
                <a:ea typeface="Times New Roman" panose="02020603050405020304" pitchFamily="18" charset="0"/>
                <a:cs typeface="Arial" panose="020B0604020202020204" pitchFamily="34" charset="0"/>
              </a:rPr>
              <a:t>nghĩa</a:t>
            </a:r>
            <a:r>
              <a:rPr lang="en-US" sz="2800" i="1" kern="0">
                <a:latin typeface="Arial" panose="020B0604020202020204" pitchFamily="34" charset="0"/>
                <a:ea typeface="Times New Roman" panose="02020603050405020304" pitchFamily="18" charset="0"/>
                <a:cs typeface="Arial" panose="020B0604020202020204" pitchFamily="34" charset="0"/>
              </a:rPr>
              <a:t> </a:t>
            </a:r>
            <a:r>
              <a:rPr lang="en-US" sz="2800" i="1" kern="0" err="1">
                <a:latin typeface="Arial" panose="020B0604020202020204" pitchFamily="34" charset="0"/>
                <a:ea typeface="Times New Roman" panose="02020603050405020304" pitchFamily="18" charset="0"/>
                <a:cs typeface="Arial" panose="020B0604020202020204" pitchFamily="34" charset="0"/>
              </a:rPr>
              <a:t>của</a:t>
            </a:r>
            <a:r>
              <a:rPr lang="en-US" sz="2800" i="1" kern="0">
                <a:latin typeface="Arial" panose="020B0604020202020204" pitchFamily="34" charset="0"/>
                <a:ea typeface="Times New Roman" panose="02020603050405020304" pitchFamily="18" charset="0"/>
                <a:cs typeface="Arial" panose="020B0604020202020204" pitchFamily="34" charset="0"/>
              </a:rPr>
              <a:t> </a:t>
            </a:r>
            <a:r>
              <a:rPr lang="en-US" sz="2800" i="1" kern="0" err="1">
                <a:latin typeface="Arial" panose="020B0604020202020204" pitchFamily="34" charset="0"/>
                <a:ea typeface="Times New Roman" panose="02020603050405020304" pitchFamily="18" charset="0"/>
                <a:cs typeface="Arial" panose="020B0604020202020204" pitchFamily="34" charset="0"/>
              </a:rPr>
              <a:t>chúng</a:t>
            </a:r>
            <a:endParaRPr lang="en-US" sz="2800" i="1">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A88A333-EB3F-0FA8-31EC-9CF64527075C}"/>
              </a:ext>
            </a:extLst>
          </p:cNvPr>
          <p:cNvSpPr>
            <a:spLocks noGrp="1"/>
          </p:cNvSpPr>
          <p:nvPr>
            <p:ph idx="1"/>
          </p:nvPr>
        </p:nvSpPr>
        <p:spPr>
          <a:xfrm>
            <a:off x="296334" y="857250"/>
            <a:ext cx="11060288" cy="4351338"/>
          </a:xfrm>
        </p:spPr>
        <p:txBody>
          <a:bodyPr>
            <a:noAutofit/>
          </a:bodyPr>
          <a:lstStyle/>
          <a:p>
            <a:pPr marL="0" indent="0">
              <a:buNone/>
            </a:pPr>
            <a:r>
              <a:rPr lang="en-US" sz="2400" b="1">
                <a:latin typeface="Arial" panose="020B0604020202020204" pitchFamily="34" charset="0"/>
                <a:cs typeface="Arial" panose="020B0604020202020204" pitchFamily="34" charset="0"/>
              </a:rPr>
              <a:t>1. Actual Self – </a:t>
            </a:r>
            <a:r>
              <a:rPr lang="en-US" sz="2400" b="1" err="1">
                <a:latin typeface="Arial" panose="020B0604020202020204" pitchFamily="34" charset="0"/>
                <a:cs typeface="Arial" panose="020B0604020202020204" pitchFamily="34" charset="0"/>
              </a:rPr>
              <a:t>Hình</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ảnh</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bản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thân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hiện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tại</a:t>
            </a:r>
            <a:br>
              <a:rPr lang="en-US" sz="2400">
                <a:latin typeface="Arial" panose="020B0604020202020204" pitchFamily="34" charset="0"/>
                <a:cs typeface="Arial" panose="020B0604020202020204" pitchFamily="34" charset="0"/>
              </a:rPr>
            </a:br>
            <a:r>
              <a:rPr lang="en-US" sz="2400">
                <a:latin typeface="Arial" panose="020B0604020202020204" pitchFamily="34" charset="0"/>
                <a:cs typeface="Arial" panose="020B0604020202020204" pitchFamily="34" charset="0"/>
              </a:rPr>
              <a:t>“</a:t>
            </a:r>
            <a:r>
              <a:rPr lang="en-US" sz="2400" err="1">
                <a:latin typeface="Arial" panose="020B0604020202020204" pitchFamily="34" charset="0"/>
                <a:cs typeface="Arial" panose="020B0604020202020204" pitchFamily="34" charset="0"/>
              </a:rPr>
              <a:t>Tôi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nghĩ</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mình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là</a:t>
            </a:r>
            <a:r>
              <a:rPr lang="en-US" sz="2400">
                <a:latin typeface="Arial" panose="020B0604020202020204" pitchFamily="34" charset="0"/>
                <a:cs typeface="Arial" panose="020B0604020202020204" pitchFamily="34" charset="0"/>
              </a:rPr>
              <a:t> ai?”</a:t>
            </a:r>
            <a:br>
              <a:rPr lang="en-US" sz="2400">
                <a:latin typeface="Arial" panose="020B0604020202020204" pitchFamily="34" charset="0"/>
                <a:cs typeface="Arial" panose="020B0604020202020204" pitchFamily="34" charset="0"/>
              </a:rPr>
            </a:b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Chọn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thương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hiệu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phù</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hợp</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với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lối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sống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và</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cá</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tính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hiện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tại</a:t>
            </a:r>
            <a:r>
              <a:rPr lang="en-US" sz="2400">
                <a:latin typeface="Arial" panose="020B0604020202020204" pitchFamily="34" charset="0"/>
                <a:cs typeface="Arial" panose="020B0604020202020204" pitchFamily="34" charset="0"/>
              </a:rPr>
              <a:t>.</a:t>
            </a:r>
          </a:p>
          <a:p>
            <a:pPr marL="0" indent="0">
              <a:buNone/>
            </a:pPr>
            <a:r>
              <a:rPr lang="en-US" sz="2400" b="1">
                <a:latin typeface="Arial" panose="020B0604020202020204" pitchFamily="34" charset="0"/>
                <a:cs typeface="Arial" panose="020B0604020202020204" pitchFamily="34" charset="0"/>
              </a:rPr>
              <a:t>2. Ideal Self – </a:t>
            </a:r>
            <a:r>
              <a:rPr lang="en-US" sz="2400" b="1" err="1">
                <a:latin typeface="Arial" panose="020B0604020202020204" pitchFamily="34" charset="0"/>
                <a:cs typeface="Arial" panose="020B0604020202020204" pitchFamily="34" charset="0"/>
              </a:rPr>
              <a:t>Hình</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ảnh</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bản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thân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lý</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tưởng</a:t>
            </a:r>
            <a:br>
              <a:rPr lang="en-US" sz="2400">
                <a:latin typeface="Arial" panose="020B0604020202020204" pitchFamily="34" charset="0"/>
                <a:cs typeface="Arial" panose="020B0604020202020204" pitchFamily="34" charset="0"/>
              </a:rPr>
            </a:br>
            <a:r>
              <a:rPr lang="en-US" sz="2400">
                <a:latin typeface="Arial" panose="020B0604020202020204" pitchFamily="34" charset="0"/>
                <a:cs typeface="Arial" panose="020B0604020202020204" pitchFamily="34" charset="0"/>
              </a:rPr>
              <a:t>“</a:t>
            </a:r>
            <a:r>
              <a:rPr lang="en-US" sz="2400" err="1">
                <a:latin typeface="Arial" panose="020B0604020202020204" pitchFamily="34" charset="0"/>
                <a:cs typeface="Arial" panose="020B0604020202020204" pitchFamily="34" charset="0"/>
              </a:rPr>
              <a:t>Tôi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muốn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trở</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thành</a:t>
            </a:r>
            <a:r>
              <a:rPr lang="en-US" sz="2400">
                <a:latin typeface="Arial" panose="020B0604020202020204" pitchFamily="34" charset="0"/>
                <a:cs typeface="Arial" panose="020B0604020202020204" pitchFamily="34" charset="0"/>
              </a:rPr>
              <a:t> ai?”</a:t>
            </a:r>
            <a:br>
              <a:rPr lang="en-US" sz="2400">
                <a:latin typeface="Arial" panose="020B0604020202020204" pitchFamily="34" charset="0"/>
                <a:cs typeface="Arial" panose="020B0604020202020204" pitchFamily="34" charset="0"/>
              </a:rPr>
            </a:br>
            <a:r>
              <a:rPr lang="en-US" sz="2400">
                <a:latin typeface="Arial" panose="020B0604020202020204" pitchFamily="34" charset="0"/>
                <a:cs typeface="Arial" panose="020B0604020202020204" pitchFamily="34" charset="0"/>
              </a:rPr>
              <a:t>→ Mua </a:t>
            </a:r>
            <a:r>
              <a:rPr lang="en-US" sz="2400" err="1">
                <a:latin typeface="Arial" panose="020B0604020202020204" pitchFamily="34" charset="0"/>
                <a:cs typeface="Arial" panose="020B0604020202020204" pitchFamily="34" charset="0"/>
              </a:rPr>
              <a:t>sản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phẩm</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giúp</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thể</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hiện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thành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công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địa</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vị</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phong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cách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mong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muốn</a:t>
            </a:r>
            <a:r>
              <a:rPr lang="en-US" sz="2400">
                <a:latin typeface="Arial" panose="020B0604020202020204" pitchFamily="34" charset="0"/>
                <a:cs typeface="Arial" panose="020B0604020202020204" pitchFamily="34" charset="0"/>
              </a:rPr>
              <a:t>.</a:t>
            </a:r>
          </a:p>
          <a:p>
            <a:pPr marL="0" indent="0">
              <a:buNone/>
            </a:pPr>
            <a:r>
              <a:rPr lang="en-US" sz="2400" b="1">
                <a:latin typeface="Arial" panose="020B0604020202020204" pitchFamily="34" charset="0"/>
                <a:cs typeface="Arial" panose="020B0604020202020204" pitchFamily="34" charset="0"/>
              </a:rPr>
              <a:t>3. Expected Self – </a:t>
            </a:r>
            <a:r>
              <a:rPr lang="en-US" sz="2400" b="1" err="1">
                <a:latin typeface="Arial" panose="020B0604020202020204" pitchFamily="34" charset="0"/>
                <a:cs typeface="Arial" panose="020B0604020202020204" pitchFamily="34" charset="0"/>
              </a:rPr>
              <a:t>Hình</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ảnh</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bản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thân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mong</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đợi</a:t>
            </a:r>
            <a:br>
              <a:rPr lang="en-US" sz="2400">
                <a:latin typeface="Arial" panose="020B0604020202020204" pitchFamily="34" charset="0"/>
                <a:cs typeface="Arial" panose="020B0604020202020204" pitchFamily="34" charset="0"/>
              </a:rPr>
            </a:br>
            <a:r>
              <a:rPr lang="en-US" sz="2400">
                <a:latin typeface="Arial" panose="020B0604020202020204" pitchFamily="34" charset="0"/>
                <a:cs typeface="Arial" panose="020B0604020202020204" pitchFamily="34" charset="0"/>
              </a:rPr>
              <a:t>“</a:t>
            </a:r>
            <a:r>
              <a:rPr lang="en-US" sz="2400" err="1">
                <a:latin typeface="Arial" panose="020B0604020202020204" pitchFamily="34" charset="0"/>
                <a:cs typeface="Arial" panose="020B0604020202020204" pitchFamily="34" charset="0"/>
              </a:rPr>
              <a:t>Tôi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nghĩ</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mình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có</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thể</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trở</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thành</a:t>
            </a:r>
            <a:r>
              <a:rPr lang="en-US" sz="2400">
                <a:latin typeface="Arial" panose="020B0604020202020204" pitchFamily="34" charset="0"/>
                <a:cs typeface="Arial" panose="020B0604020202020204" pitchFamily="34" charset="0"/>
              </a:rPr>
              <a:t> ai </a:t>
            </a:r>
            <a:r>
              <a:rPr lang="en-US" sz="2400" err="1">
                <a:latin typeface="Arial" panose="020B0604020202020204" pitchFamily="34" charset="0"/>
                <a:cs typeface="Arial" panose="020B0604020202020204" pitchFamily="34" charset="0"/>
              </a:rPr>
              <a:t>trong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tương</a:t>
            </a:r>
            <a:r>
              <a:rPr lang="en-US" sz="2400">
                <a:latin typeface="Arial" panose="020B0604020202020204" pitchFamily="34" charset="0"/>
                <a:cs typeface="Arial" panose="020B0604020202020204" pitchFamily="34" charset="0"/>
              </a:rPr>
              <a:t> lai </a:t>
            </a:r>
            <a:r>
              <a:rPr lang="en-US" sz="2400" err="1">
                <a:latin typeface="Arial" panose="020B0604020202020204" pitchFamily="34" charset="0"/>
                <a:cs typeface="Arial" panose="020B0604020202020204" pitchFamily="34" charset="0"/>
              </a:rPr>
              <a:t>gần</a:t>
            </a:r>
            <a:r>
              <a:rPr lang="en-US" sz="2400">
                <a:latin typeface="Arial" panose="020B0604020202020204" pitchFamily="34" charset="0"/>
                <a:cs typeface="Arial" panose="020B0604020202020204" pitchFamily="34" charset="0"/>
              </a:rPr>
              <a:t>?”</a:t>
            </a:r>
            <a:br>
              <a:rPr lang="en-US" sz="2400">
                <a:latin typeface="Arial" panose="020B0604020202020204" pitchFamily="34" charset="0"/>
                <a:cs typeface="Arial" panose="020B0604020202020204" pitchFamily="34" charset="0"/>
              </a:rPr>
            </a:b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Nằm</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giữa</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hiện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tại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và</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hình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ảnh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lý</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tưởng</a:t>
            </a:r>
            <a:r>
              <a:rPr lang="en-US" sz="2400">
                <a:latin typeface="Arial" panose="020B0604020202020204" pitchFamily="34" charset="0"/>
                <a:cs typeface="Arial" panose="020B0604020202020204" pitchFamily="34" charset="0"/>
              </a:rPr>
              <a:t>.</a:t>
            </a:r>
          </a:p>
          <a:p>
            <a:pPr marL="0" indent="0">
              <a:buNone/>
            </a:pPr>
            <a:r>
              <a:rPr lang="en-US" sz="2400" b="1" err="1">
                <a:latin typeface="Arial" panose="020B0604020202020204" pitchFamily="34" charset="0"/>
                <a:cs typeface="Arial" panose="020B0604020202020204" pitchFamily="34" charset="0"/>
              </a:rPr>
              <a:t>Ví</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dụ</a:t>
            </a:r>
            <a:r>
              <a:rPr lang="en-US" sz="2400" b="1">
                <a:latin typeface="Arial" panose="020B0604020202020204" pitchFamily="34" charset="0"/>
                <a:cs typeface="Arial" panose="020B0604020202020204" pitchFamily="34" charset="0"/>
              </a:rPr>
              <a:t>: iPhone</a:t>
            </a:r>
            <a:endParaRPr lang="en-US" sz="2400">
              <a:latin typeface="Arial" panose="020B0604020202020204" pitchFamily="34" charset="0"/>
              <a:cs typeface="Arial" panose="020B0604020202020204" pitchFamily="34" charset="0"/>
            </a:endParaRPr>
          </a:p>
          <a:p>
            <a:pPr lvl="0"/>
            <a:r>
              <a:rPr lang="en-US" sz="2400">
                <a:latin typeface="Arial" panose="020B0604020202020204" pitchFamily="34" charset="0"/>
                <a:cs typeface="Arial" panose="020B0604020202020204" pitchFamily="34" charset="0"/>
              </a:rPr>
              <a:t>Functional: </a:t>
            </a:r>
            <a:r>
              <a:rPr lang="en-US" sz="2400" err="1">
                <a:latin typeface="Arial" panose="020B0604020202020204" pitchFamily="34" charset="0"/>
                <a:cs typeface="Arial" panose="020B0604020202020204" pitchFamily="34" charset="0"/>
              </a:rPr>
              <a:t>điện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thoại</a:t>
            </a:r>
            <a:r>
              <a:rPr lang="en-US" sz="2400">
                <a:latin typeface="Arial" panose="020B0604020202020204" pitchFamily="34" charset="0"/>
                <a:cs typeface="Arial" panose="020B0604020202020204" pitchFamily="34" charset="0"/>
              </a:rPr>
              <a:t> </a:t>
            </a:r>
          </a:p>
          <a:p>
            <a:pPr lvl="0"/>
            <a:r>
              <a:rPr lang="en-US" sz="2400">
                <a:latin typeface="Arial" panose="020B0604020202020204" pitchFamily="34" charset="0"/>
                <a:cs typeface="Arial" panose="020B0604020202020204" pitchFamily="34" charset="0"/>
              </a:rPr>
              <a:t>Actual self: “</a:t>
            </a:r>
            <a:r>
              <a:rPr lang="en-US" sz="2400" err="1">
                <a:latin typeface="Arial" panose="020B0604020202020204" pitchFamily="34" charset="0"/>
                <a:cs typeface="Arial" panose="020B0604020202020204" pitchFamily="34" charset="0"/>
              </a:rPr>
              <a:t>Tôi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là</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người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yêu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công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nghệ</a:t>
            </a:r>
            <a:r>
              <a:rPr lang="en-US" sz="2400">
                <a:latin typeface="Arial" panose="020B0604020202020204" pitchFamily="34" charset="0"/>
                <a:cs typeface="Arial" panose="020B0604020202020204" pitchFamily="34" charset="0"/>
              </a:rPr>
              <a:t>” </a:t>
            </a:r>
          </a:p>
          <a:p>
            <a:pPr lvl="0"/>
            <a:r>
              <a:rPr lang="en-US" sz="2400">
                <a:latin typeface="Arial" panose="020B0604020202020204" pitchFamily="34" charset="0"/>
                <a:cs typeface="Arial" panose="020B0604020202020204" pitchFamily="34" charset="0"/>
              </a:rPr>
              <a:t>Ideal self: “</a:t>
            </a:r>
            <a:r>
              <a:rPr lang="en-US" sz="2400" err="1">
                <a:latin typeface="Arial" panose="020B0604020202020204" pitchFamily="34" charset="0"/>
                <a:cs typeface="Arial" panose="020B0604020202020204" pitchFamily="34" charset="0"/>
              </a:rPr>
              <a:t>Tôi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muốn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được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nhìn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nhận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là</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thành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đạt</a:t>
            </a:r>
            <a:r>
              <a:rPr lang="en-US" sz="2400">
                <a:latin typeface="Arial" panose="020B0604020202020204" pitchFamily="34" charset="0"/>
                <a:cs typeface="Arial" panose="020B0604020202020204" pitchFamily="34" charset="0"/>
              </a:rPr>
              <a:t>” </a:t>
            </a:r>
          </a:p>
          <a:p>
            <a:pPr lvl="0"/>
            <a:r>
              <a:rPr lang="en-US" sz="2400">
                <a:latin typeface="Arial" panose="020B0604020202020204" pitchFamily="34" charset="0"/>
                <a:cs typeface="Arial" panose="020B0604020202020204" pitchFamily="34" charset="0"/>
              </a:rPr>
              <a:t>Social self: “</a:t>
            </a:r>
            <a:r>
              <a:rPr lang="en-US" sz="2400" err="1">
                <a:latin typeface="Arial" panose="020B0604020202020204" pitchFamily="34" charset="0"/>
                <a:cs typeface="Arial" panose="020B0604020202020204" pitchFamily="34" charset="0"/>
              </a:rPr>
              <a:t>Tôi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muốn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người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khác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nhìn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tôi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như</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vậy</a:t>
            </a:r>
            <a:r>
              <a:rPr lang="en-US" sz="2400">
                <a:latin typeface="Arial" panose="020B0604020202020204" pitchFamily="34" charset="0"/>
                <a:cs typeface="Arial" panose="020B0604020202020204" pitchFamily="34" charset="0"/>
              </a:rPr>
              <a:t>”</a:t>
            </a:r>
          </a:p>
          <a:p>
            <a:pPr marL="0" indent="0">
              <a:buNone/>
            </a:pPr>
            <a:endParaRPr lang="en-US"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254348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422" y="0"/>
            <a:ext cx="10515600" cy="1325563"/>
          </a:xfrm>
        </p:spPr>
        <p:txBody>
          <a:bodyPr>
            <a:normAutofit/>
          </a:bodyPr>
          <a:lstStyle/>
          <a:p>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3.1.7 </a:t>
            </a:r>
            <a:r>
              <a:rPr lang="en-US" sz="2800" b="1" kern="0" err="1">
                <a:latin typeface="Arial" panose="020B0604020202020204" pitchFamily="34" charset="0"/>
                <a:ea typeface="Times New Roman" panose="02020603050405020304" pitchFamily="18" charset="0"/>
                <a:cs typeface="Arial" panose="020B0604020202020204" pitchFamily="34" charset="0"/>
              </a:rPr>
              <a:t>Động</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cơ</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và</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bản</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chất</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của</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động</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cơ</a:t>
            </a:r>
            <a:endParaRPr lang="en-US" sz="28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18722" y="1278731"/>
            <a:ext cx="11303000" cy="4351338"/>
          </a:xfrm>
        </p:spPr>
        <p:txBody>
          <a:bodyPr>
            <a:noAutofit/>
          </a:bodyPr>
          <a:lstStyle/>
          <a:p>
            <a:r>
              <a:rPr lang="en-US" sz="2500" b="1">
                <a:latin typeface="Arial" panose="020B0604020202020204" pitchFamily="34" charset="0"/>
                <a:cs typeface="Arial" panose="020B0604020202020204" pitchFamily="34" charset="0"/>
              </a:rPr>
              <a:t>ĐỘNG CƠ = </a:t>
            </a:r>
            <a:r>
              <a:rPr lang="en-US" sz="2500" b="1" err="1">
                <a:latin typeface="Arial" panose="020B0604020202020204" pitchFamily="34" charset="0"/>
                <a:cs typeface="Arial" panose="020B0604020202020204" pitchFamily="34" charset="0"/>
              </a:rPr>
              <a:t>lực</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bên</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trong</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thúc</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đẩy</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hành</a:t>
            </a:r>
            <a:r>
              <a:rPr lang="en-US" sz="2500" b="1">
                <a:latin typeface="Arial" panose="020B0604020202020204" pitchFamily="34" charset="0"/>
                <a:cs typeface="Arial" panose="020B0604020202020204" pitchFamily="34" charset="0"/>
              </a:rPr>
              <a:t> vi </a:t>
            </a:r>
            <a:r>
              <a:rPr lang="en-US" sz="2500" b="1" err="1">
                <a:latin typeface="Arial" panose="020B0604020202020204" pitchFamily="34" charset="0"/>
                <a:cs typeface="Arial" panose="020B0604020202020204" pitchFamily="34" charset="0"/>
              </a:rPr>
              <a:t>hướng</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đến</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mục</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tiêu</a:t>
            </a:r>
            <a:endParaRPr lang="en-US" sz="2500">
              <a:latin typeface="Arial" panose="020B0604020202020204" pitchFamily="34" charset="0"/>
              <a:cs typeface="Arial" panose="020B0604020202020204" pitchFamily="34" charset="0"/>
            </a:endParaRPr>
          </a:p>
          <a:p>
            <a:r>
              <a:rPr lang="en-US" sz="2500" b="1">
                <a:latin typeface="Arial" panose="020B0604020202020204" pitchFamily="34" charset="0"/>
                <a:cs typeface="Arial" panose="020B0604020202020204" pitchFamily="34" charset="0"/>
              </a:rPr>
              <a:t>Nhu </a:t>
            </a:r>
            <a:r>
              <a:rPr lang="en-US" sz="2500" b="1" err="1">
                <a:latin typeface="Arial" panose="020B0604020202020204" pitchFamily="34" charset="0"/>
                <a:cs typeface="Arial" panose="020B0604020202020204" pitchFamily="34" charset="0"/>
              </a:rPr>
              <a:t>cầu</a:t>
            </a:r>
            <a:r>
              <a:rPr lang="en-US" sz="2500" b="1">
                <a:latin typeface="Arial" panose="020B0604020202020204" pitchFamily="34" charset="0"/>
                <a:cs typeface="Arial" panose="020B0604020202020204" pitchFamily="34" charset="0"/>
              </a:rPr>
              <a:t> → </a:t>
            </a:r>
            <a:r>
              <a:rPr lang="en-US" sz="2500" b="1" err="1">
                <a:latin typeface="Arial" panose="020B0604020202020204" pitchFamily="34" charset="0"/>
                <a:cs typeface="Arial" panose="020B0604020202020204" pitchFamily="34" charset="0"/>
              </a:rPr>
              <a:t>Động</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lực</a:t>
            </a:r>
            <a:r>
              <a:rPr lang="en-US" sz="2500" b="1">
                <a:latin typeface="Arial" panose="020B0604020202020204" pitchFamily="34" charset="0"/>
                <a:cs typeface="Arial" panose="020B0604020202020204" pitchFamily="34" charset="0"/>
              </a:rPr>
              <a:t> → </a:t>
            </a:r>
            <a:r>
              <a:rPr lang="en-US" sz="2500" b="1" err="1">
                <a:latin typeface="Arial" panose="020B0604020202020204" pitchFamily="34" charset="0"/>
                <a:cs typeface="Arial" panose="020B0604020202020204" pitchFamily="34" charset="0"/>
              </a:rPr>
              <a:t>Hành</a:t>
            </a:r>
            <a:r>
              <a:rPr lang="en-US" sz="2500" b="1">
                <a:latin typeface="Arial" panose="020B0604020202020204" pitchFamily="34" charset="0"/>
                <a:cs typeface="Arial" panose="020B0604020202020204" pitchFamily="34" charset="0"/>
              </a:rPr>
              <a:t> vi → </a:t>
            </a:r>
            <a:r>
              <a:rPr lang="en-US" sz="2500" b="1" err="1">
                <a:latin typeface="Arial" panose="020B0604020202020204" pitchFamily="34" charset="0"/>
                <a:cs typeface="Arial" panose="020B0604020202020204" pitchFamily="34" charset="0"/>
              </a:rPr>
              <a:t>Mục</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tiêu</a:t>
            </a:r>
            <a:r>
              <a:rPr lang="en-US" sz="2500" b="1">
                <a:latin typeface="Arial" panose="020B0604020202020204" pitchFamily="34" charset="0"/>
                <a:cs typeface="Arial" panose="020B0604020202020204" pitchFamily="34" charset="0"/>
              </a:rPr>
              <a:t>/</a:t>
            </a:r>
            <a:r>
              <a:rPr lang="en-US" sz="2500" b="1" err="1">
                <a:latin typeface="Arial" panose="020B0604020202020204" pitchFamily="34" charset="0"/>
                <a:cs typeface="Arial" panose="020B0604020202020204" pitchFamily="34" charset="0"/>
              </a:rPr>
              <a:t>thỏa</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mãn</a:t>
            </a:r>
            <a:endParaRPr lang="en-US" sz="2500">
              <a:latin typeface="Arial" panose="020B0604020202020204" pitchFamily="34" charset="0"/>
              <a:cs typeface="Arial" panose="020B0604020202020204" pitchFamily="34" charset="0"/>
            </a:endParaRPr>
          </a:p>
          <a:p>
            <a:pPr lvl="0"/>
            <a:r>
              <a:rPr lang="en-US" sz="2500" b="1" err="1">
                <a:latin typeface="Arial" panose="020B0604020202020204" pitchFamily="34" charset="0"/>
                <a:cs typeface="Arial" panose="020B0604020202020204" pitchFamily="34" charset="0"/>
              </a:rPr>
              <a:t>Động</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cơ</a:t>
            </a:r>
            <a:r>
              <a:rPr lang="en-US" sz="2500" b="1">
                <a:latin typeface="Arial" panose="020B0604020202020204" pitchFamily="34" charset="0"/>
                <a:cs typeface="Arial" panose="020B0604020202020204" pitchFamily="34" charset="0"/>
              </a:rPr>
              <a:t> (motive):</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trạng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thái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bên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trong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định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hướng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hành</a:t>
            </a:r>
            <a:r>
              <a:rPr lang="en-US" sz="2500">
                <a:latin typeface="Arial" panose="020B0604020202020204" pitchFamily="34" charset="0"/>
                <a:cs typeface="Arial" panose="020B0604020202020204" pitchFamily="34" charset="0"/>
              </a:rPr>
              <a:t> vi. </a:t>
            </a:r>
          </a:p>
          <a:p>
            <a:pPr lvl="0"/>
            <a:r>
              <a:rPr lang="en-US" sz="2500" b="1" err="1">
                <a:latin typeface="Arial" panose="020B0604020202020204" pitchFamily="34" charset="0"/>
                <a:cs typeface="Arial" panose="020B0604020202020204" pitchFamily="34" charset="0"/>
              </a:rPr>
              <a:t>Tạo</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động</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lực</a:t>
            </a:r>
            <a:r>
              <a:rPr lang="en-US" sz="2500" b="1">
                <a:latin typeface="Arial" panose="020B0604020202020204" pitchFamily="34" charset="0"/>
                <a:cs typeface="Arial" panose="020B0604020202020204" pitchFamily="34" charset="0"/>
              </a:rPr>
              <a:t> (motivating):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quá</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trình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chuyển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động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cơ</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thành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hành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động</a:t>
            </a:r>
            <a:r>
              <a:rPr lang="en-US" sz="2500">
                <a:latin typeface="Arial" panose="020B0604020202020204" pitchFamily="34" charset="0"/>
                <a:cs typeface="Arial" panose="020B0604020202020204" pitchFamily="34" charset="0"/>
              </a:rPr>
              <a:t>. </a:t>
            </a:r>
          </a:p>
          <a:p>
            <a:pPr lvl="0"/>
            <a:r>
              <a:rPr lang="en-US" sz="2500" b="1" err="1">
                <a:latin typeface="Arial" panose="020B0604020202020204" pitchFamily="34" charset="0"/>
                <a:cs typeface="Arial" panose="020B0604020202020204" pitchFamily="34" charset="0"/>
              </a:rPr>
              <a:t>Động</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lực</a:t>
            </a:r>
            <a:r>
              <a:rPr lang="en-US" sz="2500" b="1">
                <a:latin typeface="Arial" panose="020B0604020202020204" pitchFamily="34" charset="0"/>
                <a:cs typeface="Arial" panose="020B0604020202020204" pitchFamily="34" charset="0"/>
              </a:rPr>
              <a:t> (motivation):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lực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thúc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đẩy</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cá</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nhân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hành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động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để</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thỏa</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mãn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nhu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cầu</a:t>
            </a:r>
            <a:r>
              <a:rPr lang="en-US" sz="2500">
                <a:latin typeface="Arial" panose="020B0604020202020204" pitchFamily="34" charset="0"/>
                <a:cs typeface="Arial" panose="020B0604020202020204" pitchFamily="34" charset="0"/>
              </a:rPr>
              <a:t>. </a:t>
            </a:r>
          </a:p>
          <a:p>
            <a:r>
              <a:rPr lang="en-US" sz="2500" b="1" err="1">
                <a:latin typeface="Arial" panose="020B0604020202020204" pitchFamily="34" charset="0"/>
                <a:cs typeface="Arial" panose="020B0604020202020204" pitchFamily="34" charset="0"/>
              </a:rPr>
              <a:t>Ví</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dụ</a:t>
            </a:r>
            <a:r>
              <a:rPr lang="en-US" sz="2500" b="1">
                <a:latin typeface="Arial" panose="020B0604020202020204" pitchFamily="34" charset="0"/>
                <a:cs typeface="Arial" panose="020B0604020202020204" pitchFamily="34" charset="0"/>
              </a:rPr>
              <a:t>:</a:t>
            </a:r>
            <a:br>
              <a:rPr lang="en-US" sz="2500">
                <a:latin typeface="Arial" panose="020B0604020202020204" pitchFamily="34" charset="0"/>
                <a:cs typeface="Arial" panose="020B0604020202020204" pitchFamily="34" charset="0"/>
              </a:rPr>
            </a:br>
            <a:r>
              <a:rPr lang="en-US" sz="2500" err="1">
                <a:latin typeface="Arial" panose="020B0604020202020204" pitchFamily="34" charset="0"/>
                <a:cs typeface="Arial" panose="020B0604020202020204" pitchFamily="34" charset="0"/>
              </a:rPr>
              <a:t>Đói</a:t>
            </a:r>
            <a:r>
              <a:rPr lang="en-US" sz="2500">
                <a:latin typeface="Arial" panose="020B0604020202020204" pitchFamily="34" charset="0"/>
                <a:cs typeface="Arial" panose="020B0604020202020204" pitchFamily="34" charset="0"/>
              </a:rPr>
              <a:t> → </a:t>
            </a:r>
            <a:r>
              <a:rPr lang="en-US" sz="2500" err="1">
                <a:latin typeface="Arial" panose="020B0604020202020204" pitchFamily="34" charset="0"/>
                <a:cs typeface="Arial" panose="020B0604020202020204" pitchFamily="34" charset="0"/>
              </a:rPr>
              <a:t>tìm</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thức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ăn</a:t>
            </a:r>
            <a:r>
              <a:rPr lang="en-US" sz="2500">
                <a:latin typeface="Arial" panose="020B0604020202020204" pitchFamily="34" charset="0"/>
                <a:cs typeface="Arial" panose="020B0604020202020204" pitchFamily="34" charset="0"/>
              </a:rPr>
              <a:t> → </a:t>
            </a:r>
            <a:r>
              <a:rPr lang="en-US" sz="2500" err="1">
                <a:latin typeface="Arial" panose="020B0604020202020204" pitchFamily="34" charset="0"/>
                <a:cs typeface="Arial" panose="020B0604020202020204" pitchFamily="34" charset="0"/>
              </a:rPr>
              <a:t>ăn</a:t>
            </a:r>
            <a:r>
              <a:rPr lang="en-US" sz="2500">
                <a:latin typeface="Arial" panose="020B0604020202020204" pitchFamily="34" charset="0"/>
                <a:cs typeface="Arial" panose="020B0604020202020204" pitchFamily="34" charset="0"/>
              </a:rPr>
              <a:t> → </a:t>
            </a:r>
            <a:r>
              <a:rPr lang="en-US" sz="2500" err="1">
                <a:latin typeface="Arial" panose="020B0604020202020204" pitchFamily="34" charset="0"/>
                <a:cs typeface="Arial" panose="020B0604020202020204" pitchFamily="34" charset="0"/>
              </a:rPr>
              <a:t>thỏa</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mãn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nhu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cầu</a:t>
            </a:r>
            <a:endParaRPr lang="en-US" sz="2500">
              <a:latin typeface="Arial" panose="020B0604020202020204" pitchFamily="34" charset="0"/>
              <a:cs typeface="Arial" panose="020B0604020202020204" pitchFamily="34" charset="0"/>
            </a:endParaRPr>
          </a:p>
          <a:p>
            <a:r>
              <a:rPr lang="en-US" sz="2500" b="1">
                <a:latin typeface="Arial" panose="020B0604020202020204" pitchFamily="34" charset="0"/>
                <a:cs typeface="Arial" panose="020B0604020202020204" pitchFamily="34" charset="0"/>
              </a:rPr>
              <a:t>Hai </a:t>
            </a:r>
            <a:r>
              <a:rPr lang="en-US" sz="2500" b="1" err="1">
                <a:latin typeface="Arial" panose="020B0604020202020204" pitchFamily="34" charset="0"/>
                <a:cs typeface="Arial" panose="020B0604020202020204" pitchFamily="34" charset="0"/>
              </a:rPr>
              <a:t>cách</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phân</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loại</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động</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cơ</a:t>
            </a:r>
            <a:endParaRPr lang="en-US" sz="2500">
              <a:latin typeface="Arial" panose="020B0604020202020204" pitchFamily="34" charset="0"/>
              <a:cs typeface="Arial" panose="020B0604020202020204" pitchFamily="34" charset="0"/>
            </a:endParaRPr>
          </a:p>
          <a:p>
            <a:pPr marL="0" lvl="0" indent="0">
              <a:buNone/>
            </a:pPr>
            <a:r>
              <a:rPr lang="en-US" sz="2500" b="1">
                <a:latin typeface="Arial" panose="020B0604020202020204" pitchFamily="34" charset="0"/>
                <a:cs typeface="Arial" panose="020B0604020202020204" pitchFamily="34" charset="0"/>
              </a:rPr>
              <a:t>Lý </a:t>
            </a:r>
            <a:r>
              <a:rPr lang="en-US" sz="2500" b="1" err="1">
                <a:latin typeface="Arial" panose="020B0604020202020204" pitchFamily="34" charset="0"/>
                <a:cs typeface="Arial" panose="020B0604020202020204" pitchFamily="34" charset="0"/>
              </a:rPr>
              <a:t>trí</a:t>
            </a:r>
            <a:r>
              <a:rPr lang="en-US" sz="2500" b="1">
                <a:latin typeface="Arial" panose="020B0604020202020204" pitchFamily="34" charset="0"/>
                <a:cs typeface="Arial" panose="020B0604020202020204" pitchFamily="34" charset="0"/>
              </a:rPr>
              <a:t>:</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dựa</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trên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giá</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kích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thước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trọng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lượng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công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năng</a:t>
            </a:r>
            <a:r>
              <a:rPr lang="en-US" sz="2500">
                <a:latin typeface="Arial" panose="020B0604020202020204" pitchFamily="34" charset="0"/>
                <a:cs typeface="Arial" panose="020B0604020202020204" pitchFamily="34" charset="0"/>
              </a:rPr>
              <a:t>… </a:t>
            </a:r>
          </a:p>
          <a:p>
            <a:pPr marL="0" lvl="0" indent="0">
              <a:buNone/>
            </a:pPr>
            <a:r>
              <a:rPr lang="en-US" sz="2500" b="1" err="1">
                <a:latin typeface="Arial" panose="020B0604020202020204" pitchFamily="34" charset="0"/>
                <a:cs typeface="Arial" panose="020B0604020202020204" pitchFamily="34" charset="0"/>
              </a:rPr>
              <a:t>Cảm</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xúc</a:t>
            </a:r>
            <a:r>
              <a:rPr lang="en-US" sz="2500" b="1">
                <a:latin typeface="Arial" panose="020B0604020202020204" pitchFamily="34" charset="0"/>
                <a:cs typeface="Arial" panose="020B0604020202020204" pitchFamily="34" charset="0"/>
              </a:rPr>
              <a:t>:</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dựa</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trên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cảm</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giác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sở</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thích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trải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nghiệm</a:t>
            </a:r>
            <a:r>
              <a:rPr lang="en-US" sz="250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760236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900FE-87E4-9140-FFD5-C6E9AB171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7C450D-4E36-34B0-3F1A-07160AC9186F}"/>
              </a:ext>
            </a:extLst>
          </p:cNvPr>
          <p:cNvSpPr>
            <a:spLocks noGrp="1"/>
          </p:cNvSpPr>
          <p:nvPr>
            <p:ph type="title"/>
          </p:nvPr>
        </p:nvSpPr>
        <p:spPr>
          <a:xfrm>
            <a:off x="307622" y="-228600"/>
            <a:ext cx="10515600" cy="1325563"/>
          </a:xfrm>
        </p:spPr>
        <p:txBody>
          <a:bodyPr>
            <a:normAutofit/>
          </a:bodyPr>
          <a:lstStyle/>
          <a:p>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3.1.7 </a:t>
            </a:r>
            <a:r>
              <a:rPr lang="en-US" sz="2800" b="1" kern="0" err="1">
                <a:latin typeface="Arial" panose="020B0604020202020204" pitchFamily="34" charset="0"/>
                <a:ea typeface="Times New Roman" panose="02020603050405020304" pitchFamily="18" charset="0"/>
                <a:cs typeface="Arial" panose="020B0604020202020204" pitchFamily="34" charset="0"/>
              </a:rPr>
              <a:t>Động</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cơ</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và</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bản</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chất</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của</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động</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cơ</a:t>
            </a:r>
            <a:endParaRPr lang="en-US" sz="280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B80746C-2D71-2C07-3C0C-31F67EE2C51E}"/>
              </a:ext>
            </a:extLst>
          </p:cNvPr>
          <p:cNvSpPr>
            <a:spLocks noGrp="1"/>
          </p:cNvSpPr>
          <p:nvPr>
            <p:ph idx="1"/>
          </p:nvPr>
        </p:nvSpPr>
        <p:spPr>
          <a:xfrm>
            <a:off x="218722" y="694531"/>
            <a:ext cx="11303000" cy="4351338"/>
          </a:xfrm>
        </p:spPr>
        <p:txBody>
          <a:bodyPr>
            <a:noAutofit/>
          </a:bodyPr>
          <a:lstStyle/>
          <a:p>
            <a:pPr marL="0" indent="0">
              <a:buNone/>
            </a:pPr>
            <a:r>
              <a:rPr lang="en-US" sz="2300" b="1">
                <a:latin typeface="Arial" panose="020B0604020202020204" pitchFamily="34" charset="0"/>
                <a:cs typeface="Arial" panose="020B0604020202020204" pitchFamily="34" charset="0"/>
              </a:rPr>
              <a:t>Tauber (1972): 2 </a:t>
            </a:r>
            <a:r>
              <a:rPr lang="en-US" sz="2300" b="1" err="1">
                <a:latin typeface="Arial" panose="020B0604020202020204" pitchFamily="34" charset="0"/>
                <a:cs typeface="Arial" panose="020B0604020202020204" pitchFamily="34" charset="0"/>
              </a:rPr>
              <a:t>nhóm</a:t>
            </a:r>
            <a:r>
              <a:rPr lang="en-US" sz="2300" b="1">
                <a:latin typeface="Arial" panose="020B0604020202020204" pitchFamily="34" charset="0"/>
                <a:cs typeface="Arial" panose="020B0604020202020204" pitchFamily="34" charset="0"/>
              </a:rPr>
              <a:t> </a:t>
            </a:r>
            <a:r>
              <a:rPr lang="en-US" sz="2300" b="1" err="1">
                <a:latin typeface="Arial" panose="020B0604020202020204" pitchFamily="34" charset="0"/>
                <a:cs typeface="Arial" panose="020B0604020202020204" pitchFamily="34" charset="0"/>
              </a:rPr>
              <a:t>động</a:t>
            </a:r>
            <a:r>
              <a:rPr lang="en-US" sz="2300" b="1">
                <a:latin typeface="Arial" panose="020B0604020202020204" pitchFamily="34" charset="0"/>
                <a:cs typeface="Arial" panose="020B0604020202020204" pitchFamily="34" charset="0"/>
              </a:rPr>
              <a:t> </a:t>
            </a:r>
            <a:r>
              <a:rPr lang="en-US" sz="2300" b="1" err="1">
                <a:latin typeface="Arial" panose="020B0604020202020204" pitchFamily="34" charset="0"/>
                <a:cs typeface="Arial" panose="020B0604020202020204" pitchFamily="34" charset="0"/>
              </a:rPr>
              <a:t>cơ</a:t>
            </a:r>
            <a:r>
              <a:rPr lang="en-US" sz="2300" b="1">
                <a:latin typeface="Arial" panose="020B0604020202020204" pitchFamily="34" charset="0"/>
                <a:cs typeface="Arial" panose="020B0604020202020204" pitchFamily="34" charset="0"/>
              </a:rPr>
              <a:t> </a:t>
            </a:r>
            <a:r>
              <a:rPr lang="en-US" sz="2300" b="1" err="1">
                <a:latin typeface="Arial" panose="020B0604020202020204" pitchFamily="34" charset="0"/>
                <a:cs typeface="Arial" panose="020B0604020202020204" pitchFamily="34" charset="0"/>
              </a:rPr>
              <a:t>mua</a:t>
            </a:r>
            <a:r>
              <a:rPr lang="en-US" sz="2300" b="1">
                <a:latin typeface="Arial" panose="020B0604020202020204" pitchFamily="34" charset="0"/>
                <a:cs typeface="Arial" panose="020B0604020202020204" pitchFamily="34" charset="0"/>
              </a:rPr>
              <a:t> </a:t>
            </a:r>
            <a:r>
              <a:rPr lang="en-US" sz="2300" b="1" err="1">
                <a:latin typeface="Arial" panose="020B0604020202020204" pitchFamily="34" charset="0"/>
                <a:cs typeface="Arial" panose="020B0604020202020204" pitchFamily="34" charset="0"/>
              </a:rPr>
              <a:t>sắm</a:t>
            </a:r>
            <a:endParaRPr lang="en-US" sz="2300">
              <a:latin typeface="Arial" panose="020B0604020202020204" pitchFamily="34" charset="0"/>
              <a:cs typeface="Arial" panose="020B0604020202020204" pitchFamily="34" charset="0"/>
            </a:endParaRPr>
          </a:p>
          <a:p>
            <a:pPr marL="0" indent="0">
              <a:buNone/>
            </a:pPr>
            <a:r>
              <a:rPr lang="en-US" sz="2300" b="1">
                <a:latin typeface="Arial" panose="020B0604020202020204" pitchFamily="34" charset="0"/>
                <a:cs typeface="Arial" panose="020B0604020202020204" pitchFamily="34" charset="0"/>
              </a:rPr>
              <a:t>1. </a:t>
            </a:r>
            <a:r>
              <a:rPr lang="en-US" sz="2300" b="1" err="1">
                <a:latin typeface="Arial" panose="020B0604020202020204" pitchFamily="34" charset="0"/>
                <a:cs typeface="Arial" panose="020B0604020202020204" pitchFamily="34" charset="0"/>
              </a:rPr>
              <a:t>Động</a:t>
            </a:r>
            <a:r>
              <a:rPr lang="en-US" sz="2300" b="1">
                <a:latin typeface="Arial" panose="020B0604020202020204" pitchFamily="34" charset="0"/>
                <a:cs typeface="Arial" panose="020B0604020202020204" pitchFamily="34" charset="0"/>
              </a:rPr>
              <a:t> </a:t>
            </a:r>
            <a:r>
              <a:rPr lang="en-US" sz="2300" b="1" err="1">
                <a:latin typeface="Arial" panose="020B0604020202020204" pitchFamily="34" charset="0"/>
                <a:cs typeface="Arial" panose="020B0604020202020204" pitchFamily="34" charset="0"/>
              </a:rPr>
              <a:t>cơ</a:t>
            </a:r>
            <a:r>
              <a:rPr lang="en-US" sz="2300" b="1">
                <a:latin typeface="Arial" panose="020B0604020202020204" pitchFamily="34" charset="0"/>
                <a:cs typeface="Arial" panose="020B0604020202020204" pitchFamily="34" charset="0"/>
              </a:rPr>
              <a:t> </a:t>
            </a:r>
            <a:r>
              <a:rPr lang="en-US" sz="2300" b="1" err="1">
                <a:latin typeface="Arial" panose="020B0604020202020204" pitchFamily="34" charset="0"/>
                <a:cs typeface="Arial" panose="020B0604020202020204" pitchFamily="34" charset="0"/>
              </a:rPr>
              <a:t>cá</a:t>
            </a:r>
            <a:r>
              <a:rPr lang="en-US" sz="2300" b="1">
                <a:latin typeface="Arial" panose="020B0604020202020204" pitchFamily="34" charset="0"/>
                <a:cs typeface="Arial" panose="020B0604020202020204" pitchFamily="34" charset="0"/>
              </a:rPr>
              <a:t> </a:t>
            </a:r>
            <a:r>
              <a:rPr lang="en-US" sz="2300" b="1" err="1">
                <a:latin typeface="Arial" panose="020B0604020202020204" pitchFamily="34" charset="0"/>
                <a:cs typeface="Arial" panose="020B0604020202020204" pitchFamily="34" charset="0"/>
              </a:rPr>
              <a:t>nhân</a:t>
            </a:r>
            <a:endParaRPr lang="en-US" sz="2300">
              <a:latin typeface="Arial" panose="020B0604020202020204" pitchFamily="34" charset="0"/>
              <a:cs typeface="Arial" panose="020B0604020202020204" pitchFamily="34" charset="0"/>
            </a:endParaRPr>
          </a:p>
          <a:p>
            <a:pPr lvl="0"/>
            <a:r>
              <a:rPr lang="en-US" sz="2300">
                <a:latin typeface="Arial" panose="020B0604020202020204" pitchFamily="34" charset="0"/>
                <a:cs typeface="Arial" panose="020B0604020202020204" pitchFamily="34" charset="0"/>
              </a:rPr>
              <a:t>Nhập </a:t>
            </a:r>
            <a:r>
              <a:rPr lang="en-US" sz="2300" err="1">
                <a:latin typeface="Arial" panose="020B0604020202020204" pitchFamily="34" charset="0"/>
                <a:cs typeface="Arial" panose="020B0604020202020204" pitchFamily="34" charset="0"/>
              </a:rPr>
              <a:t>vai</a:t>
            </a:r>
            <a:r>
              <a:rPr lang="en-US" sz="2300">
                <a:latin typeface="Arial" panose="020B0604020202020204" pitchFamily="34" charset="0"/>
                <a:cs typeface="Arial" panose="020B0604020202020204" pitchFamily="34" charset="0"/>
              </a:rPr>
              <a:t> </a:t>
            </a:r>
          </a:p>
          <a:p>
            <a:pPr lvl="0"/>
            <a:r>
              <a:rPr lang="en-US" sz="2300" err="1">
                <a:latin typeface="Arial" panose="020B0604020202020204" pitchFamily="34" charset="0"/>
                <a:cs typeface="Arial" panose="020B0604020202020204" pitchFamily="34" charset="0"/>
              </a:rPr>
              <a:t>Giải</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trí</a:t>
            </a:r>
            <a:r>
              <a:rPr lang="en-US" sz="2300">
                <a:latin typeface="Arial" panose="020B0604020202020204" pitchFamily="34" charset="0"/>
                <a:cs typeface="Arial" panose="020B0604020202020204" pitchFamily="34" charset="0"/>
              </a:rPr>
              <a:t> / </a:t>
            </a:r>
            <a:r>
              <a:rPr lang="en-US" sz="2300" err="1">
                <a:latin typeface="Arial" panose="020B0604020202020204" pitchFamily="34" charset="0"/>
                <a:cs typeface="Arial" panose="020B0604020202020204" pitchFamily="34" charset="0"/>
              </a:rPr>
              <a:t>thoát</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khỏi</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công</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việc</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thường</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ngày</a:t>
            </a:r>
            <a:r>
              <a:rPr lang="en-US" sz="2300">
                <a:latin typeface="Arial" panose="020B0604020202020204" pitchFamily="34" charset="0"/>
                <a:cs typeface="Arial" panose="020B0604020202020204" pitchFamily="34" charset="0"/>
              </a:rPr>
              <a:t> </a:t>
            </a:r>
          </a:p>
          <a:p>
            <a:pPr lvl="0"/>
            <a:r>
              <a:rPr lang="en-US" sz="2300" err="1">
                <a:latin typeface="Arial" panose="020B0604020202020204" pitchFamily="34" charset="0"/>
                <a:cs typeface="Arial" panose="020B0604020202020204" pitchFamily="34" charset="0"/>
              </a:rPr>
              <a:t>Tự</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hài</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lòng</a:t>
            </a:r>
            <a:r>
              <a:rPr lang="en-US" sz="2300">
                <a:latin typeface="Arial" panose="020B0604020202020204" pitchFamily="34" charset="0"/>
                <a:cs typeface="Arial" panose="020B0604020202020204" pitchFamily="34" charset="0"/>
              </a:rPr>
              <a:t> / “retail therapy” </a:t>
            </a:r>
          </a:p>
          <a:p>
            <a:pPr lvl="0"/>
            <a:r>
              <a:rPr lang="en-US" sz="2300">
                <a:latin typeface="Arial" panose="020B0604020202020204" pitchFamily="34" charset="0"/>
                <a:cs typeface="Arial" panose="020B0604020202020204" pitchFamily="34" charset="0"/>
              </a:rPr>
              <a:t>Học </a:t>
            </a:r>
            <a:r>
              <a:rPr lang="en-US" sz="2300" err="1">
                <a:latin typeface="Arial" panose="020B0604020202020204" pitchFamily="34" charset="0"/>
                <a:cs typeface="Arial" panose="020B0604020202020204" pitchFamily="34" charset="0"/>
              </a:rPr>
              <a:t>hỏi</a:t>
            </a:r>
            <a:r>
              <a:rPr lang="en-US" sz="2300">
                <a:latin typeface="Arial" panose="020B0604020202020204" pitchFamily="34" charset="0"/>
                <a:cs typeface="Arial" panose="020B0604020202020204" pitchFamily="34" charset="0"/>
              </a:rPr>
              <a:t> xu </a:t>
            </a:r>
            <a:r>
              <a:rPr lang="en-US" sz="2300" err="1">
                <a:latin typeface="Arial" panose="020B0604020202020204" pitchFamily="34" charset="0"/>
                <a:cs typeface="Arial" panose="020B0604020202020204" pitchFamily="34" charset="0"/>
              </a:rPr>
              <a:t>hướng</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mới</a:t>
            </a:r>
            <a:r>
              <a:rPr lang="en-US" sz="2300">
                <a:latin typeface="Arial" panose="020B0604020202020204" pitchFamily="34" charset="0"/>
                <a:cs typeface="Arial" panose="020B0604020202020204" pitchFamily="34" charset="0"/>
              </a:rPr>
              <a:t> </a:t>
            </a:r>
          </a:p>
          <a:p>
            <a:pPr lvl="0"/>
            <a:r>
              <a:rPr lang="en-US" sz="2300" err="1">
                <a:latin typeface="Arial" panose="020B0604020202020204" pitchFamily="34" charset="0"/>
                <a:cs typeface="Arial" panose="020B0604020202020204" pitchFamily="34" charset="0"/>
              </a:rPr>
              <a:t>Hoạt</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động</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thể</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chất</a:t>
            </a:r>
            <a:r>
              <a:rPr lang="en-US" sz="2300">
                <a:latin typeface="Arial" panose="020B0604020202020204" pitchFamily="34" charset="0"/>
                <a:cs typeface="Arial" panose="020B0604020202020204" pitchFamily="34" charset="0"/>
              </a:rPr>
              <a:t> </a:t>
            </a:r>
          </a:p>
          <a:p>
            <a:pPr lvl="0"/>
            <a:r>
              <a:rPr lang="en-US" sz="2300" err="1">
                <a:latin typeface="Arial" panose="020B0604020202020204" pitchFamily="34" charset="0"/>
                <a:cs typeface="Arial" panose="020B0604020202020204" pitchFamily="34" charset="0"/>
              </a:rPr>
              <a:t>Kích</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thích</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giác</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quan</a:t>
            </a:r>
            <a:r>
              <a:rPr lang="en-US" sz="2300">
                <a:latin typeface="Arial" panose="020B0604020202020204" pitchFamily="34" charset="0"/>
                <a:cs typeface="Arial" panose="020B0604020202020204" pitchFamily="34" charset="0"/>
              </a:rPr>
              <a:t> </a:t>
            </a:r>
          </a:p>
          <a:p>
            <a:pPr marL="0" indent="0">
              <a:buNone/>
            </a:pPr>
            <a:r>
              <a:rPr lang="en-US" sz="2300" b="1">
                <a:latin typeface="Arial" panose="020B0604020202020204" pitchFamily="34" charset="0"/>
                <a:cs typeface="Arial" panose="020B0604020202020204" pitchFamily="34" charset="0"/>
              </a:rPr>
              <a:t>2. </a:t>
            </a:r>
            <a:r>
              <a:rPr lang="en-US" sz="2300" b="1" err="1">
                <a:latin typeface="Arial" panose="020B0604020202020204" pitchFamily="34" charset="0"/>
                <a:cs typeface="Arial" panose="020B0604020202020204" pitchFamily="34" charset="0"/>
              </a:rPr>
              <a:t>Động</a:t>
            </a:r>
            <a:r>
              <a:rPr lang="en-US" sz="2300" b="1">
                <a:latin typeface="Arial" panose="020B0604020202020204" pitchFamily="34" charset="0"/>
                <a:cs typeface="Arial" panose="020B0604020202020204" pitchFamily="34" charset="0"/>
              </a:rPr>
              <a:t> </a:t>
            </a:r>
            <a:r>
              <a:rPr lang="en-US" sz="2300" b="1" err="1">
                <a:latin typeface="Arial" panose="020B0604020202020204" pitchFamily="34" charset="0"/>
                <a:cs typeface="Arial" panose="020B0604020202020204" pitchFamily="34" charset="0"/>
              </a:rPr>
              <a:t>cơ</a:t>
            </a:r>
            <a:r>
              <a:rPr lang="en-US" sz="2300" b="1">
                <a:latin typeface="Arial" panose="020B0604020202020204" pitchFamily="34" charset="0"/>
                <a:cs typeface="Arial" panose="020B0604020202020204" pitchFamily="34" charset="0"/>
              </a:rPr>
              <a:t> </a:t>
            </a:r>
            <a:r>
              <a:rPr lang="en-US" sz="2300" b="1" err="1">
                <a:latin typeface="Arial" panose="020B0604020202020204" pitchFamily="34" charset="0"/>
                <a:cs typeface="Arial" panose="020B0604020202020204" pitchFamily="34" charset="0"/>
              </a:rPr>
              <a:t>xã</a:t>
            </a:r>
            <a:r>
              <a:rPr lang="en-US" sz="2300" b="1">
                <a:latin typeface="Arial" panose="020B0604020202020204" pitchFamily="34" charset="0"/>
                <a:cs typeface="Arial" panose="020B0604020202020204" pitchFamily="34" charset="0"/>
              </a:rPr>
              <a:t> </a:t>
            </a:r>
            <a:r>
              <a:rPr lang="en-US" sz="2300" b="1" err="1">
                <a:latin typeface="Arial" panose="020B0604020202020204" pitchFamily="34" charset="0"/>
                <a:cs typeface="Arial" panose="020B0604020202020204" pitchFamily="34" charset="0"/>
              </a:rPr>
              <a:t>hội</a:t>
            </a:r>
            <a:endParaRPr lang="en-US" sz="2300">
              <a:latin typeface="Arial" panose="020B0604020202020204" pitchFamily="34" charset="0"/>
              <a:cs typeface="Arial" panose="020B0604020202020204" pitchFamily="34" charset="0"/>
            </a:endParaRPr>
          </a:p>
          <a:p>
            <a:pPr lvl="0"/>
            <a:r>
              <a:rPr lang="en-US" sz="2300" err="1">
                <a:latin typeface="Arial" panose="020B0604020202020204" pitchFamily="34" charset="0"/>
                <a:cs typeface="Arial" panose="020B0604020202020204" pitchFamily="34" charset="0"/>
              </a:rPr>
              <a:t>Tương</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tác</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xã</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hội</a:t>
            </a:r>
            <a:r>
              <a:rPr lang="en-US" sz="2300">
                <a:latin typeface="Arial" panose="020B0604020202020204" pitchFamily="34" charset="0"/>
                <a:cs typeface="Arial" panose="020B0604020202020204" pitchFamily="34" charset="0"/>
              </a:rPr>
              <a:t> </a:t>
            </a:r>
          </a:p>
          <a:p>
            <a:pPr lvl="0"/>
            <a:r>
              <a:rPr lang="en-US" sz="2300">
                <a:latin typeface="Arial" panose="020B0604020202020204" pitchFamily="34" charset="0"/>
                <a:cs typeface="Arial" panose="020B0604020202020204" pitchFamily="34" charset="0"/>
              </a:rPr>
              <a:t>So </a:t>
            </a:r>
            <a:r>
              <a:rPr lang="en-US" sz="2300" err="1">
                <a:latin typeface="Arial" panose="020B0604020202020204" pitchFamily="34" charset="0"/>
                <a:cs typeface="Arial" panose="020B0604020202020204" pitchFamily="34" charset="0"/>
              </a:rPr>
              <a:t>sánh</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với</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nhóm</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tham</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chiếu</a:t>
            </a:r>
            <a:r>
              <a:rPr lang="en-US" sz="2300">
                <a:latin typeface="Arial" panose="020B0604020202020204" pitchFamily="34" charset="0"/>
                <a:cs typeface="Arial" panose="020B0604020202020204" pitchFamily="34" charset="0"/>
              </a:rPr>
              <a:t> </a:t>
            </a:r>
          </a:p>
          <a:p>
            <a:pPr lvl="0"/>
            <a:r>
              <a:rPr lang="en-US" sz="2300" err="1">
                <a:latin typeface="Arial" panose="020B0604020202020204" pitchFamily="34" charset="0"/>
                <a:cs typeface="Arial" panose="020B0604020202020204" pitchFamily="34" charset="0"/>
              </a:rPr>
              <a:t>Địa</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vị</a:t>
            </a:r>
            <a:r>
              <a:rPr lang="en-US" sz="2300">
                <a:latin typeface="Arial" panose="020B0604020202020204" pitchFamily="34" charset="0"/>
                <a:cs typeface="Arial" panose="020B0604020202020204" pitchFamily="34" charset="0"/>
              </a:rPr>
              <a:t> &amp; </a:t>
            </a:r>
            <a:r>
              <a:rPr lang="en-US" sz="2300" err="1">
                <a:latin typeface="Arial" panose="020B0604020202020204" pitchFamily="34" charset="0"/>
                <a:cs typeface="Arial" panose="020B0604020202020204" pitchFamily="34" charset="0"/>
              </a:rPr>
              <a:t>quyền</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lực</a:t>
            </a:r>
            <a:r>
              <a:rPr lang="en-US" sz="2300">
                <a:latin typeface="Arial" panose="020B0604020202020204" pitchFamily="34" charset="0"/>
                <a:cs typeface="Arial" panose="020B0604020202020204" pitchFamily="34" charset="0"/>
              </a:rPr>
              <a:t> </a:t>
            </a:r>
          </a:p>
          <a:p>
            <a:pPr lvl="0"/>
            <a:r>
              <a:rPr lang="en-US" sz="2300" err="1">
                <a:latin typeface="Arial" panose="020B0604020202020204" pitchFamily="34" charset="0"/>
                <a:cs typeface="Arial" panose="020B0604020202020204" pitchFamily="34" charset="0"/>
              </a:rPr>
              <a:t>Niềm</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vui</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mặc</a:t>
            </a:r>
            <a:r>
              <a:rPr lang="en-US" sz="2300">
                <a:latin typeface="Arial" panose="020B0604020202020204" pitchFamily="34" charset="0"/>
                <a:cs typeface="Arial" panose="020B0604020202020204" pitchFamily="34" charset="0"/>
              </a:rPr>
              <a:t> </a:t>
            </a:r>
            <a:r>
              <a:rPr lang="en-US" sz="2300" err="1">
                <a:latin typeface="Arial" panose="020B0604020202020204" pitchFamily="34" charset="0"/>
                <a:cs typeface="Arial" panose="020B0604020202020204" pitchFamily="34" charset="0"/>
              </a:rPr>
              <a:t>cả</a:t>
            </a:r>
            <a:endParaRPr lang="en-US" sz="230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CEE270B-3030-9189-C8F5-7FAEA2041440}"/>
              </a:ext>
            </a:extLst>
          </p:cNvPr>
          <p:cNvSpPr txBox="1"/>
          <p:nvPr/>
        </p:nvSpPr>
        <p:spPr>
          <a:xfrm>
            <a:off x="5531556" y="3411519"/>
            <a:ext cx="6096000" cy="3046988"/>
          </a:xfrm>
          <a:prstGeom prst="rect">
            <a:avLst/>
          </a:prstGeom>
          <a:noFill/>
        </p:spPr>
        <p:txBody>
          <a:bodyPr wrap="square">
            <a:spAutoFit/>
          </a:bodyPr>
          <a:lstStyle/>
          <a:p>
            <a:pPr>
              <a:buNone/>
            </a:pPr>
            <a:r>
              <a:rPr lang="en-US" sz="2400" b="1" err="1">
                <a:latin typeface="Arial" panose="020B0604020202020204" pitchFamily="34" charset="0"/>
                <a:cs typeface="Arial" panose="020B0604020202020204" pitchFamily="34" charset="0"/>
              </a:rPr>
              <a:t>Ví</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dụ</a:t>
            </a:r>
            <a:r>
              <a:rPr lang="en-US" sz="2400" b="1">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liên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hệ</a:t>
            </a:r>
            <a:r>
              <a:rPr lang="en-US" sz="2400">
                <a:latin typeface="Arial" panose="020B0604020202020204" pitchFamily="34" charset="0"/>
                <a:cs typeface="Arial" panose="020B0604020202020204" pitchFamily="34" charset="0"/>
              </a:rPr>
              <a:t> Facebook:</a:t>
            </a:r>
          </a:p>
          <a:p>
            <a:pPr marL="342900" lvl="0" indent="-342900">
              <a:buFont typeface="Arial" panose="020B0604020202020204" pitchFamily="34" charset="0"/>
              <a:buChar char="•"/>
            </a:pPr>
            <a:r>
              <a:rPr lang="en-US" sz="2400">
                <a:latin typeface="Arial" panose="020B0604020202020204" pitchFamily="34" charset="0"/>
                <a:cs typeface="Arial" panose="020B0604020202020204" pitchFamily="34" charset="0"/>
              </a:rPr>
              <a:t>Chia </a:t>
            </a:r>
            <a:r>
              <a:rPr lang="en-US" sz="2400" err="1">
                <a:latin typeface="Arial" panose="020B0604020202020204" pitchFamily="34" charset="0"/>
                <a:cs typeface="Arial" panose="020B0604020202020204" pitchFamily="34" charset="0"/>
              </a:rPr>
              <a:t>sẻ</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thông</a:t>
            </a:r>
            <a:r>
              <a:rPr lang="en-US" sz="2400">
                <a:latin typeface="Arial" panose="020B0604020202020204" pitchFamily="34" charset="0"/>
                <a:cs typeface="Arial" panose="020B0604020202020204" pitchFamily="34" charset="0"/>
              </a:rPr>
              <a:t> tin </a:t>
            </a:r>
          </a:p>
          <a:p>
            <a:pPr marL="342900" lvl="0" indent="-342900">
              <a:buFont typeface="Arial" panose="020B0604020202020204" pitchFamily="34" charset="0"/>
              <a:buChar char="•"/>
            </a:pPr>
            <a:r>
              <a:rPr lang="en-US" sz="2400" err="1">
                <a:latin typeface="Arial" panose="020B0604020202020204" pitchFamily="34" charset="0"/>
                <a:cs typeface="Arial" panose="020B0604020202020204" pitchFamily="34" charset="0"/>
              </a:rPr>
              <a:t>Giải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trí</a:t>
            </a:r>
            <a:r>
              <a:rPr lang="en-US" sz="2400">
                <a:latin typeface="Arial" panose="020B0604020202020204" pitchFamily="34" charset="0"/>
                <a:cs typeface="Arial" panose="020B0604020202020204" pitchFamily="34" charset="0"/>
              </a:rPr>
              <a:t> </a:t>
            </a:r>
          </a:p>
          <a:p>
            <a:pPr marL="342900" lvl="0" indent="-342900">
              <a:buFont typeface="Arial" panose="020B0604020202020204" pitchFamily="34" charset="0"/>
              <a:buChar char="•"/>
            </a:pPr>
            <a:r>
              <a:rPr lang="en-US" sz="2400" err="1">
                <a:latin typeface="Arial" panose="020B0604020202020204" pitchFamily="34" charset="0"/>
                <a:cs typeface="Arial" panose="020B0604020202020204" pitchFamily="34" charset="0"/>
              </a:rPr>
              <a:t>Giết</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thời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gian</a:t>
            </a:r>
            <a:r>
              <a:rPr lang="en-US" sz="2400">
                <a:latin typeface="Arial" panose="020B0604020202020204" pitchFamily="34" charset="0"/>
                <a:cs typeface="Arial" panose="020B0604020202020204" pitchFamily="34" charset="0"/>
              </a:rPr>
              <a:t> </a:t>
            </a:r>
          </a:p>
          <a:p>
            <a:pPr marL="342900" lvl="0" indent="-342900">
              <a:buFont typeface="Arial" panose="020B0604020202020204" pitchFamily="34" charset="0"/>
              <a:buChar char="•"/>
            </a:pPr>
            <a:r>
              <a:rPr lang="en-US" sz="2400" err="1">
                <a:latin typeface="Arial" panose="020B0604020202020204" pitchFamily="34" charset="0"/>
                <a:cs typeface="Arial" panose="020B0604020202020204" pitchFamily="34" charset="0"/>
              </a:rPr>
              <a:t>Kết</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nối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người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cùng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sở</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thích</a:t>
            </a:r>
            <a:r>
              <a:rPr lang="en-US" sz="2400">
                <a:latin typeface="Arial" panose="020B0604020202020204" pitchFamily="34" charset="0"/>
                <a:cs typeface="Arial" panose="020B0604020202020204" pitchFamily="34" charset="0"/>
              </a:rPr>
              <a:t> </a:t>
            </a:r>
          </a:p>
          <a:p>
            <a:pPr marL="342900" lvl="0" indent="-342900">
              <a:buFont typeface="Arial" panose="020B0604020202020204" pitchFamily="34" charset="0"/>
              <a:buChar char="•"/>
            </a:pPr>
            <a:r>
              <a:rPr lang="en-US" sz="2400">
                <a:latin typeface="Arial" panose="020B0604020202020204" pitchFamily="34" charset="0"/>
                <a:cs typeface="Arial" panose="020B0604020202020204" pitchFamily="34" charset="0"/>
              </a:rPr>
              <a:t>Quảng </a:t>
            </a:r>
            <a:r>
              <a:rPr lang="en-US" sz="2400" err="1">
                <a:latin typeface="Arial" panose="020B0604020202020204" pitchFamily="34" charset="0"/>
                <a:cs typeface="Arial" panose="020B0604020202020204" pitchFamily="34" charset="0"/>
              </a:rPr>
              <a:t>bá</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bản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thân</a:t>
            </a:r>
            <a:r>
              <a:rPr lang="en-US" sz="2400">
                <a:latin typeface="Arial" panose="020B0604020202020204" pitchFamily="34" charset="0"/>
                <a:cs typeface="Arial" panose="020B0604020202020204" pitchFamily="34" charset="0"/>
              </a:rPr>
              <a:t>/</a:t>
            </a:r>
            <a:r>
              <a:rPr lang="en-US" sz="2400" err="1">
                <a:latin typeface="Arial" panose="020B0604020202020204" pitchFamily="34" charset="0"/>
                <a:cs typeface="Arial" panose="020B0604020202020204" pitchFamily="34" charset="0"/>
              </a:rPr>
              <a:t>tổ</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chức</a:t>
            </a:r>
            <a:endParaRPr lang="en-US" sz="2400">
              <a:latin typeface="Arial" panose="020B0604020202020204" pitchFamily="34" charset="0"/>
              <a:cs typeface="Arial" panose="020B0604020202020204" pitchFamily="34" charset="0"/>
            </a:endParaRPr>
          </a:p>
          <a:p>
            <a:pPr lvl="0"/>
            <a:r>
              <a:rPr lang="en-US" sz="2400" b="1">
                <a:latin typeface="Arial" panose="020B0604020202020204" pitchFamily="34" charset="0"/>
                <a:cs typeface="Arial" panose="020B0604020202020204" pitchFamily="34" charset="0"/>
                <a:sym typeface="Wingdings" panose="05000000000000000000" pitchFamily="2" charset="2"/>
              </a:rPr>
              <a:t> </a:t>
            </a:r>
            <a:r>
              <a:rPr lang="en-US" sz="2400" err="1">
                <a:latin typeface="Arial" panose="020B0604020202020204" pitchFamily="34" charset="0"/>
                <a:cs typeface="Arial" panose="020B0604020202020204" pitchFamily="34" charset="0"/>
              </a:rPr>
              <a:t>Đừng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chỉ</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nghiên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cứu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khách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hàng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mua</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gì</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hãy</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tìm</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hiểu</a:t>
            </a:r>
            <a:r>
              <a:rPr lang="en-US" sz="2400">
                <a:latin typeface="Arial" panose="020B0604020202020204" pitchFamily="34" charset="0"/>
                <a:cs typeface="Arial" panose="020B0604020202020204" pitchFamily="34" charset="0"/>
              </a:rPr>
              <a:t> </a:t>
            </a:r>
            <a:r>
              <a:rPr lang="en-US" sz="2400" b="1">
                <a:latin typeface="Arial" panose="020B0604020202020204" pitchFamily="34" charset="0"/>
                <a:cs typeface="Arial" panose="020B0604020202020204" pitchFamily="34" charset="0"/>
              </a:rPr>
              <a:t>“</a:t>
            </a:r>
            <a:r>
              <a:rPr lang="en-US" sz="2400" b="1" err="1">
                <a:latin typeface="Arial" panose="020B0604020202020204" pitchFamily="34" charset="0"/>
                <a:cs typeface="Arial" panose="020B0604020202020204" pitchFamily="34" charset="0"/>
              </a:rPr>
              <a:t>tại</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sao</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họ</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mua</a:t>
            </a:r>
            <a:r>
              <a:rPr lang="en-US" sz="2400" b="1">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8352512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4BB56-8196-C2CD-1FE5-7F43163DE4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D6EC8-EE03-F4CB-9C28-ADA9E4098B4E}"/>
              </a:ext>
            </a:extLst>
          </p:cNvPr>
          <p:cNvSpPr>
            <a:spLocks noGrp="1"/>
          </p:cNvSpPr>
          <p:nvPr>
            <p:ph type="title"/>
          </p:nvPr>
        </p:nvSpPr>
        <p:spPr>
          <a:xfrm>
            <a:off x="612422" y="0"/>
            <a:ext cx="10515600" cy="1325563"/>
          </a:xfrm>
        </p:spPr>
        <p:txBody>
          <a:bodyPr>
            <a:normAutofit/>
          </a:bodyPr>
          <a:lstStyle/>
          <a:p>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3.1.7 </a:t>
            </a:r>
            <a:r>
              <a:rPr lang="en-US" sz="2800" b="1" kern="0" err="1">
                <a:latin typeface="Arial" panose="020B0604020202020204" pitchFamily="34" charset="0"/>
                <a:ea typeface="Times New Roman" panose="02020603050405020304" pitchFamily="18" charset="0"/>
                <a:cs typeface="Arial" panose="020B0604020202020204" pitchFamily="34" charset="0"/>
              </a:rPr>
              <a:t>Động</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cơ</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và</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bản</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chất</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của</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động</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cơ</a:t>
            </a:r>
            <a:endParaRPr lang="en-US" sz="280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15D304B-0B5D-F0BD-F4AE-2B931E9730C6}"/>
              </a:ext>
            </a:extLst>
          </p:cNvPr>
          <p:cNvSpPr>
            <a:spLocks noGrp="1"/>
          </p:cNvSpPr>
          <p:nvPr>
            <p:ph idx="1"/>
          </p:nvPr>
        </p:nvSpPr>
        <p:spPr>
          <a:xfrm>
            <a:off x="218722" y="897731"/>
            <a:ext cx="11303000" cy="4351338"/>
          </a:xfrm>
        </p:spPr>
        <p:txBody>
          <a:bodyPr>
            <a:noAutofit/>
          </a:bodyPr>
          <a:lstStyle/>
          <a:p>
            <a:pPr marL="0" indent="0">
              <a:buNone/>
            </a:pPr>
            <a:r>
              <a:rPr lang="en-US" i="1" err="1">
                <a:latin typeface="Arial" panose="020B0604020202020204" pitchFamily="34" charset="0"/>
                <a:cs typeface="Arial" panose="020B0604020202020204" pitchFamily="34" charset="0"/>
              </a:rPr>
              <a:t>Mục</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đích</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tích</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cực</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và</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tiêu</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cực</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nhu</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cầu</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luôn</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nảy</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sinh</a:t>
            </a:r>
            <a:endParaRPr lang="en-US" i="1">
              <a:latin typeface="Arial" panose="020B0604020202020204" pitchFamily="34" charset="0"/>
              <a:cs typeface="Arial" panose="020B0604020202020204" pitchFamily="34" charset="0"/>
            </a:endParaRPr>
          </a:p>
          <a:p>
            <a:pPr marL="0" indent="0">
              <a:buNone/>
            </a:pPr>
            <a:endParaRPr lang="en-US" i="1">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A914BA89-20B7-1DD8-9084-1C7AB68A672A}"/>
              </a:ext>
            </a:extLst>
          </p:cNvPr>
          <p:cNvGraphicFramePr>
            <a:graphicFrameLocks noGrp="1"/>
          </p:cNvGraphicFramePr>
          <p:nvPr/>
        </p:nvGraphicFramePr>
        <p:xfrm>
          <a:off x="285045" y="1706263"/>
          <a:ext cx="10515600" cy="188976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158004445"/>
                    </a:ext>
                  </a:extLst>
                </a:gridCol>
                <a:gridCol w="5257800">
                  <a:extLst>
                    <a:ext uri="{9D8B030D-6E8A-4147-A177-3AD203B41FA5}">
                      <a16:colId xmlns:a16="http://schemas.microsoft.com/office/drawing/2014/main" val="2208601467"/>
                    </a:ext>
                  </a:extLst>
                </a:gridCol>
              </a:tblGrid>
              <a:tr h="0">
                <a:tc>
                  <a:txBody>
                    <a:bodyPr/>
                    <a:lstStyle/>
                    <a:p>
                      <a:pPr>
                        <a:buNone/>
                      </a:pPr>
                      <a:r>
                        <a:rPr lang="en-US" sz="2500" b="1">
                          <a:latin typeface="Arial" panose="020B0604020202020204" pitchFamily="34" charset="0"/>
                          <a:cs typeface="Arial" panose="020B0604020202020204" pitchFamily="34" charset="0"/>
                        </a:rPr>
                        <a:t>Mục tiêu tích cực</a:t>
                      </a:r>
                    </a:p>
                  </a:txBody>
                  <a:tcPr anchor="ctr"/>
                </a:tc>
                <a:tc>
                  <a:txBody>
                    <a:bodyPr/>
                    <a:lstStyle/>
                    <a:p>
                      <a:pPr>
                        <a:buNone/>
                      </a:pPr>
                      <a:r>
                        <a:rPr lang="en-US" sz="2500" b="1" err="1">
                          <a:latin typeface="Arial" panose="020B0604020202020204" pitchFamily="34" charset="0"/>
                          <a:cs typeface="Arial" panose="020B0604020202020204" pitchFamily="34" charset="0"/>
                        </a:rPr>
                        <a:t>Mục</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tiêu</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tiêu</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cực</a:t>
                      </a:r>
                      <a:endParaRPr lang="en-US" sz="2500" b="1">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050698990"/>
                  </a:ext>
                </a:extLst>
              </a:tr>
              <a:tr h="0">
                <a:tc>
                  <a:txBody>
                    <a:bodyPr/>
                    <a:lstStyle/>
                    <a:p>
                      <a:pPr>
                        <a:buNone/>
                      </a:pPr>
                      <a:r>
                        <a:rPr lang="en-US" sz="2500">
                          <a:latin typeface="Arial" panose="020B0604020202020204" pitchFamily="34" charset="0"/>
                          <a:cs typeface="Arial" panose="020B0604020202020204" pitchFamily="34" charset="0"/>
                        </a:rPr>
                        <a:t>Hướng tới điều mong muốn</a:t>
                      </a:r>
                    </a:p>
                  </a:txBody>
                  <a:tcPr anchor="ctr"/>
                </a:tc>
                <a:tc>
                  <a:txBody>
                    <a:bodyPr/>
                    <a:lstStyle/>
                    <a:p>
                      <a:pPr>
                        <a:buNone/>
                      </a:pPr>
                      <a:r>
                        <a:rPr lang="en-US" sz="2500">
                          <a:latin typeface="Arial" panose="020B0604020202020204" pitchFamily="34" charset="0"/>
                          <a:cs typeface="Arial" panose="020B0604020202020204" pitchFamily="34" charset="0"/>
                        </a:rPr>
                        <a:t>Tránh điều không mong muốn</a:t>
                      </a:r>
                    </a:p>
                  </a:txBody>
                  <a:tcPr anchor="ctr"/>
                </a:tc>
                <a:extLst>
                  <a:ext uri="{0D108BD9-81ED-4DB2-BD59-A6C34878D82A}">
                    <a16:rowId xmlns:a16="http://schemas.microsoft.com/office/drawing/2014/main" val="3366917221"/>
                  </a:ext>
                </a:extLst>
              </a:tr>
              <a:tr h="0">
                <a:tc>
                  <a:txBody>
                    <a:bodyPr/>
                    <a:lstStyle/>
                    <a:p>
                      <a:pPr>
                        <a:buNone/>
                      </a:pPr>
                      <a:r>
                        <a:rPr lang="en-US" sz="2500">
                          <a:latin typeface="Arial" panose="020B0604020202020204" pitchFamily="34" charset="0"/>
                          <a:cs typeface="Arial" panose="020B0604020202020204" pitchFamily="34" charset="0"/>
                        </a:rPr>
                        <a:t>“Tôi muốn đạt được…”</a:t>
                      </a:r>
                    </a:p>
                  </a:txBody>
                  <a:tcPr anchor="ctr"/>
                </a:tc>
                <a:tc>
                  <a:txBody>
                    <a:bodyPr/>
                    <a:lstStyle/>
                    <a:p>
                      <a:pPr>
                        <a:buNone/>
                      </a:pPr>
                      <a:r>
                        <a:rPr lang="en-US" sz="2500">
                          <a:latin typeface="Arial" panose="020B0604020202020204" pitchFamily="34" charset="0"/>
                          <a:cs typeface="Arial" panose="020B0604020202020204" pitchFamily="34" charset="0"/>
                        </a:rPr>
                        <a:t>“Tôi muốn tránh…”</a:t>
                      </a:r>
                    </a:p>
                  </a:txBody>
                  <a:tcPr anchor="ctr"/>
                </a:tc>
                <a:extLst>
                  <a:ext uri="{0D108BD9-81ED-4DB2-BD59-A6C34878D82A}">
                    <a16:rowId xmlns:a16="http://schemas.microsoft.com/office/drawing/2014/main" val="462461011"/>
                  </a:ext>
                </a:extLst>
              </a:tr>
              <a:tr h="0">
                <a:tc>
                  <a:txBody>
                    <a:bodyPr/>
                    <a:lstStyle/>
                    <a:p>
                      <a:pPr>
                        <a:buNone/>
                      </a:pPr>
                      <a:r>
                        <a:rPr lang="en-US" sz="2500">
                          <a:latin typeface="Arial" panose="020B0604020202020204" pitchFamily="34" charset="0"/>
                          <a:cs typeface="Arial" panose="020B0604020202020204" pitchFamily="34" charset="0"/>
                        </a:rPr>
                        <a:t>Học </a:t>
                      </a:r>
                      <a:r>
                        <a:rPr lang="en-US" sz="2500" err="1">
                          <a:latin typeface="Arial" panose="020B0604020202020204" pitchFamily="34" charset="0"/>
                          <a:cs typeface="Arial" panose="020B0604020202020204" pitchFamily="34" charset="0"/>
                        </a:rPr>
                        <a:t>để</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có</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kiến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thức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bằng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cấp</a:t>
                      </a:r>
                      <a:endParaRPr lang="en-US" sz="2500">
                        <a:latin typeface="Arial" panose="020B0604020202020204" pitchFamily="34" charset="0"/>
                        <a:cs typeface="Arial" panose="020B0604020202020204" pitchFamily="34" charset="0"/>
                      </a:endParaRPr>
                    </a:p>
                  </a:txBody>
                  <a:tcPr anchor="ctr"/>
                </a:tc>
                <a:tc>
                  <a:txBody>
                    <a:bodyPr/>
                    <a:lstStyle/>
                    <a:p>
                      <a:pPr>
                        <a:buNone/>
                      </a:pPr>
                      <a:r>
                        <a:rPr lang="en-US" sz="2500">
                          <a:latin typeface="Arial" panose="020B0604020202020204" pitchFamily="34" charset="0"/>
                          <a:cs typeface="Arial" panose="020B0604020202020204" pitchFamily="34" charset="0"/>
                        </a:rPr>
                        <a:t>Học </a:t>
                      </a:r>
                      <a:r>
                        <a:rPr lang="en-US" sz="2500" err="1">
                          <a:latin typeface="Arial" panose="020B0604020202020204" pitchFamily="34" charset="0"/>
                          <a:cs typeface="Arial" panose="020B0604020202020204" pitchFamily="34" charset="0"/>
                        </a:rPr>
                        <a:t>để</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tránh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áp</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lực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gia</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đình</a:t>
                      </a:r>
                      <a:endParaRPr lang="en-US" sz="25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053094531"/>
                  </a:ext>
                </a:extLst>
              </a:tr>
            </a:tbl>
          </a:graphicData>
        </a:graphic>
      </p:graphicFrame>
      <p:sp>
        <p:nvSpPr>
          <p:cNvPr id="7" name="TextBox 6">
            <a:extLst>
              <a:ext uri="{FF2B5EF4-FFF2-40B4-BE49-F238E27FC236}">
                <a16:creationId xmlns:a16="http://schemas.microsoft.com/office/drawing/2014/main" id="{38918E54-ADB3-9D69-E0DA-40FE4A3599E9}"/>
              </a:ext>
            </a:extLst>
          </p:cNvPr>
          <p:cNvSpPr txBox="1"/>
          <p:nvPr/>
        </p:nvSpPr>
        <p:spPr>
          <a:xfrm>
            <a:off x="218722" y="3976723"/>
            <a:ext cx="11211278" cy="2400657"/>
          </a:xfrm>
          <a:prstGeom prst="rect">
            <a:avLst/>
          </a:prstGeom>
          <a:noFill/>
        </p:spPr>
        <p:txBody>
          <a:bodyPr wrap="square">
            <a:spAutoFit/>
          </a:bodyPr>
          <a:lstStyle/>
          <a:p>
            <a:pPr>
              <a:buNone/>
            </a:pPr>
            <a:r>
              <a:rPr lang="en-US" sz="2500" b="1">
                <a:latin typeface="Arial" panose="020B0604020202020204" pitchFamily="34" charset="0"/>
                <a:cs typeface="Arial" panose="020B0604020202020204" pitchFamily="34" charset="0"/>
              </a:rPr>
              <a:t>Nhu </a:t>
            </a:r>
            <a:r>
              <a:rPr lang="en-US" sz="2500" b="1" err="1">
                <a:latin typeface="Arial" panose="020B0604020202020204" pitchFamily="34" charset="0"/>
                <a:cs typeface="Arial" panose="020B0604020202020204" pitchFamily="34" charset="0"/>
              </a:rPr>
              <a:t>cầu</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không</a:t>
            </a:r>
            <a:r>
              <a:rPr lang="en-US" sz="2500" b="1">
                <a:latin typeface="Arial" panose="020B0604020202020204" pitchFamily="34" charset="0"/>
                <a:cs typeface="Arial" panose="020B0604020202020204" pitchFamily="34" charset="0"/>
              </a:rPr>
              <a:t> bao </a:t>
            </a:r>
            <a:r>
              <a:rPr lang="en-US" sz="2500" b="1" err="1">
                <a:latin typeface="Arial" panose="020B0604020202020204" pitchFamily="34" charset="0"/>
                <a:cs typeface="Arial" panose="020B0604020202020204" pitchFamily="34" charset="0"/>
              </a:rPr>
              <a:t>giờ</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kết</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thúc</a:t>
            </a:r>
            <a:r>
              <a:rPr lang="en-US" sz="2500" b="1">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Thỏa</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mãn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một</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nhu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cầu</a:t>
            </a:r>
            <a:r>
              <a:rPr lang="en-US" sz="2500">
                <a:latin typeface="Arial" panose="020B0604020202020204" pitchFamily="34" charset="0"/>
                <a:cs typeface="Arial" panose="020B0604020202020204" pitchFamily="34" charset="0"/>
              </a:rPr>
              <a:t> → </a:t>
            </a:r>
            <a:r>
              <a:rPr lang="en-US" sz="2500" err="1">
                <a:latin typeface="Arial" panose="020B0604020202020204" pitchFamily="34" charset="0"/>
                <a:cs typeface="Arial" panose="020B0604020202020204" pitchFamily="34" charset="0"/>
              </a:rPr>
              <a:t>nhu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cầu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mới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xuất</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hiện</a:t>
            </a:r>
            <a:endParaRPr lang="en-US" sz="2500">
              <a:latin typeface="Arial" panose="020B0604020202020204" pitchFamily="34" charset="0"/>
              <a:cs typeface="Arial" panose="020B0604020202020204" pitchFamily="34" charset="0"/>
            </a:endParaRPr>
          </a:p>
          <a:p>
            <a:r>
              <a:rPr lang="en-US" sz="2500" err="1">
                <a:latin typeface="Arial" panose="020B0604020202020204" pitchFamily="34" charset="0"/>
                <a:cs typeface="Arial" panose="020B0604020202020204" pitchFamily="34" charset="0"/>
              </a:rPr>
              <a:t>Ví</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dụ</a:t>
            </a:r>
            <a:r>
              <a:rPr lang="en-US" sz="2500">
                <a:latin typeface="Arial" panose="020B0604020202020204" pitchFamily="34" charset="0"/>
                <a:cs typeface="Arial" panose="020B0604020202020204" pitchFamily="34" charset="0"/>
              </a:rPr>
              <a:t>:</a:t>
            </a:r>
          </a:p>
          <a:p>
            <a:r>
              <a:rPr lang="en-US" sz="2500" b="1">
                <a:latin typeface="Arial" panose="020B0604020202020204" pitchFamily="34" charset="0"/>
                <a:cs typeface="Arial" panose="020B0604020202020204" pitchFamily="34" charset="0"/>
              </a:rPr>
              <a:t>Xe </a:t>
            </a:r>
            <a:r>
              <a:rPr lang="en-US" sz="2500" b="1" err="1">
                <a:latin typeface="Arial" panose="020B0604020202020204" pitchFamily="34" charset="0"/>
                <a:cs typeface="Arial" panose="020B0604020202020204" pitchFamily="34" charset="0"/>
              </a:rPr>
              <a:t>máy</a:t>
            </a:r>
            <a:r>
              <a:rPr lang="en-US" sz="2500" b="1">
                <a:latin typeface="Arial" panose="020B0604020202020204" pitchFamily="34" charset="0"/>
                <a:cs typeface="Arial" panose="020B0604020202020204" pitchFamily="34" charset="0"/>
              </a:rPr>
              <a:t> → Xe </a:t>
            </a:r>
            <a:r>
              <a:rPr lang="en-US" sz="2500" b="1" err="1">
                <a:latin typeface="Arial" panose="020B0604020202020204" pitchFamily="34" charset="0"/>
                <a:cs typeface="Arial" panose="020B0604020202020204" pitchFamily="34" charset="0"/>
              </a:rPr>
              <a:t>hơi</a:t>
            </a:r>
            <a:r>
              <a:rPr lang="en-US" sz="2500" b="1">
                <a:latin typeface="Arial" panose="020B0604020202020204" pitchFamily="34" charset="0"/>
                <a:cs typeface="Arial" panose="020B0604020202020204" pitchFamily="34" charset="0"/>
              </a:rPr>
              <a:t> → Xe </a:t>
            </a:r>
            <a:r>
              <a:rPr lang="en-US" sz="2500" b="1" err="1">
                <a:latin typeface="Arial" panose="020B0604020202020204" pitchFamily="34" charset="0"/>
                <a:cs typeface="Arial" panose="020B0604020202020204" pitchFamily="34" charset="0"/>
              </a:rPr>
              <a:t>tốt</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hơn</a:t>
            </a:r>
            <a:r>
              <a:rPr lang="en-US" sz="2500" b="1">
                <a:latin typeface="Arial" panose="020B0604020202020204" pitchFamily="34" charset="0"/>
                <a:cs typeface="Arial" panose="020B0604020202020204" pitchFamily="34" charset="0"/>
              </a:rPr>
              <a:t> → Xe </a:t>
            </a:r>
            <a:r>
              <a:rPr lang="en-US" sz="2500" b="1" err="1">
                <a:latin typeface="Arial" panose="020B0604020202020204" pitchFamily="34" charset="0"/>
                <a:cs typeface="Arial" panose="020B0604020202020204" pitchFamily="34" charset="0"/>
              </a:rPr>
              <a:t>cao</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cấp</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hơn</a:t>
            </a:r>
            <a:endParaRPr lang="en-US" sz="2500">
              <a:latin typeface="Arial" panose="020B0604020202020204" pitchFamily="34" charset="0"/>
              <a:cs typeface="Arial" panose="020B0604020202020204" pitchFamily="34" charset="0"/>
            </a:endParaRPr>
          </a:p>
          <a:p>
            <a:pPr>
              <a:buNone/>
            </a:pPr>
            <a:r>
              <a:rPr lang="en-US" sz="2500">
                <a:latin typeface="Arial" panose="020B0604020202020204" pitchFamily="34" charset="0"/>
                <a:cs typeface="Arial" panose="020B0604020202020204" pitchFamily="34" charset="0"/>
                <a:sym typeface="Wingdings" panose="05000000000000000000" pitchFamily="2" charset="2"/>
              </a:rPr>
              <a:t> </a:t>
            </a:r>
            <a:r>
              <a:rPr lang="en-US" sz="2500" err="1">
                <a:latin typeface="Arial" panose="020B0604020202020204" pitchFamily="34" charset="0"/>
                <a:cs typeface="Arial" panose="020B0604020202020204" pitchFamily="34" charset="0"/>
              </a:rPr>
              <a:t>Người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tiêu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dùng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không</a:t>
            </a:r>
            <a:r>
              <a:rPr lang="en-US" sz="2500">
                <a:latin typeface="Arial" panose="020B0604020202020204" pitchFamily="34" charset="0"/>
                <a:cs typeface="Arial" panose="020B0604020202020204" pitchFamily="34" charset="0"/>
              </a:rPr>
              <a:t> ở </a:t>
            </a:r>
            <a:r>
              <a:rPr lang="en-US" sz="2500" err="1">
                <a:latin typeface="Arial" panose="020B0604020202020204" pitchFamily="34" charset="0"/>
                <a:cs typeface="Arial" panose="020B0604020202020204" pitchFamily="34" charset="0"/>
              </a:rPr>
              <a:t>trạng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thái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đã</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thỏa</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mãn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hoàn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toàn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nhu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cầu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và</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mục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tiêu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liên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tục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thay</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đổi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theo</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hoàn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cảnh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và</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trải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nghiệm</a:t>
            </a:r>
            <a:r>
              <a:rPr lang="en-US" sz="250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71157374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6FD6A-9230-17F3-97E7-AE40351C99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7F8B8E-5266-7BEF-01B1-EDB61D5A5C65}"/>
              </a:ext>
            </a:extLst>
          </p:cNvPr>
          <p:cNvSpPr>
            <a:spLocks noGrp="1"/>
          </p:cNvSpPr>
          <p:nvPr>
            <p:ph type="title"/>
          </p:nvPr>
        </p:nvSpPr>
        <p:spPr>
          <a:xfrm>
            <a:off x="629355" y="0"/>
            <a:ext cx="10515600" cy="1325563"/>
          </a:xfrm>
        </p:spPr>
        <p:txBody>
          <a:bodyPr>
            <a:normAutofit/>
          </a:bodyPr>
          <a:lstStyle/>
          <a:p>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3.1.</a:t>
            </a:r>
            <a:r>
              <a:rPr lang="en-US" sz="2800" b="1" kern="0">
                <a:latin typeface="Arial" panose="020B0604020202020204" pitchFamily="34" charset="0"/>
                <a:ea typeface="Times New Roman" panose="02020603050405020304" pitchFamily="18" charset="0"/>
                <a:cs typeface="Arial" panose="020B0604020202020204" pitchFamily="34" charset="0"/>
              </a:rPr>
              <a:t>8</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Thuyết</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động</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cơ</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và</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chiến</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lược</a:t>
            </a:r>
            <a:r>
              <a:rPr lang="en-US" sz="2800" b="1" kern="0">
                <a:latin typeface="Arial" panose="020B0604020202020204" pitchFamily="34" charset="0"/>
                <a:ea typeface="Times New Roman" panose="02020603050405020304" pitchFamily="18" charset="0"/>
                <a:cs typeface="Arial" panose="020B0604020202020204" pitchFamily="34" charset="0"/>
              </a:rPr>
              <a:t> Marketing</a:t>
            </a:r>
            <a:endParaRPr lang="en-US" sz="280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7F7B0B8-40CF-EB66-5B7A-E3BF01639FD1}"/>
              </a:ext>
            </a:extLst>
          </p:cNvPr>
          <p:cNvSpPr txBox="1"/>
          <p:nvPr/>
        </p:nvSpPr>
        <p:spPr>
          <a:xfrm>
            <a:off x="739422" y="923251"/>
            <a:ext cx="6096000" cy="523220"/>
          </a:xfrm>
          <a:prstGeom prst="rect">
            <a:avLst/>
          </a:prstGeom>
          <a:noFill/>
        </p:spPr>
        <p:txBody>
          <a:bodyPr wrap="square">
            <a:spAutoFit/>
          </a:bodyPr>
          <a:lstStyle/>
          <a:p>
            <a:r>
              <a:rPr lang="en-US" sz="2800" i="1" err="1">
                <a:latin typeface="Arial" panose="020B0604020202020204" pitchFamily="34" charset="0"/>
                <a:cs typeface="Arial" panose="020B0604020202020204" pitchFamily="34" charset="0"/>
              </a:rPr>
              <a:t>Thuyết</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động</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lực</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của</a:t>
            </a:r>
            <a:r>
              <a:rPr lang="en-US" sz="2800" i="1">
                <a:latin typeface="Arial" panose="020B0604020202020204" pitchFamily="34" charset="0"/>
                <a:cs typeface="Arial" panose="020B0604020202020204" pitchFamily="34" charset="0"/>
              </a:rPr>
              <a:t> McGuire</a:t>
            </a:r>
          </a:p>
        </p:txBody>
      </p:sp>
      <p:graphicFrame>
        <p:nvGraphicFramePr>
          <p:cNvPr id="8" name="Table 7">
            <a:extLst>
              <a:ext uri="{FF2B5EF4-FFF2-40B4-BE49-F238E27FC236}">
                <a16:creationId xmlns:a16="http://schemas.microsoft.com/office/drawing/2014/main" id="{ED59E9FD-88A5-BBEC-45A5-8ED9B44A8080}"/>
              </a:ext>
            </a:extLst>
          </p:cNvPr>
          <p:cNvGraphicFramePr>
            <a:graphicFrameLocks noGrp="1"/>
          </p:cNvGraphicFramePr>
          <p:nvPr/>
        </p:nvGraphicFramePr>
        <p:xfrm>
          <a:off x="318911" y="1541730"/>
          <a:ext cx="10941756" cy="2743200"/>
        </p:xfrm>
        <a:graphic>
          <a:graphicData uri="http://schemas.openxmlformats.org/drawingml/2006/table">
            <a:tbl>
              <a:tblPr>
                <a:tableStyleId>{5C22544A-7EE6-4342-B048-85BDC9FD1C3A}</a:tableStyleId>
              </a:tblPr>
              <a:tblGrid>
                <a:gridCol w="3558822">
                  <a:extLst>
                    <a:ext uri="{9D8B030D-6E8A-4147-A177-3AD203B41FA5}">
                      <a16:colId xmlns:a16="http://schemas.microsoft.com/office/drawing/2014/main" val="1100269326"/>
                    </a:ext>
                  </a:extLst>
                </a:gridCol>
                <a:gridCol w="7382934">
                  <a:extLst>
                    <a:ext uri="{9D8B030D-6E8A-4147-A177-3AD203B41FA5}">
                      <a16:colId xmlns:a16="http://schemas.microsoft.com/office/drawing/2014/main" val="3557059362"/>
                    </a:ext>
                  </a:extLst>
                </a:gridCol>
              </a:tblGrid>
              <a:tr h="0">
                <a:tc>
                  <a:txBody>
                    <a:bodyPr/>
                    <a:lstStyle/>
                    <a:p>
                      <a:pPr>
                        <a:buNone/>
                      </a:pPr>
                      <a:r>
                        <a:rPr lang="en-US" sz="2500" b="1" err="1">
                          <a:latin typeface="Arial" panose="020B0604020202020204" pitchFamily="34" charset="0"/>
                          <a:cs typeface="Arial" panose="020B0604020202020204" pitchFamily="34" charset="0"/>
                        </a:rPr>
                        <a:t>Nhóm</a:t>
                      </a:r>
                      <a:endParaRPr lang="en-US" sz="2500" b="1">
                        <a:latin typeface="Arial" panose="020B0604020202020204" pitchFamily="34" charset="0"/>
                        <a:cs typeface="Arial" panose="020B0604020202020204" pitchFamily="34" charset="0"/>
                      </a:endParaRPr>
                    </a:p>
                  </a:txBody>
                  <a:tcPr anchor="ctr"/>
                </a:tc>
                <a:tc>
                  <a:txBody>
                    <a:bodyPr/>
                    <a:lstStyle/>
                    <a:p>
                      <a:pPr>
                        <a:buNone/>
                      </a:pPr>
                      <a:r>
                        <a:rPr lang="en-US" sz="2500" b="1">
                          <a:latin typeface="Arial" panose="020B0604020202020204" pitchFamily="34" charset="0"/>
                          <a:cs typeface="Arial" panose="020B0604020202020204" pitchFamily="34" charset="0"/>
                        </a:rPr>
                        <a:t>Các </a:t>
                      </a:r>
                      <a:r>
                        <a:rPr lang="en-US" sz="2500" b="1" err="1">
                          <a:latin typeface="Arial" panose="020B0604020202020204" pitchFamily="34" charset="0"/>
                          <a:cs typeface="Arial" panose="020B0604020202020204" pitchFamily="34" charset="0"/>
                        </a:rPr>
                        <a:t>động</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lực</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chính</a:t>
                      </a:r>
                      <a:endParaRPr lang="en-US" sz="2500" b="1">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619741211"/>
                  </a:ext>
                </a:extLst>
              </a:tr>
              <a:tr h="0">
                <a:tc>
                  <a:txBody>
                    <a:bodyPr/>
                    <a:lstStyle/>
                    <a:p>
                      <a:pPr>
                        <a:buNone/>
                      </a:pPr>
                      <a:r>
                        <a:rPr lang="en-US" sz="2500">
                          <a:latin typeface="Arial" panose="020B0604020202020204" pitchFamily="34" charset="0"/>
                          <a:cs typeface="Arial" panose="020B0604020202020204" pitchFamily="34" charset="0"/>
                        </a:rPr>
                        <a:t>Bảo tồn nhận thức</a:t>
                      </a:r>
                    </a:p>
                  </a:txBody>
                  <a:tcPr anchor="ctr"/>
                </a:tc>
                <a:tc>
                  <a:txBody>
                    <a:bodyPr/>
                    <a:lstStyle/>
                    <a:p>
                      <a:pPr>
                        <a:buNone/>
                      </a:pPr>
                      <a:r>
                        <a:rPr lang="en-US" sz="2500" err="1">
                          <a:latin typeface="Arial" panose="020B0604020202020204" pitchFamily="34" charset="0"/>
                          <a:cs typeface="Arial" panose="020B0604020202020204" pitchFamily="34" charset="0"/>
                        </a:rPr>
                        <a:t>Nhất</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quán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nhân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quả</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phân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loại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biểu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tượng</a:t>
                      </a:r>
                      <a:endParaRPr lang="en-US" sz="25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955096931"/>
                  </a:ext>
                </a:extLst>
              </a:tr>
              <a:tr h="0">
                <a:tc>
                  <a:txBody>
                    <a:bodyPr/>
                    <a:lstStyle/>
                    <a:p>
                      <a:pPr>
                        <a:buNone/>
                      </a:pPr>
                      <a:r>
                        <a:rPr lang="en-US" sz="2500">
                          <a:latin typeface="Arial" panose="020B0604020202020204" pitchFamily="34" charset="0"/>
                          <a:cs typeface="Arial" panose="020B0604020202020204" pitchFamily="34" charset="0"/>
                        </a:rPr>
                        <a:t>Phát triển nhận thức</a:t>
                      </a:r>
                    </a:p>
                  </a:txBody>
                  <a:tcPr anchor="ctr"/>
                </a:tc>
                <a:tc>
                  <a:txBody>
                    <a:bodyPr/>
                    <a:lstStyle/>
                    <a:p>
                      <a:pPr>
                        <a:buNone/>
                      </a:pPr>
                      <a:r>
                        <a:rPr lang="en-US" sz="2500" err="1">
                          <a:latin typeface="Arial" panose="020B0604020202020204" pitchFamily="34" charset="0"/>
                          <a:cs typeface="Arial" panose="020B0604020202020204" pitchFamily="34" charset="0"/>
                        </a:rPr>
                        <a:t>Tự</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lập</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mới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lạ</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thành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đạt</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thông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thạo</a:t>
                      </a:r>
                      <a:endParaRPr lang="en-US" sz="25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348196613"/>
                  </a:ext>
                </a:extLst>
              </a:tr>
              <a:tr h="0">
                <a:tc>
                  <a:txBody>
                    <a:bodyPr/>
                    <a:lstStyle/>
                    <a:p>
                      <a:pPr>
                        <a:buNone/>
                      </a:pPr>
                      <a:r>
                        <a:rPr lang="en-US" sz="2500">
                          <a:latin typeface="Arial" panose="020B0604020202020204" pitchFamily="34" charset="0"/>
                          <a:cs typeface="Arial" panose="020B0604020202020204" pitchFamily="34" charset="0"/>
                        </a:rPr>
                        <a:t>Bảo tồn cảm xúc</a:t>
                      </a:r>
                    </a:p>
                  </a:txBody>
                  <a:tcPr anchor="ctr"/>
                </a:tc>
                <a:tc>
                  <a:txBody>
                    <a:bodyPr/>
                    <a:lstStyle/>
                    <a:p>
                      <a:pPr>
                        <a:buNone/>
                      </a:pPr>
                      <a:r>
                        <a:rPr lang="en-US" sz="2500" err="1">
                          <a:latin typeface="Arial" panose="020B0604020202020204" pitchFamily="34" charset="0"/>
                          <a:cs typeface="Arial" panose="020B0604020202020204" pitchFamily="34" charset="0"/>
                        </a:rPr>
                        <a:t>Giảm</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căng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thẳng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thể</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hiện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bản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thân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phòng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thủ</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bản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ngã</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ghi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nhận</a:t>
                      </a:r>
                      <a:endParaRPr lang="en-US" sz="25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382605042"/>
                  </a:ext>
                </a:extLst>
              </a:tr>
              <a:tr h="0">
                <a:tc>
                  <a:txBody>
                    <a:bodyPr/>
                    <a:lstStyle/>
                    <a:p>
                      <a:pPr>
                        <a:buNone/>
                      </a:pPr>
                      <a:r>
                        <a:rPr lang="en-US" sz="2500">
                          <a:latin typeface="Arial" panose="020B0604020202020204" pitchFamily="34" charset="0"/>
                          <a:cs typeface="Arial" panose="020B0604020202020204" pitchFamily="34" charset="0"/>
                        </a:rPr>
                        <a:t>Phát triển cảm xúc</a:t>
                      </a:r>
                    </a:p>
                  </a:txBody>
                  <a:tcPr anchor="ctr"/>
                </a:tc>
                <a:tc>
                  <a:txBody>
                    <a:bodyPr/>
                    <a:lstStyle/>
                    <a:p>
                      <a:pPr>
                        <a:buNone/>
                      </a:pPr>
                      <a:r>
                        <a:rPr lang="en-US" sz="2500" err="1">
                          <a:latin typeface="Arial" panose="020B0604020202020204" pitchFamily="34" charset="0"/>
                          <a:cs typeface="Arial" panose="020B0604020202020204" pitchFamily="34" charset="0"/>
                        </a:rPr>
                        <a:t>Tự</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trọng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liên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kết</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khẳng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định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bản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thân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hòa</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nhập</a:t>
                      </a:r>
                      <a:endParaRPr lang="en-US" sz="25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461556389"/>
                  </a:ext>
                </a:extLst>
              </a:tr>
            </a:tbl>
          </a:graphicData>
        </a:graphic>
      </p:graphicFrame>
      <p:sp>
        <p:nvSpPr>
          <p:cNvPr id="10" name="TextBox 9">
            <a:extLst>
              <a:ext uri="{FF2B5EF4-FFF2-40B4-BE49-F238E27FC236}">
                <a16:creationId xmlns:a16="http://schemas.microsoft.com/office/drawing/2014/main" id="{08AB380B-CE89-EDFC-6CE4-4AD88C127BC8}"/>
              </a:ext>
            </a:extLst>
          </p:cNvPr>
          <p:cNvSpPr txBox="1"/>
          <p:nvPr/>
        </p:nvSpPr>
        <p:spPr>
          <a:xfrm>
            <a:off x="200376" y="4349411"/>
            <a:ext cx="11373557" cy="2015936"/>
          </a:xfrm>
          <a:prstGeom prst="rect">
            <a:avLst/>
          </a:prstGeom>
          <a:noFill/>
        </p:spPr>
        <p:txBody>
          <a:bodyPr wrap="square">
            <a:spAutoFit/>
          </a:bodyPr>
          <a:lstStyle/>
          <a:p>
            <a:r>
              <a:rPr lang="en-US" sz="2500">
                <a:latin typeface="Arial" panose="020B0604020202020204" pitchFamily="34" charset="0"/>
                <a:cs typeface="Arial" panose="020B0604020202020204" pitchFamily="34" charset="0"/>
              </a:rPr>
              <a:t>Nhu </a:t>
            </a:r>
            <a:r>
              <a:rPr lang="en-US" sz="2500" err="1">
                <a:latin typeface="Arial" panose="020B0604020202020204" pitchFamily="34" charset="0"/>
                <a:cs typeface="Arial" panose="020B0604020202020204" pitchFamily="34" charset="0"/>
              </a:rPr>
              <a:t>cầu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đủ</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mạnh</a:t>
            </a:r>
            <a:r>
              <a:rPr lang="en-US" sz="2500">
                <a:latin typeface="Arial" panose="020B0604020202020204" pitchFamily="34" charset="0"/>
                <a:cs typeface="Arial" panose="020B0604020202020204" pitchFamily="34" charset="0"/>
              </a:rPr>
              <a:t> → </a:t>
            </a:r>
            <a:r>
              <a:rPr lang="en-US" sz="2500" err="1">
                <a:latin typeface="Arial" panose="020B0604020202020204" pitchFamily="34" charset="0"/>
                <a:cs typeface="Arial" panose="020B0604020202020204" pitchFamily="34" charset="0"/>
              </a:rPr>
              <a:t>trở</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thành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động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lực</a:t>
            </a:r>
            <a:r>
              <a:rPr lang="en-US" sz="2500">
                <a:latin typeface="Arial" panose="020B0604020202020204" pitchFamily="34" charset="0"/>
                <a:cs typeface="Arial" panose="020B0604020202020204" pitchFamily="34" charset="0"/>
              </a:rPr>
              <a:t> → </a:t>
            </a:r>
            <a:r>
              <a:rPr lang="en-US" sz="2500" err="1">
                <a:latin typeface="Arial" panose="020B0604020202020204" pitchFamily="34" charset="0"/>
                <a:cs typeface="Arial" panose="020B0604020202020204" pitchFamily="34" charset="0"/>
              </a:rPr>
              <a:t>thúc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đẩy</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hành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động</a:t>
            </a:r>
            <a:endParaRPr lang="en-US" sz="2500">
              <a:latin typeface="Arial" panose="020B0604020202020204" pitchFamily="34" charset="0"/>
              <a:cs typeface="Arial" panose="020B0604020202020204" pitchFamily="34" charset="0"/>
            </a:endParaRPr>
          </a:p>
          <a:p>
            <a:r>
              <a:rPr lang="en-US" sz="2500">
                <a:latin typeface="Arial" panose="020B0604020202020204" pitchFamily="34" charset="0"/>
                <a:cs typeface="Arial" panose="020B0604020202020204" pitchFamily="34" charset="0"/>
              </a:rPr>
              <a:t>Marketer </a:t>
            </a:r>
            <a:r>
              <a:rPr lang="en-US" sz="2500" err="1">
                <a:latin typeface="Arial" panose="020B0604020202020204" pitchFamily="34" charset="0"/>
                <a:cs typeface="Arial" panose="020B0604020202020204" pitchFamily="34" charset="0"/>
              </a:rPr>
              <a:t>không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chỉ</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nhận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diện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nhu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cầu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mà</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còn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có</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thể</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dùng</a:t>
            </a:r>
            <a:r>
              <a:rPr lang="en-US" sz="2500">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thông</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điệp</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hình</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ảnh</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trải</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nghiệm</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để</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làm</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nhu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cầu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trở</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nên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đủ</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mạnh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và</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thúc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đẩy</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hành</a:t>
            </a:r>
            <a:r>
              <a:rPr lang="en-US" sz="2500">
                <a:latin typeface="Arial" panose="020B0604020202020204" pitchFamily="34" charset="0"/>
                <a:cs typeface="Arial" panose="020B0604020202020204" pitchFamily="34" charset="0"/>
              </a:rPr>
              <a:t> vi.</a:t>
            </a:r>
          </a:p>
          <a:p>
            <a:r>
              <a:rPr lang="en-US" sz="2500" b="1" err="1">
                <a:latin typeface="Arial" panose="020B0604020202020204" pitchFamily="34" charset="0"/>
                <a:cs typeface="Arial" panose="020B0604020202020204" pitchFamily="34" charset="0"/>
              </a:rPr>
              <a:t>Ví</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dụ</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Biore</a:t>
            </a:r>
            <a:r>
              <a:rPr lang="en-US" sz="2500" b="1">
                <a:latin typeface="Arial" panose="020B0604020202020204" pitchFamily="34" charset="0"/>
                <a:cs typeface="Arial" panose="020B0604020202020204" pitchFamily="34" charset="0"/>
              </a:rPr>
              <a:t>:</a:t>
            </a:r>
            <a:br>
              <a:rPr lang="en-US" sz="2500">
                <a:latin typeface="Arial" panose="020B0604020202020204" pitchFamily="34" charset="0"/>
                <a:cs typeface="Arial" panose="020B0604020202020204" pitchFamily="34" charset="0"/>
              </a:rPr>
            </a:br>
            <a:r>
              <a:rPr lang="en-US" sz="2500" err="1">
                <a:latin typeface="Arial" panose="020B0604020202020204" pitchFamily="34" charset="0"/>
                <a:cs typeface="Arial" panose="020B0604020202020204" pitchFamily="34" charset="0"/>
              </a:rPr>
              <a:t>Mụn</a:t>
            </a:r>
            <a:r>
              <a:rPr lang="en-US" sz="2500">
                <a:latin typeface="Arial" panose="020B0604020202020204" pitchFamily="34" charset="0"/>
                <a:cs typeface="Arial" panose="020B0604020202020204" pitchFamily="34" charset="0"/>
              </a:rPr>
              <a:t> → lo </a:t>
            </a:r>
            <a:r>
              <a:rPr lang="en-US" sz="2500" err="1">
                <a:latin typeface="Arial" panose="020B0604020202020204" pitchFamily="34" charset="0"/>
                <a:cs typeface="Arial" panose="020B0604020202020204" pitchFamily="34" charset="0"/>
              </a:rPr>
              <a:t>bị</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bạn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bè</a:t>
            </a:r>
            <a:r>
              <a:rPr lang="en-US" sz="2500">
                <a:latin typeface="Arial" panose="020B0604020202020204" pitchFamily="34" charset="0"/>
                <a:cs typeface="Arial" panose="020B0604020202020204" pitchFamily="34" charset="0"/>
              </a:rPr>
              <a:t> xa </a:t>
            </a:r>
            <a:r>
              <a:rPr lang="en-US" sz="2500" err="1">
                <a:latin typeface="Arial" panose="020B0604020202020204" pitchFamily="34" charset="0"/>
                <a:cs typeface="Arial" panose="020B0604020202020204" pitchFamily="34" charset="0"/>
              </a:rPr>
              <a:t>lánh</a:t>
            </a:r>
            <a:r>
              <a:rPr lang="en-US" sz="2500">
                <a:latin typeface="Arial" panose="020B0604020202020204" pitchFamily="34" charset="0"/>
                <a:cs typeface="Arial" panose="020B0604020202020204" pitchFamily="34" charset="0"/>
              </a:rPr>
              <a:t> → </a:t>
            </a:r>
            <a:r>
              <a:rPr lang="en-US" sz="2500" err="1">
                <a:latin typeface="Arial" panose="020B0604020202020204" pitchFamily="34" charset="0"/>
                <a:cs typeface="Arial" panose="020B0604020202020204" pitchFamily="34" charset="0"/>
              </a:rPr>
              <a:t>nhu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cầu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trị</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mụn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tăng</a:t>
            </a:r>
            <a:r>
              <a:rPr lang="en-US" sz="2500">
                <a:latin typeface="Arial" panose="020B0604020202020204" pitchFamily="34" charset="0"/>
                <a:cs typeface="Arial" panose="020B0604020202020204" pitchFamily="34" charset="0"/>
              </a:rPr>
              <a:t> → </a:t>
            </a:r>
            <a:r>
              <a:rPr lang="en-US" sz="2500" err="1">
                <a:latin typeface="Arial" panose="020B0604020202020204" pitchFamily="34" charset="0"/>
                <a:cs typeface="Arial" panose="020B0604020202020204" pitchFamily="34" charset="0"/>
              </a:rPr>
              <a:t>mua</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sản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phẩm</a:t>
            </a:r>
            <a:r>
              <a:rPr lang="en-US" sz="250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60271470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9C8F9-CDED-C104-8E4F-B050156AD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88DCE8-BA1D-4100-CE09-6FEB1B142C5A}"/>
              </a:ext>
            </a:extLst>
          </p:cNvPr>
          <p:cNvSpPr>
            <a:spLocks noGrp="1"/>
          </p:cNvSpPr>
          <p:nvPr>
            <p:ph type="title"/>
          </p:nvPr>
        </p:nvSpPr>
        <p:spPr>
          <a:xfrm>
            <a:off x="629355" y="0"/>
            <a:ext cx="10515600" cy="1325563"/>
          </a:xfrm>
        </p:spPr>
        <p:txBody>
          <a:bodyPr>
            <a:normAutofit/>
          </a:bodyPr>
          <a:lstStyle/>
          <a:p>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3.1.</a:t>
            </a:r>
            <a:r>
              <a:rPr lang="en-US" sz="2800" b="1" kern="0">
                <a:latin typeface="Arial" panose="020B0604020202020204" pitchFamily="34" charset="0"/>
                <a:ea typeface="Times New Roman" panose="02020603050405020304" pitchFamily="18" charset="0"/>
                <a:cs typeface="Arial" panose="020B0604020202020204" pitchFamily="34" charset="0"/>
              </a:rPr>
              <a:t>8</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Thuyết</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động</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cơ</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và</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chiến</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lược</a:t>
            </a:r>
            <a:r>
              <a:rPr lang="en-US" sz="2800" b="1" kern="0">
                <a:latin typeface="Arial" panose="020B0604020202020204" pitchFamily="34" charset="0"/>
                <a:ea typeface="Times New Roman" panose="02020603050405020304" pitchFamily="18" charset="0"/>
                <a:cs typeface="Arial" panose="020B0604020202020204" pitchFamily="34" charset="0"/>
              </a:rPr>
              <a:t> Marketing</a:t>
            </a:r>
            <a:endParaRPr lang="en-US" sz="280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B2960D02-C4DD-8E69-E75C-D42D31785D6C}"/>
              </a:ext>
            </a:extLst>
          </p:cNvPr>
          <p:cNvSpPr txBox="1"/>
          <p:nvPr/>
        </p:nvSpPr>
        <p:spPr>
          <a:xfrm>
            <a:off x="434622" y="1034106"/>
            <a:ext cx="11027777" cy="523220"/>
          </a:xfrm>
          <a:prstGeom prst="rect">
            <a:avLst/>
          </a:prstGeom>
          <a:noFill/>
        </p:spPr>
        <p:txBody>
          <a:bodyPr wrap="square">
            <a:spAutoFit/>
          </a:bodyPr>
          <a:lstStyle/>
          <a:p>
            <a:r>
              <a:rPr lang="en-US" sz="2800" i="1" err="1">
                <a:latin typeface="Arial" panose="020B0604020202020204" pitchFamily="34" charset="0"/>
                <a:cs typeface="Arial" panose="020B0604020202020204" pitchFamily="34" charset="0"/>
              </a:rPr>
              <a:t>Biến</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nhu</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cầu</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thành</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động</a:t>
            </a:r>
            <a:r>
              <a:rPr lang="en-US" sz="2800" i="1">
                <a:latin typeface="Arial" panose="020B0604020202020204" pitchFamily="34" charset="0"/>
                <a:cs typeface="Arial" panose="020B0604020202020204" pitchFamily="34" charset="0"/>
              </a:rPr>
              <a:t> </a:t>
            </a:r>
            <a:r>
              <a:rPr lang="en-US" sz="2800" i="1" err="1">
                <a:latin typeface="Arial" panose="020B0604020202020204" pitchFamily="34" charset="0"/>
                <a:cs typeface="Arial" panose="020B0604020202020204" pitchFamily="34" charset="0"/>
              </a:rPr>
              <a:t>lực</a:t>
            </a:r>
            <a:r>
              <a:rPr lang="en-US" sz="2800" i="1">
                <a:latin typeface="Arial" panose="020B0604020202020204" pitchFamily="34" charset="0"/>
                <a:cs typeface="Arial" panose="020B0604020202020204" pitchFamily="34" charset="0"/>
              </a:rPr>
              <a:t> marketing</a:t>
            </a:r>
          </a:p>
        </p:txBody>
      </p:sp>
      <p:graphicFrame>
        <p:nvGraphicFramePr>
          <p:cNvPr id="8" name="Table 7">
            <a:extLst>
              <a:ext uri="{FF2B5EF4-FFF2-40B4-BE49-F238E27FC236}">
                <a16:creationId xmlns:a16="http://schemas.microsoft.com/office/drawing/2014/main" id="{93B3A619-030A-CA65-8B8F-F8FB03E8C560}"/>
              </a:ext>
            </a:extLst>
          </p:cNvPr>
          <p:cNvGraphicFramePr>
            <a:graphicFrameLocks noGrp="1"/>
          </p:cNvGraphicFramePr>
          <p:nvPr/>
        </p:nvGraphicFramePr>
        <p:xfrm>
          <a:off x="239890" y="1618881"/>
          <a:ext cx="11167533" cy="4069080"/>
        </p:xfrm>
        <a:graphic>
          <a:graphicData uri="http://schemas.openxmlformats.org/drawingml/2006/table">
            <a:tbl>
              <a:tblPr>
                <a:tableStyleId>{5C22544A-7EE6-4342-B048-85BDC9FD1C3A}</a:tableStyleId>
              </a:tblPr>
              <a:tblGrid>
                <a:gridCol w="1991400">
                  <a:extLst>
                    <a:ext uri="{9D8B030D-6E8A-4147-A177-3AD203B41FA5}">
                      <a16:colId xmlns:a16="http://schemas.microsoft.com/office/drawing/2014/main" val="1097972894"/>
                    </a:ext>
                  </a:extLst>
                </a:gridCol>
                <a:gridCol w="5019000">
                  <a:extLst>
                    <a:ext uri="{9D8B030D-6E8A-4147-A177-3AD203B41FA5}">
                      <a16:colId xmlns:a16="http://schemas.microsoft.com/office/drawing/2014/main" val="1574265034"/>
                    </a:ext>
                  </a:extLst>
                </a:gridCol>
                <a:gridCol w="4157133">
                  <a:extLst>
                    <a:ext uri="{9D8B030D-6E8A-4147-A177-3AD203B41FA5}">
                      <a16:colId xmlns:a16="http://schemas.microsoft.com/office/drawing/2014/main" val="403345958"/>
                    </a:ext>
                  </a:extLst>
                </a:gridCol>
              </a:tblGrid>
              <a:tr h="0">
                <a:tc>
                  <a:txBody>
                    <a:bodyPr/>
                    <a:lstStyle/>
                    <a:p>
                      <a:pPr>
                        <a:buNone/>
                      </a:pPr>
                      <a:r>
                        <a:rPr lang="en-US" sz="2500" b="1">
                          <a:latin typeface="Arial" panose="020B0604020202020204" pitchFamily="34" charset="0"/>
                          <a:cs typeface="Arial" panose="020B0604020202020204" pitchFamily="34" charset="0"/>
                        </a:rPr>
                        <a:t>Nhu </a:t>
                      </a:r>
                      <a:r>
                        <a:rPr lang="en-US" sz="2500" b="1" err="1">
                          <a:latin typeface="Arial" panose="020B0604020202020204" pitchFamily="34" charset="0"/>
                          <a:cs typeface="Arial" panose="020B0604020202020204" pitchFamily="34" charset="0"/>
                        </a:rPr>
                        <a:t>cầu</a:t>
                      </a:r>
                      <a:endParaRPr lang="en-US" sz="2500" b="1">
                        <a:latin typeface="Arial" panose="020B0604020202020204" pitchFamily="34" charset="0"/>
                        <a:cs typeface="Arial" panose="020B0604020202020204" pitchFamily="34" charset="0"/>
                      </a:endParaRPr>
                    </a:p>
                  </a:txBody>
                  <a:tcPr anchor="ctr"/>
                </a:tc>
                <a:tc>
                  <a:txBody>
                    <a:bodyPr/>
                    <a:lstStyle/>
                    <a:p>
                      <a:pPr>
                        <a:buNone/>
                      </a:pPr>
                      <a:r>
                        <a:rPr lang="en-US" sz="2500" b="1">
                          <a:latin typeface="Arial" panose="020B0604020202020204" pitchFamily="34" charset="0"/>
                          <a:cs typeface="Arial" panose="020B0604020202020204" pitchFamily="34" charset="0"/>
                        </a:rPr>
                        <a:t>Insight </a:t>
                      </a:r>
                      <a:r>
                        <a:rPr lang="en-US" sz="2500" b="1" err="1">
                          <a:latin typeface="Arial" panose="020B0604020202020204" pitchFamily="34" charset="0"/>
                          <a:cs typeface="Arial" panose="020B0604020202020204" pitchFamily="34" charset="0"/>
                        </a:rPr>
                        <a:t>người</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tiêu</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dùng</a:t>
                      </a:r>
                      <a:endParaRPr lang="en-US" sz="2500" b="1">
                        <a:latin typeface="Arial" panose="020B0604020202020204" pitchFamily="34" charset="0"/>
                        <a:cs typeface="Arial" panose="020B0604020202020204" pitchFamily="34" charset="0"/>
                      </a:endParaRPr>
                    </a:p>
                  </a:txBody>
                  <a:tcPr anchor="ctr"/>
                </a:tc>
                <a:tc>
                  <a:txBody>
                    <a:bodyPr/>
                    <a:lstStyle/>
                    <a:p>
                      <a:pPr>
                        <a:buNone/>
                      </a:pPr>
                      <a:r>
                        <a:rPr lang="en-US" sz="2500" b="1" err="1">
                          <a:latin typeface="Arial" panose="020B0604020202020204" pitchFamily="34" charset="0"/>
                          <a:cs typeface="Arial" panose="020B0604020202020204" pitchFamily="34" charset="0"/>
                        </a:rPr>
                        <a:t>Hướng</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truyền</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thông</a:t>
                      </a:r>
                      <a:endParaRPr lang="en-US" sz="2500" b="1">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419041401"/>
                  </a:ext>
                </a:extLst>
              </a:tr>
              <a:tr h="0">
                <a:tc>
                  <a:txBody>
                    <a:bodyPr/>
                    <a:lstStyle/>
                    <a:p>
                      <a:pPr>
                        <a:buNone/>
                      </a:pPr>
                      <a:r>
                        <a:rPr lang="en-US" sz="2500">
                          <a:latin typeface="Arial" panose="020B0604020202020204" pitchFamily="34" charset="0"/>
                          <a:cs typeface="Arial" panose="020B0604020202020204" pitchFamily="34" charset="0"/>
                        </a:rPr>
                        <a:t>Thành tích</a:t>
                      </a:r>
                    </a:p>
                  </a:txBody>
                  <a:tcPr anchor="ctr"/>
                </a:tc>
                <a:tc>
                  <a:txBody>
                    <a:bodyPr/>
                    <a:lstStyle/>
                    <a:p>
                      <a:pPr>
                        <a:buNone/>
                      </a:pPr>
                      <a:r>
                        <a:rPr lang="en-US" sz="2500" err="1">
                          <a:latin typeface="Arial" panose="020B0604020202020204" pitchFamily="34" charset="0"/>
                          <a:cs typeface="Arial" panose="020B0604020202020204" pitchFamily="34" charset="0"/>
                        </a:rPr>
                        <a:t>Muốn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giỏi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hơn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thành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công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hơn</a:t>
                      </a:r>
                      <a:endParaRPr lang="en-US" sz="2500">
                        <a:latin typeface="Arial" panose="020B0604020202020204" pitchFamily="34" charset="0"/>
                        <a:cs typeface="Arial" panose="020B0604020202020204" pitchFamily="34" charset="0"/>
                      </a:endParaRPr>
                    </a:p>
                  </a:txBody>
                  <a:tcPr anchor="ctr"/>
                </a:tc>
                <a:tc>
                  <a:txBody>
                    <a:bodyPr/>
                    <a:lstStyle/>
                    <a:p>
                      <a:pPr>
                        <a:buNone/>
                      </a:pPr>
                      <a:r>
                        <a:rPr lang="en-US" sz="2500">
                          <a:latin typeface="Arial" panose="020B0604020202020204" pitchFamily="34" charset="0"/>
                          <a:cs typeface="Arial" panose="020B0604020202020204" pitchFamily="34" charset="0"/>
                        </a:rPr>
                        <a:t>Thành công, chiến thắng</a:t>
                      </a:r>
                    </a:p>
                  </a:txBody>
                  <a:tcPr anchor="ctr"/>
                </a:tc>
                <a:extLst>
                  <a:ext uri="{0D108BD9-81ED-4DB2-BD59-A6C34878D82A}">
                    <a16:rowId xmlns:a16="http://schemas.microsoft.com/office/drawing/2014/main" val="1362982975"/>
                  </a:ext>
                </a:extLst>
              </a:tr>
              <a:tr h="0">
                <a:tc>
                  <a:txBody>
                    <a:bodyPr/>
                    <a:lstStyle/>
                    <a:p>
                      <a:pPr>
                        <a:buNone/>
                      </a:pPr>
                      <a:r>
                        <a:rPr lang="en-US" sz="2500">
                          <a:latin typeface="Arial" panose="020B0604020202020204" pitchFamily="34" charset="0"/>
                          <a:cs typeface="Arial" panose="020B0604020202020204" pitchFamily="34" charset="0"/>
                        </a:rPr>
                        <a:t>Được chú ý</a:t>
                      </a:r>
                    </a:p>
                  </a:txBody>
                  <a:tcPr anchor="ctr"/>
                </a:tc>
                <a:tc>
                  <a:txBody>
                    <a:bodyPr/>
                    <a:lstStyle/>
                    <a:p>
                      <a:pPr>
                        <a:buNone/>
                      </a:pPr>
                      <a:r>
                        <a:rPr lang="en-US" sz="2500">
                          <a:latin typeface="Arial" panose="020B0604020202020204" pitchFamily="34" charset="0"/>
                          <a:cs typeface="Arial" panose="020B0604020202020204" pitchFamily="34" charset="0"/>
                        </a:rPr>
                        <a:t>Muốn nổi bật, được nhìn thấy</a:t>
                      </a:r>
                    </a:p>
                  </a:txBody>
                  <a:tcPr anchor="ctr"/>
                </a:tc>
                <a:tc>
                  <a:txBody>
                    <a:bodyPr/>
                    <a:lstStyle/>
                    <a:p>
                      <a:pPr>
                        <a:buNone/>
                      </a:pPr>
                      <a:r>
                        <a:rPr lang="en-US" sz="2500" err="1">
                          <a:latin typeface="Arial" panose="020B0604020202020204" pitchFamily="34" charset="0"/>
                          <a:cs typeface="Arial" panose="020B0604020202020204" pitchFamily="34" charset="0"/>
                        </a:rPr>
                        <a:t>Khác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biệt</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gây</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chú</a:t>
                      </a:r>
                      <a:r>
                        <a:rPr lang="en-US" sz="2500">
                          <a:latin typeface="Arial" panose="020B0604020202020204" pitchFamily="34" charset="0"/>
                          <a:cs typeface="Arial" panose="020B0604020202020204" pitchFamily="34" charset="0"/>
                        </a:rPr>
                        <a:t> ý</a:t>
                      </a:r>
                    </a:p>
                  </a:txBody>
                  <a:tcPr anchor="ctr"/>
                </a:tc>
                <a:extLst>
                  <a:ext uri="{0D108BD9-81ED-4DB2-BD59-A6C34878D82A}">
                    <a16:rowId xmlns:a16="http://schemas.microsoft.com/office/drawing/2014/main" val="562382822"/>
                  </a:ext>
                </a:extLst>
              </a:tr>
              <a:tr h="0">
                <a:tc>
                  <a:txBody>
                    <a:bodyPr/>
                    <a:lstStyle/>
                    <a:p>
                      <a:pPr>
                        <a:buNone/>
                      </a:pPr>
                      <a:r>
                        <a:rPr lang="en-US" sz="2500">
                          <a:latin typeface="Arial" panose="020B0604020202020204" pitchFamily="34" charset="0"/>
                          <a:cs typeface="Arial" panose="020B0604020202020204" pitchFamily="34" charset="0"/>
                        </a:rPr>
                        <a:t>Tình cảm</a:t>
                      </a:r>
                    </a:p>
                  </a:txBody>
                  <a:tcPr anchor="ctr"/>
                </a:tc>
                <a:tc>
                  <a:txBody>
                    <a:bodyPr/>
                    <a:lstStyle/>
                    <a:p>
                      <a:pPr>
                        <a:buNone/>
                      </a:pPr>
                      <a:r>
                        <a:rPr lang="en-US" sz="2500">
                          <a:latin typeface="Arial" panose="020B0604020202020204" pitchFamily="34" charset="0"/>
                          <a:cs typeface="Arial" panose="020B0604020202020204" pitchFamily="34" charset="0"/>
                        </a:rPr>
                        <a:t>Muốn gắn kết với người khác</a:t>
                      </a:r>
                    </a:p>
                  </a:txBody>
                  <a:tcPr anchor="ctr"/>
                </a:tc>
                <a:tc>
                  <a:txBody>
                    <a:bodyPr/>
                    <a:lstStyle/>
                    <a:p>
                      <a:pPr>
                        <a:buNone/>
                      </a:pPr>
                      <a:r>
                        <a:rPr lang="en-US" sz="2500">
                          <a:latin typeface="Arial" panose="020B0604020202020204" pitchFamily="34" charset="0"/>
                          <a:cs typeface="Arial" panose="020B0604020202020204" pitchFamily="34" charset="0"/>
                        </a:rPr>
                        <a:t>Gia </a:t>
                      </a:r>
                      <a:r>
                        <a:rPr lang="en-US" sz="2500" err="1">
                          <a:latin typeface="Arial" panose="020B0604020202020204" pitchFamily="34" charset="0"/>
                          <a:cs typeface="Arial" panose="020B0604020202020204" pitchFamily="34" charset="0"/>
                        </a:rPr>
                        <a:t>đình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bạn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bè</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yêu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thương</a:t>
                      </a:r>
                      <a:endParaRPr lang="en-US" sz="25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549985803"/>
                  </a:ext>
                </a:extLst>
              </a:tr>
              <a:tr h="0">
                <a:tc>
                  <a:txBody>
                    <a:bodyPr/>
                    <a:lstStyle/>
                    <a:p>
                      <a:pPr>
                        <a:buNone/>
                      </a:pPr>
                      <a:r>
                        <a:rPr lang="en-US" sz="2500">
                          <a:latin typeface="Arial" panose="020B0604020202020204" pitchFamily="34" charset="0"/>
                          <a:cs typeface="Arial" panose="020B0604020202020204" pitchFamily="34" charset="0"/>
                        </a:rPr>
                        <a:t>Quyền lực</a:t>
                      </a:r>
                    </a:p>
                  </a:txBody>
                  <a:tcPr anchor="ctr"/>
                </a:tc>
                <a:tc>
                  <a:txBody>
                    <a:bodyPr/>
                    <a:lstStyle/>
                    <a:p>
                      <a:pPr>
                        <a:buNone/>
                      </a:pPr>
                      <a:r>
                        <a:rPr lang="en-US" sz="2500">
                          <a:latin typeface="Arial" panose="020B0604020202020204" pitchFamily="34" charset="0"/>
                          <a:cs typeface="Arial" panose="020B0604020202020204" pitchFamily="34" charset="0"/>
                        </a:rPr>
                        <a:t>Muốn kiểm soát, dẫn dắt</a:t>
                      </a:r>
                    </a:p>
                  </a:txBody>
                  <a:tcPr anchor="ctr"/>
                </a:tc>
                <a:tc>
                  <a:txBody>
                    <a:bodyPr/>
                    <a:lstStyle/>
                    <a:p>
                      <a:pPr>
                        <a:buNone/>
                      </a:pPr>
                      <a:r>
                        <a:rPr lang="en-US" sz="2500">
                          <a:latin typeface="Arial" panose="020B0604020202020204" pitchFamily="34" charset="0"/>
                          <a:cs typeface="Arial" panose="020B0604020202020204" pitchFamily="34" charset="0"/>
                        </a:rPr>
                        <a:t>Mạnh mẽ, quyền lực, địa vị</a:t>
                      </a:r>
                    </a:p>
                  </a:txBody>
                  <a:tcPr anchor="ctr"/>
                </a:tc>
                <a:extLst>
                  <a:ext uri="{0D108BD9-81ED-4DB2-BD59-A6C34878D82A}">
                    <a16:rowId xmlns:a16="http://schemas.microsoft.com/office/drawing/2014/main" val="3662862124"/>
                  </a:ext>
                </a:extLst>
              </a:tr>
              <a:tr h="0">
                <a:tc>
                  <a:txBody>
                    <a:bodyPr/>
                    <a:lstStyle/>
                    <a:p>
                      <a:pPr>
                        <a:buNone/>
                      </a:pPr>
                      <a:r>
                        <a:rPr lang="en-US" sz="2500">
                          <a:latin typeface="Arial" panose="020B0604020202020204" pitchFamily="34" charset="0"/>
                          <a:cs typeface="Arial" panose="020B0604020202020204" pitchFamily="34" charset="0"/>
                        </a:rPr>
                        <a:t>Thay đổi</a:t>
                      </a:r>
                    </a:p>
                  </a:txBody>
                  <a:tcPr anchor="ctr"/>
                </a:tc>
                <a:tc>
                  <a:txBody>
                    <a:bodyPr/>
                    <a:lstStyle/>
                    <a:p>
                      <a:pPr>
                        <a:buNone/>
                      </a:pPr>
                      <a:r>
                        <a:rPr lang="en-US" sz="2500">
                          <a:latin typeface="Arial" panose="020B0604020202020204" pitchFamily="34" charset="0"/>
                          <a:cs typeface="Arial" panose="020B0604020202020204" pitchFamily="34" charset="0"/>
                        </a:rPr>
                        <a:t>Muốn trải nghiệm mới</a:t>
                      </a:r>
                    </a:p>
                  </a:txBody>
                  <a:tcPr anchor="ctr"/>
                </a:tc>
                <a:tc>
                  <a:txBody>
                    <a:bodyPr/>
                    <a:lstStyle/>
                    <a:p>
                      <a:pPr>
                        <a:buNone/>
                      </a:pPr>
                      <a:r>
                        <a:rPr lang="en-US" sz="2500" err="1">
                          <a:latin typeface="Arial" panose="020B0604020202020204" pitchFamily="34" charset="0"/>
                          <a:cs typeface="Arial" panose="020B0604020202020204" pitchFamily="34" charset="0"/>
                        </a:rPr>
                        <a:t>Mới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lạ</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phá</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vỡ</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nhàm</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chán</a:t>
                      </a:r>
                      <a:endParaRPr lang="en-US" sz="25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34117096"/>
                  </a:ext>
                </a:extLst>
              </a:tr>
              <a:tr h="0">
                <a:tc>
                  <a:txBody>
                    <a:bodyPr/>
                    <a:lstStyle/>
                    <a:p>
                      <a:pPr>
                        <a:buNone/>
                      </a:pPr>
                      <a:r>
                        <a:rPr lang="en-US" sz="2500">
                          <a:latin typeface="Arial" panose="020B0604020202020204" pitchFamily="34" charset="0"/>
                          <a:cs typeface="Arial" panose="020B0604020202020204" pitchFamily="34" charset="0"/>
                        </a:rPr>
                        <a:t>Trật tự</a:t>
                      </a:r>
                    </a:p>
                  </a:txBody>
                  <a:tcPr anchor="ctr"/>
                </a:tc>
                <a:tc>
                  <a:txBody>
                    <a:bodyPr/>
                    <a:lstStyle/>
                    <a:p>
                      <a:pPr>
                        <a:buNone/>
                      </a:pPr>
                      <a:r>
                        <a:rPr lang="en-US" sz="2500" err="1">
                          <a:latin typeface="Arial" panose="020B0604020202020204" pitchFamily="34" charset="0"/>
                          <a:cs typeface="Arial" panose="020B0604020202020204" pitchFamily="34" charset="0"/>
                        </a:rPr>
                        <a:t>Muốn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gọn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gàng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có</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tổ</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chức</a:t>
                      </a:r>
                      <a:endParaRPr lang="en-US" sz="2500">
                        <a:latin typeface="Arial" panose="020B0604020202020204" pitchFamily="34" charset="0"/>
                        <a:cs typeface="Arial" panose="020B0604020202020204" pitchFamily="34" charset="0"/>
                      </a:endParaRPr>
                    </a:p>
                  </a:txBody>
                  <a:tcPr anchor="ctr"/>
                </a:tc>
                <a:tc>
                  <a:txBody>
                    <a:bodyPr/>
                    <a:lstStyle/>
                    <a:p>
                      <a:pPr>
                        <a:buNone/>
                      </a:pPr>
                      <a:r>
                        <a:rPr lang="en-US" sz="2500" err="1">
                          <a:latin typeface="Arial" panose="020B0604020202020204" pitchFamily="34" charset="0"/>
                          <a:cs typeface="Arial" panose="020B0604020202020204" pitchFamily="34" charset="0"/>
                        </a:rPr>
                        <a:t>Tiện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lợi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ngăn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nắp</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kiểm</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soát</a:t>
                      </a:r>
                      <a:endParaRPr lang="en-US" sz="25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308700168"/>
                  </a:ext>
                </a:extLst>
              </a:tr>
            </a:tbl>
          </a:graphicData>
        </a:graphic>
      </p:graphicFrame>
      <p:sp>
        <p:nvSpPr>
          <p:cNvPr id="10" name="TextBox 9">
            <a:extLst>
              <a:ext uri="{FF2B5EF4-FFF2-40B4-BE49-F238E27FC236}">
                <a16:creationId xmlns:a16="http://schemas.microsoft.com/office/drawing/2014/main" id="{C7627A65-53E3-28F6-0EAB-310BEC850AF4}"/>
              </a:ext>
            </a:extLst>
          </p:cNvPr>
          <p:cNvSpPr txBox="1"/>
          <p:nvPr/>
        </p:nvSpPr>
        <p:spPr>
          <a:xfrm>
            <a:off x="142466" y="5705624"/>
            <a:ext cx="11319933" cy="861774"/>
          </a:xfrm>
          <a:prstGeom prst="rect">
            <a:avLst/>
          </a:prstGeom>
          <a:noFill/>
        </p:spPr>
        <p:txBody>
          <a:bodyPr wrap="square">
            <a:spAutoFit/>
          </a:bodyPr>
          <a:lstStyle/>
          <a:p>
            <a:r>
              <a:rPr lang="en-US" sz="2500">
                <a:latin typeface="Arial" panose="020B0604020202020204" pitchFamily="34" charset="0"/>
                <a:cs typeface="Arial" panose="020B0604020202020204" pitchFamily="34" charset="0"/>
                <a:sym typeface="Wingdings" panose="05000000000000000000" pitchFamily="2" charset="2"/>
              </a:rPr>
              <a:t> </a:t>
            </a:r>
            <a:r>
              <a:rPr lang="en-US" sz="2500" err="1">
                <a:latin typeface="Arial" panose="020B0604020202020204" pitchFamily="34" charset="0"/>
                <a:cs typeface="Arial" panose="020B0604020202020204" pitchFamily="34" charset="0"/>
              </a:rPr>
              <a:t>Một</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sản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phẩm</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có</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thể</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được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truyền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thông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theo</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nhiều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động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lực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khác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nhau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tùy</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phân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khúc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khách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hàng</a:t>
            </a:r>
            <a:r>
              <a:rPr lang="en-US" sz="250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88297876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3679C-D9D2-CE6C-68EE-838A7A65F8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A977D-F624-01D9-0217-44D68E37A365}"/>
              </a:ext>
            </a:extLst>
          </p:cNvPr>
          <p:cNvSpPr>
            <a:spLocks noGrp="1"/>
          </p:cNvSpPr>
          <p:nvPr>
            <p:ph type="title"/>
          </p:nvPr>
        </p:nvSpPr>
        <p:spPr>
          <a:xfrm>
            <a:off x="629355" y="0"/>
            <a:ext cx="10515600" cy="1325563"/>
          </a:xfrm>
        </p:spPr>
        <p:txBody>
          <a:bodyPr>
            <a:normAutofit/>
          </a:bodyPr>
          <a:lstStyle/>
          <a:p>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3.1.9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Đo</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lường</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động</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cơ</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và</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người</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tiêu</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dùng</a:t>
            </a:r>
            <a:endParaRPr lang="en-US" sz="280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41A83155-494A-924E-11E5-733BAEFD48C2}"/>
              </a:ext>
            </a:extLst>
          </p:cNvPr>
          <p:cNvSpPr>
            <a:spLocks noGrp="1"/>
          </p:cNvSpPr>
          <p:nvPr>
            <p:ph idx="1"/>
          </p:nvPr>
        </p:nvSpPr>
        <p:spPr>
          <a:xfrm>
            <a:off x="419100" y="1520825"/>
            <a:ext cx="11353800" cy="4351338"/>
          </a:xfrm>
        </p:spPr>
        <p:txBody>
          <a:bodyPr>
            <a:noAutofit/>
          </a:bodyPr>
          <a:lstStyle/>
          <a:p>
            <a:pPr marL="0" indent="0">
              <a:buNone/>
            </a:pPr>
            <a:r>
              <a:rPr lang="en-US" b="1" err="1">
                <a:latin typeface="Arial" panose="020B0604020202020204" pitchFamily="34" charset="0"/>
                <a:cs typeface="Arial" panose="020B0604020202020204" pitchFamily="34" charset="0"/>
              </a:rPr>
              <a:t>Vì</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sao</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khó</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đo</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lường</a:t>
            </a:r>
            <a:r>
              <a:rPr lang="en-US" b="1">
                <a:latin typeface="Arial" panose="020B0604020202020204" pitchFamily="34" charset="0"/>
                <a:cs typeface="Arial" panose="020B0604020202020204" pitchFamily="34" charset="0"/>
              </a:rPr>
              <a:t>?</a:t>
            </a:r>
            <a:endParaRPr lang="en-US">
              <a:latin typeface="Arial" panose="020B0604020202020204" pitchFamily="34" charset="0"/>
              <a:cs typeface="Arial" panose="020B0604020202020204" pitchFamily="34" charset="0"/>
            </a:endParaRPr>
          </a:p>
          <a:p>
            <a:pPr lvl="0"/>
            <a:r>
              <a:rPr lang="en-US" err="1">
                <a:latin typeface="Arial" panose="020B0604020202020204" pitchFamily="34" charset="0"/>
                <a:cs typeface="Arial" panose="020B0604020202020204" pitchFamily="34" charset="0"/>
              </a:rPr>
              <a:t>Động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cơ</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là</a:t>
            </a:r>
            <a:r>
              <a:rPr lang="en-US">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yếu</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tố</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ẩn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không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thể</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quan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sát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trực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tiếp</a:t>
            </a:r>
            <a:r>
              <a:rPr lang="en-US">
                <a:latin typeface="Arial" panose="020B0604020202020204" pitchFamily="34" charset="0"/>
                <a:cs typeface="Arial" panose="020B0604020202020204" pitchFamily="34" charset="0"/>
              </a:rPr>
              <a:t>. </a:t>
            </a:r>
          </a:p>
          <a:p>
            <a:pPr lvl="0"/>
            <a:r>
              <a:rPr lang="en-US" err="1">
                <a:latin typeface="Arial" panose="020B0604020202020204" pitchFamily="34" charset="0"/>
                <a:cs typeface="Arial" panose="020B0604020202020204" pitchFamily="34" charset="0"/>
              </a:rPr>
              <a:t>Người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tiêu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dùng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có</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thể</a:t>
            </a:r>
            <a:r>
              <a:rPr lang="en-US">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không</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nhận</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thức</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đầy</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đủ</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động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cơ</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thật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sự</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của</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mình</a:t>
            </a:r>
            <a:r>
              <a:rPr lang="en-US">
                <a:latin typeface="Arial" panose="020B0604020202020204" pitchFamily="34" charset="0"/>
                <a:cs typeface="Arial" panose="020B0604020202020204" pitchFamily="34" charset="0"/>
              </a:rPr>
              <a:t>. </a:t>
            </a:r>
          </a:p>
          <a:p>
            <a:pPr lvl="0"/>
            <a:r>
              <a:rPr lang="en-US" err="1">
                <a:latin typeface="Arial" panose="020B0604020202020204" pitchFamily="34" charset="0"/>
                <a:cs typeface="Arial" panose="020B0604020202020204" pitchFamily="34" charset="0"/>
              </a:rPr>
              <a:t>Vì</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vậy</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hỏi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trực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tiếp</a:t>
            </a:r>
            <a:r>
              <a:rPr lang="en-US">
                <a:latin typeface="Arial" panose="020B0604020202020204" pitchFamily="34" charset="0"/>
                <a:cs typeface="Arial" panose="020B0604020202020204" pitchFamily="34" charset="0"/>
              </a:rPr>
              <a:t> </a:t>
            </a:r>
            <a:r>
              <a:rPr lang="en-US" i="1">
                <a:latin typeface="Arial" panose="020B0604020202020204" pitchFamily="34" charset="0"/>
                <a:cs typeface="Arial" panose="020B0604020202020204" pitchFamily="34" charset="0"/>
              </a:rPr>
              <a:t>“</a:t>
            </a:r>
            <a:r>
              <a:rPr lang="en-US" i="1" err="1">
                <a:latin typeface="Arial" panose="020B0604020202020204" pitchFamily="34" charset="0"/>
                <a:cs typeface="Arial" panose="020B0604020202020204" pitchFamily="34" charset="0"/>
              </a:rPr>
              <a:t>Tại</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sao</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bạn</a:t>
            </a:r>
            <a:r>
              <a:rPr lang="en-US" i="1">
                <a:latin typeface="Arial" panose="020B0604020202020204" pitchFamily="34" charset="0"/>
                <a:cs typeface="Arial" panose="020B0604020202020204" pitchFamily="34" charset="0"/>
              </a:rPr>
              <a:t> </a:t>
            </a:r>
            <a:r>
              <a:rPr lang="en-US" i="1" err="1">
                <a:latin typeface="Arial" panose="020B0604020202020204" pitchFamily="34" charset="0"/>
                <a:cs typeface="Arial" panose="020B0604020202020204" pitchFamily="34" charset="0"/>
              </a:rPr>
              <a:t>mua</a:t>
            </a:r>
            <a:r>
              <a:rPr lang="en-US" i="1">
                <a:latin typeface="Arial" panose="020B0604020202020204" pitchFamily="34" charset="0"/>
                <a:cs typeface="Arial" panose="020B0604020202020204" pitchFamily="34" charset="0"/>
              </a:rPr>
              <a: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thường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chưa</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đủ</a:t>
            </a:r>
            <a:r>
              <a:rPr lang="en-US">
                <a:latin typeface="Arial" panose="020B0604020202020204" pitchFamily="34" charset="0"/>
                <a:cs typeface="Arial" panose="020B0604020202020204" pitchFamily="34" charset="0"/>
              </a:rPr>
              <a:t>.</a:t>
            </a:r>
          </a:p>
          <a:p>
            <a:pPr marL="0" indent="0">
              <a:buNone/>
            </a:pPr>
            <a:r>
              <a:rPr lang="en-US" b="1">
                <a:latin typeface="Arial" panose="020B0604020202020204" pitchFamily="34" charset="0"/>
                <a:cs typeface="Arial" panose="020B0604020202020204" pitchFamily="34" charset="0"/>
              </a:rPr>
              <a:t>Các </a:t>
            </a:r>
            <a:r>
              <a:rPr lang="en-US" b="1" err="1">
                <a:latin typeface="Arial" panose="020B0604020202020204" pitchFamily="34" charset="0"/>
                <a:cs typeface="Arial" panose="020B0604020202020204" pitchFamily="34" charset="0"/>
              </a:rPr>
              <a:t>phương</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pháp</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đo</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lường</a:t>
            </a:r>
            <a:endParaRPr lang="en-US">
              <a:latin typeface="Arial" panose="020B0604020202020204" pitchFamily="34" charset="0"/>
              <a:cs typeface="Arial" panose="020B0604020202020204" pitchFamily="34" charset="0"/>
            </a:endParaRPr>
          </a:p>
          <a:p>
            <a:pPr marL="0" indent="0">
              <a:buNone/>
            </a:pPr>
            <a:r>
              <a:rPr lang="en-US" b="1">
                <a:latin typeface="Arial" panose="020B0604020202020204" pitchFamily="34" charset="0"/>
                <a:cs typeface="Arial" panose="020B0604020202020204" pitchFamily="34" charset="0"/>
              </a:rPr>
              <a:t>1/Định </a:t>
            </a:r>
            <a:r>
              <a:rPr lang="en-US" b="1" err="1">
                <a:latin typeface="Arial" panose="020B0604020202020204" pitchFamily="34" charset="0"/>
                <a:cs typeface="Arial" panose="020B0604020202020204" pitchFamily="34" charset="0"/>
              </a:rPr>
              <a:t>lượng</a:t>
            </a:r>
            <a:r>
              <a:rPr lang="en-US" b="1">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Câu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hỏi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tự</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mô</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tả</a:t>
            </a:r>
            <a:r>
              <a:rPr lang="en-US">
                <a:latin typeface="Arial" panose="020B0604020202020204" pitchFamily="34" charset="0"/>
                <a:cs typeface="Arial" panose="020B0604020202020204" pitchFamily="34" charset="0"/>
              </a:rPr>
              <a:t>; Thang </a:t>
            </a:r>
            <a:r>
              <a:rPr lang="en-US" err="1">
                <a:latin typeface="Arial" panose="020B0604020202020204" pitchFamily="34" charset="0"/>
                <a:cs typeface="Arial" panose="020B0604020202020204" pitchFamily="34" charset="0"/>
              </a:rPr>
              <a:t>đo</a:t>
            </a:r>
            <a:r>
              <a:rPr lang="en-US">
                <a:latin typeface="Arial" panose="020B0604020202020204" pitchFamily="34" charset="0"/>
                <a:cs typeface="Arial" panose="020B0604020202020204" pitchFamily="34" charset="0"/>
              </a:rPr>
              <a:t>; Quan </a:t>
            </a:r>
            <a:r>
              <a:rPr lang="en-US" err="1">
                <a:latin typeface="Arial" panose="020B0604020202020204" pitchFamily="34" charset="0"/>
                <a:cs typeface="Arial" panose="020B0604020202020204" pitchFamily="34" charset="0"/>
              </a:rPr>
              <a:t>sát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hành</a:t>
            </a:r>
            <a:r>
              <a:rPr lang="en-US">
                <a:latin typeface="Arial" panose="020B0604020202020204" pitchFamily="34" charset="0"/>
                <a:cs typeface="Arial" panose="020B0604020202020204" pitchFamily="34" charset="0"/>
              </a:rPr>
              <a:t> vi </a:t>
            </a:r>
          </a:p>
          <a:p>
            <a:pPr marL="0" indent="0">
              <a:buNone/>
            </a:pPr>
            <a:r>
              <a:rPr lang="en-US" b="1">
                <a:latin typeface="Arial" panose="020B0604020202020204" pitchFamily="34" charset="0"/>
                <a:cs typeface="Arial" panose="020B0604020202020204" pitchFamily="34" charset="0"/>
              </a:rPr>
              <a:t>2/Định </a:t>
            </a:r>
            <a:r>
              <a:rPr lang="en-US" b="1" err="1">
                <a:latin typeface="Arial" panose="020B0604020202020204" pitchFamily="34" charset="0"/>
                <a:cs typeface="Arial" panose="020B0604020202020204" pitchFamily="34" charset="0"/>
              </a:rPr>
              <a:t>tính</a:t>
            </a:r>
            <a:r>
              <a:rPr lang="en-US" b="1">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Phỏng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vấn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sâu</a:t>
            </a:r>
            <a:r>
              <a:rPr lang="en-US">
                <a:latin typeface="Arial" panose="020B0604020202020204" pitchFamily="34" charset="0"/>
                <a:cs typeface="Arial" panose="020B0604020202020204" pitchFamily="34" charset="0"/>
              </a:rPr>
              <a:t> / focus group; </a:t>
            </a:r>
            <a:r>
              <a:rPr lang="en-US" err="1">
                <a:latin typeface="Arial" panose="020B0604020202020204" pitchFamily="34" charset="0"/>
                <a:cs typeface="Arial" panose="020B0604020202020204" pitchFamily="34" charset="0"/>
              </a:rPr>
              <a:t>Kể</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chuyện</a:t>
            </a:r>
            <a:r>
              <a:rPr lang="en-US">
                <a:latin typeface="Arial" panose="020B0604020202020204" pitchFamily="34" charset="0"/>
                <a:cs typeface="Arial" panose="020B0604020202020204" pitchFamily="34" charset="0"/>
              </a:rPr>
              <a:t>; Liên </a:t>
            </a:r>
            <a:r>
              <a:rPr lang="en-US" err="1">
                <a:latin typeface="Arial" panose="020B0604020202020204" pitchFamily="34" charset="0"/>
                <a:cs typeface="Arial" panose="020B0604020202020204" pitchFamily="34" charset="0"/>
              </a:rPr>
              <a:t>tưởng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từ</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ngữ</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Kể</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chuyện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từ</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hình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ảnh</a:t>
            </a:r>
            <a:endParaRPr lang="en-US">
              <a:latin typeface="Arial" panose="020B0604020202020204" pitchFamily="34" charset="0"/>
              <a:cs typeface="Arial" panose="020B0604020202020204" pitchFamily="34" charset="0"/>
            </a:endParaRPr>
          </a:p>
          <a:p>
            <a:pPr lvl="0"/>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071341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09621C1-2933-1646-A825-8537ED47EBD0}"/>
              </a:ext>
            </a:extLst>
          </p:cNvPr>
          <p:cNvSpPr>
            <a:spLocks noGrp="1"/>
          </p:cNvSpPr>
          <p:nvPr>
            <p:ph type="ctrTitle"/>
          </p:nvPr>
        </p:nvSpPr>
        <p:spPr>
          <a:xfrm>
            <a:off x="1524000" y="2448243"/>
            <a:ext cx="9144000" cy="1655762"/>
          </a:xfrm>
        </p:spPr>
        <p:txBody>
          <a:bodyPr>
            <a:normAutofit/>
          </a:bodyPr>
          <a:lstStyle/>
          <a:p>
            <a:pPr marL="0" marR="0" indent="0">
              <a:lnSpc>
                <a:spcPct val="150000"/>
              </a:lnSpc>
              <a:spcBef>
                <a:spcPts val="0"/>
              </a:spcBef>
              <a:spcAft>
                <a:spcPts val="0"/>
              </a:spcAft>
              <a:buNone/>
              <a:tabLst>
                <a:tab pos="381000" algn="l"/>
              </a:tabLst>
            </a:pPr>
            <a:r>
              <a:rPr lang="en-US" sz="3600" b="1">
                <a:effectLst/>
                <a:latin typeface="Arial" panose="020B0604020202020204" pitchFamily="34" charset="0"/>
                <a:ea typeface="Calibri" panose="020F0502020204030204" pitchFamily="34" charset="0"/>
                <a:cs typeface="Arial" panose="020B0604020202020204" pitchFamily="34" charset="0"/>
              </a:rPr>
              <a:t>3.2. NHẬN THỨC</a:t>
            </a:r>
            <a:endParaRPr lang="en-US" sz="3600" b="1">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9258936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022" y="-63853"/>
            <a:ext cx="10515600" cy="1325563"/>
          </a:xfrm>
        </p:spPr>
        <p:txBody>
          <a:bodyPr>
            <a:normAutofit/>
          </a:bodyPr>
          <a:lstStyle/>
          <a:p>
            <a:r>
              <a:rPr lang="en-US" sz="2800" b="1" kern="0">
                <a:latin typeface="Arial" panose="020B0604020202020204" pitchFamily="34" charset="0"/>
                <a:ea typeface="Times New Roman" panose="02020603050405020304" pitchFamily="18" charset="0"/>
                <a:cs typeface="Arial" panose="020B0604020202020204" pitchFamily="34" charset="0"/>
              </a:rPr>
              <a:t>3.2</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.1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Khái</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niệm</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v</a:t>
            </a:r>
            <a:r>
              <a:rPr lang="en-US" sz="2800" b="1" kern="0" err="1">
                <a:latin typeface="Arial" panose="020B0604020202020204" pitchFamily="34" charset="0"/>
                <a:ea typeface="Times New Roman" panose="02020603050405020304" pitchFamily="18" charset="0"/>
                <a:cs typeface="Arial" panose="020B0604020202020204" pitchFamily="34" charset="0"/>
              </a:rPr>
              <a:t>à</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bản</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chất</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nhận</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thức</a:t>
            </a:r>
            <a:endParaRPr lang="en-US" sz="28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2289" y="1024114"/>
            <a:ext cx="10515600" cy="4351338"/>
          </a:xfrm>
        </p:spPr>
        <p:txBody>
          <a:bodyPr>
            <a:noAutofit/>
          </a:bodyPr>
          <a:lstStyle/>
          <a:p>
            <a:r>
              <a:rPr lang="en-US" sz="2500" b="1" err="1">
                <a:latin typeface="Arial" panose="020B0604020202020204" pitchFamily="34" charset="0"/>
                <a:cs typeface="Arial" panose="020B0604020202020204" pitchFamily="34" charset="0"/>
              </a:rPr>
              <a:t>Nhận</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thức</a:t>
            </a:r>
            <a:r>
              <a:rPr lang="en-US" sz="2500" b="1">
                <a:latin typeface="Arial" panose="020B0604020202020204" pitchFamily="34" charset="0"/>
                <a:cs typeface="Arial" panose="020B0604020202020204" pitchFamily="34" charset="0"/>
              </a:rPr>
              <a:t> (Perception)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là</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quá</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trình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cá</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nhân</a:t>
            </a:r>
            <a:r>
              <a:rPr lang="en-US" sz="2500">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lựa</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chọn</a:t>
            </a:r>
            <a:r>
              <a:rPr lang="en-US" sz="2500" b="1">
                <a:latin typeface="Arial" panose="020B0604020202020204" pitchFamily="34" charset="0"/>
                <a:cs typeface="Arial" panose="020B0604020202020204" pitchFamily="34" charset="0"/>
              </a:rPr>
              <a:t> – </a:t>
            </a:r>
            <a:r>
              <a:rPr lang="en-US" sz="2500" b="1" err="1">
                <a:latin typeface="Arial" panose="020B0604020202020204" pitchFamily="34" charset="0"/>
                <a:cs typeface="Arial" panose="020B0604020202020204" pitchFamily="34" charset="0"/>
              </a:rPr>
              <a:t>tổ</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chức</a:t>
            </a:r>
            <a:r>
              <a:rPr lang="en-US" sz="2500" b="1">
                <a:latin typeface="Arial" panose="020B0604020202020204" pitchFamily="34" charset="0"/>
                <a:cs typeface="Arial" panose="020B0604020202020204" pitchFamily="34" charset="0"/>
              </a:rPr>
              <a:t> – </a:t>
            </a:r>
            <a:r>
              <a:rPr lang="en-US" sz="2500" b="1" err="1">
                <a:latin typeface="Arial" panose="020B0604020202020204" pitchFamily="34" charset="0"/>
                <a:cs typeface="Arial" panose="020B0604020202020204" pitchFamily="34" charset="0"/>
              </a:rPr>
              <a:t>diễn</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giải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thông</a:t>
            </a:r>
            <a:r>
              <a:rPr lang="en-US" sz="2500">
                <a:latin typeface="Arial" panose="020B0604020202020204" pitchFamily="34" charset="0"/>
                <a:cs typeface="Arial" panose="020B0604020202020204" pitchFamily="34" charset="0"/>
              </a:rPr>
              <a:t> tin </a:t>
            </a:r>
            <a:r>
              <a:rPr lang="en-US" sz="2500" err="1">
                <a:latin typeface="Arial" panose="020B0604020202020204" pitchFamily="34" charset="0"/>
                <a:cs typeface="Arial" panose="020B0604020202020204" pitchFamily="34" charset="0"/>
              </a:rPr>
              <a:t>từ</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môi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trường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để</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tạo</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ra</a:t>
            </a:r>
            <a:r>
              <a:rPr lang="en-US" sz="2500">
                <a:latin typeface="Arial" panose="020B0604020202020204" pitchFamily="34" charset="0"/>
                <a:cs typeface="Arial" panose="020B0604020202020204" pitchFamily="34" charset="0"/>
              </a:rPr>
              <a:t> ý </a:t>
            </a:r>
            <a:r>
              <a:rPr lang="en-US" sz="2500" err="1">
                <a:latin typeface="Arial" panose="020B0604020202020204" pitchFamily="34" charset="0"/>
                <a:cs typeface="Arial" panose="020B0604020202020204" pitchFamily="34" charset="0"/>
              </a:rPr>
              <a:t>nghĩa</a:t>
            </a:r>
            <a:r>
              <a:rPr lang="en-US" sz="2500">
                <a:latin typeface="Arial" panose="020B0604020202020204" pitchFamily="34" charset="0"/>
                <a:cs typeface="Arial" panose="020B0604020202020204" pitchFamily="34" charset="0"/>
              </a:rPr>
              <a:t>.</a:t>
            </a:r>
          </a:p>
          <a:p>
            <a:r>
              <a:rPr lang="en-US" sz="2500" b="1">
                <a:latin typeface="Arial" panose="020B0604020202020204" pitchFamily="34" charset="0"/>
                <a:cs typeface="Arial" panose="020B0604020202020204" pitchFamily="34" charset="0"/>
              </a:rPr>
              <a:t>3 </a:t>
            </a:r>
            <a:r>
              <a:rPr lang="en-US" sz="2500" b="1" err="1">
                <a:latin typeface="Arial" panose="020B0604020202020204" pitchFamily="34" charset="0"/>
                <a:cs typeface="Arial" panose="020B0604020202020204" pitchFamily="34" charset="0"/>
              </a:rPr>
              <a:t>yếu</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tố</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cấu</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thành</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nhận</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thức</a:t>
            </a:r>
            <a:endParaRPr lang="en-US" sz="2500">
              <a:latin typeface="Arial" panose="020B0604020202020204" pitchFamily="34" charset="0"/>
              <a:cs typeface="Arial" panose="020B0604020202020204" pitchFamily="34" charset="0"/>
            </a:endParaRPr>
          </a:p>
          <a:p>
            <a:pPr marL="0" lvl="0" indent="0">
              <a:buNone/>
            </a:pPr>
            <a:r>
              <a:rPr lang="en-US" sz="2500" b="1" err="1">
                <a:latin typeface="Arial" panose="020B0604020202020204" pitchFamily="34" charset="0"/>
                <a:cs typeface="Arial" panose="020B0604020202020204" pitchFamily="34" charset="0"/>
              </a:rPr>
              <a:t>Người</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nhận</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thức</a:t>
            </a:r>
            <a:r>
              <a:rPr lang="en-US" sz="2500" b="1">
                <a:latin typeface="Arial" panose="020B0604020202020204" pitchFamily="34" charset="0"/>
                <a:cs typeface="Arial" panose="020B0604020202020204" pitchFamily="34" charset="0"/>
              </a:rPr>
              <a:t>:</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chịu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ảnh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hưởng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bởi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động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lực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cảm</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xúc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trải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nghiệm</a:t>
            </a:r>
            <a:r>
              <a:rPr lang="en-US" sz="2500">
                <a:latin typeface="Arial" panose="020B0604020202020204" pitchFamily="34" charset="0"/>
                <a:cs typeface="Arial" panose="020B0604020202020204" pitchFamily="34" charset="0"/>
              </a:rPr>
              <a:t> </a:t>
            </a:r>
          </a:p>
          <a:p>
            <a:pPr marL="0" lvl="0" indent="0">
              <a:buNone/>
            </a:pPr>
            <a:r>
              <a:rPr lang="en-US" sz="2500" b="1" err="1">
                <a:latin typeface="Arial" panose="020B0604020202020204" pitchFamily="34" charset="0"/>
                <a:cs typeface="Arial" panose="020B0604020202020204" pitchFamily="34" charset="0"/>
              </a:rPr>
              <a:t>Mục</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tiêu</a:t>
            </a:r>
            <a:r>
              <a:rPr lang="en-US" sz="2500" b="1">
                <a:latin typeface="Arial" panose="020B0604020202020204" pitchFamily="34" charset="0"/>
                <a:cs typeface="Arial" panose="020B0604020202020204" pitchFamily="34" charset="0"/>
              </a:rPr>
              <a:t>:</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đối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tượng</a:t>
            </a:r>
            <a:r>
              <a:rPr lang="en-US" sz="2500">
                <a:latin typeface="Arial" panose="020B0604020202020204" pitchFamily="34" charset="0"/>
                <a:cs typeface="Arial" panose="020B0604020202020204" pitchFamily="34" charset="0"/>
              </a:rPr>
              <a:t>/</a:t>
            </a:r>
            <a:r>
              <a:rPr lang="en-US" sz="2500" err="1">
                <a:latin typeface="Arial" panose="020B0604020202020204" pitchFamily="34" charset="0"/>
                <a:cs typeface="Arial" panose="020B0604020202020204" pitchFamily="34" charset="0"/>
              </a:rPr>
              <a:t>sự</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việc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đang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được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nhận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thức</a:t>
            </a:r>
            <a:r>
              <a:rPr lang="en-US" sz="2500">
                <a:latin typeface="Arial" panose="020B0604020202020204" pitchFamily="34" charset="0"/>
                <a:cs typeface="Arial" panose="020B0604020202020204" pitchFamily="34" charset="0"/>
              </a:rPr>
              <a:t> </a:t>
            </a:r>
          </a:p>
          <a:p>
            <a:pPr marL="0" lvl="0" indent="0">
              <a:buNone/>
            </a:pPr>
            <a:r>
              <a:rPr lang="en-US" sz="2500" b="1" err="1">
                <a:latin typeface="Arial" panose="020B0604020202020204" pitchFamily="34" charset="0"/>
                <a:cs typeface="Arial" panose="020B0604020202020204" pitchFamily="34" charset="0"/>
              </a:rPr>
              <a:t>Tình</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huống</a:t>
            </a:r>
            <a:r>
              <a:rPr lang="en-US" sz="2500" b="1">
                <a:latin typeface="Arial" panose="020B0604020202020204" pitchFamily="34" charset="0"/>
                <a:cs typeface="Arial" panose="020B0604020202020204" pitchFamily="34" charset="0"/>
              </a:rPr>
              <a:t>:</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môi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trường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thời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gian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mức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độ</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kích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thích</a:t>
            </a:r>
            <a:r>
              <a:rPr lang="en-US" sz="2500">
                <a:latin typeface="Arial" panose="020B0604020202020204" pitchFamily="34" charset="0"/>
                <a:cs typeface="Arial" panose="020B0604020202020204" pitchFamily="34" charset="0"/>
              </a:rPr>
              <a:t> </a:t>
            </a:r>
          </a:p>
          <a:p>
            <a:r>
              <a:rPr lang="en-US" sz="2500" b="1" err="1">
                <a:latin typeface="Arial" panose="020B0604020202020204" pitchFamily="34" charset="0"/>
                <a:cs typeface="Arial" panose="020B0604020202020204" pitchFamily="34" charset="0"/>
              </a:rPr>
              <a:t>Quá</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trình</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cơ</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bản</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Cảm</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giác</a:t>
            </a:r>
            <a:r>
              <a:rPr lang="en-US" sz="2500" b="1">
                <a:latin typeface="Arial" panose="020B0604020202020204" pitchFamily="34" charset="0"/>
                <a:cs typeface="Arial" panose="020B0604020202020204" pitchFamily="34" charset="0"/>
              </a:rPr>
              <a:t> → </a:t>
            </a:r>
            <a:r>
              <a:rPr lang="en-US" sz="2500" b="1" err="1">
                <a:latin typeface="Arial" panose="020B0604020202020204" pitchFamily="34" charset="0"/>
                <a:cs typeface="Arial" panose="020B0604020202020204" pitchFamily="34" charset="0"/>
              </a:rPr>
              <a:t>Tổ</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chức</a:t>
            </a:r>
            <a:r>
              <a:rPr lang="en-US" sz="2500" b="1">
                <a:latin typeface="Arial" panose="020B0604020202020204" pitchFamily="34" charset="0"/>
                <a:cs typeface="Arial" panose="020B0604020202020204" pitchFamily="34" charset="0"/>
              </a:rPr>
              <a:t> → </a:t>
            </a:r>
            <a:r>
              <a:rPr lang="en-US" sz="2500" b="1" err="1">
                <a:latin typeface="Arial" panose="020B0604020202020204" pitchFamily="34" charset="0"/>
                <a:cs typeface="Arial" panose="020B0604020202020204" pitchFamily="34" charset="0"/>
              </a:rPr>
              <a:t>Diễn</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giải</a:t>
            </a:r>
            <a:endParaRPr lang="en-US" sz="2500">
              <a:latin typeface="Arial" panose="020B0604020202020204" pitchFamily="34" charset="0"/>
              <a:cs typeface="Arial" panose="020B0604020202020204" pitchFamily="34" charset="0"/>
            </a:endParaRPr>
          </a:p>
          <a:p>
            <a:r>
              <a:rPr lang="en-US" sz="2500" b="1" err="1">
                <a:latin typeface="Arial" panose="020B0604020202020204" pitchFamily="34" charset="0"/>
                <a:cs typeface="Arial" panose="020B0604020202020204" pitchFamily="34" charset="0"/>
              </a:rPr>
              <a:t>Đặc</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điểm</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quan</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trọng</a:t>
            </a:r>
            <a:endParaRPr lang="en-US" sz="2500">
              <a:latin typeface="Arial" panose="020B0604020202020204" pitchFamily="34" charset="0"/>
              <a:cs typeface="Arial" panose="020B0604020202020204" pitchFamily="34" charset="0"/>
            </a:endParaRPr>
          </a:p>
          <a:p>
            <a:pPr marL="0" lvl="0" indent="0">
              <a:buNone/>
            </a:pPr>
            <a:r>
              <a:rPr lang="en-US" sz="2500" err="1">
                <a:latin typeface="Arial" panose="020B0604020202020204" pitchFamily="34" charset="0"/>
                <a:cs typeface="Arial" panose="020B0604020202020204" pitchFamily="34" charset="0"/>
              </a:rPr>
              <a:t>Nhận</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thức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mang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tính</a:t>
            </a:r>
            <a:r>
              <a:rPr lang="en-US" sz="2500">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cá</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nhân</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và</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chủ</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quan</a:t>
            </a:r>
            <a:r>
              <a:rPr lang="en-US" sz="2500">
                <a:latin typeface="Arial" panose="020B0604020202020204" pitchFamily="34" charset="0"/>
                <a:cs typeface="Arial" panose="020B0604020202020204" pitchFamily="34" charset="0"/>
              </a:rPr>
              <a:t> </a:t>
            </a:r>
          </a:p>
          <a:p>
            <a:pPr marL="0" lvl="0" indent="0">
              <a:buNone/>
            </a:pPr>
            <a:r>
              <a:rPr lang="en-US" sz="2500" err="1">
                <a:latin typeface="Arial" panose="020B0604020202020204" pitchFamily="34" charset="0"/>
                <a:cs typeface="Arial" panose="020B0604020202020204" pitchFamily="34" charset="0"/>
              </a:rPr>
              <a:t>Cùng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một</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kích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thích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mỗi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người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có</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thể</a:t>
            </a:r>
            <a:r>
              <a:rPr lang="en-US" sz="2500">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hiểu</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khác</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nhau</a:t>
            </a:r>
            <a:r>
              <a:rPr lang="en-US" sz="2500">
                <a:latin typeface="Arial" panose="020B0604020202020204" pitchFamily="34" charset="0"/>
                <a:cs typeface="Arial" panose="020B0604020202020204" pitchFamily="34" charset="0"/>
              </a:rPr>
              <a:t> </a:t>
            </a:r>
          </a:p>
          <a:p>
            <a:pPr marL="0" lvl="0" indent="0">
              <a:buNone/>
            </a:pPr>
            <a:r>
              <a:rPr lang="en-US" sz="2500" err="1">
                <a:latin typeface="Arial" panose="020B0604020202020204" pitchFamily="34" charset="0"/>
                <a:cs typeface="Arial" panose="020B0604020202020204" pitchFamily="34" charset="0"/>
              </a:rPr>
              <a:t>Người</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tiêu</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dùng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thường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hành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động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theo</a:t>
            </a:r>
            <a:r>
              <a:rPr lang="en-US" sz="2500">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nhận</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thức</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của</a:t>
            </a:r>
            <a:r>
              <a:rPr lang="en-US" sz="2500" b="1">
                <a:latin typeface="Arial" panose="020B0604020202020204" pitchFamily="34" charset="0"/>
                <a:cs typeface="Arial" panose="020B0604020202020204" pitchFamily="34" charset="0"/>
              </a:rPr>
              <a:t> </a:t>
            </a:r>
            <a:r>
              <a:rPr lang="en-US" sz="2500" b="1" err="1">
                <a:latin typeface="Arial" panose="020B0604020202020204" pitchFamily="34" charset="0"/>
                <a:cs typeface="Arial" panose="020B0604020202020204" pitchFamily="34" charset="0"/>
              </a:rPr>
              <a:t>mình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không</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nhất</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thiết</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theo</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thực</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tế</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khách</a:t>
            </a:r>
            <a:r>
              <a:rPr lang="en-US" sz="2500">
                <a:latin typeface="Arial" panose="020B0604020202020204" pitchFamily="34" charset="0"/>
                <a:cs typeface="Arial" panose="020B0604020202020204" pitchFamily="34" charset="0"/>
              </a:rPr>
              <a:t> </a:t>
            </a:r>
            <a:r>
              <a:rPr lang="en-US" sz="2500" err="1">
                <a:latin typeface="Arial" panose="020B0604020202020204" pitchFamily="34" charset="0"/>
                <a:cs typeface="Arial" panose="020B0604020202020204" pitchFamily="34" charset="0"/>
              </a:rPr>
              <a:t>quan</a:t>
            </a:r>
            <a:endParaRPr lang="en-US" sz="2500">
              <a:latin typeface="Arial" panose="020B0604020202020204" pitchFamily="34" charset="0"/>
              <a:cs typeface="Arial" panose="020B0604020202020204" pitchFamily="34" charset="0"/>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2F2C5-D0A4-D3C0-9C24-B21A2589B7F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C42EA8A-A445-052D-3951-927E54F19B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4274764" y="1135444"/>
            <a:ext cx="4208835" cy="5222141"/>
          </a:xfrm>
          <a:prstGeom prst="rect">
            <a:avLst/>
          </a:prstGeom>
          <a:noFill/>
        </p:spPr>
      </p:pic>
      <p:sp>
        <p:nvSpPr>
          <p:cNvPr id="5" name="TextBox 4">
            <a:extLst>
              <a:ext uri="{FF2B5EF4-FFF2-40B4-BE49-F238E27FC236}">
                <a16:creationId xmlns:a16="http://schemas.microsoft.com/office/drawing/2014/main" id="{5471CB40-DBC4-5BB6-3C15-E92596899C8A}"/>
              </a:ext>
            </a:extLst>
          </p:cNvPr>
          <p:cNvSpPr txBox="1"/>
          <p:nvPr/>
        </p:nvSpPr>
        <p:spPr>
          <a:xfrm>
            <a:off x="1294497" y="410823"/>
            <a:ext cx="8679235" cy="584775"/>
          </a:xfrm>
          <a:prstGeom prst="rect">
            <a:avLst/>
          </a:prstGeom>
          <a:noFill/>
        </p:spPr>
        <p:txBody>
          <a:bodyPr wrap="square">
            <a:spAutoFit/>
          </a:bodyPr>
          <a:lstStyle/>
          <a:p>
            <a:r>
              <a:rPr lang="en-US" sz="3200" i="1" err="1">
                <a:latin typeface="Arial" panose="020B0604020202020204" pitchFamily="34" charset="0"/>
                <a:cs typeface="Arial" panose="020B0604020202020204" pitchFamily="34" charset="0"/>
              </a:rPr>
              <a:t>Quá</a:t>
            </a:r>
            <a:r>
              <a:rPr lang="en-US" sz="3200" i="1">
                <a:latin typeface="Arial" panose="020B0604020202020204" pitchFamily="34" charset="0"/>
                <a:cs typeface="Arial" panose="020B0604020202020204" pitchFamily="34" charset="0"/>
              </a:rPr>
              <a:t> </a:t>
            </a:r>
            <a:r>
              <a:rPr lang="en-US" sz="3200" i="1" err="1">
                <a:latin typeface="Arial" panose="020B0604020202020204" pitchFamily="34" charset="0"/>
                <a:cs typeface="Arial" panose="020B0604020202020204" pitchFamily="34" charset="0"/>
              </a:rPr>
              <a:t>trình</a:t>
            </a:r>
            <a:r>
              <a:rPr lang="en-US" sz="3200" i="1">
                <a:latin typeface="Arial" panose="020B0604020202020204" pitchFamily="34" charset="0"/>
                <a:cs typeface="Arial" panose="020B0604020202020204" pitchFamily="34" charset="0"/>
              </a:rPr>
              <a:t> </a:t>
            </a:r>
            <a:r>
              <a:rPr lang="en-US" sz="3200" i="1" err="1">
                <a:latin typeface="Arial" panose="020B0604020202020204" pitchFamily="34" charset="0"/>
                <a:cs typeface="Arial" panose="020B0604020202020204" pitchFamily="34" charset="0"/>
              </a:rPr>
              <a:t>xử</a:t>
            </a:r>
            <a:r>
              <a:rPr lang="en-US" sz="3200" i="1">
                <a:latin typeface="Arial" panose="020B0604020202020204" pitchFamily="34" charset="0"/>
                <a:cs typeface="Arial" panose="020B0604020202020204" pitchFamily="34" charset="0"/>
              </a:rPr>
              <a:t> </a:t>
            </a:r>
            <a:r>
              <a:rPr lang="en-US" sz="3200" i="1" err="1">
                <a:latin typeface="Arial" panose="020B0604020202020204" pitchFamily="34" charset="0"/>
                <a:cs typeface="Arial" panose="020B0604020202020204" pitchFamily="34" charset="0"/>
              </a:rPr>
              <a:t>lý</a:t>
            </a:r>
            <a:r>
              <a:rPr lang="en-US" sz="3200" i="1">
                <a:latin typeface="Arial" panose="020B0604020202020204" pitchFamily="34" charset="0"/>
                <a:cs typeface="Arial" panose="020B0604020202020204" pitchFamily="34" charset="0"/>
              </a:rPr>
              <a:t> </a:t>
            </a:r>
            <a:r>
              <a:rPr lang="en-US" sz="3200" i="1" err="1">
                <a:latin typeface="Arial" panose="020B0604020202020204" pitchFamily="34" charset="0"/>
                <a:cs typeface="Arial" panose="020B0604020202020204" pitchFamily="34" charset="0"/>
              </a:rPr>
              <a:t>thông</a:t>
            </a:r>
            <a:r>
              <a:rPr lang="en-US" sz="3200" i="1">
                <a:latin typeface="Arial" panose="020B0604020202020204" pitchFamily="34" charset="0"/>
                <a:cs typeface="Arial" panose="020B0604020202020204" pitchFamily="34" charset="0"/>
              </a:rPr>
              <a:t> tin </a:t>
            </a:r>
            <a:r>
              <a:rPr lang="en-US" sz="3200" i="1" err="1">
                <a:latin typeface="Arial" panose="020B0604020202020204" pitchFamily="34" charset="0"/>
                <a:cs typeface="Arial" panose="020B0604020202020204" pitchFamily="34" charset="0"/>
              </a:rPr>
              <a:t>của</a:t>
            </a:r>
            <a:r>
              <a:rPr lang="en-US" sz="3200" i="1">
                <a:latin typeface="Arial" panose="020B0604020202020204" pitchFamily="34" charset="0"/>
                <a:cs typeface="Arial" panose="020B0604020202020204" pitchFamily="34" charset="0"/>
              </a:rPr>
              <a:t> </a:t>
            </a:r>
            <a:r>
              <a:rPr lang="en-US" sz="3200" i="1" err="1">
                <a:latin typeface="Arial" panose="020B0604020202020204" pitchFamily="34" charset="0"/>
                <a:cs typeface="Arial" panose="020B0604020202020204" pitchFamily="34" charset="0"/>
              </a:rPr>
              <a:t>người</a:t>
            </a:r>
            <a:r>
              <a:rPr lang="en-US" sz="3200" i="1">
                <a:latin typeface="Arial" panose="020B0604020202020204" pitchFamily="34" charset="0"/>
                <a:cs typeface="Arial" panose="020B0604020202020204" pitchFamily="34" charset="0"/>
              </a:rPr>
              <a:t> </a:t>
            </a:r>
            <a:r>
              <a:rPr lang="en-US" sz="3200" i="1" err="1">
                <a:latin typeface="Arial" panose="020B0604020202020204" pitchFamily="34" charset="0"/>
                <a:cs typeface="Arial" panose="020B0604020202020204" pitchFamily="34" charset="0"/>
              </a:rPr>
              <a:t>tiêu</a:t>
            </a:r>
            <a:r>
              <a:rPr lang="en-US" sz="3200" i="1">
                <a:latin typeface="Arial" panose="020B0604020202020204" pitchFamily="34" charset="0"/>
                <a:cs typeface="Arial" panose="020B0604020202020204" pitchFamily="34" charset="0"/>
              </a:rPr>
              <a:t> </a:t>
            </a:r>
            <a:r>
              <a:rPr lang="en-US" sz="3200" i="1" err="1">
                <a:latin typeface="Arial" panose="020B0604020202020204" pitchFamily="34" charset="0"/>
                <a:cs typeface="Arial" panose="020B0604020202020204" pitchFamily="34" charset="0"/>
              </a:rPr>
              <a:t>dùng</a:t>
            </a:r>
            <a:endParaRPr lang="en-US" sz="3200" i="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30780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a:xfrm>
            <a:off x="578555" y="0"/>
            <a:ext cx="10515600" cy="1325563"/>
          </a:xfrm>
        </p:spPr>
        <p:txBody>
          <a:bodyPr>
            <a:normAutofit/>
          </a:bodyPr>
          <a:lstStyle/>
          <a:p>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3.2.2 Các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yếu</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tố</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của</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nhận</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thức</a:t>
            </a:r>
            <a:endParaRPr lang="en-US" sz="280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a:xfrm>
            <a:off x="381000" y="995891"/>
            <a:ext cx="10515600" cy="4351338"/>
          </a:xfrm>
        </p:spPr>
        <p:txBody>
          <a:bodyPr vert="horz" lIns="91440" tIns="45720" rIns="91440" bIns="45720" rtlCol="0">
            <a:noAutofit/>
          </a:bodyPr>
          <a:lstStyle/>
          <a:p>
            <a:pPr marL="0" indent="0">
              <a:buNone/>
            </a:pPr>
            <a:r>
              <a:rPr lang="en-US" sz="2200" b="1">
                <a:latin typeface="Arial" panose="020B0604020202020204" pitchFamily="34" charset="0"/>
                <a:cs typeface="Arial" panose="020B0604020202020204" pitchFamily="34" charset="0"/>
              </a:rPr>
              <a:t>1. </a:t>
            </a:r>
            <a:r>
              <a:rPr lang="en-US" sz="2200" b="1" err="1">
                <a:latin typeface="Arial" panose="020B0604020202020204" pitchFamily="34" charset="0"/>
                <a:cs typeface="Arial" panose="020B0604020202020204" pitchFamily="34" charset="0"/>
              </a:rPr>
              <a:t>Cảm</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giác</a:t>
            </a:r>
            <a:r>
              <a:rPr lang="en-US" sz="2200" b="1">
                <a:latin typeface="Arial" panose="020B0604020202020204" pitchFamily="34" charset="0"/>
                <a:cs typeface="Arial" panose="020B0604020202020204" pitchFamily="34" charset="0"/>
              </a:rPr>
              <a:t> (Sensation)</a:t>
            </a:r>
            <a:endParaRPr lang="en-US" sz="2200">
              <a:latin typeface="Arial" panose="020B0604020202020204" pitchFamily="34" charset="0"/>
              <a:cs typeface="Arial" panose="020B0604020202020204" pitchFamily="34" charset="0"/>
            </a:endParaRPr>
          </a:p>
          <a:p>
            <a:pPr lvl="0"/>
            <a:r>
              <a:rPr lang="en-US" sz="2200" err="1">
                <a:latin typeface="Arial" panose="020B0604020202020204" pitchFamily="34" charset="0"/>
                <a:cs typeface="Arial" panose="020B0604020202020204" pitchFamily="34" charset="0"/>
              </a:rPr>
              <a:t>Phản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ứng</a:t>
            </a:r>
            <a:r>
              <a:rPr lang="en-US" sz="2200">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tức</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thì</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của</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giác</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quan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trước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các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kích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thích</a:t>
            </a:r>
            <a:r>
              <a:rPr lang="en-US" sz="2200">
                <a:latin typeface="Arial" panose="020B0604020202020204" pitchFamily="34" charset="0"/>
                <a:cs typeface="Arial" panose="020B0604020202020204" pitchFamily="34" charset="0"/>
              </a:rPr>
              <a:t> marketing. </a:t>
            </a:r>
          </a:p>
          <a:p>
            <a:pPr lvl="0"/>
            <a:r>
              <a:rPr lang="en-US" sz="2200" err="1">
                <a:latin typeface="Arial" panose="020B0604020202020204" pitchFamily="34" charset="0"/>
                <a:cs typeface="Arial" panose="020B0604020202020204" pitchFamily="34" charset="0"/>
              </a:rPr>
              <a:t>Kích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thích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quảng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cáo</a:t>
            </a:r>
            <a:r>
              <a:rPr lang="en-US" sz="2200">
                <a:latin typeface="Arial" panose="020B0604020202020204" pitchFamily="34" charset="0"/>
                <a:cs typeface="Arial" panose="020B0604020202020204" pitchFamily="34" charset="0"/>
              </a:rPr>
              <a:t>, bao </a:t>
            </a:r>
            <a:r>
              <a:rPr lang="en-US" sz="2200" err="1">
                <a:latin typeface="Arial" panose="020B0604020202020204" pitchFamily="34" charset="0"/>
                <a:cs typeface="Arial" panose="020B0604020202020204" pitchFamily="34" charset="0"/>
              </a:rPr>
              <a:t>bì</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thương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hiệu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âm</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thanh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mùi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hương</a:t>
            </a:r>
            <a:r>
              <a:rPr lang="en-US" sz="2200">
                <a:latin typeface="Arial" panose="020B0604020202020204" pitchFamily="34" charset="0"/>
                <a:cs typeface="Arial" panose="020B0604020202020204" pitchFamily="34" charset="0"/>
              </a:rPr>
              <a:t>… </a:t>
            </a:r>
          </a:p>
          <a:p>
            <a:pPr lvl="0"/>
            <a:r>
              <a:rPr lang="en-US" sz="2200" err="1">
                <a:latin typeface="Arial" panose="020B0604020202020204" pitchFamily="34" charset="0"/>
                <a:cs typeface="Arial" panose="020B0604020202020204" pitchFamily="34" charset="0"/>
              </a:rPr>
              <a:t>Khả</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năng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cảm</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nhận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phụ</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thuộc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vào</a:t>
            </a:r>
            <a:r>
              <a:rPr lang="en-US" sz="2200">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cường</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độ</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kích</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thích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và</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độ</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nhạy</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của</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người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tiêu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dùng</a:t>
            </a:r>
            <a:r>
              <a:rPr lang="en-US" sz="2200">
                <a:latin typeface="Arial" panose="020B0604020202020204" pitchFamily="34" charset="0"/>
                <a:cs typeface="Arial" panose="020B0604020202020204" pitchFamily="34" charset="0"/>
              </a:rPr>
              <a:t>. </a:t>
            </a:r>
          </a:p>
          <a:p>
            <a:pPr marL="0" indent="0">
              <a:buNone/>
            </a:pPr>
            <a:r>
              <a:rPr lang="en-US" sz="2200" b="1">
                <a:latin typeface="Arial" panose="020B0604020202020204" pitchFamily="34" charset="0"/>
                <a:cs typeface="Arial" panose="020B0604020202020204" pitchFamily="34" charset="0"/>
              </a:rPr>
              <a:t>2. </a:t>
            </a:r>
            <a:r>
              <a:rPr lang="en-US" sz="2200" b="1" err="1">
                <a:latin typeface="Arial" panose="020B0604020202020204" pitchFamily="34" charset="0"/>
                <a:cs typeface="Arial" panose="020B0604020202020204" pitchFamily="34" charset="0"/>
              </a:rPr>
              <a:t>Ngưỡng</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tuyệt</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đối</a:t>
            </a:r>
            <a:r>
              <a:rPr lang="en-US" sz="2200" b="1">
                <a:latin typeface="Arial" panose="020B0604020202020204" pitchFamily="34" charset="0"/>
                <a:cs typeface="Arial" panose="020B0604020202020204" pitchFamily="34" charset="0"/>
              </a:rPr>
              <a:t> (Absolute Threshold)</a:t>
            </a:r>
            <a:endParaRPr lang="en-US" sz="2200">
              <a:latin typeface="Arial" panose="020B0604020202020204" pitchFamily="34" charset="0"/>
              <a:cs typeface="Arial" panose="020B0604020202020204" pitchFamily="34" charset="0"/>
            </a:endParaRPr>
          </a:p>
          <a:p>
            <a:pPr lvl="0"/>
            <a:r>
              <a:rPr lang="en-US" sz="2200" b="1" err="1">
                <a:latin typeface="Arial" panose="020B0604020202020204" pitchFamily="34" charset="0"/>
                <a:cs typeface="Arial" panose="020B0604020202020204" pitchFamily="34" charset="0"/>
              </a:rPr>
              <a:t>Mức</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kích</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thích</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thấp</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nhất</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mà</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người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tiêu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dùng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có</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thể</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nhận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biết</a:t>
            </a:r>
            <a:r>
              <a:rPr lang="en-US" sz="2200">
                <a:latin typeface="Arial" panose="020B0604020202020204" pitchFamily="34" charset="0"/>
                <a:cs typeface="Arial" panose="020B0604020202020204" pitchFamily="34" charset="0"/>
              </a:rPr>
              <a:t>. </a:t>
            </a:r>
          </a:p>
          <a:p>
            <a:pPr lvl="0"/>
            <a:r>
              <a:rPr lang="en-US" sz="2200" err="1">
                <a:latin typeface="Arial" panose="020B0604020202020204" pitchFamily="34" charset="0"/>
                <a:cs typeface="Arial" panose="020B0604020202020204" pitchFamily="34" charset="0"/>
              </a:rPr>
              <a:t>Tiếp</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xúc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lặp</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lại</a:t>
            </a:r>
            <a:r>
              <a:rPr lang="en-US" sz="2200">
                <a:latin typeface="Arial" panose="020B0604020202020204" pitchFamily="34" charset="0"/>
                <a:cs typeface="Arial" panose="020B0604020202020204" pitchFamily="34" charset="0"/>
              </a:rPr>
              <a:t> → </a:t>
            </a:r>
            <a:r>
              <a:rPr lang="en-US" sz="2200" b="1" err="1">
                <a:latin typeface="Arial" panose="020B0604020202020204" pitchFamily="34" charset="0"/>
                <a:cs typeface="Arial" panose="020B0604020202020204" pitchFamily="34" charset="0"/>
              </a:rPr>
              <a:t>thích</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nghi</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cảm</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giác</a:t>
            </a:r>
            <a:r>
              <a:rPr lang="en-US" sz="2200">
                <a:latin typeface="Arial" panose="020B0604020202020204" pitchFamily="34" charset="0"/>
                <a:cs typeface="Arial" panose="020B0604020202020204" pitchFamily="34" charset="0"/>
              </a:rPr>
              <a:t> → </a:t>
            </a:r>
            <a:r>
              <a:rPr lang="en-US" sz="2200" err="1">
                <a:latin typeface="Arial" panose="020B0604020202020204" pitchFamily="34" charset="0"/>
                <a:cs typeface="Arial" panose="020B0604020202020204" pitchFamily="34" charset="0"/>
              </a:rPr>
              <a:t>kích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thích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dễ</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bị</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bỏ</a:t>
            </a:r>
            <a:r>
              <a:rPr lang="en-US" sz="2200">
                <a:latin typeface="Arial" panose="020B0604020202020204" pitchFamily="34" charset="0"/>
                <a:cs typeface="Arial" panose="020B0604020202020204" pitchFamily="34" charset="0"/>
              </a:rPr>
              <a:t> qua. </a:t>
            </a:r>
          </a:p>
          <a:p>
            <a:pPr lvl="0"/>
            <a:r>
              <a:rPr lang="en-US" sz="2200">
                <a:latin typeface="Arial" panose="020B0604020202020204" pitchFamily="34" charset="0"/>
                <a:cs typeface="Arial" panose="020B0604020202020204" pitchFamily="34" charset="0"/>
              </a:rPr>
              <a:t>→ Marketer </a:t>
            </a:r>
            <a:r>
              <a:rPr lang="en-US" sz="2200" err="1">
                <a:latin typeface="Arial" panose="020B0604020202020204" pitchFamily="34" charset="0"/>
                <a:cs typeface="Arial" panose="020B0604020202020204" pitchFamily="34" charset="0"/>
              </a:rPr>
              <a:t>cần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tạo</a:t>
            </a:r>
            <a:r>
              <a:rPr lang="en-US" sz="2200">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sự</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nổi</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bật</a:t>
            </a:r>
            <a:r>
              <a:rPr lang="en-US" sz="2200" b="1">
                <a:latin typeface="Arial" panose="020B0604020202020204" pitchFamily="34" charset="0"/>
                <a:cs typeface="Arial" panose="020B0604020202020204" pitchFamily="34" charset="0"/>
              </a:rPr>
              <a:t>/</a:t>
            </a:r>
            <a:r>
              <a:rPr lang="en-US" sz="2200" b="1" err="1">
                <a:latin typeface="Arial" panose="020B0604020202020204" pitchFamily="34" charset="0"/>
                <a:cs typeface="Arial" panose="020B0604020202020204" pitchFamily="34" charset="0"/>
              </a:rPr>
              <a:t>khác</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biệt</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để</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hút</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chú</a:t>
            </a:r>
            <a:r>
              <a:rPr lang="en-US" sz="2200">
                <a:latin typeface="Arial" panose="020B0604020202020204" pitchFamily="34" charset="0"/>
                <a:cs typeface="Arial" panose="020B0604020202020204" pitchFamily="34" charset="0"/>
              </a:rPr>
              <a:t> ý. </a:t>
            </a:r>
          </a:p>
          <a:p>
            <a:pPr marL="0" indent="0">
              <a:buNone/>
            </a:pPr>
            <a:r>
              <a:rPr lang="en-US" sz="2200" b="1">
                <a:latin typeface="Arial" panose="020B0604020202020204" pitchFamily="34" charset="0"/>
                <a:cs typeface="Arial" panose="020B0604020202020204" pitchFamily="34" charset="0"/>
              </a:rPr>
              <a:t>3. </a:t>
            </a:r>
            <a:r>
              <a:rPr lang="en-US" sz="2200" b="1" err="1">
                <a:latin typeface="Arial" panose="020B0604020202020204" pitchFamily="34" charset="0"/>
                <a:cs typeface="Arial" panose="020B0604020202020204" pitchFamily="34" charset="0"/>
              </a:rPr>
              <a:t>Ngưỡng</a:t>
            </a:r>
            <a:r>
              <a:rPr lang="en-US" sz="2200" b="1">
                <a:latin typeface="Arial" panose="020B0604020202020204" pitchFamily="34" charset="0"/>
                <a:cs typeface="Arial" panose="020B0604020202020204" pitchFamily="34" charset="0"/>
              </a:rPr>
              <a:t> vi </a:t>
            </a:r>
            <a:r>
              <a:rPr lang="en-US" sz="2200" b="1" err="1">
                <a:latin typeface="Arial" panose="020B0604020202020204" pitchFamily="34" charset="0"/>
                <a:cs typeface="Arial" panose="020B0604020202020204" pitchFamily="34" charset="0"/>
              </a:rPr>
              <a:t>sai</a:t>
            </a:r>
            <a:r>
              <a:rPr lang="en-US" sz="2200" b="1">
                <a:latin typeface="Arial" panose="020B0604020202020204" pitchFamily="34" charset="0"/>
                <a:cs typeface="Arial" panose="020B0604020202020204" pitchFamily="34" charset="0"/>
              </a:rPr>
              <a:t> (Difference Threshold / JND)</a:t>
            </a:r>
            <a:endParaRPr lang="en-US" sz="2200">
              <a:latin typeface="Arial" panose="020B0604020202020204" pitchFamily="34" charset="0"/>
              <a:cs typeface="Arial" panose="020B0604020202020204" pitchFamily="34" charset="0"/>
            </a:endParaRPr>
          </a:p>
          <a:p>
            <a:pPr lvl="0"/>
            <a:r>
              <a:rPr lang="en-US" sz="2200" b="1" err="1">
                <a:latin typeface="Arial" panose="020B0604020202020204" pitchFamily="34" charset="0"/>
                <a:cs typeface="Arial" panose="020B0604020202020204" pitchFamily="34" charset="0"/>
              </a:rPr>
              <a:t>Khác</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biệt</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nhỏ</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nhất</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giữa</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hai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kích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thích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mà</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người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tiêu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dùng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có</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thể</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nhận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ra.</a:t>
            </a:r>
            <a:r>
              <a:rPr lang="en-US" sz="2200">
                <a:latin typeface="Arial" panose="020B0604020202020204" pitchFamily="34" charset="0"/>
                <a:cs typeface="Arial" panose="020B0604020202020204" pitchFamily="34" charset="0"/>
              </a:rPr>
              <a:t> </a:t>
            </a:r>
          </a:p>
          <a:p>
            <a:pPr lvl="0"/>
            <a:r>
              <a:rPr lang="en-US" sz="2200" b="1" err="1">
                <a:latin typeface="Arial" panose="020B0604020202020204" pitchFamily="34" charset="0"/>
                <a:cs typeface="Arial" panose="020B0604020202020204" pitchFamily="34" charset="0"/>
              </a:rPr>
              <a:t>Luật</a:t>
            </a:r>
            <a:r>
              <a:rPr lang="en-US" sz="2200" b="1">
                <a:latin typeface="Arial" panose="020B0604020202020204" pitchFamily="34" charset="0"/>
                <a:cs typeface="Arial" panose="020B0604020202020204" pitchFamily="34" charset="0"/>
              </a:rPr>
              <a:t> Weber:</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kích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thích</a:t>
            </a:r>
            <a:r>
              <a:rPr lang="en-US" sz="2200">
                <a:latin typeface="Arial" panose="020B0604020202020204" pitchFamily="34" charset="0"/>
                <a:cs typeface="Arial" panose="020B0604020202020204" pitchFamily="34" charset="0"/>
              </a:rPr>
              <a:t> ban </a:t>
            </a:r>
            <a:r>
              <a:rPr lang="en-US" sz="2200" err="1">
                <a:latin typeface="Arial" panose="020B0604020202020204" pitchFamily="34" charset="0"/>
                <a:cs typeface="Arial" panose="020B0604020202020204" pitchFamily="34" charset="0"/>
              </a:rPr>
              <a:t>đầu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càng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mạnh</a:t>
            </a:r>
            <a:r>
              <a:rPr lang="en-US" sz="2200">
                <a:latin typeface="Arial" panose="020B0604020202020204" pitchFamily="34" charset="0"/>
                <a:cs typeface="Arial" panose="020B0604020202020204" pitchFamily="34" charset="0"/>
              </a:rPr>
              <a:t> → </a:t>
            </a:r>
            <a:r>
              <a:rPr lang="en-US" sz="2200" err="1">
                <a:latin typeface="Arial" panose="020B0604020202020204" pitchFamily="34" charset="0"/>
                <a:cs typeface="Arial" panose="020B0604020202020204" pitchFamily="34" charset="0"/>
              </a:rPr>
              <a:t>mức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thay</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đổi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cần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thiết</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để</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nhận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thấy</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khác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biệt</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càng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lớn</a:t>
            </a:r>
            <a:r>
              <a:rPr lang="en-US" sz="220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41812863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a:xfrm>
            <a:off x="335844" y="18255"/>
            <a:ext cx="10515600" cy="1325563"/>
          </a:xfrm>
        </p:spPr>
        <p:txBody>
          <a:bodyPr>
            <a:normAutofit/>
          </a:bodyPr>
          <a:lstStyle/>
          <a:p>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3.2.3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Sự</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khác</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biệt</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giữa</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nhận</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thức</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và</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cảm</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quan</a:t>
            </a:r>
            <a:endParaRPr lang="en-US" sz="280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a:xfrm>
            <a:off x="397934" y="922514"/>
            <a:ext cx="11458222" cy="4351338"/>
          </a:xfrm>
        </p:spPr>
        <p:txBody>
          <a:bodyPr vert="horz" lIns="91440" tIns="45720" rIns="91440" bIns="45720" rtlCol="0">
            <a:noAutofit/>
          </a:bodyPr>
          <a:lstStyle/>
          <a:p>
            <a:pPr marL="0" indent="0">
              <a:buNone/>
            </a:pPr>
            <a:r>
              <a:rPr lang="en-US" sz="2400" b="1" err="1">
                <a:latin typeface="Arial" panose="020B0604020202020204" pitchFamily="34" charset="0"/>
                <a:cs typeface="Arial" panose="020B0604020202020204" pitchFamily="34" charset="0"/>
              </a:rPr>
              <a:t>Cảm</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quan</a:t>
            </a:r>
            <a:r>
              <a:rPr lang="en-US" sz="2400" b="1">
                <a:latin typeface="Arial" panose="020B0604020202020204" pitchFamily="34" charset="0"/>
                <a:cs typeface="Arial" panose="020B0604020202020204" pitchFamily="34" charset="0"/>
              </a:rPr>
              <a:t> (Sensation)</a:t>
            </a:r>
            <a:endParaRPr lang="en-US" sz="2400">
              <a:latin typeface="Arial" panose="020B0604020202020204" pitchFamily="34" charset="0"/>
              <a:cs typeface="Arial" panose="020B0604020202020204" pitchFamily="34" charset="0"/>
            </a:endParaRPr>
          </a:p>
          <a:p>
            <a:pPr lvl="0"/>
            <a:r>
              <a:rPr lang="en-US" sz="2400" err="1">
                <a:latin typeface="Arial" panose="020B0604020202020204" pitchFamily="34" charset="0"/>
                <a:cs typeface="Arial" panose="020B0604020202020204" pitchFamily="34" charset="0"/>
              </a:rPr>
              <a:t>Là</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phản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ứng</a:t>
            </a:r>
            <a:r>
              <a:rPr lang="en-US" sz="2400">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trực</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tiếp</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và</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tức</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thời</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của</a:t>
            </a:r>
            <a:r>
              <a:rPr lang="en-US" sz="2400" b="1">
                <a:latin typeface="Arial" panose="020B0604020202020204" pitchFamily="34" charset="0"/>
                <a:cs typeface="Arial" panose="020B0604020202020204" pitchFamily="34" charset="0"/>
              </a:rPr>
              <a:t> 5 </a:t>
            </a:r>
            <a:r>
              <a:rPr lang="en-US" sz="2400" b="1" err="1">
                <a:latin typeface="Arial" panose="020B0604020202020204" pitchFamily="34" charset="0"/>
                <a:cs typeface="Arial" panose="020B0604020202020204" pitchFamily="34" charset="0"/>
              </a:rPr>
              <a:t>giác</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quan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trước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kích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thích</a:t>
            </a:r>
            <a:r>
              <a:rPr lang="en-US" sz="2400">
                <a:latin typeface="Arial" panose="020B0604020202020204" pitchFamily="34" charset="0"/>
                <a:cs typeface="Arial" panose="020B0604020202020204" pitchFamily="34" charset="0"/>
              </a:rPr>
              <a:t>. </a:t>
            </a:r>
          </a:p>
          <a:p>
            <a:pPr lvl="0"/>
            <a:r>
              <a:rPr lang="en-US" sz="2400" err="1">
                <a:latin typeface="Arial" panose="020B0604020202020204" pitchFamily="34" charset="0"/>
                <a:cs typeface="Arial" panose="020B0604020202020204" pitchFamily="34" charset="0"/>
              </a:rPr>
              <a:t>Ví</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dụ</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nhìn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thấy</a:t>
            </a:r>
            <a:r>
              <a:rPr lang="en-US" sz="2400">
                <a:latin typeface="Arial" panose="020B0604020202020204" pitchFamily="34" charset="0"/>
                <a:cs typeface="Arial" panose="020B0604020202020204" pitchFamily="34" charset="0"/>
              </a:rPr>
              <a:t> bao </a:t>
            </a:r>
            <a:r>
              <a:rPr lang="en-US" sz="2400" err="1">
                <a:latin typeface="Arial" panose="020B0604020202020204" pitchFamily="34" charset="0"/>
                <a:cs typeface="Arial" panose="020B0604020202020204" pitchFamily="34" charset="0"/>
              </a:rPr>
              <a:t>bì</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nghe</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âm</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thanh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ngửi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mùi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hương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nếm</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vị</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chạm</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vào</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sản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phẩm</a:t>
            </a:r>
            <a:r>
              <a:rPr lang="en-US" sz="2400">
                <a:latin typeface="Arial" panose="020B0604020202020204" pitchFamily="34" charset="0"/>
                <a:cs typeface="Arial" panose="020B0604020202020204" pitchFamily="34" charset="0"/>
              </a:rPr>
              <a:t>. </a:t>
            </a:r>
          </a:p>
          <a:p>
            <a:pPr marL="0" indent="0">
              <a:buNone/>
            </a:pPr>
            <a:r>
              <a:rPr lang="en-US" sz="2400" b="1" err="1">
                <a:latin typeface="Arial" panose="020B0604020202020204" pitchFamily="34" charset="0"/>
                <a:cs typeface="Arial" panose="020B0604020202020204" pitchFamily="34" charset="0"/>
              </a:rPr>
              <a:t>Nhận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thức</a:t>
            </a:r>
            <a:r>
              <a:rPr lang="en-US" sz="2400" b="1">
                <a:latin typeface="Arial" panose="020B0604020202020204" pitchFamily="34" charset="0"/>
                <a:cs typeface="Arial" panose="020B0604020202020204" pitchFamily="34" charset="0"/>
              </a:rPr>
              <a:t> (Perception)</a:t>
            </a:r>
            <a:endParaRPr lang="en-US" sz="2400">
              <a:latin typeface="Arial" panose="020B0604020202020204" pitchFamily="34" charset="0"/>
              <a:cs typeface="Arial" panose="020B0604020202020204" pitchFamily="34" charset="0"/>
            </a:endParaRPr>
          </a:p>
          <a:p>
            <a:pPr lvl="0"/>
            <a:r>
              <a:rPr lang="en-US" sz="2400" err="1">
                <a:latin typeface="Arial" panose="020B0604020202020204" pitchFamily="34" charset="0"/>
                <a:cs typeface="Arial" panose="020B0604020202020204" pitchFamily="34" charset="0"/>
              </a:rPr>
              <a:t>Là</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quá</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trình</a:t>
            </a:r>
            <a:r>
              <a:rPr lang="en-US" sz="2400">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lựa</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chọn</a:t>
            </a:r>
            <a:r>
              <a:rPr lang="en-US" sz="2400" b="1">
                <a:latin typeface="Arial" panose="020B0604020202020204" pitchFamily="34" charset="0"/>
                <a:cs typeface="Arial" panose="020B0604020202020204" pitchFamily="34" charset="0"/>
              </a:rPr>
              <a:t> – </a:t>
            </a:r>
            <a:r>
              <a:rPr lang="en-US" sz="2400" b="1" err="1">
                <a:latin typeface="Arial" panose="020B0604020202020204" pitchFamily="34" charset="0"/>
                <a:cs typeface="Arial" panose="020B0604020202020204" pitchFamily="34" charset="0"/>
              </a:rPr>
              <a:t>tổ</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chức</a:t>
            </a:r>
            <a:r>
              <a:rPr lang="en-US" sz="2400" b="1">
                <a:latin typeface="Arial" panose="020B0604020202020204" pitchFamily="34" charset="0"/>
                <a:cs typeface="Arial" panose="020B0604020202020204" pitchFamily="34" charset="0"/>
              </a:rPr>
              <a:t> – </a:t>
            </a:r>
            <a:r>
              <a:rPr lang="en-US" sz="2400" b="1" err="1">
                <a:latin typeface="Arial" panose="020B0604020202020204" pitchFamily="34" charset="0"/>
                <a:cs typeface="Arial" panose="020B0604020202020204" pitchFamily="34" charset="0"/>
              </a:rPr>
              <a:t>diễn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giải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các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kích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thích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để</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tạo</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ra</a:t>
            </a:r>
            <a:r>
              <a:rPr lang="en-US" sz="2400">
                <a:latin typeface="Arial" panose="020B0604020202020204" pitchFamily="34" charset="0"/>
                <a:cs typeface="Arial" panose="020B0604020202020204" pitchFamily="34" charset="0"/>
              </a:rPr>
              <a:t> ý </a:t>
            </a:r>
            <a:r>
              <a:rPr lang="en-US" sz="2400" err="1">
                <a:latin typeface="Arial" panose="020B0604020202020204" pitchFamily="34" charset="0"/>
                <a:cs typeface="Arial" panose="020B0604020202020204" pitchFamily="34" charset="0"/>
              </a:rPr>
              <a:t>nghĩa</a:t>
            </a:r>
            <a:r>
              <a:rPr lang="en-US" sz="2400">
                <a:latin typeface="Arial" panose="020B0604020202020204" pitchFamily="34" charset="0"/>
                <a:cs typeface="Arial" panose="020B0604020202020204" pitchFamily="34" charset="0"/>
              </a:rPr>
              <a:t>. </a:t>
            </a:r>
          </a:p>
          <a:p>
            <a:pPr lvl="0"/>
            <a:r>
              <a:rPr lang="en-US" sz="2400">
                <a:latin typeface="Arial" panose="020B0604020202020204" pitchFamily="34" charset="0"/>
                <a:cs typeface="Arial" panose="020B0604020202020204" pitchFamily="34" charset="0"/>
              </a:rPr>
              <a:t>Mang </a:t>
            </a:r>
            <a:r>
              <a:rPr lang="en-US" sz="2400" err="1">
                <a:latin typeface="Arial" panose="020B0604020202020204" pitchFamily="34" charset="0"/>
                <a:cs typeface="Arial" panose="020B0604020202020204" pitchFamily="34" charset="0"/>
              </a:rPr>
              <a:t>tính</a:t>
            </a:r>
            <a:r>
              <a:rPr lang="en-US" sz="2400">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cá</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nhân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và</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chủ</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quan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chịu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ảnh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hưởng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bởi</a:t>
            </a:r>
            <a:r>
              <a:rPr lang="en-US" sz="2400">
                <a:latin typeface="Arial" panose="020B0604020202020204" pitchFamily="34" charset="0"/>
                <a:cs typeface="Arial" panose="020B0604020202020204" pitchFamily="34" charset="0"/>
              </a:rPr>
              <a:t>: </a:t>
            </a:r>
          </a:p>
          <a:p>
            <a:pPr lvl="1"/>
            <a:r>
              <a:rPr lang="en-US">
                <a:latin typeface="Arial" panose="020B0604020202020204" pitchFamily="34" charset="0"/>
                <a:cs typeface="Arial" panose="020B0604020202020204" pitchFamily="34" charset="0"/>
              </a:rPr>
              <a:t>Nhu </a:t>
            </a:r>
            <a:r>
              <a:rPr lang="en-US" err="1">
                <a:latin typeface="Arial" panose="020B0604020202020204" pitchFamily="34" charset="0"/>
                <a:cs typeface="Arial" panose="020B0604020202020204" pitchFamily="34" charset="0"/>
              </a:rPr>
              <a:t>cầu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động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lực</a:t>
            </a:r>
            <a:r>
              <a:rPr lang="en-US">
                <a:latin typeface="Arial" panose="020B0604020202020204" pitchFamily="34" charset="0"/>
                <a:cs typeface="Arial" panose="020B0604020202020204" pitchFamily="34" charset="0"/>
              </a:rPr>
              <a:t> </a:t>
            </a:r>
          </a:p>
          <a:p>
            <a:pPr lvl="1"/>
            <a:r>
              <a:rPr lang="en-US">
                <a:latin typeface="Arial" panose="020B0604020202020204" pitchFamily="34" charset="0"/>
                <a:cs typeface="Arial" panose="020B0604020202020204" pitchFamily="34" charset="0"/>
              </a:rPr>
              <a:t>Kinh </a:t>
            </a:r>
            <a:r>
              <a:rPr lang="en-US" err="1">
                <a:latin typeface="Arial" panose="020B0604020202020204" pitchFamily="34" charset="0"/>
                <a:cs typeface="Arial" panose="020B0604020202020204" pitchFamily="34" charset="0"/>
              </a:rPr>
              <a:t>nghiệm</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học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hỏi</a:t>
            </a:r>
            <a:r>
              <a:rPr lang="en-US">
                <a:latin typeface="Arial" panose="020B0604020202020204" pitchFamily="34" charset="0"/>
                <a:cs typeface="Arial" panose="020B0604020202020204" pitchFamily="34" charset="0"/>
              </a:rPr>
              <a:t> </a:t>
            </a:r>
          </a:p>
          <a:p>
            <a:pPr lvl="1"/>
            <a:r>
              <a:rPr lang="en-US">
                <a:latin typeface="Arial" panose="020B0604020202020204" pitchFamily="34" charset="0"/>
                <a:cs typeface="Arial" panose="020B0604020202020204" pitchFamily="34" charset="0"/>
              </a:rPr>
              <a:t>Thái </a:t>
            </a:r>
            <a:r>
              <a:rPr lang="en-US" err="1">
                <a:latin typeface="Arial" panose="020B0604020202020204" pitchFamily="34" charset="0"/>
                <a:cs typeface="Arial" panose="020B0604020202020204" pitchFamily="34" charset="0"/>
              </a:rPr>
              <a:t>độ</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giá</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trị</a:t>
            </a:r>
            <a:r>
              <a:rPr lang="en-US">
                <a:latin typeface="Arial" panose="020B0604020202020204" pitchFamily="34" charset="0"/>
                <a:cs typeface="Arial" panose="020B0604020202020204" pitchFamily="34" charset="0"/>
              </a:rPr>
              <a:t> </a:t>
            </a:r>
          </a:p>
          <a:p>
            <a:pPr lvl="1"/>
            <a:r>
              <a:rPr lang="en-US">
                <a:latin typeface="Arial" panose="020B0604020202020204" pitchFamily="34" charset="0"/>
                <a:cs typeface="Arial" panose="020B0604020202020204" pitchFamily="34" charset="0"/>
              </a:rPr>
              <a:t>Văn </a:t>
            </a:r>
            <a:r>
              <a:rPr lang="en-US" err="1">
                <a:latin typeface="Arial" panose="020B0604020202020204" pitchFamily="34" charset="0"/>
                <a:cs typeface="Arial" panose="020B0604020202020204" pitchFamily="34" charset="0"/>
              </a:rPr>
              <a:t>hóa</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bối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cảnh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xã</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hội</a:t>
            </a:r>
            <a:endParaRPr lang="en-US">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6AFEFB2-007D-B337-2390-8805C33E4651}"/>
              </a:ext>
            </a:extLst>
          </p:cNvPr>
          <p:cNvSpPr txBox="1"/>
          <p:nvPr/>
        </p:nvSpPr>
        <p:spPr>
          <a:xfrm>
            <a:off x="124178" y="5519987"/>
            <a:ext cx="11796888" cy="830997"/>
          </a:xfrm>
          <a:prstGeom prst="rect">
            <a:avLst/>
          </a:prstGeom>
          <a:noFill/>
        </p:spPr>
        <p:txBody>
          <a:bodyPr wrap="square">
            <a:spAutoFit/>
          </a:bodyPr>
          <a:lstStyle/>
          <a:p>
            <a:r>
              <a:rPr lang="en-US" sz="2400">
                <a:solidFill>
                  <a:schemeClr val="accent1">
                    <a:lumMod val="50000"/>
                  </a:schemeClr>
                </a:solidFill>
                <a:latin typeface="Arial" panose="020B0604020202020204" pitchFamily="34" charset="0"/>
                <a:cs typeface="Arial" panose="020B0604020202020204" pitchFamily="34" charset="0"/>
                <a:sym typeface="Wingdings" panose="05000000000000000000" pitchFamily="2" charset="2"/>
              </a:rPr>
              <a:t> </a:t>
            </a:r>
            <a:r>
              <a:rPr lang="en-US" sz="2400" err="1">
                <a:solidFill>
                  <a:schemeClr val="accent1">
                    <a:lumMod val="50000"/>
                  </a:schemeClr>
                </a:solidFill>
                <a:latin typeface="Arial" panose="020B0604020202020204" pitchFamily="34" charset="0"/>
                <a:cs typeface="Arial" panose="020B0604020202020204" pitchFamily="34" charset="0"/>
              </a:rPr>
              <a:t>Cảm</a:t>
            </a:r>
            <a:r>
              <a:rPr lang="en-US" sz="2400">
                <a:solidFill>
                  <a:schemeClr val="accent1">
                    <a:lumMod val="50000"/>
                  </a:schemeClr>
                </a:solidFill>
                <a:latin typeface="Arial" panose="020B0604020202020204" pitchFamily="34" charset="0"/>
                <a:cs typeface="Arial" panose="020B0604020202020204" pitchFamily="34" charset="0"/>
              </a:rPr>
              <a:t> </a:t>
            </a:r>
            <a:r>
              <a:rPr lang="en-US" sz="2400" err="1">
                <a:solidFill>
                  <a:schemeClr val="accent1">
                    <a:lumMod val="50000"/>
                  </a:schemeClr>
                </a:solidFill>
                <a:latin typeface="Arial" panose="020B0604020202020204" pitchFamily="34" charset="0"/>
                <a:cs typeface="Arial" panose="020B0604020202020204" pitchFamily="34" charset="0"/>
              </a:rPr>
              <a:t>quan</a:t>
            </a:r>
            <a:r>
              <a:rPr lang="en-US" sz="2400">
                <a:solidFill>
                  <a:schemeClr val="accent1">
                    <a:lumMod val="50000"/>
                  </a:schemeClr>
                </a:solidFill>
                <a:latin typeface="Arial" panose="020B0604020202020204" pitchFamily="34" charset="0"/>
                <a:cs typeface="Arial" panose="020B0604020202020204" pitchFamily="34" charset="0"/>
              </a:rPr>
              <a:t> </a:t>
            </a:r>
            <a:r>
              <a:rPr lang="en-US" sz="2400" err="1">
                <a:solidFill>
                  <a:schemeClr val="accent1">
                    <a:lumMod val="50000"/>
                  </a:schemeClr>
                </a:solidFill>
                <a:latin typeface="Arial" panose="020B0604020202020204" pitchFamily="34" charset="0"/>
                <a:cs typeface="Arial" panose="020B0604020202020204" pitchFamily="34" charset="0"/>
              </a:rPr>
              <a:t>là</a:t>
            </a:r>
            <a:r>
              <a:rPr lang="en-US" sz="2400">
                <a:solidFill>
                  <a:schemeClr val="accent1">
                    <a:lumMod val="50000"/>
                  </a:schemeClr>
                </a:solidFill>
                <a:latin typeface="Arial" panose="020B0604020202020204" pitchFamily="34" charset="0"/>
                <a:cs typeface="Arial" panose="020B0604020202020204" pitchFamily="34" charset="0"/>
              </a:rPr>
              <a:t> </a:t>
            </a:r>
            <a:r>
              <a:rPr lang="en-US" sz="2400" b="1">
                <a:solidFill>
                  <a:schemeClr val="accent1">
                    <a:lumMod val="50000"/>
                  </a:schemeClr>
                </a:solidFill>
                <a:latin typeface="Arial" panose="020B0604020202020204" pitchFamily="34" charset="0"/>
                <a:cs typeface="Arial" panose="020B0604020202020204" pitchFamily="34" charset="0"/>
              </a:rPr>
              <a:t>“</a:t>
            </a:r>
            <a:r>
              <a:rPr lang="en-US" sz="2400" b="1" err="1">
                <a:solidFill>
                  <a:schemeClr val="accent1">
                    <a:lumMod val="50000"/>
                  </a:schemeClr>
                </a:solidFill>
                <a:latin typeface="Arial" panose="020B0604020202020204" pitchFamily="34" charset="0"/>
                <a:cs typeface="Arial" panose="020B0604020202020204" pitchFamily="34" charset="0"/>
              </a:rPr>
              <a:t>nhận</a:t>
            </a:r>
            <a:r>
              <a:rPr lang="en-US" sz="2400" b="1">
                <a:solidFill>
                  <a:schemeClr val="accent1">
                    <a:lumMod val="50000"/>
                  </a:schemeClr>
                </a:solidFill>
                <a:latin typeface="Arial" panose="020B0604020202020204" pitchFamily="34" charset="0"/>
                <a:cs typeface="Arial" panose="020B0604020202020204" pitchFamily="34" charset="0"/>
              </a:rPr>
              <a:t> </a:t>
            </a:r>
            <a:r>
              <a:rPr lang="en-US" sz="2400" b="1" err="1">
                <a:solidFill>
                  <a:schemeClr val="accent1">
                    <a:lumMod val="50000"/>
                  </a:schemeClr>
                </a:solidFill>
                <a:latin typeface="Arial" panose="020B0604020202020204" pitchFamily="34" charset="0"/>
                <a:cs typeface="Arial" panose="020B0604020202020204" pitchFamily="34" charset="0"/>
              </a:rPr>
              <a:t>thấy</a:t>
            </a:r>
            <a:r>
              <a:rPr lang="en-US" sz="2400" b="1">
                <a:solidFill>
                  <a:schemeClr val="accent1">
                    <a:lumMod val="50000"/>
                  </a:schemeClr>
                </a:solidFill>
                <a:latin typeface="Arial" panose="020B0604020202020204" pitchFamily="34" charset="0"/>
                <a:cs typeface="Arial" panose="020B0604020202020204" pitchFamily="34" charset="0"/>
              </a:rPr>
              <a:t> </a:t>
            </a:r>
            <a:r>
              <a:rPr lang="en-US" sz="2400" b="1" err="1">
                <a:solidFill>
                  <a:schemeClr val="accent1">
                    <a:lumMod val="50000"/>
                  </a:schemeClr>
                </a:solidFill>
                <a:latin typeface="Arial" panose="020B0604020202020204" pitchFamily="34" charset="0"/>
                <a:cs typeface="Arial" panose="020B0604020202020204" pitchFamily="34" charset="0"/>
              </a:rPr>
              <a:t>kích</a:t>
            </a:r>
            <a:r>
              <a:rPr lang="en-US" sz="2400" b="1">
                <a:solidFill>
                  <a:schemeClr val="accent1">
                    <a:lumMod val="50000"/>
                  </a:schemeClr>
                </a:solidFill>
                <a:latin typeface="Arial" panose="020B0604020202020204" pitchFamily="34" charset="0"/>
                <a:cs typeface="Arial" panose="020B0604020202020204" pitchFamily="34" charset="0"/>
              </a:rPr>
              <a:t> </a:t>
            </a:r>
            <a:r>
              <a:rPr lang="en-US" sz="2400" b="1" err="1">
                <a:solidFill>
                  <a:schemeClr val="accent1">
                    <a:lumMod val="50000"/>
                  </a:schemeClr>
                </a:solidFill>
                <a:latin typeface="Arial" panose="020B0604020202020204" pitchFamily="34" charset="0"/>
                <a:cs typeface="Arial" panose="020B0604020202020204" pitchFamily="34" charset="0"/>
              </a:rPr>
              <a:t>thích</a:t>
            </a:r>
            <a:r>
              <a:rPr lang="en-US" sz="2400" b="1">
                <a:solidFill>
                  <a:schemeClr val="accent1">
                    <a:lumMod val="50000"/>
                  </a:schemeClr>
                </a:solidFill>
                <a:latin typeface="Arial" panose="020B0604020202020204" pitchFamily="34" charset="0"/>
                <a:cs typeface="Arial" panose="020B0604020202020204" pitchFamily="34" charset="0"/>
              </a:rPr>
              <a:t>”</a:t>
            </a:r>
            <a:r>
              <a:rPr lang="en-US" sz="2400">
                <a:solidFill>
                  <a:schemeClr val="accent1">
                    <a:lumMod val="50000"/>
                  </a:schemeClr>
                </a:solidFill>
                <a:latin typeface="Arial" panose="020B0604020202020204" pitchFamily="34" charset="0"/>
                <a:cs typeface="Arial" panose="020B0604020202020204" pitchFamily="34" charset="0"/>
              </a:rPr>
              <a:t>, </a:t>
            </a:r>
            <a:r>
              <a:rPr lang="en-US" sz="2400" err="1">
                <a:solidFill>
                  <a:schemeClr val="accent1">
                    <a:lumMod val="50000"/>
                  </a:schemeClr>
                </a:solidFill>
                <a:latin typeface="Arial" panose="020B0604020202020204" pitchFamily="34" charset="0"/>
                <a:cs typeface="Arial" panose="020B0604020202020204" pitchFamily="34" charset="0"/>
              </a:rPr>
              <a:t>còn</a:t>
            </a:r>
            <a:r>
              <a:rPr lang="en-US" sz="2400">
                <a:solidFill>
                  <a:schemeClr val="accent1">
                    <a:lumMod val="50000"/>
                  </a:schemeClr>
                </a:solidFill>
                <a:latin typeface="Arial" panose="020B0604020202020204" pitchFamily="34" charset="0"/>
                <a:cs typeface="Arial" panose="020B0604020202020204" pitchFamily="34" charset="0"/>
              </a:rPr>
              <a:t> </a:t>
            </a:r>
            <a:r>
              <a:rPr lang="en-US" sz="2400" err="1">
                <a:solidFill>
                  <a:schemeClr val="accent1">
                    <a:lumMod val="50000"/>
                  </a:schemeClr>
                </a:solidFill>
                <a:latin typeface="Arial" panose="020B0604020202020204" pitchFamily="34" charset="0"/>
                <a:cs typeface="Arial" panose="020B0604020202020204" pitchFamily="34" charset="0"/>
              </a:rPr>
              <a:t>nhận</a:t>
            </a:r>
            <a:r>
              <a:rPr lang="en-US" sz="2400">
                <a:solidFill>
                  <a:schemeClr val="accent1">
                    <a:lumMod val="50000"/>
                  </a:schemeClr>
                </a:solidFill>
                <a:latin typeface="Arial" panose="020B0604020202020204" pitchFamily="34" charset="0"/>
                <a:cs typeface="Arial" panose="020B0604020202020204" pitchFamily="34" charset="0"/>
              </a:rPr>
              <a:t> </a:t>
            </a:r>
            <a:r>
              <a:rPr lang="en-US" sz="2400" err="1">
                <a:solidFill>
                  <a:schemeClr val="accent1">
                    <a:lumMod val="50000"/>
                  </a:schemeClr>
                </a:solidFill>
                <a:latin typeface="Arial" panose="020B0604020202020204" pitchFamily="34" charset="0"/>
                <a:cs typeface="Arial" panose="020B0604020202020204" pitchFamily="34" charset="0"/>
              </a:rPr>
              <a:t>thức</a:t>
            </a:r>
            <a:r>
              <a:rPr lang="en-US" sz="2400">
                <a:solidFill>
                  <a:schemeClr val="accent1">
                    <a:lumMod val="50000"/>
                  </a:schemeClr>
                </a:solidFill>
                <a:latin typeface="Arial" panose="020B0604020202020204" pitchFamily="34" charset="0"/>
                <a:cs typeface="Arial" panose="020B0604020202020204" pitchFamily="34" charset="0"/>
              </a:rPr>
              <a:t> </a:t>
            </a:r>
            <a:r>
              <a:rPr lang="en-US" sz="2400" err="1">
                <a:solidFill>
                  <a:schemeClr val="accent1">
                    <a:lumMod val="50000"/>
                  </a:schemeClr>
                </a:solidFill>
                <a:latin typeface="Arial" panose="020B0604020202020204" pitchFamily="34" charset="0"/>
                <a:cs typeface="Arial" panose="020B0604020202020204" pitchFamily="34" charset="0"/>
              </a:rPr>
              <a:t>là</a:t>
            </a:r>
            <a:r>
              <a:rPr lang="en-US" sz="2400">
                <a:solidFill>
                  <a:schemeClr val="accent1">
                    <a:lumMod val="50000"/>
                  </a:schemeClr>
                </a:solidFill>
                <a:latin typeface="Arial" panose="020B0604020202020204" pitchFamily="34" charset="0"/>
                <a:cs typeface="Arial" panose="020B0604020202020204" pitchFamily="34" charset="0"/>
              </a:rPr>
              <a:t> </a:t>
            </a:r>
            <a:r>
              <a:rPr lang="en-US" sz="2400" b="1">
                <a:solidFill>
                  <a:schemeClr val="accent1">
                    <a:lumMod val="50000"/>
                  </a:schemeClr>
                </a:solidFill>
                <a:latin typeface="Arial" panose="020B0604020202020204" pitchFamily="34" charset="0"/>
                <a:cs typeface="Arial" panose="020B0604020202020204" pitchFamily="34" charset="0"/>
              </a:rPr>
              <a:t>“</a:t>
            </a:r>
            <a:r>
              <a:rPr lang="en-US" sz="2400" b="1" err="1">
                <a:solidFill>
                  <a:schemeClr val="accent1">
                    <a:lumMod val="50000"/>
                  </a:schemeClr>
                </a:solidFill>
                <a:latin typeface="Arial" panose="020B0604020202020204" pitchFamily="34" charset="0"/>
                <a:cs typeface="Arial" panose="020B0604020202020204" pitchFamily="34" charset="0"/>
              </a:rPr>
              <a:t>hiểu</a:t>
            </a:r>
            <a:r>
              <a:rPr lang="en-US" sz="2400" b="1">
                <a:solidFill>
                  <a:schemeClr val="accent1">
                    <a:lumMod val="50000"/>
                  </a:schemeClr>
                </a:solidFill>
                <a:latin typeface="Arial" panose="020B0604020202020204" pitchFamily="34" charset="0"/>
                <a:cs typeface="Arial" panose="020B0604020202020204" pitchFamily="34" charset="0"/>
              </a:rPr>
              <a:t> </a:t>
            </a:r>
            <a:r>
              <a:rPr lang="en-US" sz="2400" b="1" err="1">
                <a:solidFill>
                  <a:schemeClr val="accent1">
                    <a:lumMod val="50000"/>
                  </a:schemeClr>
                </a:solidFill>
                <a:latin typeface="Arial" panose="020B0604020202020204" pitchFamily="34" charset="0"/>
                <a:cs typeface="Arial" panose="020B0604020202020204" pitchFamily="34" charset="0"/>
              </a:rPr>
              <a:t>kích</a:t>
            </a:r>
            <a:r>
              <a:rPr lang="en-US" sz="2400" b="1">
                <a:solidFill>
                  <a:schemeClr val="accent1">
                    <a:lumMod val="50000"/>
                  </a:schemeClr>
                </a:solidFill>
                <a:latin typeface="Arial" panose="020B0604020202020204" pitchFamily="34" charset="0"/>
                <a:cs typeface="Arial" panose="020B0604020202020204" pitchFamily="34" charset="0"/>
              </a:rPr>
              <a:t> </a:t>
            </a:r>
            <a:r>
              <a:rPr lang="en-US" sz="2400" b="1" err="1">
                <a:solidFill>
                  <a:schemeClr val="accent1">
                    <a:lumMod val="50000"/>
                  </a:schemeClr>
                </a:solidFill>
                <a:latin typeface="Arial" panose="020B0604020202020204" pitchFamily="34" charset="0"/>
                <a:cs typeface="Arial" panose="020B0604020202020204" pitchFamily="34" charset="0"/>
              </a:rPr>
              <a:t>thích</a:t>
            </a:r>
            <a:r>
              <a:rPr lang="en-US" sz="2400" b="1">
                <a:solidFill>
                  <a:schemeClr val="accent1">
                    <a:lumMod val="50000"/>
                  </a:schemeClr>
                </a:solidFill>
                <a:latin typeface="Arial" panose="020B0604020202020204" pitchFamily="34" charset="0"/>
                <a:cs typeface="Arial" panose="020B0604020202020204" pitchFamily="34" charset="0"/>
              </a:rPr>
              <a:t> </a:t>
            </a:r>
            <a:r>
              <a:rPr lang="en-US" sz="2400" b="1" err="1">
                <a:solidFill>
                  <a:schemeClr val="accent1">
                    <a:lumMod val="50000"/>
                  </a:schemeClr>
                </a:solidFill>
                <a:latin typeface="Arial" panose="020B0604020202020204" pitchFamily="34" charset="0"/>
                <a:cs typeface="Arial" panose="020B0604020202020204" pitchFamily="34" charset="0"/>
              </a:rPr>
              <a:t>đó</a:t>
            </a:r>
            <a:r>
              <a:rPr lang="en-US" sz="2400" b="1">
                <a:solidFill>
                  <a:schemeClr val="accent1">
                    <a:lumMod val="50000"/>
                  </a:schemeClr>
                </a:solidFill>
                <a:latin typeface="Arial" panose="020B0604020202020204" pitchFamily="34" charset="0"/>
                <a:cs typeface="Arial" panose="020B0604020202020204" pitchFamily="34" charset="0"/>
              </a:rPr>
              <a:t> </a:t>
            </a:r>
            <a:r>
              <a:rPr lang="en-US" sz="2400" b="1" err="1">
                <a:solidFill>
                  <a:schemeClr val="accent1">
                    <a:lumMod val="50000"/>
                  </a:schemeClr>
                </a:solidFill>
                <a:latin typeface="Arial" panose="020B0604020202020204" pitchFamily="34" charset="0"/>
                <a:cs typeface="Arial" panose="020B0604020202020204" pitchFamily="34" charset="0"/>
              </a:rPr>
              <a:t>có</a:t>
            </a:r>
            <a:r>
              <a:rPr lang="en-US" sz="2400" b="1">
                <a:solidFill>
                  <a:schemeClr val="accent1">
                    <a:lumMod val="50000"/>
                  </a:schemeClr>
                </a:solidFill>
                <a:latin typeface="Arial" panose="020B0604020202020204" pitchFamily="34" charset="0"/>
                <a:cs typeface="Arial" panose="020B0604020202020204" pitchFamily="34" charset="0"/>
              </a:rPr>
              <a:t> ý </a:t>
            </a:r>
            <a:r>
              <a:rPr lang="en-US" sz="2400" b="1" err="1">
                <a:solidFill>
                  <a:schemeClr val="accent1">
                    <a:lumMod val="50000"/>
                  </a:schemeClr>
                </a:solidFill>
                <a:latin typeface="Arial" panose="020B0604020202020204" pitchFamily="34" charset="0"/>
                <a:cs typeface="Arial" panose="020B0604020202020204" pitchFamily="34" charset="0"/>
              </a:rPr>
              <a:t>nghĩa</a:t>
            </a:r>
            <a:r>
              <a:rPr lang="en-US" sz="2400" b="1">
                <a:solidFill>
                  <a:schemeClr val="accent1">
                    <a:lumMod val="50000"/>
                  </a:schemeClr>
                </a:solidFill>
                <a:latin typeface="Arial" panose="020B0604020202020204" pitchFamily="34" charset="0"/>
                <a:cs typeface="Arial" panose="020B0604020202020204" pitchFamily="34" charset="0"/>
              </a:rPr>
              <a:t> </a:t>
            </a:r>
            <a:r>
              <a:rPr lang="en-US" sz="2400" b="1" err="1">
                <a:solidFill>
                  <a:schemeClr val="accent1">
                    <a:lumMod val="50000"/>
                  </a:schemeClr>
                </a:solidFill>
                <a:latin typeface="Arial" panose="020B0604020202020204" pitchFamily="34" charset="0"/>
                <a:cs typeface="Arial" panose="020B0604020202020204" pitchFamily="34" charset="0"/>
              </a:rPr>
              <a:t>gì</a:t>
            </a:r>
            <a:r>
              <a:rPr lang="en-US" sz="2400" b="1">
                <a:solidFill>
                  <a:schemeClr val="accent1">
                    <a:lumMod val="50000"/>
                  </a:schemeClr>
                </a:solidFill>
                <a:latin typeface="Arial" panose="020B0604020202020204" pitchFamily="34" charset="0"/>
                <a:cs typeface="Arial" panose="020B0604020202020204" pitchFamily="34" charset="0"/>
              </a:rPr>
              <a:t>”</a:t>
            </a:r>
            <a:r>
              <a:rPr lang="en-US" sz="2400">
                <a:solidFill>
                  <a:schemeClr val="accent1">
                    <a:lumMod val="50000"/>
                  </a:schemeClr>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78661440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a:xfrm>
            <a:off x="380999" y="-245357"/>
            <a:ext cx="10515600" cy="1325563"/>
          </a:xfrm>
        </p:spPr>
        <p:txBody>
          <a:bodyPr>
            <a:noAutofit/>
          </a:bodyPr>
          <a:lstStyle/>
          <a:p>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3.2.4 Quy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trình</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xây</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dựng</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nhận</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thức</a:t>
            </a:r>
            <a:endParaRPr lang="en-US" sz="280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85851B28-EE12-FEE3-9C1B-4096A753F502}"/>
              </a:ext>
            </a:extLst>
          </p:cNvPr>
          <p:cNvSpPr txBox="1"/>
          <p:nvPr/>
        </p:nvSpPr>
        <p:spPr>
          <a:xfrm>
            <a:off x="324553" y="695485"/>
            <a:ext cx="10572046" cy="769441"/>
          </a:xfrm>
          <a:prstGeom prst="rect">
            <a:avLst/>
          </a:prstGeom>
          <a:noFill/>
        </p:spPr>
        <p:txBody>
          <a:bodyPr wrap="square">
            <a:spAutoFit/>
          </a:bodyPr>
          <a:lstStyle/>
          <a:p>
            <a:r>
              <a:rPr lang="en-US" sz="2200" err="1">
                <a:latin typeface="Arial" panose="020B0604020202020204" pitchFamily="34" charset="0"/>
                <a:cs typeface="Arial" panose="020B0604020202020204" pitchFamily="34" charset="0"/>
              </a:rPr>
              <a:t>Tiếp</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nhận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kích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thích</a:t>
            </a:r>
            <a:r>
              <a:rPr lang="en-US" sz="2200">
                <a:latin typeface="Arial" panose="020B0604020202020204" pitchFamily="34" charset="0"/>
                <a:cs typeface="Arial" panose="020B0604020202020204" pitchFamily="34" charset="0"/>
              </a:rPr>
              <a:t> → </a:t>
            </a:r>
            <a:r>
              <a:rPr lang="en-US" sz="2200" err="1">
                <a:latin typeface="Arial" panose="020B0604020202020204" pitchFamily="34" charset="0"/>
                <a:cs typeface="Arial" panose="020B0604020202020204" pitchFamily="34" charset="0"/>
              </a:rPr>
              <a:t>Chú</a:t>
            </a:r>
            <a:r>
              <a:rPr lang="en-US" sz="2200">
                <a:latin typeface="Arial" panose="020B0604020202020204" pitchFamily="34" charset="0"/>
                <a:cs typeface="Arial" panose="020B0604020202020204" pitchFamily="34" charset="0"/>
              </a:rPr>
              <a:t> ý → </a:t>
            </a:r>
            <a:r>
              <a:rPr lang="en-US" sz="2200" err="1">
                <a:latin typeface="Arial" panose="020B0604020202020204" pitchFamily="34" charset="0"/>
                <a:cs typeface="Arial" panose="020B0604020202020204" pitchFamily="34" charset="0"/>
              </a:rPr>
              <a:t>Tổ</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chức</a:t>
            </a:r>
            <a:r>
              <a:rPr lang="en-US" sz="2200">
                <a:latin typeface="Arial" panose="020B0604020202020204" pitchFamily="34" charset="0"/>
                <a:cs typeface="Arial" panose="020B0604020202020204" pitchFamily="34" charset="0"/>
              </a:rPr>
              <a:t> &amp; </a:t>
            </a:r>
            <a:r>
              <a:rPr lang="en-US" sz="2200" err="1">
                <a:latin typeface="Arial" panose="020B0604020202020204" pitchFamily="34" charset="0"/>
                <a:cs typeface="Arial" panose="020B0604020202020204" pitchFamily="34" charset="0"/>
              </a:rPr>
              <a:t>Giải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nghĩa</a:t>
            </a:r>
            <a:r>
              <a:rPr lang="en-US" sz="2200">
                <a:latin typeface="Arial" panose="020B0604020202020204" pitchFamily="34" charset="0"/>
                <a:cs typeface="Arial" panose="020B0604020202020204" pitchFamily="34" charset="0"/>
              </a:rPr>
              <a:t> → </a:t>
            </a:r>
            <a:r>
              <a:rPr lang="en-US" sz="2200" err="1">
                <a:latin typeface="Arial" panose="020B0604020202020204" pitchFamily="34" charset="0"/>
                <a:cs typeface="Arial" panose="020B0604020202020204" pitchFamily="34" charset="0"/>
              </a:rPr>
              <a:t>Ghi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nhớ</a:t>
            </a:r>
            <a:r>
              <a:rPr lang="en-US" sz="2200">
                <a:latin typeface="Arial" panose="020B0604020202020204" pitchFamily="34" charset="0"/>
                <a:cs typeface="Arial" panose="020B0604020202020204" pitchFamily="34" charset="0"/>
              </a:rPr>
              <a:t> → </a:t>
            </a:r>
            <a:r>
              <a:rPr lang="en-US" sz="2200" err="1">
                <a:latin typeface="Arial" panose="020B0604020202020204" pitchFamily="34" charset="0"/>
                <a:cs typeface="Arial" panose="020B0604020202020204" pitchFamily="34" charset="0"/>
              </a:rPr>
              <a:t>Hình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thành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nhận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thức</a:t>
            </a:r>
            <a:r>
              <a:rPr lang="en-US" sz="2200">
                <a:latin typeface="Arial" panose="020B0604020202020204" pitchFamily="34" charset="0"/>
                <a:cs typeface="Arial" panose="020B0604020202020204" pitchFamily="34" charset="0"/>
              </a:rPr>
              <a:t> → </a:t>
            </a:r>
            <a:r>
              <a:rPr lang="en-US" sz="2200" err="1">
                <a:latin typeface="Arial" panose="020B0604020202020204" pitchFamily="34" charset="0"/>
                <a:cs typeface="Arial" panose="020B0604020202020204" pitchFamily="34" charset="0"/>
              </a:rPr>
              <a:t>Hành</a:t>
            </a:r>
            <a:r>
              <a:rPr lang="en-US" sz="2200">
                <a:latin typeface="Arial" panose="020B0604020202020204" pitchFamily="34" charset="0"/>
                <a:cs typeface="Arial" panose="020B0604020202020204" pitchFamily="34" charset="0"/>
              </a:rPr>
              <a:t> vi</a:t>
            </a:r>
          </a:p>
        </p:txBody>
      </p:sp>
      <p:sp>
        <p:nvSpPr>
          <p:cNvPr id="9" name="TextBox 8">
            <a:extLst>
              <a:ext uri="{FF2B5EF4-FFF2-40B4-BE49-F238E27FC236}">
                <a16:creationId xmlns:a16="http://schemas.microsoft.com/office/drawing/2014/main" id="{C8BEF364-5445-E660-6BA0-46B62E34301E}"/>
              </a:ext>
            </a:extLst>
          </p:cNvPr>
          <p:cNvSpPr txBox="1"/>
          <p:nvPr/>
        </p:nvSpPr>
        <p:spPr>
          <a:xfrm>
            <a:off x="352776" y="1454499"/>
            <a:ext cx="10699045" cy="5170646"/>
          </a:xfrm>
          <a:prstGeom prst="rect">
            <a:avLst/>
          </a:prstGeom>
          <a:noFill/>
        </p:spPr>
        <p:txBody>
          <a:bodyPr wrap="square">
            <a:spAutoFit/>
          </a:bodyPr>
          <a:lstStyle/>
          <a:p>
            <a:pPr>
              <a:buNone/>
            </a:pPr>
            <a:r>
              <a:rPr lang="en-US" sz="2200" b="1" err="1">
                <a:latin typeface="Arial" panose="020B0604020202020204" pitchFamily="34" charset="0"/>
                <a:cs typeface="Arial" panose="020B0604020202020204" pitchFamily="34" charset="0"/>
              </a:rPr>
              <a:t>Tiếp</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nhận</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kích</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thích</a:t>
            </a:r>
            <a:endParaRPr lang="en-US" sz="220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sz="2200">
                <a:latin typeface="Arial" panose="020B0604020202020204" pitchFamily="34" charset="0"/>
                <a:cs typeface="Arial" panose="020B0604020202020204" pitchFamily="34" charset="0"/>
              </a:rPr>
              <a:t>Qua 5 </a:t>
            </a:r>
            <a:r>
              <a:rPr lang="en-US" sz="2200" err="1">
                <a:latin typeface="Arial" panose="020B0604020202020204" pitchFamily="34" charset="0"/>
                <a:cs typeface="Arial" panose="020B0604020202020204" pitchFamily="34" charset="0"/>
              </a:rPr>
              <a:t>giác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quan</a:t>
            </a:r>
            <a:r>
              <a:rPr lang="en-US" sz="2200">
                <a:latin typeface="Arial" panose="020B0604020202020204" pitchFamily="34" charset="0"/>
                <a:cs typeface="Arial" panose="020B0604020202020204" pitchFamily="34" charset="0"/>
              </a:rPr>
              <a:t> </a:t>
            </a:r>
          </a:p>
          <a:p>
            <a:pPr marL="342900" lvl="0" indent="-342900">
              <a:buFont typeface="Arial" panose="020B0604020202020204" pitchFamily="34" charset="0"/>
              <a:buChar char="•"/>
            </a:pPr>
            <a:r>
              <a:rPr lang="en-US" sz="2200" err="1">
                <a:latin typeface="Arial" panose="020B0604020202020204" pitchFamily="34" charset="0"/>
                <a:cs typeface="Arial" panose="020B0604020202020204" pitchFamily="34" charset="0"/>
              </a:rPr>
              <a:t>Có</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thể</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ngẫu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nhiên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hoặc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có</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chọn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lọc</a:t>
            </a:r>
            <a:r>
              <a:rPr lang="en-US" sz="2200">
                <a:latin typeface="Arial" panose="020B0604020202020204" pitchFamily="34" charset="0"/>
                <a:cs typeface="Arial" panose="020B0604020202020204" pitchFamily="34" charset="0"/>
              </a:rPr>
              <a:t> </a:t>
            </a:r>
          </a:p>
          <a:p>
            <a:pPr>
              <a:buNone/>
            </a:pPr>
            <a:r>
              <a:rPr lang="en-US" sz="2200" b="1" err="1">
                <a:latin typeface="Arial" panose="020B0604020202020204" pitchFamily="34" charset="0"/>
                <a:cs typeface="Arial" panose="020B0604020202020204" pitchFamily="34" charset="0"/>
              </a:rPr>
              <a:t>Chú</a:t>
            </a:r>
            <a:r>
              <a:rPr lang="en-US" sz="2200" b="1">
                <a:latin typeface="Arial" panose="020B0604020202020204" pitchFamily="34" charset="0"/>
                <a:cs typeface="Arial" panose="020B0604020202020204" pitchFamily="34" charset="0"/>
              </a:rPr>
              <a:t> ý</a:t>
            </a:r>
            <a:endParaRPr lang="en-US" sz="220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sz="2200" err="1">
                <a:latin typeface="Arial" panose="020B0604020202020204" pitchFamily="34" charset="0"/>
                <a:cs typeface="Arial" panose="020B0604020202020204" pitchFamily="34" charset="0"/>
              </a:rPr>
              <a:t>Phụ</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thuộc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vào</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yếu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tố</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cá</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nhân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tình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huống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và</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đặc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điểm</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kích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thích</a:t>
            </a:r>
            <a:r>
              <a:rPr lang="en-US" sz="2200">
                <a:latin typeface="Arial" panose="020B0604020202020204" pitchFamily="34" charset="0"/>
                <a:cs typeface="Arial" panose="020B0604020202020204" pitchFamily="34" charset="0"/>
              </a:rPr>
              <a:t> </a:t>
            </a:r>
          </a:p>
          <a:p>
            <a:pPr marL="342900" lvl="0" indent="-342900">
              <a:buFont typeface="Arial" panose="020B0604020202020204" pitchFamily="34" charset="0"/>
              <a:buChar char="•"/>
            </a:pPr>
            <a:r>
              <a:rPr lang="en-US" sz="2200" err="1">
                <a:latin typeface="Arial" panose="020B0604020202020204" pitchFamily="34" charset="0"/>
                <a:cs typeface="Arial" panose="020B0604020202020204" pitchFamily="34" charset="0"/>
              </a:rPr>
              <a:t>Có</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tính</a:t>
            </a:r>
            <a:r>
              <a:rPr lang="en-US" sz="2200">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chọn</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lọc</a:t>
            </a:r>
            <a:r>
              <a:rPr lang="en-US" sz="2200">
                <a:latin typeface="Arial" panose="020B0604020202020204" pitchFamily="34" charset="0"/>
                <a:cs typeface="Arial" panose="020B0604020202020204" pitchFamily="34" charset="0"/>
              </a:rPr>
              <a:t> </a:t>
            </a:r>
          </a:p>
          <a:p>
            <a:pPr>
              <a:buNone/>
            </a:pPr>
            <a:r>
              <a:rPr lang="en-US" sz="2200" b="1" err="1">
                <a:latin typeface="Arial" panose="020B0604020202020204" pitchFamily="34" charset="0"/>
                <a:cs typeface="Arial" panose="020B0604020202020204" pitchFamily="34" charset="0"/>
              </a:rPr>
              <a:t>Tổ</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chức</a:t>
            </a:r>
            <a:r>
              <a:rPr lang="en-US" sz="2200" b="1">
                <a:latin typeface="Arial" panose="020B0604020202020204" pitchFamily="34" charset="0"/>
                <a:cs typeface="Arial" panose="020B0604020202020204" pitchFamily="34" charset="0"/>
              </a:rPr>
              <a:t> &amp; </a:t>
            </a:r>
            <a:r>
              <a:rPr lang="en-US" sz="2200" b="1" err="1">
                <a:latin typeface="Arial" panose="020B0604020202020204" pitchFamily="34" charset="0"/>
                <a:cs typeface="Arial" panose="020B0604020202020204" pitchFamily="34" charset="0"/>
              </a:rPr>
              <a:t>giải</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nghĩa</a:t>
            </a:r>
            <a:endParaRPr lang="en-US" sz="220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sz="2200" err="1">
                <a:latin typeface="Arial" panose="020B0604020202020204" pitchFamily="34" charset="0"/>
                <a:cs typeface="Arial" panose="020B0604020202020204" pitchFamily="34" charset="0"/>
              </a:rPr>
              <a:t>Bộ</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não</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sắp</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xếp</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thông</a:t>
            </a:r>
            <a:r>
              <a:rPr lang="en-US" sz="2200">
                <a:latin typeface="Arial" panose="020B0604020202020204" pitchFamily="34" charset="0"/>
                <a:cs typeface="Arial" panose="020B0604020202020204" pitchFamily="34" charset="0"/>
              </a:rPr>
              <a:t> tin </a:t>
            </a:r>
            <a:r>
              <a:rPr lang="en-US" sz="2200" err="1">
                <a:latin typeface="Arial" panose="020B0604020202020204" pitchFamily="34" charset="0"/>
                <a:cs typeface="Arial" panose="020B0604020202020204" pitchFamily="34" charset="0"/>
              </a:rPr>
              <a:t>theo</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nguyên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tắc</a:t>
            </a:r>
            <a:r>
              <a:rPr lang="en-US" sz="2200">
                <a:latin typeface="Arial" panose="020B0604020202020204" pitchFamily="34" charset="0"/>
                <a:cs typeface="Arial" panose="020B0604020202020204" pitchFamily="34" charset="0"/>
              </a:rPr>
              <a:t> Gestalt </a:t>
            </a:r>
          </a:p>
          <a:p>
            <a:pPr marL="342900" lvl="0" indent="-342900">
              <a:buFont typeface="Arial" panose="020B0604020202020204" pitchFamily="34" charset="0"/>
              <a:buChar char="•"/>
            </a:pPr>
            <a:r>
              <a:rPr lang="en-US" sz="2200" err="1">
                <a:latin typeface="Arial" panose="020B0604020202020204" pitchFamily="34" charset="0"/>
                <a:cs typeface="Arial" panose="020B0604020202020204" pitchFamily="34" charset="0"/>
              </a:rPr>
              <a:t>Gán</a:t>
            </a:r>
            <a:r>
              <a:rPr lang="en-US" sz="2200">
                <a:latin typeface="Arial" panose="020B0604020202020204" pitchFamily="34" charset="0"/>
                <a:cs typeface="Arial" panose="020B0604020202020204" pitchFamily="34" charset="0"/>
              </a:rPr>
              <a:t> ý </a:t>
            </a:r>
            <a:r>
              <a:rPr lang="en-US" sz="2200" err="1">
                <a:latin typeface="Arial" panose="020B0604020202020204" pitchFamily="34" charset="0"/>
                <a:cs typeface="Arial" panose="020B0604020202020204" pitchFamily="34" charset="0"/>
              </a:rPr>
              <a:t>nghĩa</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dựa</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trên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kinh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nghiệm</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kỳ</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vọng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và</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bối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cảnh</a:t>
            </a:r>
            <a:r>
              <a:rPr lang="en-US" sz="2200">
                <a:latin typeface="Arial" panose="020B0604020202020204" pitchFamily="34" charset="0"/>
                <a:cs typeface="Arial" panose="020B0604020202020204" pitchFamily="34" charset="0"/>
              </a:rPr>
              <a:t> </a:t>
            </a:r>
          </a:p>
          <a:p>
            <a:pPr>
              <a:buNone/>
            </a:pPr>
            <a:r>
              <a:rPr lang="en-US" sz="2200" b="1" err="1">
                <a:latin typeface="Arial" panose="020B0604020202020204" pitchFamily="34" charset="0"/>
                <a:cs typeface="Arial" panose="020B0604020202020204" pitchFamily="34" charset="0"/>
              </a:rPr>
              <a:t>Ghi</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nhớ</a:t>
            </a:r>
            <a:endParaRPr lang="en-US" sz="220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sz="2200" err="1">
                <a:latin typeface="Arial" panose="020B0604020202020204" pitchFamily="34" charset="0"/>
                <a:cs typeface="Arial" panose="020B0604020202020204" pitchFamily="34" charset="0"/>
              </a:rPr>
              <a:t>Bộ</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nhớ</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ngắn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hạn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và</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dài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hạn</a:t>
            </a:r>
            <a:r>
              <a:rPr lang="en-US" sz="2200">
                <a:latin typeface="Arial" panose="020B0604020202020204" pitchFamily="34" charset="0"/>
                <a:cs typeface="Arial" panose="020B0604020202020204" pitchFamily="34" charset="0"/>
              </a:rPr>
              <a:t> </a:t>
            </a:r>
          </a:p>
          <a:p>
            <a:pPr marL="342900" lvl="0" indent="-342900">
              <a:buFont typeface="Arial" panose="020B0604020202020204" pitchFamily="34" charset="0"/>
              <a:buChar char="•"/>
            </a:pPr>
            <a:r>
              <a:rPr lang="en-US" sz="2200" err="1">
                <a:latin typeface="Arial" panose="020B0604020202020204" pitchFamily="34" charset="0"/>
                <a:cs typeface="Arial" panose="020B0604020202020204" pitchFamily="34" charset="0"/>
              </a:rPr>
              <a:t>Lặp</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lại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hình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ảnh</a:t>
            </a:r>
            <a:r>
              <a:rPr lang="en-US" sz="2200">
                <a:latin typeface="Arial" panose="020B0604020202020204" pitchFamily="34" charset="0"/>
                <a:cs typeface="Arial" panose="020B0604020202020204" pitchFamily="34" charset="0"/>
              </a:rPr>
              <a:t>, storytelling </a:t>
            </a:r>
            <a:r>
              <a:rPr lang="en-US" sz="2200" err="1">
                <a:latin typeface="Arial" panose="020B0604020202020204" pitchFamily="34" charset="0"/>
                <a:cs typeface="Arial" panose="020B0604020202020204" pitchFamily="34" charset="0"/>
              </a:rPr>
              <a:t>và</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đa</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kênh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giúp</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tăng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khả</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năng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ghi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nhớ</a:t>
            </a:r>
            <a:r>
              <a:rPr lang="en-US" sz="2200">
                <a:latin typeface="Arial" panose="020B0604020202020204" pitchFamily="34" charset="0"/>
                <a:cs typeface="Arial" panose="020B0604020202020204" pitchFamily="34" charset="0"/>
              </a:rPr>
              <a:t> </a:t>
            </a:r>
          </a:p>
          <a:p>
            <a:pPr>
              <a:buNone/>
            </a:pPr>
            <a:r>
              <a:rPr lang="en-US" sz="2200" b="1" err="1">
                <a:latin typeface="Arial" panose="020B0604020202020204" pitchFamily="34" charset="0"/>
                <a:cs typeface="Arial" panose="020B0604020202020204" pitchFamily="34" charset="0"/>
              </a:rPr>
              <a:t>Kết</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quả</a:t>
            </a:r>
            <a:endParaRPr lang="en-US" sz="220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sz="2200" err="1">
                <a:latin typeface="Arial" panose="020B0604020202020204" pitchFamily="34" charset="0"/>
                <a:cs typeface="Arial" panose="020B0604020202020204" pitchFamily="34" charset="0"/>
              </a:rPr>
              <a:t>Hình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thành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nhận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thức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về</a:t>
            </a:r>
            <a:r>
              <a:rPr lang="en-US" sz="2200">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sản</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phẩm</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thương</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hiệu</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giá</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trị</a:t>
            </a:r>
            <a:r>
              <a:rPr lang="en-US" sz="2200">
                <a:latin typeface="Arial" panose="020B0604020202020204" pitchFamily="34" charset="0"/>
                <a:cs typeface="Arial" panose="020B0604020202020204" pitchFamily="34" charset="0"/>
              </a:rPr>
              <a:t> </a:t>
            </a:r>
          </a:p>
          <a:p>
            <a:pPr marL="342900" lvl="0" indent="-342900">
              <a:buFont typeface="Arial" panose="020B0604020202020204" pitchFamily="34" charset="0"/>
              <a:buChar char="•"/>
            </a:pPr>
            <a:r>
              <a:rPr lang="en-US" sz="2200" err="1">
                <a:latin typeface="Arial" panose="020B0604020202020204" pitchFamily="34" charset="0"/>
                <a:cs typeface="Arial" panose="020B0604020202020204" pitchFamily="34" charset="0"/>
              </a:rPr>
              <a:t>Từ</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đó</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ảnh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hưởng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đến</a:t>
            </a:r>
            <a:r>
              <a:rPr lang="en-US" sz="2200">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đánh</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giá</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và</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hành</a:t>
            </a:r>
            <a:r>
              <a:rPr lang="en-US" sz="2200" b="1">
                <a:latin typeface="Arial" panose="020B0604020202020204" pitchFamily="34" charset="0"/>
                <a:cs typeface="Arial" panose="020B0604020202020204" pitchFamily="34" charset="0"/>
              </a:rPr>
              <a:t> vi </a:t>
            </a:r>
            <a:r>
              <a:rPr lang="en-US" sz="2200" b="1" err="1">
                <a:latin typeface="Arial" panose="020B0604020202020204" pitchFamily="34" charset="0"/>
                <a:cs typeface="Arial" panose="020B0604020202020204" pitchFamily="34" charset="0"/>
              </a:rPr>
              <a:t>mua</a:t>
            </a:r>
            <a:endParaRPr lang="en-US" sz="2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612732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a:xfrm>
            <a:off x="113030" y="10213"/>
            <a:ext cx="10768330" cy="1243118"/>
          </a:xfrm>
        </p:spPr>
        <p:txBody>
          <a:bodyPr>
            <a:normAutofit/>
          </a:bodyPr>
          <a:lstStyle/>
          <a:p>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3.2.5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Ứng</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d</a:t>
            </a:r>
            <a:r>
              <a:rPr lang="en-US" sz="2800" b="1" kern="0" err="1">
                <a:latin typeface="Arial" panose="020B0604020202020204" pitchFamily="34" charset="0"/>
                <a:ea typeface="Times New Roman" panose="02020603050405020304" pitchFamily="18" charset="0"/>
                <a:cs typeface="Arial" panose="020B0604020202020204" pitchFamily="34" charset="0"/>
              </a:rPr>
              <a:t>ụng</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của</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nhận</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thức</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vào</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các</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chiến</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lược</a:t>
            </a:r>
            <a:r>
              <a:rPr lang="en-US" sz="2800" b="1" kern="0">
                <a:latin typeface="Arial" panose="020B0604020202020204" pitchFamily="34" charset="0"/>
                <a:ea typeface="Times New Roman" panose="02020603050405020304" pitchFamily="18" charset="0"/>
                <a:cs typeface="Arial" panose="020B0604020202020204" pitchFamily="34" charset="0"/>
              </a:rPr>
              <a:t> marketing</a:t>
            </a:r>
            <a:endParaRPr lang="en-US" sz="280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a:xfrm>
            <a:off x="330200" y="1253331"/>
            <a:ext cx="11531600" cy="4351338"/>
          </a:xfrm>
        </p:spPr>
        <p:txBody>
          <a:bodyPr vert="horz" lIns="91440" tIns="45720" rIns="91440" bIns="45720" rtlCol="0">
            <a:noAutofit/>
          </a:bodyPr>
          <a:lstStyle/>
          <a:p>
            <a:pPr marL="0" indent="0">
              <a:buNone/>
            </a:pPr>
            <a:r>
              <a:rPr lang="en-US" sz="2200" b="1">
                <a:latin typeface="Arial" panose="020B0604020202020204" pitchFamily="34" charset="0"/>
                <a:cs typeface="Arial" panose="020B0604020202020204" pitchFamily="34" charset="0"/>
              </a:rPr>
              <a:t>1. </a:t>
            </a:r>
            <a:r>
              <a:rPr lang="en-US" sz="2200" b="1" err="1">
                <a:latin typeface="Arial" panose="020B0604020202020204" pitchFamily="34" charset="0"/>
                <a:cs typeface="Arial" panose="020B0604020202020204" pitchFamily="34" charset="0"/>
              </a:rPr>
              <a:t>Chất</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lượng</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cảm</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nhận</a:t>
            </a:r>
            <a:endParaRPr lang="en-US" sz="2200">
              <a:latin typeface="Arial" panose="020B0604020202020204" pitchFamily="34" charset="0"/>
              <a:cs typeface="Arial" panose="020B0604020202020204" pitchFamily="34" charset="0"/>
            </a:endParaRPr>
          </a:p>
          <a:p>
            <a:pPr lvl="0"/>
            <a:r>
              <a:rPr lang="en-US" sz="2200" err="1">
                <a:latin typeface="Arial" panose="020B0604020202020204" pitchFamily="34" charset="0"/>
                <a:cs typeface="Arial" panose="020B0604020202020204" pitchFamily="34" charset="0"/>
              </a:rPr>
              <a:t>Người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tiêu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dùng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không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chỉ</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dựa</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vào</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chất</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lượng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thực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tế</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mà</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còn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dựa</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vào</a:t>
            </a:r>
            <a:r>
              <a:rPr lang="en-US" sz="2200">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tín</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hiệu</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bên</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trong</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và</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bên</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ngoài</a:t>
            </a:r>
            <a:r>
              <a:rPr lang="en-US" sz="2200">
                <a:latin typeface="Arial" panose="020B0604020202020204" pitchFamily="34" charset="0"/>
                <a:cs typeface="Arial" panose="020B0604020202020204" pitchFamily="34" charset="0"/>
              </a:rPr>
              <a:t>. </a:t>
            </a:r>
          </a:p>
          <a:p>
            <a:pPr lvl="0"/>
            <a:r>
              <a:rPr lang="en-US" sz="2200" err="1">
                <a:latin typeface="Arial" panose="020B0604020202020204" pitchFamily="34" charset="0"/>
                <a:cs typeface="Arial" panose="020B0604020202020204" pitchFamily="34" charset="0"/>
              </a:rPr>
              <a:t>Tín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hiệu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bên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trong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kích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thước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màu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sắc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mùi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hương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vị</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cảm</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giác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khi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sử</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dụng</a:t>
            </a:r>
            <a:r>
              <a:rPr lang="en-US" sz="2200">
                <a:latin typeface="Arial" panose="020B0604020202020204" pitchFamily="34" charset="0"/>
                <a:cs typeface="Arial" panose="020B0604020202020204" pitchFamily="34" charset="0"/>
              </a:rPr>
              <a:t>. </a:t>
            </a:r>
          </a:p>
          <a:p>
            <a:pPr lvl="0"/>
            <a:r>
              <a:rPr lang="en-US" sz="2200" err="1">
                <a:latin typeface="Arial" panose="020B0604020202020204" pitchFamily="34" charset="0"/>
                <a:cs typeface="Arial" panose="020B0604020202020204" pitchFamily="34" charset="0"/>
              </a:rPr>
              <a:t>Tín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hiệu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bên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ngoài</a:t>
            </a:r>
            <a:r>
              <a:rPr lang="en-US" sz="2200">
                <a:latin typeface="Arial" panose="020B0604020202020204" pitchFamily="34" charset="0"/>
                <a:cs typeface="Arial" panose="020B0604020202020204" pitchFamily="34" charset="0"/>
              </a:rPr>
              <a:t>: bao </a:t>
            </a:r>
            <a:r>
              <a:rPr lang="en-US" sz="2200" err="1">
                <a:latin typeface="Arial" panose="020B0604020202020204" pitchFamily="34" charset="0"/>
                <a:cs typeface="Arial" panose="020B0604020202020204" pitchFamily="34" charset="0"/>
              </a:rPr>
              <a:t>bì</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thương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hiệu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cơ</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sở</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vật</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chất</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đồng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phục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nhân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viên</a:t>
            </a:r>
            <a:r>
              <a:rPr lang="en-US" sz="2200">
                <a:latin typeface="Arial" panose="020B0604020202020204" pitchFamily="34" charset="0"/>
                <a:cs typeface="Arial" panose="020B0604020202020204" pitchFamily="34" charset="0"/>
              </a:rPr>
              <a:t>. </a:t>
            </a:r>
          </a:p>
          <a:p>
            <a:pPr marL="0" indent="0">
              <a:buNone/>
            </a:pPr>
            <a:r>
              <a:rPr lang="en-US" sz="2200" b="1">
                <a:latin typeface="Arial" panose="020B0604020202020204" pitchFamily="34" charset="0"/>
                <a:cs typeface="Arial" panose="020B0604020202020204" pitchFamily="34" charset="0"/>
              </a:rPr>
              <a:t>2. </a:t>
            </a:r>
            <a:r>
              <a:rPr lang="en-US" sz="2200" b="1" err="1">
                <a:latin typeface="Arial" panose="020B0604020202020204" pitchFamily="34" charset="0"/>
                <a:cs typeface="Arial" panose="020B0604020202020204" pitchFamily="34" charset="0"/>
              </a:rPr>
              <a:t>Hình</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ảnh</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thương</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hiệu</a:t>
            </a:r>
            <a:r>
              <a:rPr lang="en-US" sz="2200" b="1">
                <a:latin typeface="Arial" panose="020B0604020202020204" pitchFamily="34" charset="0"/>
                <a:cs typeface="Arial" panose="020B0604020202020204" pitchFamily="34" charset="0"/>
              </a:rPr>
              <a:t> &amp; bao </a:t>
            </a:r>
            <a:r>
              <a:rPr lang="en-US" sz="2200" b="1" err="1">
                <a:latin typeface="Arial" panose="020B0604020202020204" pitchFamily="34" charset="0"/>
                <a:cs typeface="Arial" panose="020B0604020202020204" pitchFamily="34" charset="0"/>
              </a:rPr>
              <a:t>bì</a:t>
            </a:r>
            <a:endParaRPr lang="en-US" sz="2200">
              <a:latin typeface="Arial" panose="020B0604020202020204" pitchFamily="34" charset="0"/>
              <a:cs typeface="Arial" panose="020B0604020202020204" pitchFamily="34" charset="0"/>
            </a:endParaRPr>
          </a:p>
          <a:p>
            <a:pPr lvl="0"/>
            <a:r>
              <a:rPr lang="en-US" sz="2200" err="1">
                <a:latin typeface="Arial" panose="020B0604020202020204" pitchFamily="34" charset="0"/>
                <a:cs typeface="Arial" panose="020B0604020202020204" pitchFamily="34" charset="0"/>
              </a:rPr>
              <a:t>Mỗi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lần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tiếp</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xúc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góp</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phần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tạo</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nên</a:t>
            </a:r>
            <a:r>
              <a:rPr lang="en-US" sz="2200">
                <a:latin typeface="Arial" panose="020B0604020202020204" pitchFamily="34" charset="0"/>
                <a:cs typeface="Arial" panose="020B0604020202020204" pitchFamily="34" charset="0"/>
              </a:rPr>
              <a:t> </a:t>
            </a:r>
            <a:r>
              <a:rPr lang="en-US" sz="2200" b="1">
                <a:latin typeface="Arial" panose="020B0604020202020204" pitchFamily="34" charset="0"/>
                <a:cs typeface="Arial" panose="020B0604020202020204" pitchFamily="34" charset="0"/>
              </a:rPr>
              <a:t>brand image</a:t>
            </a:r>
            <a:r>
              <a:rPr lang="en-US" sz="2200">
                <a:latin typeface="Arial" panose="020B0604020202020204" pitchFamily="34" charset="0"/>
                <a:cs typeface="Arial" panose="020B0604020202020204" pitchFamily="34" charset="0"/>
              </a:rPr>
              <a:t>. </a:t>
            </a:r>
          </a:p>
          <a:p>
            <a:pPr lvl="0"/>
            <a:r>
              <a:rPr lang="en-US" sz="2200">
                <a:latin typeface="Arial" panose="020B0604020202020204" pitchFamily="34" charset="0"/>
                <a:cs typeface="Arial" panose="020B0604020202020204" pitchFamily="34" charset="0"/>
              </a:rPr>
              <a:t>Bao </a:t>
            </a:r>
            <a:r>
              <a:rPr lang="en-US" sz="2200" err="1">
                <a:latin typeface="Arial" panose="020B0604020202020204" pitchFamily="34" charset="0"/>
                <a:cs typeface="Arial" panose="020B0604020202020204" pitchFamily="34" charset="0"/>
              </a:rPr>
              <a:t>bì</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truyền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tải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thông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điệp</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về</a:t>
            </a:r>
            <a:r>
              <a:rPr lang="en-US" sz="2200">
                <a:latin typeface="Arial" panose="020B0604020202020204" pitchFamily="34" charset="0"/>
                <a:cs typeface="Arial" panose="020B0604020202020204" pitchFamily="34" charset="0"/>
              </a:rPr>
              <a:t>: </a:t>
            </a:r>
          </a:p>
          <a:p>
            <a:pPr lvl="1"/>
            <a:r>
              <a:rPr lang="en-US" sz="2200" err="1">
                <a:latin typeface="Arial" panose="020B0604020202020204" pitchFamily="34" charset="0"/>
                <a:cs typeface="Arial" panose="020B0604020202020204" pitchFamily="34" charset="0"/>
              </a:rPr>
              <a:t>sức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mạnh</a:t>
            </a:r>
            <a:r>
              <a:rPr lang="en-US" sz="2200">
                <a:latin typeface="Arial" panose="020B0604020202020204" pitchFamily="34" charset="0"/>
                <a:cs typeface="Arial" panose="020B0604020202020204" pitchFamily="34" charset="0"/>
              </a:rPr>
              <a:t> </a:t>
            </a:r>
          </a:p>
          <a:p>
            <a:pPr lvl="1"/>
            <a:r>
              <a:rPr lang="en-US" sz="2200" err="1">
                <a:latin typeface="Arial" panose="020B0604020202020204" pitchFamily="34" charset="0"/>
                <a:cs typeface="Arial" panose="020B0604020202020204" pitchFamily="34" charset="0"/>
              </a:rPr>
              <a:t>sự</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dịu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nhẹ</a:t>
            </a:r>
            <a:r>
              <a:rPr lang="en-US" sz="2200">
                <a:latin typeface="Arial" panose="020B0604020202020204" pitchFamily="34" charset="0"/>
                <a:cs typeface="Arial" panose="020B0604020202020204" pitchFamily="34" charset="0"/>
              </a:rPr>
              <a:t> </a:t>
            </a:r>
          </a:p>
          <a:p>
            <a:pPr lvl="1"/>
            <a:r>
              <a:rPr lang="en-US" sz="2200" err="1">
                <a:latin typeface="Arial" panose="020B0604020202020204" pitchFamily="34" charset="0"/>
                <a:cs typeface="Arial" panose="020B0604020202020204" pitchFamily="34" charset="0"/>
              </a:rPr>
              <a:t>cao</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cấp</a:t>
            </a:r>
            <a:r>
              <a:rPr lang="en-US" sz="2200">
                <a:latin typeface="Arial" panose="020B0604020202020204" pitchFamily="34" charset="0"/>
                <a:cs typeface="Arial" panose="020B0604020202020204" pitchFamily="34" charset="0"/>
              </a:rPr>
              <a:t> </a:t>
            </a:r>
          </a:p>
          <a:p>
            <a:pPr lvl="1"/>
            <a:r>
              <a:rPr lang="en-US" sz="2200" err="1">
                <a:latin typeface="Arial" panose="020B0604020202020204" pitchFamily="34" charset="0"/>
                <a:cs typeface="Arial" panose="020B0604020202020204" pitchFamily="34" charset="0"/>
              </a:rPr>
              <a:t>hiện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đại</a:t>
            </a:r>
            <a:r>
              <a:rPr lang="en-US" sz="2200">
                <a:latin typeface="Arial" panose="020B0604020202020204" pitchFamily="34" charset="0"/>
                <a:cs typeface="Arial" panose="020B0604020202020204" pitchFamily="34" charset="0"/>
              </a:rPr>
              <a:t> </a:t>
            </a:r>
          </a:p>
          <a:p>
            <a:pPr lvl="1"/>
            <a:r>
              <a:rPr lang="en-US" sz="2200" err="1">
                <a:latin typeface="Arial" panose="020B0604020202020204" pitchFamily="34" charset="0"/>
                <a:cs typeface="Arial" panose="020B0604020202020204" pitchFamily="34" charset="0"/>
              </a:rPr>
              <a:t>chuyên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nghiệp</a:t>
            </a:r>
            <a:r>
              <a:rPr lang="en-US" sz="220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49773133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E9F2A-8B62-EA55-7DE9-7099931C20F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EB5C4C5-AA1F-6447-244E-B9295DF12B84}"/>
              </a:ext>
            </a:extLst>
          </p:cNvPr>
          <p:cNvSpPr>
            <a:spLocks noGrp="1"/>
          </p:cNvSpPr>
          <p:nvPr>
            <p:ph type="title"/>
          </p:nvPr>
        </p:nvSpPr>
        <p:spPr>
          <a:xfrm>
            <a:off x="101600" y="0"/>
            <a:ext cx="10665460" cy="1345988"/>
          </a:xfrm>
        </p:spPr>
        <p:txBody>
          <a:bodyPr>
            <a:normAutofit/>
          </a:bodyPr>
          <a:lstStyle/>
          <a:p>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3.2.5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Ứng</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d</a:t>
            </a:r>
            <a:r>
              <a:rPr lang="en-US" sz="2800" b="1" kern="0" err="1">
                <a:latin typeface="Arial" panose="020B0604020202020204" pitchFamily="34" charset="0"/>
                <a:ea typeface="Times New Roman" panose="02020603050405020304" pitchFamily="18" charset="0"/>
                <a:cs typeface="Arial" panose="020B0604020202020204" pitchFamily="34" charset="0"/>
              </a:rPr>
              <a:t>ụng</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của</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nhận</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thức</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vào</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các</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chiến</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lược</a:t>
            </a:r>
            <a:r>
              <a:rPr lang="en-US" sz="2800" b="1" kern="0">
                <a:latin typeface="Arial" panose="020B0604020202020204" pitchFamily="34" charset="0"/>
                <a:ea typeface="Times New Roman" panose="02020603050405020304" pitchFamily="18" charset="0"/>
                <a:cs typeface="Arial" panose="020B0604020202020204" pitchFamily="34" charset="0"/>
              </a:rPr>
              <a:t> marketing</a:t>
            </a:r>
            <a:endParaRPr lang="en-US" sz="280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739EB053-6131-00B0-1A04-E52CAD8B5141}"/>
              </a:ext>
            </a:extLst>
          </p:cNvPr>
          <p:cNvSpPr>
            <a:spLocks noGrp="1"/>
          </p:cNvSpPr>
          <p:nvPr>
            <p:ph idx="1"/>
          </p:nvPr>
        </p:nvSpPr>
        <p:spPr>
          <a:xfrm>
            <a:off x="330200" y="1253331"/>
            <a:ext cx="11531600" cy="4351338"/>
          </a:xfrm>
        </p:spPr>
        <p:txBody>
          <a:bodyPr vert="horz" lIns="91440" tIns="45720" rIns="91440" bIns="45720" rtlCol="0">
            <a:noAutofit/>
          </a:bodyPr>
          <a:lstStyle/>
          <a:p>
            <a:pPr marL="0" indent="0">
              <a:buNone/>
            </a:pPr>
            <a:r>
              <a:rPr lang="en-US" sz="2200" b="1">
                <a:latin typeface="Arial" panose="020B0604020202020204" pitchFamily="34" charset="0"/>
                <a:cs typeface="Arial" panose="020B0604020202020204" pitchFamily="34" charset="0"/>
              </a:rPr>
              <a:t>3. </a:t>
            </a:r>
            <a:r>
              <a:rPr lang="en-US" sz="2200" b="1" err="1">
                <a:latin typeface="Arial" panose="020B0604020202020204" pitchFamily="34" charset="0"/>
                <a:cs typeface="Arial" panose="020B0604020202020204" pitchFamily="34" charset="0"/>
              </a:rPr>
              <a:t>Nhận</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thức</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về</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giá</a:t>
            </a:r>
            <a:endParaRPr lang="en-US" sz="2200">
              <a:latin typeface="Arial" panose="020B0604020202020204" pitchFamily="34" charset="0"/>
              <a:cs typeface="Arial" panose="020B0604020202020204" pitchFamily="34" charset="0"/>
            </a:endParaRPr>
          </a:p>
          <a:p>
            <a:pPr lvl="0"/>
            <a:r>
              <a:rPr lang="en-US" sz="2200" err="1">
                <a:latin typeface="Arial" panose="020B0604020202020204" pitchFamily="34" charset="0"/>
                <a:cs typeface="Arial" panose="020B0604020202020204" pitchFamily="34" charset="0"/>
              </a:rPr>
              <a:t>Giá</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được</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đánh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giá</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dựa</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trên</a:t>
            </a:r>
            <a:r>
              <a:rPr lang="en-US" sz="2200">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giá</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tham</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khảo</a:t>
            </a:r>
            <a:r>
              <a:rPr lang="en-US" sz="2200">
                <a:latin typeface="Arial" panose="020B0604020202020204" pitchFamily="34" charset="0"/>
                <a:cs typeface="Arial" panose="020B0604020202020204" pitchFamily="34" charset="0"/>
              </a:rPr>
              <a:t>. </a:t>
            </a:r>
          </a:p>
          <a:p>
            <a:pPr lvl="0"/>
            <a:r>
              <a:rPr lang="en-US" sz="2200" err="1">
                <a:latin typeface="Arial" panose="020B0604020202020204" pitchFamily="34" charset="0"/>
                <a:cs typeface="Arial" panose="020B0604020202020204" pitchFamily="34" charset="0"/>
              </a:rPr>
              <a:t>Người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tiêu</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dùng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thường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liên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hệ</a:t>
            </a:r>
            <a:r>
              <a:rPr lang="en-US" sz="2200">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giá</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cao</a:t>
            </a:r>
            <a:r>
              <a:rPr lang="en-US" sz="2200" b="1">
                <a:latin typeface="Arial" panose="020B0604020202020204" pitchFamily="34" charset="0"/>
                <a:cs typeface="Arial" panose="020B0604020202020204" pitchFamily="34" charset="0"/>
              </a:rPr>
              <a:t> ↔ </a:t>
            </a:r>
            <a:r>
              <a:rPr lang="en-US" sz="2200" b="1" err="1">
                <a:latin typeface="Arial" panose="020B0604020202020204" pitchFamily="34" charset="0"/>
                <a:cs typeface="Arial" panose="020B0604020202020204" pitchFamily="34" charset="0"/>
              </a:rPr>
              <a:t>chất</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lượng</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cao</a:t>
            </a:r>
            <a:r>
              <a:rPr lang="en-US" sz="2200">
                <a:latin typeface="Arial" panose="020B0604020202020204" pitchFamily="34" charset="0"/>
                <a:cs typeface="Arial" panose="020B0604020202020204" pitchFamily="34" charset="0"/>
              </a:rPr>
              <a:t>. </a:t>
            </a:r>
          </a:p>
          <a:p>
            <a:pPr lvl="0"/>
            <a:r>
              <a:rPr lang="en-US" sz="2200" err="1">
                <a:latin typeface="Arial" panose="020B0604020202020204" pitchFamily="34" charset="0"/>
                <a:cs typeface="Arial" panose="020B0604020202020204" pitchFamily="34" charset="0"/>
              </a:rPr>
              <a:t>Cảm</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nhận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về</a:t>
            </a:r>
            <a:r>
              <a:rPr lang="en-US" sz="2200">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công</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bằng</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giá</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ảnh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hưởng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đến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sự</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hài</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lòng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và</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lựa</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chọn</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thương</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hiệu</a:t>
            </a:r>
            <a:r>
              <a:rPr lang="en-US" sz="2200">
                <a:latin typeface="Arial" panose="020B0604020202020204" pitchFamily="34" charset="0"/>
                <a:cs typeface="Arial" panose="020B0604020202020204" pitchFamily="34" charset="0"/>
              </a:rPr>
              <a:t>. </a:t>
            </a:r>
          </a:p>
          <a:p>
            <a:pPr marL="0" indent="0">
              <a:buNone/>
            </a:pPr>
            <a:r>
              <a:rPr lang="en-US" sz="2200" b="1">
                <a:latin typeface="Arial" panose="020B0604020202020204" pitchFamily="34" charset="0"/>
                <a:cs typeface="Arial" panose="020B0604020202020204" pitchFamily="34" charset="0"/>
              </a:rPr>
              <a:t>4. </a:t>
            </a:r>
            <a:r>
              <a:rPr lang="en-US" sz="2200" b="1" err="1">
                <a:latin typeface="Arial" panose="020B0604020202020204" pitchFamily="34" charset="0"/>
                <a:cs typeface="Arial" panose="020B0604020202020204" pitchFamily="34" charset="0"/>
              </a:rPr>
              <a:t>Nhận</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thức</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về</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rủi</a:t>
            </a:r>
            <a:r>
              <a:rPr lang="en-US" sz="2200" b="1">
                <a:latin typeface="Arial" panose="020B0604020202020204" pitchFamily="34" charset="0"/>
                <a:cs typeface="Arial" panose="020B0604020202020204" pitchFamily="34" charset="0"/>
              </a:rPr>
              <a:t> </a:t>
            </a:r>
            <a:r>
              <a:rPr lang="en-US" sz="2200" b="1" err="1">
                <a:latin typeface="Arial" panose="020B0604020202020204" pitchFamily="34" charset="0"/>
                <a:cs typeface="Arial" panose="020B0604020202020204" pitchFamily="34" charset="0"/>
              </a:rPr>
              <a:t>ro</a:t>
            </a:r>
            <a:endParaRPr lang="en-US" sz="2200">
              <a:latin typeface="Arial" panose="020B0604020202020204" pitchFamily="34" charset="0"/>
              <a:cs typeface="Arial" panose="020B0604020202020204" pitchFamily="34" charset="0"/>
            </a:endParaRPr>
          </a:p>
          <a:p>
            <a:pPr lvl="0"/>
            <a:r>
              <a:rPr lang="en-US" sz="2200" err="1">
                <a:latin typeface="Arial" panose="020B0604020202020204" pitchFamily="34" charset="0"/>
                <a:cs typeface="Arial" panose="020B0604020202020204" pitchFamily="34" charset="0"/>
              </a:rPr>
              <a:t>Tính</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năng</a:t>
            </a:r>
            <a:r>
              <a:rPr lang="en-US" sz="2200">
                <a:latin typeface="Arial" panose="020B0604020202020204" pitchFamily="34" charset="0"/>
                <a:cs typeface="Arial" panose="020B0604020202020204" pitchFamily="34" charset="0"/>
              </a:rPr>
              <a:t> </a:t>
            </a:r>
          </a:p>
          <a:p>
            <a:pPr lvl="0"/>
            <a:r>
              <a:rPr lang="en-US" sz="2200" err="1">
                <a:latin typeface="Arial" panose="020B0604020202020204" pitchFamily="34" charset="0"/>
                <a:cs typeface="Arial" panose="020B0604020202020204" pitchFamily="34" charset="0"/>
              </a:rPr>
              <a:t>Thể</a:t>
            </a:r>
            <a:r>
              <a:rPr lang="en-US" sz="2200">
                <a:latin typeface="Arial" panose="020B0604020202020204" pitchFamily="34" charset="0"/>
                <a:cs typeface="Arial" panose="020B0604020202020204" pitchFamily="34" charset="0"/>
              </a:rPr>
              <a:t> </a:t>
            </a:r>
            <a:r>
              <a:rPr lang="en-US" sz="2200" err="1">
                <a:latin typeface="Arial" panose="020B0604020202020204" pitchFamily="34" charset="0"/>
                <a:cs typeface="Arial" panose="020B0604020202020204" pitchFamily="34" charset="0"/>
              </a:rPr>
              <a:t>chất</a:t>
            </a:r>
            <a:r>
              <a:rPr lang="en-US" sz="2200">
                <a:latin typeface="Arial" panose="020B0604020202020204" pitchFamily="34" charset="0"/>
                <a:cs typeface="Arial" panose="020B0604020202020204" pitchFamily="34" charset="0"/>
              </a:rPr>
              <a:t> </a:t>
            </a:r>
          </a:p>
          <a:p>
            <a:pPr lvl="0"/>
            <a:r>
              <a:rPr lang="en-US" sz="2200">
                <a:latin typeface="Arial" panose="020B0604020202020204" pitchFamily="34" charset="0"/>
                <a:cs typeface="Arial" panose="020B0604020202020204" pitchFamily="34" charset="0"/>
              </a:rPr>
              <a:t>Tài </a:t>
            </a:r>
            <a:r>
              <a:rPr lang="en-US" sz="2200" err="1">
                <a:latin typeface="Arial" panose="020B0604020202020204" pitchFamily="34" charset="0"/>
                <a:cs typeface="Arial" panose="020B0604020202020204" pitchFamily="34" charset="0"/>
              </a:rPr>
              <a:t>chính</a:t>
            </a:r>
            <a:r>
              <a:rPr lang="en-US" sz="2200">
                <a:latin typeface="Arial" panose="020B0604020202020204" pitchFamily="34" charset="0"/>
                <a:cs typeface="Arial" panose="020B0604020202020204" pitchFamily="34" charset="0"/>
              </a:rPr>
              <a:t> </a:t>
            </a:r>
          </a:p>
          <a:p>
            <a:pPr lvl="0"/>
            <a:r>
              <a:rPr lang="en-US" sz="2200">
                <a:latin typeface="Arial" panose="020B0604020202020204" pitchFamily="34" charset="0"/>
                <a:cs typeface="Arial" panose="020B0604020202020204" pitchFamily="34" charset="0"/>
              </a:rPr>
              <a:t>Tâm </a:t>
            </a:r>
            <a:r>
              <a:rPr lang="en-US" sz="2200" err="1">
                <a:latin typeface="Arial" panose="020B0604020202020204" pitchFamily="34" charset="0"/>
                <a:cs typeface="Arial" panose="020B0604020202020204" pitchFamily="34" charset="0"/>
              </a:rPr>
              <a:t>lý</a:t>
            </a:r>
            <a:endParaRPr lang="en-US" sz="2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857508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B4936-BF15-A609-5362-A92DDF12F47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842BDD5-1BA5-671B-9D7C-EFC5B8016680}"/>
              </a:ext>
            </a:extLst>
          </p:cNvPr>
          <p:cNvSpPr>
            <a:spLocks noGrp="1"/>
          </p:cNvSpPr>
          <p:nvPr>
            <p:ph type="title"/>
          </p:nvPr>
        </p:nvSpPr>
        <p:spPr>
          <a:xfrm>
            <a:off x="101600" y="0"/>
            <a:ext cx="10676890" cy="1371600"/>
          </a:xfrm>
        </p:spPr>
        <p:txBody>
          <a:bodyPr>
            <a:normAutofit/>
          </a:bodyPr>
          <a:lstStyle/>
          <a:p>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3.2.5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Ứng</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d</a:t>
            </a:r>
            <a:r>
              <a:rPr lang="en-US" sz="2800" b="1" kern="0" err="1">
                <a:latin typeface="Arial" panose="020B0604020202020204" pitchFamily="34" charset="0"/>
                <a:ea typeface="Times New Roman" panose="02020603050405020304" pitchFamily="18" charset="0"/>
                <a:cs typeface="Arial" panose="020B0604020202020204" pitchFamily="34" charset="0"/>
              </a:rPr>
              <a:t>ụng</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của</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nhận</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thức</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vào</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các</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chiến</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lược</a:t>
            </a:r>
            <a:r>
              <a:rPr lang="en-US" sz="2800" b="1" kern="0">
                <a:latin typeface="Arial" panose="020B0604020202020204" pitchFamily="34" charset="0"/>
                <a:ea typeface="Times New Roman" panose="02020603050405020304" pitchFamily="18" charset="0"/>
                <a:cs typeface="Arial" panose="020B0604020202020204" pitchFamily="34" charset="0"/>
              </a:rPr>
              <a:t> marketing</a:t>
            </a:r>
            <a:endParaRPr lang="en-US" sz="280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E4172696-9794-251F-6611-B7992D055E8E}"/>
              </a:ext>
            </a:extLst>
          </p:cNvPr>
          <p:cNvSpPr>
            <a:spLocks noGrp="1"/>
          </p:cNvSpPr>
          <p:nvPr>
            <p:ph idx="1"/>
          </p:nvPr>
        </p:nvSpPr>
        <p:spPr>
          <a:xfrm>
            <a:off x="349956" y="1448064"/>
            <a:ext cx="11531600" cy="4351338"/>
          </a:xfrm>
        </p:spPr>
        <p:txBody>
          <a:bodyPr vert="horz" lIns="91440" tIns="45720" rIns="91440" bIns="45720" rtlCol="0">
            <a:noAutofit/>
          </a:bodyPr>
          <a:lstStyle/>
          <a:p>
            <a:pPr marL="0" indent="0">
              <a:lnSpc>
                <a:spcPct val="100000"/>
              </a:lnSpc>
              <a:buNone/>
            </a:pPr>
            <a:r>
              <a:rPr lang="en-US" sz="2400" b="1">
                <a:latin typeface="Arial" panose="020B0604020202020204" pitchFamily="34" charset="0"/>
                <a:cs typeface="Arial" panose="020B0604020202020204" pitchFamily="34" charset="0"/>
              </a:rPr>
              <a:t>5. </a:t>
            </a:r>
            <a:r>
              <a:rPr lang="en-US" sz="2400" b="1" err="1">
                <a:latin typeface="Arial" panose="020B0604020202020204" pitchFamily="34" charset="0"/>
                <a:cs typeface="Arial" panose="020B0604020202020204" pitchFamily="34" charset="0"/>
              </a:rPr>
              <a:t>Ứng</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dụng</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nhận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thức</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vào</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truyền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thông</a:t>
            </a:r>
            <a:r>
              <a:rPr lang="en-US" sz="2400" b="1">
                <a:latin typeface="Arial" panose="020B0604020202020204" pitchFamily="34" charset="0"/>
                <a:cs typeface="Arial" panose="020B0604020202020204" pitchFamily="34" charset="0"/>
              </a:rPr>
              <a:t> &amp; </a:t>
            </a:r>
            <a:r>
              <a:rPr lang="en-US" sz="2400" b="1" err="1">
                <a:latin typeface="Arial" panose="020B0604020202020204" pitchFamily="34" charset="0"/>
                <a:cs typeface="Arial" panose="020B0604020202020204" pitchFamily="34" charset="0"/>
              </a:rPr>
              <a:t>bán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lẻ</a:t>
            </a:r>
            <a:r>
              <a:rPr lang="en-US" sz="2400">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Một</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chương</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trình</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truyền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thông</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hiệu</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quả</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cần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đi</a:t>
            </a:r>
            <a:r>
              <a:rPr lang="en-US" sz="2400" b="1">
                <a:latin typeface="Arial" panose="020B0604020202020204" pitchFamily="34" charset="0"/>
                <a:cs typeface="Arial" panose="020B0604020202020204" pitchFamily="34" charset="0"/>
              </a:rPr>
              <a:t> qua 4 </a:t>
            </a:r>
            <a:r>
              <a:rPr lang="en-US" sz="2400" b="1" err="1">
                <a:latin typeface="Arial" panose="020B0604020202020204" pitchFamily="34" charset="0"/>
                <a:cs typeface="Arial" panose="020B0604020202020204" pitchFamily="34" charset="0"/>
              </a:rPr>
              <a:t>bước</a:t>
            </a:r>
            <a:r>
              <a:rPr lang="en-US" sz="2400" b="1">
                <a:latin typeface="Arial" panose="020B0604020202020204" pitchFamily="34" charset="0"/>
                <a:cs typeface="Arial" panose="020B0604020202020204" pitchFamily="34" charset="0"/>
              </a:rPr>
              <a:t>:</a:t>
            </a:r>
            <a:endParaRPr lang="en-US" sz="2400">
              <a:latin typeface="Arial" panose="020B0604020202020204" pitchFamily="34" charset="0"/>
              <a:cs typeface="Arial" panose="020B0604020202020204" pitchFamily="34" charset="0"/>
            </a:endParaRPr>
          </a:p>
          <a:p>
            <a:pPr>
              <a:lnSpc>
                <a:spcPct val="100000"/>
              </a:lnSpc>
            </a:pPr>
            <a:r>
              <a:rPr lang="en-US" sz="2400" b="1" err="1">
                <a:latin typeface="Arial" panose="020B0604020202020204" pitchFamily="34" charset="0"/>
                <a:cs typeface="Arial" panose="020B0604020202020204" pitchFamily="34" charset="0"/>
              </a:rPr>
              <a:t>Tiếp</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xúc</a:t>
            </a:r>
            <a:r>
              <a:rPr lang="en-US" sz="2400" b="1">
                <a:latin typeface="Arial" panose="020B0604020202020204" pitchFamily="34" charset="0"/>
                <a:cs typeface="Arial" panose="020B0604020202020204" pitchFamily="34" charset="0"/>
              </a:rPr>
              <a:t> → </a:t>
            </a:r>
            <a:r>
              <a:rPr lang="en-US" sz="2400" b="1" err="1">
                <a:latin typeface="Arial" panose="020B0604020202020204" pitchFamily="34" charset="0"/>
                <a:cs typeface="Arial" panose="020B0604020202020204" pitchFamily="34" charset="0"/>
              </a:rPr>
              <a:t>Chú</a:t>
            </a:r>
            <a:r>
              <a:rPr lang="en-US" sz="2400" b="1">
                <a:latin typeface="Arial" panose="020B0604020202020204" pitchFamily="34" charset="0"/>
                <a:cs typeface="Arial" panose="020B0604020202020204" pitchFamily="34" charset="0"/>
              </a:rPr>
              <a:t> ý → </a:t>
            </a:r>
            <a:r>
              <a:rPr lang="en-US" sz="2400" b="1" err="1">
                <a:latin typeface="Arial" panose="020B0604020202020204" pitchFamily="34" charset="0"/>
                <a:cs typeface="Arial" panose="020B0604020202020204" pitchFamily="34" charset="0"/>
              </a:rPr>
              <a:t>Hiểu</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đúng</a:t>
            </a:r>
            <a:r>
              <a:rPr lang="en-US" sz="2400" b="1">
                <a:latin typeface="Arial" panose="020B0604020202020204" pitchFamily="34" charset="0"/>
                <a:cs typeface="Arial" panose="020B0604020202020204" pitchFamily="34" charset="0"/>
              </a:rPr>
              <a:t> → </a:t>
            </a:r>
            <a:r>
              <a:rPr lang="en-US" sz="2400" b="1" err="1">
                <a:latin typeface="Arial" panose="020B0604020202020204" pitchFamily="34" charset="0"/>
                <a:cs typeface="Arial" panose="020B0604020202020204" pitchFamily="34" charset="0"/>
              </a:rPr>
              <a:t>Ghi</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nhớ</a:t>
            </a:r>
            <a:endParaRPr lang="en-US" sz="2400">
              <a:latin typeface="Arial" panose="020B0604020202020204" pitchFamily="34" charset="0"/>
              <a:cs typeface="Arial" panose="020B0604020202020204" pitchFamily="34" charset="0"/>
            </a:endParaRPr>
          </a:p>
          <a:p>
            <a:pPr lvl="0">
              <a:lnSpc>
                <a:spcPct val="100000"/>
              </a:lnSpc>
            </a:pPr>
            <a:r>
              <a:rPr lang="en-US" sz="2400" b="1" err="1">
                <a:latin typeface="Arial" panose="020B0604020202020204" pitchFamily="34" charset="0"/>
                <a:cs typeface="Arial" panose="020B0604020202020204" pitchFamily="34" charset="0"/>
              </a:rPr>
              <a:t>Tiếp</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xúc</a:t>
            </a:r>
            <a:r>
              <a:rPr lang="en-US" sz="2400" b="1">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thông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điệp</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phải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đến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được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khách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hàng</a:t>
            </a:r>
            <a:r>
              <a:rPr lang="en-US" sz="2400">
                <a:latin typeface="Arial" panose="020B0604020202020204" pitchFamily="34" charset="0"/>
                <a:cs typeface="Arial" panose="020B0604020202020204" pitchFamily="34" charset="0"/>
              </a:rPr>
              <a:t> </a:t>
            </a:r>
          </a:p>
          <a:p>
            <a:pPr lvl="0">
              <a:lnSpc>
                <a:spcPct val="100000"/>
              </a:lnSpc>
            </a:pPr>
            <a:r>
              <a:rPr lang="en-US" sz="2400" b="1" err="1">
                <a:latin typeface="Arial" panose="020B0604020202020204" pitchFamily="34" charset="0"/>
                <a:cs typeface="Arial" panose="020B0604020202020204" pitchFamily="34" charset="0"/>
              </a:rPr>
              <a:t>Chú</a:t>
            </a:r>
            <a:r>
              <a:rPr lang="en-US" sz="2400" b="1">
                <a:latin typeface="Arial" panose="020B0604020202020204" pitchFamily="34" charset="0"/>
                <a:cs typeface="Arial" panose="020B0604020202020204" pitchFamily="34" charset="0"/>
              </a:rPr>
              <a:t> ý:</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phải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đủ</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nổi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bật</a:t>
            </a:r>
            <a:r>
              <a:rPr lang="en-US" sz="2400">
                <a:latin typeface="Arial" panose="020B0604020202020204" pitchFamily="34" charset="0"/>
                <a:cs typeface="Arial" panose="020B0604020202020204" pitchFamily="34" charset="0"/>
              </a:rPr>
              <a:t> </a:t>
            </a:r>
          </a:p>
          <a:p>
            <a:pPr lvl="0">
              <a:lnSpc>
                <a:spcPct val="100000"/>
              </a:lnSpc>
            </a:pPr>
            <a:r>
              <a:rPr lang="en-US" sz="2400" b="1" err="1">
                <a:latin typeface="Arial" panose="020B0604020202020204" pitchFamily="34" charset="0"/>
                <a:cs typeface="Arial" panose="020B0604020202020204" pitchFamily="34" charset="0"/>
              </a:rPr>
              <a:t>Giải</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thích</a:t>
            </a:r>
            <a:r>
              <a:rPr lang="en-US" sz="2400" b="1">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khách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hàng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hiểu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đúng</a:t>
            </a:r>
            <a:r>
              <a:rPr lang="en-US" sz="2400">
                <a:latin typeface="Arial" panose="020B0604020202020204" pitchFamily="34" charset="0"/>
                <a:cs typeface="Arial" panose="020B0604020202020204" pitchFamily="34" charset="0"/>
              </a:rPr>
              <a:t> ý </a:t>
            </a:r>
            <a:r>
              <a:rPr lang="en-US" sz="2400" err="1">
                <a:latin typeface="Arial" panose="020B0604020202020204" pitchFamily="34" charset="0"/>
                <a:cs typeface="Arial" panose="020B0604020202020204" pitchFamily="34" charset="0"/>
              </a:rPr>
              <a:t>đồ</a:t>
            </a:r>
            <a:r>
              <a:rPr lang="en-US" sz="2400">
                <a:latin typeface="Arial" panose="020B0604020202020204" pitchFamily="34" charset="0"/>
                <a:cs typeface="Arial" panose="020B0604020202020204" pitchFamily="34" charset="0"/>
              </a:rPr>
              <a:t> </a:t>
            </a:r>
          </a:p>
          <a:p>
            <a:pPr lvl="0">
              <a:lnSpc>
                <a:spcPct val="100000"/>
              </a:lnSpc>
            </a:pPr>
            <a:r>
              <a:rPr lang="en-US" sz="2400" b="1">
                <a:latin typeface="Arial" panose="020B0604020202020204" pitchFamily="34" charset="0"/>
                <a:cs typeface="Arial" panose="020B0604020202020204" pitchFamily="34" charset="0"/>
              </a:rPr>
              <a:t>Trí </a:t>
            </a:r>
            <a:r>
              <a:rPr lang="en-US" sz="2400" b="1" err="1">
                <a:latin typeface="Arial" panose="020B0604020202020204" pitchFamily="34" charset="0"/>
                <a:cs typeface="Arial" panose="020B0604020202020204" pitchFamily="34" charset="0"/>
              </a:rPr>
              <a:t>nhớ</a:t>
            </a:r>
            <a:r>
              <a:rPr lang="en-US" sz="2400" b="1">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thông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điệp</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được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lưu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lại</a:t>
            </a:r>
            <a:r>
              <a:rPr lang="en-US" sz="2400">
                <a:latin typeface="Arial" panose="020B0604020202020204" pitchFamily="34" charset="0"/>
                <a:cs typeface="Arial" panose="020B0604020202020204" pitchFamily="34" charset="0"/>
              </a:rPr>
              <a:t> </a:t>
            </a:r>
          </a:p>
          <a:p>
            <a:pPr marL="0" indent="0">
              <a:lnSpc>
                <a:spcPct val="100000"/>
              </a:lnSpc>
              <a:buNone/>
            </a:pPr>
            <a:r>
              <a:rPr lang="en-US" sz="2400" b="1" err="1">
                <a:latin typeface="Arial" panose="020B0604020202020204" pitchFamily="34" charset="0"/>
                <a:cs typeface="Arial" panose="020B0604020202020204" pitchFamily="34" charset="0"/>
              </a:rPr>
              <a:t>Ứng</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dụng</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trong</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bán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lẻ</a:t>
            </a:r>
            <a:r>
              <a:rPr lang="en-US" sz="2400" b="1">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Bố</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trí</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hàng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hóa</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để</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tăng</a:t>
            </a:r>
            <a:r>
              <a:rPr lang="en-US" sz="2400">
                <a:latin typeface="Arial" panose="020B0604020202020204" pitchFamily="34" charset="0"/>
                <a:cs typeface="Arial" panose="020B0604020202020204" pitchFamily="34" charset="0"/>
              </a:rPr>
              <a:t> </a:t>
            </a:r>
            <a:r>
              <a:rPr lang="en-US" sz="2400" b="1">
                <a:latin typeface="Arial" panose="020B0604020202020204" pitchFamily="34" charset="0"/>
                <a:cs typeface="Arial" panose="020B0604020202020204" pitchFamily="34" charset="0"/>
              </a:rPr>
              <a:t>exposure; </a:t>
            </a:r>
            <a:r>
              <a:rPr lang="en-US" sz="2400" err="1">
                <a:latin typeface="Arial" panose="020B0604020202020204" pitchFamily="34" charset="0"/>
                <a:cs typeface="Arial" panose="020B0604020202020204" pitchFamily="34" charset="0"/>
              </a:rPr>
              <a:t>Đặt</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sản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phẩm</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lợi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nhuận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cao</a:t>
            </a:r>
            <a:r>
              <a:rPr lang="en-US" sz="2400">
                <a:latin typeface="Arial" panose="020B0604020202020204" pitchFamily="34" charset="0"/>
                <a:cs typeface="Arial" panose="020B0604020202020204" pitchFamily="34" charset="0"/>
              </a:rPr>
              <a:t> ở </a:t>
            </a:r>
            <a:r>
              <a:rPr lang="en-US" sz="2400" err="1">
                <a:latin typeface="Arial" panose="020B0604020202020204" pitchFamily="34" charset="0"/>
                <a:cs typeface="Arial" panose="020B0604020202020204" pitchFamily="34" charset="0"/>
              </a:rPr>
              <a:t>khu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vực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lưu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lượng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lớn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Tăng</a:t>
            </a:r>
            <a:r>
              <a:rPr lang="en-US" sz="2400">
                <a:latin typeface="Arial" panose="020B0604020202020204" pitchFamily="34" charset="0"/>
                <a:cs typeface="Arial" panose="020B0604020202020204" pitchFamily="34" charset="0"/>
              </a:rPr>
              <a:t> </a:t>
            </a:r>
            <a:r>
              <a:rPr lang="en-US" sz="2400" b="1">
                <a:latin typeface="Arial" panose="020B0604020202020204" pitchFamily="34" charset="0"/>
                <a:cs typeface="Arial" panose="020B0604020202020204" pitchFamily="34" charset="0"/>
              </a:rPr>
              <a:t>shelf visibility; </a:t>
            </a:r>
            <a:r>
              <a:rPr lang="en-US" sz="2400" err="1">
                <a:latin typeface="Arial" panose="020B0604020202020204" pitchFamily="34" charset="0"/>
                <a:cs typeface="Arial" panose="020B0604020202020204" pitchFamily="34" charset="0"/>
              </a:rPr>
              <a:t>Dùng</a:t>
            </a:r>
            <a:r>
              <a:rPr lang="en-US" sz="2400">
                <a:latin typeface="Arial" panose="020B0604020202020204" pitchFamily="34" charset="0"/>
                <a:cs typeface="Arial" panose="020B0604020202020204" pitchFamily="34" charset="0"/>
              </a:rPr>
              <a:t> POSM/</a:t>
            </a:r>
            <a:r>
              <a:rPr lang="en-US" sz="2400" err="1">
                <a:latin typeface="Arial" panose="020B0604020202020204" pitchFamily="34" charset="0"/>
                <a:cs typeface="Arial" panose="020B0604020202020204" pitchFamily="34" charset="0"/>
              </a:rPr>
              <a:t>biển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báo</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để</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hút</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chú</a:t>
            </a:r>
            <a:r>
              <a:rPr lang="en-US" sz="2400">
                <a:latin typeface="Arial" panose="020B0604020202020204" pitchFamily="34" charset="0"/>
                <a:cs typeface="Arial" panose="020B0604020202020204" pitchFamily="34" charset="0"/>
              </a:rPr>
              <a:t> ý; Cung </a:t>
            </a:r>
            <a:r>
              <a:rPr lang="en-US" sz="2400" err="1">
                <a:latin typeface="Arial" panose="020B0604020202020204" pitchFamily="34" charset="0"/>
                <a:cs typeface="Arial" panose="020B0604020202020204" pitchFamily="34" charset="0"/>
              </a:rPr>
              <a:t>cấp</a:t>
            </a:r>
            <a:r>
              <a:rPr lang="en-US" sz="2400">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giá</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tham</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khảo</a:t>
            </a:r>
            <a:r>
              <a:rPr lang="en-US" sz="2400" b="1">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Đồng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bộ</a:t>
            </a:r>
            <a:r>
              <a:rPr lang="en-US" sz="2400">
                <a:latin typeface="Arial" panose="020B0604020202020204" pitchFamily="34" charset="0"/>
                <a:cs typeface="Arial" panose="020B0604020202020204" pitchFamily="34" charset="0"/>
              </a:rPr>
              <a:t> logo, </a:t>
            </a:r>
            <a:r>
              <a:rPr lang="en-US" sz="2400" err="1">
                <a:latin typeface="Arial" panose="020B0604020202020204" pitchFamily="34" charset="0"/>
                <a:cs typeface="Arial" panose="020B0604020202020204" pitchFamily="34" charset="0"/>
              </a:rPr>
              <a:t>bố</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cục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trưng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bày</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và</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không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gian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để</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tạo</a:t>
            </a:r>
            <a:r>
              <a:rPr lang="en-US" sz="2400">
                <a:latin typeface="Arial" panose="020B0604020202020204" pitchFamily="34" charset="0"/>
                <a:cs typeface="Arial" panose="020B0604020202020204" pitchFamily="34" charset="0"/>
              </a:rPr>
              <a:t> </a:t>
            </a:r>
            <a:r>
              <a:rPr lang="en-US" sz="2400" b="1">
                <a:latin typeface="Arial" panose="020B0604020202020204" pitchFamily="34" charset="0"/>
                <a:cs typeface="Arial" panose="020B0604020202020204" pitchFamily="34" charset="0"/>
              </a:rPr>
              <a:t>store image</a:t>
            </a:r>
            <a:endParaRPr lang="en-US"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773438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1F949-D1DB-5258-078C-1338174A0A1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348BD80-601A-2B33-28E5-AF20CEB29507}"/>
              </a:ext>
            </a:extLst>
          </p:cNvPr>
          <p:cNvSpPr>
            <a:spLocks noGrp="1"/>
          </p:cNvSpPr>
          <p:nvPr>
            <p:ph type="ctrTitle"/>
          </p:nvPr>
        </p:nvSpPr>
        <p:spPr>
          <a:xfrm>
            <a:off x="1365956" y="1600200"/>
            <a:ext cx="9144000" cy="2387600"/>
          </a:xfrm>
        </p:spPr>
        <p:txBody>
          <a:bodyPr>
            <a:normAutofit/>
          </a:bodyPr>
          <a:lstStyle/>
          <a:p>
            <a:pPr marL="0" marR="0" indent="0">
              <a:lnSpc>
                <a:spcPct val="150000"/>
              </a:lnSpc>
              <a:spcBef>
                <a:spcPts val="0"/>
              </a:spcBef>
              <a:spcAft>
                <a:spcPts val="0"/>
              </a:spcAft>
              <a:buNone/>
              <a:tabLst>
                <a:tab pos="381000" algn="l"/>
              </a:tabLst>
            </a:pPr>
            <a:r>
              <a:rPr lang="en-US" sz="3600" b="1">
                <a:effectLst/>
                <a:latin typeface="Arial" panose="020B0604020202020204" pitchFamily="34" charset="0"/>
                <a:ea typeface="Calibri" panose="020F0502020204030204" pitchFamily="34" charset="0"/>
                <a:cs typeface="Arial" panose="020B0604020202020204" pitchFamily="34" charset="0"/>
              </a:rPr>
              <a:t>3.3. </a:t>
            </a:r>
            <a:r>
              <a:rPr lang="en-US" sz="3600" b="1">
                <a:latin typeface="Arial" panose="020B0604020202020204" pitchFamily="34" charset="0"/>
                <a:ea typeface="Calibri" panose="020F0502020204030204" pitchFamily="34" charset="0"/>
                <a:cs typeface="Arial" panose="020B0604020202020204" pitchFamily="34" charset="0"/>
              </a:rPr>
              <a:t>HỌC HỎI</a:t>
            </a:r>
            <a:br>
              <a:rPr lang="en-US" sz="3600" b="1">
                <a:effectLst/>
                <a:latin typeface="Arial" panose="020B0604020202020204" pitchFamily="34" charset="0"/>
                <a:ea typeface="Times New Roman" panose="02020603050405020304" pitchFamily="18" charset="0"/>
                <a:cs typeface="Arial" panose="020B0604020202020204" pitchFamily="34" charset="0"/>
              </a:rPr>
            </a:br>
            <a:endParaRPr lang="en-US" sz="3600" b="1">
              <a:effectLst/>
              <a:latin typeface="Arial" panose="020B0604020202020204" pitchFamily="34" charset="0"/>
              <a:ea typeface="Times New Roman" panose="02020603050405020304" pitchFamily="18" charset="0"/>
              <a:cs typeface="Arial" panose="020B0604020202020204" pitchFamily="34" charset="0"/>
            </a:endParaRPr>
          </a:p>
        </p:txBody>
      </p:sp>
      <p:sp>
        <p:nvSpPr>
          <p:cNvPr id="2" name="Subtitle 1">
            <a:extLst>
              <a:ext uri="{FF2B5EF4-FFF2-40B4-BE49-F238E27FC236}">
                <a16:creationId xmlns:a16="http://schemas.microsoft.com/office/drawing/2014/main" id="{7D80C216-F044-9289-D962-127016E52AB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5445555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3578" y="19933"/>
            <a:ext cx="10515600" cy="1325563"/>
          </a:xfrm>
        </p:spPr>
        <p:txBody>
          <a:bodyPr>
            <a:normAutofit/>
          </a:bodyPr>
          <a:lstStyle/>
          <a:p>
            <a:r>
              <a:rPr lang="en-US" sz="2800" b="1" kern="0">
                <a:latin typeface="Arial" panose="020B0604020202020204" pitchFamily="34" charset="0"/>
                <a:ea typeface="Times New Roman" panose="02020603050405020304" pitchFamily="18" charset="0"/>
                <a:cs typeface="Arial" panose="020B0604020202020204" pitchFamily="34" charset="0"/>
              </a:rPr>
              <a:t>3.3</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.1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Khái</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niệm</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về</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học</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hỏi</a:t>
            </a:r>
            <a:endParaRPr lang="en-US" sz="28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marL="0" indent="0" algn="just">
              <a:lnSpc>
                <a:spcPct val="150000"/>
              </a:lnSpc>
              <a:spcBef>
                <a:spcPts val="0"/>
              </a:spcBef>
              <a:buNone/>
            </a:pPr>
            <a:r>
              <a:rPr lang="en-US">
                <a:latin typeface="Arial" panose="020B0604020202020204" pitchFamily="34" charset="0"/>
                <a:ea typeface="Times New Roman" panose="02020603050405020304" pitchFamily="18" charset="0"/>
                <a:cs typeface="Arial" panose="020B0604020202020204" pitchFamily="34" charset="0"/>
              </a:rPr>
              <a:t>	</a:t>
            </a:r>
            <a:r>
              <a:rPr lang="vi-VN"/>
              <a:t>Học hỏi là quá trình mà qua đó người tiêu dùng thay đổi hành vi của mình từ những kiến thức mới nhận được qua trải nghiệm, quan sát, hay tiếp xúc với các thông tin, sự vật, sự việc (Schiffman &amp; Wisenblit, 2019). </a:t>
            </a:r>
            <a:endParaRPr lang="en-US">
              <a:latin typeface="Arial" panose="020B0604020202020204" pitchFamily="34" charset="0"/>
              <a:cs typeface="Arial" panose="020B0604020202020204" pitchFamily="34" charset="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 y="233539"/>
            <a:ext cx="10515600" cy="892175"/>
          </a:xfrm>
        </p:spPr>
        <p:txBody>
          <a:bodyPr>
            <a:normAutofit/>
          </a:bodyPr>
          <a:lstStyle/>
          <a:p>
            <a:r>
              <a:rPr lang="en-US" sz="2800" b="1" kern="0">
                <a:latin typeface="Arial" panose="020B0604020202020204" pitchFamily="34" charset="0"/>
                <a:ea typeface="Times New Roman" panose="02020603050405020304" pitchFamily="18" charset="0"/>
                <a:cs typeface="Arial" panose="020B0604020202020204" pitchFamily="34" charset="0"/>
              </a:rPr>
              <a:t>3.3.</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1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Khái</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niệm</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về</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học</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hỏi</a:t>
            </a:r>
            <a:endParaRPr lang="en-US" sz="28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60023" y="1125714"/>
            <a:ext cx="10515600" cy="4351338"/>
          </a:xfrm>
        </p:spPr>
        <p:txBody>
          <a:bodyPr>
            <a:noAutofit/>
          </a:bodyPr>
          <a:lstStyle/>
          <a:p>
            <a:pPr algn="just">
              <a:lnSpc>
                <a:spcPct val="150000"/>
              </a:lnSpc>
              <a:spcBef>
                <a:spcPts val="0"/>
              </a:spcBef>
              <a:buFont typeface="Wingdings" pitchFamily="2" charset="2"/>
              <a:buChar char="Ø"/>
            </a:pPr>
            <a:r>
              <a:rPr lang="en-US">
                <a:latin typeface="Arial" panose="020B0604020202020204" pitchFamily="34" charset="0"/>
                <a:cs typeface="Arial" panose="020B0604020202020204" pitchFamily="34" charset="0"/>
              </a:rPr>
              <a:t> </a:t>
            </a:r>
            <a:r>
              <a:rPr lang="vi-VN">
                <a:latin typeface="Arial" panose="020B0604020202020204" pitchFamily="34" charset="0"/>
                <a:cs typeface="Arial" panose="020B0604020202020204" pitchFamily="34" charset="0"/>
              </a:rPr>
              <a:t>Hầu hết những lần học hỏi này đều là </a:t>
            </a:r>
            <a:r>
              <a:rPr lang="vi-VN" b="1">
                <a:latin typeface="Arial" panose="020B0604020202020204" pitchFamily="34" charset="0"/>
                <a:cs typeface="Arial" panose="020B0604020202020204" pitchFamily="34" charset="0"/>
              </a:rPr>
              <a:t>học hỏi thụ động</a:t>
            </a:r>
            <a:r>
              <a:rPr lang="vi-VN">
                <a:latin typeface="Arial" panose="020B0604020202020204" pitchFamily="34" charset="0"/>
                <a:cs typeface="Arial" panose="020B0604020202020204" pitchFamily="34" charset="0"/>
              </a:rPr>
              <a:t>: khi người tiêu dùng không tự tìm kiếm các thông tin về sản phẩm.</a:t>
            </a:r>
          </a:p>
          <a:p>
            <a:pPr algn="just">
              <a:lnSpc>
                <a:spcPct val="150000"/>
              </a:lnSpc>
              <a:spcBef>
                <a:spcPts val="0"/>
              </a:spcBef>
              <a:buFont typeface="Wingdings" pitchFamily="2" charset="2"/>
              <a:buChar char="Ø"/>
            </a:pPr>
            <a:r>
              <a:rPr lang="vi-VN">
                <a:latin typeface="Arial" panose="020B0604020202020204" pitchFamily="34" charset="0"/>
                <a:cs typeface="Arial" panose="020B0604020202020204" pitchFamily="34" charset="0"/>
              </a:rPr>
              <a:t> </a:t>
            </a:r>
            <a:r>
              <a:rPr lang="vi-VN" b="1">
                <a:latin typeface="Arial" panose="020B0604020202020204" pitchFamily="34" charset="0"/>
                <a:cs typeface="Arial" panose="020B0604020202020204" pitchFamily="34" charset="0"/>
              </a:rPr>
              <a:t>Học hỏi tự giác </a:t>
            </a:r>
            <a:r>
              <a:rPr lang="vi-VN">
                <a:latin typeface="Arial" panose="020B0604020202020204" pitchFamily="34" charset="0"/>
                <a:cs typeface="Arial" panose="020B0604020202020204" pitchFamily="34" charset="0"/>
              </a:rPr>
              <a:t>đa số chỉ xảy ra với các sản phẩm quan trọng đối với họ hoặc các sản phẩm và thương hiệu mà họ yêu thích: người tiêu dùng sẽ tự tìm kiếm thông tin về sản phẩm, gọi là học hỏi tự giác.</a:t>
            </a:r>
            <a:r>
              <a:rPr lang="vi-VN" b="1" i="1">
                <a:latin typeface="Arial" panose="020B0604020202020204" pitchFamily="34" charset="0"/>
                <a:cs typeface="Arial" panose="020B0604020202020204" pitchFamily="34" charset="0"/>
              </a:rPr>
              <a:t> </a:t>
            </a:r>
          </a:p>
          <a:p>
            <a:pPr algn="just">
              <a:lnSpc>
                <a:spcPct val="150000"/>
              </a:lnSpc>
              <a:spcBef>
                <a:spcPts val="0"/>
              </a:spcBef>
              <a:buFont typeface="Wingdings" pitchFamily="2" charset="2"/>
              <a:buChar char="Ø"/>
            </a:pPr>
            <a:r>
              <a:rPr lang="vi-VN">
                <a:latin typeface="Arial" panose="020B0604020202020204" pitchFamily="34" charset="0"/>
                <a:cs typeface="Arial" panose="020B0604020202020204" pitchFamily="34" charset="0"/>
              </a:rPr>
              <a:t>Việc học hỏi nhìn chung cần sự góp mặt của 4 thành phần sau: động lực, gợi ý, phản hồi, gia cố.</a:t>
            </a:r>
            <a:endParaRPr lang="en-VN">
              <a:latin typeface="Arial" panose="020B0604020202020204" pitchFamily="34" charset="0"/>
              <a:cs typeface="Arial" panose="020B0604020202020204" pitchFamily="34" charset="0"/>
            </a:endParaRPr>
          </a:p>
          <a:p>
            <a:pPr algn="just">
              <a:lnSpc>
                <a:spcPct val="150000"/>
              </a:lnSpc>
              <a:spcBef>
                <a:spcPts val="0"/>
              </a:spcBef>
              <a:buFont typeface="Wingdings" pitchFamily="2" charset="2"/>
              <a:buChar char="Ø"/>
            </a:pP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9342103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a:xfrm>
            <a:off x="300990" y="182245"/>
            <a:ext cx="10515600" cy="1325563"/>
          </a:xfrm>
        </p:spPr>
        <p:txBody>
          <a:bodyPr>
            <a:normAutofit/>
          </a:bodyPr>
          <a:lstStyle/>
          <a:p>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3.3.2	 Bản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chất</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của</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việc</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học</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hỏi</a:t>
            </a:r>
            <a:endParaRPr lang="en-US" sz="280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p:txBody>
          <a:bodyPr vert="horz" lIns="91440" tIns="45720" rIns="91440" bIns="45720" rtlCol="0">
            <a:noAutofit/>
          </a:bodyPr>
          <a:lstStyle/>
          <a:p>
            <a:pPr algn="just">
              <a:lnSpc>
                <a:spcPct val="150000"/>
              </a:lnSpc>
              <a:spcBef>
                <a:spcPts val="0"/>
              </a:spcBef>
              <a:buFont typeface="Wingdings" pitchFamily="2" charset="2"/>
              <a:buChar char="Ø"/>
            </a:pPr>
            <a:r>
              <a:rPr lang="en-US">
                <a:latin typeface="Arial" panose="020B0604020202020204" pitchFamily="34" charset="0"/>
                <a:cs typeface="Arial" panose="020B0604020202020204" pitchFamily="34" charset="0"/>
              </a:rPr>
              <a:t> Học </a:t>
            </a:r>
            <a:r>
              <a:rPr lang="en-US" err="1">
                <a:latin typeface="Arial" panose="020B0604020202020204" pitchFamily="34" charset="0"/>
                <a:cs typeface="Arial" panose="020B0604020202020204" pitchFamily="34" charset="0"/>
              </a:rPr>
              <a:t>hỏi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liên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quan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đến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sự</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thay</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đổi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trong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hành</a:t>
            </a:r>
            <a:r>
              <a:rPr lang="en-US">
                <a:latin typeface="Arial" panose="020B0604020202020204" pitchFamily="34" charset="0"/>
                <a:cs typeface="Arial" panose="020B0604020202020204" pitchFamily="34" charset="0"/>
              </a:rPr>
              <a:t> vi</a:t>
            </a:r>
          </a:p>
          <a:p>
            <a:pPr algn="just">
              <a:lnSpc>
                <a:spcPct val="150000"/>
              </a:lnSpc>
              <a:spcBef>
                <a:spcPts val="0"/>
              </a:spcBef>
              <a:buFont typeface="Wingdings" pitchFamily="2" charset="2"/>
              <a:buChar char="Ø"/>
            </a:pPr>
            <a:r>
              <a:rPr lang="en-US">
                <a:latin typeface="Arial" panose="020B0604020202020204" pitchFamily="34" charset="0"/>
                <a:cs typeface="Arial" panose="020B0604020202020204" pitchFamily="34" charset="0"/>
              </a:rPr>
              <a:t> Sự </a:t>
            </a:r>
            <a:r>
              <a:rPr lang="en-US" err="1">
                <a:latin typeface="Arial" panose="020B0604020202020204" pitchFamily="34" charset="0"/>
                <a:cs typeface="Arial" panose="020B0604020202020204" pitchFamily="34" charset="0"/>
              </a:rPr>
              <a:t>thay</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đổi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trong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hành</a:t>
            </a:r>
            <a:r>
              <a:rPr lang="en-US">
                <a:latin typeface="Arial" panose="020B0604020202020204" pitchFamily="34" charset="0"/>
                <a:cs typeface="Arial" panose="020B0604020202020204" pitchFamily="34" charset="0"/>
              </a:rPr>
              <a:t> vi </a:t>
            </a:r>
            <a:r>
              <a:rPr lang="en-US" err="1">
                <a:latin typeface="Arial" panose="020B0604020202020204" pitchFamily="34" charset="0"/>
                <a:cs typeface="Arial" panose="020B0604020202020204" pitchFamily="34" charset="0"/>
              </a:rPr>
              <a:t>xảy</a:t>
            </a:r>
            <a:r>
              <a:rPr lang="en-US">
                <a:latin typeface="Arial" panose="020B0604020202020204" pitchFamily="34" charset="0"/>
                <a:cs typeface="Arial" panose="020B0604020202020204" pitchFamily="34" charset="0"/>
              </a:rPr>
              <a:t> ra do </a:t>
            </a:r>
            <a:r>
              <a:rPr lang="en-US" err="1">
                <a:latin typeface="Arial" panose="020B0604020202020204" pitchFamily="34" charset="0"/>
                <a:cs typeface="Arial" panose="020B0604020202020204" pitchFamily="34" charset="0"/>
              </a:rPr>
              <a:t>kinh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nghiệm</a:t>
            </a:r>
            <a:endParaRPr lang="en-US">
              <a:latin typeface="Arial" panose="020B0604020202020204" pitchFamily="34" charset="0"/>
              <a:cs typeface="Arial" panose="020B0604020202020204" pitchFamily="34" charset="0"/>
            </a:endParaRPr>
          </a:p>
          <a:p>
            <a:pPr algn="just">
              <a:lnSpc>
                <a:spcPct val="150000"/>
              </a:lnSpc>
              <a:spcBef>
                <a:spcPts val="0"/>
              </a:spcBef>
              <a:buFont typeface="Wingdings" pitchFamily="2" charset="2"/>
              <a:buChar char="Ø"/>
            </a:pPr>
            <a:r>
              <a:rPr lang="en-US">
                <a:latin typeface="Arial" panose="020B0604020202020204" pitchFamily="34" charset="0"/>
                <a:cs typeface="Arial" panose="020B0604020202020204" pitchFamily="34" charset="0"/>
              </a:rPr>
              <a:t> Học </a:t>
            </a:r>
            <a:r>
              <a:rPr lang="en-US" err="1">
                <a:latin typeface="Arial" panose="020B0604020202020204" pitchFamily="34" charset="0"/>
                <a:cs typeface="Arial" panose="020B0604020202020204" pitchFamily="34" charset="0"/>
              </a:rPr>
              <a:t>hỏi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phản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ánh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tác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động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của</a:t>
            </a:r>
            <a:r>
              <a:rPr lang="en-US">
                <a:latin typeface="Arial" panose="020B0604020202020204" pitchFamily="34" charset="0"/>
                <a:cs typeface="Arial" panose="020B0604020202020204" pitchFamily="34" charset="0"/>
              </a:rPr>
              <a:t> marketing</a:t>
            </a:r>
          </a:p>
          <a:p>
            <a:pPr algn="just">
              <a:lnSpc>
                <a:spcPct val="150000"/>
              </a:lnSpc>
              <a:spcBef>
                <a:spcPts val="0"/>
              </a:spcBef>
              <a:buFont typeface="Wingdings" pitchFamily="2" charset="2"/>
              <a:buChar char="Ø"/>
            </a:pPr>
            <a:r>
              <a:rPr lang="en-US">
                <a:latin typeface="Arial" panose="020B0604020202020204" pitchFamily="34" charset="0"/>
                <a:cs typeface="Arial" panose="020B0604020202020204" pitchFamily="34" charset="0"/>
              </a:rPr>
              <a:t> Học </a:t>
            </a:r>
            <a:r>
              <a:rPr lang="en-US" err="1">
                <a:latin typeface="Arial" panose="020B0604020202020204" pitchFamily="34" charset="0"/>
                <a:cs typeface="Arial" panose="020B0604020202020204" pitchFamily="34" charset="0"/>
              </a:rPr>
              <a:t>hỏi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là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một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quá</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trình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nhận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thức</a:t>
            </a:r>
            <a:endParaRPr lang="en-US">
              <a:latin typeface="Arial" panose="020B0604020202020204" pitchFamily="34" charset="0"/>
              <a:cs typeface="Arial" panose="020B0604020202020204" pitchFamily="34" charset="0"/>
            </a:endParaRPr>
          </a:p>
          <a:p>
            <a:pPr algn="just">
              <a:lnSpc>
                <a:spcPct val="150000"/>
              </a:lnSpc>
              <a:spcBef>
                <a:spcPts val="0"/>
              </a:spcBef>
              <a:buFont typeface="Wingdings" pitchFamily="2" charset="2"/>
              <a:buChar char="Ø"/>
            </a:pPr>
            <a:r>
              <a:rPr lang="en-US">
                <a:latin typeface="Arial" panose="020B0604020202020204" pitchFamily="34" charset="0"/>
                <a:cs typeface="Arial" panose="020B0604020202020204" pitchFamily="34" charset="0"/>
              </a:rPr>
              <a:t> Học </a:t>
            </a:r>
            <a:r>
              <a:rPr lang="en-US" err="1">
                <a:latin typeface="Arial" panose="020B0604020202020204" pitchFamily="34" charset="0"/>
                <a:cs typeface="Arial" panose="020B0604020202020204" pitchFamily="34" charset="0"/>
              </a:rPr>
              <a:t>hỏi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là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một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quá</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trình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liên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tục</a:t>
            </a:r>
            <a:endParaRPr lang="en-US">
              <a:latin typeface="Arial" panose="020B0604020202020204" pitchFamily="34" charset="0"/>
              <a:cs typeface="Arial" panose="020B0604020202020204" pitchFamily="34" charset="0"/>
            </a:endParaRPr>
          </a:p>
          <a:p>
            <a:pPr algn="just">
              <a:lnSpc>
                <a:spcPct val="150000"/>
              </a:lnSpc>
              <a:spcBef>
                <a:spcPts val="0"/>
              </a:spcBef>
              <a:buFont typeface="Wingdings" pitchFamily="2" charset="2"/>
              <a:buChar char="Ø"/>
            </a:pPr>
            <a:r>
              <a:rPr lang="en-US">
                <a:latin typeface="Arial" panose="020B0604020202020204" pitchFamily="34" charset="0"/>
                <a:cs typeface="Arial" panose="020B0604020202020204" pitchFamily="34" charset="0"/>
              </a:rPr>
              <a:t> Học </a:t>
            </a:r>
            <a:r>
              <a:rPr lang="en-US" err="1">
                <a:latin typeface="Arial" panose="020B0604020202020204" pitchFamily="34" charset="0"/>
                <a:cs typeface="Arial" panose="020B0604020202020204" pitchFamily="34" charset="0"/>
              </a:rPr>
              <a:t>hỏi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mang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tính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cụ</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thể</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có</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chủ</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ý</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ngẫu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nhiên</a:t>
            </a:r>
            <a:endParaRPr lang="en-US">
              <a:latin typeface="Arial" panose="020B0604020202020204" pitchFamily="34" charset="0"/>
              <a:cs typeface="Arial" panose="020B0604020202020204" pitchFamily="34" charset="0"/>
            </a:endParaRPr>
          </a:p>
          <a:p>
            <a:pPr marL="0" indent="0" algn="just">
              <a:lnSpc>
                <a:spcPct val="150000"/>
              </a:lnSpc>
              <a:spcBef>
                <a:spcPts val="0"/>
              </a:spcBef>
              <a:buNone/>
            </a:pP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187972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a:xfrm>
            <a:off x="415290" y="273685"/>
            <a:ext cx="10515600" cy="1325563"/>
          </a:xfrm>
        </p:spPr>
        <p:txBody>
          <a:bodyPr>
            <a:normAutofit/>
          </a:bodyPr>
          <a:lstStyle/>
          <a:p>
            <a:r>
              <a:rPr lang="en-US" sz="2800" b="1" kern="0">
                <a:latin typeface="Arial" panose="020B0604020202020204" pitchFamily="34" charset="0"/>
                <a:ea typeface="Times New Roman" panose="02020603050405020304" pitchFamily="18" charset="0"/>
                <a:cs typeface="Arial" panose="020B0604020202020204" pitchFamily="34" charset="0"/>
              </a:rPr>
              <a:t>3.3</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.3 Đặc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điểm</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của</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việc</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học</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hỏi</a:t>
            </a:r>
            <a:endParaRPr lang="en-US" sz="280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p:txBody>
          <a:bodyPr vert="horz" lIns="91440" tIns="45720" rIns="91440" bIns="45720" rtlCol="0">
            <a:noAutofit/>
          </a:bodyPr>
          <a:lstStyle/>
          <a:p>
            <a:pPr algn="just">
              <a:lnSpc>
                <a:spcPct val="150000"/>
              </a:lnSpc>
              <a:spcBef>
                <a:spcPts val="0"/>
              </a:spcBef>
              <a:buFont typeface="Wingdings" pitchFamily="2" charset="2"/>
              <a:buChar char="Ø"/>
            </a:pPr>
            <a:r>
              <a:rPr lang="en-US">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Mức</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độ</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của</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việc</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học</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hỏi</a:t>
            </a:r>
            <a:r>
              <a:rPr lang="en-US">
                <a:latin typeface="Arial" panose="020B0604020202020204" pitchFamily="34" charset="0"/>
                <a:cs typeface="Arial" panose="020B0604020202020204" pitchFamily="34" charset="0"/>
              </a:rPr>
              <a:t>:  </a:t>
            </a:r>
            <a:r>
              <a:rPr lang="vi-VN"/>
              <a:t>Mức độ học hỏi của người tiêu dùng, nhìn chung, bị ảnh hưởng bởi 6 yếu tố: mức độ quan trọng của việc học hỏi, bản chất thông điệp, tâm trạng, mức độ hài lòng, tần suất lập đi lập lại và hình ảnh gợi ý</a:t>
            </a:r>
            <a:r>
              <a:rPr lang="en-VN"/>
              <a:t> </a:t>
            </a:r>
          </a:p>
          <a:p>
            <a:pPr algn="just">
              <a:lnSpc>
                <a:spcPct val="150000"/>
              </a:lnSpc>
              <a:spcBef>
                <a:spcPts val="0"/>
              </a:spcBef>
              <a:buFont typeface="Wingdings" pitchFamily="2" charset="2"/>
              <a:buChar char="Ø"/>
            </a:pPr>
            <a:endParaRPr lang="en-VN"/>
          </a:p>
          <a:p>
            <a:pPr algn="just">
              <a:lnSpc>
                <a:spcPct val="150000"/>
              </a:lnSpc>
              <a:spcBef>
                <a:spcPts val="0"/>
              </a:spcBef>
              <a:buFont typeface="Wingdings" pitchFamily="2" charset="2"/>
              <a:buChar char="Ø"/>
            </a:pPr>
            <a:r>
              <a:rPr lang="en-VN">
                <a:latin typeface="Arial" panose="020B0604020202020204" pitchFamily="34" charset="0"/>
                <a:cs typeface="Arial" panose="020B0604020202020204" pitchFamily="34" charset="0"/>
              </a:rPr>
              <a:t> </a:t>
            </a:r>
            <a:r>
              <a:rPr lang="en-VN" b="1">
                <a:latin typeface="Arial" panose="020B0604020202020204" pitchFamily="34" charset="0"/>
                <a:cs typeface="Arial" panose="020B0604020202020204" pitchFamily="34" charset="0"/>
              </a:rPr>
              <a:t>Mức độ quên</a:t>
            </a:r>
            <a:r>
              <a:rPr lang="en-VN">
                <a:latin typeface="Arial" panose="020B0604020202020204" pitchFamily="34" charset="0"/>
                <a:cs typeface="Arial" panose="020B0604020202020204" pitchFamily="34" charset="0"/>
              </a:rPr>
              <a:t>: </a:t>
            </a:r>
            <a:r>
              <a:rPr lang="vi-VN"/>
              <a:t>Người tiêu dùng sẽ quên các thông tin học được sau một thời gian dài</a:t>
            </a:r>
            <a:r>
              <a:rPr lang="en-VN"/>
              <a:t> </a:t>
            </a:r>
          </a:p>
          <a:p>
            <a:pPr marL="0" indent="0" algn="just">
              <a:lnSpc>
                <a:spcPct val="150000"/>
              </a:lnSpc>
              <a:spcBef>
                <a:spcPts val="0"/>
              </a:spcBef>
              <a:buNone/>
            </a:pP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281483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a:xfrm>
            <a:off x="403860" y="273685"/>
            <a:ext cx="10515600" cy="1325563"/>
          </a:xfrm>
        </p:spPr>
        <p:txBody>
          <a:bodyPr>
            <a:normAutofit/>
          </a:bodyPr>
          <a:lstStyle/>
          <a:p>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3.3.3 Đặc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điểm</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của</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việc</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học</a:t>
            </a:r>
            <a:r>
              <a:rPr lang="en-US" sz="28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b="1" u="none" strike="noStrike" kern="0" spc="0" err="1">
                <a:effectLst/>
                <a:latin typeface="Arial" panose="020B0604020202020204" pitchFamily="34" charset="0"/>
                <a:ea typeface="Times New Roman" panose="02020603050405020304" pitchFamily="18" charset="0"/>
                <a:cs typeface="Arial" panose="020B0604020202020204" pitchFamily="34" charset="0"/>
              </a:rPr>
              <a:t>hỏi</a:t>
            </a:r>
            <a:endParaRPr lang="en-US" sz="280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p:txBody>
          <a:bodyPr vert="horz" lIns="91440" tIns="45720" rIns="91440" bIns="45720" rtlCol="0">
            <a:noAutofit/>
          </a:bodyPr>
          <a:lstStyle/>
          <a:p>
            <a:pPr algn="just">
              <a:lnSpc>
                <a:spcPct val="150000"/>
              </a:lnSpc>
              <a:spcBef>
                <a:spcPts val="0"/>
              </a:spcBef>
              <a:buFont typeface="Wingdings" pitchFamily="2" charset="2"/>
              <a:buChar char="Ø"/>
            </a:pPr>
            <a:r>
              <a:rPr lang="en-VN" b="1">
                <a:latin typeface="Arial" panose="020B0604020202020204" pitchFamily="34" charset="0"/>
                <a:cs typeface="Arial" panose="020B0604020202020204" pitchFamily="34" charset="0"/>
              </a:rPr>
              <a:t> Mức độ suy diễn</a:t>
            </a:r>
            <a:r>
              <a:rPr lang="en-VN">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Mức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độ</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suy</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diễn</a:t>
            </a:r>
            <a:r>
              <a:rPr lang="en-US">
                <a:latin typeface="Arial" panose="020B0604020202020204" pitchFamily="34" charset="0"/>
                <a:cs typeface="Arial" panose="020B0604020202020204" pitchFamily="34" charset="0"/>
              </a:rPr>
              <a:t> l</a:t>
            </a:r>
            <a:r>
              <a:rPr lang="vi-VN">
                <a:latin typeface="Arial" panose="020B0604020202020204" pitchFamily="34" charset="0"/>
                <a:cs typeface="Arial" panose="020B0604020202020204" pitchFamily="34" charset="0"/>
              </a:rPr>
              <a:t>à việc áp dụng phản ứng/ hành vi học được đối với một tác nhân kích thích lên một tác nhân kích thích khác</a:t>
            </a:r>
            <a:r>
              <a:rPr lang="en-VN">
                <a:latin typeface="Arial" panose="020B0604020202020204" pitchFamily="34" charset="0"/>
                <a:cs typeface="Arial" panose="020B0604020202020204" pitchFamily="34" charset="0"/>
              </a:rPr>
              <a:t> </a:t>
            </a:r>
          </a:p>
          <a:p>
            <a:pPr algn="just">
              <a:lnSpc>
                <a:spcPct val="150000"/>
              </a:lnSpc>
              <a:spcBef>
                <a:spcPts val="0"/>
              </a:spcBef>
              <a:buFont typeface="Wingdings" pitchFamily="2" charset="2"/>
              <a:buChar char="Ø"/>
            </a:pPr>
            <a:endParaRPr lang="en-VN">
              <a:latin typeface="Arial" panose="020B0604020202020204" pitchFamily="34" charset="0"/>
              <a:cs typeface="Arial" panose="020B0604020202020204" pitchFamily="34" charset="0"/>
            </a:endParaRPr>
          </a:p>
          <a:p>
            <a:pPr algn="just">
              <a:lnSpc>
                <a:spcPct val="150000"/>
              </a:lnSpc>
              <a:spcBef>
                <a:spcPts val="0"/>
              </a:spcBef>
              <a:buFont typeface="Wingdings" pitchFamily="2" charset="2"/>
              <a:buChar char="Ø"/>
            </a:pPr>
            <a:r>
              <a:rPr lang="en-VN">
                <a:latin typeface="Arial" panose="020B0604020202020204" pitchFamily="34" charset="0"/>
                <a:cs typeface="Arial" panose="020B0604020202020204" pitchFamily="34" charset="0"/>
              </a:rPr>
              <a:t> </a:t>
            </a:r>
            <a:r>
              <a:rPr lang="en-VN" b="1">
                <a:latin typeface="Arial" panose="020B0604020202020204" pitchFamily="34" charset="0"/>
                <a:cs typeface="Arial" panose="020B0604020202020204" pitchFamily="34" charset="0"/>
              </a:rPr>
              <a:t>Môi trường ứng dụng</a:t>
            </a:r>
            <a:r>
              <a:rPr lang="en-VN">
                <a:latin typeface="Arial" panose="020B0604020202020204" pitchFamily="34" charset="0"/>
                <a:cs typeface="Arial" panose="020B0604020202020204" pitchFamily="34" charset="0"/>
              </a:rPr>
              <a:t>: </a:t>
            </a:r>
            <a:r>
              <a:rPr lang="vi-VN"/>
              <a:t>Người tiêu dùng có khả năng học nhanh hơn và nhớ lâu hơn nếu môi trường học (giả định) gần giống nhất với môi trường thật</a:t>
            </a:r>
            <a:r>
              <a:rPr lang="en-VN"/>
              <a:t> </a:t>
            </a: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505598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a:xfrm>
            <a:off x="787400" y="426950"/>
            <a:ext cx="10515600" cy="1325563"/>
          </a:xfrm>
        </p:spPr>
        <p:txBody>
          <a:bodyPr>
            <a:normAutofit/>
          </a:bodyPr>
          <a:lstStyle/>
          <a:p>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Học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hỏi</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có</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điều</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kiện</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kiểu</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cổ</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điển</a:t>
            </a:r>
            <a:endParaRPr lang="en-US" sz="2800" i="1">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a:xfrm>
            <a:off x="358422" y="1627134"/>
            <a:ext cx="10515600" cy="4351338"/>
          </a:xfrm>
        </p:spPr>
        <p:txBody>
          <a:bodyPr vert="horz" lIns="91440" tIns="45720" rIns="91440" bIns="45720" rtlCol="0">
            <a:noAutofit/>
          </a:bodyPr>
          <a:lstStyle/>
          <a:p>
            <a:pPr algn="just">
              <a:lnSpc>
                <a:spcPct val="150000"/>
              </a:lnSpc>
              <a:spcBef>
                <a:spcPts val="0"/>
              </a:spcBef>
              <a:buFont typeface="Wingdings" pitchFamily="2" charset="2"/>
              <a:buChar char="Ø"/>
            </a:pPr>
            <a:r>
              <a:rPr lang="vi-VN" sz="2600"/>
              <a:t> Các nhà marketing có thể ứng dụng học hỏi kiểu cổ điển vào các chiến lược marketing của mình. Ví dụ, việc liên tục quảng cáo một nhãn hiệu nước giải khát giữa các trận đá bóng sẽ tạo liên kết giữa thương hiệu sản phẩm trên và cảm giác phấn khích. </a:t>
            </a:r>
          </a:p>
          <a:p>
            <a:pPr algn="just">
              <a:lnSpc>
                <a:spcPct val="150000"/>
              </a:lnSpc>
              <a:spcBef>
                <a:spcPts val="0"/>
              </a:spcBef>
              <a:buFont typeface="Wingdings" pitchFamily="2" charset="2"/>
              <a:buChar char="Ø"/>
            </a:pPr>
            <a:r>
              <a:rPr lang="vi-VN" sz="2600"/>
              <a:t> Học hỏi kiểu cổ điển thường được áp dụng cho các sản phẩm ít được chú trọng như nước giải khát, nước khoáng, …</a:t>
            </a:r>
          </a:p>
          <a:p>
            <a:pPr algn="just">
              <a:lnSpc>
                <a:spcPct val="150000"/>
              </a:lnSpc>
              <a:spcBef>
                <a:spcPts val="0"/>
              </a:spcBef>
              <a:buFont typeface="Wingdings" pitchFamily="2" charset="2"/>
              <a:buChar char="Ø"/>
            </a:pPr>
            <a:r>
              <a:rPr lang="vi-VN" sz="2600"/>
              <a:t> Học hỏi kiểu cổ điển chỉ “dạy” về cảm xúc, … chứ không “dạy” được hành động cụ thể.</a:t>
            </a:r>
            <a:r>
              <a:rPr lang="en-VN" sz="2600"/>
              <a:t> </a:t>
            </a:r>
            <a:endParaRPr lang="en-US" sz="260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756AEA3C-863A-C4DF-CB99-8DC2351D4192}"/>
              </a:ext>
            </a:extLst>
          </p:cNvPr>
          <p:cNvSpPr txBox="1">
            <a:spLocks/>
          </p:cNvSpPr>
          <p:nvPr/>
        </p:nvSpPr>
        <p:spPr>
          <a:xfrm>
            <a:off x="358422" y="-23583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kern="0">
                <a:latin typeface="Arial" panose="020B0604020202020204" pitchFamily="34" charset="0"/>
                <a:ea typeface="Times New Roman" panose="02020603050405020304" pitchFamily="18" charset="0"/>
                <a:cs typeface="Arial" panose="020B0604020202020204" pitchFamily="34" charset="0"/>
              </a:rPr>
              <a:t>3.3.4 Các </a:t>
            </a:r>
            <a:r>
              <a:rPr lang="en-US" sz="2800" b="1" kern="0" err="1">
                <a:latin typeface="Arial" panose="020B0604020202020204" pitchFamily="34" charset="0"/>
                <a:ea typeface="Times New Roman" panose="02020603050405020304" pitchFamily="18" charset="0"/>
                <a:cs typeface="Arial" panose="020B0604020202020204" pitchFamily="34" charset="0"/>
              </a:rPr>
              <a:t>lý</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thuyết</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về</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hành</a:t>
            </a:r>
            <a:r>
              <a:rPr lang="en-US" sz="2800" b="1" kern="0">
                <a:latin typeface="Arial" panose="020B0604020202020204" pitchFamily="34" charset="0"/>
                <a:ea typeface="Times New Roman" panose="02020603050405020304" pitchFamily="18" charset="0"/>
                <a:cs typeface="Arial" panose="020B0604020202020204" pitchFamily="34" charset="0"/>
              </a:rPr>
              <a:t> vi </a:t>
            </a:r>
            <a:r>
              <a:rPr lang="en-US" sz="2800" b="1" kern="0" err="1">
                <a:latin typeface="Arial" panose="020B0604020202020204" pitchFamily="34" charset="0"/>
                <a:ea typeface="Times New Roman" panose="02020603050405020304" pitchFamily="18" charset="0"/>
                <a:cs typeface="Arial" panose="020B0604020202020204" pitchFamily="34" charset="0"/>
              </a:rPr>
              <a:t>học</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hỏi</a:t>
            </a:r>
            <a:endParaRPr lang="en-US"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231517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a:xfrm>
            <a:off x="911578" y="610217"/>
            <a:ext cx="10515600" cy="1325563"/>
          </a:xfrm>
        </p:spPr>
        <p:txBody>
          <a:bodyPr>
            <a:normAutofit/>
          </a:bodyPr>
          <a:lstStyle/>
          <a:p>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Học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hỏi</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có</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điều</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kiện</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kiểu</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cổ</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điển</a:t>
            </a:r>
            <a:endParaRPr lang="en-US" sz="2800" i="1">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p:txBody>
          <a:bodyPr vert="horz" lIns="91440" tIns="45720" rIns="91440" bIns="45720" rtlCol="0">
            <a:noAutofit/>
          </a:bodyPr>
          <a:lstStyle/>
          <a:p>
            <a:pPr algn="just">
              <a:lnSpc>
                <a:spcPct val="150000"/>
              </a:lnSpc>
              <a:spcBef>
                <a:spcPts val="0"/>
              </a:spcBef>
              <a:buFont typeface="Wingdings" pitchFamily="2" charset="2"/>
              <a:buChar char="Ø"/>
            </a:pPr>
            <a:r>
              <a:rPr lang="vi-VN"/>
              <a:t> Học hỏi có điều kiện kiểu cổ điển là việc dùng một liên kết có sẵn giữa một tác nhân kích thích và một phản hồi tự động rồi gắn nó với một tác nhân kích thích khác và lập đi lập lại nhiều lần để cho ra một phản hồi tương tự nhưng với tác nhân kích thích khác. </a:t>
            </a:r>
          </a:p>
          <a:p>
            <a:pPr algn="just">
              <a:lnSpc>
                <a:spcPct val="150000"/>
              </a:lnSpc>
              <a:spcBef>
                <a:spcPts val="0"/>
              </a:spcBef>
              <a:buFont typeface="Wingdings" pitchFamily="2" charset="2"/>
              <a:buChar char="Ø"/>
            </a:pPr>
            <a:r>
              <a:rPr lang="vi-VN"/>
              <a:t> Loại học hỏi này gắn liền với tên tuổi của một nhà tâm lý học: Ivan Pavlov và thí nghiệm nổi tiếng của ông.</a:t>
            </a:r>
            <a:r>
              <a:rPr lang="en-VN"/>
              <a:t> </a:t>
            </a:r>
            <a:endParaRPr lang="en-US">
              <a:latin typeface="Arial" panose="020B0604020202020204" pitchFamily="34" charset="0"/>
              <a:cs typeface="Arial" panose="020B0604020202020204" pitchFamily="34" charset="0"/>
            </a:endParaRPr>
          </a:p>
        </p:txBody>
      </p:sp>
      <p:sp>
        <p:nvSpPr>
          <p:cNvPr id="3" name="Title 1">
            <a:extLst>
              <a:ext uri="{FF2B5EF4-FFF2-40B4-BE49-F238E27FC236}">
                <a16:creationId xmlns:a16="http://schemas.microsoft.com/office/drawing/2014/main" id="{BC4DF26D-5642-C5D6-E8E8-899417C33A6E}"/>
              </a:ext>
            </a:extLst>
          </p:cNvPr>
          <p:cNvSpPr txBox="1">
            <a:spLocks/>
          </p:cNvSpPr>
          <p:nvPr/>
        </p:nvSpPr>
        <p:spPr>
          <a:xfrm>
            <a:off x="289560" y="-10764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kern="0">
                <a:latin typeface="Arial" panose="020B0604020202020204" pitchFamily="34" charset="0"/>
                <a:ea typeface="Times New Roman" panose="02020603050405020304" pitchFamily="18" charset="0"/>
                <a:cs typeface="Arial" panose="020B0604020202020204" pitchFamily="34" charset="0"/>
              </a:rPr>
              <a:t>3.3.4 Các </a:t>
            </a:r>
            <a:r>
              <a:rPr lang="en-US" sz="2800" b="1" kern="0" err="1">
                <a:latin typeface="Arial" panose="020B0604020202020204" pitchFamily="34" charset="0"/>
                <a:ea typeface="Times New Roman" panose="02020603050405020304" pitchFamily="18" charset="0"/>
                <a:cs typeface="Arial" panose="020B0604020202020204" pitchFamily="34" charset="0"/>
              </a:rPr>
              <a:t>lý</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thuyết</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về</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hành</a:t>
            </a:r>
            <a:r>
              <a:rPr lang="en-US" sz="2800" b="1" kern="0">
                <a:latin typeface="Arial" panose="020B0604020202020204" pitchFamily="34" charset="0"/>
                <a:ea typeface="Times New Roman" panose="02020603050405020304" pitchFamily="18" charset="0"/>
                <a:cs typeface="Arial" panose="020B0604020202020204" pitchFamily="34" charset="0"/>
              </a:rPr>
              <a:t> vi </a:t>
            </a:r>
            <a:r>
              <a:rPr lang="en-US" sz="2800" b="1" kern="0" err="1">
                <a:latin typeface="Arial" panose="020B0604020202020204" pitchFamily="34" charset="0"/>
                <a:ea typeface="Times New Roman" panose="02020603050405020304" pitchFamily="18" charset="0"/>
                <a:cs typeface="Arial" panose="020B0604020202020204" pitchFamily="34" charset="0"/>
              </a:rPr>
              <a:t>học</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hỏi</a:t>
            </a:r>
            <a:endParaRPr lang="en-US"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711464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a:xfrm>
            <a:off x="331470" y="681037"/>
            <a:ext cx="10515600" cy="1325563"/>
          </a:xfrm>
        </p:spPr>
        <p:txBody>
          <a:bodyPr>
            <a:normAutofit/>
          </a:bodyPr>
          <a:lstStyle/>
          <a:p>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Ứng</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d</a:t>
            </a:r>
            <a:r>
              <a:rPr lang="en-US" sz="2800" i="1" kern="0" err="1">
                <a:latin typeface="Arial" panose="020B0604020202020204" pitchFamily="34" charset="0"/>
                <a:ea typeface="Times New Roman" panose="02020603050405020304" pitchFamily="18" charset="0"/>
                <a:cs typeface="Arial" panose="020B0604020202020204" pitchFamily="34" charset="0"/>
              </a:rPr>
              <a:t>ụ</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ng</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học</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hỏi</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có</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điều</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kiện</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kiểu</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cổ</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điển</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vào</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các</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hoạt</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động</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marketing</a:t>
            </a:r>
            <a:endParaRPr lang="en-US" sz="2800" i="1">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a:xfrm>
            <a:off x="331470" y="1825625"/>
            <a:ext cx="11022330" cy="4351338"/>
          </a:xfrm>
        </p:spPr>
        <p:txBody>
          <a:bodyPr vert="horz" lIns="91440" tIns="45720" rIns="91440" bIns="45720" rtlCol="0">
            <a:noAutofit/>
          </a:bodyPr>
          <a:lstStyle/>
          <a:p>
            <a:pPr algn="just">
              <a:lnSpc>
                <a:spcPct val="150000"/>
              </a:lnSpc>
              <a:spcBef>
                <a:spcPts val="0"/>
              </a:spcBef>
              <a:buFont typeface="Wingdings" pitchFamily="2" charset="2"/>
              <a:buChar char="Ø"/>
            </a:pPr>
            <a:r>
              <a:rPr lang="vi-VN"/>
              <a:t> Khái quát hoá: mở rộng dòng sản phẩm, mở rộng thương hiệu</a:t>
            </a:r>
          </a:p>
          <a:p>
            <a:pPr algn="just">
              <a:lnSpc>
                <a:spcPct val="150000"/>
              </a:lnSpc>
              <a:spcBef>
                <a:spcPts val="0"/>
              </a:spcBef>
              <a:buFont typeface="Wingdings" pitchFamily="2" charset="2"/>
              <a:buChar char="Ø"/>
            </a:pPr>
            <a:r>
              <a:rPr lang="vi-VN"/>
              <a:t> Tuy nhiên, các nhà marketing cũng cần phải lưu ý rằng, việc làm này cũng có nguy cơ của nó. Nếu như một sản phẩm trong nhóm sản phẩm cùng thương hiệu này thất bại, hoặc gặp phải một sự cố nào đó ảnh hưởng đến thương hiệu, thì nó sẽ làm ảnh hưởng đến tất cả sản phẩm mang cùng thương hiệu đó.</a:t>
            </a:r>
            <a:endParaRPr lang="en-VN"/>
          </a:p>
          <a:p>
            <a:pPr algn="just">
              <a:lnSpc>
                <a:spcPct val="150000"/>
              </a:lnSpc>
              <a:spcBef>
                <a:spcPts val="0"/>
              </a:spcBef>
              <a:buFont typeface="Wingdings" pitchFamily="2" charset="2"/>
              <a:buChar char="Ø"/>
            </a:pPr>
            <a:endParaRPr lang="vi-VN"/>
          </a:p>
        </p:txBody>
      </p:sp>
      <p:sp>
        <p:nvSpPr>
          <p:cNvPr id="3" name="Title 1">
            <a:extLst>
              <a:ext uri="{FF2B5EF4-FFF2-40B4-BE49-F238E27FC236}">
                <a16:creationId xmlns:a16="http://schemas.microsoft.com/office/drawing/2014/main" id="{BD708B59-5D25-C6EB-222D-01959BD040D0}"/>
              </a:ext>
            </a:extLst>
          </p:cNvPr>
          <p:cNvSpPr txBox="1">
            <a:spLocks/>
          </p:cNvSpPr>
          <p:nvPr/>
        </p:nvSpPr>
        <p:spPr>
          <a:xfrm>
            <a:off x="331470" y="-16896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kern="0">
                <a:latin typeface="Arial" panose="020B0604020202020204" pitchFamily="34" charset="0"/>
                <a:ea typeface="Times New Roman" panose="02020603050405020304" pitchFamily="18" charset="0"/>
                <a:cs typeface="Arial" panose="020B0604020202020204" pitchFamily="34" charset="0"/>
              </a:rPr>
              <a:t>3.3.4 Các </a:t>
            </a:r>
            <a:r>
              <a:rPr lang="en-US" sz="2800" b="1" kern="0" err="1">
                <a:latin typeface="Arial" panose="020B0604020202020204" pitchFamily="34" charset="0"/>
                <a:ea typeface="Times New Roman" panose="02020603050405020304" pitchFamily="18" charset="0"/>
                <a:cs typeface="Arial" panose="020B0604020202020204" pitchFamily="34" charset="0"/>
              </a:rPr>
              <a:t>lý</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thuyết</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về</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hành</a:t>
            </a:r>
            <a:r>
              <a:rPr lang="en-US" sz="2800" b="1" kern="0">
                <a:latin typeface="Arial" panose="020B0604020202020204" pitchFamily="34" charset="0"/>
                <a:ea typeface="Times New Roman" panose="02020603050405020304" pitchFamily="18" charset="0"/>
                <a:cs typeface="Arial" panose="020B0604020202020204" pitchFamily="34" charset="0"/>
              </a:rPr>
              <a:t> vi </a:t>
            </a:r>
            <a:r>
              <a:rPr lang="en-US" sz="2800" b="1" kern="0" err="1">
                <a:latin typeface="Arial" panose="020B0604020202020204" pitchFamily="34" charset="0"/>
                <a:ea typeface="Times New Roman" panose="02020603050405020304" pitchFamily="18" charset="0"/>
                <a:cs typeface="Arial" panose="020B0604020202020204" pitchFamily="34" charset="0"/>
              </a:rPr>
              <a:t>học</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hỏi</a:t>
            </a:r>
            <a:endParaRPr lang="en-US"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26510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a:xfrm>
            <a:off x="872067" y="667103"/>
            <a:ext cx="10515600" cy="1325563"/>
          </a:xfrm>
        </p:spPr>
        <p:txBody>
          <a:bodyPr>
            <a:normAutofit/>
          </a:bodyPr>
          <a:lstStyle/>
          <a:p>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Học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hỏi</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có</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điều</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kiện</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tưởng</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thưởng</a:t>
            </a:r>
            <a:endParaRPr lang="en-US" sz="2800" i="1">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p:txBody>
          <a:bodyPr vert="horz" lIns="91440" tIns="45720" rIns="91440" bIns="45720" rtlCol="0">
            <a:noAutofit/>
          </a:bodyPr>
          <a:lstStyle/>
          <a:p>
            <a:pPr algn="just">
              <a:lnSpc>
                <a:spcPct val="150000"/>
              </a:lnSpc>
              <a:spcBef>
                <a:spcPts val="0"/>
              </a:spcBef>
              <a:buFont typeface="Wingdings" pitchFamily="2" charset="2"/>
              <a:buChar char="Ø"/>
            </a:pPr>
            <a:r>
              <a:rPr lang="vi-VN"/>
              <a:t> Học hỏi có điều kiện kiểu tưởng thưởng là kiểu học hỏi qua một quá trình thử - không hài lòng- thử lại, qua đó, người tiêu dùng sẽ học hỏi được hành vi (mua hàng) hay thói quen qua việc được tưởng thưởng hoặc dừng hành vi hay thói quen qua việc bị “phạt”. </a:t>
            </a:r>
          </a:p>
        </p:txBody>
      </p:sp>
      <p:sp>
        <p:nvSpPr>
          <p:cNvPr id="3" name="Title 1">
            <a:extLst>
              <a:ext uri="{FF2B5EF4-FFF2-40B4-BE49-F238E27FC236}">
                <a16:creationId xmlns:a16="http://schemas.microsoft.com/office/drawing/2014/main" id="{9CA03CBD-A53D-C4B6-61D7-F2C87AF87CC7}"/>
              </a:ext>
            </a:extLst>
          </p:cNvPr>
          <p:cNvSpPr txBox="1">
            <a:spLocks/>
          </p:cNvSpPr>
          <p:nvPr/>
        </p:nvSpPr>
        <p:spPr>
          <a:xfrm>
            <a:off x="358563" y="-7919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kern="0">
                <a:latin typeface="Arial" panose="020B0604020202020204" pitchFamily="34" charset="0"/>
                <a:ea typeface="Times New Roman" panose="02020603050405020304" pitchFamily="18" charset="0"/>
                <a:cs typeface="Arial" panose="020B0604020202020204" pitchFamily="34" charset="0"/>
              </a:rPr>
              <a:t>3.3.4 Các </a:t>
            </a:r>
            <a:r>
              <a:rPr lang="en-US" sz="2800" b="1" kern="0" err="1">
                <a:latin typeface="Arial" panose="020B0604020202020204" pitchFamily="34" charset="0"/>
                <a:ea typeface="Times New Roman" panose="02020603050405020304" pitchFamily="18" charset="0"/>
                <a:cs typeface="Arial" panose="020B0604020202020204" pitchFamily="34" charset="0"/>
              </a:rPr>
              <a:t>lý</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thuyết</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về</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hành</a:t>
            </a:r>
            <a:r>
              <a:rPr lang="en-US" sz="2800" b="1" kern="0">
                <a:latin typeface="Arial" panose="020B0604020202020204" pitchFamily="34" charset="0"/>
                <a:ea typeface="Times New Roman" panose="02020603050405020304" pitchFamily="18" charset="0"/>
                <a:cs typeface="Arial" panose="020B0604020202020204" pitchFamily="34" charset="0"/>
              </a:rPr>
              <a:t> vi </a:t>
            </a:r>
            <a:r>
              <a:rPr lang="en-US" sz="2800" b="1" kern="0" err="1">
                <a:latin typeface="Arial" panose="020B0604020202020204" pitchFamily="34" charset="0"/>
                <a:ea typeface="Times New Roman" panose="02020603050405020304" pitchFamily="18" charset="0"/>
                <a:cs typeface="Arial" panose="020B0604020202020204" pitchFamily="34" charset="0"/>
              </a:rPr>
              <a:t>học</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hỏi</a:t>
            </a:r>
            <a:endParaRPr lang="en-US"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862220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a:xfrm>
            <a:off x="889000" y="605190"/>
            <a:ext cx="10515600" cy="1325563"/>
          </a:xfrm>
        </p:spPr>
        <p:txBody>
          <a:bodyPr>
            <a:normAutofit/>
          </a:bodyPr>
          <a:lstStyle/>
          <a:p>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Học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hỏi</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có</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điều</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kiện</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tưởng</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thưởng</a:t>
            </a:r>
            <a:endParaRPr lang="en-US" sz="2800" i="1">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p:txBody>
          <a:bodyPr vert="horz" lIns="91440" tIns="45720" rIns="91440" bIns="45720" rtlCol="0">
            <a:noAutofit/>
          </a:bodyPr>
          <a:lstStyle/>
          <a:p>
            <a:pPr algn="just">
              <a:lnSpc>
                <a:spcPct val="150000"/>
              </a:lnSpc>
              <a:spcBef>
                <a:spcPts val="0"/>
              </a:spcBef>
              <a:buFont typeface="Wingdings" pitchFamily="2" charset="2"/>
              <a:buChar char="Ø"/>
            </a:pPr>
            <a:r>
              <a:rPr lang="vi-VN"/>
              <a:t> Hình thức học hỏi này cho rằng người tiêu dùng sẽ học hỏi các hành vi và lập lại các hành vi đó nếu họ nhận được sự tưởng thưởng. </a:t>
            </a:r>
          </a:p>
          <a:p>
            <a:pPr algn="just">
              <a:lnSpc>
                <a:spcPct val="150000"/>
              </a:lnSpc>
              <a:spcBef>
                <a:spcPts val="0"/>
              </a:spcBef>
              <a:buFont typeface="Wingdings" pitchFamily="2" charset="2"/>
              <a:buChar char="Ø"/>
            </a:pPr>
            <a:r>
              <a:rPr lang="vi-VN"/>
              <a:t> Sự tưởng thưởng ở đây có nghĩa là hài lòng với sản phẩm, thích sản phẩm, thích quà tặng, có trải nghiệm tốt</a:t>
            </a:r>
            <a:r>
              <a:rPr lang="en-VN"/>
              <a:t> </a:t>
            </a:r>
            <a:endParaRPr lang="en-US">
              <a:latin typeface="Arial" panose="020B0604020202020204" pitchFamily="34" charset="0"/>
              <a:cs typeface="Arial" panose="020B0604020202020204" pitchFamily="34" charset="0"/>
            </a:endParaRPr>
          </a:p>
        </p:txBody>
      </p:sp>
      <p:sp>
        <p:nvSpPr>
          <p:cNvPr id="3" name="Title 1">
            <a:extLst>
              <a:ext uri="{FF2B5EF4-FFF2-40B4-BE49-F238E27FC236}">
                <a16:creationId xmlns:a16="http://schemas.microsoft.com/office/drawing/2014/main" id="{67DFE854-A9EE-07C5-7F40-1095A49A09E6}"/>
              </a:ext>
            </a:extLst>
          </p:cNvPr>
          <p:cNvSpPr txBox="1">
            <a:spLocks/>
          </p:cNvSpPr>
          <p:nvPr/>
        </p:nvSpPr>
        <p:spPr>
          <a:xfrm>
            <a:off x="415290" y="-11015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kern="0">
                <a:latin typeface="Arial" panose="020B0604020202020204" pitchFamily="34" charset="0"/>
                <a:ea typeface="Times New Roman" panose="02020603050405020304" pitchFamily="18" charset="0"/>
                <a:cs typeface="Arial" panose="020B0604020202020204" pitchFamily="34" charset="0"/>
              </a:rPr>
              <a:t>3.3.4 Các </a:t>
            </a:r>
            <a:r>
              <a:rPr lang="en-US" sz="2800" b="1" kern="0" err="1">
                <a:latin typeface="Arial" panose="020B0604020202020204" pitchFamily="34" charset="0"/>
                <a:ea typeface="Times New Roman" panose="02020603050405020304" pitchFamily="18" charset="0"/>
                <a:cs typeface="Arial" panose="020B0604020202020204" pitchFamily="34" charset="0"/>
              </a:rPr>
              <a:t>lý</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thuyết</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về</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hành</a:t>
            </a:r>
            <a:r>
              <a:rPr lang="en-US" sz="2800" b="1" kern="0">
                <a:latin typeface="Arial" panose="020B0604020202020204" pitchFamily="34" charset="0"/>
                <a:ea typeface="Times New Roman" panose="02020603050405020304" pitchFamily="18" charset="0"/>
                <a:cs typeface="Arial" panose="020B0604020202020204" pitchFamily="34" charset="0"/>
              </a:rPr>
              <a:t> vi </a:t>
            </a:r>
            <a:r>
              <a:rPr lang="en-US" sz="2800" b="1" kern="0" err="1">
                <a:latin typeface="Arial" panose="020B0604020202020204" pitchFamily="34" charset="0"/>
                <a:ea typeface="Times New Roman" panose="02020603050405020304" pitchFamily="18" charset="0"/>
                <a:cs typeface="Arial" panose="020B0604020202020204" pitchFamily="34" charset="0"/>
              </a:rPr>
              <a:t>học</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hỏi</a:t>
            </a:r>
            <a:endParaRPr lang="en-US"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397899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p:txBody>
          <a:bodyPr>
            <a:normAutofit/>
          </a:bodyPr>
          <a:lstStyle/>
          <a:p>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Học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hỏi</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có</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điều</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kiện</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tưởng</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thưởng</a:t>
            </a:r>
            <a:endParaRPr lang="en-US" sz="2800" i="1">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a:xfrm>
            <a:off x="493889" y="1473465"/>
            <a:ext cx="10515600" cy="4351338"/>
          </a:xfrm>
        </p:spPr>
        <p:txBody>
          <a:bodyPr vert="horz" lIns="91440" tIns="45720" rIns="91440" bIns="45720" rtlCol="0">
            <a:noAutofit/>
          </a:bodyPr>
          <a:lstStyle/>
          <a:p>
            <a:pPr algn="just">
              <a:lnSpc>
                <a:spcPct val="150000"/>
              </a:lnSpc>
              <a:spcBef>
                <a:spcPts val="0"/>
              </a:spcBef>
              <a:buFont typeface="Wingdings" pitchFamily="2" charset="2"/>
              <a:buChar char="Ø"/>
            </a:pPr>
            <a:r>
              <a:rPr lang="vi-VN" sz="2600"/>
              <a:t> Các nhà marketing có thể tưởng thưởng người tiêu dùng theo một trong ba lịch trình sau: thưởng liên tục, là việc tưởng thưởng người tiêu dùng sau mỗi giao dịch</a:t>
            </a:r>
          </a:p>
          <a:p>
            <a:pPr algn="just">
              <a:lnSpc>
                <a:spcPct val="150000"/>
              </a:lnSpc>
              <a:spcBef>
                <a:spcPts val="0"/>
              </a:spcBef>
              <a:buFont typeface="Wingdings" pitchFamily="2" charset="2"/>
              <a:buChar char="Ø"/>
            </a:pPr>
            <a:r>
              <a:rPr lang="vi-VN" sz="2600"/>
              <a:t> </a:t>
            </a:r>
            <a:r>
              <a:rPr lang="vi-VN" sz="2600" b="1"/>
              <a:t>Thưởng sau một số lần giao dịch: </a:t>
            </a:r>
            <a:r>
              <a:rPr lang="vi-VN" sz="2600"/>
              <a:t>thưởng sau mỗi lần giao dịch</a:t>
            </a:r>
          </a:p>
          <a:p>
            <a:pPr algn="just">
              <a:lnSpc>
                <a:spcPct val="150000"/>
              </a:lnSpc>
              <a:spcBef>
                <a:spcPts val="0"/>
              </a:spcBef>
              <a:buFont typeface="Wingdings" pitchFamily="2" charset="2"/>
              <a:buChar char="Ø"/>
            </a:pPr>
            <a:r>
              <a:rPr lang="vi-VN" sz="2600" b="1"/>
              <a:t> Thưởng sau một số lần giao dịch cố định: </a:t>
            </a:r>
            <a:r>
              <a:rPr lang="vi-VN" sz="2600"/>
              <a:t>là việc thưởng cho người tiêu dùng sau n lần giao dịch nhất định.</a:t>
            </a:r>
          </a:p>
          <a:p>
            <a:pPr algn="just">
              <a:lnSpc>
                <a:spcPct val="150000"/>
              </a:lnSpc>
              <a:spcBef>
                <a:spcPts val="0"/>
              </a:spcBef>
              <a:buFont typeface="Wingdings" pitchFamily="2" charset="2"/>
              <a:buChar char="Ø"/>
            </a:pPr>
            <a:r>
              <a:rPr lang="vi-VN" sz="2600"/>
              <a:t> </a:t>
            </a:r>
            <a:r>
              <a:rPr lang="vi-VN" sz="2600" b="1"/>
              <a:t>Hình thức thưởng bất kỳ: </a:t>
            </a:r>
            <a:r>
              <a:rPr lang="vi-VN" sz="2600"/>
              <a:t>là cách thưởng không theo một số lần hay lịch trình nào cụ thể nào. </a:t>
            </a:r>
          </a:p>
        </p:txBody>
      </p:sp>
      <p:sp>
        <p:nvSpPr>
          <p:cNvPr id="3" name="Title 1">
            <a:extLst>
              <a:ext uri="{FF2B5EF4-FFF2-40B4-BE49-F238E27FC236}">
                <a16:creationId xmlns:a16="http://schemas.microsoft.com/office/drawing/2014/main" id="{49F6A956-A651-DCF0-030A-FDC2275539E3}"/>
              </a:ext>
            </a:extLst>
          </p:cNvPr>
          <p:cNvSpPr txBox="1">
            <a:spLocks/>
          </p:cNvSpPr>
          <p:nvPr/>
        </p:nvSpPr>
        <p:spPr>
          <a:xfrm>
            <a:off x="381000" y="-22754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kern="0">
                <a:latin typeface="Arial" panose="020B0604020202020204" pitchFamily="34" charset="0"/>
                <a:ea typeface="Times New Roman" panose="02020603050405020304" pitchFamily="18" charset="0"/>
                <a:cs typeface="Arial" panose="020B0604020202020204" pitchFamily="34" charset="0"/>
              </a:rPr>
              <a:t>3.3.4 Các </a:t>
            </a:r>
            <a:r>
              <a:rPr lang="en-US" sz="2800" b="1" kern="0" err="1">
                <a:latin typeface="Arial" panose="020B0604020202020204" pitchFamily="34" charset="0"/>
                <a:ea typeface="Times New Roman" panose="02020603050405020304" pitchFamily="18" charset="0"/>
                <a:cs typeface="Arial" panose="020B0604020202020204" pitchFamily="34" charset="0"/>
              </a:rPr>
              <a:t>lý</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thuyết</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về</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hành</a:t>
            </a:r>
            <a:r>
              <a:rPr lang="en-US" sz="2800" b="1" kern="0">
                <a:latin typeface="Arial" panose="020B0604020202020204" pitchFamily="34" charset="0"/>
                <a:ea typeface="Times New Roman" panose="02020603050405020304" pitchFamily="18" charset="0"/>
                <a:cs typeface="Arial" panose="020B0604020202020204" pitchFamily="34" charset="0"/>
              </a:rPr>
              <a:t> vi </a:t>
            </a:r>
            <a:r>
              <a:rPr lang="en-US" sz="2800" b="1" kern="0" err="1">
                <a:latin typeface="Arial" panose="020B0604020202020204" pitchFamily="34" charset="0"/>
                <a:ea typeface="Times New Roman" panose="02020603050405020304" pitchFamily="18" charset="0"/>
                <a:cs typeface="Arial" panose="020B0604020202020204" pitchFamily="34" charset="0"/>
              </a:rPr>
              <a:t>học</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hỏi</a:t>
            </a:r>
            <a:endParaRPr lang="en-US"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642029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a:xfrm>
            <a:off x="300990" y="625792"/>
            <a:ext cx="10515600" cy="1325563"/>
          </a:xfrm>
        </p:spPr>
        <p:txBody>
          <a:bodyPr>
            <a:normAutofit/>
          </a:bodyPr>
          <a:lstStyle/>
          <a:p>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Ứng</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d</a:t>
            </a:r>
            <a:r>
              <a:rPr lang="en-US" sz="2800" i="1" kern="0" err="1">
                <a:latin typeface="Arial" panose="020B0604020202020204" pitchFamily="34" charset="0"/>
                <a:ea typeface="Times New Roman" panose="02020603050405020304" pitchFamily="18" charset="0"/>
                <a:cs typeface="Arial" panose="020B0604020202020204" pitchFamily="34" charset="0"/>
              </a:rPr>
              <a:t>ụ</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ng</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học</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hỏi</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có</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điều</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kiện</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tưởng</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thưởng</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vào</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các</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hoạt</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động</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marketing</a:t>
            </a:r>
            <a:endParaRPr lang="en-US" sz="2800" i="1">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a:xfrm>
            <a:off x="764822" y="1650647"/>
            <a:ext cx="10515600" cy="4351338"/>
          </a:xfrm>
        </p:spPr>
        <p:txBody>
          <a:bodyPr vert="horz" lIns="91440" tIns="45720" rIns="91440" bIns="45720" rtlCol="0">
            <a:noAutofit/>
          </a:bodyPr>
          <a:lstStyle/>
          <a:p>
            <a:pPr algn="just">
              <a:lnSpc>
                <a:spcPct val="150000"/>
              </a:lnSpc>
              <a:spcBef>
                <a:spcPts val="0"/>
              </a:spcBef>
              <a:buFont typeface="Wingdings" pitchFamily="2" charset="2"/>
              <a:buChar char="Ø"/>
            </a:pPr>
            <a:r>
              <a:rPr lang="vi-VN" sz="2600"/>
              <a:t> Giữ vững chất lượng sản phẩm để người tiêu dùng luôn hài lòng.</a:t>
            </a:r>
          </a:p>
          <a:p>
            <a:pPr algn="just">
              <a:lnSpc>
                <a:spcPct val="150000"/>
              </a:lnSpc>
              <a:spcBef>
                <a:spcPts val="0"/>
              </a:spcBef>
              <a:buFont typeface="Wingdings" pitchFamily="2" charset="2"/>
              <a:buChar char="Ø"/>
            </a:pPr>
            <a:r>
              <a:rPr lang="vi-VN" sz="2600"/>
              <a:t> Gửi mail hoặc gọi điện thoại cho người tiêu dùng cám ơn hay chúc mừng họ sau khi mua vì đã có lựa chọn sáng suốt.</a:t>
            </a:r>
          </a:p>
          <a:p>
            <a:pPr algn="just">
              <a:lnSpc>
                <a:spcPct val="150000"/>
              </a:lnSpc>
              <a:spcBef>
                <a:spcPts val="0"/>
              </a:spcBef>
              <a:buFont typeface="Wingdings" pitchFamily="2" charset="2"/>
              <a:buChar char="Ø"/>
            </a:pPr>
            <a:r>
              <a:rPr lang="vi-VN" sz="2600"/>
              <a:t> Có các hành động “thưởng” như giải thưởng khi mua hàng.</a:t>
            </a:r>
          </a:p>
          <a:p>
            <a:pPr algn="just">
              <a:lnSpc>
                <a:spcPct val="150000"/>
              </a:lnSpc>
              <a:spcBef>
                <a:spcPts val="0"/>
              </a:spcBef>
              <a:buFont typeface="Wingdings" pitchFamily="2" charset="2"/>
              <a:buChar char="Ø"/>
            </a:pPr>
            <a:r>
              <a:rPr lang="vi-VN" sz="2600"/>
              <a:t> Cho thử sản phẩm mới hoặc phiếu giảm giá để mua thử sản phẩm mới.</a:t>
            </a:r>
          </a:p>
          <a:p>
            <a:pPr algn="just">
              <a:lnSpc>
                <a:spcPct val="150000"/>
              </a:lnSpc>
              <a:spcBef>
                <a:spcPts val="0"/>
              </a:spcBef>
              <a:buFont typeface="Wingdings" pitchFamily="2" charset="2"/>
              <a:buChar char="Ø"/>
            </a:pPr>
            <a:r>
              <a:rPr lang="vi-VN" sz="2600"/>
              <a:t> Trong cửa hàng, thiết kế và trưng bày sao cho việc mua sắm của khách dễ dàng và thoải mái nhất. </a:t>
            </a:r>
          </a:p>
        </p:txBody>
      </p:sp>
      <p:sp>
        <p:nvSpPr>
          <p:cNvPr id="3" name="Title 1">
            <a:extLst>
              <a:ext uri="{FF2B5EF4-FFF2-40B4-BE49-F238E27FC236}">
                <a16:creationId xmlns:a16="http://schemas.microsoft.com/office/drawing/2014/main" id="{8E1CDCC0-D4F3-B0E0-3A9C-6F2B0335EE6F}"/>
              </a:ext>
            </a:extLst>
          </p:cNvPr>
          <p:cNvSpPr txBox="1">
            <a:spLocks/>
          </p:cNvSpPr>
          <p:nvPr/>
        </p:nvSpPr>
        <p:spPr>
          <a:xfrm>
            <a:off x="300990" y="-18734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kern="0">
                <a:latin typeface="Arial" panose="020B0604020202020204" pitchFamily="34" charset="0"/>
                <a:ea typeface="Times New Roman" panose="02020603050405020304" pitchFamily="18" charset="0"/>
                <a:cs typeface="Arial" panose="020B0604020202020204" pitchFamily="34" charset="0"/>
              </a:rPr>
              <a:t>3.3.4 Các </a:t>
            </a:r>
            <a:r>
              <a:rPr lang="en-US" sz="2800" b="1" kern="0" err="1">
                <a:latin typeface="Arial" panose="020B0604020202020204" pitchFamily="34" charset="0"/>
                <a:ea typeface="Times New Roman" panose="02020603050405020304" pitchFamily="18" charset="0"/>
                <a:cs typeface="Arial" panose="020B0604020202020204" pitchFamily="34" charset="0"/>
              </a:rPr>
              <a:t>lý</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thuyết</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về</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hành</a:t>
            </a:r>
            <a:r>
              <a:rPr lang="en-US" sz="2800" b="1" kern="0">
                <a:latin typeface="Arial" panose="020B0604020202020204" pitchFamily="34" charset="0"/>
                <a:ea typeface="Times New Roman" panose="02020603050405020304" pitchFamily="18" charset="0"/>
                <a:cs typeface="Arial" panose="020B0604020202020204" pitchFamily="34" charset="0"/>
              </a:rPr>
              <a:t> vi </a:t>
            </a:r>
            <a:r>
              <a:rPr lang="en-US" sz="2800" b="1" kern="0" err="1">
                <a:latin typeface="Arial" panose="020B0604020202020204" pitchFamily="34" charset="0"/>
                <a:ea typeface="Times New Roman" panose="02020603050405020304" pitchFamily="18" charset="0"/>
                <a:cs typeface="Arial" panose="020B0604020202020204" pitchFamily="34" charset="0"/>
              </a:rPr>
              <a:t>học</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hỏi</a:t>
            </a:r>
            <a:endParaRPr lang="en-US"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073007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p:txBody>
          <a:bodyPr>
            <a:normAutofit/>
          </a:bodyPr>
          <a:lstStyle/>
          <a:p>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Học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hỏi</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bằng</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cách</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quan</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sát</a:t>
            </a:r>
            <a:endParaRPr lang="en-US" sz="2800" i="1">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a:xfrm>
            <a:off x="691444" y="1253331"/>
            <a:ext cx="10515600" cy="4351338"/>
          </a:xfrm>
        </p:spPr>
        <p:txBody>
          <a:bodyPr vert="horz" lIns="91440" tIns="45720" rIns="91440" bIns="45720" rtlCol="0">
            <a:noAutofit/>
          </a:bodyPr>
          <a:lstStyle/>
          <a:p>
            <a:pPr algn="just">
              <a:lnSpc>
                <a:spcPct val="150000"/>
              </a:lnSpc>
              <a:spcBef>
                <a:spcPts val="0"/>
              </a:spcBef>
              <a:buFont typeface="Wingdings" pitchFamily="2" charset="2"/>
              <a:buChar char="Ø"/>
            </a:pPr>
            <a:r>
              <a:rPr lang="vi-VN"/>
              <a:t> Học hỏi bằng cách quan sát là quá trình trong đó  cá nhân học theo hành vi và kết quả của hành vi đó từ người khác bằng cách quan sát họ</a:t>
            </a:r>
            <a:r>
              <a:rPr lang="en-VN"/>
              <a:t> </a:t>
            </a:r>
          </a:p>
          <a:p>
            <a:pPr algn="just">
              <a:lnSpc>
                <a:spcPct val="150000"/>
              </a:lnSpc>
              <a:spcBef>
                <a:spcPts val="0"/>
              </a:spcBef>
              <a:buFont typeface="Wingdings" pitchFamily="2" charset="2"/>
              <a:buChar char="Ø"/>
            </a:pPr>
            <a:r>
              <a:rPr lang="en-VN">
                <a:latin typeface="Arial" panose="020B0604020202020204" pitchFamily="34" charset="0"/>
                <a:cs typeface="Arial" panose="020B0604020202020204" pitchFamily="34" charset="0"/>
              </a:rPr>
              <a:t> </a:t>
            </a:r>
            <a:r>
              <a:rPr lang="vi-VN"/>
              <a:t>Việc học hỏi bằng cách quan sát diễn ra mạnh mẽ khi chúng ta còn là trẻ nhỏ.</a:t>
            </a:r>
            <a:r>
              <a:rPr lang="en-VN"/>
              <a:t> </a:t>
            </a:r>
          </a:p>
          <a:p>
            <a:pPr algn="just">
              <a:lnSpc>
                <a:spcPct val="150000"/>
              </a:lnSpc>
              <a:spcBef>
                <a:spcPts val="0"/>
              </a:spcBef>
              <a:buFont typeface="Wingdings" pitchFamily="2" charset="2"/>
              <a:buChar char="Ø"/>
            </a:pPr>
            <a:r>
              <a:rPr lang="en-VN">
                <a:latin typeface="Arial" panose="020B0604020202020204" pitchFamily="34" charset="0"/>
                <a:cs typeface="Arial" panose="020B0604020202020204" pitchFamily="34" charset="0"/>
              </a:rPr>
              <a:t> </a:t>
            </a:r>
            <a:r>
              <a:rPr lang="vi-VN"/>
              <a:t>Nhận thấy được tầm quan trọng của việc học hỏi, các nhà marketing thường sử dụng người nổi tiếng trong các quảng cáo để khuyến khích người tiêu dùng bắt chước theo.</a:t>
            </a:r>
            <a:r>
              <a:rPr lang="en-VN"/>
              <a:t> </a:t>
            </a:r>
            <a:endParaRPr lang="en-US">
              <a:latin typeface="Arial" panose="020B0604020202020204" pitchFamily="34" charset="0"/>
              <a:cs typeface="Arial" panose="020B0604020202020204" pitchFamily="34" charset="0"/>
            </a:endParaRPr>
          </a:p>
        </p:txBody>
      </p:sp>
      <p:sp>
        <p:nvSpPr>
          <p:cNvPr id="3" name="Title 1">
            <a:extLst>
              <a:ext uri="{FF2B5EF4-FFF2-40B4-BE49-F238E27FC236}">
                <a16:creationId xmlns:a16="http://schemas.microsoft.com/office/drawing/2014/main" id="{FA60E887-EEBE-EB1C-702C-7C35BB31537A}"/>
              </a:ext>
            </a:extLst>
          </p:cNvPr>
          <p:cNvSpPr txBox="1">
            <a:spLocks/>
          </p:cNvSpPr>
          <p:nvPr/>
        </p:nvSpPr>
        <p:spPr>
          <a:xfrm>
            <a:off x="533400" y="-22754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kern="0">
                <a:latin typeface="Arial" panose="020B0604020202020204" pitchFamily="34" charset="0"/>
                <a:ea typeface="Times New Roman" panose="02020603050405020304" pitchFamily="18" charset="0"/>
                <a:cs typeface="Arial" panose="020B0604020202020204" pitchFamily="34" charset="0"/>
              </a:rPr>
              <a:t>3.3.4 Các </a:t>
            </a:r>
            <a:r>
              <a:rPr lang="en-US" sz="2800" b="1" kern="0" err="1">
                <a:latin typeface="Arial" panose="020B0604020202020204" pitchFamily="34" charset="0"/>
                <a:ea typeface="Times New Roman" panose="02020603050405020304" pitchFamily="18" charset="0"/>
                <a:cs typeface="Arial" panose="020B0604020202020204" pitchFamily="34" charset="0"/>
              </a:rPr>
              <a:t>lý</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thuyết</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về</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hành</a:t>
            </a:r>
            <a:r>
              <a:rPr lang="en-US" sz="2800" b="1" kern="0">
                <a:latin typeface="Arial" panose="020B0604020202020204" pitchFamily="34" charset="0"/>
                <a:ea typeface="Times New Roman" panose="02020603050405020304" pitchFamily="18" charset="0"/>
                <a:cs typeface="Arial" panose="020B0604020202020204" pitchFamily="34" charset="0"/>
              </a:rPr>
              <a:t> vi </a:t>
            </a:r>
            <a:r>
              <a:rPr lang="en-US" sz="2800" b="1" kern="0" err="1">
                <a:latin typeface="Arial" panose="020B0604020202020204" pitchFamily="34" charset="0"/>
                <a:ea typeface="Times New Roman" panose="02020603050405020304" pitchFamily="18" charset="0"/>
                <a:cs typeface="Arial" panose="020B0604020202020204" pitchFamily="34" charset="0"/>
              </a:rPr>
              <a:t>học</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hỏi</a:t>
            </a:r>
            <a:endParaRPr lang="en-US"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851488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a:xfrm>
            <a:off x="476391" y="407669"/>
            <a:ext cx="10515600" cy="1325563"/>
          </a:xfrm>
        </p:spPr>
        <p:txBody>
          <a:bodyPr>
            <a:normAutofit/>
          </a:bodyPr>
          <a:lstStyle/>
          <a:p>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Học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hỏi</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bằng</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cách</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lập</a:t>
            </a:r>
            <a:r>
              <a:rPr lang="en-US" sz="28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2800" i="1" u="none" strike="noStrike" kern="0" spc="0" err="1">
                <a:effectLst/>
                <a:latin typeface="Arial" panose="020B0604020202020204" pitchFamily="34" charset="0"/>
                <a:ea typeface="Times New Roman" panose="02020603050405020304" pitchFamily="18" charset="0"/>
                <a:cs typeface="Arial" panose="020B0604020202020204" pitchFamily="34" charset="0"/>
              </a:rPr>
              <a:t>luận</a:t>
            </a:r>
            <a:endParaRPr lang="en-US" sz="2800" i="1">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a:xfrm>
            <a:off x="476391" y="1436211"/>
            <a:ext cx="10515600" cy="4351338"/>
          </a:xfrm>
        </p:spPr>
        <p:txBody>
          <a:bodyPr vert="horz" lIns="91440" tIns="45720" rIns="91440" bIns="45720" rtlCol="0">
            <a:noAutofit/>
          </a:bodyPr>
          <a:lstStyle/>
          <a:p>
            <a:pPr algn="just">
              <a:lnSpc>
                <a:spcPct val="150000"/>
              </a:lnSpc>
              <a:spcBef>
                <a:spcPts val="0"/>
              </a:spcBef>
              <a:buFont typeface="Wingdings" pitchFamily="2" charset="2"/>
              <a:buChar char="Ø"/>
            </a:pPr>
            <a:r>
              <a:rPr lang="vi-VN" sz="2600"/>
              <a:t> Học hỏi bằng lập luận được định nghĩa là việc sử dụng trí não để chọn lọc, sắp xếp, phân tích các thông tin và đưa ra lập luận, ý kiến, thái độ hay hành vi dựa trên việc xử lý các thông tin đó.</a:t>
            </a:r>
          </a:p>
          <a:p>
            <a:pPr algn="just">
              <a:lnSpc>
                <a:spcPct val="150000"/>
              </a:lnSpc>
              <a:spcBef>
                <a:spcPts val="0"/>
              </a:spcBef>
              <a:buFont typeface="Wingdings" pitchFamily="2" charset="2"/>
              <a:buChar char="Ø"/>
            </a:pPr>
            <a:r>
              <a:rPr lang="vi-VN" sz="2600"/>
              <a:t> Quá trình học hỏi của con người là một quá trình phức tạp. Nó diễn ra như là kết quả của một hoạt động xử lý và lưu trữ thông tin có ý thức và có chủ ý diễn ra trong não bộ con người. </a:t>
            </a:r>
          </a:p>
          <a:p>
            <a:pPr algn="just">
              <a:lnSpc>
                <a:spcPct val="150000"/>
              </a:lnSpc>
              <a:spcBef>
                <a:spcPts val="0"/>
              </a:spcBef>
              <a:buFont typeface="Wingdings" pitchFamily="2" charset="2"/>
              <a:buChar char="Ø"/>
            </a:pPr>
            <a:r>
              <a:rPr lang="vi-VN" sz="2600"/>
              <a:t> Con người luôn tích cực sử dụng sự sáng tạo, cái nhìn sâu sắc và xử lý thông tin để giải quyết các vấn đề. </a:t>
            </a:r>
          </a:p>
        </p:txBody>
      </p:sp>
      <p:sp>
        <p:nvSpPr>
          <p:cNvPr id="3" name="Title 1">
            <a:extLst>
              <a:ext uri="{FF2B5EF4-FFF2-40B4-BE49-F238E27FC236}">
                <a16:creationId xmlns:a16="http://schemas.microsoft.com/office/drawing/2014/main" id="{11E8DA94-F0FC-A2D4-8D11-17C2BA31EB73}"/>
              </a:ext>
            </a:extLst>
          </p:cNvPr>
          <p:cNvSpPr txBox="1">
            <a:spLocks/>
          </p:cNvSpPr>
          <p:nvPr/>
        </p:nvSpPr>
        <p:spPr>
          <a:xfrm>
            <a:off x="312420" y="-24294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kern="0">
                <a:latin typeface="Arial" panose="020B0604020202020204" pitchFamily="34" charset="0"/>
                <a:ea typeface="Times New Roman" panose="02020603050405020304" pitchFamily="18" charset="0"/>
                <a:cs typeface="Arial" panose="020B0604020202020204" pitchFamily="34" charset="0"/>
              </a:rPr>
              <a:t>3.3.4 Các </a:t>
            </a:r>
            <a:r>
              <a:rPr lang="en-US" sz="2800" b="1" kern="0" err="1">
                <a:latin typeface="Arial" panose="020B0604020202020204" pitchFamily="34" charset="0"/>
                <a:ea typeface="Times New Roman" panose="02020603050405020304" pitchFamily="18" charset="0"/>
                <a:cs typeface="Arial" panose="020B0604020202020204" pitchFamily="34" charset="0"/>
              </a:rPr>
              <a:t>lý</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thuyết</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về</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hành</a:t>
            </a:r>
            <a:r>
              <a:rPr lang="en-US" sz="2800" b="1" kern="0">
                <a:latin typeface="Arial" panose="020B0604020202020204" pitchFamily="34" charset="0"/>
                <a:ea typeface="Times New Roman" panose="02020603050405020304" pitchFamily="18" charset="0"/>
                <a:cs typeface="Arial" panose="020B0604020202020204" pitchFamily="34" charset="0"/>
              </a:rPr>
              <a:t> vi </a:t>
            </a:r>
            <a:r>
              <a:rPr lang="en-US" sz="2800" b="1" kern="0" err="1">
                <a:latin typeface="Arial" panose="020B0604020202020204" pitchFamily="34" charset="0"/>
                <a:ea typeface="Times New Roman" panose="02020603050405020304" pitchFamily="18" charset="0"/>
                <a:cs typeface="Arial" panose="020B0604020202020204" pitchFamily="34" charset="0"/>
              </a:rPr>
              <a:t>học</a:t>
            </a:r>
            <a:r>
              <a:rPr lang="en-US" sz="2800" b="1" kern="0">
                <a:latin typeface="Arial" panose="020B0604020202020204" pitchFamily="34" charset="0"/>
                <a:ea typeface="Times New Roman" panose="02020603050405020304" pitchFamily="18" charset="0"/>
                <a:cs typeface="Arial" panose="020B0604020202020204" pitchFamily="34" charset="0"/>
              </a:rPr>
              <a:t> </a:t>
            </a:r>
            <a:r>
              <a:rPr lang="en-US" sz="2800" b="1" kern="0" err="1">
                <a:latin typeface="Arial" panose="020B0604020202020204" pitchFamily="34" charset="0"/>
                <a:ea typeface="Times New Roman" panose="02020603050405020304" pitchFamily="18" charset="0"/>
                <a:cs typeface="Arial" panose="020B0604020202020204" pitchFamily="34" charset="0"/>
              </a:rPr>
              <a:t>hỏi</a:t>
            </a:r>
            <a:endParaRPr lang="en-US"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870980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p:txBody>
          <a:bodyPr>
            <a:normAutofit/>
          </a:bodyPr>
          <a:lstStyle/>
          <a:p>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Học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hỏi</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bằng</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cách</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lập</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luận</a:t>
            </a:r>
            <a:endParaRPr lang="en-US" sz="6000" i="1">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a:xfrm>
            <a:off x="702734" y="1328914"/>
            <a:ext cx="10515600" cy="4351338"/>
          </a:xfrm>
        </p:spPr>
        <p:txBody>
          <a:bodyPr vert="horz" lIns="91440" tIns="45720" rIns="91440" bIns="45720" rtlCol="0">
            <a:noAutofit/>
          </a:bodyPr>
          <a:lstStyle/>
          <a:p>
            <a:pPr algn="just">
              <a:lnSpc>
                <a:spcPct val="150000"/>
              </a:lnSpc>
              <a:spcBef>
                <a:spcPts val="0"/>
              </a:spcBef>
              <a:buFont typeface="Wingdings" pitchFamily="2" charset="2"/>
              <a:buChar char="Ø"/>
            </a:pPr>
            <a:r>
              <a:rPr lang="vi-VN"/>
              <a:t> Học hỏi bằng lập luận được chia ra làm 2 dạng: học bằng biểu tượng và học bằng lý luận. </a:t>
            </a:r>
          </a:p>
          <a:p>
            <a:pPr algn="just">
              <a:lnSpc>
                <a:spcPct val="150000"/>
              </a:lnSpc>
              <a:spcBef>
                <a:spcPts val="0"/>
              </a:spcBef>
              <a:buFont typeface="Wingdings" pitchFamily="2" charset="2"/>
              <a:buChar char="Ø"/>
            </a:pPr>
            <a:r>
              <a:rPr lang="vi-VN"/>
              <a:t> </a:t>
            </a:r>
            <a:r>
              <a:rPr lang="vi-VN" b="1"/>
              <a:t>Học bằng biểu tượng </a:t>
            </a:r>
            <a:r>
              <a:rPr lang="vi-VN"/>
              <a:t>là việc gán ghép sản phẩm với một hay hai biểu tượng nhất định để người tiêu dùng ghi nhớ. </a:t>
            </a:r>
          </a:p>
          <a:p>
            <a:pPr algn="just">
              <a:lnSpc>
                <a:spcPct val="150000"/>
              </a:lnSpc>
              <a:spcBef>
                <a:spcPts val="0"/>
              </a:spcBef>
              <a:buFont typeface="Wingdings" pitchFamily="2" charset="2"/>
              <a:buChar char="Ø"/>
            </a:pPr>
            <a:r>
              <a:rPr lang="vi-VN"/>
              <a:t> </a:t>
            </a:r>
            <a:r>
              <a:rPr lang="vi-VN" b="1"/>
              <a:t>Học hỏi bằng lý luận </a:t>
            </a:r>
            <a:r>
              <a:rPr lang="vi-VN"/>
              <a:t>là kiểu học hỏi phức tạp nhất trong các dạng. Nó bao gồm việc sử dụng suy nghĩ sáng tạo của trí óc để học thông tin mới, sau đó gắn kết với những thông tin đã có sẵn và đưa ra những ý tưởng, hiểu biết mới.</a:t>
            </a:r>
            <a:r>
              <a:rPr lang="vi-VN" b="1" i="1"/>
              <a:t> </a:t>
            </a:r>
            <a:endParaRPr lang="vi-VN"/>
          </a:p>
        </p:txBody>
      </p:sp>
      <p:sp>
        <p:nvSpPr>
          <p:cNvPr id="3" name="Title 1">
            <a:extLst>
              <a:ext uri="{FF2B5EF4-FFF2-40B4-BE49-F238E27FC236}">
                <a16:creationId xmlns:a16="http://schemas.microsoft.com/office/drawing/2014/main" id="{AE213557-B3D8-BC86-A303-492C7939D882}"/>
              </a:ext>
            </a:extLst>
          </p:cNvPr>
          <p:cNvSpPr txBox="1">
            <a:spLocks/>
          </p:cNvSpPr>
          <p:nvPr/>
        </p:nvSpPr>
        <p:spPr>
          <a:xfrm>
            <a:off x="495300" y="-22754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kern="0">
                <a:latin typeface="Arial" panose="020B0604020202020204" pitchFamily="34" charset="0"/>
                <a:ea typeface="Times New Roman" panose="02020603050405020304" pitchFamily="18" charset="0"/>
                <a:cs typeface="Arial" panose="020B0604020202020204" pitchFamily="34" charset="0"/>
              </a:rPr>
              <a:t>3.3.4 Các </a:t>
            </a:r>
            <a:r>
              <a:rPr lang="en-US" sz="3200" b="1" kern="0" err="1">
                <a:latin typeface="Arial" panose="020B0604020202020204" pitchFamily="34" charset="0"/>
                <a:ea typeface="Times New Roman" panose="02020603050405020304" pitchFamily="18" charset="0"/>
                <a:cs typeface="Arial" panose="020B0604020202020204" pitchFamily="34" charset="0"/>
              </a:rPr>
              <a:t>lý</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thuyết</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về</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hành</a:t>
            </a:r>
            <a:r>
              <a:rPr lang="en-US" sz="3200" b="1" kern="0">
                <a:latin typeface="Arial" panose="020B0604020202020204" pitchFamily="34" charset="0"/>
                <a:ea typeface="Times New Roman" panose="02020603050405020304" pitchFamily="18" charset="0"/>
                <a:cs typeface="Arial" panose="020B0604020202020204" pitchFamily="34" charset="0"/>
              </a:rPr>
              <a:t> vi </a:t>
            </a:r>
            <a:r>
              <a:rPr lang="en-US" sz="3200" b="1" kern="0" err="1">
                <a:latin typeface="Arial" panose="020B0604020202020204" pitchFamily="34" charset="0"/>
                <a:ea typeface="Times New Roman" panose="02020603050405020304" pitchFamily="18" charset="0"/>
                <a:cs typeface="Arial" panose="020B0604020202020204" pitchFamily="34" charset="0"/>
              </a:rPr>
              <a:t>học</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hỏi</a:t>
            </a:r>
            <a:endParaRPr lang="en-US" sz="6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968498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a:xfrm>
            <a:off x="838200" y="551392"/>
            <a:ext cx="10515600" cy="1325563"/>
          </a:xfrm>
        </p:spPr>
        <p:txBody>
          <a:bodyPr>
            <a:normAutofit/>
          </a:bodyPr>
          <a:lstStyle/>
          <a:p>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Ứng</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d</a:t>
            </a:r>
            <a:r>
              <a:rPr lang="en-US" sz="3200" i="1" kern="0" err="1">
                <a:latin typeface="Arial" panose="020B0604020202020204" pitchFamily="34" charset="0"/>
                <a:ea typeface="Times New Roman" panose="02020603050405020304" pitchFamily="18" charset="0"/>
                <a:cs typeface="Arial" panose="020B0604020202020204" pitchFamily="34" charset="0"/>
              </a:rPr>
              <a:t>ụ</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ng</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học</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hỏi</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bằng</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cách</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lập</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luận</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vào</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các</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hoạt</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b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b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động</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marketing</a:t>
            </a:r>
            <a:endParaRPr lang="en-US" sz="6000" i="1">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p:txBody>
          <a:bodyPr vert="horz" lIns="91440" tIns="45720" rIns="91440" bIns="45720" rtlCol="0">
            <a:noAutofit/>
          </a:bodyPr>
          <a:lstStyle/>
          <a:p>
            <a:pPr algn="just">
              <a:lnSpc>
                <a:spcPct val="150000"/>
              </a:lnSpc>
              <a:spcBef>
                <a:spcPts val="0"/>
              </a:spcBef>
              <a:buFont typeface="Wingdings" pitchFamily="2" charset="2"/>
              <a:buChar char="Ø"/>
            </a:pPr>
            <a:r>
              <a:rPr lang="vi-VN" sz="2600"/>
              <a:t> Nguồn thông tin về sản phẩm có thể đến từ bên trong như ký ức về những trải nghiệm về sản phẩm hay dịch vụ trong quá khứ của họ hoặc nguồn từ bên ngoài như kiến ​​thức mà ngưởi tiêu dùng có được từ gia đình, bạn bè, đồng nghiệp, cũng như truyền miệng.</a:t>
            </a:r>
          </a:p>
          <a:p>
            <a:pPr algn="just">
              <a:lnSpc>
                <a:spcPct val="150000"/>
              </a:lnSpc>
              <a:spcBef>
                <a:spcPts val="0"/>
              </a:spcBef>
              <a:buFont typeface="Wingdings" pitchFamily="2" charset="2"/>
              <a:buChar char="Ø"/>
            </a:pPr>
            <a:r>
              <a:rPr lang="vi-VN" sz="2600"/>
              <a:t> Người tiêu dùng cũng có thể thu thập thông tin được cung cấp bởi các nhà marketing dưới dạng quảng cáo, hay thông qua nhân viên bán hàng cũng như từ bao bì và nhãn mác sản phẩm, hay từ việc trưng bày tại điểm mua hàng, v.v.</a:t>
            </a:r>
          </a:p>
        </p:txBody>
      </p:sp>
      <p:sp>
        <p:nvSpPr>
          <p:cNvPr id="3" name="Title 1">
            <a:extLst>
              <a:ext uri="{FF2B5EF4-FFF2-40B4-BE49-F238E27FC236}">
                <a16:creationId xmlns:a16="http://schemas.microsoft.com/office/drawing/2014/main" id="{17DA62C7-7B59-4337-B100-332305A40EEA}"/>
              </a:ext>
            </a:extLst>
          </p:cNvPr>
          <p:cNvSpPr txBox="1">
            <a:spLocks/>
          </p:cNvSpPr>
          <p:nvPr/>
        </p:nvSpPr>
        <p:spPr>
          <a:xfrm>
            <a:off x="571500" y="-22754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kern="0">
                <a:latin typeface="Arial" panose="020B0604020202020204" pitchFamily="34" charset="0"/>
                <a:ea typeface="Times New Roman" panose="02020603050405020304" pitchFamily="18" charset="0"/>
                <a:cs typeface="Arial" panose="020B0604020202020204" pitchFamily="34" charset="0"/>
              </a:rPr>
              <a:t>3.3.4 Các </a:t>
            </a:r>
            <a:r>
              <a:rPr lang="en-US" sz="3200" b="1" kern="0" err="1">
                <a:latin typeface="Arial" panose="020B0604020202020204" pitchFamily="34" charset="0"/>
                <a:ea typeface="Times New Roman" panose="02020603050405020304" pitchFamily="18" charset="0"/>
                <a:cs typeface="Arial" panose="020B0604020202020204" pitchFamily="34" charset="0"/>
              </a:rPr>
              <a:t>lý</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thuyết</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về</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hành</a:t>
            </a:r>
            <a:r>
              <a:rPr lang="en-US" sz="3200" b="1" kern="0">
                <a:latin typeface="Arial" panose="020B0604020202020204" pitchFamily="34" charset="0"/>
                <a:ea typeface="Times New Roman" panose="02020603050405020304" pitchFamily="18" charset="0"/>
                <a:cs typeface="Arial" panose="020B0604020202020204" pitchFamily="34" charset="0"/>
              </a:rPr>
              <a:t> vi </a:t>
            </a:r>
            <a:r>
              <a:rPr lang="en-US" sz="3200" b="1" kern="0" err="1">
                <a:latin typeface="Arial" panose="020B0604020202020204" pitchFamily="34" charset="0"/>
                <a:ea typeface="Times New Roman" panose="02020603050405020304" pitchFamily="18" charset="0"/>
                <a:cs typeface="Arial" panose="020B0604020202020204" pitchFamily="34" charset="0"/>
              </a:rPr>
              <a:t>học</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hỏi</a:t>
            </a:r>
            <a:endParaRPr lang="en-US" sz="6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886657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a:xfrm>
            <a:off x="838200" y="624769"/>
            <a:ext cx="10515600" cy="1325563"/>
          </a:xfrm>
        </p:spPr>
        <p:txBody>
          <a:bodyPr>
            <a:normAutofit/>
          </a:bodyPr>
          <a:lstStyle/>
          <a:p>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Ứng</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d</a:t>
            </a:r>
            <a:r>
              <a:rPr lang="en-US" sz="3200" i="1" kern="0" err="1">
                <a:latin typeface="Arial" panose="020B0604020202020204" pitchFamily="34" charset="0"/>
                <a:ea typeface="Times New Roman" panose="02020603050405020304" pitchFamily="18" charset="0"/>
                <a:cs typeface="Arial" panose="020B0604020202020204" pitchFamily="34" charset="0"/>
              </a:rPr>
              <a:t>ụ</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ng</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học</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hỏi</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bằng</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cách</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lập</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luận</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vào</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các</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hoạt</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b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b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động</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marketing</a:t>
            </a:r>
            <a:endParaRPr lang="en-US" sz="6000" i="1">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a:xfrm>
            <a:off x="262890" y="1881893"/>
            <a:ext cx="11006243" cy="4351338"/>
          </a:xfrm>
        </p:spPr>
        <p:txBody>
          <a:bodyPr vert="horz" lIns="91440" tIns="45720" rIns="91440" bIns="45720" rtlCol="0">
            <a:noAutofit/>
          </a:bodyPr>
          <a:lstStyle/>
          <a:p>
            <a:pPr algn="just">
              <a:lnSpc>
                <a:spcPct val="150000"/>
              </a:lnSpc>
              <a:spcBef>
                <a:spcPts val="0"/>
              </a:spcBef>
              <a:buFont typeface="Wingdings" pitchFamily="2" charset="2"/>
              <a:buChar char="Ø"/>
            </a:pPr>
            <a:r>
              <a:rPr lang="vi-VN"/>
              <a:t> Người tiêu dùng nên được tiếp xúc với thông tin về sản phẩm / dịch vụ mới hoặc thay đổi sản phẩm / dịch vụ hiện có một cách thường xuyên.</a:t>
            </a:r>
          </a:p>
          <a:p>
            <a:pPr algn="just">
              <a:lnSpc>
                <a:spcPct val="150000"/>
              </a:lnSpc>
              <a:spcBef>
                <a:spcPts val="0"/>
              </a:spcBef>
              <a:buFont typeface="Wingdings" pitchFamily="2" charset="2"/>
              <a:buChar char="Ø"/>
            </a:pPr>
            <a:r>
              <a:rPr lang="vi-VN"/>
              <a:t> Các nhà marketing cũng nên liên tục cập nhật cho họ về thương hiệu của họ như các thuộc tính, tính năng, giá cả và so sánh với các thương hiệu khác, v.v. Người tiêu dùng sẽ lưu trữ thông tin về thương hiệu hay sản phẩm và trích xuất khi cần.</a:t>
            </a:r>
            <a:r>
              <a:rPr lang="en-VN"/>
              <a:t> </a:t>
            </a:r>
            <a:endParaRPr lang="vi-VN"/>
          </a:p>
        </p:txBody>
      </p:sp>
      <p:sp>
        <p:nvSpPr>
          <p:cNvPr id="3" name="Title 1">
            <a:extLst>
              <a:ext uri="{FF2B5EF4-FFF2-40B4-BE49-F238E27FC236}">
                <a16:creationId xmlns:a16="http://schemas.microsoft.com/office/drawing/2014/main" id="{A32E5E78-258A-480D-474B-485D374AE8A6}"/>
              </a:ext>
            </a:extLst>
          </p:cNvPr>
          <p:cNvSpPr txBox="1">
            <a:spLocks/>
          </p:cNvSpPr>
          <p:nvPr/>
        </p:nvSpPr>
        <p:spPr>
          <a:xfrm>
            <a:off x="381000" y="-18944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kern="0">
                <a:latin typeface="Arial" panose="020B0604020202020204" pitchFamily="34" charset="0"/>
                <a:ea typeface="Times New Roman" panose="02020603050405020304" pitchFamily="18" charset="0"/>
                <a:cs typeface="Arial" panose="020B0604020202020204" pitchFamily="34" charset="0"/>
              </a:rPr>
              <a:t>3.3.4 Các </a:t>
            </a:r>
            <a:r>
              <a:rPr lang="en-US" sz="3200" b="1" kern="0" err="1">
                <a:latin typeface="Arial" panose="020B0604020202020204" pitchFamily="34" charset="0"/>
                <a:ea typeface="Times New Roman" panose="02020603050405020304" pitchFamily="18" charset="0"/>
                <a:cs typeface="Arial" panose="020B0604020202020204" pitchFamily="34" charset="0"/>
              </a:rPr>
              <a:t>lý</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thuyết</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về</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hành</a:t>
            </a:r>
            <a:r>
              <a:rPr lang="en-US" sz="3200" b="1" kern="0">
                <a:latin typeface="Arial" panose="020B0604020202020204" pitchFamily="34" charset="0"/>
                <a:ea typeface="Times New Roman" panose="02020603050405020304" pitchFamily="18" charset="0"/>
                <a:cs typeface="Arial" panose="020B0604020202020204" pitchFamily="34" charset="0"/>
              </a:rPr>
              <a:t> vi </a:t>
            </a:r>
            <a:r>
              <a:rPr lang="en-US" sz="3200" b="1" kern="0" err="1">
                <a:latin typeface="Arial" panose="020B0604020202020204" pitchFamily="34" charset="0"/>
                <a:ea typeface="Times New Roman" panose="02020603050405020304" pitchFamily="18" charset="0"/>
                <a:cs typeface="Arial" panose="020B0604020202020204" pitchFamily="34" charset="0"/>
              </a:rPr>
              <a:t>học</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hỏi</a:t>
            </a:r>
            <a:endParaRPr lang="en-US" sz="6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002588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a:xfrm>
            <a:off x="753534" y="644525"/>
            <a:ext cx="10515600" cy="1325563"/>
          </a:xfrm>
        </p:spPr>
        <p:txBody>
          <a:bodyPr>
            <a:normAutofit/>
          </a:bodyPr>
          <a:lstStyle/>
          <a:p>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Ứng</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d</a:t>
            </a:r>
            <a:r>
              <a:rPr lang="en-US" sz="3200" i="1" kern="0" err="1">
                <a:latin typeface="Arial" panose="020B0604020202020204" pitchFamily="34" charset="0"/>
                <a:ea typeface="Times New Roman" panose="02020603050405020304" pitchFamily="18" charset="0"/>
                <a:cs typeface="Arial" panose="020B0604020202020204" pitchFamily="34" charset="0"/>
              </a:rPr>
              <a:t>ụ</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ng</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học</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hỏi</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bằng</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cách</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lập</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luận</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vào</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các</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hoạt</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b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b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động</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marketing</a:t>
            </a:r>
            <a:endParaRPr lang="en-US" sz="6000" i="1">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a:xfrm>
            <a:off x="217170" y="2431415"/>
            <a:ext cx="11136630" cy="3580765"/>
          </a:xfrm>
        </p:spPr>
        <p:txBody>
          <a:bodyPr vert="horz" lIns="91440" tIns="45720" rIns="91440" bIns="45720" rtlCol="0">
            <a:noAutofit/>
          </a:bodyPr>
          <a:lstStyle/>
          <a:p>
            <a:pPr algn="just">
              <a:lnSpc>
                <a:spcPct val="150000"/>
              </a:lnSpc>
              <a:spcBef>
                <a:spcPts val="0"/>
              </a:spcBef>
              <a:buFont typeface="Wingdings" pitchFamily="2" charset="2"/>
              <a:buChar char="Ø"/>
            </a:pPr>
            <a:r>
              <a:rPr lang="vi-VN"/>
              <a:t> Việc truy xuất thông tin cũng được hỗ trợ bởi các tín hiệu, có thể tự tạo hoặc bên ngoài và có thể ở dạng hình ảnh, âm thanh, hình dạng, màu sắc, mùi, v.v. </a:t>
            </a:r>
          </a:p>
          <a:p>
            <a:pPr algn="just">
              <a:lnSpc>
                <a:spcPct val="150000"/>
              </a:lnSpc>
              <a:spcBef>
                <a:spcPts val="0"/>
              </a:spcBef>
              <a:buFont typeface="Wingdings" pitchFamily="2" charset="2"/>
              <a:buChar char="Ø"/>
            </a:pPr>
            <a:r>
              <a:rPr lang="vi-VN"/>
              <a:t> Các chiến lược marketing có thể được sử dụng để tạo cảm giác hoài cổ và ảnh hưởng đến việc nhớ lại ngay lập tức. </a:t>
            </a:r>
          </a:p>
        </p:txBody>
      </p:sp>
      <p:sp>
        <p:nvSpPr>
          <p:cNvPr id="3" name="Title 1">
            <a:extLst>
              <a:ext uri="{FF2B5EF4-FFF2-40B4-BE49-F238E27FC236}">
                <a16:creationId xmlns:a16="http://schemas.microsoft.com/office/drawing/2014/main" id="{5C5650F0-A655-EE8D-1B5C-A3D66D49F9D0}"/>
              </a:ext>
            </a:extLst>
          </p:cNvPr>
          <p:cNvSpPr txBox="1">
            <a:spLocks/>
          </p:cNvSpPr>
          <p:nvPr/>
        </p:nvSpPr>
        <p:spPr>
          <a:xfrm>
            <a:off x="368300" y="-22754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kern="0">
                <a:latin typeface="Arial" panose="020B0604020202020204" pitchFamily="34" charset="0"/>
                <a:ea typeface="Times New Roman" panose="02020603050405020304" pitchFamily="18" charset="0"/>
                <a:cs typeface="Arial" panose="020B0604020202020204" pitchFamily="34" charset="0"/>
              </a:rPr>
              <a:t>3.3.4 Các </a:t>
            </a:r>
            <a:r>
              <a:rPr lang="en-US" sz="3200" b="1" kern="0" err="1">
                <a:latin typeface="Arial" panose="020B0604020202020204" pitchFamily="34" charset="0"/>
                <a:ea typeface="Times New Roman" panose="02020603050405020304" pitchFamily="18" charset="0"/>
                <a:cs typeface="Arial" panose="020B0604020202020204" pitchFamily="34" charset="0"/>
              </a:rPr>
              <a:t>lý</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thuyết</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về</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hành</a:t>
            </a:r>
            <a:r>
              <a:rPr lang="en-US" sz="3200" b="1" kern="0">
                <a:latin typeface="Arial" panose="020B0604020202020204" pitchFamily="34" charset="0"/>
                <a:ea typeface="Times New Roman" panose="02020603050405020304" pitchFamily="18" charset="0"/>
                <a:cs typeface="Arial" panose="020B0604020202020204" pitchFamily="34" charset="0"/>
              </a:rPr>
              <a:t> vi </a:t>
            </a:r>
            <a:r>
              <a:rPr lang="en-US" sz="3200" b="1" kern="0" err="1">
                <a:latin typeface="Arial" panose="020B0604020202020204" pitchFamily="34" charset="0"/>
                <a:ea typeface="Times New Roman" panose="02020603050405020304" pitchFamily="18" charset="0"/>
                <a:cs typeface="Arial" panose="020B0604020202020204" pitchFamily="34" charset="0"/>
              </a:rPr>
              <a:t>học</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hỏi</a:t>
            </a:r>
            <a:endParaRPr lang="en-US" sz="6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756131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a:xfrm>
            <a:off x="838200" y="681037"/>
            <a:ext cx="10515600" cy="1325563"/>
          </a:xfrm>
        </p:spPr>
        <p:txBody>
          <a:bodyPr>
            <a:normAutofit/>
          </a:bodyPr>
          <a:lstStyle/>
          <a:p>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Ứng</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d</a:t>
            </a:r>
            <a:r>
              <a:rPr lang="en-US" sz="3200" i="1" kern="0" err="1">
                <a:latin typeface="Arial" panose="020B0604020202020204" pitchFamily="34" charset="0"/>
                <a:ea typeface="Times New Roman" panose="02020603050405020304" pitchFamily="18" charset="0"/>
                <a:cs typeface="Arial" panose="020B0604020202020204" pitchFamily="34" charset="0"/>
              </a:rPr>
              <a:t>ụ</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ng</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học</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hỏi</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bằng</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cách</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lập</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luận</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vào</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các</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hoạt</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a:t>
            </a:r>
            <a:b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br>
            <a:r>
              <a:rPr lang="en-US" sz="3200" i="1" u="none" strike="noStrike" kern="0" spc="0" err="1">
                <a:effectLst/>
                <a:latin typeface="Arial" panose="020B0604020202020204" pitchFamily="34" charset="0"/>
                <a:ea typeface="Times New Roman" panose="02020603050405020304" pitchFamily="18" charset="0"/>
                <a:cs typeface="Arial" panose="020B0604020202020204" pitchFamily="34" charset="0"/>
              </a:rPr>
              <a:t>động</a:t>
            </a:r>
            <a:r>
              <a:rPr lang="en-US" sz="3200" i="1" u="none" strike="noStrike" kern="0" spc="0">
                <a:effectLst/>
                <a:latin typeface="Arial" panose="020B0604020202020204" pitchFamily="34" charset="0"/>
                <a:ea typeface="Times New Roman" panose="02020603050405020304" pitchFamily="18" charset="0"/>
                <a:cs typeface="Arial" panose="020B0604020202020204" pitchFamily="34" charset="0"/>
              </a:rPr>
              <a:t> marketing</a:t>
            </a:r>
            <a:endParaRPr lang="en-US" sz="6000" i="1">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a:xfrm>
            <a:off x="228600" y="2509520"/>
            <a:ext cx="11304270" cy="3765550"/>
          </a:xfrm>
        </p:spPr>
        <p:txBody>
          <a:bodyPr vert="horz" lIns="91440" tIns="45720" rIns="91440" bIns="45720" rtlCol="0">
            <a:noAutofit/>
          </a:bodyPr>
          <a:lstStyle/>
          <a:p>
            <a:pPr algn="just">
              <a:lnSpc>
                <a:spcPct val="150000"/>
              </a:lnSpc>
              <a:spcBef>
                <a:spcPts val="0"/>
              </a:spcBef>
              <a:buFont typeface="Wingdings" pitchFamily="2" charset="2"/>
              <a:buChar char="Ø"/>
            </a:pPr>
            <a:r>
              <a:rPr lang="vi-VN"/>
              <a:t>Thông tin cũng được lưu trữ bằng ngữ nghĩa hoặc trực quan, tuy nhiên,  hình ảnh luôn đạt được mục đích tốt hơn ngữ nghĩa. </a:t>
            </a:r>
          </a:p>
          <a:p>
            <a:pPr algn="just">
              <a:lnSpc>
                <a:spcPct val="150000"/>
              </a:lnSpc>
              <a:spcBef>
                <a:spcPts val="0"/>
              </a:spcBef>
              <a:buFont typeface="Wingdings" pitchFamily="2" charset="2"/>
              <a:buChar char="Ø"/>
            </a:pPr>
            <a:r>
              <a:rPr lang="vi-VN"/>
              <a:t> Các thông tin được mã hoá qua hình ảnh hoặc tín hiệu âm thanh sẽ dễ dàng được nhớ và truy xuất hơn thông tin bằng lời nói hoặc thông qua việc đọc, nói và viết.</a:t>
            </a:r>
          </a:p>
        </p:txBody>
      </p:sp>
      <p:sp>
        <p:nvSpPr>
          <p:cNvPr id="3" name="Title 1">
            <a:extLst>
              <a:ext uri="{FF2B5EF4-FFF2-40B4-BE49-F238E27FC236}">
                <a16:creationId xmlns:a16="http://schemas.microsoft.com/office/drawing/2014/main" id="{CA3619D2-F948-F0E3-A9BF-0127DC278908}"/>
              </a:ext>
            </a:extLst>
          </p:cNvPr>
          <p:cNvSpPr txBox="1">
            <a:spLocks/>
          </p:cNvSpPr>
          <p:nvPr/>
        </p:nvSpPr>
        <p:spPr>
          <a:xfrm>
            <a:off x="508000" y="-1428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kern="0">
                <a:latin typeface="Arial" panose="020B0604020202020204" pitchFamily="34" charset="0"/>
                <a:ea typeface="Times New Roman" panose="02020603050405020304" pitchFamily="18" charset="0"/>
                <a:cs typeface="Arial" panose="020B0604020202020204" pitchFamily="34" charset="0"/>
              </a:rPr>
              <a:t>3.3.4 Các </a:t>
            </a:r>
            <a:r>
              <a:rPr lang="en-US" sz="3200" b="1" kern="0" err="1">
                <a:latin typeface="Arial" panose="020B0604020202020204" pitchFamily="34" charset="0"/>
                <a:ea typeface="Times New Roman" panose="02020603050405020304" pitchFamily="18" charset="0"/>
                <a:cs typeface="Arial" panose="020B0604020202020204" pitchFamily="34" charset="0"/>
              </a:rPr>
              <a:t>lý</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thuyết</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về</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hành</a:t>
            </a:r>
            <a:r>
              <a:rPr lang="en-US" sz="3200" b="1" kern="0">
                <a:latin typeface="Arial" panose="020B0604020202020204" pitchFamily="34" charset="0"/>
                <a:ea typeface="Times New Roman" panose="02020603050405020304" pitchFamily="18" charset="0"/>
                <a:cs typeface="Arial" panose="020B0604020202020204" pitchFamily="34" charset="0"/>
              </a:rPr>
              <a:t> vi </a:t>
            </a:r>
            <a:r>
              <a:rPr lang="en-US" sz="3200" b="1" kern="0" err="1">
                <a:latin typeface="Arial" panose="020B0604020202020204" pitchFamily="34" charset="0"/>
                <a:ea typeface="Times New Roman" panose="02020603050405020304" pitchFamily="18" charset="0"/>
                <a:cs typeface="Arial" panose="020B0604020202020204" pitchFamily="34" charset="0"/>
              </a:rPr>
              <a:t>học</a:t>
            </a:r>
            <a:r>
              <a:rPr lang="en-US" sz="3200" b="1" kern="0">
                <a:latin typeface="Arial" panose="020B0604020202020204" pitchFamily="34" charset="0"/>
                <a:ea typeface="Times New Roman" panose="02020603050405020304" pitchFamily="18" charset="0"/>
                <a:cs typeface="Arial" panose="020B0604020202020204" pitchFamily="34" charset="0"/>
              </a:rPr>
              <a:t> </a:t>
            </a:r>
            <a:r>
              <a:rPr lang="en-US" sz="3200" b="1" kern="0" err="1">
                <a:latin typeface="Arial" panose="020B0604020202020204" pitchFamily="34" charset="0"/>
                <a:ea typeface="Times New Roman" panose="02020603050405020304" pitchFamily="18" charset="0"/>
                <a:cs typeface="Arial" panose="020B0604020202020204" pitchFamily="34" charset="0"/>
              </a:rPr>
              <a:t>hỏi</a:t>
            </a:r>
            <a:endParaRPr lang="en-US" sz="6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6326300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CFFAF3-6746-DF0E-874C-0711554037AE}"/>
              </a:ext>
            </a:extLst>
          </p:cNvPr>
          <p:cNvSpPr>
            <a:spLocks noGrp="1"/>
          </p:cNvSpPr>
          <p:nvPr>
            <p:ph type="title"/>
          </p:nvPr>
        </p:nvSpPr>
        <p:spPr/>
        <p:txBody>
          <a:bodyPr>
            <a:normAutofit/>
          </a:bodyPr>
          <a:lstStyle/>
          <a:p>
            <a:r>
              <a:rPr lang="en-US" sz="3200" b="1" u="none" strike="noStrike" kern="0" spc="0">
                <a:effectLst/>
                <a:latin typeface="Arial" panose="020B0604020202020204" pitchFamily="34" charset="0"/>
                <a:ea typeface="Times New Roman" panose="02020603050405020304" pitchFamily="18" charset="0"/>
                <a:cs typeface="Arial" panose="020B0604020202020204" pitchFamily="34" charset="0"/>
              </a:rPr>
              <a:t>3.3.5 </a:t>
            </a:r>
            <a:r>
              <a:rPr lang="en-US" sz="3200" b="1" u="none" strike="noStrike" kern="0" spc="0" err="1">
                <a:effectLst/>
                <a:latin typeface="Arial" panose="020B0604020202020204" pitchFamily="34" charset="0"/>
                <a:ea typeface="Times New Roman" panose="02020603050405020304" pitchFamily="18" charset="0"/>
                <a:cs typeface="Arial" panose="020B0604020202020204" pitchFamily="34" charset="0"/>
              </a:rPr>
              <a:t>Đo</a:t>
            </a:r>
            <a:r>
              <a:rPr lang="en-US" sz="32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b="1" u="none" strike="noStrike" kern="0" spc="0" err="1">
                <a:effectLst/>
                <a:latin typeface="Arial" panose="020B0604020202020204" pitchFamily="34" charset="0"/>
                <a:ea typeface="Times New Roman" panose="02020603050405020304" pitchFamily="18" charset="0"/>
                <a:cs typeface="Arial" panose="020B0604020202020204" pitchFamily="34" charset="0"/>
              </a:rPr>
              <a:t>lường</a:t>
            </a:r>
            <a:r>
              <a:rPr lang="en-US" sz="32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b="1" u="none" strike="noStrike" kern="0" spc="0" err="1">
                <a:effectLst/>
                <a:latin typeface="Arial" panose="020B0604020202020204" pitchFamily="34" charset="0"/>
                <a:ea typeface="Times New Roman" panose="02020603050405020304" pitchFamily="18" charset="0"/>
                <a:cs typeface="Arial" panose="020B0604020202020204" pitchFamily="34" charset="0"/>
              </a:rPr>
              <a:t>hành</a:t>
            </a:r>
            <a:r>
              <a:rPr lang="en-US" sz="3200" b="1" u="none" strike="noStrike" kern="0" spc="0">
                <a:effectLst/>
                <a:latin typeface="Arial" panose="020B0604020202020204" pitchFamily="34" charset="0"/>
                <a:ea typeface="Times New Roman" panose="02020603050405020304" pitchFamily="18" charset="0"/>
                <a:cs typeface="Arial" panose="020B0604020202020204" pitchFamily="34" charset="0"/>
              </a:rPr>
              <a:t> vi </a:t>
            </a:r>
            <a:r>
              <a:rPr lang="en-US" sz="3200" b="1" u="none" strike="noStrike" kern="0" spc="0" err="1">
                <a:effectLst/>
                <a:latin typeface="Arial" panose="020B0604020202020204" pitchFamily="34" charset="0"/>
                <a:ea typeface="Times New Roman" panose="02020603050405020304" pitchFamily="18" charset="0"/>
                <a:cs typeface="Arial" panose="020B0604020202020204" pitchFamily="34" charset="0"/>
              </a:rPr>
              <a:t>học</a:t>
            </a:r>
            <a:r>
              <a:rPr lang="en-US" sz="32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b="1" u="none" strike="noStrike" kern="0" spc="0" err="1">
                <a:effectLst/>
                <a:latin typeface="Arial" panose="020B0604020202020204" pitchFamily="34" charset="0"/>
                <a:ea typeface="Times New Roman" panose="02020603050405020304" pitchFamily="18" charset="0"/>
                <a:cs typeface="Arial" panose="020B0604020202020204" pitchFamily="34" charset="0"/>
              </a:rPr>
              <a:t>hỏi</a:t>
            </a:r>
            <a:r>
              <a:rPr lang="en-US" sz="32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b="1" u="none" strike="noStrike" kern="0" spc="0" err="1">
                <a:effectLst/>
                <a:latin typeface="Arial" panose="020B0604020202020204" pitchFamily="34" charset="0"/>
                <a:ea typeface="Times New Roman" panose="02020603050405020304" pitchFamily="18" charset="0"/>
                <a:cs typeface="Arial" panose="020B0604020202020204" pitchFamily="34" charset="0"/>
              </a:rPr>
              <a:t>của</a:t>
            </a:r>
            <a:r>
              <a:rPr lang="en-US" sz="3200" b="1" u="none" strike="noStrike" kern="0" spc="0">
                <a:effectLst/>
                <a:latin typeface="Arial" panose="020B0604020202020204" pitchFamily="34" charset="0"/>
                <a:ea typeface="Times New Roman" panose="02020603050405020304" pitchFamily="18" charset="0"/>
                <a:cs typeface="Arial" panose="020B0604020202020204" pitchFamily="34" charset="0"/>
              </a:rPr>
              <a:t> NTD</a:t>
            </a:r>
            <a:endParaRPr lang="en-US" sz="600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0106E84C-B066-3940-B497-9B359780D06B}"/>
              </a:ext>
            </a:extLst>
          </p:cNvPr>
          <p:cNvSpPr>
            <a:spLocks noGrp="1"/>
          </p:cNvSpPr>
          <p:nvPr>
            <p:ph idx="1"/>
          </p:nvPr>
        </p:nvSpPr>
        <p:spPr>
          <a:xfrm>
            <a:off x="434340" y="1825625"/>
            <a:ext cx="10919460" cy="4351338"/>
          </a:xfrm>
        </p:spPr>
        <p:txBody>
          <a:bodyPr vert="horz" lIns="91440" tIns="45720" rIns="91440" bIns="45720" rtlCol="0">
            <a:noAutofit/>
          </a:bodyPr>
          <a:lstStyle/>
          <a:p>
            <a:pPr algn="just">
              <a:lnSpc>
                <a:spcPct val="150000"/>
              </a:lnSpc>
              <a:spcBef>
                <a:spcPts val="0"/>
              </a:spcBef>
              <a:buFont typeface="Wingdings" pitchFamily="2" charset="2"/>
              <a:buChar char="Ø"/>
            </a:pPr>
            <a:r>
              <a:rPr lang="vi-VN"/>
              <a:t> Kết quả của việc học hỏi có thể được đo lường bằng mức độ nhận dạng thương hiệu, mức độ nhớ các đặc tính thương hiệu, mức độ trung thành với thương hiệu và tài sản thương hiệu.</a:t>
            </a:r>
          </a:p>
          <a:p>
            <a:pPr algn="just">
              <a:lnSpc>
                <a:spcPct val="150000"/>
              </a:lnSpc>
              <a:spcBef>
                <a:spcPts val="0"/>
              </a:spcBef>
              <a:buFont typeface="Wingdings" pitchFamily="2" charset="2"/>
              <a:buChar char="Ø"/>
            </a:pPr>
            <a:r>
              <a:rPr lang="vi-VN"/>
              <a:t> Nếu người tiêu dùng có thể nhận dạng tốt thương hiệu sau mỗi chiến dịch chiêu thị của công ty, nghĩa là việc “dạy và học” đều tốt. </a:t>
            </a:r>
          </a:p>
        </p:txBody>
      </p:sp>
    </p:spTree>
    <p:extLst>
      <p:ext uri="{BB962C8B-B14F-4D97-AF65-F5344CB8AC3E}">
        <p14:creationId xmlns:p14="http://schemas.microsoft.com/office/powerpoint/2010/main" val="288146547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CB0E2-282E-F412-0E8F-0E2DFB95B97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EA4678C-F9E2-8ABD-C7F6-49DA8E8C310A}"/>
              </a:ext>
            </a:extLst>
          </p:cNvPr>
          <p:cNvSpPr>
            <a:spLocks noGrp="1"/>
          </p:cNvSpPr>
          <p:nvPr>
            <p:ph type="ctrTitle"/>
          </p:nvPr>
        </p:nvSpPr>
        <p:spPr>
          <a:xfrm>
            <a:off x="1337734" y="1760185"/>
            <a:ext cx="9144000" cy="2387600"/>
          </a:xfrm>
        </p:spPr>
        <p:txBody>
          <a:bodyPr>
            <a:normAutofit/>
          </a:bodyPr>
          <a:lstStyle/>
          <a:p>
            <a:pPr marL="0" marR="0" indent="0">
              <a:lnSpc>
                <a:spcPct val="150000"/>
              </a:lnSpc>
              <a:spcBef>
                <a:spcPts val="0"/>
              </a:spcBef>
              <a:spcAft>
                <a:spcPts val="0"/>
              </a:spcAft>
              <a:buNone/>
              <a:tabLst>
                <a:tab pos="381000" algn="l"/>
              </a:tabLst>
            </a:pPr>
            <a:r>
              <a:rPr lang="en-US" sz="3600" b="1">
                <a:effectLst/>
                <a:latin typeface="Arial" panose="020B0604020202020204" pitchFamily="34" charset="0"/>
                <a:ea typeface="Calibri" panose="020F0502020204030204" pitchFamily="34" charset="0"/>
                <a:cs typeface="Arial" panose="020B0604020202020204" pitchFamily="34" charset="0"/>
              </a:rPr>
              <a:t>3.</a:t>
            </a:r>
            <a:r>
              <a:rPr lang="en-US" sz="3600" b="1">
                <a:latin typeface="Arial" panose="020B0604020202020204" pitchFamily="34" charset="0"/>
                <a:ea typeface="Calibri" panose="020F0502020204030204" pitchFamily="34" charset="0"/>
                <a:cs typeface="Arial" panose="020B0604020202020204" pitchFamily="34" charset="0"/>
              </a:rPr>
              <a:t>4</a:t>
            </a:r>
            <a:r>
              <a:rPr lang="en-US" sz="3600" b="1">
                <a:effectLst/>
                <a:latin typeface="Arial" panose="020B0604020202020204" pitchFamily="34" charset="0"/>
                <a:ea typeface="Calibri" panose="020F0502020204030204" pitchFamily="34" charset="0"/>
                <a:cs typeface="Arial" panose="020B0604020202020204" pitchFamily="34" charset="0"/>
              </a:rPr>
              <a:t> </a:t>
            </a:r>
            <a:r>
              <a:rPr lang="en-US" sz="3600" b="1">
                <a:latin typeface="Arial" panose="020B0604020202020204" pitchFamily="34" charset="0"/>
                <a:ea typeface="Calibri" panose="020F0502020204030204" pitchFamily="34" charset="0"/>
                <a:cs typeface="Arial" panose="020B0604020202020204" pitchFamily="34" charset="0"/>
              </a:rPr>
              <a:t>THÁI ĐỘ</a:t>
            </a:r>
            <a:br>
              <a:rPr lang="en-US" sz="3600" b="1">
                <a:effectLst/>
                <a:latin typeface="Arial" panose="020B0604020202020204" pitchFamily="34" charset="0"/>
                <a:ea typeface="Times New Roman" panose="02020603050405020304" pitchFamily="18" charset="0"/>
                <a:cs typeface="Arial" panose="020B0604020202020204" pitchFamily="34" charset="0"/>
              </a:rPr>
            </a:br>
            <a:endParaRPr lang="en-US" sz="3600" b="1">
              <a:effectLst/>
              <a:latin typeface="Arial" panose="020B0604020202020204" pitchFamily="34" charset="0"/>
              <a:ea typeface="Times New Roman" panose="02020603050405020304" pitchFamily="18" charset="0"/>
              <a:cs typeface="Arial" panose="020B0604020202020204" pitchFamily="34" charset="0"/>
            </a:endParaRPr>
          </a:p>
        </p:txBody>
      </p:sp>
      <p:sp>
        <p:nvSpPr>
          <p:cNvPr id="2" name="Subtitle 1">
            <a:extLst>
              <a:ext uri="{FF2B5EF4-FFF2-40B4-BE49-F238E27FC236}">
                <a16:creationId xmlns:a16="http://schemas.microsoft.com/office/drawing/2014/main" id="{83E301B6-458B-1D64-E72B-59F8D32DD0F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5894148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9844" y="0"/>
            <a:ext cx="10515600" cy="1325563"/>
          </a:xfrm>
        </p:spPr>
        <p:txBody>
          <a:bodyPr>
            <a:normAutofit/>
          </a:bodyPr>
          <a:lstStyle/>
          <a:p>
            <a:r>
              <a:rPr lang="en-US" sz="3200" b="1" u="none" strike="noStrike" kern="0" spc="0">
                <a:effectLst/>
                <a:latin typeface="Arial" panose="020B0604020202020204" pitchFamily="34" charset="0"/>
                <a:ea typeface="Times New Roman" panose="02020603050405020304" pitchFamily="18" charset="0"/>
                <a:cs typeface="Arial" panose="020B0604020202020204" pitchFamily="34" charset="0"/>
              </a:rPr>
              <a:t>3.4.1 Định </a:t>
            </a:r>
            <a:r>
              <a:rPr lang="en-US" sz="3200" b="1" u="none" strike="noStrike" kern="0" spc="0" err="1">
                <a:effectLst/>
                <a:latin typeface="Arial" panose="020B0604020202020204" pitchFamily="34" charset="0"/>
                <a:ea typeface="Times New Roman" panose="02020603050405020304" pitchFamily="18" charset="0"/>
                <a:cs typeface="Arial" panose="020B0604020202020204" pitchFamily="34" charset="0"/>
              </a:rPr>
              <a:t>nghĩa</a:t>
            </a:r>
            <a:r>
              <a:rPr lang="en-US" sz="32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b="1" u="none" strike="noStrike" kern="0" spc="0" err="1">
                <a:effectLst/>
                <a:latin typeface="Arial" panose="020B0604020202020204" pitchFamily="34" charset="0"/>
                <a:ea typeface="Times New Roman" panose="02020603050405020304" pitchFamily="18" charset="0"/>
                <a:cs typeface="Arial" panose="020B0604020202020204" pitchFamily="34" charset="0"/>
              </a:rPr>
              <a:t>thái</a:t>
            </a:r>
            <a:r>
              <a:rPr lang="en-US" sz="3200" b="1" u="none" strike="noStrike" kern="0" spc="0">
                <a:effectLst/>
                <a:latin typeface="Arial" panose="020B0604020202020204" pitchFamily="34" charset="0"/>
                <a:ea typeface="Times New Roman" panose="02020603050405020304" pitchFamily="18" charset="0"/>
                <a:cs typeface="Arial" panose="020B0604020202020204" pitchFamily="34" charset="0"/>
              </a:rPr>
              <a:t> </a:t>
            </a:r>
            <a:r>
              <a:rPr lang="en-US" sz="3200" b="1" u="none" strike="noStrike" kern="0" spc="0" err="1">
                <a:effectLst/>
                <a:latin typeface="Arial" panose="020B0604020202020204" pitchFamily="34" charset="0"/>
                <a:ea typeface="Times New Roman" panose="02020603050405020304" pitchFamily="18" charset="0"/>
                <a:cs typeface="Arial" panose="020B0604020202020204" pitchFamily="34" charset="0"/>
              </a:rPr>
              <a:t>độ</a:t>
            </a:r>
            <a:endParaRPr lang="en-US" sz="60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47133" y="978958"/>
            <a:ext cx="10515600" cy="4351338"/>
          </a:xfrm>
        </p:spPr>
        <p:txBody>
          <a:bodyPr>
            <a:noAutofit/>
          </a:bodyPr>
          <a:lstStyle/>
          <a:p>
            <a:pPr marL="0" indent="0" algn="just">
              <a:lnSpc>
                <a:spcPct val="150000"/>
              </a:lnSpc>
              <a:spcBef>
                <a:spcPts val="0"/>
              </a:spcBef>
              <a:buNone/>
            </a:pPr>
            <a:r>
              <a:rPr lang="vi-VN" sz="2600"/>
              <a:t>	Thái độ có thể được định nghĩa là một cảm giác tích cực hoặc không tích cực mà một cá nhân có đối với một đối tượng (có thể là một người, sự vật hoặc tình huống). Nó tạo ra khuynh hướng thể hiện và hành động dẫn đến cảm giác thích hoặc không thích đối với đối tượng đó. </a:t>
            </a:r>
          </a:p>
          <a:p>
            <a:pPr marL="0" indent="0" algn="just">
              <a:lnSpc>
                <a:spcPct val="150000"/>
              </a:lnSpc>
              <a:spcBef>
                <a:spcPts val="0"/>
              </a:spcBef>
              <a:buNone/>
            </a:pPr>
            <a:r>
              <a:rPr lang="vi-VN" sz="2600"/>
              <a:t>	Trong phạm vi hành vi của NTD, thái độ của người tiêu dùng có thể được định nghĩa là cảm giác bên trong về sự tích cực hoặc không tích cực đối với sản phẩm hoặc dịch vụ được cung cấp và các chiến lược 4Ps của doanh nghiệp</a:t>
            </a:r>
            <a:r>
              <a:rPr lang="vi-VN" sz="2600" b="1" i="1"/>
              <a:t> </a:t>
            </a:r>
            <a:r>
              <a:rPr lang="vi-VN" sz="2600"/>
              <a:t>(Schiffman &amp; Wisenblit, 2019)</a:t>
            </a:r>
            <a:r>
              <a:rPr lang="en-VN" sz="2600"/>
              <a:t> </a:t>
            </a:r>
            <a:endParaRPr lang="en-US" sz="2600">
              <a:latin typeface="Arial" panose="020B0604020202020204" pitchFamily="34" charset="0"/>
              <a:cs typeface="Arial" panose="020B0604020202020204" pitchFamily="34" charset="0"/>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4689" y="-396875"/>
            <a:ext cx="10515600" cy="1325563"/>
          </a:xfrm>
        </p:spPr>
        <p:txBody>
          <a:bodyPr vert="horz" lIns="91440" tIns="45720" rIns="91440" bIns="45720" rtlCol="0" anchor="b">
            <a:normAutofit/>
          </a:bodyPr>
          <a:lstStyle/>
          <a:p>
            <a:r>
              <a:rPr lang="en-US" sz="3200" b="1" u="none" strike="noStrike" spc="0">
                <a:effectLst/>
                <a:latin typeface="Arial" panose="020B0604020202020204" pitchFamily="34" charset="0"/>
                <a:cs typeface="Arial" panose="020B0604020202020204" pitchFamily="34" charset="0"/>
              </a:rPr>
              <a:t>3.4.2 </a:t>
            </a:r>
            <a:r>
              <a:rPr lang="en-US" sz="3200" b="1" u="none" strike="noStrike" kern="1200" spc="0" err="1">
                <a:solidFill>
                  <a:schemeClr val="tx1"/>
                </a:solidFill>
                <a:effectLst/>
                <a:latin typeface="Arial" panose="020B0604020202020204" pitchFamily="34" charset="0"/>
                <a:cs typeface="Arial" panose="020B0604020202020204" pitchFamily="34" charset="0"/>
              </a:rPr>
              <a:t>Bản</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chất</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của</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thái</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độ</a:t>
            </a:r>
            <a:endParaRPr lang="en-US" sz="3200" kern="1200">
              <a:solidFill>
                <a:schemeClr val="tx1"/>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5E0B1228-CF73-2E4F-B32A-DC68DD22C261}"/>
              </a:ext>
            </a:extLst>
          </p:cNvPr>
          <p:cNvSpPr>
            <a:spLocks noGrp="1"/>
          </p:cNvSpPr>
          <p:nvPr>
            <p:ph idx="1"/>
          </p:nvPr>
        </p:nvSpPr>
        <p:spPr>
          <a:xfrm>
            <a:off x="692150" y="1867958"/>
            <a:ext cx="10515600" cy="4351338"/>
          </a:xfrm>
        </p:spPr>
        <p:txBody>
          <a:bodyPr>
            <a:noAutofit/>
          </a:bodyPr>
          <a:lstStyle/>
          <a:p>
            <a:pPr algn="just">
              <a:lnSpc>
                <a:spcPct val="150000"/>
              </a:lnSpc>
              <a:spcBef>
                <a:spcPts val="0"/>
              </a:spcBef>
              <a:buFont typeface="Wingdings" pitchFamily="2" charset="2"/>
              <a:buChar char="Ø"/>
            </a:pPr>
            <a:r>
              <a:rPr lang="vi-VN">
                <a:latin typeface="Arial" panose="020B0604020202020204" pitchFamily="34" charset="0"/>
                <a:cs typeface="Arial" panose="020B0604020202020204" pitchFamily="34" charset="0"/>
              </a:rPr>
              <a:t> </a:t>
            </a:r>
            <a:r>
              <a:rPr lang="vi-VN"/>
              <a:t>Thái độ bao gồm ba thành phần: thành phần tri thức hoặc nhận thức, thành phần cảm giác và thành phần hành vi. </a:t>
            </a:r>
          </a:p>
          <a:p>
            <a:pPr algn="just">
              <a:lnSpc>
                <a:spcPct val="150000"/>
              </a:lnSpc>
              <a:spcBef>
                <a:spcPts val="0"/>
              </a:spcBef>
              <a:buFont typeface="Wingdings" pitchFamily="2" charset="2"/>
              <a:buChar char="Ø"/>
            </a:pPr>
            <a:r>
              <a:rPr lang="vi-VN"/>
              <a:t> Thái độ nhìn chung sẽ thể hiện cảm giác của người tiêu dùng về việc thích hay không thích một sản phẩm hoặc dịch vụ và các thông điệp marketing của thương hiệu đó.</a:t>
            </a:r>
            <a:r>
              <a:rPr lang="en-VN"/>
              <a:t> </a:t>
            </a:r>
            <a:endParaRPr lang="vi-VN">
              <a:latin typeface="Arial" panose="020B0604020202020204" pitchFamily="34" charset="0"/>
              <a:cs typeface="Arial" panose="020B0604020202020204" pitchFamily="34" charset="0"/>
            </a:endParaRPr>
          </a:p>
        </p:txBody>
      </p:sp>
      <p:sp>
        <p:nvSpPr>
          <p:cNvPr id="4" name="Rectangle 2">
            <a:extLst>
              <a:ext uri="{FF2B5EF4-FFF2-40B4-BE49-F238E27FC236}">
                <a16:creationId xmlns:a16="http://schemas.microsoft.com/office/drawing/2014/main" id="{E9A4A7E3-8FDB-284E-8D95-4B67EF14F60E}"/>
              </a:ext>
            </a:extLst>
          </p:cNvPr>
          <p:cNvSpPr>
            <a:spLocks noChangeArrowheads="1"/>
          </p:cNvSpPr>
          <p:nvPr/>
        </p:nvSpPr>
        <p:spPr bwMode="auto">
          <a:xfrm flipV="1">
            <a:off x="3858447" y="2903837"/>
            <a:ext cx="1357281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spTree>
    <p:extLst>
      <p:ext uri="{BB962C8B-B14F-4D97-AF65-F5344CB8AC3E}">
        <p14:creationId xmlns:p14="http://schemas.microsoft.com/office/powerpoint/2010/main" val="373729377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0956" y="-297657"/>
            <a:ext cx="10515600" cy="1325563"/>
          </a:xfrm>
        </p:spPr>
        <p:txBody>
          <a:bodyPr vert="horz" lIns="91440" tIns="45720" rIns="91440" bIns="45720" rtlCol="0" anchor="b">
            <a:normAutofit/>
          </a:bodyPr>
          <a:lstStyle/>
          <a:p>
            <a:r>
              <a:rPr lang="en-US" sz="3200" b="1" u="none" strike="noStrike" spc="0">
                <a:effectLst/>
                <a:latin typeface="Arial" panose="020B0604020202020204" pitchFamily="34" charset="0"/>
                <a:cs typeface="Arial" panose="020B0604020202020204" pitchFamily="34" charset="0"/>
              </a:rPr>
              <a:t>3.4.2 </a:t>
            </a:r>
            <a:r>
              <a:rPr lang="en-US" sz="3200" b="1" u="none" strike="noStrike" kern="1200" spc="0" err="1">
                <a:solidFill>
                  <a:schemeClr val="tx1"/>
                </a:solidFill>
                <a:effectLst/>
                <a:latin typeface="Arial" panose="020B0604020202020204" pitchFamily="34" charset="0"/>
                <a:cs typeface="Arial" panose="020B0604020202020204" pitchFamily="34" charset="0"/>
              </a:rPr>
              <a:t>Bản</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chất</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của</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thái</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độ</a:t>
            </a:r>
            <a:endParaRPr lang="en-US" sz="3200" kern="1200">
              <a:solidFill>
                <a:schemeClr val="tx1"/>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5E0B1228-CF73-2E4F-B32A-DC68DD22C261}"/>
              </a:ext>
            </a:extLst>
          </p:cNvPr>
          <p:cNvSpPr>
            <a:spLocks noGrp="1"/>
          </p:cNvSpPr>
          <p:nvPr>
            <p:ph idx="1"/>
          </p:nvPr>
        </p:nvSpPr>
        <p:spPr/>
        <p:txBody>
          <a:bodyPr>
            <a:noAutofit/>
          </a:bodyPr>
          <a:lstStyle/>
          <a:p>
            <a:pPr algn="just">
              <a:lnSpc>
                <a:spcPct val="150000"/>
              </a:lnSpc>
              <a:spcBef>
                <a:spcPts val="0"/>
              </a:spcBef>
              <a:buFont typeface="Wingdings" pitchFamily="2" charset="2"/>
              <a:buChar char="Ø"/>
            </a:pPr>
            <a:r>
              <a:rPr lang="vi-VN">
                <a:latin typeface="Arial" panose="020B0604020202020204" pitchFamily="34" charset="0"/>
                <a:cs typeface="Arial" panose="020B0604020202020204" pitchFamily="34" charset="0"/>
              </a:rPr>
              <a:t> </a:t>
            </a:r>
            <a:r>
              <a:rPr lang="vi-VN" b="1"/>
              <a:t>Thành phần tri thức/ nhận thức </a:t>
            </a:r>
            <a:r>
              <a:rPr lang="vi-VN"/>
              <a:t>được hình thành trong quá trình thu nhận kiến ​​thức mà người tiêu dùng có được từ sự tương tác của họ với người khác và với sản phẩm/ dịch vụ/ thương hiệu/ thông điệp marketing, cũng như từ chính kinh nghiệm sử dụng của họ. </a:t>
            </a:r>
          </a:p>
        </p:txBody>
      </p:sp>
      <p:sp>
        <p:nvSpPr>
          <p:cNvPr id="4" name="Rectangle 2">
            <a:extLst>
              <a:ext uri="{FF2B5EF4-FFF2-40B4-BE49-F238E27FC236}">
                <a16:creationId xmlns:a16="http://schemas.microsoft.com/office/drawing/2014/main" id="{E9A4A7E3-8FDB-284E-8D95-4B67EF14F60E}"/>
              </a:ext>
            </a:extLst>
          </p:cNvPr>
          <p:cNvSpPr>
            <a:spLocks noChangeArrowheads="1"/>
          </p:cNvSpPr>
          <p:nvPr/>
        </p:nvSpPr>
        <p:spPr bwMode="auto">
          <a:xfrm flipV="1">
            <a:off x="3858447" y="2903837"/>
            <a:ext cx="1357281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spTree>
    <p:extLst>
      <p:ext uri="{BB962C8B-B14F-4D97-AF65-F5344CB8AC3E}">
        <p14:creationId xmlns:p14="http://schemas.microsoft.com/office/powerpoint/2010/main" val="346010307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044"/>
            <a:ext cx="10515600" cy="1325563"/>
          </a:xfrm>
        </p:spPr>
        <p:txBody>
          <a:bodyPr vert="horz" lIns="91440" tIns="45720" rIns="91440" bIns="45720" rtlCol="0" anchor="b">
            <a:normAutofit/>
          </a:bodyPr>
          <a:lstStyle/>
          <a:p>
            <a:r>
              <a:rPr lang="en-US" sz="3200" b="1" u="none" strike="noStrike" spc="0">
                <a:effectLst/>
                <a:latin typeface="Arial" panose="020B0604020202020204" pitchFamily="34" charset="0"/>
                <a:cs typeface="Arial" panose="020B0604020202020204" pitchFamily="34" charset="0"/>
              </a:rPr>
              <a:t>3.4.2 </a:t>
            </a:r>
            <a:r>
              <a:rPr lang="en-US" sz="3200" b="1" u="none" strike="noStrike" kern="1200" spc="0" err="1">
                <a:solidFill>
                  <a:schemeClr val="tx1"/>
                </a:solidFill>
                <a:effectLst/>
                <a:latin typeface="Arial" panose="020B0604020202020204" pitchFamily="34" charset="0"/>
                <a:cs typeface="Arial" panose="020B0604020202020204" pitchFamily="34" charset="0"/>
              </a:rPr>
              <a:t>Bản</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chất</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của</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thái</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độ</a:t>
            </a:r>
            <a:endParaRPr lang="en-US" sz="3200" kern="1200">
              <a:solidFill>
                <a:schemeClr val="tx1"/>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5E0B1228-CF73-2E4F-B32A-DC68DD22C261}"/>
              </a:ext>
            </a:extLst>
          </p:cNvPr>
          <p:cNvSpPr>
            <a:spLocks noGrp="1"/>
          </p:cNvSpPr>
          <p:nvPr>
            <p:ph idx="1"/>
          </p:nvPr>
        </p:nvSpPr>
        <p:spPr>
          <a:xfrm>
            <a:off x="838200" y="1526470"/>
            <a:ext cx="10515600" cy="4351338"/>
          </a:xfrm>
        </p:spPr>
        <p:txBody>
          <a:bodyPr>
            <a:noAutofit/>
          </a:bodyPr>
          <a:lstStyle/>
          <a:p>
            <a:pPr algn="just">
              <a:lnSpc>
                <a:spcPct val="150000"/>
              </a:lnSpc>
              <a:spcBef>
                <a:spcPts val="0"/>
              </a:spcBef>
              <a:buFont typeface="Wingdings" pitchFamily="2" charset="2"/>
              <a:buChar char="Ø"/>
            </a:pPr>
            <a:r>
              <a:rPr lang="vi-VN" b="1"/>
              <a:t>Thành phần cảm giác </a:t>
            </a:r>
            <a:r>
              <a:rPr lang="vi-VN"/>
              <a:t>được hình thành qua đánh giá cảm quan của người tiêu dùng về sản phẩm/ dịch vụ/ thông điệp marketing, từ đó tạo nên cảm giác tích cực (thích) hay tiêu cực (không thích) đối với sản phẩm hay dịch vụ đó. </a:t>
            </a:r>
          </a:p>
          <a:p>
            <a:pPr algn="just">
              <a:lnSpc>
                <a:spcPct val="150000"/>
              </a:lnSpc>
              <a:spcBef>
                <a:spcPts val="0"/>
              </a:spcBef>
              <a:buFont typeface="Wingdings" pitchFamily="2" charset="2"/>
              <a:buChar char="Ø"/>
            </a:pPr>
            <a:r>
              <a:rPr lang="vi-VN"/>
              <a:t> </a:t>
            </a:r>
            <a:r>
              <a:rPr lang="vi-VN" b="1"/>
              <a:t>Thành phần hành vi </a:t>
            </a:r>
            <a:r>
              <a:rPr lang="vi-VN"/>
              <a:t>được phản ánh bằng khuynh hướng hành động (mua hàng) và giới thiệu sản phẩm cho người khác dựa trên đánh giá của người tiêu dùng. </a:t>
            </a:r>
            <a:endParaRPr lang="vi-VN">
              <a:latin typeface="Arial" panose="020B0604020202020204" pitchFamily="34" charset="0"/>
              <a:cs typeface="Arial" panose="020B0604020202020204" pitchFamily="34" charset="0"/>
            </a:endParaRPr>
          </a:p>
        </p:txBody>
      </p:sp>
      <p:sp>
        <p:nvSpPr>
          <p:cNvPr id="4" name="Rectangle 2">
            <a:extLst>
              <a:ext uri="{FF2B5EF4-FFF2-40B4-BE49-F238E27FC236}">
                <a16:creationId xmlns:a16="http://schemas.microsoft.com/office/drawing/2014/main" id="{E9A4A7E3-8FDB-284E-8D95-4B67EF14F60E}"/>
              </a:ext>
            </a:extLst>
          </p:cNvPr>
          <p:cNvSpPr>
            <a:spLocks noChangeArrowheads="1"/>
          </p:cNvSpPr>
          <p:nvPr/>
        </p:nvSpPr>
        <p:spPr bwMode="auto">
          <a:xfrm flipV="1">
            <a:off x="3858447" y="2903837"/>
            <a:ext cx="1357281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spTree>
    <p:extLst>
      <p:ext uri="{BB962C8B-B14F-4D97-AF65-F5344CB8AC3E}">
        <p14:creationId xmlns:p14="http://schemas.microsoft.com/office/powerpoint/2010/main" val="89501849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467" y="-481541"/>
            <a:ext cx="10515600" cy="1325563"/>
          </a:xfrm>
        </p:spPr>
        <p:txBody>
          <a:bodyPr vert="horz" lIns="91440" tIns="45720" rIns="91440" bIns="45720" rtlCol="0" anchor="b">
            <a:normAutofit/>
          </a:bodyPr>
          <a:lstStyle/>
          <a:p>
            <a:r>
              <a:rPr lang="en-US" sz="3200" b="1" u="none" strike="noStrike" spc="0">
                <a:effectLst/>
                <a:latin typeface="Arial" panose="020B0604020202020204" pitchFamily="34" charset="0"/>
                <a:cs typeface="Arial" panose="020B0604020202020204" pitchFamily="34" charset="0"/>
              </a:rPr>
              <a:t>3.4.2 </a:t>
            </a:r>
            <a:r>
              <a:rPr lang="en-US" sz="3200" b="1" u="none" strike="noStrike" kern="1200" spc="0" err="1">
                <a:solidFill>
                  <a:schemeClr val="tx1"/>
                </a:solidFill>
                <a:effectLst/>
                <a:latin typeface="Arial" panose="020B0604020202020204" pitchFamily="34" charset="0"/>
                <a:cs typeface="Arial" panose="020B0604020202020204" pitchFamily="34" charset="0"/>
              </a:rPr>
              <a:t>Bản</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chất</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của</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thái</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độ</a:t>
            </a:r>
            <a:endParaRPr lang="en-US" sz="3200" kern="1200">
              <a:solidFill>
                <a:schemeClr val="tx1"/>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5E0B1228-CF73-2E4F-B32A-DC68DD22C261}"/>
              </a:ext>
            </a:extLst>
          </p:cNvPr>
          <p:cNvSpPr>
            <a:spLocks noGrp="1"/>
          </p:cNvSpPr>
          <p:nvPr>
            <p:ph idx="1"/>
          </p:nvPr>
        </p:nvSpPr>
        <p:spPr>
          <a:xfrm>
            <a:off x="290689" y="773887"/>
            <a:ext cx="11308644" cy="4351338"/>
          </a:xfrm>
        </p:spPr>
        <p:txBody>
          <a:bodyPr>
            <a:noAutofit/>
          </a:bodyPr>
          <a:lstStyle/>
          <a:p>
            <a:pPr algn="just">
              <a:lnSpc>
                <a:spcPct val="150000"/>
              </a:lnSpc>
              <a:spcBef>
                <a:spcPts val="0"/>
              </a:spcBef>
              <a:buFont typeface="Wingdings" pitchFamily="2" charset="2"/>
              <a:buChar char="Ø"/>
            </a:pPr>
            <a:r>
              <a:rPr lang="vi-VN" sz="2700"/>
              <a:t>Thái độ chủ yếu hướng tới một đối tượng (cung cấp sản phẩm / dịch vụ, giá cả, cửa hàng, đại lý, khuyến mãi, quảng cáo, vv)</a:t>
            </a:r>
          </a:p>
          <a:p>
            <a:pPr algn="just">
              <a:lnSpc>
                <a:spcPct val="150000"/>
              </a:lnSpc>
              <a:spcBef>
                <a:spcPts val="0"/>
              </a:spcBef>
              <a:buFont typeface="Wingdings" pitchFamily="2" charset="2"/>
              <a:buChar char="Ø"/>
            </a:pPr>
            <a:r>
              <a:rPr lang="vi-VN" sz="2700"/>
              <a:t>Thái độ chỉ đi theo một hướng: tích cực hoặc tiêu cực</a:t>
            </a:r>
          </a:p>
          <a:p>
            <a:pPr algn="just">
              <a:lnSpc>
                <a:spcPct val="150000"/>
              </a:lnSpc>
              <a:spcBef>
                <a:spcPts val="0"/>
              </a:spcBef>
              <a:buFont typeface="Wingdings" pitchFamily="2" charset="2"/>
              <a:buChar char="Ø"/>
            </a:pPr>
            <a:r>
              <a:rPr lang="vi-VN" sz="2700"/>
              <a:t> Thái độ mang tính ổn định và không thay đổi thường xuyên</a:t>
            </a:r>
          </a:p>
          <a:p>
            <a:pPr algn="just">
              <a:lnSpc>
                <a:spcPct val="150000"/>
              </a:lnSpc>
              <a:spcBef>
                <a:spcPts val="0"/>
              </a:spcBef>
              <a:buFont typeface="Wingdings" pitchFamily="2" charset="2"/>
              <a:buChar char="Ø"/>
            </a:pPr>
            <a:r>
              <a:rPr lang="vi-VN" sz="2700"/>
              <a:t> Thái độ là kết quả của quá trình học hỏi</a:t>
            </a:r>
          </a:p>
          <a:p>
            <a:pPr algn="just">
              <a:lnSpc>
                <a:spcPct val="150000"/>
              </a:lnSpc>
              <a:spcBef>
                <a:spcPts val="0"/>
              </a:spcBef>
              <a:buFont typeface="Wingdings" pitchFamily="2" charset="2"/>
              <a:buChar char="Ø"/>
            </a:pPr>
            <a:r>
              <a:rPr lang="vi-VN" sz="2700"/>
              <a:t> Thái độ không thể được quan sát trực tiếp</a:t>
            </a:r>
          </a:p>
          <a:p>
            <a:pPr algn="just">
              <a:lnSpc>
                <a:spcPct val="150000"/>
              </a:lnSpc>
              <a:spcBef>
                <a:spcPts val="0"/>
              </a:spcBef>
              <a:buFont typeface="Wingdings" pitchFamily="2" charset="2"/>
              <a:buChar char="Ø"/>
            </a:pPr>
            <a:r>
              <a:rPr lang="vi-VN" sz="2700"/>
              <a:t> Mặc dù thái độ có thể được suy ra từ hành vi của chúng ta, nhưng nó không đồng nghĩa với hành vi vì nó còn có hai thành phần khác</a:t>
            </a:r>
          </a:p>
          <a:p>
            <a:pPr algn="just">
              <a:lnSpc>
                <a:spcPct val="150000"/>
              </a:lnSpc>
              <a:spcBef>
                <a:spcPts val="0"/>
              </a:spcBef>
              <a:buFont typeface="Wingdings" pitchFamily="2" charset="2"/>
              <a:buChar char="Ø"/>
            </a:pPr>
            <a:r>
              <a:rPr lang="vi-VN" sz="2700"/>
              <a:t> Thái độ cũng có thể bị ảnh hưởng bởi một tình huống cụ thể</a:t>
            </a:r>
          </a:p>
        </p:txBody>
      </p:sp>
      <p:sp>
        <p:nvSpPr>
          <p:cNvPr id="4" name="Rectangle 2">
            <a:extLst>
              <a:ext uri="{FF2B5EF4-FFF2-40B4-BE49-F238E27FC236}">
                <a16:creationId xmlns:a16="http://schemas.microsoft.com/office/drawing/2014/main" id="{E9A4A7E3-8FDB-284E-8D95-4B67EF14F60E}"/>
              </a:ext>
            </a:extLst>
          </p:cNvPr>
          <p:cNvSpPr>
            <a:spLocks noChangeArrowheads="1"/>
          </p:cNvSpPr>
          <p:nvPr/>
        </p:nvSpPr>
        <p:spPr bwMode="auto">
          <a:xfrm flipV="1">
            <a:off x="3858447" y="2903837"/>
            <a:ext cx="1357281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spTree>
    <p:extLst>
      <p:ext uri="{BB962C8B-B14F-4D97-AF65-F5344CB8AC3E}">
        <p14:creationId xmlns:p14="http://schemas.microsoft.com/office/powerpoint/2010/main" val="164844444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163" y="-662782"/>
            <a:ext cx="10515600" cy="1325563"/>
          </a:xfrm>
        </p:spPr>
        <p:txBody>
          <a:bodyPr vert="horz" lIns="91440" tIns="45720" rIns="91440" bIns="45720" rtlCol="0" anchor="b">
            <a:normAutofit/>
          </a:bodyPr>
          <a:lstStyle/>
          <a:p>
            <a:r>
              <a:rPr lang="en-US" sz="3200" b="1" u="none" strike="noStrike" kern="1200" spc="0">
                <a:solidFill>
                  <a:schemeClr val="tx1"/>
                </a:solidFill>
                <a:effectLst/>
                <a:latin typeface="Arial" panose="020B0604020202020204" pitchFamily="34" charset="0"/>
                <a:cs typeface="Arial" panose="020B0604020202020204" pitchFamily="34" charset="0"/>
              </a:rPr>
              <a:t>3.4.3 </a:t>
            </a:r>
            <a:r>
              <a:rPr lang="en-US" sz="3200" b="1" u="none" strike="noStrike" kern="1200" spc="0" err="1">
                <a:solidFill>
                  <a:schemeClr val="tx1"/>
                </a:solidFill>
                <a:effectLst/>
                <a:latin typeface="Arial" panose="020B0604020202020204" pitchFamily="34" charset="0"/>
                <a:cs typeface="Arial" panose="020B0604020202020204" pitchFamily="34" charset="0"/>
              </a:rPr>
              <a:t>Chức</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năng</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của</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thái</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độ</a:t>
            </a:r>
            <a:endParaRPr lang="en-US" sz="3200" kern="1200">
              <a:solidFill>
                <a:schemeClr val="tx1"/>
              </a:solidFill>
              <a:latin typeface="Arial" panose="020B0604020202020204" pitchFamily="34" charset="0"/>
              <a:cs typeface="Arial" panose="020B0604020202020204" pitchFamily="34" charset="0"/>
            </a:endParaRPr>
          </a:p>
        </p:txBody>
      </p:sp>
      <p:graphicFrame>
        <p:nvGraphicFramePr>
          <p:cNvPr id="6" name="Content Placeholder 5">
            <a:extLst>
              <a:ext uri="{FF2B5EF4-FFF2-40B4-BE49-F238E27FC236}">
                <a16:creationId xmlns:a16="http://schemas.microsoft.com/office/drawing/2014/main" id="{3062AC22-09F5-EB4D-A7F7-069F41345DC5}"/>
              </a:ext>
            </a:extLst>
          </p:cNvPr>
          <p:cNvGraphicFramePr>
            <a:graphicFrameLocks noGrp="1"/>
          </p:cNvGraphicFramePr>
          <p:nvPr>
            <p:ph idx="1"/>
            <p:extLst>
              <p:ext uri="{D42A27DB-BD31-4B8C-83A1-F6EECF244321}">
                <p14:modId xmlns:p14="http://schemas.microsoft.com/office/powerpoint/2010/main" val="217133871"/>
              </p:ext>
            </p:extLst>
          </p:nvPr>
        </p:nvGraphicFramePr>
        <p:xfrm>
          <a:off x="0" y="1010449"/>
          <a:ext cx="12320335" cy="5847551"/>
        </p:xfrm>
        <a:graphic>
          <a:graphicData uri="http://schemas.openxmlformats.org/drawingml/2006/table">
            <a:tbl>
              <a:tblPr firstRow="1" bandRow="1">
                <a:tableStyleId>{5C22544A-7EE6-4342-B048-85BDC9FD1C3A}</a:tableStyleId>
              </a:tblPr>
              <a:tblGrid>
                <a:gridCol w="1460459">
                  <a:extLst>
                    <a:ext uri="{9D8B030D-6E8A-4147-A177-3AD203B41FA5}">
                      <a16:colId xmlns:a16="http://schemas.microsoft.com/office/drawing/2014/main" val="1497547419"/>
                    </a:ext>
                  </a:extLst>
                </a:gridCol>
                <a:gridCol w="2852299">
                  <a:extLst>
                    <a:ext uri="{9D8B030D-6E8A-4147-A177-3AD203B41FA5}">
                      <a16:colId xmlns:a16="http://schemas.microsoft.com/office/drawing/2014/main" val="472515425"/>
                    </a:ext>
                  </a:extLst>
                </a:gridCol>
                <a:gridCol w="4169848">
                  <a:extLst>
                    <a:ext uri="{9D8B030D-6E8A-4147-A177-3AD203B41FA5}">
                      <a16:colId xmlns:a16="http://schemas.microsoft.com/office/drawing/2014/main" val="1072044106"/>
                    </a:ext>
                  </a:extLst>
                </a:gridCol>
                <a:gridCol w="3837729">
                  <a:extLst>
                    <a:ext uri="{9D8B030D-6E8A-4147-A177-3AD203B41FA5}">
                      <a16:colId xmlns:a16="http://schemas.microsoft.com/office/drawing/2014/main" val="1015353290"/>
                    </a:ext>
                  </a:extLst>
                </a:gridCol>
              </a:tblGrid>
              <a:tr h="869151">
                <a:tc>
                  <a:txBody>
                    <a:bodyPr/>
                    <a:lstStyle/>
                    <a:p>
                      <a:pPr algn="ctr">
                        <a:spcBef>
                          <a:spcPts val="400"/>
                        </a:spcBef>
                        <a:spcAft>
                          <a:spcPts val="400"/>
                        </a:spcAft>
                      </a:pPr>
                      <a:r>
                        <a:rPr lang="en-US" sz="2000" err="1">
                          <a:effectLst/>
                        </a:rPr>
                        <a:t>Chức</a:t>
                      </a:r>
                      <a:r>
                        <a:rPr lang="en-US" sz="2000">
                          <a:effectLst/>
                        </a:rPr>
                        <a:t> </a:t>
                      </a:r>
                      <a:r>
                        <a:rPr lang="en-US" sz="2000" err="1">
                          <a:effectLst/>
                        </a:rPr>
                        <a:t>năng</a:t>
                      </a:r>
                      <a:r>
                        <a:rPr lang="en-US" sz="2000">
                          <a:effectLst/>
                        </a:rPr>
                        <a:t> </a:t>
                      </a:r>
                      <a:r>
                        <a:rPr lang="en-US" sz="2000" err="1">
                          <a:effectLst/>
                        </a:rPr>
                        <a:t>thái</a:t>
                      </a:r>
                      <a:r>
                        <a:rPr lang="en-US" sz="2000">
                          <a:effectLst/>
                        </a:rPr>
                        <a:t> </a:t>
                      </a:r>
                      <a:r>
                        <a:rPr lang="en-US" sz="2000" err="1">
                          <a:effectLst/>
                        </a:rPr>
                        <a:t>độ</a:t>
                      </a:r>
                      <a:endParaRPr lang="en-VN" sz="2000">
                        <a:effectLst/>
                        <a:latin typeface="Times New Roman" panose="02020603050405020304" pitchFamily="18" charset="0"/>
                        <a:ea typeface="Times New Roman" panose="02020603050405020304" pitchFamily="18" charset="0"/>
                      </a:endParaRPr>
                    </a:p>
                  </a:txBody>
                  <a:tcPr marL="55206" marR="55206" marT="0" marB="0" anchor="ctr"/>
                </a:tc>
                <a:tc>
                  <a:txBody>
                    <a:bodyPr/>
                    <a:lstStyle/>
                    <a:p>
                      <a:pPr algn="ctr">
                        <a:spcBef>
                          <a:spcPts val="400"/>
                        </a:spcBef>
                        <a:spcAft>
                          <a:spcPts val="400"/>
                        </a:spcAft>
                      </a:pPr>
                      <a:r>
                        <a:rPr lang="en-US" sz="2000">
                          <a:effectLst/>
                        </a:rPr>
                        <a:t>Ý </a:t>
                      </a:r>
                      <a:r>
                        <a:rPr lang="en-US" sz="2000" err="1">
                          <a:effectLst/>
                        </a:rPr>
                        <a:t>nghĩa</a:t>
                      </a:r>
                      <a:endParaRPr lang="en-VN" sz="2000">
                        <a:effectLst/>
                        <a:latin typeface="Times New Roman" panose="02020603050405020304" pitchFamily="18" charset="0"/>
                        <a:ea typeface="Times New Roman" panose="02020603050405020304" pitchFamily="18" charset="0"/>
                      </a:endParaRPr>
                    </a:p>
                  </a:txBody>
                  <a:tcPr marL="55206" marR="55206" marT="0" marB="0" anchor="ctr"/>
                </a:tc>
                <a:tc>
                  <a:txBody>
                    <a:bodyPr/>
                    <a:lstStyle/>
                    <a:p>
                      <a:pPr algn="ctr">
                        <a:spcBef>
                          <a:spcPts val="400"/>
                        </a:spcBef>
                        <a:spcAft>
                          <a:spcPts val="400"/>
                        </a:spcAft>
                      </a:pPr>
                      <a:r>
                        <a:rPr lang="en-US" sz="2000" err="1">
                          <a:effectLst/>
                        </a:rPr>
                        <a:t>Đối</a:t>
                      </a:r>
                      <a:r>
                        <a:rPr lang="en-US" sz="2000">
                          <a:effectLst/>
                        </a:rPr>
                        <a:t> </a:t>
                      </a:r>
                      <a:r>
                        <a:rPr lang="en-US" sz="2000" err="1">
                          <a:effectLst/>
                        </a:rPr>
                        <a:t>tượng</a:t>
                      </a:r>
                      <a:endParaRPr lang="en-VN" sz="2000">
                        <a:effectLst/>
                        <a:latin typeface="Times New Roman" panose="02020603050405020304" pitchFamily="18" charset="0"/>
                        <a:ea typeface="Times New Roman" panose="02020603050405020304" pitchFamily="18" charset="0"/>
                      </a:endParaRPr>
                    </a:p>
                  </a:txBody>
                  <a:tcPr marL="55206" marR="55206" marT="0" marB="0" anchor="ctr"/>
                </a:tc>
                <a:tc>
                  <a:txBody>
                    <a:bodyPr/>
                    <a:lstStyle/>
                    <a:p>
                      <a:pPr algn="ctr">
                        <a:spcBef>
                          <a:spcPts val="400"/>
                        </a:spcBef>
                        <a:spcAft>
                          <a:spcPts val="400"/>
                        </a:spcAft>
                      </a:pPr>
                      <a:r>
                        <a:rPr lang="en-US" sz="2000" err="1">
                          <a:effectLst/>
                        </a:rPr>
                        <a:t>Ví</a:t>
                      </a:r>
                      <a:r>
                        <a:rPr lang="en-US" sz="2000">
                          <a:effectLst/>
                        </a:rPr>
                        <a:t> </a:t>
                      </a:r>
                      <a:r>
                        <a:rPr lang="en-US" sz="2000" err="1">
                          <a:effectLst/>
                        </a:rPr>
                        <a:t>dụ</a:t>
                      </a:r>
                      <a:endParaRPr lang="en-VN" sz="2000">
                        <a:effectLst/>
                        <a:latin typeface="Times New Roman" panose="02020603050405020304" pitchFamily="18" charset="0"/>
                        <a:ea typeface="Times New Roman" panose="02020603050405020304" pitchFamily="18" charset="0"/>
                      </a:endParaRPr>
                    </a:p>
                  </a:txBody>
                  <a:tcPr marL="55206" marR="55206" marT="0" marB="0" anchor="ctr"/>
                </a:tc>
                <a:extLst>
                  <a:ext uri="{0D108BD9-81ED-4DB2-BD59-A6C34878D82A}">
                    <a16:rowId xmlns:a16="http://schemas.microsoft.com/office/drawing/2014/main" val="767971451"/>
                  </a:ext>
                </a:extLst>
              </a:tr>
              <a:tr h="1079360">
                <a:tc>
                  <a:txBody>
                    <a:bodyPr/>
                    <a:lstStyle/>
                    <a:p>
                      <a:pPr>
                        <a:spcBef>
                          <a:spcPts val="400"/>
                        </a:spcBef>
                        <a:spcAft>
                          <a:spcPts val="400"/>
                        </a:spcAft>
                      </a:pPr>
                      <a:r>
                        <a:rPr lang="en-US" sz="2000">
                          <a:effectLst/>
                        </a:rPr>
                        <a:t>Chức năng thực dụng</a:t>
                      </a:r>
                      <a:endParaRPr lang="en-VN" sz="2000">
                        <a:effectLst/>
                        <a:latin typeface="Times New Roman" panose="02020603050405020304" pitchFamily="18" charset="0"/>
                        <a:ea typeface="Times New Roman" panose="02020603050405020304" pitchFamily="18" charset="0"/>
                      </a:endParaRPr>
                    </a:p>
                  </a:txBody>
                  <a:tcPr marL="55206" marR="55206" marT="0" marB="0"/>
                </a:tc>
                <a:tc>
                  <a:txBody>
                    <a:bodyPr/>
                    <a:lstStyle/>
                    <a:p>
                      <a:pPr>
                        <a:spcBef>
                          <a:spcPts val="400"/>
                        </a:spcBef>
                        <a:spcAft>
                          <a:spcPts val="400"/>
                        </a:spcAft>
                      </a:pPr>
                      <a:r>
                        <a:rPr lang="en-US" sz="2000" err="1">
                          <a:effectLst/>
                        </a:rPr>
                        <a:t>Có</a:t>
                      </a:r>
                      <a:r>
                        <a:rPr lang="en-US" sz="2000">
                          <a:effectLst/>
                        </a:rPr>
                        <a:t> </a:t>
                      </a:r>
                      <a:r>
                        <a:rPr lang="en-US" sz="2000" err="1">
                          <a:effectLst/>
                        </a:rPr>
                        <a:t>thái</a:t>
                      </a:r>
                      <a:r>
                        <a:rPr lang="en-US" sz="2000">
                          <a:effectLst/>
                        </a:rPr>
                        <a:t> </a:t>
                      </a:r>
                      <a:r>
                        <a:rPr lang="en-US" sz="2000" err="1">
                          <a:effectLst/>
                        </a:rPr>
                        <a:t>độ</a:t>
                      </a:r>
                      <a:r>
                        <a:rPr lang="en-US" sz="2000">
                          <a:effectLst/>
                        </a:rPr>
                        <a:t> </a:t>
                      </a:r>
                      <a:r>
                        <a:rPr lang="en-US" sz="2000" err="1">
                          <a:effectLst/>
                        </a:rPr>
                        <a:t>tốt</a:t>
                      </a:r>
                      <a:r>
                        <a:rPr lang="en-US" sz="2000">
                          <a:effectLst/>
                        </a:rPr>
                        <a:t> </a:t>
                      </a:r>
                      <a:r>
                        <a:rPr lang="en-US" sz="2000" err="1">
                          <a:effectLst/>
                        </a:rPr>
                        <a:t>với</a:t>
                      </a:r>
                      <a:r>
                        <a:rPr lang="en-US" sz="2000">
                          <a:effectLst/>
                        </a:rPr>
                        <a:t> </a:t>
                      </a:r>
                      <a:r>
                        <a:rPr lang="en-US" sz="2000" err="1">
                          <a:effectLst/>
                        </a:rPr>
                        <a:t>những</a:t>
                      </a:r>
                      <a:r>
                        <a:rPr lang="en-US" sz="2000">
                          <a:effectLst/>
                        </a:rPr>
                        <a:t> </a:t>
                      </a:r>
                      <a:r>
                        <a:rPr lang="en-US" sz="2000" err="1">
                          <a:effectLst/>
                        </a:rPr>
                        <a:t>sản</a:t>
                      </a:r>
                      <a:r>
                        <a:rPr lang="en-US" sz="2000">
                          <a:effectLst/>
                        </a:rPr>
                        <a:t> </a:t>
                      </a:r>
                      <a:r>
                        <a:rPr lang="en-US" sz="2000" err="1">
                          <a:effectLst/>
                        </a:rPr>
                        <a:t>phẩm</a:t>
                      </a:r>
                      <a:r>
                        <a:rPr lang="en-US" sz="2000">
                          <a:effectLst/>
                        </a:rPr>
                        <a:t> </a:t>
                      </a:r>
                      <a:r>
                        <a:rPr lang="en-US" sz="2000" err="1">
                          <a:effectLst/>
                        </a:rPr>
                        <a:t>mang</a:t>
                      </a:r>
                      <a:r>
                        <a:rPr lang="en-US" sz="2000">
                          <a:effectLst/>
                        </a:rPr>
                        <a:t> </a:t>
                      </a:r>
                      <a:r>
                        <a:rPr lang="en-US" sz="2000" err="1">
                          <a:effectLst/>
                        </a:rPr>
                        <a:t>lại</a:t>
                      </a:r>
                      <a:r>
                        <a:rPr lang="en-US" sz="2000">
                          <a:effectLst/>
                        </a:rPr>
                        <a:t> </a:t>
                      </a:r>
                      <a:r>
                        <a:rPr lang="en-US" sz="2000" err="1">
                          <a:effectLst/>
                        </a:rPr>
                        <a:t>lợi</a:t>
                      </a:r>
                      <a:r>
                        <a:rPr lang="en-US" sz="2000">
                          <a:effectLst/>
                        </a:rPr>
                        <a:t> </a:t>
                      </a:r>
                      <a:r>
                        <a:rPr lang="en-US" sz="2000" err="1">
                          <a:effectLst/>
                        </a:rPr>
                        <a:t>ích</a:t>
                      </a:r>
                      <a:r>
                        <a:rPr lang="en-US" sz="2000">
                          <a:effectLst/>
                        </a:rPr>
                        <a:t> </a:t>
                      </a:r>
                      <a:r>
                        <a:rPr lang="en-US" sz="2000" err="1">
                          <a:effectLst/>
                        </a:rPr>
                        <a:t>thiết</a:t>
                      </a:r>
                      <a:r>
                        <a:rPr lang="en-US" sz="2000">
                          <a:effectLst/>
                        </a:rPr>
                        <a:t> </a:t>
                      </a:r>
                      <a:r>
                        <a:rPr lang="en-US" sz="2000" err="1">
                          <a:effectLst/>
                        </a:rPr>
                        <a:t>thực</a:t>
                      </a:r>
                      <a:endParaRPr lang="en-VN" sz="2000">
                        <a:effectLst/>
                        <a:latin typeface="Times New Roman" panose="02020603050405020304" pitchFamily="18" charset="0"/>
                        <a:ea typeface="Times New Roman" panose="02020603050405020304" pitchFamily="18" charset="0"/>
                      </a:endParaRPr>
                    </a:p>
                  </a:txBody>
                  <a:tcPr marL="55206" marR="55206" marT="0" marB="0"/>
                </a:tc>
                <a:tc>
                  <a:txBody>
                    <a:bodyPr/>
                    <a:lstStyle/>
                    <a:p>
                      <a:pPr>
                        <a:spcBef>
                          <a:spcPts val="400"/>
                        </a:spcBef>
                        <a:spcAft>
                          <a:spcPts val="400"/>
                        </a:spcAft>
                      </a:pPr>
                      <a:r>
                        <a:rPr lang="en-US" sz="2000">
                          <a:effectLst/>
                        </a:rPr>
                        <a:t>Các </a:t>
                      </a:r>
                      <a:r>
                        <a:rPr lang="en-US" sz="2000" err="1">
                          <a:effectLst/>
                        </a:rPr>
                        <a:t>tiện</a:t>
                      </a:r>
                      <a:r>
                        <a:rPr lang="en-US" sz="2000">
                          <a:effectLst/>
                        </a:rPr>
                        <a:t> </a:t>
                      </a:r>
                      <a:r>
                        <a:rPr lang="en-US" sz="2000" err="1">
                          <a:effectLst/>
                        </a:rPr>
                        <a:t>ích</a:t>
                      </a:r>
                      <a:r>
                        <a:rPr lang="en-US" sz="2000">
                          <a:effectLst/>
                        </a:rPr>
                        <a:t> </a:t>
                      </a:r>
                      <a:r>
                        <a:rPr lang="en-US" sz="2000" err="1">
                          <a:effectLst/>
                        </a:rPr>
                        <a:t>của</a:t>
                      </a:r>
                      <a:r>
                        <a:rPr lang="en-US" sz="2000">
                          <a:effectLst/>
                        </a:rPr>
                        <a:t> </a:t>
                      </a:r>
                      <a:r>
                        <a:rPr lang="en-US" sz="2000" err="1">
                          <a:effectLst/>
                        </a:rPr>
                        <a:t>sản</a:t>
                      </a:r>
                      <a:r>
                        <a:rPr lang="en-US" sz="2000">
                          <a:effectLst/>
                        </a:rPr>
                        <a:t> </a:t>
                      </a:r>
                      <a:r>
                        <a:rPr lang="en-US" sz="2000" err="1">
                          <a:effectLst/>
                        </a:rPr>
                        <a:t>phẩm</a:t>
                      </a:r>
                      <a:endParaRPr lang="en-VN" sz="2000">
                        <a:effectLst/>
                        <a:latin typeface="Times New Roman" panose="02020603050405020304" pitchFamily="18" charset="0"/>
                        <a:ea typeface="Times New Roman" panose="02020603050405020304" pitchFamily="18" charset="0"/>
                      </a:endParaRPr>
                    </a:p>
                  </a:txBody>
                  <a:tcPr marL="55206" marR="55206" marT="0" marB="0"/>
                </a:tc>
                <a:tc>
                  <a:txBody>
                    <a:bodyPr/>
                    <a:lstStyle/>
                    <a:p>
                      <a:pPr>
                        <a:spcBef>
                          <a:spcPts val="400"/>
                        </a:spcBef>
                        <a:spcAft>
                          <a:spcPts val="400"/>
                        </a:spcAft>
                      </a:pPr>
                      <a:r>
                        <a:rPr lang="en-US" sz="2000">
                          <a:effectLst/>
                        </a:rPr>
                        <a:t>P</a:t>
                      </a:r>
                      <a:r>
                        <a:rPr lang="vi-VN" sz="2000">
                          <a:effectLst/>
                        </a:rPr>
                        <a:t>/S ngừa sâu răng hữu hiệu</a:t>
                      </a:r>
                      <a:endParaRPr lang="en-VN" sz="2000">
                        <a:effectLst/>
                      </a:endParaRPr>
                    </a:p>
                    <a:p>
                      <a:pPr>
                        <a:spcBef>
                          <a:spcPts val="400"/>
                        </a:spcBef>
                        <a:spcAft>
                          <a:spcPts val="400"/>
                        </a:spcAft>
                      </a:pPr>
                      <a:r>
                        <a:rPr lang="vi-VN" sz="2000">
                          <a:effectLst/>
                        </a:rPr>
                        <a:t>Clear giúp trị gàu</a:t>
                      </a:r>
                      <a:endParaRPr lang="en-VN" sz="2000">
                        <a:effectLst/>
                      </a:endParaRPr>
                    </a:p>
                    <a:p>
                      <a:pPr>
                        <a:spcBef>
                          <a:spcPts val="400"/>
                        </a:spcBef>
                        <a:spcAft>
                          <a:spcPts val="400"/>
                        </a:spcAft>
                      </a:pPr>
                      <a:r>
                        <a:rPr lang="en-US" sz="2000">
                          <a:effectLst/>
                        </a:rPr>
                        <a:t> </a:t>
                      </a:r>
                      <a:endParaRPr lang="en-VN" sz="2000">
                        <a:effectLst/>
                        <a:latin typeface="Times New Roman" panose="02020603050405020304" pitchFamily="18" charset="0"/>
                        <a:ea typeface="Times New Roman" panose="02020603050405020304" pitchFamily="18" charset="0"/>
                      </a:endParaRPr>
                    </a:p>
                  </a:txBody>
                  <a:tcPr marL="55206" marR="55206" marT="0" marB="0"/>
                </a:tc>
                <a:extLst>
                  <a:ext uri="{0D108BD9-81ED-4DB2-BD59-A6C34878D82A}">
                    <a16:rowId xmlns:a16="http://schemas.microsoft.com/office/drawing/2014/main" val="3150532333"/>
                  </a:ext>
                </a:extLst>
              </a:tr>
              <a:tr h="1255441">
                <a:tc>
                  <a:txBody>
                    <a:bodyPr/>
                    <a:lstStyle/>
                    <a:p>
                      <a:pPr>
                        <a:spcBef>
                          <a:spcPts val="400"/>
                        </a:spcBef>
                        <a:spcAft>
                          <a:spcPts val="400"/>
                        </a:spcAft>
                      </a:pPr>
                      <a:r>
                        <a:rPr lang="en-US" sz="2000">
                          <a:effectLst/>
                        </a:rPr>
                        <a:t>Chức năng bảo vệ bản ngã</a:t>
                      </a:r>
                      <a:endParaRPr lang="en-VN" sz="2000">
                        <a:effectLst/>
                        <a:latin typeface="Times New Roman" panose="02020603050405020304" pitchFamily="18" charset="0"/>
                        <a:ea typeface="Times New Roman" panose="02020603050405020304" pitchFamily="18" charset="0"/>
                      </a:endParaRPr>
                    </a:p>
                  </a:txBody>
                  <a:tcPr marL="55206" marR="55206" marT="0" marB="0"/>
                </a:tc>
                <a:tc>
                  <a:txBody>
                    <a:bodyPr/>
                    <a:lstStyle/>
                    <a:p>
                      <a:pPr>
                        <a:spcBef>
                          <a:spcPts val="400"/>
                        </a:spcBef>
                        <a:spcAft>
                          <a:spcPts val="400"/>
                        </a:spcAft>
                      </a:pPr>
                      <a:r>
                        <a:rPr lang="en-US" sz="2000">
                          <a:effectLst/>
                        </a:rPr>
                        <a:t>Bảo vệ bản ngã</a:t>
                      </a:r>
                      <a:r>
                        <a:rPr lang="vi-VN" sz="2000">
                          <a:effectLst/>
                        </a:rPr>
                        <a:t>, hình ảnh và khái niệm về bản thân</a:t>
                      </a:r>
                      <a:endParaRPr lang="en-VN" sz="2000">
                        <a:effectLst/>
                        <a:latin typeface="Times New Roman" panose="02020603050405020304" pitchFamily="18" charset="0"/>
                        <a:ea typeface="Times New Roman" panose="02020603050405020304" pitchFamily="18" charset="0"/>
                      </a:endParaRPr>
                    </a:p>
                  </a:txBody>
                  <a:tcPr marL="55206" marR="55206" marT="0" marB="0"/>
                </a:tc>
                <a:tc>
                  <a:txBody>
                    <a:bodyPr/>
                    <a:lstStyle/>
                    <a:p>
                      <a:pPr>
                        <a:spcBef>
                          <a:spcPts val="400"/>
                        </a:spcBef>
                        <a:spcAft>
                          <a:spcPts val="400"/>
                        </a:spcAft>
                      </a:pPr>
                      <a:r>
                        <a:rPr lang="en-US" sz="2000">
                          <a:effectLst/>
                        </a:rPr>
                        <a:t>Các </a:t>
                      </a:r>
                      <a:r>
                        <a:rPr lang="en-US" sz="2000" err="1">
                          <a:effectLst/>
                        </a:rPr>
                        <a:t>sản</a:t>
                      </a:r>
                      <a:r>
                        <a:rPr lang="en-US" sz="2000">
                          <a:effectLst/>
                        </a:rPr>
                        <a:t> </a:t>
                      </a:r>
                      <a:r>
                        <a:rPr lang="en-US" sz="2000" err="1">
                          <a:effectLst/>
                        </a:rPr>
                        <a:t>phẩm</a:t>
                      </a:r>
                      <a:r>
                        <a:rPr lang="vi-VN" sz="2000">
                          <a:effectLst/>
                        </a:rPr>
                        <a:t>/ hành động liên quan đến bảo vệ bản ngã, hình ảnh và khái niệm bản thân.</a:t>
                      </a:r>
                      <a:endParaRPr lang="en-VN" sz="2000">
                        <a:effectLst/>
                        <a:latin typeface="Times New Roman" panose="02020603050405020304" pitchFamily="18" charset="0"/>
                        <a:ea typeface="Times New Roman" panose="02020603050405020304" pitchFamily="18" charset="0"/>
                      </a:endParaRPr>
                    </a:p>
                  </a:txBody>
                  <a:tcPr marL="55206" marR="55206" marT="0" marB="0"/>
                </a:tc>
                <a:tc>
                  <a:txBody>
                    <a:bodyPr/>
                    <a:lstStyle/>
                    <a:p>
                      <a:pPr>
                        <a:spcBef>
                          <a:spcPts val="400"/>
                        </a:spcBef>
                        <a:spcAft>
                          <a:spcPts val="400"/>
                        </a:spcAft>
                      </a:pPr>
                      <a:r>
                        <a:rPr lang="en-US" sz="2000">
                          <a:effectLst/>
                        </a:rPr>
                        <a:t>Rexona giúp bảo vệ khỏi mùi hôi</a:t>
                      </a:r>
                      <a:endParaRPr lang="en-VN" sz="2000">
                        <a:effectLst/>
                      </a:endParaRPr>
                    </a:p>
                    <a:p>
                      <a:pPr>
                        <a:spcBef>
                          <a:spcPts val="400"/>
                        </a:spcBef>
                        <a:spcAft>
                          <a:spcPts val="400"/>
                        </a:spcAft>
                      </a:pPr>
                      <a:r>
                        <a:rPr lang="en-US" sz="2000">
                          <a:effectLst/>
                        </a:rPr>
                        <a:t>Close</a:t>
                      </a:r>
                      <a:r>
                        <a:rPr lang="vi-VN" sz="2000">
                          <a:effectLst/>
                        </a:rPr>
                        <a:t>-up cho hơi thở thơm tho để thấy tự tin giao tiếp với người xung quanh</a:t>
                      </a:r>
                      <a:endParaRPr lang="en-VN" sz="2000">
                        <a:effectLst/>
                        <a:latin typeface="Times New Roman" panose="02020603050405020304" pitchFamily="18" charset="0"/>
                        <a:ea typeface="Times New Roman" panose="02020603050405020304" pitchFamily="18" charset="0"/>
                      </a:endParaRPr>
                    </a:p>
                  </a:txBody>
                  <a:tcPr marL="55206" marR="55206" marT="0" marB="0"/>
                </a:tc>
                <a:extLst>
                  <a:ext uri="{0D108BD9-81ED-4DB2-BD59-A6C34878D82A}">
                    <a16:rowId xmlns:a16="http://schemas.microsoft.com/office/drawing/2014/main" val="3061318271"/>
                  </a:ext>
                </a:extLst>
              </a:tr>
              <a:tr h="869151">
                <a:tc>
                  <a:txBody>
                    <a:bodyPr/>
                    <a:lstStyle/>
                    <a:p>
                      <a:pPr>
                        <a:spcBef>
                          <a:spcPts val="400"/>
                        </a:spcBef>
                        <a:spcAft>
                          <a:spcPts val="400"/>
                        </a:spcAft>
                      </a:pPr>
                      <a:r>
                        <a:rPr lang="en-US" sz="2000">
                          <a:effectLst/>
                        </a:rPr>
                        <a:t>Chức năng biểu hiện giá trị</a:t>
                      </a:r>
                      <a:endParaRPr lang="en-VN" sz="2000">
                        <a:effectLst/>
                        <a:latin typeface="Times New Roman" panose="02020603050405020304" pitchFamily="18" charset="0"/>
                        <a:ea typeface="Times New Roman" panose="02020603050405020304" pitchFamily="18" charset="0"/>
                      </a:endParaRPr>
                    </a:p>
                  </a:txBody>
                  <a:tcPr marL="55206" marR="55206" marT="0" marB="0"/>
                </a:tc>
                <a:tc>
                  <a:txBody>
                    <a:bodyPr/>
                    <a:lstStyle/>
                    <a:p>
                      <a:pPr>
                        <a:spcBef>
                          <a:spcPts val="400"/>
                        </a:spcBef>
                        <a:spcAft>
                          <a:spcPts val="400"/>
                        </a:spcAft>
                      </a:pPr>
                      <a:r>
                        <a:rPr lang="en-US" sz="2000">
                          <a:effectLst/>
                        </a:rPr>
                        <a:t>Phản ánh giá trị</a:t>
                      </a:r>
                      <a:r>
                        <a:rPr lang="vi-VN" sz="2000">
                          <a:effectLst/>
                        </a:rPr>
                        <a:t>, tính cách và lối sống bản thân</a:t>
                      </a:r>
                      <a:endParaRPr lang="en-VN" sz="2000">
                        <a:effectLst/>
                        <a:latin typeface="Times New Roman" panose="02020603050405020304" pitchFamily="18" charset="0"/>
                        <a:ea typeface="Times New Roman" panose="02020603050405020304" pitchFamily="18" charset="0"/>
                      </a:endParaRPr>
                    </a:p>
                  </a:txBody>
                  <a:tcPr marL="55206" marR="55206" marT="0" marB="0"/>
                </a:tc>
                <a:tc>
                  <a:txBody>
                    <a:bodyPr/>
                    <a:lstStyle/>
                    <a:p>
                      <a:pPr>
                        <a:spcBef>
                          <a:spcPts val="400"/>
                        </a:spcBef>
                        <a:spcAft>
                          <a:spcPts val="400"/>
                        </a:spcAft>
                      </a:pPr>
                      <a:r>
                        <a:rPr lang="en-US" sz="2000">
                          <a:effectLst/>
                        </a:rPr>
                        <a:t>Các </a:t>
                      </a:r>
                      <a:r>
                        <a:rPr lang="en-US" sz="2000" err="1">
                          <a:effectLst/>
                        </a:rPr>
                        <a:t>sản</a:t>
                      </a:r>
                      <a:r>
                        <a:rPr lang="en-US" sz="2000">
                          <a:effectLst/>
                        </a:rPr>
                        <a:t> </a:t>
                      </a:r>
                      <a:r>
                        <a:rPr lang="en-US" sz="2000" err="1">
                          <a:effectLst/>
                        </a:rPr>
                        <a:t>phẩm</a:t>
                      </a:r>
                      <a:r>
                        <a:rPr lang="en-US" sz="2000">
                          <a:effectLst/>
                        </a:rPr>
                        <a:t> </a:t>
                      </a:r>
                      <a:r>
                        <a:rPr lang="en-US" sz="2000" err="1">
                          <a:effectLst/>
                        </a:rPr>
                        <a:t>liên</a:t>
                      </a:r>
                      <a:r>
                        <a:rPr lang="en-US" sz="2000">
                          <a:effectLst/>
                        </a:rPr>
                        <a:t> </a:t>
                      </a:r>
                      <a:r>
                        <a:rPr lang="en-US" sz="2000" err="1">
                          <a:effectLst/>
                        </a:rPr>
                        <a:t>quan</a:t>
                      </a:r>
                      <a:r>
                        <a:rPr lang="en-US" sz="2000">
                          <a:effectLst/>
                        </a:rPr>
                        <a:t> </a:t>
                      </a:r>
                      <a:r>
                        <a:rPr lang="en-US" sz="2000" err="1">
                          <a:effectLst/>
                        </a:rPr>
                        <a:t>đến</a:t>
                      </a:r>
                      <a:r>
                        <a:rPr lang="en-US" sz="2000">
                          <a:effectLst/>
                        </a:rPr>
                        <a:t> </a:t>
                      </a:r>
                      <a:r>
                        <a:rPr lang="en-US" sz="2000" err="1">
                          <a:effectLst/>
                        </a:rPr>
                        <a:t>việc</a:t>
                      </a:r>
                      <a:r>
                        <a:rPr lang="en-US" sz="2000">
                          <a:effectLst/>
                        </a:rPr>
                        <a:t> </a:t>
                      </a:r>
                      <a:r>
                        <a:rPr lang="en-US" sz="2000" err="1">
                          <a:effectLst/>
                        </a:rPr>
                        <a:t>thể</a:t>
                      </a:r>
                      <a:r>
                        <a:rPr lang="en-US" sz="2000">
                          <a:effectLst/>
                        </a:rPr>
                        <a:t> </a:t>
                      </a:r>
                      <a:r>
                        <a:rPr lang="en-US" sz="2000" err="1">
                          <a:effectLst/>
                        </a:rPr>
                        <a:t>hiện</a:t>
                      </a:r>
                      <a:r>
                        <a:rPr lang="en-US" sz="2000">
                          <a:effectLst/>
                        </a:rPr>
                        <a:t> </a:t>
                      </a:r>
                      <a:r>
                        <a:rPr lang="en-US" sz="2000" err="1">
                          <a:effectLst/>
                        </a:rPr>
                        <a:t>giá</a:t>
                      </a:r>
                      <a:r>
                        <a:rPr lang="en-US" sz="2000">
                          <a:effectLst/>
                        </a:rPr>
                        <a:t> </a:t>
                      </a:r>
                      <a:r>
                        <a:rPr lang="en-US" sz="2000" err="1">
                          <a:effectLst/>
                        </a:rPr>
                        <a:t>trị</a:t>
                      </a:r>
                      <a:r>
                        <a:rPr lang="vi-VN" sz="2000">
                          <a:effectLst/>
                        </a:rPr>
                        <a:t>, tính cách và lối sống</a:t>
                      </a:r>
                      <a:endParaRPr lang="en-VN" sz="2000">
                        <a:effectLst/>
                        <a:latin typeface="Times New Roman" panose="02020603050405020304" pitchFamily="18" charset="0"/>
                        <a:ea typeface="Times New Roman" panose="02020603050405020304" pitchFamily="18" charset="0"/>
                      </a:endParaRPr>
                    </a:p>
                  </a:txBody>
                  <a:tcPr marL="55206" marR="55206" marT="0" marB="0"/>
                </a:tc>
                <a:tc>
                  <a:txBody>
                    <a:bodyPr/>
                    <a:lstStyle/>
                    <a:p>
                      <a:pPr>
                        <a:spcBef>
                          <a:spcPts val="400"/>
                        </a:spcBef>
                        <a:spcAft>
                          <a:spcPts val="400"/>
                        </a:spcAft>
                      </a:pPr>
                      <a:r>
                        <a:rPr lang="en-US" sz="2000">
                          <a:effectLst/>
                        </a:rPr>
                        <a:t>Mercedes </a:t>
                      </a:r>
                      <a:r>
                        <a:rPr lang="en-US" sz="2000" err="1">
                          <a:effectLst/>
                        </a:rPr>
                        <a:t>là</a:t>
                      </a:r>
                      <a:r>
                        <a:rPr lang="en-US" sz="2000">
                          <a:effectLst/>
                        </a:rPr>
                        <a:t> </a:t>
                      </a:r>
                      <a:r>
                        <a:rPr lang="en-US" sz="2000" err="1">
                          <a:effectLst/>
                        </a:rPr>
                        <a:t>xe</a:t>
                      </a:r>
                      <a:r>
                        <a:rPr lang="en-US" sz="2000">
                          <a:effectLst/>
                        </a:rPr>
                        <a:t> </a:t>
                      </a:r>
                      <a:r>
                        <a:rPr lang="en-US" sz="2000" err="1">
                          <a:effectLst/>
                        </a:rPr>
                        <a:t>dành</a:t>
                      </a:r>
                      <a:r>
                        <a:rPr lang="en-US" sz="2000">
                          <a:effectLst/>
                        </a:rPr>
                        <a:t> </a:t>
                      </a:r>
                      <a:r>
                        <a:rPr lang="en-US" sz="2000" err="1">
                          <a:effectLst/>
                        </a:rPr>
                        <a:t>cho</a:t>
                      </a:r>
                      <a:r>
                        <a:rPr lang="en-US" sz="2000">
                          <a:effectLst/>
                        </a:rPr>
                        <a:t> </a:t>
                      </a:r>
                      <a:r>
                        <a:rPr lang="en-US" sz="2000" err="1">
                          <a:effectLst/>
                        </a:rPr>
                        <a:t>doanh</a:t>
                      </a:r>
                      <a:r>
                        <a:rPr lang="en-US" sz="2000">
                          <a:effectLst/>
                        </a:rPr>
                        <a:t> </a:t>
                      </a:r>
                      <a:r>
                        <a:rPr lang="en-US" sz="2000" err="1">
                          <a:effectLst/>
                        </a:rPr>
                        <a:t>nhân</a:t>
                      </a:r>
                      <a:r>
                        <a:rPr lang="en-US" sz="2000">
                          <a:effectLst/>
                        </a:rPr>
                        <a:t> </a:t>
                      </a:r>
                      <a:r>
                        <a:rPr lang="en-US" sz="2000" err="1">
                          <a:effectLst/>
                        </a:rPr>
                        <a:t>và</a:t>
                      </a:r>
                      <a:r>
                        <a:rPr lang="en-US" sz="2000">
                          <a:effectLst/>
                        </a:rPr>
                        <a:t> </a:t>
                      </a:r>
                      <a:r>
                        <a:rPr lang="en-US" sz="2000" err="1">
                          <a:effectLst/>
                        </a:rPr>
                        <a:t>quản</a:t>
                      </a:r>
                      <a:r>
                        <a:rPr lang="en-US" sz="2000">
                          <a:effectLst/>
                        </a:rPr>
                        <a:t> </a:t>
                      </a:r>
                      <a:r>
                        <a:rPr lang="en-US" sz="2000" err="1">
                          <a:effectLst/>
                        </a:rPr>
                        <a:t>lý</a:t>
                      </a:r>
                      <a:r>
                        <a:rPr lang="en-US" sz="2000">
                          <a:effectLst/>
                        </a:rPr>
                        <a:t> </a:t>
                      </a:r>
                      <a:r>
                        <a:rPr lang="en-US" sz="2000" err="1">
                          <a:effectLst/>
                        </a:rPr>
                        <a:t>cao</a:t>
                      </a:r>
                      <a:r>
                        <a:rPr lang="en-US" sz="2000">
                          <a:effectLst/>
                        </a:rPr>
                        <a:t> </a:t>
                      </a:r>
                      <a:r>
                        <a:rPr lang="en-US" sz="2000" err="1">
                          <a:effectLst/>
                        </a:rPr>
                        <a:t>cấp</a:t>
                      </a:r>
                      <a:r>
                        <a:rPr lang="en-US" sz="2000">
                          <a:effectLst/>
                        </a:rPr>
                        <a:t> </a:t>
                      </a:r>
                      <a:endParaRPr lang="en-VN" sz="2000">
                        <a:effectLst/>
                        <a:latin typeface="Times New Roman" panose="02020603050405020304" pitchFamily="18" charset="0"/>
                        <a:ea typeface="Times New Roman" panose="02020603050405020304" pitchFamily="18" charset="0"/>
                      </a:endParaRPr>
                    </a:p>
                  </a:txBody>
                  <a:tcPr marL="55206" marR="55206" marT="0" marB="0"/>
                </a:tc>
                <a:extLst>
                  <a:ext uri="{0D108BD9-81ED-4DB2-BD59-A6C34878D82A}">
                    <a16:rowId xmlns:a16="http://schemas.microsoft.com/office/drawing/2014/main" val="829628532"/>
                  </a:ext>
                </a:extLst>
              </a:tr>
              <a:tr h="1545158">
                <a:tc>
                  <a:txBody>
                    <a:bodyPr/>
                    <a:lstStyle/>
                    <a:p>
                      <a:pPr>
                        <a:spcBef>
                          <a:spcPts val="400"/>
                        </a:spcBef>
                        <a:spcAft>
                          <a:spcPts val="400"/>
                        </a:spcAft>
                      </a:pPr>
                      <a:r>
                        <a:rPr lang="en-US" sz="2000" err="1">
                          <a:effectLst/>
                        </a:rPr>
                        <a:t>Chức</a:t>
                      </a:r>
                      <a:r>
                        <a:rPr lang="en-US" sz="2000">
                          <a:effectLst/>
                        </a:rPr>
                        <a:t> </a:t>
                      </a:r>
                      <a:r>
                        <a:rPr lang="en-US" sz="2000" err="1">
                          <a:effectLst/>
                        </a:rPr>
                        <a:t>năng</a:t>
                      </a:r>
                      <a:r>
                        <a:rPr lang="en-US" sz="2000">
                          <a:effectLst/>
                        </a:rPr>
                        <a:t> tri </a:t>
                      </a:r>
                      <a:r>
                        <a:rPr lang="en-US" sz="2000" err="1">
                          <a:effectLst/>
                        </a:rPr>
                        <a:t>thức</a:t>
                      </a:r>
                      <a:endParaRPr lang="en-VN" sz="2000">
                        <a:effectLst/>
                        <a:latin typeface="Times New Roman" panose="02020603050405020304" pitchFamily="18" charset="0"/>
                        <a:ea typeface="Times New Roman" panose="02020603050405020304" pitchFamily="18" charset="0"/>
                      </a:endParaRPr>
                    </a:p>
                  </a:txBody>
                  <a:tcPr marL="55206" marR="55206" marT="0" marB="0"/>
                </a:tc>
                <a:tc>
                  <a:txBody>
                    <a:bodyPr/>
                    <a:lstStyle/>
                    <a:p>
                      <a:pPr>
                        <a:spcBef>
                          <a:spcPts val="400"/>
                        </a:spcBef>
                        <a:spcAft>
                          <a:spcPts val="400"/>
                        </a:spcAft>
                      </a:pPr>
                      <a:r>
                        <a:rPr lang="en-US" sz="2000" err="1">
                          <a:effectLst/>
                        </a:rPr>
                        <a:t>Sắp</a:t>
                      </a:r>
                      <a:r>
                        <a:rPr lang="en-US" sz="2000">
                          <a:effectLst/>
                        </a:rPr>
                        <a:t> </a:t>
                      </a:r>
                      <a:r>
                        <a:rPr lang="en-US" sz="2000" err="1">
                          <a:effectLst/>
                        </a:rPr>
                        <a:t>xếp</a:t>
                      </a:r>
                      <a:r>
                        <a:rPr lang="en-US" sz="2000">
                          <a:effectLst/>
                        </a:rPr>
                        <a:t> </a:t>
                      </a:r>
                      <a:r>
                        <a:rPr lang="en-US" sz="2000" err="1">
                          <a:effectLst/>
                        </a:rPr>
                        <a:t>thông</a:t>
                      </a:r>
                      <a:r>
                        <a:rPr lang="en-US" sz="2000">
                          <a:effectLst/>
                        </a:rPr>
                        <a:t> tin </a:t>
                      </a:r>
                      <a:r>
                        <a:rPr lang="en-US" sz="2000" err="1">
                          <a:effectLst/>
                        </a:rPr>
                        <a:t>và</a:t>
                      </a:r>
                      <a:r>
                        <a:rPr lang="en-US" sz="2000">
                          <a:effectLst/>
                        </a:rPr>
                        <a:t> </a:t>
                      </a:r>
                      <a:r>
                        <a:rPr lang="en-US" sz="2000" err="1">
                          <a:effectLst/>
                        </a:rPr>
                        <a:t>xây</a:t>
                      </a:r>
                      <a:r>
                        <a:rPr lang="en-US" sz="2000">
                          <a:effectLst/>
                        </a:rPr>
                        <a:t> </a:t>
                      </a:r>
                      <a:r>
                        <a:rPr lang="en-US" sz="2000" err="1">
                          <a:effectLst/>
                        </a:rPr>
                        <a:t>dựng</a:t>
                      </a:r>
                      <a:r>
                        <a:rPr lang="en-US" sz="2000">
                          <a:effectLst/>
                        </a:rPr>
                        <a:t> </a:t>
                      </a:r>
                      <a:r>
                        <a:rPr lang="en-US" sz="2000" err="1">
                          <a:effectLst/>
                        </a:rPr>
                        <a:t>kiến</a:t>
                      </a:r>
                      <a:r>
                        <a:rPr lang="en-US" sz="2000">
                          <a:effectLst/>
                        </a:rPr>
                        <a:t> </a:t>
                      </a:r>
                      <a:r>
                        <a:rPr lang="en-US" sz="2000" err="1">
                          <a:effectLst/>
                        </a:rPr>
                        <a:t>thức</a:t>
                      </a:r>
                      <a:r>
                        <a:rPr lang="en-US" sz="2000">
                          <a:effectLst/>
                        </a:rPr>
                        <a:t> </a:t>
                      </a:r>
                      <a:endParaRPr lang="en-VN" sz="2000">
                        <a:effectLst/>
                        <a:latin typeface="Times New Roman" panose="02020603050405020304" pitchFamily="18" charset="0"/>
                        <a:ea typeface="Times New Roman" panose="02020603050405020304" pitchFamily="18" charset="0"/>
                      </a:endParaRPr>
                    </a:p>
                  </a:txBody>
                  <a:tcPr marL="55206" marR="55206" marT="0" marB="0"/>
                </a:tc>
                <a:tc>
                  <a:txBody>
                    <a:bodyPr/>
                    <a:lstStyle/>
                    <a:p>
                      <a:pPr>
                        <a:spcBef>
                          <a:spcPts val="400"/>
                        </a:spcBef>
                        <a:spcAft>
                          <a:spcPts val="400"/>
                        </a:spcAft>
                      </a:pPr>
                      <a:r>
                        <a:rPr lang="en-US" sz="2000" err="1">
                          <a:effectLst/>
                        </a:rPr>
                        <a:t>Các</a:t>
                      </a:r>
                      <a:r>
                        <a:rPr lang="en-US" sz="2000">
                          <a:effectLst/>
                        </a:rPr>
                        <a:t> </a:t>
                      </a:r>
                      <a:r>
                        <a:rPr lang="en-US" sz="2000" err="1">
                          <a:effectLst/>
                        </a:rPr>
                        <a:t>sản</a:t>
                      </a:r>
                      <a:r>
                        <a:rPr lang="en-US" sz="2000">
                          <a:effectLst/>
                        </a:rPr>
                        <a:t> </a:t>
                      </a:r>
                      <a:r>
                        <a:rPr lang="en-US" sz="2000" err="1">
                          <a:effectLst/>
                        </a:rPr>
                        <a:t>phẩm</a:t>
                      </a:r>
                      <a:r>
                        <a:rPr lang="en-US" sz="2000">
                          <a:effectLst/>
                        </a:rPr>
                        <a:t> </a:t>
                      </a:r>
                      <a:r>
                        <a:rPr lang="en-US" sz="2000" err="1">
                          <a:effectLst/>
                        </a:rPr>
                        <a:t>liên</a:t>
                      </a:r>
                      <a:r>
                        <a:rPr lang="en-US" sz="2000">
                          <a:effectLst/>
                        </a:rPr>
                        <a:t> </a:t>
                      </a:r>
                      <a:r>
                        <a:rPr lang="en-US" sz="2000" err="1">
                          <a:effectLst/>
                        </a:rPr>
                        <a:t>quan</a:t>
                      </a:r>
                      <a:r>
                        <a:rPr lang="en-US" sz="2000">
                          <a:effectLst/>
                        </a:rPr>
                        <a:t> </a:t>
                      </a:r>
                      <a:r>
                        <a:rPr lang="en-US" sz="2000" err="1">
                          <a:effectLst/>
                        </a:rPr>
                        <a:t>đến</a:t>
                      </a:r>
                      <a:r>
                        <a:rPr lang="en-US" sz="2000">
                          <a:effectLst/>
                        </a:rPr>
                        <a:t> </a:t>
                      </a:r>
                      <a:r>
                        <a:rPr lang="en-US" sz="2000" err="1">
                          <a:effectLst/>
                        </a:rPr>
                        <a:t>cung</a:t>
                      </a:r>
                      <a:r>
                        <a:rPr lang="en-US" sz="2000">
                          <a:effectLst/>
                        </a:rPr>
                        <a:t> </a:t>
                      </a:r>
                      <a:r>
                        <a:rPr lang="en-US" sz="2000" err="1">
                          <a:effectLst/>
                        </a:rPr>
                        <a:t>cấp</a:t>
                      </a:r>
                      <a:r>
                        <a:rPr lang="en-US" sz="2000">
                          <a:effectLst/>
                        </a:rPr>
                        <a:t> </a:t>
                      </a:r>
                      <a:r>
                        <a:rPr lang="en-US" sz="2000" err="1">
                          <a:effectLst/>
                        </a:rPr>
                        <a:t>các</a:t>
                      </a:r>
                      <a:r>
                        <a:rPr lang="en-US" sz="2000">
                          <a:effectLst/>
                        </a:rPr>
                        <a:t> </a:t>
                      </a:r>
                      <a:r>
                        <a:rPr lang="en-US" sz="2000" err="1">
                          <a:effectLst/>
                        </a:rPr>
                        <a:t>kiến</a:t>
                      </a:r>
                      <a:r>
                        <a:rPr lang="en-US" sz="2000">
                          <a:effectLst/>
                        </a:rPr>
                        <a:t> </a:t>
                      </a:r>
                      <a:r>
                        <a:rPr lang="en-US" sz="2000" err="1">
                          <a:effectLst/>
                        </a:rPr>
                        <a:t>thức</a:t>
                      </a:r>
                      <a:r>
                        <a:rPr lang="en-US" sz="2000">
                          <a:effectLst/>
                        </a:rPr>
                        <a:t> </a:t>
                      </a:r>
                      <a:r>
                        <a:rPr lang="en-US" sz="2000" err="1">
                          <a:effectLst/>
                        </a:rPr>
                        <a:t>về</a:t>
                      </a:r>
                      <a:r>
                        <a:rPr lang="en-US" sz="2000">
                          <a:effectLst/>
                        </a:rPr>
                        <a:t> </a:t>
                      </a:r>
                      <a:r>
                        <a:rPr lang="en-US" sz="2000" err="1">
                          <a:effectLst/>
                        </a:rPr>
                        <a:t>sản</a:t>
                      </a:r>
                      <a:r>
                        <a:rPr lang="en-US" sz="2000">
                          <a:effectLst/>
                        </a:rPr>
                        <a:t> </a:t>
                      </a:r>
                      <a:r>
                        <a:rPr lang="en-US" sz="2000" err="1">
                          <a:effectLst/>
                        </a:rPr>
                        <a:t>phẩm</a:t>
                      </a:r>
                      <a:r>
                        <a:rPr lang="en-US" sz="2000">
                          <a:effectLst/>
                        </a:rPr>
                        <a:t> </a:t>
                      </a:r>
                      <a:r>
                        <a:rPr lang="en-US" sz="2000" err="1">
                          <a:effectLst/>
                        </a:rPr>
                        <a:t>và</a:t>
                      </a:r>
                      <a:r>
                        <a:rPr lang="en-US" sz="2000">
                          <a:effectLst/>
                        </a:rPr>
                        <a:t> </a:t>
                      </a:r>
                      <a:r>
                        <a:rPr lang="en-US" sz="2000" err="1">
                          <a:effectLst/>
                        </a:rPr>
                        <a:t>giúp</a:t>
                      </a:r>
                      <a:r>
                        <a:rPr lang="en-US" sz="2000">
                          <a:effectLst/>
                        </a:rPr>
                        <a:t> </a:t>
                      </a:r>
                      <a:r>
                        <a:rPr lang="en-US" sz="2000" err="1">
                          <a:effectLst/>
                        </a:rPr>
                        <a:t>việc</a:t>
                      </a:r>
                      <a:r>
                        <a:rPr lang="en-US" sz="2000">
                          <a:effectLst/>
                        </a:rPr>
                        <a:t> </a:t>
                      </a:r>
                      <a:r>
                        <a:rPr lang="en-US" sz="2000" err="1">
                          <a:effectLst/>
                        </a:rPr>
                        <a:t>mua</a:t>
                      </a:r>
                      <a:r>
                        <a:rPr lang="en-US" sz="2000">
                          <a:effectLst/>
                        </a:rPr>
                        <a:t> </a:t>
                      </a:r>
                      <a:r>
                        <a:rPr lang="en-US" sz="2000" err="1">
                          <a:effectLst/>
                        </a:rPr>
                        <a:t>hàng</a:t>
                      </a:r>
                      <a:r>
                        <a:rPr lang="vi-VN" sz="2000">
                          <a:effectLst/>
                        </a:rPr>
                        <a:t> dễ dàng, nhanh chóng và an toàn hơn</a:t>
                      </a:r>
                      <a:endParaRPr lang="en-VN" sz="2000">
                        <a:effectLst/>
                        <a:latin typeface="Times New Roman" panose="02020603050405020304" pitchFamily="18" charset="0"/>
                        <a:ea typeface="Times New Roman" panose="02020603050405020304" pitchFamily="18" charset="0"/>
                      </a:endParaRPr>
                    </a:p>
                  </a:txBody>
                  <a:tcPr marL="55206" marR="55206" marT="0" marB="0"/>
                </a:tc>
                <a:tc>
                  <a:txBody>
                    <a:bodyPr/>
                    <a:lstStyle/>
                    <a:p>
                      <a:pPr>
                        <a:spcBef>
                          <a:spcPts val="400"/>
                        </a:spcBef>
                        <a:spcAft>
                          <a:spcPts val="400"/>
                        </a:spcAft>
                      </a:pPr>
                      <a:r>
                        <a:rPr lang="en-US" sz="2000" err="1">
                          <a:effectLst/>
                        </a:rPr>
                        <a:t>Sữa</a:t>
                      </a:r>
                      <a:r>
                        <a:rPr lang="en-US" sz="2000">
                          <a:effectLst/>
                        </a:rPr>
                        <a:t> </a:t>
                      </a:r>
                      <a:r>
                        <a:rPr lang="en-US" sz="2000" err="1">
                          <a:effectLst/>
                        </a:rPr>
                        <a:t>tắm</a:t>
                      </a:r>
                      <a:r>
                        <a:rPr lang="en-US" sz="2000">
                          <a:effectLst/>
                        </a:rPr>
                        <a:t> Baby</a:t>
                      </a:r>
                      <a:r>
                        <a:rPr lang="vi-VN" sz="2000">
                          <a:effectLst/>
                        </a:rPr>
                        <a:t>’s Johnson không làm cay mắt bé</a:t>
                      </a:r>
                      <a:endParaRPr lang="en-VN" sz="2000">
                        <a:effectLst/>
                      </a:endParaRPr>
                    </a:p>
                    <a:p>
                      <a:pPr>
                        <a:spcBef>
                          <a:spcPts val="400"/>
                        </a:spcBef>
                        <a:spcAft>
                          <a:spcPts val="400"/>
                        </a:spcAft>
                      </a:pPr>
                      <a:r>
                        <a:rPr lang="vi-VN" sz="2000">
                          <a:effectLst/>
                        </a:rPr>
                        <a:t>Sữa Pediasure giúp bé tăng trưởng tốt chiều cao và cân nặng</a:t>
                      </a:r>
                      <a:endParaRPr lang="en-VN" sz="2000">
                        <a:effectLst/>
                        <a:latin typeface="Times New Roman" panose="02020603050405020304" pitchFamily="18" charset="0"/>
                        <a:ea typeface="Times New Roman" panose="02020603050405020304" pitchFamily="18" charset="0"/>
                      </a:endParaRPr>
                    </a:p>
                  </a:txBody>
                  <a:tcPr marL="55206" marR="55206" marT="0" marB="0"/>
                </a:tc>
                <a:extLst>
                  <a:ext uri="{0D108BD9-81ED-4DB2-BD59-A6C34878D82A}">
                    <a16:rowId xmlns:a16="http://schemas.microsoft.com/office/drawing/2014/main" val="750502707"/>
                  </a:ext>
                </a:extLst>
              </a:tr>
            </a:tbl>
          </a:graphicData>
        </a:graphic>
      </p:graphicFrame>
    </p:spTree>
    <p:extLst>
      <p:ext uri="{BB962C8B-B14F-4D97-AF65-F5344CB8AC3E}">
        <p14:creationId xmlns:p14="http://schemas.microsoft.com/office/powerpoint/2010/main" val="227947425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355" y="-480687"/>
            <a:ext cx="10515600" cy="1325563"/>
          </a:xfrm>
        </p:spPr>
        <p:txBody>
          <a:bodyPr vert="horz" lIns="91440" tIns="45720" rIns="91440" bIns="45720" rtlCol="0" anchor="b">
            <a:normAutofit/>
          </a:bodyPr>
          <a:lstStyle/>
          <a:p>
            <a:r>
              <a:rPr lang="en-US" sz="3200" b="1" u="none" strike="noStrike" spc="0">
                <a:effectLst/>
                <a:latin typeface="Arial" panose="020B0604020202020204" pitchFamily="34" charset="0"/>
                <a:cs typeface="Arial" panose="020B0604020202020204" pitchFamily="34" charset="0"/>
              </a:rPr>
              <a:t>3.4.4 </a:t>
            </a:r>
            <a:r>
              <a:rPr lang="en-US" sz="3200" b="1" u="none" strike="noStrike" kern="1200" spc="0" err="1">
                <a:solidFill>
                  <a:schemeClr val="tx1"/>
                </a:solidFill>
                <a:effectLst/>
                <a:latin typeface="Arial" panose="020B0604020202020204" pitchFamily="34" charset="0"/>
                <a:cs typeface="Arial" panose="020B0604020202020204" pitchFamily="34" charset="0"/>
              </a:rPr>
              <a:t>Mô</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hình</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và</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lý</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thuyết</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thái</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độ</a:t>
            </a:r>
            <a:endParaRPr lang="en-US" sz="3200" kern="1200">
              <a:solidFill>
                <a:schemeClr val="tx1"/>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5E0B1228-CF73-2E4F-B32A-DC68DD22C261}"/>
              </a:ext>
            </a:extLst>
          </p:cNvPr>
          <p:cNvSpPr>
            <a:spLocks noGrp="1"/>
          </p:cNvSpPr>
          <p:nvPr>
            <p:ph idx="1"/>
          </p:nvPr>
        </p:nvSpPr>
        <p:spPr>
          <a:xfrm>
            <a:off x="629355" y="2503173"/>
            <a:ext cx="10515600" cy="2810543"/>
          </a:xfrm>
        </p:spPr>
        <p:txBody>
          <a:bodyPr>
            <a:noAutofit/>
          </a:bodyPr>
          <a:lstStyle/>
          <a:p>
            <a:pPr algn="just">
              <a:lnSpc>
                <a:spcPct val="150000"/>
              </a:lnSpc>
              <a:spcBef>
                <a:spcPts val="0"/>
              </a:spcBef>
              <a:buFont typeface="Wingdings" pitchFamily="2" charset="2"/>
              <a:buChar char="Ø"/>
            </a:pPr>
            <a:r>
              <a:rPr lang="vi-VN" sz="2700"/>
              <a:t> Mô hình thái độ ba thành phần nói rằng thái độ bao gồm ba thành phần: Thành phần kiến ​​thức/ niềm tin (nhận thức), cảm giác và cảm xúc (tình cảm) và thành phần hành động (hành vi). </a:t>
            </a:r>
          </a:p>
          <a:p>
            <a:pPr algn="just">
              <a:lnSpc>
                <a:spcPct val="150000"/>
              </a:lnSpc>
              <a:spcBef>
                <a:spcPts val="0"/>
              </a:spcBef>
              <a:buFont typeface="Wingdings" pitchFamily="2" charset="2"/>
              <a:buChar char="Ø"/>
            </a:pPr>
            <a:endParaRPr lang="vi-VN" sz="2700"/>
          </a:p>
        </p:txBody>
      </p:sp>
      <p:sp>
        <p:nvSpPr>
          <p:cNvPr id="4" name="Rectangle 2">
            <a:extLst>
              <a:ext uri="{FF2B5EF4-FFF2-40B4-BE49-F238E27FC236}">
                <a16:creationId xmlns:a16="http://schemas.microsoft.com/office/drawing/2014/main" id="{E9A4A7E3-8FDB-284E-8D95-4B67EF14F60E}"/>
              </a:ext>
            </a:extLst>
          </p:cNvPr>
          <p:cNvSpPr>
            <a:spLocks noChangeArrowheads="1"/>
          </p:cNvSpPr>
          <p:nvPr/>
        </p:nvSpPr>
        <p:spPr bwMode="auto">
          <a:xfrm flipV="1">
            <a:off x="3858447" y="2903837"/>
            <a:ext cx="1357281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sp>
        <p:nvSpPr>
          <p:cNvPr id="3" name="Title 1">
            <a:extLst>
              <a:ext uri="{FF2B5EF4-FFF2-40B4-BE49-F238E27FC236}">
                <a16:creationId xmlns:a16="http://schemas.microsoft.com/office/drawing/2014/main" id="{C5686170-CA32-8D0C-B668-4534D52B2C7E}"/>
              </a:ext>
            </a:extLst>
          </p:cNvPr>
          <p:cNvSpPr txBox="1">
            <a:spLocks/>
          </p:cNvSpPr>
          <p:nvPr/>
        </p:nvSpPr>
        <p:spPr>
          <a:xfrm>
            <a:off x="838199" y="1076622"/>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i="1" err="1">
                <a:latin typeface="Arial" panose="020B0604020202020204" pitchFamily="34" charset="0"/>
                <a:cs typeface="Arial" panose="020B0604020202020204" pitchFamily="34" charset="0"/>
              </a:rPr>
              <a:t>Mô</a:t>
            </a:r>
            <a:r>
              <a:rPr lang="en-US" sz="3200" i="1">
                <a:latin typeface="Arial" panose="020B0604020202020204" pitchFamily="34" charset="0"/>
                <a:cs typeface="Arial" panose="020B0604020202020204" pitchFamily="34" charset="0"/>
              </a:rPr>
              <a:t> </a:t>
            </a:r>
            <a:r>
              <a:rPr lang="en-US" sz="3200" i="1" err="1">
                <a:latin typeface="Arial" panose="020B0604020202020204" pitchFamily="34" charset="0"/>
                <a:cs typeface="Arial" panose="020B0604020202020204" pitchFamily="34" charset="0"/>
              </a:rPr>
              <a:t>hình</a:t>
            </a:r>
            <a:r>
              <a:rPr lang="en-US" sz="3200" i="1">
                <a:latin typeface="Arial" panose="020B0604020202020204" pitchFamily="34" charset="0"/>
                <a:cs typeface="Arial" panose="020B0604020202020204" pitchFamily="34" charset="0"/>
              </a:rPr>
              <a:t> </a:t>
            </a:r>
            <a:r>
              <a:rPr lang="en-US" sz="3200" i="1" err="1">
                <a:latin typeface="Arial" panose="020B0604020202020204" pitchFamily="34" charset="0"/>
                <a:cs typeface="Arial" panose="020B0604020202020204" pitchFamily="34" charset="0"/>
              </a:rPr>
              <a:t>thái</a:t>
            </a:r>
            <a:r>
              <a:rPr lang="en-US" sz="3200" i="1">
                <a:latin typeface="Arial" panose="020B0604020202020204" pitchFamily="34" charset="0"/>
                <a:cs typeface="Arial" panose="020B0604020202020204" pitchFamily="34" charset="0"/>
              </a:rPr>
              <a:t> </a:t>
            </a:r>
            <a:r>
              <a:rPr lang="en-US" sz="3200" i="1" err="1">
                <a:latin typeface="Arial" panose="020B0604020202020204" pitchFamily="34" charset="0"/>
                <a:cs typeface="Arial" panose="020B0604020202020204" pitchFamily="34" charset="0"/>
              </a:rPr>
              <a:t>độ</a:t>
            </a:r>
            <a:r>
              <a:rPr lang="en-US" sz="3200" i="1">
                <a:latin typeface="Arial" panose="020B0604020202020204" pitchFamily="34" charset="0"/>
                <a:cs typeface="Arial" panose="020B0604020202020204" pitchFamily="34" charset="0"/>
              </a:rPr>
              <a:t> 3 </a:t>
            </a:r>
            <a:r>
              <a:rPr lang="en-US" sz="3200" i="1" err="1">
                <a:latin typeface="Arial" panose="020B0604020202020204" pitchFamily="34" charset="0"/>
                <a:cs typeface="Arial" panose="020B0604020202020204" pitchFamily="34" charset="0"/>
              </a:rPr>
              <a:t>thành</a:t>
            </a:r>
            <a:r>
              <a:rPr lang="en-US" sz="3200" i="1">
                <a:latin typeface="Arial" panose="020B0604020202020204" pitchFamily="34" charset="0"/>
                <a:cs typeface="Arial" panose="020B0604020202020204" pitchFamily="34" charset="0"/>
              </a:rPr>
              <a:t> </a:t>
            </a:r>
            <a:r>
              <a:rPr lang="en-US" sz="3200" i="1" err="1">
                <a:latin typeface="Arial" panose="020B0604020202020204" pitchFamily="34" charset="0"/>
                <a:cs typeface="Arial" panose="020B0604020202020204" pitchFamily="34" charset="0"/>
              </a:rPr>
              <a:t>phần</a:t>
            </a:r>
            <a:endParaRPr lang="en-US" sz="3200" i="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363579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en-US" sz="3200" i="1" u="none" strike="noStrike" kern="1200" spc="0" err="1">
                <a:solidFill>
                  <a:schemeClr val="tx1"/>
                </a:solidFill>
                <a:effectLst/>
                <a:latin typeface="Arial" panose="020B0604020202020204" pitchFamily="34" charset="0"/>
                <a:cs typeface="Arial" panose="020B0604020202020204" pitchFamily="34" charset="0"/>
              </a:rPr>
              <a:t>Mô</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hình</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thái</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độ</a:t>
            </a:r>
            <a:r>
              <a:rPr lang="en-US" sz="3200" i="1" u="none" strike="noStrike" kern="1200" spc="0">
                <a:solidFill>
                  <a:schemeClr val="tx1"/>
                </a:solidFill>
                <a:effectLst/>
                <a:latin typeface="Arial" panose="020B0604020202020204" pitchFamily="34" charset="0"/>
                <a:cs typeface="Arial" panose="020B0604020202020204" pitchFamily="34" charset="0"/>
              </a:rPr>
              <a:t> 3 </a:t>
            </a:r>
            <a:r>
              <a:rPr lang="en-US" sz="3200" i="1" u="none" strike="noStrike" kern="1200" spc="0" err="1">
                <a:solidFill>
                  <a:schemeClr val="tx1"/>
                </a:solidFill>
                <a:effectLst/>
                <a:latin typeface="Arial" panose="020B0604020202020204" pitchFamily="34" charset="0"/>
                <a:cs typeface="Arial" panose="020B0604020202020204" pitchFamily="34" charset="0"/>
              </a:rPr>
              <a:t>thành</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phần</a:t>
            </a:r>
            <a:endParaRPr lang="en-US" sz="3200" i="1" kern="1200">
              <a:solidFill>
                <a:schemeClr val="tx1"/>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5E0B1228-CF73-2E4F-B32A-DC68DD22C261}"/>
              </a:ext>
            </a:extLst>
          </p:cNvPr>
          <p:cNvSpPr>
            <a:spLocks noGrp="1"/>
          </p:cNvSpPr>
          <p:nvPr>
            <p:ph idx="1"/>
          </p:nvPr>
        </p:nvSpPr>
        <p:spPr>
          <a:xfrm>
            <a:off x="242711" y="1825625"/>
            <a:ext cx="11111089" cy="4351338"/>
          </a:xfrm>
        </p:spPr>
        <p:txBody>
          <a:bodyPr>
            <a:noAutofit/>
          </a:bodyPr>
          <a:lstStyle/>
          <a:p>
            <a:pPr algn="just">
              <a:lnSpc>
                <a:spcPct val="150000"/>
              </a:lnSpc>
              <a:spcBef>
                <a:spcPts val="0"/>
              </a:spcBef>
              <a:buFont typeface="Wingdings" pitchFamily="2" charset="2"/>
              <a:buChar char="Ø"/>
            </a:pPr>
            <a:r>
              <a:rPr lang="vi-VN" sz="2200"/>
              <a:t> </a:t>
            </a:r>
            <a:r>
              <a:rPr lang="vi-VN" sz="2200" b="1"/>
              <a:t>Kiến ​​thức/ niềm tin</a:t>
            </a:r>
            <a:r>
              <a:rPr lang="vi-VN" sz="2200"/>
              <a:t> hoặc thành phần nhận thức bao gồm quá trình nhận thức dẫn đến sự hình thành thái độ. Trong marketing, kiến ​​thức hoặc thành phần nhận thức của mô hình ba thành phần bao gồm kiến ​​thức của người tiêu dùng về sản phẩm / dịch vụ cung cấp và các chiến lược 4P’s của doanh nghiệp. </a:t>
            </a:r>
          </a:p>
          <a:p>
            <a:pPr algn="just">
              <a:lnSpc>
                <a:spcPct val="150000"/>
              </a:lnSpc>
              <a:spcBef>
                <a:spcPts val="0"/>
              </a:spcBef>
              <a:buFont typeface="Wingdings" pitchFamily="2" charset="2"/>
              <a:buChar char="Ø"/>
            </a:pPr>
            <a:r>
              <a:rPr lang="vi-VN" sz="2200"/>
              <a:t> </a:t>
            </a:r>
            <a:r>
              <a:rPr lang="vi-VN" sz="2200" b="1"/>
              <a:t>Cảm giác </a:t>
            </a:r>
            <a:r>
              <a:rPr lang="vi-VN" sz="2200"/>
              <a:t>hoặc cảm xúc bao gồm thành phần tình cảm của thái độ, nó mô tả trạng thái cảm xúc là tích cực, trung tính hoặc tiêu cực. Trong các thuật ngữ marketing, thành phần này đề cập đến cảm xúc của người tiêu dùng về một sản phẩm / dịch vụ và hỗn hợp marketing. </a:t>
            </a:r>
          </a:p>
          <a:p>
            <a:pPr algn="just">
              <a:lnSpc>
                <a:spcPct val="150000"/>
              </a:lnSpc>
              <a:spcBef>
                <a:spcPts val="0"/>
              </a:spcBef>
              <a:buFont typeface="Wingdings" pitchFamily="2" charset="2"/>
              <a:buChar char="Ø"/>
            </a:pPr>
            <a:r>
              <a:rPr lang="vi-VN" sz="2200"/>
              <a:t> </a:t>
            </a:r>
            <a:r>
              <a:rPr lang="vi-VN" sz="2200" b="1"/>
              <a:t>Hành động </a:t>
            </a:r>
            <a:r>
              <a:rPr lang="vi-VN" sz="2200"/>
              <a:t>hoặc thành phần hành vi của thái độ mô tả kết quả của thái độ. </a:t>
            </a:r>
          </a:p>
          <a:p>
            <a:pPr algn="just">
              <a:lnSpc>
                <a:spcPct val="150000"/>
              </a:lnSpc>
              <a:spcBef>
                <a:spcPts val="0"/>
              </a:spcBef>
              <a:buFont typeface="Wingdings" pitchFamily="2" charset="2"/>
              <a:buChar char="Ø"/>
            </a:pPr>
            <a:endParaRPr lang="vi-VN" sz="2200"/>
          </a:p>
        </p:txBody>
      </p:sp>
      <p:sp>
        <p:nvSpPr>
          <p:cNvPr id="4" name="Rectangle 2">
            <a:extLst>
              <a:ext uri="{FF2B5EF4-FFF2-40B4-BE49-F238E27FC236}">
                <a16:creationId xmlns:a16="http://schemas.microsoft.com/office/drawing/2014/main" id="{E9A4A7E3-8FDB-284E-8D95-4B67EF14F60E}"/>
              </a:ext>
            </a:extLst>
          </p:cNvPr>
          <p:cNvSpPr>
            <a:spLocks noChangeArrowheads="1"/>
          </p:cNvSpPr>
          <p:nvPr/>
        </p:nvSpPr>
        <p:spPr bwMode="auto">
          <a:xfrm flipV="1">
            <a:off x="3858447" y="2903837"/>
            <a:ext cx="1357281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sp>
        <p:nvSpPr>
          <p:cNvPr id="3" name="Title 1">
            <a:extLst>
              <a:ext uri="{FF2B5EF4-FFF2-40B4-BE49-F238E27FC236}">
                <a16:creationId xmlns:a16="http://schemas.microsoft.com/office/drawing/2014/main" id="{4E54DA24-35E1-9F7E-399C-FEA8C3546E35}"/>
              </a:ext>
            </a:extLst>
          </p:cNvPr>
          <p:cNvSpPr txBox="1">
            <a:spLocks/>
          </p:cNvSpPr>
          <p:nvPr/>
        </p:nvSpPr>
        <p:spPr>
          <a:xfrm>
            <a:off x="736599" y="-204503"/>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latin typeface="Arial" panose="020B0604020202020204" pitchFamily="34" charset="0"/>
                <a:cs typeface="Arial" panose="020B0604020202020204" pitchFamily="34" charset="0"/>
              </a:rPr>
              <a:t>3.4.4 </a:t>
            </a:r>
            <a:r>
              <a:rPr lang="en-US" sz="3200" b="1" err="1">
                <a:latin typeface="Arial" panose="020B0604020202020204" pitchFamily="34" charset="0"/>
                <a:cs typeface="Arial" panose="020B0604020202020204" pitchFamily="34" charset="0"/>
              </a:rPr>
              <a:t>Mô</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hình</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và</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lý</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thuyết</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thái</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độ</a:t>
            </a:r>
            <a:endParaRPr lang="en-US" sz="3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687895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2">
            <a:extLst>
              <a:ext uri="{FF2B5EF4-FFF2-40B4-BE49-F238E27FC236}">
                <a16:creationId xmlns:a16="http://schemas.microsoft.com/office/drawing/2014/main" id="{9812A38A-3F7F-7641-A7F4-AD4E13659B86}"/>
              </a:ext>
            </a:extLst>
          </p:cNvPr>
          <p:cNvSpPr>
            <a:spLocks noGrp="1"/>
          </p:cNvSpPr>
          <p:nvPr>
            <p:ph type="title"/>
          </p:nvPr>
        </p:nvSpPr>
        <p:spPr bwMode="auto">
          <a:xfrm>
            <a:off x="838200" y="830263"/>
            <a:ext cx="10515600" cy="13255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sz="3200" i="1" err="1">
                <a:latin typeface="Arial" panose="020B0604020202020204" pitchFamily="34" charset="0"/>
                <a:cs typeface="Arial" panose="020B0604020202020204" pitchFamily="34" charset="0"/>
              </a:rPr>
              <a:t>Thành</a:t>
            </a:r>
            <a:r>
              <a:rPr lang="en-US" altLang="en-US" sz="3200" i="1">
                <a:latin typeface="Arial" panose="020B0604020202020204" pitchFamily="34" charset="0"/>
                <a:cs typeface="Arial" panose="020B0604020202020204" pitchFamily="34" charset="0"/>
              </a:rPr>
              <a:t> </a:t>
            </a:r>
            <a:r>
              <a:rPr lang="en-US" altLang="en-US" sz="3200" i="1" err="1">
                <a:latin typeface="Arial" panose="020B0604020202020204" pitchFamily="34" charset="0"/>
                <a:cs typeface="Arial" panose="020B0604020202020204" pitchFamily="34" charset="0"/>
              </a:rPr>
              <a:t>phần</a:t>
            </a:r>
            <a:r>
              <a:rPr lang="en-US" altLang="en-US" sz="3200" i="1">
                <a:latin typeface="Arial" panose="020B0604020202020204" pitchFamily="34" charset="0"/>
                <a:cs typeface="Arial" panose="020B0604020202020204" pitchFamily="34" charset="0"/>
              </a:rPr>
              <a:t> </a:t>
            </a:r>
            <a:r>
              <a:rPr lang="en-US" altLang="en-US" sz="3200" i="1" err="1">
                <a:latin typeface="Arial" panose="020B0604020202020204" pitchFamily="34" charset="0"/>
                <a:cs typeface="Arial" panose="020B0604020202020204" pitchFamily="34" charset="0"/>
              </a:rPr>
              <a:t>nhận</a:t>
            </a:r>
            <a:r>
              <a:rPr lang="en-US" altLang="en-US" sz="3200" i="1">
                <a:latin typeface="Arial" panose="020B0604020202020204" pitchFamily="34" charset="0"/>
                <a:cs typeface="Arial" panose="020B0604020202020204" pitchFamily="34" charset="0"/>
              </a:rPr>
              <a:t> </a:t>
            </a:r>
            <a:r>
              <a:rPr lang="en-US" altLang="en-US" sz="3200" i="1" err="1">
                <a:latin typeface="Arial" panose="020B0604020202020204" pitchFamily="34" charset="0"/>
                <a:cs typeface="Arial" panose="020B0604020202020204" pitchFamily="34" charset="0"/>
              </a:rPr>
              <a:t>thức</a:t>
            </a:r>
            <a:r>
              <a:rPr lang="en-US" altLang="en-US" sz="3200" i="1">
                <a:latin typeface="Arial" panose="020B0604020202020204" pitchFamily="34" charset="0"/>
                <a:cs typeface="Arial" panose="020B0604020202020204" pitchFamily="34" charset="0"/>
              </a:rPr>
              <a:t>/ </a:t>
            </a:r>
            <a:r>
              <a:rPr lang="en-US" altLang="en-US" sz="3200" i="1" err="1">
                <a:latin typeface="Arial" panose="020B0604020202020204" pitchFamily="34" charset="0"/>
                <a:cs typeface="Arial" panose="020B0604020202020204" pitchFamily="34" charset="0"/>
              </a:rPr>
              <a:t>niềm</a:t>
            </a:r>
            <a:r>
              <a:rPr lang="en-US" altLang="en-US" sz="3200" i="1">
                <a:latin typeface="Arial" panose="020B0604020202020204" pitchFamily="34" charset="0"/>
                <a:cs typeface="Arial" panose="020B0604020202020204" pitchFamily="34" charset="0"/>
              </a:rPr>
              <a:t> tin</a:t>
            </a:r>
          </a:p>
        </p:txBody>
      </p:sp>
      <p:sp>
        <p:nvSpPr>
          <p:cNvPr id="3" name="Content Placeholder 2">
            <a:extLst>
              <a:ext uri="{FF2B5EF4-FFF2-40B4-BE49-F238E27FC236}">
                <a16:creationId xmlns:a16="http://schemas.microsoft.com/office/drawing/2014/main" id="{402CD880-432C-4A49-A33D-6DC5D4C11C9F}"/>
              </a:ext>
            </a:extLst>
          </p:cNvPr>
          <p:cNvSpPr>
            <a:spLocks noGrp="1"/>
          </p:cNvSpPr>
          <p:nvPr>
            <p:ph idx="1"/>
          </p:nvPr>
        </p:nvSpPr>
        <p:spPr>
          <a:xfrm>
            <a:off x="966537" y="1493044"/>
            <a:ext cx="10515600" cy="1074261"/>
          </a:xfrm>
        </p:spPr>
        <p:txBody>
          <a:bodyPr/>
          <a:lstStyle/>
          <a:p>
            <a:pPr marL="0" indent="0">
              <a:buNone/>
            </a:pPr>
            <a:r>
              <a:rPr lang="en-VN" i="1"/>
              <a:t>Hãy xem khách hàng nhận thức thế nào về các tiêu chí đánh giá SP của 2 SP là TV LED và 3D TV</a:t>
            </a:r>
          </a:p>
        </p:txBody>
      </p:sp>
      <p:graphicFrame>
        <p:nvGraphicFramePr>
          <p:cNvPr id="2" name="Table 2">
            <a:extLst>
              <a:ext uri="{FF2B5EF4-FFF2-40B4-BE49-F238E27FC236}">
                <a16:creationId xmlns:a16="http://schemas.microsoft.com/office/drawing/2014/main" id="{5E84B81B-8605-1C4E-BFFA-F0412FAFA16F}"/>
              </a:ext>
            </a:extLst>
          </p:cNvPr>
          <p:cNvGraphicFramePr>
            <a:graphicFrameLocks noGrp="1"/>
          </p:cNvGraphicFramePr>
          <p:nvPr>
            <p:extLst>
              <p:ext uri="{D42A27DB-BD31-4B8C-83A1-F6EECF244321}">
                <p14:modId xmlns:p14="http://schemas.microsoft.com/office/powerpoint/2010/main" val="2586924486"/>
              </p:ext>
            </p:extLst>
          </p:nvPr>
        </p:nvGraphicFramePr>
        <p:xfrm>
          <a:off x="903651" y="2567305"/>
          <a:ext cx="10181493" cy="3840480"/>
        </p:xfrm>
        <a:graphic>
          <a:graphicData uri="http://schemas.openxmlformats.org/drawingml/2006/table">
            <a:tbl>
              <a:tblPr firstRow="1" bandRow="1">
                <a:tableStyleId>{7DF18680-E054-41AD-8BC1-D1AEF772440D}</a:tableStyleId>
              </a:tblPr>
              <a:tblGrid>
                <a:gridCol w="3393831">
                  <a:extLst>
                    <a:ext uri="{9D8B030D-6E8A-4147-A177-3AD203B41FA5}">
                      <a16:colId xmlns:a16="http://schemas.microsoft.com/office/drawing/2014/main" val="424962383"/>
                    </a:ext>
                  </a:extLst>
                </a:gridCol>
                <a:gridCol w="3393831">
                  <a:extLst>
                    <a:ext uri="{9D8B030D-6E8A-4147-A177-3AD203B41FA5}">
                      <a16:colId xmlns:a16="http://schemas.microsoft.com/office/drawing/2014/main" val="4022701071"/>
                    </a:ext>
                  </a:extLst>
                </a:gridCol>
                <a:gridCol w="3393831">
                  <a:extLst>
                    <a:ext uri="{9D8B030D-6E8A-4147-A177-3AD203B41FA5}">
                      <a16:colId xmlns:a16="http://schemas.microsoft.com/office/drawing/2014/main" val="1091330952"/>
                    </a:ext>
                  </a:extLst>
                </a:gridCol>
              </a:tblGrid>
              <a:tr h="370840">
                <a:tc>
                  <a:txBody>
                    <a:bodyPr/>
                    <a:lstStyle/>
                    <a:p>
                      <a:r>
                        <a:rPr lang="en-VN" sz="2400"/>
                        <a:t>Tiêu chí đánh giá SP</a:t>
                      </a:r>
                    </a:p>
                  </a:txBody>
                  <a:tcPr/>
                </a:tc>
                <a:tc>
                  <a:txBody>
                    <a:bodyPr/>
                    <a:lstStyle/>
                    <a:p>
                      <a:r>
                        <a:rPr lang="en-VN" sz="2400"/>
                        <a:t>LED TV</a:t>
                      </a:r>
                    </a:p>
                  </a:txBody>
                  <a:tcPr/>
                </a:tc>
                <a:tc>
                  <a:txBody>
                    <a:bodyPr/>
                    <a:lstStyle/>
                    <a:p>
                      <a:r>
                        <a:rPr lang="en-VN" sz="2400"/>
                        <a:t>3D TV</a:t>
                      </a:r>
                    </a:p>
                  </a:txBody>
                  <a:tcPr/>
                </a:tc>
                <a:extLst>
                  <a:ext uri="{0D108BD9-81ED-4DB2-BD59-A6C34878D82A}">
                    <a16:rowId xmlns:a16="http://schemas.microsoft.com/office/drawing/2014/main" val="3978456461"/>
                  </a:ext>
                </a:extLst>
              </a:tr>
              <a:tr h="370840">
                <a:tc>
                  <a:txBody>
                    <a:bodyPr/>
                    <a:lstStyle/>
                    <a:p>
                      <a:r>
                        <a:rPr lang="en-VN" sz="2400"/>
                        <a:t>Chất lượng hình ảnh</a:t>
                      </a:r>
                    </a:p>
                  </a:txBody>
                  <a:tcPr/>
                </a:tc>
                <a:tc>
                  <a:txBody>
                    <a:bodyPr/>
                    <a:lstStyle/>
                    <a:p>
                      <a:r>
                        <a:rPr lang="en-VN" sz="2400"/>
                        <a:t>Hình hơi mờ khi nhìn xéo góc</a:t>
                      </a:r>
                    </a:p>
                  </a:txBody>
                  <a:tcPr/>
                </a:tc>
                <a:tc>
                  <a:txBody>
                    <a:bodyPr/>
                    <a:lstStyle/>
                    <a:p>
                      <a:r>
                        <a:rPr lang="en-VN" sz="2400"/>
                        <a:t>Hình rõ ngay cả khi nhìn xéo góc</a:t>
                      </a:r>
                    </a:p>
                  </a:txBody>
                  <a:tcPr/>
                </a:tc>
                <a:extLst>
                  <a:ext uri="{0D108BD9-81ED-4DB2-BD59-A6C34878D82A}">
                    <a16:rowId xmlns:a16="http://schemas.microsoft.com/office/drawing/2014/main" val="2517221283"/>
                  </a:ext>
                </a:extLst>
              </a:tr>
              <a:tr h="370840">
                <a:tc>
                  <a:txBody>
                    <a:bodyPr/>
                    <a:lstStyle/>
                    <a:p>
                      <a:r>
                        <a:rPr lang="en-VN" sz="2400"/>
                        <a:t>Độ phản chiếu màn hình</a:t>
                      </a:r>
                    </a:p>
                  </a:txBody>
                  <a:tcPr/>
                </a:tc>
                <a:tc>
                  <a:txBody>
                    <a:bodyPr/>
                    <a:lstStyle/>
                    <a:p>
                      <a:r>
                        <a:rPr lang="en-VN" sz="2400"/>
                        <a:t>Không đáng kể</a:t>
                      </a:r>
                    </a:p>
                  </a:txBody>
                  <a:tcPr/>
                </a:tc>
                <a:tc>
                  <a:txBody>
                    <a:bodyPr/>
                    <a:lstStyle/>
                    <a:p>
                      <a:r>
                        <a:rPr lang="en-VN" sz="2400"/>
                        <a:t>Không đáng kể</a:t>
                      </a:r>
                    </a:p>
                  </a:txBody>
                  <a:tcPr/>
                </a:tc>
                <a:extLst>
                  <a:ext uri="{0D108BD9-81ED-4DB2-BD59-A6C34878D82A}">
                    <a16:rowId xmlns:a16="http://schemas.microsoft.com/office/drawing/2014/main" val="1719954403"/>
                  </a:ext>
                </a:extLst>
              </a:tr>
              <a:tr h="370840">
                <a:tc>
                  <a:txBody>
                    <a:bodyPr/>
                    <a:lstStyle/>
                    <a:p>
                      <a:r>
                        <a:rPr lang="en-VN" sz="2400"/>
                        <a:t>Màu ảnh</a:t>
                      </a:r>
                    </a:p>
                  </a:txBody>
                  <a:tcPr/>
                </a:tc>
                <a:tc>
                  <a:txBody>
                    <a:bodyPr/>
                    <a:lstStyle/>
                    <a:p>
                      <a:r>
                        <a:rPr lang="en-VN" sz="2400"/>
                        <a:t>Rất đẹp</a:t>
                      </a:r>
                    </a:p>
                  </a:txBody>
                  <a:tcPr/>
                </a:tc>
                <a:tc>
                  <a:txBody>
                    <a:bodyPr/>
                    <a:lstStyle/>
                    <a:p>
                      <a:r>
                        <a:rPr lang="en-VN" sz="2400"/>
                        <a:t>Đẹp</a:t>
                      </a:r>
                    </a:p>
                  </a:txBody>
                  <a:tcPr/>
                </a:tc>
                <a:extLst>
                  <a:ext uri="{0D108BD9-81ED-4DB2-BD59-A6C34878D82A}">
                    <a16:rowId xmlns:a16="http://schemas.microsoft.com/office/drawing/2014/main" val="2294483286"/>
                  </a:ext>
                </a:extLst>
              </a:tr>
              <a:tr h="370840">
                <a:tc>
                  <a:txBody>
                    <a:bodyPr/>
                    <a:lstStyle/>
                    <a:p>
                      <a:r>
                        <a:rPr lang="en-VN" sz="2400"/>
                        <a:t>Điều khiển từ xa</a:t>
                      </a:r>
                    </a:p>
                  </a:txBody>
                  <a:tcPr/>
                </a:tc>
                <a:tc>
                  <a:txBody>
                    <a:bodyPr/>
                    <a:lstStyle/>
                    <a:p>
                      <a:r>
                        <a:rPr lang="en-VN" sz="2400"/>
                        <a:t>Dễ sử dụng</a:t>
                      </a:r>
                    </a:p>
                  </a:txBody>
                  <a:tcPr/>
                </a:tc>
                <a:tc>
                  <a:txBody>
                    <a:bodyPr/>
                    <a:lstStyle/>
                    <a:p>
                      <a:r>
                        <a:rPr lang="en-VN" sz="2400"/>
                        <a:t>Khó sử dụng</a:t>
                      </a:r>
                    </a:p>
                  </a:txBody>
                  <a:tcPr/>
                </a:tc>
                <a:extLst>
                  <a:ext uri="{0D108BD9-81ED-4DB2-BD59-A6C34878D82A}">
                    <a16:rowId xmlns:a16="http://schemas.microsoft.com/office/drawing/2014/main" val="4074393202"/>
                  </a:ext>
                </a:extLst>
              </a:tr>
              <a:tr h="370840">
                <a:tc>
                  <a:txBody>
                    <a:bodyPr/>
                    <a:lstStyle/>
                    <a:p>
                      <a:r>
                        <a:rPr lang="en-VN" sz="2400"/>
                        <a:t>Tính tương thích với các thiết bị khác</a:t>
                      </a:r>
                    </a:p>
                  </a:txBody>
                  <a:tcPr/>
                </a:tc>
                <a:tc>
                  <a:txBody>
                    <a:bodyPr/>
                    <a:lstStyle/>
                    <a:p>
                      <a:r>
                        <a:rPr lang="en-VN" sz="2400"/>
                        <a:t>Dễ kết nối với các thiết bị như TV, laptop</a:t>
                      </a:r>
                    </a:p>
                  </a:txBody>
                  <a:tcPr/>
                </a:tc>
                <a:tc>
                  <a:txBody>
                    <a:bodyPr/>
                    <a:lstStyle/>
                    <a:p>
                      <a:r>
                        <a:rPr lang="en-VN" sz="2400"/>
                        <a:t>Khó kết nối, cần hỗ trợ từ tư vấn viên</a:t>
                      </a:r>
                    </a:p>
                  </a:txBody>
                  <a:tcPr/>
                </a:tc>
                <a:extLst>
                  <a:ext uri="{0D108BD9-81ED-4DB2-BD59-A6C34878D82A}">
                    <a16:rowId xmlns:a16="http://schemas.microsoft.com/office/drawing/2014/main" val="3057523680"/>
                  </a:ext>
                </a:extLst>
              </a:tr>
            </a:tbl>
          </a:graphicData>
        </a:graphic>
      </p:graphicFrame>
      <p:sp>
        <p:nvSpPr>
          <p:cNvPr id="5" name="Title 1">
            <a:extLst>
              <a:ext uri="{FF2B5EF4-FFF2-40B4-BE49-F238E27FC236}">
                <a16:creationId xmlns:a16="http://schemas.microsoft.com/office/drawing/2014/main" id="{4960FE17-9768-5218-CBF6-06C46FBD4779}"/>
              </a:ext>
            </a:extLst>
          </p:cNvPr>
          <p:cNvSpPr txBox="1">
            <a:spLocks/>
          </p:cNvSpPr>
          <p:nvPr/>
        </p:nvSpPr>
        <p:spPr>
          <a:xfrm>
            <a:off x="736599" y="-204503"/>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latin typeface="Arial" panose="020B0604020202020204" pitchFamily="34" charset="0"/>
                <a:cs typeface="Arial" panose="020B0604020202020204" pitchFamily="34" charset="0"/>
              </a:rPr>
              <a:t>3.4.4 </a:t>
            </a:r>
            <a:r>
              <a:rPr lang="en-US" sz="3200" b="1" err="1">
                <a:latin typeface="Arial" panose="020B0604020202020204" pitchFamily="34" charset="0"/>
                <a:cs typeface="Arial" panose="020B0604020202020204" pitchFamily="34" charset="0"/>
              </a:rPr>
              <a:t>Mô</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hình</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và</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lý</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thuyết</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thái</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độ</a:t>
            </a:r>
            <a:endParaRPr lang="en-US" sz="3200">
              <a:latin typeface="Arial" panose="020B0604020202020204" pitchFamily="34" charset="0"/>
              <a:cs typeface="Arial" panose="020B0604020202020204" pitchFamily="34" charset="0"/>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5C88C22-B31F-DC4C-BCF5-340340242510}"/>
              </a:ext>
            </a:extLst>
          </p:cNvPr>
          <p:cNvSpPr>
            <a:spLocks noGrp="1"/>
          </p:cNvSpPr>
          <p:nvPr>
            <p:ph type="title"/>
          </p:nvPr>
        </p:nvSpPr>
        <p:spPr bwMode="auto">
          <a:xfrm>
            <a:off x="838200" y="709352"/>
            <a:ext cx="10515600" cy="13255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sz="3200" i="1" err="1">
                <a:latin typeface="Arial" panose="020B0604020202020204" pitchFamily="34" charset="0"/>
                <a:cs typeface="Arial" panose="020B0604020202020204" pitchFamily="34" charset="0"/>
              </a:rPr>
              <a:t>Thành</a:t>
            </a:r>
            <a:r>
              <a:rPr lang="en-US" altLang="en-US" sz="3200" i="1">
                <a:latin typeface="Arial" panose="020B0604020202020204" pitchFamily="34" charset="0"/>
                <a:cs typeface="Arial" panose="020B0604020202020204" pitchFamily="34" charset="0"/>
              </a:rPr>
              <a:t> </a:t>
            </a:r>
            <a:r>
              <a:rPr lang="en-US" altLang="en-US" sz="3200" i="1" err="1">
                <a:latin typeface="Arial" panose="020B0604020202020204" pitchFamily="34" charset="0"/>
                <a:cs typeface="Arial" panose="020B0604020202020204" pitchFamily="34" charset="0"/>
              </a:rPr>
              <a:t>phần</a:t>
            </a:r>
            <a:r>
              <a:rPr lang="en-US" altLang="en-US" sz="3200" i="1">
                <a:latin typeface="Arial" panose="020B0604020202020204" pitchFamily="34" charset="0"/>
                <a:cs typeface="Arial" panose="020B0604020202020204" pitchFamily="34" charset="0"/>
              </a:rPr>
              <a:t> </a:t>
            </a:r>
            <a:r>
              <a:rPr lang="en-US" altLang="en-US" sz="3200" i="1" err="1">
                <a:latin typeface="Arial" panose="020B0604020202020204" pitchFamily="34" charset="0"/>
                <a:cs typeface="Arial" panose="020B0604020202020204" pitchFamily="34" charset="0"/>
              </a:rPr>
              <a:t>cảm</a:t>
            </a:r>
            <a:r>
              <a:rPr lang="en-US" altLang="en-US" sz="3200" i="1">
                <a:latin typeface="Arial" panose="020B0604020202020204" pitchFamily="34" charset="0"/>
                <a:cs typeface="Arial" panose="020B0604020202020204" pitchFamily="34" charset="0"/>
              </a:rPr>
              <a:t> </a:t>
            </a:r>
            <a:r>
              <a:rPr lang="en-US" altLang="en-US" sz="3200" i="1" err="1">
                <a:latin typeface="Arial" panose="020B0604020202020204" pitchFamily="34" charset="0"/>
                <a:cs typeface="Arial" panose="020B0604020202020204" pitchFamily="34" charset="0"/>
              </a:rPr>
              <a:t>giác</a:t>
            </a:r>
            <a:r>
              <a:rPr lang="en-US" altLang="en-US" sz="3200" i="1">
                <a:latin typeface="Arial" panose="020B0604020202020204" pitchFamily="34" charset="0"/>
                <a:cs typeface="Arial" panose="020B0604020202020204" pitchFamily="34" charset="0"/>
              </a:rPr>
              <a:t>/ </a:t>
            </a:r>
            <a:r>
              <a:rPr lang="en-US" altLang="en-US" sz="3200" i="1" err="1">
                <a:latin typeface="Arial" panose="020B0604020202020204" pitchFamily="34" charset="0"/>
                <a:cs typeface="Arial" panose="020B0604020202020204" pitchFamily="34" charset="0"/>
              </a:rPr>
              <a:t>cảm</a:t>
            </a:r>
            <a:r>
              <a:rPr lang="en-US" altLang="en-US" sz="3200" i="1">
                <a:latin typeface="Arial" panose="020B0604020202020204" pitchFamily="34" charset="0"/>
                <a:cs typeface="Arial" panose="020B0604020202020204" pitchFamily="34" charset="0"/>
              </a:rPr>
              <a:t> </a:t>
            </a:r>
            <a:r>
              <a:rPr lang="en-US" altLang="en-US" sz="3200" i="1" err="1">
                <a:latin typeface="Arial" panose="020B0604020202020204" pitchFamily="34" charset="0"/>
                <a:cs typeface="Arial" panose="020B0604020202020204" pitchFamily="34" charset="0"/>
              </a:rPr>
              <a:t>xúc</a:t>
            </a:r>
            <a:endParaRPr lang="en-US" altLang="en-US" sz="3200" i="1">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1B49A602-4A5D-4A47-8701-FB0E15048B34}"/>
              </a:ext>
            </a:extLst>
          </p:cNvPr>
          <p:cNvSpPr txBox="1">
            <a:spLocks/>
          </p:cNvSpPr>
          <p:nvPr/>
        </p:nvSpPr>
        <p:spPr>
          <a:xfrm>
            <a:off x="838200" y="1590613"/>
            <a:ext cx="1018149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i="1"/>
              <a:t>“Hãy cho chúng tôi biết cảm giác của bạn khi tham quan khu du lịch Grand World Phú Quốc”</a:t>
            </a:r>
          </a:p>
        </p:txBody>
      </p:sp>
      <p:graphicFrame>
        <p:nvGraphicFramePr>
          <p:cNvPr id="2" name="Table 2">
            <a:extLst>
              <a:ext uri="{FF2B5EF4-FFF2-40B4-BE49-F238E27FC236}">
                <a16:creationId xmlns:a16="http://schemas.microsoft.com/office/drawing/2014/main" id="{16F51634-7E35-0E43-8A9A-C53C4412D2F7}"/>
              </a:ext>
            </a:extLst>
          </p:cNvPr>
          <p:cNvGraphicFramePr>
            <a:graphicFrameLocks noGrp="1"/>
          </p:cNvGraphicFramePr>
          <p:nvPr>
            <p:extLst>
              <p:ext uri="{D42A27DB-BD31-4B8C-83A1-F6EECF244321}">
                <p14:modId xmlns:p14="http://schemas.microsoft.com/office/powerpoint/2010/main" val="3598833975"/>
              </p:ext>
            </p:extLst>
          </p:nvPr>
        </p:nvGraphicFramePr>
        <p:xfrm>
          <a:off x="1649046" y="2583635"/>
          <a:ext cx="8893908" cy="3881120"/>
        </p:xfrm>
        <a:graphic>
          <a:graphicData uri="http://schemas.openxmlformats.org/drawingml/2006/table">
            <a:tbl>
              <a:tblPr firstRow="1" bandRow="1">
                <a:tableStyleId>{7DF18680-E054-41AD-8BC1-D1AEF772440D}</a:tableStyleId>
              </a:tblPr>
              <a:tblGrid>
                <a:gridCol w="1482318">
                  <a:extLst>
                    <a:ext uri="{9D8B030D-6E8A-4147-A177-3AD203B41FA5}">
                      <a16:colId xmlns:a16="http://schemas.microsoft.com/office/drawing/2014/main" val="2165379927"/>
                    </a:ext>
                  </a:extLst>
                </a:gridCol>
                <a:gridCol w="1482318">
                  <a:extLst>
                    <a:ext uri="{9D8B030D-6E8A-4147-A177-3AD203B41FA5}">
                      <a16:colId xmlns:a16="http://schemas.microsoft.com/office/drawing/2014/main" val="3135104741"/>
                    </a:ext>
                  </a:extLst>
                </a:gridCol>
                <a:gridCol w="1482318">
                  <a:extLst>
                    <a:ext uri="{9D8B030D-6E8A-4147-A177-3AD203B41FA5}">
                      <a16:colId xmlns:a16="http://schemas.microsoft.com/office/drawing/2014/main" val="2263985288"/>
                    </a:ext>
                  </a:extLst>
                </a:gridCol>
                <a:gridCol w="1482318">
                  <a:extLst>
                    <a:ext uri="{9D8B030D-6E8A-4147-A177-3AD203B41FA5}">
                      <a16:colId xmlns:a16="http://schemas.microsoft.com/office/drawing/2014/main" val="558770923"/>
                    </a:ext>
                  </a:extLst>
                </a:gridCol>
                <a:gridCol w="1482318">
                  <a:extLst>
                    <a:ext uri="{9D8B030D-6E8A-4147-A177-3AD203B41FA5}">
                      <a16:colId xmlns:a16="http://schemas.microsoft.com/office/drawing/2014/main" val="2680137318"/>
                    </a:ext>
                  </a:extLst>
                </a:gridCol>
                <a:gridCol w="1482318">
                  <a:extLst>
                    <a:ext uri="{9D8B030D-6E8A-4147-A177-3AD203B41FA5}">
                      <a16:colId xmlns:a16="http://schemas.microsoft.com/office/drawing/2014/main" val="3294585634"/>
                    </a:ext>
                  </a:extLst>
                </a:gridCol>
              </a:tblGrid>
              <a:tr h="370840">
                <a:tc>
                  <a:txBody>
                    <a:bodyPr/>
                    <a:lstStyle/>
                    <a:p>
                      <a:pPr algn="ctr"/>
                      <a:endParaRPr lang="en-VN" sz="1800"/>
                    </a:p>
                  </a:txBody>
                  <a:tcPr/>
                </a:tc>
                <a:tc>
                  <a:txBody>
                    <a:bodyPr/>
                    <a:lstStyle/>
                    <a:p>
                      <a:pPr algn="ctr"/>
                      <a:r>
                        <a:rPr lang="en-VN" sz="1800"/>
                        <a:t>Mức độ cao</a:t>
                      </a:r>
                    </a:p>
                    <a:p>
                      <a:pPr algn="ctr"/>
                      <a:r>
                        <a:rPr lang="en-VN" sz="1800"/>
                        <a:t>5</a:t>
                      </a:r>
                    </a:p>
                  </a:txBody>
                  <a:tcPr/>
                </a:tc>
                <a:tc>
                  <a:txBody>
                    <a:bodyPr/>
                    <a:lstStyle/>
                    <a:p>
                      <a:pPr algn="ctr"/>
                      <a:endParaRPr lang="en-VN" sz="1800"/>
                    </a:p>
                    <a:p>
                      <a:pPr algn="ctr"/>
                      <a:r>
                        <a:rPr lang="en-VN" sz="1800"/>
                        <a:t>4</a:t>
                      </a:r>
                    </a:p>
                  </a:txBody>
                  <a:tcPr/>
                </a:tc>
                <a:tc>
                  <a:txBody>
                    <a:bodyPr/>
                    <a:lstStyle/>
                    <a:p>
                      <a:pPr algn="ctr"/>
                      <a:endParaRPr lang="en-VN" sz="1800"/>
                    </a:p>
                    <a:p>
                      <a:pPr algn="ctr"/>
                      <a:r>
                        <a:rPr lang="en-VN" sz="1800"/>
                        <a:t>3</a:t>
                      </a:r>
                    </a:p>
                  </a:txBody>
                  <a:tcPr/>
                </a:tc>
                <a:tc>
                  <a:txBody>
                    <a:bodyPr/>
                    <a:lstStyle/>
                    <a:p>
                      <a:pPr algn="ctr"/>
                      <a:endParaRPr lang="en-VN" sz="1800"/>
                    </a:p>
                    <a:p>
                      <a:pPr algn="ctr"/>
                      <a:r>
                        <a:rPr lang="en-VN" sz="1800"/>
                        <a:t>2</a:t>
                      </a:r>
                    </a:p>
                  </a:txBody>
                  <a:tcPr/>
                </a:tc>
                <a:tc>
                  <a:txBody>
                    <a:bodyPr/>
                    <a:lstStyle/>
                    <a:p>
                      <a:pPr algn="ctr"/>
                      <a:r>
                        <a:rPr lang="en-VN" sz="1800"/>
                        <a:t>Mức độ thấp</a:t>
                      </a:r>
                    </a:p>
                    <a:p>
                      <a:pPr algn="ctr"/>
                      <a:r>
                        <a:rPr lang="en-VN" sz="1800"/>
                        <a:t>1</a:t>
                      </a:r>
                    </a:p>
                  </a:txBody>
                  <a:tcPr/>
                </a:tc>
                <a:extLst>
                  <a:ext uri="{0D108BD9-81ED-4DB2-BD59-A6C34878D82A}">
                    <a16:rowId xmlns:a16="http://schemas.microsoft.com/office/drawing/2014/main" val="143651713"/>
                  </a:ext>
                </a:extLst>
              </a:tr>
              <a:tr h="370840">
                <a:tc>
                  <a:txBody>
                    <a:bodyPr/>
                    <a:lstStyle/>
                    <a:p>
                      <a:pPr algn="ctr"/>
                      <a:r>
                        <a:rPr lang="en-VN" sz="1800"/>
                        <a:t>Thoải mái</a:t>
                      </a:r>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extLst>
                  <a:ext uri="{0D108BD9-81ED-4DB2-BD59-A6C34878D82A}">
                    <a16:rowId xmlns:a16="http://schemas.microsoft.com/office/drawing/2014/main" val="2697078739"/>
                  </a:ext>
                </a:extLst>
              </a:tr>
              <a:tr h="370840">
                <a:tc>
                  <a:txBody>
                    <a:bodyPr/>
                    <a:lstStyle/>
                    <a:p>
                      <a:pPr algn="ctr"/>
                      <a:r>
                        <a:rPr lang="en-VN" sz="1800"/>
                        <a:t>Hào hứng</a:t>
                      </a:r>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extLst>
                  <a:ext uri="{0D108BD9-81ED-4DB2-BD59-A6C34878D82A}">
                    <a16:rowId xmlns:a16="http://schemas.microsoft.com/office/drawing/2014/main" val="2724146585"/>
                  </a:ext>
                </a:extLst>
              </a:tr>
              <a:tr h="370840">
                <a:tc>
                  <a:txBody>
                    <a:bodyPr/>
                    <a:lstStyle/>
                    <a:p>
                      <a:pPr algn="ctr"/>
                      <a:r>
                        <a:rPr lang="en-VN" sz="1800"/>
                        <a:t>Thư giãn</a:t>
                      </a:r>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extLst>
                  <a:ext uri="{0D108BD9-81ED-4DB2-BD59-A6C34878D82A}">
                    <a16:rowId xmlns:a16="http://schemas.microsoft.com/office/drawing/2014/main" val="3740051753"/>
                  </a:ext>
                </a:extLst>
              </a:tr>
              <a:tr h="370840">
                <a:tc>
                  <a:txBody>
                    <a:bodyPr/>
                    <a:lstStyle/>
                    <a:p>
                      <a:pPr algn="ctr"/>
                      <a:r>
                        <a:rPr lang="en-VN" sz="1800"/>
                        <a:t>Vui</a:t>
                      </a:r>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extLst>
                  <a:ext uri="{0D108BD9-81ED-4DB2-BD59-A6C34878D82A}">
                    <a16:rowId xmlns:a16="http://schemas.microsoft.com/office/drawing/2014/main" val="2234114207"/>
                  </a:ext>
                </a:extLst>
              </a:tr>
              <a:tr h="370840">
                <a:tc>
                  <a:txBody>
                    <a:bodyPr/>
                    <a:lstStyle/>
                    <a:p>
                      <a:pPr algn="ctr"/>
                      <a:r>
                        <a:rPr lang="en-VN" sz="1800"/>
                        <a:t>Sôi động</a:t>
                      </a:r>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extLst>
                  <a:ext uri="{0D108BD9-81ED-4DB2-BD59-A6C34878D82A}">
                    <a16:rowId xmlns:a16="http://schemas.microsoft.com/office/drawing/2014/main" val="2952439825"/>
                  </a:ext>
                </a:extLst>
              </a:tr>
              <a:tr h="370840">
                <a:tc>
                  <a:txBody>
                    <a:bodyPr/>
                    <a:lstStyle/>
                    <a:p>
                      <a:pPr algn="ctr"/>
                      <a:r>
                        <a:rPr lang="en-VN" sz="1800"/>
                        <a:t>Mới mẻ</a:t>
                      </a:r>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extLst>
                  <a:ext uri="{0D108BD9-81ED-4DB2-BD59-A6C34878D82A}">
                    <a16:rowId xmlns:a16="http://schemas.microsoft.com/office/drawing/2014/main" val="2080558155"/>
                  </a:ext>
                </a:extLst>
              </a:tr>
              <a:tr h="370840">
                <a:tc>
                  <a:txBody>
                    <a:bodyPr/>
                    <a:lstStyle/>
                    <a:p>
                      <a:pPr algn="ctr"/>
                      <a:r>
                        <a:rPr lang="en-VN" sz="1800"/>
                        <a:t>Lãng mạn</a:t>
                      </a:r>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extLst>
                  <a:ext uri="{0D108BD9-81ED-4DB2-BD59-A6C34878D82A}">
                    <a16:rowId xmlns:a16="http://schemas.microsoft.com/office/drawing/2014/main" val="2114506363"/>
                  </a:ext>
                </a:extLst>
              </a:tr>
              <a:tr h="370840">
                <a:tc>
                  <a:txBody>
                    <a:bodyPr/>
                    <a:lstStyle/>
                    <a:p>
                      <a:pPr algn="ctr"/>
                      <a:r>
                        <a:rPr lang="en-VN" sz="1800"/>
                        <a:t>Trẻ trung</a:t>
                      </a:r>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tc>
                  <a:txBody>
                    <a:bodyPr/>
                    <a:lstStyle/>
                    <a:p>
                      <a:pPr algn="ctr"/>
                      <a:endParaRPr lang="en-VN" sz="1800"/>
                    </a:p>
                  </a:txBody>
                  <a:tcPr/>
                </a:tc>
                <a:extLst>
                  <a:ext uri="{0D108BD9-81ED-4DB2-BD59-A6C34878D82A}">
                    <a16:rowId xmlns:a16="http://schemas.microsoft.com/office/drawing/2014/main" val="497740239"/>
                  </a:ext>
                </a:extLst>
              </a:tr>
            </a:tbl>
          </a:graphicData>
        </a:graphic>
      </p:graphicFrame>
      <p:sp>
        <p:nvSpPr>
          <p:cNvPr id="6" name="Title 1">
            <a:extLst>
              <a:ext uri="{FF2B5EF4-FFF2-40B4-BE49-F238E27FC236}">
                <a16:creationId xmlns:a16="http://schemas.microsoft.com/office/drawing/2014/main" id="{4D8B0F78-391B-1CD7-A130-6FF15CB2280F}"/>
              </a:ext>
            </a:extLst>
          </p:cNvPr>
          <p:cNvSpPr txBox="1">
            <a:spLocks/>
          </p:cNvSpPr>
          <p:nvPr/>
        </p:nvSpPr>
        <p:spPr>
          <a:xfrm>
            <a:off x="736599" y="-204503"/>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latin typeface="Arial" panose="020B0604020202020204" pitchFamily="34" charset="0"/>
                <a:cs typeface="Arial" panose="020B0604020202020204" pitchFamily="34" charset="0"/>
              </a:rPr>
              <a:t>3.4.4 </a:t>
            </a:r>
            <a:r>
              <a:rPr lang="en-US" sz="3200" b="1" err="1">
                <a:latin typeface="Arial" panose="020B0604020202020204" pitchFamily="34" charset="0"/>
                <a:cs typeface="Arial" panose="020B0604020202020204" pitchFamily="34" charset="0"/>
              </a:rPr>
              <a:t>Mô</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hình</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và</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lý</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thuyết</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thái</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độ</a:t>
            </a:r>
            <a:endParaRPr lang="en-US" sz="3200">
              <a:latin typeface="Arial" panose="020B0604020202020204" pitchFamily="34" charset="0"/>
              <a:cs typeface="Arial" panose="020B0604020202020204" pitchFamily="34" charset="0"/>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E338D7D-9295-AF42-A469-5DDC59F1402A}"/>
              </a:ext>
            </a:extLst>
          </p:cNvPr>
          <p:cNvSpPr>
            <a:spLocks noGrp="1"/>
          </p:cNvSpPr>
          <p:nvPr>
            <p:ph type="title"/>
          </p:nvPr>
        </p:nvSpPr>
        <p:spPr bwMode="auto">
          <a:xfrm>
            <a:off x="838200" y="829704"/>
            <a:ext cx="10515600" cy="13255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sz="3200" i="1" err="1">
                <a:latin typeface="Arial" panose="020B0604020202020204" pitchFamily="34" charset="0"/>
                <a:cs typeface="Arial" panose="020B0604020202020204" pitchFamily="34" charset="0"/>
              </a:rPr>
              <a:t>Thành</a:t>
            </a:r>
            <a:r>
              <a:rPr lang="en-US" altLang="en-US" sz="3200" i="1">
                <a:latin typeface="Arial" panose="020B0604020202020204" pitchFamily="34" charset="0"/>
                <a:cs typeface="Arial" panose="020B0604020202020204" pitchFamily="34" charset="0"/>
              </a:rPr>
              <a:t> </a:t>
            </a:r>
            <a:r>
              <a:rPr lang="en-US" altLang="en-US" sz="3200" i="1" err="1">
                <a:latin typeface="Arial" panose="020B0604020202020204" pitchFamily="34" charset="0"/>
                <a:cs typeface="Arial" panose="020B0604020202020204" pitchFamily="34" charset="0"/>
              </a:rPr>
              <a:t>phần</a:t>
            </a:r>
            <a:r>
              <a:rPr lang="en-US" altLang="en-US" sz="3200" i="1">
                <a:latin typeface="Arial" panose="020B0604020202020204" pitchFamily="34" charset="0"/>
                <a:cs typeface="Arial" panose="020B0604020202020204" pitchFamily="34" charset="0"/>
              </a:rPr>
              <a:t> </a:t>
            </a:r>
            <a:r>
              <a:rPr lang="en-US" altLang="en-US" sz="3200" i="1" err="1">
                <a:latin typeface="Arial" panose="020B0604020202020204" pitchFamily="34" charset="0"/>
                <a:cs typeface="Arial" panose="020B0604020202020204" pitchFamily="34" charset="0"/>
              </a:rPr>
              <a:t>hành</a:t>
            </a:r>
            <a:r>
              <a:rPr lang="en-US" altLang="en-US" sz="3200" i="1">
                <a:latin typeface="Arial" panose="020B0604020202020204" pitchFamily="34" charset="0"/>
                <a:cs typeface="Arial" panose="020B0604020202020204" pitchFamily="34" charset="0"/>
              </a:rPr>
              <a:t> </a:t>
            </a:r>
            <a:r>
              <a:rPr lang="en-US" altLang="en-US" sz="3200" i="1" err="1">
                <a:latin typeface="Arial" panose="020B0604020202020204" pitchFamily="34" charset="0"/>
                <a:cs typeface="Arial" panose="020B0604020202020204" pitchFamily="34" charset="0"/>
              </a:rPr>
              <a:t>động</a:t>
            </a:r>
            <a:r>
              <a:rPr lang="en-US" altLang="en-US" sz="3200" i="1">
                <a:latin typeface="Arial" panose="020B0604020202020204" pitchFamily="34" charset="0"/>
                <a:cs typeface="Arial" panose="020B0604020202020204" pitchFamily="34" charset="0"/>
              </a:rPr>
              <a:t>/ </a:t>
            </a:r>
            <a:r>
              <a:rPr lang="en-US" altLang="en-US" sz="3200" i="1" err="1">
                <a:latin typeface="Arial" panose="020B0604020202020204" pitchFamily="34" charset="0"/>
                <a:cs typeface="Arial" panose="020B0604020202020204" pitchFamily="34" charset="0"/>
              </a:rPr>
              <a:t>hành</a:t>
            </a:r>
            <a:r>
              <a:rPr lang="en-US" altLang="en-US" sz="3200" i="1">
                <a:latin typeface="Arial" panose="020B0604020202020204" pitchFamily="34" charset="0"/>
                <a:cs typeface="Arial" panose="020B0604020202020204" pitchFamily="34" charset="0"/>
              </a:rPr>
              <a:t> vi</a:t>
            </a:r>
          </a:p>
        </p:txBody>
      </p:sp>
      <p:sp>
        <p:nvSpPr>
          <p:cNvPr id="5" name="Content Placeholder 2">
            <a:extLst>
              <a:ext uri="{FF2B5EF4-FFF2-40B4-BE49-F238E27FC236}">
                <a16:creationId xmlns:a16="http://schemas.microsoft.com/office/drawing/2014/main" id="{66195BCA-ACC1-9248-8E5F-8A0B7D821E72}"/>
              </a:ext>
            </a:extLst>
          </p:cNvPr>
          <p:cNvSpPr txBox="1">
            <a:spLocks/>
          </p:cNvSpPr>
          <p:nvPr/>
        </p:nvSpPr>
        <p:spPr>
          <a:xfrm>
            <a:off x="572262" y="1492486"/>
            <a:ext cx="10181493" cy="468123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i="1"/>
              <a:t>Thành phần hành vi có thể được đo lường bằng “ý định mua” hoặc “ý định giới thiệu”</a:t>
            </a:r>
          </a:p>
          <a:p>
            <a:pPr marL="0" indent="0">
              <a:buFont typeface="Arial" panose="020B0604020202020204" pitchFamily="34" charset="0"/>
              <a:buNone/>
            </a:pPr>
            <a:r>
              <a:rPr lang="en-VN"/>
              <a:t>Ví dụ: </a:t>
            </a:r>
          </a:p>
          <a:p>
            <a:pPr marL="0" indent="0">
              <a:buFont typeface="Arial" panose="020B0604020202020204" pitchFamily="34" charset="0"/>
              <a:buNone/>
            </a:pPr>
            <a:r>
              <a:rPr lang="en-VN" b="1"/>
              <a:t>Bạn có ý định mua sản phẩm Aramis Aftershave trong vòng 3 tháng tiếp theo không?</a:t>
            </a:r>
          </a:p>
          <a:p>
            <a:pPr marL="0" indent="0">
              <a:buFont typeface="Arial" panose="020B0604020202020204" pitchFamily="34" charset="0"/>
              <a:buNone/>
            </a:pPr>
            <a:r>
              <a:rPr lang="en-VN"/>
              <a:t>____ Chắc chắn sẽ mua</a:t>
            </a:r>
          </a:p>
          <a:p>
            <a:pPr marL="0" indent="0">
              <a:buFont typeface="Arial" panose="020B0604020202020204" pitchFamily="34" charset="0"/>
              <a:buNone/>
            </a:pPr>
            <a:r>
              <a:rPr lang="en-VN"/>
              <a:t>____ Có thể sẽ mua</a:t>
            </a:r>
          </a:p>
          <a:p>
            <a:pPr marL="0" indent="0">
              <a:buFont typeface="Arial" panose="020B0604020202020204" pitchFamily="34" charset="0"/>
              <a:buNone/>
            </a:pPr>
            <a:r>
              <a:rPr lang="en-VN"/>
              <a:t>____ Chưa có ý định</a:t>
            </a:r>
          </a:p>
          <a:p>
            <a:pPr marL="0" indent="0">
              <a:buFont typeface="Arial" panose="020B0604020202020204" pitchFamily="34" charset="0"/>
              <a:buNone/>
            </a:pPr>
            <a:r>
              <a:rPr lang="en-VN"/>
              <a:t>____ Có thể không mua</a:t>
            </a:r>
          </a:p>
          <a:p>
            <a:pPr marL="0" indent="0">
              <a:buFont typeface="Arial" panose="020B0604020202020204" pitchFamily="34" charset="0"/>
              <a:buNone/>
            </a:pPr>
            <a:r>
              <a:rPr lang="en-VN"/>
              <a:t>____ Chắc chắn không mua</a:t>
            </a:r>
          </a:p>
          <a:p>
            <a:pPr marL="0" indent="0">
              <a:buFont typeface="Arial" panose="020B0604020202020204" pitchFamily="34" charset="0"/>
              <a:buNone/>
            </a:pPr>
            <a:endParaRPr lang="en-VN" i="1"/>
          </a:p>
        </p:txBody>
      </p:sp>
      <p:sp>
        <p:nvSpPr>
          <p:cNvPr id="3" name="Title 1">
            <a:extLst>
              <a:ext uri="{FF2B5EF4-FFF2-40B4-BE49-F238E27FC236}">
                <a16:creationId xmlns:a16="http://schemas.microsoft.com/office/drawing/2014/main" id="{409B6120-79C1-96CC-B4A6-B7A26820570C}"/>
              </a:ext>
            </a:extLst>
          </p:cNvPr>
          <p:cNvSpPr txBox="1">
            <a:spLocks/>
          </p:cNvSpPr>
          <p:nvPr/>
        </p:nvSpPr>
        <p:spPr>
          <a:xfrm>
            <a:off x="736599" y="-204503"/>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latin typeface="Arial" panose="020B0604020202020204" pitchFamily="34" charset="0"/>
                <a:cs typeface="Arial" panose="020B0604020202020204" pitchFamily="34" charset="0"/>
              </a:rPr>
              <a:t>3.4.4 </a:t>
            </a:r>
            <a:r>
              <a:rPr lang="en-US" sz="3200" b="1" err="1">
                <a:latin typeface="Arial" panose="020B0604020202020204" pitchFamily="34" charset="0"/>
                <a:cs typeface="Arial" panose="020B0604020202020204" pitchFamily="34" charset="0"/>
              </a:rPr>
              <a:t>Mô</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hình</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và</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lý</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thuyết</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thái</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độ</a:t>
            </a:r>
            <a:endParaRPr lang="en-US" sz="3200">
              <a:latin typeface="Arial" panose="020B0604020202020204" pitchFamily="34" charset="0"/>
              <a:cs typeface="Arial" panose="020B0604020202020204" pitchFamily="34" charset="0"/>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96474-F0D8-7DDF-415C-F6C6800FB2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257498-828E-1D83-64FA-76C6FDC0E41E}"/>
              </a:ext>
            </a:extLst>
          </p:cNvPr>
          <p:cNvSpPr>
            <a:spLocks noGrp="1"/>
          </p:cNvSpPr>
          <p:nvPr>
            <p:ph type="title"/>
          </p:nvPr>
        </p:nvSpPr>
        <p:spPr/>
        <p:txBody>
          <a:bodyPr vert="horz" lIns="91440" tIns="45720" rIns="91440" bIns="45720" rtlCol="0" anchor="b">
            <a:normAutofit/>
          </a:bodyPr>
          <a:lstStyle/>
          <a:p>
            <a:r>
              <a:rPr lang="en-US" sz="3200" i="1" u="none" strike="noStrike" kern="1200" spc="0" err="1">
                <a:solidFill>
                  <a:schemeClr val="tx1"/>
                </a:solidFill>
                <a:effectLst/>
                <a:latin typeface="Arial" panose="020B0604020202020204" pitchFamily="34" charset="0"/>
                <a:cs typeface="Arial" panose="020B0604020202020204" pitchFamily="34" charset="0"/>
              </a:rPr>
              <a:t>Mô</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hình</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thái</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độ</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đa</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thuộc</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tính</a:t>
            </a:r>
            <a:endParaRPr lang="en-US" sz="3200" i="1" kern="1200">
              <a:solidFill>
                <a:schemeClr val="tx1"/>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A3C252FE-C66F-962E-95F5-938897E3ACF3}"/>
              </a:ext>
            </a:extLst>
          </p:cNvPr>
          <p:cNvSpPr>
            <a:spLocks noGrp="1"/>
          </p:cNvSpPr>
          <p:nvPr>
            <p:ph idx="1"/>
          </p:nvPr>
        </p:nvSpPr>
        <p:spPr>
          <a:xfrm>
            <a:off x="174978" y="1882599"/>
            <a:ext cx="11167533" cy="4351338"/>
          </a:xfrm>
        </p:spPr>
        <p:txBody>
          <a:bodyPr>
            <a:noAutofit/>
          </a:bodyPr>
          <a:lstStyle/>
          <a:p>
            <a:pPr marL="0" indent="0" algn="just">
              <a:spcBef>
                <a:spcPts val="0"/>
              </a:spcBef>
              <a:buNone/>
            </a:pPr>
            <a:r>
              <a:rPr lang="en-US" sz="2400" b="1">
                <a:latin typeface="Arial" panose="020B0604020202020204" pitchFamily="34" charset="0"/>
                <a:cs typeface="Arial" panose="020B0604020202020204" pitchFamily="34" charset="0"/>
              </a:rPr>
              <a:t>1. </a:t>
            </a:r>
            <a:r>
              <a:rPr lang="en-US" sz="2400" b="1" err="1">
                <a:latin typeface="Arial" panose="020B0604020202020204" pitchFamily="34" charset="0"/>
                <a:cs typeface="Arial" panose="020B0604020202020204" pitchFamily="34" charset="0"/>
              </a:rPr>
              <a:t>Mô</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hình</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thái</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độ</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đa</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thuộc</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tính</a:t>
            </a:r>
            <a:r>
              <a:rPr lang="en-US" sz="2400" b="1">
                <a:latin typeface="Arial" panose="020B0604020202020204" pitchFamily="34" charset="0"/>
                <a:cs typeface="Arial" panose="020B0604020202020204" pitchFamily="34" charset="0"/>
              </a:rPr>
              <a:t>: </a:t>
            </a:r>
            <a:r>
              <a:rPr lang="en-US" sz="2400">
                <a:latin typeface="Arial" panose="020B0604020202020204" pitchFamily="34" charset="0"/>
                <a:cs typeface="Arial" panose="020B0604020202020204" pitchFamily="34" charset="0"/>
              </a:rPr>
              <a:t>Thái </a:t>
            </a:r>
            <a:r>
              <a:rPr lang="en-US" sz="2400" err="1">
                <a:latin typeface="Arial" panose="020B0604020202020204" pitchFamily="34" charset="0"/>
                <a:cs typeface="Arial" panose="020B0604020202020204" pitchFamily="34" charset="0"/>
              </a:rPr>
              <a:t>độ</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hình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thành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từ</a:t>
            </a:r>
            <a:r>
              <a:rPr lang="en-US" sz="2400">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niềm</a:t>
            </a:r>
            <a:r>
              <a:rPr lang="en-US" sz="2400" b="1">
                <a:latin typeface="Arial" panose="020B0604020202020204" pitchFamily="34" charset="0"/>
                <a:cs typeface="Arial" panose="020B0604020202020204" pitchFamily="34" charset="0"/>
              </a:rPr>
              <a:t> tin </a:t>
            </a:r>
            <a:r>
              <a:rPr lang="en-US" sz="2400" b="1" err="1">
                <a:latin typeface="Arial" panose="020B0604020202020204" pitchFamily="34" charset="0"/>
                <a:cs typeface="Arial" panose="020B0604020202020204" pitchFamily="34" charset="0"/>
              </a:rPr>
              <a:t>về</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các</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thuộc</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tính</a:t>
            </a:r>
            <a:r>
              <a:rPr lang="en-US" sz="2400" b="1">
                <a:latin typeface="Arial" panose="020B0604020202020204" pitchFamily="34" charset="0"/>
                <a:cs typeface="Arial" panose="020B0604020202020204" pitchFamily="34" charset="0"/>
              </a:rPr>
              <a:t> + </a:t>
            </a:r>
            <a:r>
              <a:rPr lang="en-US" sz="2400" b="1" err="1">
                <a:latin typeface="Arial" panose="020B0604020202020204" pitchFamily="34" charset="0"/>
                <a:cs typeface="Arial" panose="020B0604020202020204" pitchFamily="34" charset="0"/>
              </a:rPr>
              <a:t>mức</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độ</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đánh</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giá</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các</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thuộc</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tính</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đó</a:t>
            </a:r>
            <a:r>
              <a:rPr lang="en-US" sz="2400">
                <a:latin typeface="Arial" panose="020B0604020202020204" pitchFamily="34" charset="0"/>
                <a:cs typeface="Arial" panose="020B0604020202020204" pitchFamily="34" charset="0"/>
              </a:rPr>
              <a:t>.</a:t>
            </a:r>
          </a:p>
          <a:p>
            <a:pPr marL="0" indent="0" algn="just">
              <a:spcBef>
                <a:spcPts val="0"/>
              </a:spcBef>
              <a:buNone/>
            </a:pPr>
            <a:r>
              <a:rPr lang="en-US" sz="2400" err="1">
                <a:latin typeface="Arial" panose="020B0604020202020204" pitchFamily="34" charset="0"/>
                <a:cs typeface="Arial" panose="020B0604020202020204" pitchFamily="34" charset="0"/>
              </a:rPr>
              <a:t>Ví</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dụ</a:t>
            </a:r>
            <a:r>
              <a:rPr lang="en-US" sz="2400">
                <a:latin typeface="Arial" panose="020B0604020202020204" pitchFamily="34" charset="0"/>
                <a:cs typeface="Arial" panose="020B0604020202020204" pitchFamily="34" charset="0"/>
              </a:rPr>
              <a:t>: Mercedes = sang </a:t>
            </a:r>
            <a:r>
              <a:rPr lang="en-US" sz="2400" err="1">
                <a:latin typeface="Arial" panose="020B0604020202020204" pitchFamily="34" charset="0"/>
                <a:cs typeface="Arial" panose="020B0604020202020204" pitchFamily="34" charset="0"/>
              </a:rPr>
              <a:t>trọng</a:t>
            </a:r>
            <a:r>
              <a:rPr lang="en-US" sz="2400">
                <a:latin typeface="Arial" panose="020B0604020202020204" pitchFamily="34" charset="0"/>
                <a:cs typeface="Arial" panose="020B0604020202020204" pitchFamily="34" charset="0"/>
              </a:rPr>
              <a:t> + an </a:t>
            </a:r>
            <a:r>
              <a:rPr lang="en-US" sz="2400" err="1">
                <a:latin typeface="Arial" panose="020B0604020202020204" pitchFamily="34" charset="0"/>
                <a:cs typeface="Arial" panose="020B0604020202020204" pitchFamily="34" charset="0"/>
              </a:rPr>
              <a:t>toàn</a:t>
            </a:r>
            <a:r>
              <a:rPr lang="en-US" sz="2400">
                <a:latin typeface="Arial" panose="020B0604020202020204" pitchFamily="34" charset="0"/>
                <a:cs typeface="Arial" panose="020B0604020202020204" pitchFamily="34" charset="0"/>
              </a:rPr>
              <a:t> + </a:t>
            </a:r>
            <a:r>
              <a:rPr lang="en-US" sz="2400" err="1">
                <a:latin typeface="Arial" panose="020B0604020202020204" pitchFamily="34" charset="0"/>
                <a:cs typeface="Arial" panose="020B0604020202020204" pitchFamily="34" charset="0"/>
              </a:rPr>
              <a:t>thương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hiệu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mạnh</a:t>
            </a:r>
            <a:br>
              <a:rPr lang="en-US" sz="2400">
                <a:latin typeface="Arial" panose="020B0604020202020204" pitchFamily="34" charset="0"/>
                <a:cs typeface="Arial" panose="020B0604020202020204" pitchFamily="34" charset="0"/>
              </a:rPr>
            </a:br>
            <a:r>
              <a:rPr lang="en-US" sz="2400">
                <a:latin typeface="Arial" panose="020B0604020202020204" pitchFamily="34" charset="0"/>
                <a:cs typeface="Arial" panose="020B0604020202020204" pitchFamily="34" charset="0"/>
              </a:rPr>
              <a:t>→ Thái </a:t>
            </a:r>
            <a:r>
              <a:rPr lang="en-US" sz="2400" err="1">
                <a:latin typeface="Arial" panose="020B0604020202020204" pitchFamily="34" charset="0"/>
                <a:cs typeface="Arial" panose="020B0604020202020204" pitchFamily="34" charset="0"/>
              </a:rPr>
              <a:t>độ</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tích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cực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với</a:t>
            </a:r>
            <a:r>
              <a:rPr lang="en-US" sz="2400">
                <a:latin typeface="Arial" panose="020B0604020202020204" pitchFamily="34" charset="0"/>
                <a:cs typeface="Arial" panose="020B0604020202020204" pitchFamily="34" charset="0"/>
              </a:rPr>
              <a:t> Mercedes.</a:t>
            </a:r>
          </a:p>
          <a:p>
            <a:pPr marL="0" indent="0" algn="just">
              <a:spcBef>
                <a:spcPts val="0"/>
              </a:spcBef>
              <a:buNone/>
            </a:pPr>
            <a:r>
              <a:rPr lang="en-US" sz="2400" b="1">
                <a:latin typeface="Arial" panose="020B0604020202020204" pitchFamily="34" charset="0"/>
                <a:cs typeface="Arial" panose="020B0604020202020204" pitchFamily="34" charset="0"/>
              </a:rPr>
              <a:t>2. Theory of Reasoned Action (TRA) </a:t>
            </a:r>
            <a:r>
              <a:rPr lang="en-US" sz="2400">
                <a:latin typeface="Arial" panose="020B0604020202020204" pitchFamily="34" charset="0"/>
                <a:cs typeface="Arial" panose="020B0604020202020204" pitchFamily="34" charset="0"/>
              </a:rPr>
              <a:t>Ý </a:t>
            </a:r>
            <a:r>
              <a:rPr lang="en-US" sz="2400" err="1">
                <a:latin typeface="Arial" panose="020B0604020202020204" pitchFamily="34" charset="0"/>
                <a:cs typeface="Arial" panose="020B0604020202020204" pitchFamily="34" charset="0"/>
              </a:rPr>
              <a:t>định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hành</a:t>
            </a:r>
            <a:r>
              <a:rPr lang="en-US" sz="2400">
                <a:latin typeface="Arial" panose="020B0604020202020204" pitchFamily="34" charset="0"/>
                <a:cs typeface="Arial" panose="020B0604020202020204" pitchFamily="34" charset="0"/>
              </a:rPr>
              <a:t> vi </a:t>
            </a:r>
            <a:r>
              <a:rPr lang="en-US" sz="2400" err="1">
                <a:latin typeface="Arial" panose="020B0604020202020204" pitchFamily="34" charset="0"/>
                <a:cs typeface="Arial" panose="020B0604020202020204" pitchFamily="34" charset="0"/>
              </a:rPr>
              <a:t>chịu</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ảnh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hưởng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bởi</a:t>
            </a:r>
            <a:r>
              <a:rPr lang="en-US" sz="2400">
                <a:latin typeface="Arial" panose="020B0604020202020204" pitchFamily="34" charset="0"/>
                <a:cs typeface="Arial" panose="020B0604020202020204" pitchFamily="34" charset="0"/>
              </a:rPr>
              <a:t>:</a:t>
            </a:r>
          </a:p>
          <a:p>
            <a:pPr marL="0" indent="0">
              <a:buNone/>
            </a:pPr>
            <a:r>
              <a:rPr lang="en-US" sz="2400" b="1">
                <a:latin typeface="Arial" panose="020B0604020202020204" pitchFamily="34" charset="0"/>
                <a:cs typeface="Arial" panose="020B0604020202020204" pitchFamily="34" charset="0"/>
              </a:rPr>
              <a:t>3. Theory of Planned Behavior (TPB) </a:t>
            </a:r>
            <a:r>
              <a:rPr lang="en-US" sz="2400">
                <a:latin typeface="Arial" panose="020B0604020202020204" pitchFamily="34" charset="0"/>
                <a:cs typeface="Arial" panose="020B0604020202020204" pitchFamily="34" charset="0"/>
              </a:rPr>
              <a:t>TPB </a:t>
            </a:r>
            <a:r>
              <a:rPr lang="en-US" sz="2400" err="1">
                <a:latin typeface="Arial" panose="020B0604020202020204" pitchFamily="34" charset="0"/>
                <a:cs typeface="Arial" panose="020B0604020202020204" pitchFamily="34" charset="0"/>
              </a:rPr>
              <a:t>mở</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rộng</a:t>
            </a:r>
            <a:r>
              <a:rPr lang="en-US" sz="2400">
                <a:latin typeface="Arial" panose="020B0604020202020204" pitchFamily="34" charset="0"/>
                <a:cs typeface="Arial" panose="020B0604020202020204" pitchFamily="34" charset="0"/>
              </a:rPr>
              <a:t> TRA </a:t>
            </a:r>
            <a:r>
              <a:rPr lang="en-US" sz="2400" err="1">
                <a:latin typeface="Arial" panose="020B0604020202020204" pitchFamily="34" charset="0"/>
                <a:cs typeface="Arial" panose="020B0604020202020204" pitchFamily="34" charset="0"/>
              </a:rPr>
              <a:t>bằng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cách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bổ</a:t>
            </a:r>
            <a:r>
              <a:rPr lang="en-US" sz="2400">
                <a:latin typeface="Arial" panose="020B0604020202020204" pitchFamily="34" charset="0"/>
                <a:cs typeface="Arial" panose="020B0604020202020204" pitchFamily="34" charset="0"/>
              </a:rPr>
              <a:t> sung:</a:t>
            </a:r>
          </a:p>
          <a:p>
            <a:r>
              <a:rPr lang="en-US" sz="2400" b="1">
                <a:latin typeface="Arial" panose="020B0604020202020204" pitchFamily="34" charset="0"/>
                <a:cs typeface="Arial" panose="020B0604020202020204" pitchFamily="34" charset="0"/>
              </a:rPr>
              <a:t>Thái </a:t>
            </a:r>
            <a:r>
              <a:rPr lang="en-US" sz="2400" b="1" err="1">
                <a:latin typeface="Arial" panose="020B0604020202020204" pitchFamily="34" charset="0"/>
                <a:cs typeface="Arial" panose="020B0604020202020204" pitchFamily="34" charset="0"/>
              </a:rPr>
              <a:t>độ</a:t>
            </a:r>
            <a:endParaRPr lang="en-US" sz="2400">
              <a:latin typeface="Arial" panose="020B0604020202020204" pitchFamily="34" charset="0"/>
              <a:cs typeface="Arial" panose="020B0604020202020204" pitchFamily="34" charset="0"/>
            </a:endParaRPr>
          </a:p>
          <a:p>
            <a:pPr lvl="0"/>
            <a:r>
              <a:rPr lang="en-US" sz="2400" b="1" err="1">
                <a:latin typeface="Arial" panose="020B0604020202020204" pitchFamily="34" charset="0"/>
                <a:cs typeface="Arial" panose="020B0604020202020204" pitchFamily="34" charset="0"/>
              </a:rPr>
              <a:t>Chuẩn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chủ</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quan</a:t>
            </a:r>
            <a:r>
              <a:rPr lang="en-US" sz="2400">
                <a:latin typeface="Arial" panose="020B0604020202020204" pitchFamily="34" charset="0"/>
                <a:cs typeface="Arial" panose="020B0604020202020204" pitchFamily="34" charset="0"/>
              </a:rPr>
              <a:t> </a:t>
            </a:r>
          </a:p>
          <a:p>
            <a:pPr lvl="0"/>
            <a:r>
              <a:rPr lang="en-US" sz="2400" b="1" err="1">
                <a:latin typeface="Arial" panose="020B0604020202020204" pitchFamily="34" charset="0"/>
                <a:cs typeface="Arial" panose="020B0604020202020204" pitchFamily="34" charset="0"/>
              </a:rPr>
              <a:t>Nhận</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thức</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kiểm</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soát</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hành</a:t>
            </a:r>
            <a:r>
              <a:rPr lang="en-US" sz="2400" b="1">
                <a:latin typeface="Arial" panose="020B0604020202020204" pitchFamily="34" charset="0"/>
                <a:cs typeface="Arial" panose="020B0604020202020204" pitchFamily="34" charset="0"/>
              </a:rPr>
              <a:t> vi</a:t>
            </a:r>
            <a:br>
              <a:rPr lang="en-US" sz="2400">
                <a:latin typeface="Arial" panose="020B0604020202020204" pitchFamily="34" charset="0"/>
                <a:cs typeface="Arial" panose="020B0604020202020204" pitchFamily="34" charset="0"/>
              </a:rPr>
            </a:br>
            <a:r>
              <a:rPr lang="en-US" sz="2400">
                <a:latin typeface="Arial" panose="020B0604020202020204" pitchFamily="34" charset="0"/>
                <a:cs typeface="Arial" panose="020B0604020202020204" pitchFamily="34" charset="0"/>
              </a:rPr>
              <a:t>↓</a:t>
            </a:r>
            <a:br>
              <a:rPr lang="en-US" sz="2400">
                <a:latin typeface="Arial" panose="020B0604020202020204" pitchFamily="34" charset="0"/>
                <a:cs typeface="Arial" panose="020B0604020202020204" pitchFamily="34" charset="0"/>
              </a:rPr>
            </a:br>
            <a:r>
              <a:rPr lang="en-US" sz="2400" b="1">
                <a:latin typeface="Arial" panose="020B0604020202020204" pitchFamily="34" charset="0"/>
                <a:cs typeface="Arial" panose="020B0604020202020204" pitchFamily="34" charset="0"/>
              </a:rPr>
              <a:t>Ý </a:t>
            </a:r>
            <a:r>
              <a:rPr lang="en-US" sz="2400" b="1" err="1">
                <a:latin typeface="Arial" panose="020B0604020202020204" pitchFamily="34" charset="0"/>
                <a:cs typeface="Arial" panose="020B0604020202020204" pitchFamily="34" charset="0"/>
              </a:rPr>
              <a:t>định</a:t>
            </a:r>
            <a:r>
              <a:rPr lang="en-US" sz="2400" b="1">
                <a:latin typeface="Arial" panose="020B0604020202020204" pitchFamily="34" charset="0"/>
                <a:cs typeface="Arial" panose="020B0604020202020204" pitchFamily="34" charset="0"/>
              </a:rPr>
              <a:t> → </a:t>
            </a:r>
            <a:r>
              <a:rPr lang="en-US" sz="2400" b="1" err="1">
                <a:latin typeface="Arial" panose="020B0604020202020204" pitchFamily="34" charset="0"/>
                <a:cs typeface="Arial" panose="020B0604020202020204" pitchFamily="34" charset="0"/>
              </a:rPr>
              <a:t>Hành</a:t>
            </a:r>
            <a:r>
              <a:rPr lang="en-US" sz="2400" b="1">
                <a:latin typeface="Arial" panose="020B0604020202020204" pitchFamily="34" charset="0"/>
                <a:cs typeface="Arial" panose="020B0604020202020204" pitchFamily="34" charset="0"/>
              </a:rPr>
              <a:t> vi</a:t>
            </a:r>
            <a:endParaRPr lang="en-US" sz="2400">
              <a:latin typeface="Arial" panose="020B0604020202020204" pitchFamily="34" charset="0"/>
              <a:cs typeface="Arial" panose="020B0604020202020204" pitchFamily="34" charset="0"/>
            </a:endParaRPr>
          </a:p>
          <a:p>
            <a:pPr algn="just">
              <a:spcBef>
                <a:spcPts val="0"/>
              </a:spcBef>
              <a:buFont typeface="Wingdings" pitchFamily="2" charset="2"/>
              <a:buChar char="Ø"/>
            </a:pPr>
            <a:endParaRPr lang="vi-VN" sz="2400">
              <a:latin typeface="Arial" panose="020B0604020202020204" pitchFamily="34" charset="0"/>
              <a:cs typeface="Arial" panose="020B0604020202020204" pitchFamily="34" charset="0"/>
            </a:endParaRPr>
          </a:p>
        </p:txBody>
      </p:sp>
      <p:sp>
        <p:nvSpPr>
          <p:cNvPr id="4" name="Rectangle 2">
            <a:extLst>
              <a:ext uri="{FF2B5EF4-FFF2-40B4-BE49-F238E27FC236}">
                <a16:creationId xmlns:a16="http://schemas.microsoft.com/office/drawing/2014/main" id="{DFC29C41-EF74-1543-AB84-47BAE3A894AB}"/>
              </a:ext>
            </a:extLst>
          </p:cNvPr>
          <p:cNvSpPr>
            <a:spLocks noChangeArrowheads="1"/>
          </p:cNvSpPr>
          <p:nvPr/>
        </p:nvSpPr>
        <p:spPr bwMode="auto">
          <a:xfrm flipV="1">
            <a:off x="3858447" y="2903837"/>
            <a:ext cx="1357281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sp>
        <p:nvSpPr>
          <p:cNvPr id="6" name="Title 1">
            <a:extLst>
              <a:ext uri="{FF2B5EF4-FFF2-40B4-BE49-F238E27FC236}">
                <a16:creationId xmlns:a16="http://schemas.microsoft.com/office/drawing/2014/main" id="{9BADD0BB-A0EC-56E9-3A63-0D4E86B41B9A}"/>
              </a:ext>
            </a:extLst>
          </p:cNvPr>
          <p:cNvSpPr txBox="1">
            <a:spLocks/>
          </p:cNvSpPr>
          <p:nvPr/>
        </p:nvSpPr>
        <p:spPr>
          <a:xfrm>
            <a:off x="601132" y="94652"/>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latin typeface="Arial" panose="020B0604020202020204" pitchFamily="34" charset="0"/>
                <a:cs typeface="Arial" panose="020B0604020202020204" pitchFamily="34" charset="0"/>
              </a:rPr>
              <a:t>3.4.4 </a:t>
            </a:r>
            <a:r>
              <a:rPr lang="en-US" sz="3200" b="1" err="1">
                <a:latin typeface="Arial" panose="020B0604020202020204" pitchFamily="34" charset="0"/>
                <a:cs typeface="Arial" panose="020B0604020202020204" pitchFamily="34" charset="0"/>
              </a:rPr>
              <a:t>Mô</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hình</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và</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lý</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thuyết</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thái</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độ</a:t>
            </a:r>
            <a:endParaRPr lang="en-US" sz="3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885401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2F3C6-FDF8-454C-F277-A3E041447F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CD2924-00A7-89F1-FC76-5BF275E529A6}"/>
              </a:ext>
            </a:extLst>
          </p:cNvPr>
          <p:cNvSpPr>
            <a:spLocks noGrp="1"/>
          </p:cNvSpPr>
          <p:nvPr>
            <p:ph type="title"/>
          </p:nvPr>
        </p:nvSpPr>
        <p:spPr/>
        <p:txBody>
          <a:bodyPr vert="horz" lIns="91440" tIns="45720" rIns="91440" bIns="45720" rtlCol="0" anchor="b">
            <a:normAutofit/>
          </a:bodyPr>
          <a:lstStyle/>
          <a:p>
            <a:r>
              <a:rPr lang="en-US" sz="3200" i="1" u="none" strike="noStrike" kern="1200" spc="0" err="1">
                <a:solidFill>
                  <a:schemeClr val="tx1"/>
                </a:solidFill>
                <a:effectLst/>
                <a:latin typeface="Arial" panose="020B0604020202020204" pitchFamily="34" charset="0"/>
                <a:cs typeface="Arial" panose="020B0604020202020204" pitchFamily="34" charset="0"/>
              </a:rPr>
              <a:t>Mô</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hình</a:t>
            </a:r>
            <a:r>
              <a:rPr lang="en-US" sz="3200" i="1" u="none" strike="noStrike" kern="1200" spc="0">
                <a:solidFill>
                  <a:schemeClr val="tx1"/>
                </a:solidFill>
                <a:effectLst/>
                <a:latin typeface="Arial" panose="020B0604020202020204" pitchFamily="34" charset="0"/>
                <a:cs typeface="Arial" panose="020B0604020202020204" pitchFamily="34" charset="0"/>
              </a:rPr>
              <a:t> MODE</a:t>
            </a:r>
            <a:endParaRPr lang="en-US" sz="3200" i="1" kern="1200">
              <a:solidFill>
                <a:schemeClr val="tx1"/>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2639CBB0-752F-FDDD-30B4-8C4CBDEBC00E}"/>
              </a:ext>
            </a:extLst>
          </p:cNvPr>
          <p:cNvSpPr>
            <a:spLocks noGrp="1"/>
          </p:cNvSpPr>
          <p:nvPr>
            <p:ph idx="1"/>
          </p:nvPr>
        </p:nvSpPr>
        <p:spPr>
          <a:xfrm>
            <a:off x="619626" y="1961161"/>
            <a:ext cx="10952747" cy="4270375"/>
          </a:xfrm>
        </p:spPr>
        <p:txBody>
          <a:bodyPr>
            <a:noAutofit/>
          </a:bodyPr>
          <a:lstStyle/>
          <a:p>
            <a:r>
              <a:rPr lang="en-US" err="1">
                <a:latin typeface="Arial" panose="020B0604020202020204" pitchFamily="34" charset="0"/>
                <a:cs typeface="Arial" panose="020B0604020202020204" pitchFamily="34" charset="0"/>
              </a:rPr>
              <a:t>Mối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quan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hệ</a:t>
            </a:r>
            <a:r>
              <a:rPr lang="en-US">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thái</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độ</a:t>
            </a:r>
            <a:r>
              <a:rPr lang="en-US" b="1">
                <a:latin typeface="Arial" panose="020B0604020202020204" pitchFamily="34" charset="0"/>
                <a:cs typeface="Arial" panose="020B0604020202020204" pitchFamily="34" charset="0"/>
              </a:rPr>
              <a:t> → </a:t>
            </a:r>
            <a:r>
              <a:rPr lang="en-US" b="1" err="1">
                <a:latin typeface="Arial" panose="020B0604020202020204" pitchFamily="34" charset="0"/>
                <a:cs typeface="Arial" panose="020B0604020202020204" pitchFamily="34" charset="0"/>
              </a:rPr>
              <a:t>hành</a:t>
            </a:r>
            <a:r>
              <a:rPr lang="en-US" b="1">
                <a:latin typeface="Arial" panose="020B0604020202020204" pitchFamily="34" charset="0"/>
                <a:cs typeface="Arial" panose="020B0604020202020204" pitchFamily="34" charset="0"/>
              </a:rPr>
              <a:t> vi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phụ</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thuộc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vào</a:t>
            </a:r>
            <a:r>
              <a:rPr lang="en-US">
                <a:latin typeface="Arial" panose="020B0604020202020204" pitchFamily="34" charset="0"/>
                <a:cs typeface="Arial" panose="020B0604020202020204" pitchFamily="34" charset="0"/>
              </a:rPr>
              <a:t> 2 </a:t>
            </a:r>
            <a:r>
              <a:rPr lang="en-US" err="1">
                <a:latin typeface="Arial" panose="020B0604020202020204" pitchFamily="34" charset="0"/>
                <a:cs typeface="Arial" panose="020B0604020202020204" pitchFamily="34" charset="0"/>
              </a:rPr>
              <a:t>điều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kiện</a:t>
            </a:r>
            <a:r>
              <a:rPr lang="en-US">
                <a:latin typeface="Arial" panose="020B0604020202020204" pitchFamily="34" charset="0"/>
                <a:cs typeface="Arial" panose="020B0604020202020204" pitchFamily="34" charset="0"/>
              </a:rPr>
              <a:t>:</a:t>
            </a:r>
          </a:p>
          <a:p>
            <a:r>
              <a:rPr lang="en-US" b="1" err="1">
                <a:latin typeface="Arial" panose="020B0604020202020204" pitchFamily="34" charset="0"/>
                <a:cs typeface="Arial" panose="020B0604020202020204" pitchFamily="34" charset="0"/>
              </a:rPr>
              <a:t>Động</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lực</a:t>
            </a:r>
            <a:r>
              <a:rPr lang="en-US" b="1">
                <a:latin typeface="Arial" panose="020B0604020202020204" pitchFamily="34" charset="0"/>
                <a:cs typeface="Arial" panose="020B0604020202020204" pitchFamily="34" charset="0"/>
              </a:rPr>
              <a:t> (Motivation)</a:t>
            </a:r>
            <a:r>
              <a:rPr lang="en-US">
                <a:latin typeface="Arial" panose="020B0604020202020204" pitchFamily="34" charset="0"/>
                <a:cs typeface="Arial" panose="020B0604020202020204" pitchFamily="34" charset="0"/>
              </a:rPr>
              <a:t> + </a:t>
            </a:r>
            <a:r>
              <a:rPr lang="en-US" b="1" err="1">
                <a:latin typeface="Arial" panose="020B0604020202020204" pitchFamily="34" charset="0"/>
                <a:cs typeface="Arial" panose="020B0604020202020204" pitchFamily="34" charset="0"/>
              </a:rPr>
              <a:t>Cơ</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hội</a:t>
            </a:r>
            <a:r>
              <a:rPr lang="en-US" b="1">
                <a:latin typeface="Arial" panose="020B0604020202020204" pitchFamily="34" charset="0"/>
                <a:cs typeface="Arial" panose="020B0604020202020204" pitchFamily="34" charset="0"/>
              </a:rPr>
              <a:t> (Opportunity)</a:t>
            </a:r>
            <a:endParaRPr lang="en-US">
              <a:latin typeface="Arial" panose="020B0604020202020204" pitchFamily="34" charset="0"/>
              <a:cs typeface="Arial" panose="020B0604020202020204" pitchFamily="34" charset="0"/>
            </a:endParaRPr>
          </a:p>
          <a:p>
            <a:pPr lvl="0"/>
            <a:r>
              <a:rPr lang="en-US" b="1" err="1">
                <a:latin typeface="Arial" panose="020B0604020202020204" pitchFamily="34" charset="0"/>
                <a:cs typeface="Arial" panose="020B0604020202020204" pitchFamily="34" charset="0"/>
              </a:rPr>
              <a:t>Có</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cả</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động</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lực</a:t>
            </a:r>
            <a:r>
              <a:rPr lang="en-US" b="1">
                <a:latin typeface="Arial" panose="020B0604020202020204" pitchFamily="34" charset="0"/>
                <a:cs typeface="Arial" panose="020B0604020202020204" pitchFamily="34" charset="0"/>
              </a:rPr>
              <a:t> &amp; </a:t>
            </a:r>
            <a:r>
              <a:rPr lang="en-US" b="1" err="1">
                <a:latin typeface="Arial" panose="020B0604020202020204" pitchFamily="34" charset="0"/>
                <a:cs typeface="Arial" panose="020B0604020202020204" pitchFamily="34" charset="0"/>
              </a:rPr>
              <a:t>cơ</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hội</a:t>
            </a:r>
            <a:r>
              <a:rPr lang="en-US">
                <a:latin typeface="Arial" panose="020B0604020202020204" pitchFamily="34" charset="0"/>
                <a:cs typeface="Arial" panose="020B0604020202020204" pitchFamily="34" charset="0"/>
              </a:rPr>
              <a:t> → </a:t>
            </a:r>
            <a:r>
              <a:rPr lang="en-US" err="1">
                <a:latin typeface="Arial" panose="020B0604020202020204" pitchFamily="34" charset="0"/>
                <a:cs typeface="Arial" panose="020B0604020202020204" pitchFamily="34" charset="0"/>
              </a:rPr>
              <a:t>hành</a:t>
            </a:r>
            <a:r>
              <a:rPr lang="en-US">
                <a:latin typeface="Arial" panose="020B0604020202020204" pitchFamily="34" charset="0"/>
                <a:cs typeface="Arial" panose="020B0604020202020204" pitchFamily="34" charset="0"/>
              </a:rPr>
              <a:t> vi </a:t>
            </a:r>
            <a:r>
              <a:rPr lang="en-US" err="1">
                <a:latin typeface="Arial" panose="020B0604020202020204" pitchFamily="34" charset="0"/>
                <a:cs typeface="Arial" panose="020B0604020202020204" pitchFamily="34" charset="0"/>
              </a:rPr>
              <a:t>mang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tính</a:t>
            </a:r>
            <a:r>
              <a:rPr lang="en-US">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cân</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nhắc</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có</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chủ</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đích</a:t>
            </a:r>
            <a:r>
              <a:rPr lang="en-US">
                <a:latin typeface="Arial" panose="020B0604020202020204" pitchFamily="34" charset="0"/>
                <a:cs typeface="Arial" panose="020B0604020202020204" pitchFamily="34" charset="0"/>
              </a:rPr>
              <a:t> </a:t>
            </a:r>
          </a:p>
          <a:p>
            <a:pPr lvl="0"/>
            <a:r>
              <a:rPr lang="en-US" b="1" err="1">
                <a:latin typeface="Arial" panose="020B0604020202020204" pitchFamily="34" charset="0"/>
                <a:cs typeface="Arial" panose="020B0604020202020204" pitchFamily="34" charset="0"/>
              </a:rPr>
              <a:t>Thiếu</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một</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trong</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hai</a:t>
            </a:r>
            <a:r>
              <a:rPr lang="en-US">
                <a:latin typeface="Arial" panose="020B0604020202020204" pitchFamily="34" charset="0"/>
                <a:cs typeface="Arial" panose="020B0604020202020204" pitchFamily="34" charset="0"/>
              </a:rPr>
              <a:t> → </a:t>
            </a:r>
            <a:r>
              <a:rPr lang="en-US" err="1">
                <a:latin typeface="Arial" panose="020B0604020202020204" pitchFamily="34" charset="0"/>
                <a:cs typeface="Arial" panose="020B0604020202020204" pitchFamily="34" charset="0"/>
              </a:rPr>
              <a:t>hành</a:t>
            </a:r>
            <a:r>
              <a:rPr lang="en-US">
                <a:latin typeface="Arial" panose="020B0604020202020204" pitchFamily="34" charset="0"/>
                <a:cs typeface="Arial" panose="020B0604020202020204" pitchFamily="34" charset="0"/>
              </a:rPr>
              <a:t> vi </a:t>
            </a:r>
            <a:r>
              <a:rPr lang="en-US" err="1">
                <a:latin typeface="Arial" panose="020B0604020202020204" pitchFamily="34" charset="0"/>
                <a:cs typeface="Arial" panose="020B0604020202020204" pitchFamily="34" charset="0"/>
              </a:rPr>
              <a:t>dễ</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mang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tính</a:t>
            </a:r>
            <a:r>
              <a:rPr lang="en-US">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tự</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động</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tự</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phát</a:t>
            </a:r>
            <a:r>
              <a:rPr lang="en-US">
                <a:latin typeface="Arial" panose="020B0604020202020204" pitchFamily="34" charset="0"/>
                <a:cs typeface="Arial" panose="020B0604020202020204" pitchFamily="34" charset="0"/>
              </a:rPr>
              <a:t> </a:t>
            </a:r>
          </a:p>
          <a:p>
            <a:r>
              <a:rPr lang="en-US" b="1">
                <a:latin typeface="Arial" panose="020B0604020202020204" pitchFamily="34" charset="0"/>
                <a:cs typeface="Arial" panose="020B0604020202020204" pitchFamily="34" charset="0"/>
              </a:rPr>
              <a:t>Hai </a:t>
            </a:r>
            <a:r>
              <a:rPr lang="en-US" b="1" err="1">
                <a:latin typeface="Arial" panose="020B0604020202020204" pitchFamily="34" charset="0"/>
                <a:cs typeface="Arial" panose="020B0604020202020204" pitchFamily="34" charset="0"/>
              </a:rPr>
              <a:t>loại</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thái</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độ</a:t>
            </a:r>
            <a:endParaRPr lang="en-US" b="1">
              <a:latin typeface="Arial" panose="020B0604020202020204" pitchFamily="34" charset="0"/>
              <a:cs typeface="Arial" panose="020B0604020202020204" pitchFamily="34" charset="0"/>
            </a:endParaRPr>
          </a:p>
          <a:p>
            <a:pPr marL="0" lvl="0" indent="0">
              <a:buNone/>
            </a:pPr>
            <a:r>
              <a:rPr lang="en-US" b="1">
                <a:latin typeface="Arial" panose="020B0604020202020204" pitchFamily="34" charset="0"/>
                <a:cs typeface="Arial" panose="020B0604020202020204" pitchFamily="34" charset="0"/>
              </a:rPr>
              <a:t>Explicit attitude – Thái </a:t>
            </a:r>
            <a:r>
              <a:rPr lang="en-US" b="1" err="1">
                <a:latin typeface="Arial" panose="020B0604020202020204" pitchFamily="34" charset="0"/>
                <a:cs typeface="Arial" panose="020B0604020202020204" pitchFamily="34" charset="0"/>
              </a:rPr>
              <a:t>độ</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rõ</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ràng</a:t>
            </a:r>
            <a:r>
              <a:rPr lang="en-US" b="1">
                <a:latin typeface="Arial" panose="020B0604020202020204" pitchFamily="34" charset="0"/>
                <a:cs typeface="Arial" panose="020B0604020202020204" pitchFamily="34" charset="0"/>
              </a:rPr>
              <a: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có</a:t>
            </a:r>
            <a:r>
              <a:rPr lang="en-US">
                <a:latin typeface="Arial" panose="020B0604020202020204" pitchFamily="34" charset="0"/>
                <a:cs typeface="Arial" panose="020B0604020202020204" pitchFamily="34" charset="0"/>
              </a:rPr>
              <a:t> ý </a:t>
            </a:r>
            <a:r>
              <a:rPr lang="en-US" err="1">
                <a:latin typeface="Arial" panose="020B0604020202020204" pitchFamily="34" charset="0"/>
                <a:cs typeface="Arial" panose="020B0604020202020204" pitchFamily="34" charset="0"/>
              </a:rPr>
              <a:t>thức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có</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thể</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tự</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báo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cáo</a:t>
            </a:r>
            <a:r>
              <a:rPr lang="en-US">
                <a:latin typeface="Arial" panose="020B0604020202020204" pitchFamily="34" charset="0"/>
                <a:cs typeface="Arial" panose="020B0604020202020204" pitchFamily="34" charset="0"/>
              </a:rPr>
              <a:t> </a:t>
            </a:r>
          </a:p>
          <a:p>
            <a:pPr marL="0" lvl="0" indent="0">
              <a:buNone/>
            </a:pPr>
            <a:r>
              <a:rPr lang="en-US" b="1">
                <a:latin typeface="Arial" panose="020B0604020202020204" pitchFamily="34" charset="0"/>
                <a:cs typeface="Arial" panose="020B0604020202020204" pitchFamily="34" charset="0"/>
              </a:rPr>
              <a:t>Implicit attitude – Thái </a:t>
            </a:r>
            <a:r>
              <a:rPr lang="en-US" b="1" err="1">
                <a:latin typeface="Arial" panose="020B0604020202020204" pitchFamily="34" charset="0"/>
                <a:cs typeface="Arial" panose="020B0604020202020204" pitchFamily="34" charset="0"/>
              </a:rPr>
              <a:t>độ</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ngầm</a:t>
            </a:r>
            <a:r>
              <a:rPr lang="en-US" b="1">
                <a:latin typeface="Arial" panose="020B0604020202020204" pitchFamily="34" charset="0"/>
                <a:cs typeface="Arial" panose="020B0604020202020204" pitchFamily="34" charset="0"/>
              </a:rPr>
              <a: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vô</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thức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tự</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động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khó</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nhận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biết</a:t>
            </a:r>
            <a:endParaRPr lang="en-US">
              <a:latin typeface="Arial" panose="020B0604020202020204" pitchFamily="34" charset="0"/>
              <a:cs typeface="Arial" panose="020B0604020202020204" pitchFamily="34" charset="0"/>
            </a:endParaRPr>
          </a:p>
          <a:p>
            <a:pPr algn="just">
              <a:lnSpc>
                <a:spcPct val="150000"/>
              </a:lnSpc>
              <a:spcBef>
                <a:spcPts val="0"/>
              </a:spcBef>
              <a:buFont typeface="Wingdings" pitchFamily="2" charset="2"/>
              <a:buChar char="Ø"/>
            </a:pPr>
            <a:endParaRPr lang="vi-VN">
              <a:latin typeface="Arial" panose="020B0604020202020204" pitchFamily="34" charset="0"/>
              <a:cs typeface="Arial" panose="020B0604020202020204" pitchFamily="34" charset="0"/>
            </a:endParaRPr>
          </a:p>
        </p:txBody>
      </p:sp>
      <p:sp>
        <p:nvSpPr>
          <p:cNvPr id="4" name="Rectangle 2">
            <a:extLst>
              <a:ext uri="{FF2B5EF4-FFF2-40B4-BE49-F238E27FC236}">
                <a16:creationId xmlns:a16="http://schemas.microsoft.com/office/drawing/2014/main" id="{4676BF96-CC88-7E89-B6DE-10AAB8181C51}"/>
              </a:ext>
            </a:extLst>
          </p:cNvPr>
          <p:cNvSpPr>
            <a:spLocks noChangeArrowheads="1"/>
          </p:cNvSpPr>
          <p:nvPr/>
        </p:nvSpPr>
        <p:spPr bwMode="auto">
          <a:xfrm flipV="1">
            <a:off x="3858447" y="2903837"/>
            <a:ext cx="1357281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sp>
        <p:nvSpPr>
          <p:cNvPr id="6" name="Title 1">
            <a:extLst>
              <a:ext uri="{FF2B5EF4-FFF2-40B4-BE49-F238E27FC236}">
                <a16:creationId xmlns:a16="http://schemas.microsoft.com/office/drawing/2014/main" id="{2D0239E2-4A28-F055-0645-FA9A16152ECA}"/>
              </a:ext>
            </a:extLst>
          </p:cNvPr>
          <p:cNvSpPr txBox="1">
            <a:spLocks/>
          </p:cNvSpPr>
          <p:nvPr/>
        </p:nvSpPr>
        <p:spPr>
          <a:xfrm>
            <a:off x="601132" y="94652"/>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latin typeface="Arial" panose="020B0604020202020204" pitchFamily="34" charset="0"/>
                <a:cs typeface="Arial" panose="020B0604020202020204" pitchFamily="34" charset="0"/>
              </a:rPr>
              <a:t>3.4.4 </a:t>
            </a:r>
            <a:r>
              <a:rPr lang="en-US" sz="3200" b="1" err="1">
                <a:latin typeface="Arial" panose="020B0604020202020204" pitchFamily="34" charset="0"/>
                <a:cs typeface="Arial" panose="020B0604020202020204" pitchFamily="34" charset="0"/>
              </a:rPr>
              <a:t>Mô</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hình</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và</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lý</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thuyết</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thái</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độ</a:t>
            </a:r>
            <a:endParaRPr lang="en-US" sz="3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84534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en-US" sz="3200" i="1" u="none" strike="noStrike" kern="1200" spc="0">
                <a:solidFill>
                  <a:schemeClr val="tx1"/>
                </a:solidFill>
                <a:effectLst/>
                <a:latin typeface="Arial" panose="020B0604020202020204" pitchFamily="34" charset="0"/>
                <a:cs typeface="Arial" panose="020B0604020202020204" pitchFamily="34" charset="0"/>
              </a:rPr>
              <a:t>Lý </a:t>
            </a:r>
            <a:r>
              <a:rPr lang="en-US" sz="3200" i="1" u="none" strike="noStrike" kern="1200" spc="0" err="1">
                <a:solidFill>
                  <a:schemeClr val="tx1"/>
                </a:solidFill>
                <a:effectLst/>
                <a:latin typeface="Arial" panose="020B0604020202020204" pitchFamily="34" charset="0"/>
                <a:cs typeface="Arial" panose="020B0604020202020204" pitchFamily="34" charset="0"/>
              </a:rPr>
              <a:t>thuyết</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khuynh</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hướng</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cố</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gắng</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tiêu</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thụ</a:t>
            </a:r>
            <a:endParaRPr lang="en-US" sz="3200" i="1" kern="1200">
              <a:solidFill>
                <a:schemeClr val="tx1"/>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5E0B1228-CF73-2E4F-B32A-DC68DD22C261}"/>
              </a:ext>
            </a:extLst>
          </p:cNvPr>
          <p:cNvSpPr>
            <a:spLocks noGrp="1"/>
          </p:cNvSpPr>
          <p:nvPr>
            <p:ph idx="1"/>
          </p:nvPr>
        </p:nvSpPr>
        <p:spPr>
          <a:xfrm>
            <a:off x="465221" y="1825625"/>
            <a:ext cx="10888579" cy="4272782"/>
          </a:xfrm>
        </p:spPr>
        <p:txBody>
          <a:bodyPr>
            <a:noAutofit/>
          </a:bodyPr>
          <a:lstStyle/>
          <a:p>
            <a:pPr algn="just">
              <a:lnSpc>
                <a:spcPct val="150000"/>
              </a:lnSpc>
              <a:spcBef>
                <a:spcPts val="0"/>
              </a:spcBef>
              <a:buFont typeface="Wingdings" pitchFamily="2" charset="2"/>
              <a:buChar char="Ø"/>
            </a:pPr>
            <a:r>
              <a:rPr lang="vi-VN" sz="2700"/>
              <a:t> </a:t>
            </a:r>
            <a:r>
              <a:rPr lang="vi-VN"/>
              <a:t>Lý thuyết về khuynh hướng cố gắng tiêu thụ tập trung vào một tình huống mua hàng trong đó hành vi (về mặt mua thực tế) là không chắc chắn xảy ra.</a:t>
            </a:r>
            <a:r>
              <a:rPr lang="en-VN" sz="2400"/>
              <a:t> </a:t>
            </a:r>
          </a:p>
          <a:p>
            <a:pPr algn="just">
              <a:lnSpc>
                <a:spcPct val="150000"/>
              </a:lnSpc>
              <a:spcBef>
                <a:spcPts val="0"/>
              </a:spcBef>
              <a:buFont typeface="Wingdings" pitchFamily="2" charset="2"/>
              <a:buChar char="Ø"/>
            </a:pPr>
            <a:r>
              <a:rPr lang="en-VN">
                <a:latin typeface="Arial" panose="020B0604020202020204" pitchFamily="34" charset="0"/>
                <a:cs typeface="Arial" panose="020B0604020202020204" pitchFamily="34" charset="0"/>
              </a:rPr>
              <a:t> </a:t>
            </a:r>
            <a:r>
              <a:rPr lang="vi-VN">
                <a:latin typeface="Arial" panose="020B0604020202020204" pitchFamily="34" charset="0"/>
                <a:cs typeface="Arial" panose="020B0604020202020204" pitchFamily="34" charset="0"/>
              </a:rPr>
              <a:t>Lý thuyết này phản ánh các nỗ lực của khách hàng về việc tiêu dùng một sản phẩm, nhưng bị cản trở bởi các trở ngại cá nhân và môi trường, do đó ngăn chặn hành động (hành động mua hàng) xảy ra </a:t>
            </a:r>
          </a:p>
        </p:txBody>
      </p:sp>
      <p:sp>
        <p:nvSpPr>
          <p:cNvPr id="4" name="Rectangle 2">
            <a:extLst>
              <a:ext uri="{FF2B5EF4-FFF2-40B4-BE49-F238E27FC236}">
                <a16:creationId xmlns:a16="http://schemas.microsoft.com/office/drawing/2014/main" id="{E9A4A7E3-8FDB-284E-8D95-4B67EF14F60E}"/>
              </a:ext>
            </a:extLst>
          </p:cNvPr>
          <p:cNvSpPr>
            <a:spLocks noChangeArrowheads="1"/>
          </p:cNvSpPr>
          <p:nvPr/>
        </p:nvSpPr>
        <p:spPr bwMode="auto">
          <a:xfrm flipV="1">
            <a:off x="3858447" y="2903837"/>
            <a:ext cx="1357281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sp>
        <p:nvSpPr>
          <p:cNvPr id="6" name="Title 1">
            <a:extLst>
              <a:ext uri="{FF2B5EF4-FFF2-40B4-BE49-F238E27FC236}">
                <a16:creationId xmlns:a16="http://schemas.microsoft.com/office/drawing/2014/main" id="{DA4CAC83-4336-48A7-9B79-DF7E852F6CE0}"/>
              </a:ext>
            </a:extLst>
          </p:cNvPr>
          <p:cNvSpPr txBox="1">
            <a:spLocks/>
          </p:cNvSpPr>
          <p:nvPr/>
        </p:nvSpPr>
        <p:spPr>
          <a:xfrm>
            <a:off x="601132" y="94652"/>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latin typeface="Arial" panose="020B0604020202020204" pitchFamily="34" charset="0"/>
                <a:cs typeface="Arial" panose="020B0604020202020204" pitchFamily="34" charset="0"/>
              </a:rPr>
              <a:t>3.4.4 </a:t>
            </a:r>
            <a:r>
              <a:rPr lang="en-US" sz="3200" b="1" err="1">
                <a:latin typeface="Arial" panose="020B0604020202020204" pitchFamily="34" charset="0"/>
                <a:cs typeface="Arial" panose="020B0604020202020204" pitchFamily="34" charset="0"/>
              </a:rPr>
              <a:t>Mô</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hình</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và</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lý</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thuyết</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thái</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độ</a:t>
            </a:r>
            <a:endParaRPr lang="en-US" sz="3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086572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692"/>
            <a:ext cx="10515600" cy="1325563"/>
          </a:xfrm>
        </p:spPr>
        <p:txBody>
          <a:bodyPr vert="horz" lIns="91440" tIns="45720" rIns="91440" bIns="45720" rtlCol="0" anchor="b">
            <a:normAutofit/>
          </a:bodyPr>
          <a:lstStyle/>
          <a:p>
            <a:r>
              <a:rPr lang="en-US" sz="3200" i="1" u="none" strike="noStrike" kern="1200" spc="0" err="1">
                <a:solidFill>
                  <a:schemeClr val="tx1"/>
                </a:solidFill>
                <a:effectLst/>
                <a:latin typeface="Arial" panose="020B0604020202020204" pitchFamily="34" charset="0"/>
                <a:cs typeface="Arial" panose="020B0604020202020204" pitchFamily="34" charset="0"/>
              </a:rPr>
              <a:t>Mô</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hình</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thái</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độ</a:t>
            </a:r>
            <a:r>
              <a:rPr lang="en-US" sz="3200" i="1" u="none" strike="noStrike" kern="1200" spc="0">
                <a:solidFill>
                  <a:schemeClr val="tx1"/>
                </a:solidFill>
                <a:effectLst/>
                <a:latin typeface="Arial" panose="020B0604020202020204" pitchFamily="34" charset="0"/>
                <a:cs typeface="Arial" panose="020B0604020202020204" pitchFamily="34" charset="0"/>
              </a:rPr>
              <a:t> </a:t>
            </a:r>
            <a:r>
              <a:rPr lang="en-US" sz="3200" i="1" u="none" strike="noStrike" kern="1200" spc="0" err="1">
                <a:solidFill>
                  <a:schemeClr val="tx1"/>
                </a:solidFill>
                <a:effectLst/>
                <a:latin typeface="Arial" panose="020B0604020202020204" pitchFamily="34" charset="0"/>
                <a:cs typeface="Arial" panose="020B0604020202020204" pitchFamily="34" charset="0"/>
              </a:rPr>
              <a:t>đố</a:t>
            </a:r>
            <a:r>
              <a:rPr lang="en-US" sz="3200" i="1" err="1">
                <a:latin typeface="Arial" panose="020B0604020202020204" pitchFamily="34" charset="0"/>
                <a:cs typeface="Arial" panose="020B0604020202020204" pitchFamily="34" charset="0"/>
              </a:rPr>
              <a:t>i</a:t>
            </a:r>
            <a:r>
              <a:rPr lang="en-US" sz="3200" i="1">
                <a:latin typeface="Arial" panose="020B0604020202020204" pitchFamily="34" charset="0"/>
                <a:cs typeface="Arial" panose="020B0604020202020204" pitchFamily="34" charset="0"/>
              </a:rPr>
              <a:t> </a:t>
            </a:r>
            <a:r>
              <a:rPr lang="en-US" sz="3200" i="1" err="1">
                <a:latin typeface="Arial" panose="020B0604020202020204" pitchFamily="34" charset="0"/>
                <a:cs typeface="Arial" panose="020B0604020202020204" pitchFamily="34" charset="0"/>
              </a:rPr>
              <a:t>với</a:t>
            </a:r>
            <a:r>
              <a:rPr lang="en-US" sz="3200" i="1">
                <a:latin typeface="Arial" panose="020B0604020202020204" pitchFamily="34" charset="0"/>
                <a:cs typeface="Arial" panose="020B0604020202020204" pitchFamily="34" charset="0"/>
              </a:rPr>
              <a:t> </a:t>
            </a:r>
            <a:r>
              <a:rPr lang="en-US" sz="3200" i="1" err="1">
                <a:latin typeface="Arial" panose="020B0604020202020204" pitchFamily="34" charset="0"/>
                <a:cs typeface="Arial" panose="020B0604020202020204" pitchFamily="34" charset="0"/>
              </a:rPr>
              <a:t>quảng</a:t>
            </a:r>
            <a:r>
              <a:rPr lang="en-US" sz="3200" i="1">
                <a:latin typeface="Arial" panose="020B0604020202020204" pitchFamily="34" charset="0"/>
                <a:cs typeface="Arial" panose="020B0604020202020204" pitchFamily="34" charset="0"/>
              </a:rPr>
              <a:t> </a:t>
            </a:r>
            <a:r>
              <a:rPr lang="en-US" sz="3200" i="1" err="1">
                <a:latin typeface="Arial" panose="020B0604020202020204" pitchFamily="34" charset="0"/>
                <a:cs typeface="Arial" panose="020B0604020202020204" pitchFamily="34" charset="0"/>
              </a:rPr>
              <a:t>cáo</a:t>
            </a:r>
            <a:endParaRPr lang="en-US" sz="3200" i="1" kern="1200">
              <a:solidFill>
                <a:schemeClr val="tx1"/>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5E0B1228-CF73-2E4F-B32A-DC68DD22C261}"/>
              </a:ext>
            </a:extLst>
          </p:cNvPr>
          <p:cNvSpPr>
            <a:spLocks noGrp="1"/>
          </p:cNvSpPr>
          <p:nvPr>
            <p:ph idx="1"/>
          </p:nvPr>
        </p:nvSpPr>
        <p:spPr>
          <a:xfrm>
            <a:off x="420511" y="1345847"/>
            <a:ext cx="10515600" cy="4351338"/>
          </a:xfrm>
        </p:spPr>
        <p:txBody>
          <a:bodyPr>
            <a:noAutofit/>
          </a:bodyPr>
          <a:lstStyle/>
          <a:p>
            <a:pPr algn="just">
              <a:lnSpc>
                <a:spcPct val="150000"/>
              </a:lnSpc>
              <a:spcBef>
                <a:spcPts val="0"/>
              </a:spcBef>
              <a:buFont typeface="Wingdings" pitchFamily="2" charset="2"/>
              <a:buChar char="Ø"/>
            </a:pPr>
            <a:r>
              <a:rPr lang="vi-VN" sz="2700"/>
              <a:t> </a:t>
            </a:r>
            <a:r>
              <a:rPr lang="vi-VN"/>
              <a:t>Mô hình này nhấn mạnh vào tác động của một quảng cáo đối với sự hình thành thái độ của người tiêu dùng đối với các sản phẩm và dịch vụ và thương hiệu. </a:t>
            </a:r>
          </a:p>
          <a:p>
            <a:pPr algn="just">
              <a:lnSpc>
                <a:spcPct val="150000"/>
              </a:lnSpc>
              <a:spcBef>
                <a:spcPts val="0"/>
              </a:spcBef>
              <a:buFont typeface="Wingdings" pitchFamily="2" charset="2"/>
              <a:buChar char="Ø"/>
            </a:pPr>
            <a:r>
              <a:rPr lang="vi-VN"/>
              <a:t> Lý thuyết đằng sau mô hình nói rằng người tiêu dùng hình thành các đánh giá và cảm xúc do tiếp xúc với quảng cáo. Do đó, các nhà marketing cần phải cẩn thận trong khi xây dựng các chiến dịch quảng cáo đặc biệt là cho các sản phẩm và dịch vụ hoặc thương hiệu mới. </a:t>
            </a:r>
          </a:p>
        </p:txBody>
      </p:sp>
      <p:sp>
        <p:nvSpPr>
          <p:cNvPr id="4" name="Rectangle 2">
            <a:extLst>
              <a:ext uri="{FF2B5EF4-FFF2-40B4-BE49-F238E27FC236}">
                <a16:creationId xmlns:a16="http://schemas.microsoft.com/office/drawing/2014/main" id="{E9A4A7E3-8FDB-284E-8D95-4B67EF14F60E}"/>
              </a:ext>
            </a:extLst>
          </p:cNvPr>
          <p:cNvSpPr>
            <a:spLocks noChangeArrowheads="1"/>
          </p:cNvSpPr>
          <p:nvPr/>
        </p:nvSpPr>
        <p:spPr bwMode="auto">
          <a:xfrm flipV="1">
            <a:off x="3858447" y="2903837"/>
            <a:ext cx="1357281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sp>
        <p:nvSpPr>
          <p:cNvPr id="6" name="Title 1">
            <a:extLst>
              <a:ext uri="{FF2B5EF4-FFF2-40B4-BE49-F238E27FC236}">
                <a16:creationId xmlns:a16="http://schemas.microsoft.com/office/drawing/2014/main" id="{980A4D4C-9663-0F75-ED9F-FC01CAB2DF9B}"/>
              </a:ext>
            </a:extLst>
          </p:cNvPr>
          <p:cNvSpPr txBox="1">
            <a:spLocks/>
          </p:cNvSpPr>
          <p:nvPr/>
        </p:nvSpPr>
        <p:spPr>
          <a:xfrm>
            <a:off x="507999" y="-179103"/>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latin typeface="Arial" panose="020B0604020202020204" pitchFamily="34" charset="0"/>
                <a:cs typeface="Arial" panose="020B0604020202020204" pitchFamily="34" charset="0"/>
              </a:rPr>
              <a:t>3.4.4 </a:t>
            </a:r>
            <a:r>
              <a:rPr lang="en-US" sz="3200" b="1" err="1">
                <a:latin typeface="Arial" panose="020B0604020202020204" pitchFamily="34" charset="0"/>
                <a:cs typeface="Arial" panose="020B0604020202020204" pitchFamily="34" charset="0"/>
              </a:rPr>
              <a:t>Mô</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hình</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và</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lý</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thuyết</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thái</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độ</a:t>
            </a:r>
            <a:endParaRPr lang="en-US" sz="3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321800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0955" y="-297657"/>
            <a:ext cx="10515600" cy="1325563"/>
          </a:xfrm>
        </p:spPr>
        <p:txBody>
          <a:bodyPr vert="horz" lIns="91440" tIns="45720" rIns="91440" bIns="45720" rtlCol="0" anchor="b">
            <a:normAutofit/>
          </a:bodyPr>
          <a:lstStyle/>
          <a:p>
            <a:r>
              <a:rPr lang="en-US" sz="3200" b="1" u="none" strike="noStrike" spc="0">
                <a:effectLst/>
                <a:latin typeface="Arial" panose="020B0604020202020204" pitchFamily="34" charset="0"/>
                <a:cs typeface="Arial" panose="020B0604020202020204" pitchFamily="34" charset="0"/>
              </a:rPr>
              <a:t>3.4.5 </a:t>
            </a:r>
            <a:r>
              <a:rPr lang="en-US" sz="3200" b="1" u="none" strike="noStrike" kern="1200" spc="0" err="1">
                <a:solidFill>
                  <a:schemeClr val="tx1"/>
                </a:solidFill>
                <a:effectLst/>
                <a:latin typeface="Arial" panose="020B0604020202020204" pitchFamily="34" charset="0"/>
                <a:cs typeface="Arial" panose="020B0604020202020204" pitchFamily="34" charset="0"/>
              </a:rPr>
              <a:t>Đo</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lường</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thái</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độ</a:t>
            </a:r>
            <a:endParaRPr lang="en-US" sz="3200" kern="1200">
              <a:solidFill>
                <a:schemeClr val="tx1"/>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5E0B1228-CF73-2E4F-B32A-DC68DD22C261}"/>
              </a:ext>
            </a:extLst>
          </p:cNvPr>
          <p:cNvSpPr>
            <a:spLocks noGrp="1"/>
          </p:cNvSpPr>
          <p:nvPr>
            <p:ph idx="1"/>
          </p:nvPr>
        </p:nvSpPr>
        <p:spPr/>
        <p:txBody>
          <a:bodyPr>
            <a:noAutofit/>
          </a:bodyPr>
          <a:lstStyle/>
          <a:p>
            <a:pPr algn="just">
              <a:lnSpc>
                <a:spcPct val="150000"/>
              </a:lnSpc>
              <a:spcBef>
                <a:spcPts val="0"/>
              </a:spcBef>
              <a:buFont typeface="Wingdings" pitchFamily="2" charset="2"/>
              <a:buChar char="Ø"/>
            </a:pPr>
            <a:r>
              <a:rPr lang="vi-VN" sz="3200"/>
              <a:t> Quan sát</a:t>
            </a:r>
          </a:p>
          <a:p>
            <a:pPr algn="just">
              <a:lnSpc>
                <a:spcPct val="150000"/>
              </a:lnSpc>
              <a:spcBef>
                <a:spcPts val="0"/>
              </a:spcBef>
              <a:buFont typeface="Wingdings" pitchFamily="2" charset="2"/>
              <a:buChar char="Ø"/>
            </a:pPr>
            <a:r>
              <a:rPr lang="vi-VN" sz="3200"/>
              <a:t> Kỹ thuật định lượng, thang đánh giá hoặc thang đo thái độ</a:t>
            </a:r>
          </a:p>
          <a:p>
            <a:pPr algn="just">
              <a:lnSpc>
                <a:spcPct val="150000"/>
              </a:lnSpc>
              <a:spcBef>
                <a:spcPts val="0"/>
              </a:spcBef>
              <a:buFont typeface="Wingdings" pitchFamily="2" charset="2"/>
              <a:buChar char="Ø"/>
            </a:pPr>
            <a:r>
              <a:rPr lang="vi-VN" sz="3200"/>
              <a:t> Nghiên cứu định tính</a:t>
            </a:r>
          </a:p>
          <a:p>
            <a:pPr lvl="1" algn="just">
              <a:lnSpc>
                <a:spcPct val="150000"/>
              </a:lnSpc>
              <a:spcBef>
                <a:spcPts val="0"/>
              </a:spcBef>
              <a:buFont typeface="Wingdings" pitchFamily="2" charset="2"/>
              <a:buChar char="Ø"/>
            </a:pPr>
            <a:r>
              <a:rPr lang="vi-VN" sz="3200"/>
              <a:t> Phỏng vấn sâu</a:t>
            </a:r>
          </a:p>
          <a:p>
            <a:pPr lvl="1" algn="just">
              <a:lnSpc>
                <a:spcPct val="150000"/>
              </a:lnSpc>
              <a:spcBef>
                <a:spcPts val="0"/>
              </a:spcBef>
              <a:buFont typeface="Wingdings" pitchFamily="2" charset="2"/>
              <a:buChar char="Ø"/>
            </a:pPr>
            <a:r>
              <a:rPr lang="vi-VN" sz="3200"/>
              <a:t> Kiểm tra tâm lý</a:t>
            </a:r>
          </a:p>
        </p:txBody>
      </p:sp>
      <p:sp>
        <p:nvSpPr>
          <p:cNvPr id="4" name="Rectangle 2">
            <a:extLst>
              <a:ext uri="{FF2B5EF4-FFF2-40B4-BE49-F238E27FC236}">
                <a16:creationId xmlns:a16="http://schemas.microsoft.com/office/drawing/2014/main" id="{E9A4A7E3-8FDB-284E-8D95-4B67EF14F60E}"/>
              </a:ext>
            </a:extLst>
          </p:cNvPr>
          <p:cNvSpPr>
            <a:spLocks noChangeArrowheads="1"/>
          </p:cNvSpPr>
          <p:nvPr/>
        </p:nvSpPr>
        <p:spPr bwMode="auto">
          <a:xfrm flipV="1">
            <a:off x="3858447" y="2903837"/>
            <a:ext cx="1357281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spTree>
    <p:extLst>
      <p:ext uri="{BB962C8B-B14F-4D97-AF65-F5344CB8AC3E}">
        <p14:creationId xmlns:p14="http://schemas.microsoft.com/office/powerpoint/2010/main" val="368147657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987F2-44AB-845D-661A-259CFB6A54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5852B6-CF9F-A288-B6CE-0D0AEA29E7EC}"/>
              </a:ext>
            </a:extLst>
          </p:cNvPr>
          <p:cNvSpPr>
            <a:spLocks noGrp="1"/>
          </p:cNvSpPr>
          <p:nvPr>
            <p:ph type="title"/>
          </p:nvPr>
        </p:nvSpPr>
        <p:spPr>
          <a:xfrm>
            <a:off x="730955" y="-614784"/>
            <a:ext cx="10515600" cy="1325563"/>
          </a:xfrm>
        </p:spPr>
        <p:txBody>
          <a:bodyPr vert="horz" lIns="91440" tIns="45720" rIns="91440" bIns="45720" rtlCol="0" anchor="b">
            <a:normAutofit/>
          </a:bodyPr>
          <a:lstStyle/>
          <a:p>
            <a:r>
              <a:rPr lang="en-US" sz="3200" b="1" u="none" strike="noStrike" spc="0">
                <a:effectLst/>
                <a:latin typeface="Arial" panose="020B0604020202020204" pitchFamily="34" charset="0"/>
                <a:cs typeface="Arial" panose="020B0604020202020204" pitchFamily="34" charset="0"/>
              </a:rPr>
              <a:t>3.4.6 </a:t>
            </a:r>
            <a:r>
              <a:rPr lang="en-US" sz="3200" b="1" u="none" strike="noStrike" kern="1200" spc="0">
                <a:solidFill>
                  <a:schemeClr val="tx1"/>
                </a:solidFill>
                <a:effectLst/>
                <a:latin typeface="Arial" panose="020B0604020202020204" pitchFamily="34" charset="0"/>
                <a:cs typeface="Arial" panose="020B0604020202020204" pitchFamily="34" charset="0"/>
              </a:rPr>
              <a:t>Phương </a:t>
            </a:r>
            <a:r>
              <a:rPr lang="en-US" sz="3200" b="1" u="none" strike="noStrike" kern="1200" spc="0" err="1">
                <a:solidFill>
                  <a:schemeClr val="tx1"/>
                </a:solidFill>
                <a:effectLst/>
                <a:latin typeface="Arial" panose="020B0604020202020204" pitchFamily="34" charset="0"/>
                <a:cs typeface="Arial" panose="020B0604020202020204" pitchFamily="34" charset="0"/>
              </a:rPr>
              <a:t>pháp</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thay</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đổi</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thái</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độ</a:t>
            </a:r>
            <a:endParaRPr lang="en-US" sz="3200" kern="1200">
              <a:solidFill>
                <a:schemeClr val="tx1"/>
              </a:solidFill>
              <a:latin typeface="Arial" panose="020B0604020202020204" pitchFamily="34" charset="0"/>
              <a:cs typeface="Arial" panose="020B0604020202020204" pitchFamily="34" charset="0"/>
            </a:endParaRPr>
          </a:p>
        </p:txBody>
      </p:sp>
      <p:sp>
        <p:nvSpPr>
          <p:cNvPr id="4" name="Rectangle 2">
            <a:extLst>
              <a:ext uri="{FF2B5EF4-FFF2-40B4-BE49-F238E27FC236}">
                <a16:creationId xmlns:a16="http://schemas.microsoft.com/office/drawing/2014/main" id="{79E40E18-09E8-E78A-7744-3DC5455BF9EC}"/>
              </a:ext>
            </a:extLst>
          </p:cNvPr>
          <p:cNvSpPr>
            <a:spLocks noChangeArrowheads="1"/>
          </p:cNvSpPr>
          <p:nvPr/>
        </p:nvSpPr>
        <p:spPr bwMode="auto">
          <a:xfrm flipV="1">
            <a:off x="3858447" y="2903837"/>
            <a:ext cx="1357281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graphicFrame>
        <p:nvGraphicFramePr>
          <p:cNvPr id="7" name="Table 6">
            <a:extLst>
              <a:ext uri="{FF2B5EF4-FFF2-40B4-BE49-F238E27FC236}">
                <a16:creationId xmlns:a16="http://schemas.microsoft.com/office/drawing/2014/main" id="{947E27A0-56ED-CB3C-3AE4-B6F205724A91}"/>
              </a:ext>
            </a:extLst>
          </p:cNvPr>
          <p:cNvGraphicFramePr>
            <a:graphicFrameLocks noGrp="1"/>
          </p:cNvGraphicFramePr>
          <p:nvPr/>
        </p:nvGraphicFramePr>
        <p:xfrm>
          <a:off x="928512" y="4001294"/>
          <a:ext cx="10515600" cy="2560320"/>
        </p:xfrm>
        <a:graphic>
          <a:graphicData uri="http://schemas.openxmlformats.org/drawingml/2006/table">
            <a:tbl>
              <a:tblPr>
                <a:tableStyleId>{5C22544A-7EE6-4342-B048-85BDC9FD1C3A}</a:tableStyleId>
              </a:tblPr>
              <a:tblGrid>
                <a:gridCol w="2046110">
                  <a:extLst>
                    <a:ext uri="{9D8B030D-6E8A-4147-A177-3AD203B41FA5}">
                      <a16:colId xmlns:a16="http://schemas.microsoft.com/office/drawing/2014/main" val="5740201"/>
                    </a:ext>
                  </a:extLst>
                </a:gridCol>
                <a:gridCol w="8469490">
                  <a:extLst>
                    <a:ext uri="{9D8B030D-6E8A-4147-A177-3AD203B41FA5}">
                      <a16:colId xmlns:a16="http://schemas.microsoft.com/office/drawing/2014/main" val="22211567"/>
                    </a:ext>
                  </a:extLst>
                </a:gridCol>
              </a:tblGrid>
              <a:tr h="0">
                <a:tc>
                  <a:txBody>
                    <a:bodyPr/>
                    <a:lstStyle/>
                    <a:p>
                      <a:pPr>
                        <a:buNone/>
                      </a:pPr>
                      <a:r>
                        <a:rPr lang="en-US" sz="2400" b="1">
                          <a:latin typeface="Arial" panose="020B0604020202020204" pitchFamily="34" charset="0"/>
                          <a:cs typeface="Arial" panose="020B0604020202020204" pitchFamily="34" charset="0"/>
                        </a:rPr>
                        <a:t>Thành </a:t>
                      </a:r>
                      <a:r>
                        <a:rPr lang="en-US" sz="2400" b="1" err="1">
                          <a:latin typeface="Arial" panose="020B0604020202020204" pitchFamily="34" charset="0"/>
                          <a:cs typeface="Arial" panose="020B0604020202020204" pitchFamily="34" charset="0"/>
                        </a:rPr>
                        <a:t>phần</a:t>
                      </a:r>
                      <a:endParaRPr lang="en-US" sz="2400" b="1">
                        <a:latin typeface="Arial" panose="020B0604020202020204" pitchFamily="34" charset="0"/>
                        <a:cs typeface="Arial" panose="020B0604020202020204" pitchFamily="34" charset="0"/>
                      </a:endParaRPr>
                    </a:p>
                  </a:txBody>
                  <a:tcPr anchor="ctr"/>
                </a:tc>
                <a:tc>
                  <a:txBody>
                    <a:bodyPr/>
                    <a:lstStyle/>
                    <a:p>
                      <a:pPr>
                        <a:buNone/>
                      </a:pPr>
                      <a:r>
                        <a:rPr lang="en-US" sz="2400" b="1" err="1">
                          <a:latin typeface="Arial" panose="020B0604020202020204" pitchFamily="34" charset="0"/>
                          <a:cs typeface="Arial" panose="020B0604020202020204" pitchFamily="34" charset="0"/>
                        </a:rPr>
                        <a:t>Cách</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tác</a:t>
                      </a:r>
                      <a:r>
                        <a:rPr lang="en-US" sz="2400" b="1">
                          <a:latin typeface="Arial" panose="020B0604020202020204" pitchFamily="34" charset="0"/>
                          <a:cs typeface="Arial" panose="020B0604020202020204" pitchFamily="34" charset="0"/>
                        </a:rPr>
                        <a:t> </a:t>
                      </a:r>
                      <a:r>
                        <a:rPr lang="en-US" sz="2400" b="1" err="1">
                          <a:latin typeface="Arial" panose="020B0604020202020204" pitchFamily="34" charset="0"/>
                          <a:cs typeface="Arial" panose="020B0604020202020204" pitchFamily="34" charset="0"/>
                        </a:rPr>
                        <a:t>động</a:t>
                      </a:r>
                      <a:endParaRPr lang="en-US" sz="2400" b="1">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647859856"/>
                  </a:ext>
                </a:extLst>
              </a:tr>
              <a:tr h="0">
                <a:tc>
                  <a:txBody>
                    <a:bodyPr/>
                    <a:lstStyle/>
                    <a:p>
                      <a:pPr>
                        <a:buNone/>
                      </a:pPr>
                      <a:r>
                        <a:rPr lang="en-US" sz="2400">
                          <a:latin typeface="Arial" panose="020B0604020202020204" pitchFamily="34" charset="0"/>
                          <a:cs typeface="Arial" panose="020B0604020202020204" pitchFamily="34" charset="0"/>
                        </a:rPr>
                        <a:t>Nhận thức</a:t>
                      </a:r>
                    </a:p>
                  </a:txBody>
                  <a:tcPr anchor="ctr"/>
                </a:tc>
                <a:tc>
                  <a:txBody>
                    <a:bodyPr/>
                    <a:lstStyle/>
                    <a:p>
                      <a:pPr>
                        <a:buNone/>
                      </a:pPr>
                      <a:r>
                        <a:rPr lang="en-US" sz="2400">
                          <a:latin typeface="Arial" panose="020B0604020202020204" pitchFamily="34" charset="0"/>
                          <a:cs typeface="Arial" panose="020B0604020202020204" pitchFamily="34" charset="0"/>
                        </a:rPr>
                        <a:t>Cung </a:t>
                      </a:r>
                      <a:r>
                        <a:rPr lang="en-US" sz="2400" err="1">
                          <a:latin typeface="Arial" panose="020B0604020202020204" pitchFamily="34" charset="0"/>
                          <a:cs typeface="Arial" panose="020B0604020202020204" pitchFamily="34" charset="0"/>
                        </a:rPr>
                        <a:t>cấp</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thông</a:t>
                      </a:r>
                      <a:r>
                        <a:rPr lang="en-US" sz="2400">
                          <a:latin typeface="Arial" panose="020B0604020202020204" pitchFamily="34" charset="0"/>
                          <a:cs typeface="Arial" panose="020B0604020202020204" pitchFamily="34" charset="0"/>
                        </a:rPr>
                        <a:t> tin </a:t>
                      </a:r>
                      <a:r>
                        <a:rPr lang="en-US" sz="2400" err="1">
                          <a:latin typeface="Arial" panose="020B0604020202020204" pitchFamily="34" charset="0"/>
                          <a:cs typeface="Arial" panose="020B0604020202020204" pitchFamily="34" charset="0"/>
                        </a:rPr>
                        <a:t>mới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thay</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đổi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niềm</a:t>
                      </a:r>
                      <a:r>
                        <a:rPr lang="en-US" sz="2400">
                          <a:latin typeface="Arial" panose="020B0604020202020204" pitchFamily="34" charset="0"/>
                          <a:cs typeface="Arial" panose="020B0604020202020204" pitchFamily="34" charset="0"/>
                        </a:rPr>
                        <a:t> tin, </a:t>
                      </a:r>
                      <a:r>
                        <a:rPr lang="en-US" sz="2400" err="1">
                          <a:latin typeface="Arial" panose="020B0604020202020204" pitchFamily="34" charset="0"/>
                          <a:cs typeface="Arial" panose="020B0604020202020204" pitchFamily="34" charset="0"/>
                        </a:rPr>
                        <a:t>nhấn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mạnh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thuộc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tính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quan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trọng</a:t>
                      </a:r>
                      <a:endParaRPr lang="en-US" sz="24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429694209"/>
                  </a:ext>
                </a:extLst>
              </a:tr>
              <a:tr h="0">
                <a:tc>
                  <a:txBody>
                    <a:bodyPr/>
                    <a:lstStyle/>
                    <a:p>
                      <a:pPr>
                        <a:buNone/>
                      </a:pPr>
                      <a:r>
                        <a:rPr lang="en-US" sz="2400">
                          <a:latin typeface="Arial" panose="020B0604020202020204" pitchFamily="34" charset="0"/>
                          <a:cs typeface="Arial" panose="020B0604020202020204" pitchFamily="34" charset="0"/>
                        </a:rPr>
                        <a:t>Cảm xúc</a:t>
                      </a:r>
                    </a:p>
                  </a:txBody>
                  <a:tcPr anchor="ctr"/>
                </a:tc>
                <a:tc>
                  <a:txBody>
                    <a:bodyPr/>
                    <a:lstStyle/>
                    <a:p>
                      <a:pPr>
                        <a:buNone/>
                      </a:pPr>
                      <a:r>
                        <a:rPr lang="en-US" sz="2400" err="1">
                          <a:latin typeface="Arial" panose="020B0604020202020204" pitchFamily="34" charset="0"/>
                          <a:cs typeface="Arial" panose="020B0604020202020204" pitchFamily="34" charset="0"/>
                        </a:rPr>
                        <a:t>Tạo</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trải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nghiệm</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tích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cực</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quảng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cáo</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cảm</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xúc</a:t>
                      </a:r>
                      <a:r>
                        <a:rPr lang="en-US" sz="2400">
                          <a:latin typeface="Arial" panose="020B0604020202020204" pitchFamily="34" charset="0"/>
                          <a:cs typeface="Arial" panose="020B0604020202020204" pitchFamily="34" charset="0"/>
                        </a:rPr>
                        <a:t>, celebrity, atmosphere</a:t>
                      </a:r>
                    </a:p>
                  </a:txBody>
                  <a:tcPr anchor="ctr"/>
                </a:tc>
                <a:extLst>
                  <a:ext uri="{0D108BD9-81ED-4DB2-BD59-A6C34878D82A}">
                    <a16:rowId xmlns:a16="http://schemas.microsoft.com/office/drawing/2014/main" val="1719382863"/>
                  </a:ext>
                </a:extLst>
              </a:tr>
              <a:tr h="0">
                <a:tc>
                  <a:txBody>
                    <a:bodyPr/>
                    <a:lstStyle/>
                    <a:p>
                      <a:pPr>
                        <a:buNone/>
                      </a:pPr>
                      <a:r>
                        <a:rPr lang="en-US" sz="2400">
                          <a:latin typeface="Arial" panose="020B0604020202020204" pitchFamily="34" charset="0"/>
                          <a:cs typeface="Arial" panose="020B0604020202020204" pitchFamily="34" charset="0"/>
                        </a:rPr>
                        <a:t>Hành vi</a:t>
                      </a:r>
                    </a:p>
                  </a:txBody>
                  <a:tcPr anchor="ctr"/>
                </a:tc>
                <a:tc>
                  <a:txBody>
                    <a:bodyPr/>
                    <a:lstStyle/>
                    <a:p>
                      <a:pPr>
                        <a:buNone/>
                      </a:pPr>
                      <a:r>
                        <a:rPr lang="en-US" sz="2400" err="1">
                          <a:latin typeface="Arial" panose="020B0604020202020204" pitchFamily="34" charset="0"/>
                          <a:cs typeface="Arial" panose="020B0604020202020204" pitchFamily="34" charset="0"/>
                        </a:rPr>
                        <a:t>Khuyến</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khích</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dùng</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thử</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trải</a:t>
                      </a:r>
                      <a:r>
                        <a:rPr lang="en-US" sz="2400">
                          <a:latin typeface="Arial" panose="020B0604020202020204" pitchFamily="34" charset="0"/>
                          <a:cs typeface="Arial" panose="020B0604020202020204" pitchFamily="34" charset="0"/>
                        </a:rPr>
                        <a:t> </a:t>
                      </a:r>
                      <a:r>
                        <a:rPr lang="en-US" sz="2400" err="1">
                          <a:latin typeface="Arial" panose="020B0604020202020204" pitchFamily="34" charset="0"/>
                          <a:cs typeface="Arial" panose="020B0604020202020204" pitchFamily="34" charset="0"/>
                        </a:rPr>
                        <a:t>nghiệm</a:t>
                      </a:r>
                      <a:r>
                        <a:rPr lang="en-US" sz="2400">
                          <a:latin typeface="Arial" panose="020B0604020202020204" pitchFamily="34" charset="0"/>
                          <a:cs typeface="Arial" panose="020B0604020202020204" pitchFamily="34" charset="0"/>
                        </a:rPr>
                        <a:t>, sampling, chia </a:t>
                      </a:r>
                      <a:r>
                        <a:rPr lang="en-US" sz="2400" err="1">
                          <a:latin typeface="Arial" panose="020B0604020202020204" pitchFamily="34" charset="0"/>
                          <a:cs typeface="Arial" panose="020B0604020202020204" pitchFamily="34" charset="0"/>
                        </a:rPr>
                        <a:t>sẻ</a:t>
                      </a:r>
                      <a:r>
                        <a:rPr lang="en-US" sz="2400">
                          <a:latin typeface="Arial" panose="020B0604020202020204" pitchFamily="34" charset="0"/>
                          <a:cs typeface="Arial" panose="020B0604020202020204" pitchFamily="34" charset="0"/>
                        </a:rPr>
                        <a:t>/WOM</a:t>
                      </a:r>
                    </a:p>
                  </a:txBody>
                  <a:tcPr anchor="ctr"/>
                </a:tc>
                <a:extLst>
                  <a:ext uri="{0D108BD9-81ED-4DB2-BD59-A6C34878D82A}">
                    <a16:rowId xmlns:a16="http://schemas.microsoft.com/office/drawing/2014/main" val="1663695690"/>
                  </a:ext>
                </a:extLst>
              </a:tr>
            </a:tbl>
          </a:graphicData>
        </a:graphic>
      </p:graphicFrame>
      <p:sp>
        <p:nvSpPr>
          <p:cNvPr id="9" name="TextBox 8">
            <a:extLst>
              <a:ext uri="{FF2B5EF4-FFF2-40B4-BE49-F238E27FC236}">
                <a16:creationId xmlns:a16="http://schemas.microsoft.com/office/drawing/2014/main" id="{05DA725A-7156-5C1E-11A8-E31C6D282F2F}"/>
              </a:ext>
            </a:extLst>
          </p:cNvPr>
          <p:cNvSpPr txBox="1"/>
          <p:nvPr/>
        </p:nvSpPr>
        <p:spPr>
          <a:xfrm>
            <a:off x="928512" y="916928"/>
            <a:ext cx="8715022" cy="3170099"/>
          </a:xfrm>
          <a:prstGeom prst="rect">
            <a:avLst/>
          </a:prstGeom>
          <a:noFill/>
        </p:spPr>
        <p:txBody>
          <a:bodyPr wrap="square">
            <a:spAutoFit/>
          </a:bodyPr>
          <a:lstStyle/>
          <a:p>
            <a:pPr>
              <a:buNone/>
            </a:pPr>
            <a:r>
              <a:rPr lang="en-US" sz="2000" b="1">
                <a:latin typeface="Arial" panose="020B0604020202020204" pitchFamily="34" charset="0"/>
                <a:cs typeface="Arial" panose="020B0604020202020204" pitchFamily="34" charset="0"/>
              </a:rPr>
              <a:t>1. Thái </a:t>
            </a:r>
            <a:r>
              <a:rPr lang="en-US" sz="2000" b="1" err="1">
                <a:latin typeface="Arial" panose="020B0604020202020204" pitchFamily="34" charset="0"/>
                <a:cs typeface="Arial" panose="020B0604020202020204" pitchFamily="34" charset="0"/>
              </a:rPr>
              <a:t>độ</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được</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hình</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thành</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từ</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đâu</a:t>
            </a:r>
            <a:r>
              <a:rPr lang="en-US" sz="2000" b="1">
                <a:latin typeface="Arial" panose="020B0604020202020204" pitchFamily="34" charset="0"/>
                <a:cs typeface="Arial" panose="020B0604020202020204" pitchFamily="34" charset="0"/>
              </a:rPr>
              <a:t>?</a:t>
            </a:r>
          </a:p>
          <a:p>
            <a:pPr marL="342900" lvl="0" indent="-342900">
              <a:buFont typeface="Arial" panose="020B0604020202020204" pitchFamily="34" charset="0"/>
              <a:buChar char="•"/>
            </a:pPr>
            <a:r>
              <a:rPr lang="en-US" sz="2000" b="1">
                <a:latin typeface="Arial" panose="020B0604020202020204" pitchFamily="34" charset="0"/>
                <a:cs typeface="Arial" panose="020B0604020202020204" pitchFamily="34" charset="0"/>
              </a:rPr>
              <a:t>Kinh </a:t>
            </a:r>
            <a:r>
              <a:rPr lang="en-US" sz="2000" b="1" err="1">
                <a:latin typeface="Arial" panose="020B0604020202020204" pitchFamily="34" charset="0"/>
                <a:cs typeface="Arial" panose="020B0604020202020204" pitchFamily="34" charset="0"/>
              </a:rPr>
              <a:t>nghiệm</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bản</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thân</a:t>
            </a:r>
            <a:r>
              <a:rPr lang="en-US" sz="2000" b="1">
                <a:latin typeface="Arial" panose="020B0604020202020204" pitchFamily="34" charset="0"/>
                <a:cs typeface="Arial" panose="020B0604020202020204" pitchFamily="34" charset="0"/>
              </a:rPr>
              <a:t>:</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dùng</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thử</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trải</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nghiệm</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sản</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phẩm</a:t>
            </a:r>
            <a:r>
              <a:rPr lang="en-US" sz="2000">
                <a:latin typeface="Arial" panose="020B0604020202020204" pitchFamily="34" charset="0"/>
                <a:cs typeface="Arial" panose="020B0604020202020204" pitchFamily="34" charset="0"/>
              </a:rPr>
              <a:t>/</a:t>
            </a:r>
            <a:r>
              <a:rPr lang="en-US" sz="2000" err="1">
                <a:latin typeface="Arial" panose="020B0604020202020204" pitchFamily="34" charset="0"/>
                <a:cs typeface="Arial" panose="020B0604020202020204" pitchFamily="34" charset="0"/>
              </a:rPr>
              <a:t>dịch</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vụ</a:t>
            </a:r>
            <a:r>
              <a:rPr lang="en-US" sz="2000">
                <a:latin typeface="Arial" panose="020B0604020202020204" pitchFamily="34" charset="0"/>
                <a:cs typeface="Arial" panose="020B0604020202020204" pitchFamily="34" charset="0"/>
              </a:rPr>
              <a:t> </a:t>
            </a:r>
          </a:p>
          <a:p>
            <a:pPr marL="342900" lvl="0" indent="-342900">
              <a:buFont typeface="Arial" panose="020B0604020202020204" pitchFamily="34" charset="0"/>
              <a:buChar char="•"/>
            </a:pPr>
            <a:r>
              <a:rPr lang="en-US" sz="2000" b="1" err="1">
                <a:latin typeface="Arial" panose="020B0604020202020204" pitchFamily="34" charset="0"/>
                <a:cs typeface="Arial" panose="020B0604020202020204" pitchFamily="34" charset="0"/>
              </a:rPr>
              <a:t>Ảnh</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hưởng</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trực</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tiếp</a:t>
            </a:r>
            <a:r>
              <a:rPr lang="en-US" sz="2000" b="1">
                <a:latin typeface="Arial" panose="020B0604020202020204" pitchFamily="34" charset="0"/>
                <a:cs typeface="Arial" panose="020B0604020202020204" pitchFamily="34" charset="0"/>
              </a:rPr>
              <a:t>:</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gia</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đình</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bạn</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bè</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nhân</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viên</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bán</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hàng</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đại</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lý</a:t>
            </a:r>
            <a:r>
              <a:rPr lang="en-US" sz="2000">
                <a:latin typeface="Arial" panose="020B0604020202020204" pitchFamily="34" charset="0"/>
                <a:cs typeface="Arial" panose="020B0604020202020204" pitchFamily="34" charset="0"/>
              </a:rPr>
              <a:t> </a:t>
            </a:r>
          </a:p>
          <a:p>
            <a:pPr marL="342900" lvl="0" indent="-342900">
              <a:buFont typeface="Arial" panose="020B0604020202020204" pitchFamily="34" charset="0"/>
              <a:buChar char="•"/>
            </a:pPr>
            <a:r>
              <a:rPr lang="en-US" sz="2000" b="1" err="1">
                <a:latin typeface="Arial" panose="020B0604020202020204" pitchFamily="34" charset="0"/>
                <a:cs typeface="Arial" panose="020B0604020202020204" pitchFamily="34" charset="0"/>
              </a:rPr>
              <a:t>Ảnh</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hưởng</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gián</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tiếp</a:t>
            </a:r>
            <a:r>
              <a:rPr lang="en-US" sz="2000" b="1">
                <a:latin typeface="Arial" panose="020B0604020202020204" pitchFamily="34" charset="0"/>
                <a:cs typeface="Arial" panose="020B0604020202020204" pitchFamily="34" charset="0"/>
              </a:rPr>
              <a:t>:</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quảng</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cáo</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truyền</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thông</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người</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nổi</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tiếng</a:t>
            </a:r>
            <a:r>
              <a:rPr lang="en-US" sz="2000">
                <a:latin typeface="Arial" panose="020B0604020202020204" pitchFamily="34" charset="0"/>
                <a:cs typeface="Arial" panose="020B0604020202020204" pitchFamily="34" charset="0"/>
              </a:rPr>
              <a:t> </a:t>
            </a:r>
          </a:p>
          <a:p>
            <a:pPr marL="342900" lvl="0" indent="-342900">
              <a:buFont typeface="Arial" panose="020B0604020202020204" pitchFamily="34" charset="0"/>
              <a:buChar char="•"/>
            </a:pPr>
            <a:r>
              <a:rPr lang="en-US" sz="2000" b="1">
                <a:latin typeface="Arial" panose="020B0604020202020204" pitchFamily="34" charset="0"/>
                <a:cs typeface="Arial" panose="020B0604020202020204" pitchFamily="34" charset="0"/>
              </a:rPr>
              <a:t>Thông tin &amp; </a:t>
            </a:r>
            <a:r>
              <a:rPr lang="en-US" sz="2000" b="1" err="1">
                <a:latin typeface="Arial" panose="020B0604020202020204" pitchFamily="34" charset="0"/>
                <a:cs typeface="Arial" panose="020B0604020202020204" pitchFamily="34" charset="0"/>
              </a:rPr>
              <a:t>kiến</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thức</a:t>
            </a:r>
            <a:r>
              <a:rPr lang="en-US" sz="2000" b="1">
                <a:latin typeface="Arial" panose="020B0604020202020204" pitchFamily="34" charset="0"/>
                <a:cs typeface="Arial" panose="020B0604020202020204" pitchFamily="34" charset="0"/>
              </a:rPr>
              <a:t>:</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thuộc</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tính</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lợi</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ích</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giá</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thương</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hiệu</a:t>
            </a:r>
            <a:r>
              <a:rPr lang="en-US" sz="2000">
                <a:latin typeface="Arial" panose="020B0604020202020204" pitchFamily="34" charset="0"/>
                <a:cs typeface="Arial" panose="020B0604020202020204" pitchFamily="34" charset="0"/>
              </a:rPr>
              <a:t> </a:t>
            </a:r>
          </a:p>
          <a:p>
            <a:pPr>
              <a:buNone/>
            </a:pPr>
            <a:r>
              <a:rPr lang="en-US" sz="2000" b="1">
                <a:latin typeface="Arial" panose="020B0604020202020204" pitchFamily="34" charset="0"/>
                <a:cs typeface="Arial" panose="020B0604020202020204" pitchFamily="34" charset="0"/>
              </a:rPr>
              <a:t>2. Marketer </a:t>
            </a:r>
            <a:r>
              <a:rPr lang="en-US" sz="2000" b="1" err="1">
                <a:latin typeface="Arial" panose="020B0604020202020204" pitchFamily="34" charset="0"/>
                <a:cs typeface="Arial" panose="020B0604020202020204" pitchFamily="34" charset="0"/>
              </a:rPr>
              <a:t>có</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thể</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thay</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đổi</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thái</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độ</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bằng</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cách</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nào</a:t>
            </a:r>
            <a:r>
              <a:rPr lang="en-US" sz="2000" b="1">
                <a:latin typeface="Arial" panose="020B0604020202020204" pitchFamily="34" charset="0"/>
                <a:cs typeface="Arial" panose="020B0604020202020204" pitchFamily="34" charset="0"/>
              </a:rPr>
              <a:t>?</a:t>
            </a:r>
          </a:p>
          <a:p>
            <a:pPr>
              <a:buNone/>
            </a:pPr>
            <a:r>
              <a:rPr lang="en-US" sz="2000" b="1" err="1">
                <a:latin typeface="Arial" panose="020B0604020202020204" pitchFamily="34" charset="0"/>
                <a:cs typeface="Arial" panose="020B0604020202020204" pitchFamily="34" charset="0"/>
              </a:rPr>
              <a:t>Ngoài</a:t>
            </a:r>
            <a:r>
              <a:rPr lang="en-US" sz="2000" b="1">
                <a:latin typeface="Arial" panose="020B0604020202020204" pitchFamily="34" charset="0"/>
                <a:cs typeface="Arial" panose="020B0604020202020204" pitchFamily="34" charset="0"/>
              </a:rPr>
              <a:t> </a:t>
            </a:r>
            <a:r>
              <a:rPr lang="en-US" sz="2000" b="1" err="1">
                <a:latin typeface="Arial" panose="020B0604020202020204" pitchFamily="34" charset="0"/>
                <a:cs typeface="Arial" panose="020B0604020202020204" pitchFamily="34" charset="0"/>
              </a:rPr>
              <a:t>ra</a:t>
            </a:r>
            <a:r>
              <a:rPr lang="en-US" sz="2000" b="1">
                <a:latin typeface="Arial" panose="020B0604020202020204" pitchFamily="34" charset="0"/>
                <a:cs typeface="Arial" panose="020B0604020202020204" pitchFamily="34" charset="0"/>
              </a:rPr>
              <a:t>:</a:t>
            </a:r>
            <a:endParaRPr lang="en-US" sz="200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sz="2000" err="1">
                <a:latin typeface="Arial" panose="020B0604020202020204" pitchFamily="34" charset="0"/>
                <a:cs typeface="Arial" panose="020B0604020202020204" pitchFamily="34" charset="0"/>
              </a:rPr>
              <a:t>Cải</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tiến</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sản</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phẩm</a:t>
            </a:r>
            <a:r>
              <a:rPr lang="en-US" sz="2000">
                <a:latin typeface="Arial" panose="020B0604020202020204" pitchFamily="34" charset="0"/>
                <a:cs typeface="Arial" panose="020B0604020202020204" pitchFamily="34" charset="0"/>
              </a:rPr>
              <a:t> / </a:t>
            </a:r>
            <a:r>
              <a:rPr lang="en-US" sz="2000" err="1">
                <a:latin typeface="Arial" panose="020B0604020202020204" pitchFamily="34" charset="0"/>
                <a:cs typeface="Arial" panose="020B0604020202020204" pitchFamily="34" charset="0"/>
              </a:rPr>
              <a:t>gia</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tăng</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giá</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trị</a:t>
            </a:r>
            <a:r>
              <a:rPr lang="en-US" sz="2000">
                <a:latin typeface="Arial" panose="020B0604020202020204" pitchFamily="34" charset="0"/>
                <a:cs typeface="Arial" panose="020B0604020202020204" pitchFamily="34" charset="0"/>
              </a:rPr>
              <a:t> </a:t>
            </a:r>
          </a:p>
          <a:p>
            <a:pPr marL="342900" lvl="0" indent="-342900">
              <a:buFont typeface="Arial" panose="020B0604020202020204" pitchFamily="34" charset="0"/>
              <a:buChar char="•"/>
            </a:pPr>
            <a:r>
              <a:rPr lang="en-US" sz="2000">
                <a:latin typeface="Arial" panose="020B0604020202020204" pitchFamily="34" charset="0"/>
                <a:cs typeface="Arial" panose="020B0604020202020204" pitchFamily="34" charset="0"/>
              </a:rPr>
              <a:t>Thay </a:t>
            </a:r>
            <a:r>
              <a:rPr lang="en-US" sz="2000" err="1">
                <a:latin typeface="Arial" panose="020B0604020202020204" pitchFamily="34" charset="0"/>
                <a:cs typeface="Arial" panose="020B0604020202020204" pitchFamily="34" charset="0"/>
              </a:rPr>
              <a:t>đổi</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tiêu</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chí</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khách</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hàng</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dùng</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để</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đánh</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giá</a:t>
            </a:r>
            <a:r>
              <a:rPr lang="en-US" sz="2000">
                <a:latin typeface="Arial" panose="020B0604020202020204" pitchFamily="34" charset="0"/>
                <a:cs typeface="Arial" panose="020B0604020202020204" pitchFamily="34" charset="0"/>
              </a:rPr>
              <a:t> </a:t>
            </a:r>
          </a:p>
          <a:p>
            <a:pPr marL="342900" lvl="0" indent="-342900">
              <a:buFont typeface="Arial" panose="020B0604020202020204" pitchFamily="34" charset="0"/>
              <a:buChar char="•"/>
            </a:pPr>
            <a:r>
              <a:rPr lang="en-US" sz="2000">
                <a:latin typeface="Arial" panose="020B0604020202020204" pitchFamily="34" charset="0"/>
                <a:cs typeface="Arial" panose="020B0604020202020204" pitchFamily="34" charset="0"/>
              </a:rPr>
              <a:t>Tái </a:t>
            </a:r>
            <a:r>
              <a:rPr lang="en-US" sz="2000" err="1">
                <a:latin typeface="Arial" panose="020B0604020202020204" pitchFamily="34" charset="0"/>
                <a:cs typeface="Arial" panose="020B0604020202020204" pitchFamily="34" charset="0"/>
              </a:rPr>
              <a:t>định</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vị</a:t>
            </a:r>
            <a:r>
              <a:rPr lang="en-US" sz="2000">
                <a:latin typeface="Arial" panose="020B0604020202020204" pitchFamily="34" charset="0"/>
                <a:cs typeface="Arial" panose="020B0604020202020204" pitchFamily="34" charset="0"/>
              </a:rPr>
              <a:t> so </a:t>
            </a:r>
            <a:r>
              <a:rPr lang="en-US" sz="2000" err="1">
                <a:latin typeface="Arial" panose="020B0604020202020204" pitchFamily="34" charset="0"/>
                <a:cs typeface="Arial" panose="020B0604020202020204" pitchFamily="34" charset="0"/>
              </a:rPr>
              <a:t>với</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đối</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thủ</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cạnh</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tranh</a:t>
            </a: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818848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378" y="210079"/>
            <a:ext cx="10226322" cy="1275821"/>
          </a:xfrm>
        </p:spPr>
        <p:txBody>
          <a:bodyPr vert="horz" lIns="91440" tIns="45720" rIns="91440" bIns="45720" rtlCol="0" anchor="b">
            <a:noAutofit/>
          </a:bodyPr>
          <a:lstStyle/>
          <a:p>
            <a:r>
              <a:rPr lang="en-US" sz="3200" b="1" u="none" strike="noStrike" spc="0">
                <a:effectLst/>
                <a:latin typeface="Arial" panose="020B0604020202020204" pitchFamily="34" charset="0"/>
                <a:cs typeface="Arial" panose="020B0604020202020204" pitchFamily="34" charset="0"/>
              </a:rPr>
              <a:t>3.4.7 </a:t>
            </a:r>
            <a:r>
              <a:rPr lang="en-US" sz="3200" b="1" u="none" strike="noStrike" kern="1200" spc="0">
                <a:solidFill>
                  <a:schemeClr val="tx1"/>
                </a:solidFill>
                <a:effectLst/>
                <a:latin typeface="Arial" panose="020B0604020202020204" pitchFamily="34" charset="0"/>
                <a:cs typeface="Arial" panose="020B0604020202020204" pitchFamily="34" charset="0"/>
              </a:rPr>
              <a:t>Các </a:t>
            </a:r>
            <a:r>
              <a:rPr lang="en-US" sz="3200" b="1" u="none" strike="noStrike" kern="1200" spc="0" err="1">
                <a:solidFill>
                  <a:schemeClr val="tx1"/>
                </a:solidFill>
                <a:effectLst/>
                <a:latin typeface="Arial" panose="020B0604020202020204" pitchFamily="34" charset="0"/>
                <a:cs typeface="Arial" panose="020B0604020202020204" pitchFamily="34" charset="0"/>
              </a:rPr>
              <a:t>đặc</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tính</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thông</a:t>
            </a:r>
            <a:r>
              <a:rPr lang="en-US" sz="3200" b="1" u="none" strike="noStrike" kern="1200" spc="0">
                <a:solidFill>
                  <a:schemeClr val="tx1"/>
                </a:solidFill>
                <a:effectLst/>
                <a:latin typeface="Arial" panose="020B0604020202020204" pitchFamily="34" charset="0"/>
                <a:cs typeface="Arial" panose="020B0604020202020204" pitchFamily="34" charset="0"/>
              </a:rPr>
              <a:t> tin </a:t>
            </a:r>
            <a:r>
              <a:rPr lang="en-US" sz="3200" b="1" u="none" strike="noStrike" kern="1200" spc="0" err="1">
                <a:solidFill>
                  <a:schemeClr val="tx1"/>
                </a:solidFill>
                <a:effectLst/>
                <a:latin typeface="Arial" panose="020B0604020202020204" pitchFamily="34" charset="0"/>
                <a:cs typeface="Arial" panose="020B0604020202020204" pitchFamily="34" charset="0"/>
              </a:rPr>
              <a:t>có</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thể</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ảnh</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hưởng</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đến</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sự</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hìn</a:t>
            </a:r>
            <a:r>
              <a:rPr lang="en-US" sz="3200" b="1" err="1">
                <a:latin typeface="Arial" panose="020B0604020202020204" pitchFamily="34" charset="0"/>
                <a:cs typeface="Arial" panose="020B0604020202020204" pitchFamily="34" charset="0"/>
              </a:rPr>
              <a:t>h</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thành</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và</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thay</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đổi</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thái</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độ</a:t>
            </a:r>
            <a:endParaRPr lang="en-US" sz="3200" kern="1200">
              <a:solidFill>
                <a:schemeClr val="tx1"/>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5E0B1228-CF73-2E4F-B32A-DC68DD22C261}"/>
              </a:ext>
            </a:extLst>
          </p:cNvPr>
          <p:cNvSpPr>
            <a:spLocks noGrp="1"/>
          </p:cNvSpPr>
          <p:nvPr>
            <p:ph idx="1"/>
          </p:nvPr>
        </p:nvSpPr>
        <p:spPr/>
        <p:txBody>
          <a:bodyPr>
            <a:noAutofit/>
          </a:bodyPr>
          <a:lstStyle/>
          <a:p>
            <a:pPr algn="just">
              <a:lnSpc>
                <a:spcPct val="150000"/>
              </a:lnSpc>
              <a:spcBef>
                <a:spcPts val="0"/>
              </a:spcBef>
              <a:buFont typeface="Wingdings" pitchFamily="2" charset="2"/>
              <a:buChar char="Ø"/>
            </a:pPr>
            <a:r>
              <a:rPr lang="vi-VN" sz="3000"/>
              <a:t> Nguồn thông tin</a:t>
            </a:r>
          </a:p>
          <a:p>
            <a:pPr algn="just">
              <a:lnSpc>
                <a:spcPct val="150000"/>
              </a:lnSpc>
              <a:spcBef>
                <a:spcPts val="0"/>
              </a:spcBef>
              <a:buFont typeface="Wingdings" pitchFamily="2" charset="2"/>
              <a:buChar char="Ø"/>
            </a:pPr>
            <a:r>
              <a:rPr lang="vi-VN" sz="3000"/>
              <a:t> Nguồn thông tin có thể tin cậy được</a:t>
            </a:r>
          </a:p>
          <a:p>
            <a:pPr algn="just">
              <a:lnSpc>
                <a:spcPct val="150000"/>
              </a:lnSpc>
              <a:spcBef>
                <a:spcPts val="0"/>
              </a:spcBef>
              <a:buFont typeface="Wingdings" pitchFamily="2" charset="2"/>
              <a:buChar char="Ø"/>
            </a:pPr>
            <a:r>
              <a:rPr lang="vi-VN" sz="3000"/>
              <a:t> Những người có uy tín và nổi tiếng</a:t>
            </a:r>
            <a:endParaRPr lang="en-VN" sz="3000"/>
          </a:p>
          <a:p>
            <a:pPr algn="just">
              <a:lnSpc>
                <a:spcPct val="150000"/>
              </a:lnSpc>
              <a:spcBef>
                <a:spcPts val="0"/>
              </a:spcBef>
              <a:buFont typeface="Wingdings" pitchFamily="2" charset="2"/>
              <a:buChar char="Ø"/>
            </a:pPr>
            <a:endParaRPr lang="vi-VN" sz="3000"/>
          </a:p>
        </p:txBody>
      </p:sp>
      <p:sp>
        <p:nvSpPr>
          <p:cNvPr id="4" name="Rectangle 2">
            <a:extLst>
              <a:ext uri="{FF2B5EF4-FFF2-40B4-BE49-F238E27FC236}">
                <a16:creationId xmlns:a16="http://schemas.microsoft.com/office/drawing/2014/main" id="{E9A4A7E3-8FDB-284E-8D95-4B67EF14F60E}"/>
              </a:ext>
            </a:extLst>
          </p:cNvPr>
          <p:cNvSpPr>
            <a:spLocks noChangeArrowheads="1"/>
          </p:cNvSpPr>
          <p:nvPr/>
        </p:nvSpPr>
        <p:spPr bwMode="auto">
          <a:xfrm flipV="1">
            <a:off x="3858447" y="2903837"/>
            <a:ext cx="1357281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spTree>
    <p:extLst>
      <p:ext uri="{BB962C8B-B14F-4D97-AF65-F5344CB8AC3E}">
        <p14:creationId xmlns:p14="http://schemas.microsoft.com/office/powerpoint/2010/main" val="28748637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823" y="184502"/>
            <a:ext cx="10080977" cy="1402998"/>
          </a:xfrm>
        </p:spPr>
        <p:txBody>
          <a:bodyPr vert="horz" lIns="91440" tIns="45720" rIns="91440" bIns="45720" rtlCol="0" anchor="b">
            <a:noAutofit/>
          </a:bodyPr>
          <a:lstStyle/>
          <a:p>
            <a:r>
              <a:rPr lang="en-US" sz="3200" b="1" u="none" strike="noStrike" kern="1200" spc="0">
                <a:solidFill>
                  <a:schemeClr val="tx1"/>
                </a:solidFill>
                <a:effectLst/>
                <a:latin typeface="Arial" panose="020B0604020202020204" pitchFamily="34" charset="0"/>
                <a:cs typeface="Arial" panose="020B0604020202020204" pitchFamily="34" charset="0"/>
              </a:rPr>
              <a:t>3.4.</a:t>
            </a:r>
            <a:r>
              <a:rPr lang="en-US" sz="3200" b="1">
                <a:latin typeface="Arial" panose="020B0604020202020204" pitchFamily="34" charset="0"/>
                <a:cs typeface="Arial" panose="020B0604020202020204" pitchFamily="34" charset="0"/>
              </a:rPr>
              <a:t>7</a:t>
            </a:r>
            <a:r>
              <a:rPr lang="en-US" sz="3200" b="1" u="none" strike="noStrike" kern="1200" spc="0">
                <a:solidFill>
                  <a:schemeClr val="tx1"/>
                </a:solidFill>
                <a:effectLst/>
                <a:latin typeface="Arial" panose="020B0604020202020204" pitchFamily="34" charset="0"/>
                <a:cs typeface="Arial" panose="020B0604020202020204" pitchFamily="34" charset="0"/>
              </a:rPr>
              <a:t> Các </a:t>
            </a:r>
            <a:r>
              <a:rPr lang="en-US" sz="3200" b="1" u="none" strike="noStrike" kern="1200" spc="0" err="1">
                <a:solidFill>
                  <a:schemeClr val="tx1"/>
                </a:solidFill>
                <a:effectLst/>
                <a:latin typeface="Arial" panose="020B0604020202020204" pitchFamily="34" charset="0"/>
                <a:cs typeface="Arial" panose="020B0604020202020204" pitchFamily="34" charset="0"/>
              </a:rPr>
              <a:t>đặc</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tính</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thông</a:t>
            </a:r>
            <a:r>
              <a:rPr lang="en-US" sz="3200" b="1" u="none" strike="noStrike" kern="1200" spc="0">
                <a:solidFill>
                  <a:schemeClr val="tx1"/>
                </a:solidFill>
                <a:effectLst/>
                <a:latin typeface="Arial" panose="020B0604020202020204" pitchFamily="34" charset="0"/>
                <a:cs typeface="Arial" panose="020B0604020202020204" pitchFamily="34" charset="0"/>
              </a:rPr>
              <a:t> tin </a:t>
            </a:r>
            <a:r>
              <a:rPr lang="en-US" sz="3200" b="1" u="none" strike="noStrike" kern="1200" spc="0" err="1">
                <a:solidFill>
                  <a:schemeClr val="tx1"/>
                </a:solidFill>
                <a:effectLst/>
                <a:latin typeface="Arial" panose="020B0604020202020204" pitchFamily="34" charset="0"/>
                <a:cs typeface="Arial" panose="020B0604020202020204" pitchFamily="34" charset="0"/>
              </a:rPr>
              <a:t>có</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thể</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ảnh</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hưởng</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đến</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sự</a:t>
            </a:r>
            <a:r>
              <a:rPr lang="en-US" sz="3200" b="1" u="none" strike="noStrike" kern="1200" spc="0">
                <a:solidFill>
                  <a:schemeClr val="tx1"/>
                </a:solidFill>
                <a:effectLst/>
                <a:latin typeface="Arial" panose="020B0604020202020204" pitchFamily="34" charset="0"/>
                <a:cs typeface="Arial" panose="020B0604020202020204" pitchFamily="34" charset="0"/>
              </a:rPr>
              <a:t> </a:t>
            </a:r>
            <a:r>
              <a:rPr lang="en-US" sz="3200" b="1" u="none" strike="noStrike" kern="1200" spc="0" err="1">
                <a:solidFill>
                  <a:schemeClr val="tx1"/>
                </a:solidFill>
                <a:effectLst/>
                <a:latin typeface="Arial" panose="020B0604020202020204" pitchFamily="34" charset="0"/>
                <a:cs typeface="Arial" panose="020B0604020202020204" pitchFamily="34" charset="0"/>
              </a:rPr>
              <a:t>hìn</a:t>
            </a:r>
            <a:r>
              <a:rPr lang="en-US" sz="3200" b="1" err="1">
                <a:latin typeface="Arial" panose="020B0604020202020204" pitchFamily="34" charset="0"/>
                <a:cs typeface="Arial" panose="020B0604020202020204" pitchFamily="34" charset="0"/>
              </a:rPr>
              <a:t>h</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thành</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và</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thay</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đổi</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thái</a:t>
            </a:r>
            <a:r>
              <a:rPr lang="en-US" sz="3200" b="1">
                <a:latin typeface="Arial" panose="020B0604020202020204" pitchFamily="34" charset="0"/>
                <a:cs typeface="Arial" panose="020B0604020202020204" pitchFamily="34" charset="0"/>
              </a:rPr>
              <a:t> </a:t>
            </a:r>
            <a:r>
              <a:rPr lang="en-US" sz="3200" b="1" err="1">
                <a:latin typeface="Arial" panose="020B0604020202020204" pitchFamily="34" charset="0"/>
                <a:cs typeface="Arial" panose="020B0604020202020204" pitchFamily="34" charset="0"/>
              </a:rPr>
              <a:t>độ</a:t>
            </a:r>
            <a:endParaRPr lang="en-US" sz="3200" kern="1200">
              <a:solidFill>
                <a:schemeClr val="tx1"/>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5E0B1228-CF73-2E4F-B32A-DC68DD22C261}"/>
              </a:ext>
            </a:extLst>
          </p:cNvPr>
          <p:cNvSpPr>
            <a:spLocks noGrp="1"/>
          </p:cNvSpPr>
          <p:nvPr>
            <p:ph idx="1"/>
          </p:nvPr>
        </p:nvSpPr>
        <p:spPr>
          <a:xfrm>
            <a:off x="646289" y="1825625"/>
            <a:ext cx="10515600" cy="4351338"/>
          </a:xfrm>
        </p:spPr>
        <p:txBody>
          <a:bodyPr>
            <a:noAutofit/>
          </a:bodyPr>
          <a:lstStyle/>
          <a:p>
            <a:pPr algn="just">
              <a:lnSpc>
                <a:spcPct val="150000"/>
              </a:lnSpc>
              <a:spcBef>
                <a:spcPts val="0"/>
              </a:spcBef>
              <a:buFont typeface="Wingdings" pitchFamily="2" charset="2"/>
              <a:buChar char="Ø"/>
            </a:pPr>
            <a:r>
              <a:rPr lang="vi-VN">
                <a:latin typeface="+mn-lt"/>
              </a:rPr>
              <a:t>Sự khơi dậy cảm xúc</a:t>
            </a:r>
          </a:p>
          <a:p>
            <a:pPr lvl="1" algn="just">
              <a:lnSpc>
                <a:spcPct val="150000"/>
              </a:lnSpc>
              <a:spcBef>
                <a:spcPts val="0"/>
              </a:spcBef>
              <a:buFont typeface="Wingdings" pitchFamily="2" charset="2"/>
              <a:buChar char="Ø"/>
            </a:pPr>
            <a:r>
              <a:rPr lang="vi-VN" sz="2800">
                <a:latin typeface="+mn-lt"/>
              </a:rPr>
              <a:t> Khơi dậy sự lo lắng</a:t>
            </a:r>
          </a:p>
          <a:p>
            <a:pPr lvl="1" algn="just">
              <a:lnSpc>
                <a:spcPct val="150000"/>
              </a:lnSpc>
              <a:spcBef>
                <a:spcPts val="0"/>
              </a:spcBef>
              <a:buFont typeface="Wingdings" pitchFamily="2" charset="2"/>
              <a:buChar char="Ø"/>
            </a:pPr>
            <a:r>
              <a:rPr lang="vi-VN" sz="2800">
                <a:latin typeface="+mn-lt"/>
              </a:rPr>
              <a:t> Khơi dậy sự hài hước, vui vẻ</a:t>
            </a:r>
          </a:p>
          <a:p>
            <a:pPr lvl="1" algn="just">
              <a:lnSpc>
                <a:spcPct val="150000"/>
              </a:lnSpc>
              <a:spcBef>
                <a:spcPts val="0"/>
              </a:spcBef>
              <a:buFont typeface="Wingdings" pitchFamily="2" charset="2"/>
              <a:buChar char="Ø"/>
            </a:pPr>
            <a:r>
              <a:rPr lang="vi-VN" sz="2800">
                <a:latin typeface="+mn-lt"/>
              </a:rPr>
              <a:t> Khơi dậy sự so sánh</a:t>
            </a:r>
          </a:p>
          <a:p>
            <a:pPr lvl="1" algn="just">
              <a:lnSpc>
                <a:spcPct val="150000"/>
              </a:lnSpc>
              <a:spcBef>
                <a:spcPts val="0"/>
              </a:spcBef>
              <a:buFont typeface="Wingdings" pitchFamily="2" charset="2"/>
              <a:buChar char="Ø"/>
            </a:pPr>
            <a:r>
              <a:rPr lang="vi-VN" sz="2800">
                <a:latin typeface="+mn-lt"/>
              </a:rPr>
              <a:t> Khơi dậy cảm xúc trong quảng cáo</a:t>
            </a:r>
          </a:p>
          <a:p>
            <a:pPr lvl="1" algn="just">
              <a:lnSpc>
                <a:spcPct val="150000"/>
              </a:lnSpc>
              <a:spcBef>
                <a:spcPts val="0"/>
              </a:spcBef>
              <a:buFont typeface="Wingdings" pitchFamily="2" charset="2"/>
              <a:buChar char="Ø"/>
            </a:pPr>
            <a:r>
              <a:rPr lang="vi-VN" sz="2800">
                <a:latin typeface="+mn-lt"/>
              </a:rPr>
              <a:t> Khơi dậy các giá trị thể hiện</a:t>
            </a:r>
          </a:p>
          <a:p>
            <a:pPr marL="0" indent="0" algn="just">
              <a:lnSpc>
                <a:spcPct val="150000"/>
              </a:lnSpc>
              <a:spcBef>
                <a:spcPts val="0"/>
              </a:spcBef>
              <a:buNone/>
            </a:pPr>
            <a:endParaRPr lang="en-VN"/>
          </a:p>
          <a:p>
            <a:pPr algn="just">
              <a:lnSpc>
                <a:spcPct val="150000"/>
              </a:lnSpc>
              <a:spcBef>
                <a:spcPts val="0"/>
              </a:spcBef>
              <a:buFont typeface="Wingdings" pitchFamily="2" charset="2"/>
              <a:buChar char="Ø"/>
            </a:pPr>
            <a:endParaRPr lang="vi-VN"/>
          </a:p>
        </p:txBody>
      </p:sp>
      <p:sp>
        <p:nvSpPr>
          <p:cNvPr id="4" name="Rectangle 2">
            <a:extLst>
              <a:ext uri="{FF2B5EF4-FFF2-40B4-BE49-F238E27FC236}">
                <a16:creationId xmlns:a16="http://schemas.microsoft.com/office/drawing/2014/main" id="{E9A4A7E3-8FDB-284E-8D95-4B67EF14F60E}"/>
              </a:ext>
            </a:extLst>
          </p:cNvPr>
          <p:cNvSpPr>
            <a:spLocks noChangeArrowheads="1"/>
          </p:cNvSpPr>
          <p:nvPr/>
        </p:nvSpPr>
        <p:spPr bwMode="auto">
          <a:xfrm flipV="1">
            <a:off x="3858447" y="2903837"/>
            <a:ext cx="1357281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spTree>
    <p:extLst>
      <p:ext uri="{BB962C8B-B14F-4D97-AF65-F5344CB8AC3E}">
        <p14:creationId xmlns:p14="http://schemas.microsoft.com/office/powerpoint/2010/main" val="333873242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1F1A1-698B-0DAD-2058-53B938D24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D4F190-0990-47A3-835C-112607406A52}"/>
              </a:ext>
            </a:extLst>
          </p:cNvPr>
          <p:cNvSpPr>
            <a:spLocks noGrp="1"/>
          </p:cNvSpPr>
          <p:nvPr>
            <p:ph type="title"/>
          </p:nvPr>
        </p:nvSpPr>
        <p:spPr>
          <a:xfrm>
            <a:off x="550334" y="-430742"/>
            <a:ext cx="10515600" cy="1325563"/>
          </a:xfrm>
        </p:spPr>
        <p:txBody>
          <a:bodyPr vert="horz" lIns="91440" tIns="45720" rIns="91440" bIns="45720" rtlCol="0" anchor="b">
            <a:noAutofit/>
          </a:bodyPr>
          <a:lstStyle/>
          <a:p>
            <a:r>
              <a:rPr lang="en-US" sz="3200" b="1" u="none" strike="noStrike" kern="1200" spc="0">
                <a:solidFill>
                  <a:schemeClr val="tx1"/>
                </a:solidFill>
                <a:effectLst/>
                <a:latin typeface="Arial" panose="020B0604020202020204" pitchFamily="34" charset="0"/>
                <a:cs typeface="Arial" panose="020B0604020202020204" pitchFamily="34" charset="0"/>
              </a:rPr>
              <a:t>CÂU HỎI THẢO LUẬN</a:t>
            </a:r>
            <a:endParaRPr lang="en-US" sz="3200" kern="1200">
              <a:solidFill>
                <a:schemeClr val="tx1"/>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C66D7A9D-E578-77B0-ACA4-8011F866FEF8}"/>
              </a:ext>
            </a:extLst>
          </p:cNvPr>
          <p:cNvSpPr>
            <a:spLocks noGrp="1"/>
          </p:cNvSpPr>
          <p:nvPr>
            <p:ph idx="1"/>
          </p:nvPr>
        </p:nvSpPr>
        <p:spPr>
          <a:xfrm>
            <a:off x="35282" y="1679820"/>
            <a:ext cx="11545704" cy="4183174"/>
          </a:xfrm>
        </p:spPr>
        <p:txBody>
          <a:bodyPr>
            <a:noAutofit/>
          </a:bodyPr>
          <a:lstStyle/>
          <a:p>
            <a:pPr marL="628650" lvl="0" indent="-514350" algn="just">
              <a:buFont typeface="+mj-lt"/>
              <a:buAutoNum type="arabicPeriod"/>
            </a:pPr>
            <a:r>
              <a:rPr lang="en-US">
                <a:latin typeface="Arial" panose="020B0604020202020204" pitchFamily="34" charset="0"/>
                <a:cs typeface="Arial" panose="020B0604020202020204" pitchFamily="34" charset="0"/>
              </a:rPr>
              <a:t>Marketer </a:t>
            </a:r>
            <a:r>
              <a:rPr lang="en-US" err="1">
                <a:latin typeface="Arial" panose="020B0604020202020204" pitchFamily="34" charset="0"/>
                <a:cs typeface="Arial" panose="020B0604020202020204" pitchFamily="34" charset="0"/>
              </a:rPr>
              <a:t>có</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thể</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tạo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ra</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cầu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mới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người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tiêu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dùng</a:t>
            </a:r>
            <a:r>
              <a:rPr lang="en-US">
                <a:latin typeface="Arial" panose="020B0604020202020204" pitchFamily="34" charset="0"/>
                <a:cs typeface="Arial" panose="020B0604020202020204" pitchFamily="34" charset="0"/>
              </a:rPr>
              <a:t> hay </a:t>
            </a:r>
            <a:r>
              <a:rPr lang="en-US" err="1">
                <a:latin typeface="Arial" panose="020B0604020202020204" pitchFamily="34" charset="0"/>
                <a:cs typeface="Arial" panose="020B0604020202020204" pitchFamily="34" charset="0"/>
              </a:rPr>
              <a:t>chỉ</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có</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thể</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kích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thích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cầu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đã</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tồn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tại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Hãy</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giải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thích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ví</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dụ</a:t>
            </a:r>
            <a:r>
              <a:rPr lang="en-US">
                <a:latin typeface="Arial" panose="020B0604020202020204" pitchFamily="34" charset="0"/>
                <a:cs typeface="Arial" panose="020B0604020202020204" pitchFamily="34" charset="0"/>
              </a:rPr>
              <a:t>. </a:t>
            </a:r>
          </a:p>
          <a:p>
            <a:pPr marL="628650" lvl="0" indent="-514350" algn="just">
              <a:buFont typeface="+mj-lt"/>
              <a:buAutoNum type="arabicPeriod"/>
            </a:pPr>
            <a:r>
              <a:rPr lang="en-US" err="1">
                <a:latin typeface="Arial" panose="020B0604020202020204" pitchFamily="34" charset="0"/>
                <a:cs typeface="Arial" panose="020B0604020202020204" pitchFamily="34" charset="0"/>
              </a:rPr>
              <a:t>Tại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sao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hai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người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tiếp</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xúc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với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cùng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một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sản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phẩm</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hoặc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quảng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cáo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nhưng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lại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có</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thể</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hình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thành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nhận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thức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hoàn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toàn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khác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nhau</a:t>
            </a:r>
            <a:r>
              <a:rPr lang="en-US">
                <a:latin typeface="Arial" panose="020B0604020202020204" pitchFamily="34" charset="0"/>
                <a:cs typeface="Arial" panose="020B0604020202020204" pitchFamily="34" charset="0"/>
              </a:rPr>
              <a:t>? </a:t>
            </a:r>
          </a:p>
          <a:p>
            <a:pPr marL="628650" lvl="0" indent="-514350" algn="just">
              <a:buFont typeface="+mj-lt"/>
              <a:buAutoNum type="arabicPeriod"/>
            </a:pPr>
            <a:r>
              <a:rPr lang="en-US" err="1">
                <a:latin typeface="Arial" panose="020B0604020202020204" pitchFamily="34" charset="0"/>
                <a:cs typeface="Arial" panose="020B0604020202020204" pitchFamily="34" charset="0"/>
              </a:rPr>
              <a:t>Hãy</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chọn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một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thương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hiệu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bạn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thường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xuyên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sử</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dụng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Quá</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trình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học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hỏi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trải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nghiệm</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đã</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ảnh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hưởng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như</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thế</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nào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đến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việc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bạn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tiếp</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tục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lựa</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chọn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thương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hiệu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đó</a:t>
            </a:r>
            <a:r>
              <a:rPr lang="en-US">
                <a:latin typeface="Arial" panose="020B0604020202020204" pitchFamily="34" charset="0"/>
                <a:cs typeface="Arial" panose="020B0604020202020204" pitchFamily="34" charset="0"/>
              </a:rPr>
              <a:t>? </a:t>
            </a:r>
          </a:p>
          <a:p>
            <a:pPr marL="628650" lvl="0" indent="-514350" algn="just">
              <a:buFont typeface="+mj-lt"/>
              <a:buAutoNum type="arabicPeriod"/>
            </a:pPr>
            <a:r>
              <a:rPr lang="en-US" err="1">
                <a:latin typeface="Arial" panose="020B0604020202020204" pitchFamily="34" charset="0"/>
                <a:cs typeface="Arial" panose="020B0604020202020204" pitchFamily="34" charset="0"/>
              </a:rPr>
              <a:t>Một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khách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hàng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có</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thể</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nói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Tôi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rất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thích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thương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hiệu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này</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nhưng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vẫn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không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mua</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Hãy</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giải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thích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khoảng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cách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giữa</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thái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độ</a:t>
            </a:r>
            <a:r>
              <a:rPr lang="en-US">
                <a:latin typeface="Arial" panose="020B0604020202020204" pitchFamily="34" charset="0"/>
                <a:cs typeface="Arial" panose="020B0604020202020204" pitchFamily="34" charset="0"/>
              </a:rPr>
              <a:t> – ý </a:t>
            </a:r>
            <a:r>
              <a:rPr lang="en-US" err="1">
                <a:latin typeface="Arial" panose="020B0604020202020204" pitchFamily="34" charset="0"/>
                <a:cs typeface="Arial" panose="020B0604020202020204" pitchFamily="34" charset="0"/>
              </a:rPr>
              <a:t>định</a:t>
            </a:r>
            <a:r>
              <a:rPr lang="en-US">
                <a:latin typeface="Arial" panose="020B0604020202020204" pitchFamily="34" charset="0"/>
                <a:cs typeface="Arial" panose="020B0604020202020204" pitchFamily="34" charset="0"/>
              </a:rPr>
              <a:t> – </a:t>
            </a:r>
            <a:r>
              <a:rPr lang="en-US" err="1">
                <a:latin typeface="Arial" panose="020B0604020202020204" pitchFamily="34" charset="0"/>
                <a:cs typeface="Arial" panose="020B0604020202020204" pitchFamily="34" charset="0"/>
              </a:rPr>
              <a:t>hành</a:t>
            </a:r>
            <a:r>
              <a:rPr lang="en-US">
                <a:latin typeface="Arial" panose="020B0604020202020204" pitchFamily="34" charset="0"/>
                <a:cs typeface="Arial" panose="020B0604020202020204" pitchFamily="34" charset="0"/>
              </a:rPr>
              <a:t> vi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đề</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xuất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cách</a:t>
            </a:r>
            <a:r>
              <a:rPr lang="en-US">
                <a:latin typeface="Arial" panose="020B0604020202020204" pitchFamily="34" charset="0"/>
                <a:cs typeface="Arial" panose="020B0604020202020204" pitchFamily="34" charset="0"/>
              </a:rPr>
              <a:t> marketer </a:t>
            </a:r>
            <a:r>
              <a:rPr lang="en-US" err="1">
                <a:latin typeface="Arial" panose="020B0604020202020204" pitchFamily="34" charset="0"/>
                <a:cs typeface="Arial" panose="020B0604020202020204" pitchFamily="34" charset="0"/>
              </a:rPr>
              <a:t>có</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thể</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tác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động</a:t>
            </a:r>
            <a:r>
              <a:rPr lang="en-US">
                <a:latin typeface="Arial" panose="020B0604020202020204" pitchFamily="34" charset="0"/>
                <a:cs typeface="Arial" panose="020B0604020202020204" pitchFamily="34" charset="0"/>
              </a:rPr>
              <a:t>.</a:t>
            </a:r>
          </a:p>
          <a:p>
            <a:pPr marL="0" indent="0" algn="just">
              <a:lnSpc>
                <a:spcPct val="150000"/>
              </a:lnSpc>
              <a:spcBef>
                <a:spcPts val="0"/>
              </a:spcBef>
              <a:buNone/>
            </a:pPr>
            <a:endParaRPr lang="en-VN">
              <a:latin typeface="Arial" panose="020B0604020202020204" pitchFamily="34" charset="0"/>
              <a:cs typeface="Arial" panose="020B0604020202020204" pitchFamily="34" charset="0"/>
            </a:endParaRPr>
          </a:p>
          <a:p>
            <a:pPr algn="just">
              <a:lnSpc>
                <a:spcPct val="150000"/>
              </a:lnSpc>
              <a:spcBef>
                <a:spcPts val="0"/>
              </a:spcBef>
              <a:buFont typeface="Wingdings" pitchFamily="2" charset="2"/>
              <a:buChar char="Ø"/>
            </a:pPr>
            <a:endParaRPr lang="vi-VN">
              <a:latin typeface="Arial" panose="020B0604020202020204" pitchFamily="34" charset="0"/>
              <a:cs typeface="Arial" panose="020B0604020202020204" pitchFamily="34" charset="0"/>
            </a:endParaRPr>
          </a:p>
        </p:txBody>
      </p:sp>
      <p:sp>
        <p:nvSpPr>
          <p:cNvPr id="4" name="Rectangle 2">
            <a:extLst>
              <a:ext uri="{FF2B5EF4-FFF2-40B4-BE49-F238E27FC236}">
                <a16:creationId xmlns:a16="http://schemas.microsoft.com/office/drawing/2014/main" id="{2ED71712-E6DA-C859-0EFC-A9773AA70D72}"/>
              </a:ext>
            </a:extLst>
          </p:cNvPr>
          <p:cNvSpPr>
            <a:spLocks noChangeArrowheads="1"/>
          </p:cNvSpPr>
          <p:nvPr/>
        </p:nvSpPr>
        <p:spPr bwMode="auto">
          <a:xfrm flipV="1">
            <a:off x="3858447" y="2903837"/>
            <a:ext cx="1357281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spTree>
    <p:extLst>
      <p:ext uri="{BB962C8B-B14F-4D97-AF65-F5344CB8AC3E}">
        <p14:creationId xmlns:p14="http://schemas.microsoft.com/office/powerpoint/2010/main" val="186307853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1551"/>
        <p:cNvGrpSpPr/>
        <p:nvPr/>
      </p:nvGrpSpPr>
      <p:grpSpPr>
        <a:xfrm>
          <a:off x="0" y="0"/>
          <a:ext cx="0" cy="0"/>
          <a:chOff x="0" y="0"/>
          <a:chExt cx="0" cy="0"/>
        </a:xfrm>
      </p:grpSpPr>
      <p:sp>
        <p:nvSpPr>
          <p:cNvPr id="1552" name="Google Shape;1552;p233"/>
          <p:cNvSpPr txBox="1">
            <a:spLocks noGrp="1"/>
          </p:cNvSpPr>
          <p:nvPr>
            <p:ph type="ctrTitle"/>
          </p:nvPr>
        </p:nvSpPr>
        <p:spPr>
          <a:xfrm>
            <a:off x="417096" y="1005529"/>
            <a:ext cx="11774904" cy="3711976"/>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chemeClr val="dk1"/>
              </a:buClr>
              <a:buSzPts val="4800"/>
              <a:buFont typeface="Arial" panose="020B0604020202020204"/>
              <a:buNone/>
            </a:pPr>
            <a:r>
              <a:rPr lang="en-US" sz="4400" b="1">
                <a:latin typeface="Arial" panose="020B0604020202020204"/>
                <a:ea typeface="Arial" panose="020B0604020202020204"/>
                <a:cs typeface="Arial" panose="020B0604020202020204"/>
                <a:sym typeface="Arial" panose="020B0604020202020204"/>
              </a:rPr>
              <a:t>CHƯƠNG </a:t>
            </a:r>
            <a:r>
              <a:rPr lang="vi-VN" sz="4400" b="1">
                <a:latin typeface="Arial" panose="020B0604020202020204"/>
                <a:ea typeface="Arial" panose="020B0604020202020204"/>
                <a:cs typeface="Arial" panose="020B0604020202020204"/>
                <a:sym typeface="Arial" panose="020B0604020202020204"/>
              </a:rPr>
              <a:t>4</a:t>
            </a:r>
            <a:br>
              <a:rPr lang="en-US" sz="4800" b="1">
                <a:latin typeface="Arial" panose="020B0604020202020204"/>
                <a:ea typeface="Arial" panose="020B0604020202020204"/>
                <a:cs typeface="Arial" panose="020B0604020202020204"/>
                <a:sym typeface="Arial" panose="020B0604020202020204"/>
              </a:rPr>
            </a:br>
            <a:r>
              <a:rPr lang="en-US" sz="4400" b="1">
                <a:latin typeface="Arial" panose="020B0604020202020204"/>
                <a:ea typeface="Arial" panose="020B0604020202020204"/>
                <a:cs typeface="Arial" panose="020B0604020202020204"/>
                <a:sym typeface="Arial" panose="020B0604020202020204"/>
              </a:rPr>
              <a:t>CÁC YẾU TỐ CÁ NHÂN ẢNH HƯỞNG ĐẾN HÀNH VI KHÁCH HÀNG CÁ NHÂN</a:t>
            </a:r>
            <a:endParaRPr sz="540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1556"/>
        <p:cNvGrpSpPr/>
        <p:nvPr/>
      </p:nvGrpSpPr>
      <p:grpSpPr>
        <a:xfrm>
          <a:off x="0" y="0"/>
          <a:ext cx="0" cy="0"/>
          <a:chOff x="0" y="0"/>
          <a:chExt cx="0" cy="0"/>
        </a:xfrm>
      </p:grpSpPr>
      <p:sp>
        <p:nvSpPr>
          <p:cNvPr id="1557" name="Google Shape;1557;p234"/>
          <p:cNvSpPr txBox="1">
            <a:spLocks noGrp="1"/>
          </p:cNvSpPr>
          <p:nvPr>
            <p:ph type="title"/>
          </p:nvPr>
        </p:nvSpPr>
        <p:spPr>
          <a:xfrm>
            <a:off x="350520" y="80010"/>
            <a:ext cx="10515600" cy="140953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panose="020B0604020202020204"/>
              <a:buNone/>
            </a:pPr>
            <a:r>
              <a:rPr lang="en-US" sz="3600" b="1">
                <a:latin typeface="Arial" panose="020B0604020202020204"/>
                <a:ea typeface="Arial" panose="020B0604020202020204"/>
                <a:cs typeface="Arial" panose="020B0604020202020204"/>
                <a:sym typeface="Arial" panose="020B0604020202020204"/>
              </a:rPr>
              <a:t>MỤC TIÊU CHƯƠNG 4</a:t>
            </a:r>
          </a:p>
        </p:txBody>
      </p:sp>
      <p:sp>
        <p:nvSpPr>
          <p:cNvPr id="1558" name="Google Shape;1558;p234"/>
          <p:cNvSpPr txBox="1">
            <a:spLocks noGrp="1"/>
          </p:cNvSpPr>
          <p:nvPr>
            <p:ph type="body" idx="1"/>
          </p:nvPr>
        </p:nvSpPr>
        <p:spPr>
          <a:xfrm>
            <a:off x="266700" y="1812290"/>
            <a:ext cx="11513820" cy="3233420"/>
          </a:xfrm>
          <a:prstGeom prst="rect">
            <a:avLst/>
          </a:prstGeom>
          <a:noFill/>
          <a:ln>
            <a:noFill/>
          </a:ln>
        </p:spPr>
        <p:txBody>
          <a:bodyPr spcFirstLastPara="1" wrap="square" lIns="91425" tIns="45700" rIns="91425" bIns="45700" anchor="t" anchorCtr="0">
            <a:noAutofit/>
          </a:bodyPr>
          <a:lstStyle/>
          <a:p>
            <a:pPr marL="457200" lvl="0" indent="-457200" algn="just" rtl="0">
              <a:lnSpc>
                <a:spcPct val="150000"/>
              </a:lnSpc>
              <a:spcBef>
                <a:spcPts val="0"/>
              </a:spcBef>
              <a:spcAft>
                <a:spcPts val="0"/>
              </a:spcAft>
              <a:buSzPts val="2800"/>
              <a:buFont typeface="Noto Sans Symbols"/>
              <a:buChar char="⮚"/>
            </a:pPr>
            <a:r>
              <a:rPr lang="en-US">
                <a:latin typeface="Arial" panose="020B0604020202020204"/>
                <a:ea typeface="Arial" panose="020B0604020202020204"/>
                <a:cs typeface="Arial" panose="020B0604020202020204"/>
                <a:sym typeface="Arial" panose="020B0604020202020204"/>
              </a:rPr>
              <a:t>Giải thích được tuổi tác và vòng đời gia đình ảnh hưởng đến hành vi khách hàng.</a:t>
            </a:r>
            <a:endParaRPr>
              <a:latin typeface="Arial" panose="020B0604020202020204"/>
              <a:ea typeface="Arial" panose="020B0604020202020204"/>
              <a:cs typeface="Arial" panose="020B0604020202020204"/>
              <a:sym typeface="Arial" panose="020B0604020202020204"/>
            </a:endParaRPr>
          </a:p>
          <a:p>
            <a:pPr marL="457200" lvl="0" indent="-457200" algn="just" rtl="0">
              <a:lnSpc>
                <a:spcPct val="150000"/>
              </a:lnSpc>
              <a:spcBef>
                <a:spcPts val="0"/>
              </a:spcBef>
              <a:spcAft>
                <a:spcPts val="0"/>
              </a:spcAft>
              <a:buSzPts val="2800"/>
              <a:buFont typeface="Noto Sans Symbols"/>
              <a:buChar char="⮚"/>
            </a:pPr>
            <a:r>
              <a:rPr lang="en-US">
                <a:latin typeface="Arial" panose="020B0604020202020204"/>
                <a:ea typeface="Arial" panose="020B0604020202020204"/>
                <a:cs typeface="Arial" panose="020B0604020202020204"/>
                <a:sym typeface="Arial" panose="020B0604020202020204"/>
              </a:rPr>
              <a:t>Phân tích được các đặc tính nghề nghiệp khác nhau ảnh hưởng đến hành vi khách hàng.</a:t>
            </a:r>
            <a:endParaRPr>
              <a:latin typeface="Arial" panose="020B0604020202020204"/>
              <a:ea typeface="Arial" panose="020B0604020202020204"/>
              <a:cs typeface="Arial" panose="020B0604020202020204"/>
              <a:sym typeface="Arial" panose="020B0604020202020204"/>
            </a:endParaRPr>
          </a:p>
          <a:p>
            <a:pPr marL="457200" lvl="0" indent="-457200" algn="just" rtl="0">
              <a:lnSpc>
                <a:spcPct val="150000"/>
              </a:lnSpc>
              <a:spcBef>
                <a:spcPts val="0"/>
              </a:spcBef>
              <a:spcAft>
                <a:spcPts val="0"/>
              </a:spcAft>
              <a:buSzPts val="2800"/>
              <a:buFont typeface="Noto Sans Symbols"/>
              <a:buChar char="⮚"/>
            </a:pPr>
            <a:r>
              <a:rPr lang="en-US">
                <a:latin typeface="Arial" panose="020B0604020202020204"/>
                <a:ea typeface="Arial" panose="020B0604020202020204"/>
                <a:cs typeface="Arial" panose="020B0604020202020204"/>
                <a:sym typeface="Arial" panose="020B0604020202020204"/>
              </a:rPr>
              <a:t>Nắm vững ảnh hưởng của tình trạng kinh tế ảnh hưởng đến hành vi khách hàng.</a:t>
            </a:r>
            <a:endParaRPr>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Shape 1562"/>
        <p:cNvGrpSpPr/>
        <p:nvPr/>
      </p:nvGrpSpPr>
      <p:grpSpPr>
        <a:xfrm>
          <a:off x="0" y="0"/>
          <a:ext cx="0" cy="0"/>
          <a:chOff x="0" y="0"/>
          <a:chExt cx="0" cy="0"/>
        </a:xfrm>
      </p:grpSpPr>
      <p:sp>
        <p:nvSpPr>
          <p:cNvPr id="1563" name="Google Shape;1563;p235"/>
          <p:cNvSpPr txBox="1">
            <a:spLocks noGrp="1"/>
          </p:cNvSpPr>
          <p:nvPr>
            <p:ph type="title"/>
          </p:nvPr>
        </p:nvSpPr>
        <p:spPr>
          <a:xfrm>
            <a:off x="350520" y="80010"/>
            <a:ext cx="10515600" cy="140953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panose="020B0604020202020204"/>
              <a:buNone/>
            </a:pPr>
            <a:r>
              <a:rPr lang="en-US" sz="3600" b="1">
                <a:latin typeface="Arial" panose="020B0604020202020204"/>
                <a:ea typeface="Arial" panose="020B0604020202020204"/>
                <a:cs typeface="Arial" panose="020B0604020202020204"/>
                <a:sym typeface="Arial" panose="020B0604020202020204"/>
              </a:rPr>
              <a:t>MỤC TIÊU CHƯƠNG 4</a:t>
            </a:r>
          </a:p>
        </p:txBody>
      </p:sp>
      <p:sp>
        <p:nvSpPr>
          <p:cNvPr id="1564" name="Google Shape;1564;p235"/>
          <p:cNvSpPr txBox="1">
            <a:spLocks noGrp="1"/>
          </p:cNvSpPr>
          <p:nvPr>
            <p:ph type="body" idx="1"/>
          </p:nvPr>
        </p:nvSpPr>
        <p:spPr>
          <a:xfrm>
            <a:off x="350520" y="1766570"/>
            <a:ext cx="11262360" cy="3324860"/>
          </a:xfrm>
          <a:prstGeom prst="rect">
            <a:avLst/>
          </a:prstGeom>
          <a:noFill/>
          <a:ln>
            <a:noFill/>
          </a:ln>
        </p:spPr>
        <p:txBody>
          <a:bodyPr spcFirstLastPara="1" wrap="square" lIns="91425" tIns="45700" rIns="91425" bIns="45700" anchor="t" anchorCtr="0">
            <a:noAutofit/>
          </a:bodyPr>
          <a:lstStyle/>
          <a:p>
            <a:pPr marL="457200" marR="0" lvl="0" indent="-457200" algn="just" rtl="0">
              <a:lnSpc>
                <a:spcPct val="150000"/>
              </a:lnSpc>
              <a:spcBef>
                <a:spcPts val="0"/>
              </a:spcBef>
              <a:spcAft>
                <a:spcPts val="0"/>
              </a:spcAft>
              <a:buClr>
                <a:schemeClr val="dk1"/>
              </a:buClr>
              <a:buSzPts val="2800"/>
              <a:buFont typeface="Noto Sans Symbols"/>
              <a:buChar char="⮚"/>
            </a:pPr>
            <a:r>
              <a:rPr lang="en-US">
                <a:latin typeface="Arial" panose="020B0604020202020204"/>
                <a:ea typeface="Arial" panose="020B0604020202020204"/>
                <a:cs typeface="Arial" panose="020B0604020202020204"/>
                <a:sym typeface="Arial" panose="020B0604020202020204"/>
              </a:rPr>
              <a:t>Hiểu được tầm quan trọng của quan niệm bản thân và tác động của nó đến hành vi khách hàng.</a:t>
            </a:r>
          </a:p>
          <a:p>
            <a:pPr marL="457200" marR="0" lvl="0" indent="-457200" algn="just" rtl="0">
              <a:lnSpc>
                <a:spcPct val="150000"/>
              </a:lnSpc>
              <a:spcBef>
                <a:spcPts val="0"/>
              </a:spcBef>
              <a:spcAft>
                <a:spcPts val="0"/>
              </a:spcAft>
              <a:buClr>
                <a:schemeClr val="dk1"/>
              </a:buClr>
              <a:buSzPts val="2800"/>
              <a:buFont typeface="Noto Sans Symbols"/>
              <a:buChar char="⮚"/>
            </a:pPr>
            <a:r>
              <a:rPr lang="en-US">
                <a:latin typeface="Arial" panose="020B0604020202020204"/>
                <a:ea typeface="Arial" panose="020B0604020202020204"/>
                <a:cs typeface="Arial" panose="020B0604020202020204"/>
                <a:sym typeface="Arial" panose="020B0604020202020204"/>
              </a:rPr>
              <a:t>Giải thích được các phong cách sống và cá tính ảnh hưởng quan trọng đến hành vi khách hàng.</a:t>
            </a:r>
          </a:p>
          <a:p>
            <a:pPr marL="457200" marR="0" lvl="0" indent="-457200" algn="just" rtl="0">
              <a:lnSpc>
                <a:spcPct val="150000"/>
              </a:lnSpc>
              <a:spcBef>
                <a:spcPts val="0"/>
              </a:spcBef>
              <a:spcAft>
                <a:spcPts val="0"/>
              </a:spcAft>
              <a:buClr>
                <a:schemeClr val="dk1"/>
              </a:buClr>
              <a:buSzPts val="2800"/>
              <a:buFont typeface="Noto Sans Symbols"/>
              <a:buChar char="⮚"/>
            </a:pPr>
            <a:r>
              <a:rPr lang="en-US">
                <a:latin typeface="Arial" panose="020B0604020202020204"/>
                <a:ea typeface="Arial" panose="020B0604020202020204"/>
                <a:cs typeface="Arial" panose="020B0604020202020204"/>
                <a:sym typeface="Arial" panose="020B0604020202020204"/>
              </a:rPr>
              <a:t>Áp dụng được những hiểu biết về các yếu tố cá nhân vào trong chiến lược marketing.</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1568"/>
        <p:cNvGrpSpPr/>
        <p:nvPr/>
      </p:nvGrpSpPr>
      <p:grpSpPr>
        <a:xfrm>
          <a:off x="0" y="0"/>
          <a:ext cx="0" cy="0"/>
          <a:chOff x="0" y="0"/>
          <a:chExt cx="0" cy="0"/>
        </a:xfrm>
      </p:grpSpPr>
      <p:sp>
        <p:nvSpPr>
          <p:cNvPr id="1569" name="Google Shape;1569;p2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panose="020B0604020202020204"/>
              <a:buNone/>
            </a:pPr>
            <a:r>
              <a:rPr lang="en-US" sz="3600" b="1">
                <a:latin typeface="Arial" panose="020B0604020202020204"/>
                <a:ea typeface="Arial" panose="020B0604020202020204"/>
                <a:cs typeface="Arial" panose="020B0604020202020204"/>
                <a:sym typeface="Arial" panose="020B0604020202020204"/>
              </a:rPr>
              <a:t>NỘI DUNG CHƯƠNG </a:t>
            </a:r>
          </a:p>
        </p:txBody>
      </p:sp>
      <p:sp>
        <p:nvSpPr>
          <p:cNvPr id="1570" name="Google Shape;1570;p236"/>
          <p:cNvSpPr txBox="1">
            <a:spLocks noGrp="1"/>
          </p:cNvSpPr>
          <p:nvPr>
            <p:ph type="body" idx="1"/>
          </p:nvPr>
        </p:nvSpPr>
        <p:spPr>
          <a:xfrm>
            <a:off x="822960" y="1540042"/>
            <a:ext cx="9707880" cy="4636921"/>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Clr>
                <a:schemeClr val="dk1"/>
              </a:buClr>
              <a:buSzPts val="3600"/>
              <a:buNone/>
            </a:pPr>
            <a:r>
              <a:rPr lang="en-US" sz="3600">
                <a:latin typeface="Arial" panose="020B0604020202020204"/>
                <a:ea typeface="Arial" panose="020B0604020202020204"/>
                <a:cs typeface="Arial" panose="020B0604020202020204"/>
                <a:sym typeface="Arial" panose="020B0604020202020204"/>
              </a:rPr>
              <a:t>4.1. Tuổi tác và vòng đời gia đình</a:t>
            </a:r>
            <a:endParaRPr sz="3600">
              <a:latin typeface="Arial" panose="020B0604020202020204"/>
              <a:ea typeface="Arial" panose="020B0604020202020204"/>
              <a:cs typeface="Arial" panose="020B0604020202020204"/>
              <a:sym typeface="Arial" panose="020B0604020202020204"/>
            </a:endParaRPr>
          </a:p>
          <a:p>
            <a:pPr marL="0" marR="0" lvl="0" indent="0" algn="l" rtl="0">
              <a:lnSpc>
                <a:spcPct val="130000"/>
              </a:lnSpc>
              <a:spcBef>
                <a:spcPts val="0"/>
              </a:spcBef>
              <a:spcAft>
                <a:spcPts val="0"/>
              </a:spcAft>
              <a:buClr>
                <a:schemeClr val="dk1"/>
              </a:buClr>
              <a:buSzPts val="3600"/>
              <a:buNone/>
            </a:pPr>
            <a:r>
              <a:rPr lang="en-US" sz="3600"/>
              <a:t>4</a:t>
            </a:r>
            <a:r>
              <a:rPr lang="en-US" sz="3600">
                <a:latin typeface="Arial" panose="020B0604020202020204"/>
                <a:ea typeface="Arial" panose="020B0604020202020204"/>
                <a:cs typeface="Arial" panose="020B0604020202020204"/>
                <a:sym typeface="Arial" panose="020B0604020202020204"/>
              </a:rPr>
              <a:t>.2. Nghề nghiệp 	</a:t>
            </a:r>
            <a:endParaRPr sz="3600">
              <a:latin typeface="Arial" panose="020B0604020202020204"/>
              <a:ea typeface="Arial" panose="020B0604020202020204"/>
              <a:cs typeface="Arial" panose="020B0604020202020204"/>
              <a:sym typeface="Arial" panose="020B0604020202020204"/>
            </a:endParaRPr>
          </a:p>
          <a:p>
            <a:pPr marL="0" marR="0" lvl="0" indent="0" algn="l" rtl="0">
              <a:lnSpc>
                <a:spcPct val="130000"/>
              </a:lnSpc>
              <a:spcBef>
                <a:spcPts val="0"/>
              </a:spcBef>
              <a:spcAft>
                <a:spcPts val="0"/>
              </a:spcAft>
              <a:buClr>
                <a:schemeClr val="dk1"/>
              </a:buClr>
              <a:buSzPts val="3600"/>
              <a:buNone/>
            </a:pPr>
            <a:r>
              <a:rPr lang="en-US" sz="3600"/>
              <a:t>4</a:t>
            </a:r>
            <a:r>
              <a:rPr lang="en-US" sz="3600">
                <a:latin typeface="Arial" panose="020B0604020202020204"/>
                <a:ea typeface="Arial" panose="020B0604020202020204"/>
                <a:cs typeface="Arial" panose="020B0604020202020204"/>
                <a:sym typeface="Arial" panose="020B0604020202020204"/>
              </a:rPr>
              <a:t>.3. Tình trạng kinh tế</a:t>
            </a:r>
            <a:endParaRPr sz="3600">
              <a:latin typeface="Arial" panose="020B0604020202020204"/>
              <a:ea typeface="Arial" panose="020B0604020202020204"/>
              <a:cs typeface="Arial" panose="020B0604020202020204"/>
              <a:sym typeface="Arial" panose="020B0604020202020204"/>
            </a:endParaRPr>
          </a:p>
          <a:p>
            <a:pPr marL="0" marR="0" lvl="0" indent="0" algn="l" rtl="0">
              <a:lnSpc>
                <a:spcPct val="130000"/>
              </a:lnSpc>
              <a:spcBef>
                <a:spcPts val="0"/>
              </a:spcBef>
              <a:spcAft>
                <a:spcPts val="0"/>
              </a:spcAft>
              <a:buClr>
                <a:schemeClr val="dk1"/>
              </a:buClr>
              <a:buSzPts val="3600"/>
              <a:buNone/>
            </a:pPr>
            <a:r>
              <a:rPr lang="en-US" sz="3600"/>
              <a:t>4</a:t>
            </a:r>
            <a:r>
              <a:rPr lang="en-US" sz="3600">
                <a:latin typeface="Arial" panose="020B0604020202020204"/>
                <a:ea typeface="Arial" panose="020B0604020202020204"/>
                <a:cs typeface="Arial" panose="020B0604020202020204"/>
                <a:sym typeface="Arial" panose="020B0604020202020204"/>
              </a:rPr>
              <a:t>.4. Quan niệm bản thân</a:t>
            </a:r>
            <a:endParaRPr sz="3600">
              <a:latin typeface="Arial" panose="020B0604020202020204"/>
              <a:ea typeface="Arial" panose="020B0604020202020204"/>
              <a:cs typeface="Arial" panose="020B0604020202020204"/>
              <a:sym typeface="Arial" panose="020B0604020202020204"/>
            </a:endParaRPr>
          </a:p>
          <a:p>
            <a:pPr marL="0" marR="0" lvl="0" indent="0" algn="l" rtl="0">
              <a:lnSpc>
                <a:spcPct val="130000"/>
              </a:lnSpc>
              <a:spcBef>
                <a:spcPts val="0"/>
              </a:spcBef>
              <a:spcAft>
                <a:spcPts val="0"/>
              </a:spcAft>
              <a:buClr>
                <a:schemeClr val="dk1"/>
              </a:buClr>
              <a:buSzPts val="3600"/>
              <a:buNone/>
            </a:pPr>
            <a:r>
              <a:rPr lang="en-US" sz="3600"/>
              <a:t>4</a:t>
            </a:r>
            <a:r>
              <a:rPr lang="en-US" sz="3600">
                <a:latin typeface="Arial" panose="020B0604020202020204"/>
                <a:ea typeface="Arial" panose="020B0604020202020204"/>
                <a:cs typeface="Arial" panose="020B0604020202020204"/>
                <a:sym typeface="Arial" panose="020B0604020202020204"/>
              </a:rPr>
              <a:t>.5. Lối sống </a:t>
            </a:r>
            <a:endParaRPr sz="36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600"/>
              <a:buNone/>
            </a:pPr>
            <a:r>
              <a:rPr lang="en-US" sz="3600"/>
              <a:t>4</a:t>
            </a:r>
            <a:r>
              <a:rPr lang="en-US" sz="3600">
                <a:latin typeface="Arial" panose="020B0604020202020204"/>
                <a:ea typeface="Arial" panose="020B0604020202020204"/>
                <a:cs typeface="Arial" panose="020B0604020202020204"/>
                <a:sym typeface="Arial" panose="020B0604020202020204"/>
              </a:rPr>
              <a:t>.6. Cá tính </a:t>
            </a:r>
            <a:endParaRPr sz="36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E46FA-32F0-BF85-DCA4-74B81FFCD7B0}"/>
            </a:ext>
          </a:extLst>
        </p:cNvPr>
        <p:cNvGrpSpPr/>
        <p:nvPr/>
      </p:nvGrpSpPr>
      <p:grpSpPr>
        <a:xfrm>
          <a:off x="0" y="0"/>
          <a:ext cx="0" cy="0"/>
          <a:chOff x="0" y="0"/>
          <a:chExt cx="0" cy="0"/>
        </a:xfrm>
      </p:grpSpPr>
      <p:sp>
        <p:nvSpPr>
          <p:cNvPr id="1575" name="Google Shape;1575;p237"/>
          <p:cNvSpPr txBox="1"/>
          <p:nvPr/>
        </p:nvSpPr>
        <p:spPr>
          <a:xfrm>
            <a:off x="417512" y="3237313"/>
            <a:ext cx="11774488" cy="1241659"/>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30000"/>
              </a:lnSpc>
              <a:spcBef>
                <a:spcPts val="0"/>
              </a:spcBef>
              <a:spcAft>
                <a:spcPts val="0"/>
              </a:spcAft>
              <a:buClr>
                <a:srgbClr val="000000"/>
              </a:buClr>
              <a:buSzPts val="3600"/>
              <a:buFont typeface="Arial" panose="020B0604020202020204"/>
              <a:buNone/>
              <a:tabLst/>
              <a:defRPr/>
            </a:pPr>
            <a:r>
              <a:rPr kumimoji="0" lang="en-US" sz="36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4.1. TUỔI TÁC VÀ VÒNG ĐỜI GIA ĐÌNH</a:t>
            </a:r>
            <a:br>
              <a:rPr kumimoji="0" lang="en-US" sz="36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br>
            <a:endParaRPr kumimoji="0" lang="en-US" sz="36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311426170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Shape 1579"/>
        <p:cNvGrpSpPr/>
        <p:nvPr/>
      </p:nvGrpSpPr>
      <p:grpSpPr>
        <a:xfrm>
          <a:off x="0" y="0"/>
          <a:ext cx="0" cy="0"/>
          <a:chOff x="0" y="0"/>
          <a:chExt cx="0" cy="0"/>
        </a:xfrm>
      </p:grpSpPr>
      <p:sp>
        <p:nvSpPr>
          <p:cNvPr id="1580" name="Google Shape;1580;p238"/>
          <p:cNvSpPr txBox="1">
            <a:spLocks noGrp="1"/>
          </p:cNvSpPr>
          <p:nvPr>
            <p:ph type="title"/>
          </p:nvPr>
        </p:nvSpPr>
        <p:spPr>
          <a:xfrm>
            <a:off x="427885" y="53668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latin typeface="Arial" panose="020B0604020202020204"/>
                <a:ea typeface="Arial" panose="020B0604020202020204"/>
                <a:cs typeface="Arial" panose="020B0604020202020204"/>
                <a:sym typeface="Arial" panose="020B0604020202020204"/>
              </a:rPr>
              <a:t>4.1.1. </a:t>
            </a:r>
            <a:r>
              <a:rPr lang="en-US" sz="3200" b="1" u="none" strike="noStrike" err="1">
                <a:latin typeface="Arial" panose="020B0604020202020204"/>
                <a:ea typeface="Arial" panose="020B0604020202020204"/>
                <a:cs typeface="Arial" panose="020B0604020202020204"/>
                <a:sym typeface="Arial" panose="020B0604020202020204"/>
              </a:rPr>
              <a:t>Tuổi</a:t>
            </a:r>
            <a:r>
              <a:rPr lang="en-US" sz="3200" b="1" u="none" strike="noStrike">
                <a:latin typeface="Arial" panose="020B0604020202020204"/>
                <a:ea typeface="Arial" panose="020B0604020202020204"/>
                <a:cs typeface="Arial" panose="020B0604020202020204"/>
                <a:sym typeface="Arial" panose="020B0604020202020204"/>
              </a:rPr>
              <a:t> </a:t>
            </a:r>
            <a:r>
              <a:rPr lang="en-US" sz="3200" b="1" u="none" strike="noStrike" err="1">
                <a:latin typeface="Arial" panose="020B0604020202020204"/>
                <a:ea typeface="Arial" panose="020B0604020202020204"/>
                <a:cs typeface="Arial" panose="020B0604020202020204"/>
                <a:sym typeface="Arial" panose="020B0604020202020204"/>
              </a:rPr>
              <a:t>tác</a:t>
            </a:r>
            <a:endParaRPr sz="3200" b="1">
              <a:latin typeface="Arial" panose="020B0604020202020204"/>
              <a:ea typeface="Arial" panose="020B0604020202020204"/>
              <a:cs typeface="Arial" panose="020B0604020202020204"/>
              <a:sym typeface="Arial" panose="020B0604020202020204"/>
            </a:endParaRPr>
          </a:p>
        </p:txBody>
      </p:sp>
      <p:sp>
        <p:nvSpPr>
          <p:cNvPr id="1581" name="Google Shape;1581;p238"/>
          <p:cNvSpPr txBox="1"/>
          <p:nvPr/>
        </p:nvSpPr>
        <p:spPr>
          <a:xfrm>
            <a:off x="861021" y="1641006"/>
            <a:ext cx="10236907" cy="3539390"/>
          </a:xfrm>
          <a:prstGeom prst="rect">
            <a:avLst/>
          </a:prstGeom>
          <a:noFill/>
          <a:ln>
            <a:noFill/>
          </a:ln>
        </p:spPr>
        <p:txBody>
          <a:bodyPr spcFirstLastPara="1" wrap="square" lIns="91425" tIns="45700" rIns="91425" bIns="45700" anchor="t" anchorCtr="0">
            <a:spAutoFit/>
          </a:bodyPr>
          <a:lstStyle/>
          <a:p>
            <a:pPr marL="342900" marR="0" lvl="0" indent="-342900" algn="just" defTabSz="914400" rtl="0" eaLnBrk="1" fontAlgn="auto" latinLnBrk="0" hangingPunct="1">
              <a:lnSpc>
                <a:spcPct val="100000"/>
              </a:lnSpc>
              <a:spcBef>
                <a:spcPts val="0"/>
              </a:spcBef>
              <a:spcAft>
                <a:spcPts val="0"/>
              </a:spcAft>
              <a:buClr>
                <a:srgbClr val="000000"/>
              </a:buClr>
              <a:buSzPts val="2800"/>
              <a:buFont typeface="Arial" panose="020B0604020202020204"/>
              <a:buChar char="•"/>
              <a:tabLst/>
              <a:defRPr/>
            </a:pP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Tuổi tác là một trong những yếu tố quyết định lớn nhất đến những gì con người muốn; với những thay đổi về tuổi tác dẫn đến những thay đổi về sản phẩm và dịch vụ mà một người tìm kiếm. </a:t>
            </a:r>
            <a:endParaRPr kumimoji="0"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342900" marR="0" lvl="0" indent="-342900" algn="just" defTabSz="914400" rtl="0" eaLnBrk="1" fontAlgn="auto" latinLnBrk="0" hangingPunct="1">
              <a:lnSpc>
                <a:spcPct val="100000"/>
              </a:lnSpc>
              <a:spcBef>
                <a:spcPts val="0"/>
              </a:spcBef>
              <a:spcAft>
                <a:spcPts val="0"/>
              </a:spcAft>
              <a:buClr>
                <a:srgbClr val="000000"/>
              </a:buClr>
              <a:buSzPts val="2800"/>
              <a:buFont typeface="Arial" panose="020B0604020202020204"/>
              <a:buChar char="•"/>
              <a:tabLst/>
              <a:defRPr/>
            </a:pP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Trong mỗi giai đoạn khác nhau của cuộc đời, con người có nhu cầu về những loại hàng hóa khác nhau.</a:t>
            </a:r>
            <a:endParaRPr kumimoji="0"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342900" marR="0" lvl="0" indent="-342900" algn="just" defTabSz="914400" rtl="0" eaLnBrk="1" fontAlgn="auto" latinLnBrk="0" hangingPunct="1">
              <a:lnSpc>
                <a:spcPct val="100000"/>
              </a:lnSpc>
              <a:spcBef>
                <a:spcPts val="0"/>
              </a:spcBef>
              <a:spcAft>
                <a:spcPts val="0"/>
              </a:spcAft>
              <a:buClr>
                <a:srgbClr val="000000"/>
              </a:buClr>
              <a:buSzPts val="2800"/>
              <a:buFont typeface="Arial" panose="020B0604020202020204"/>
              <a:buChar char="•"/>
              <a:tabLst/>
              <a:defRPr/>
            </a:pP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Hành vi tiêu dùng cũng khác nhau qua các giai đoạn của chu kỳ đời sống gia đình. </a:t>
            </a:r>
            <a:endParaRPr kumimoji="0" sz="2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Shape 1593"/>
        <p:cNvGrpSpPr/>
        <p:nvPr/>
      </p:nvGrpSpPr>
      <p:grpSpPr>
        <a:xfrm>
          <a:off x="0" y="0"/>
          <a:ext cx="0" cy="0"/>
          <a:chOff x="0" y="0"/>
          <a:chExt cx="0" cy="0"/>
        </a:xfrm>
      </p:grpSpPr>
      <p:sp>
        <p:nvSpPr>
          <p:cNvPr id="1594" name="Google Shape;1594;p239"/>
          <p:cNvSpPr txBox="1">
            <a:spLocks noGrp="1"/>
          </p:cNvSpPr>
          <p:nvPr>
            <p:ph type="body" idx="1"/>
          </p:nvPr>
        </p:nvSpPr>
        <p:spPr>
          <a:xfrm>
            <a:off x="478276" y="1601889"/>
            <a:ext cx="10515600" cy="3173264"/>
          </a:xfrm>
          <a:prstGeom prst="rect">
            <a:avLst/>
          </a:prstGeom>
          <a:noFill/>
          <a:ln>
            <a:noFill/>
          </a:ln>
        </p:spPr>
        <p:txBody>
          <a:bodyPr spcFirstLastPara="1" wrap="square" lIns="91425" tIns="45700" rIns="91425" bIns="45700" anchor="t" anchorCtr="0">
            <a:spAutoFit/>
          </a:bodyPr>
          <a:lstStyle/>
          <a:p>
            <a:pPr marL="0" lvl="0" indent="0" algn="just" rtl="0">
              <a:lnSpc>
                <a:spcPct val="143000"/>
              </a:lnSpc>
              <a:spcBef>
                <a:spcPts val="0"/>
              </a:spcBef>
              <a:spcAft>
                <a:spcPts val="0"/>
              </a:spcAft>
              <a:buClr>
                <a:schemeClr val="dk1"/>
              </a:buClr>
              <a:buSzPts val="2800"/>
              <a:buNone/>
            </a:pPr>
            <a:r>
              <a:rPr lang="en-US">
                <a:latin typeface="Arial" panose="020B0604020202020204"/>
                <a:ea typeface="Arial" panose="020B0604020202020204"/>
                <a:cs typeface="Arial" panose="020B0604020202020204"/>
                <a:sym typeface="Arial" panose="020B0604020202020204"/>
              </a:rPr>
              <a:t>Một thế hệ là tất cả những người sinh ra và sống cùng một lúc, được coi là tập thể. Nó cũng có thể được mô tả là giai đoạn trung bình, thường được coi là khoảng ba mươi tuổi, trong đó trẻ em được sinh ra và lớn lên, trở thành người lớn và bắt đầu có con của chính mình" (Dictionary.com, 2019). </a:t>
            </a:r>
          </a:p>
        </p:txBody>
      </p:sp>
      <p:sp>
        <p:nvSpPr>
          <p:cNvPr id="1595" name="Google Shape;1595;p239"/>
          <p:cNvSpPr txBox="1">
            <a:spLocks noGrp="1"/>
          </p:cNvSpPr>
          <p:nvPr>
            <p:ph type="title"/>
          </p:nvPr>
        </p:nvSpPr>
        <p:spPr>
          <a:xfrm>
            <a:off x="395749"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4</a:t>
            </a:r>
            <a:r>
              <a:rPr lang="en-US" sz="3200" b="1">
                <a:latin typeface="Arial" panose="020B0604020202020204"/>
                <a:ea typeface="Arial" panose="020B0604020202020204"/>
                <a:cs typeface="Arial" panose="020B0604020202020204"/>
                <a:sym typeface="Arial" panose="020B0604020202020204"/>
              </a:rPr>
              <a:t>.1.2. Thế hệ</a:t>
            </a:r>
            <a:endParaRPr sz="3200" b="1">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Shape 1599"/>
        <p:cNvGrpSpPr/>
        <p:nvPr/>
      </p:nvGrpSpPr>
      <p:grpSpPr>
        <a:xfrm>
          <a:off x="0" y="0"/>
          <a:ext cx="0" cy="0"/>
          <a:chOff x="0" y="0"/>
          <a:chExt cx="0" cy="0"/>
        </a:xfrm>
      </p:grpSpPr>
      <p:sp>
        <p:nvSpPr>
          <p:cNvPr id="1600" name="Google Shape;1600;p240"/>
          <p:cNvSpPr txBox="1">
            <a:spLocks noGrp="1"/>
          </p:cNvSpPr>
          <p:nvPr>
            <p:ph type="title"/>
          </p:nvPr>
        </p:nvSpPr>
        <p:spPr>
          <a:xfrm>
            <a:off x="389772" y="141844"/>
            <a:ext cx="5259707"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latin typeface="Arial" panose="020B0604020202020204"/>
                <a:ea typeface="Arial" panose="020B0604020202020204"/>
                <a:cs typeface="Arial" panose="020B0604020202020204"/>
                <a:sym typeface="Arial" panose="020B0604020202020204"/>
              </a:rPr>
              <a:t>4.1.3 Giáo dục</a:t>
            </a:r>
            <a:endParaRPr sz="3200" b="1">
              <a:latin typeface="Arial" panose="020B0604020202020204"/>
              <a:ea typeface="Arial" panose="020B0604020202020204"/>
              <a:cs typeface="Arial" panose="020B0604020202020204"/>
              <a:sym typeface="Arial" panose="020B0604020202020204"/>
            </a:endParaRPr>
          </a:p>
        </p:txBody>
      </p:sp>
      <p:sp>
        <p:nvSpPr>
          <p:cNvPr id="1601" name="Google Shape;1601;p240"/>
          <p:cNvSpPr txBox="1">
            <a:spLocks noGrp="1"/>
          </p:cNvSpPr>
          <p:nvPr>
            <p:ph type="body" idx="1"/>
          </p:nvPr>
        </p:nvSpPr>
        <p:spPr>
          <a:xfrm>
            <a:off x="156409" y="1265425"/>
            <a:ext cx="5939591" cy="3125600"/>
          </a:xfrm>
          <a:prstGeom prst="rect">
            <a:avLst/>
          </a:prstGeom>
          <a:noFill/>
          <a:ln>
            <a:noFill/>
          </a:ln>
        </p:spPr>
        <p:txBody>
          <a:bodyPr spcFirstLastPara="1" wrap="square" lIns="91425" tIns="45700" rIns="91425" bIns="45700" anchor="t" anchorCtr="0">
            <a:noAutofit/>
          </a:bodyPr>
          <a:lstStyle/>
          <a:p>
            <a:pPr marL="457200" lvl="0" indent="-457200" algn="just" rtl="0">
              <a:lnSpc>
                <a:spcPct val="150000"/>
              </a:lnSpc>
              <a:spcBef>
                <a:spcPts val="0"/>
              </a:spcBef>
              <a:spcAft>
                <a:spcPts val="0"/>
              </a:spcAft>
              <a:buSzPts val="2800"/>
              <a:buChar char="•"/>
            </a:pPr>
            <a:r>
              <a:rPr lang="en-US">
                <a:latin typeface="Arial" panose="020B0604020202020204"/>
                <a:ea typeface="Arial" panose="020B0604020202020204"/>
                <a:cs typeface="Arial" panose="020B0604020202020204"/>
                <a:sym typeface="Arial" panose="020B0604020202020204"/>
              </a:rPr>
              <a:t>Giáo dục là một yếu tố ảnh hưởng đáng kể đến hành vi khách hàng. </a:t>
            </a:r>
          </a:p>
          <a:p>
            <a:pPr marL="457200" lvl="0" indent="-457200" algn="just" rtl="0">
              <a:lnSpc>
                <a:spcPct val="150000"/>
              </a:lnSpc>
              <a:spcBef>
                <a:spcPts val="0"/>
              </a:spcBef>
              <a:spcAft>
                <a:spcPts val="0"/>
              </a:spcAft>
              <a:buSzPts val="2800"/>
              <a:buChar char="•"/>
            </a:pPr>
            <a:r>
              <a:rPr lang="en-US">
                <a:latin typeface="Arial" panose="020B0604020202020204"/>
                <a:ea typeface="Arial" panose="020B0604020202020204"/>
                <a:cs typeface="Arial" panose="020B0604020202020204"/>
                <a:sym typeface="Arial" panose="020B0604020202020204"/>
              </a:rPr>
              <a:t>Một người càng được giáo dục càng tốt thì họ càng có nhiều khả năng được làm trong một nghề tạo ra nhiều thu nhập và do đó có địa vị cao hơn trong xã hội. </a:t>
            </a:r>
          </a:p>
        </p:txBody>
      </p:sp>
      <p:pic>
        <p:nvPicPr>
          <p:cNvPr id="2" name="Picture 1" descr="UFM dành 150 chỉ tiêu cho thí sinh được xét đặc cách tốt nghiệp"/>
          <p:cNvPicPr>
            <a:picLocks noChangeAspect="1"/>
          </p:cNvPicPr>
          <p:nvPr/>
        </p:nvPicPr>
        <p:blipFill>
          <a:blip r:embed="rId3"/>
          <a:stretch>
            <a:fillRect/>
          </a:stretch>
        </p:blipFill>
        <p:spPr>
          <a:xfrm>
            <a:off x="6651358" y="2260331"/>
            <a:ext cx="4379194" cy="2919463"/>
          </a:xfrm>
          <a:prstGeom prst="rect">
            <a:avLst/>
          </a:prstGeom>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Shape 1606"/>
        <p:cNvGrpSpPr/>
        <p:nvPr/>
      </p:nvGrpSpPr>
      <p:grpSpPr>
        <a:xfrm>
          <a:off x="0" y="0"/>
          <a:ext cx="0" cy="0"/>
          <a:chOff x="0" y="0"/>
          <a:chExt cx="0" cy="0"/>
        </a:xfrm>
      </p:grpSpPr>
      <p:sp>
        <p:nvSpPr>
          <p:cNvPr id="1607" name="Google Shape;1607;p241"/>
          <p:cNvSpPr txBox="1">
            <a:spLocks noGrp="1"/>
          </p:cNvSpPr>
          <p:nvPr>
            <p:ph type="title"/>
          </p:nvPr>
        </p:nvSpPr>
        <p:spPr>
          <a:xfrm>
            <a:off x="917136" y="439540"/>
            <a:ext cx="638710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4</a:t>
            </a:r>
            <a:r>
              <a:rPr lang="en-US" sz="3200" b="1">
                <a:latin typeface="Arial" panose="020B0604020202020204"/>
                <a:ea typeface="Arial" panose="020B0604020202020204"/>
                <a:cs typeface="Arial" panose="020B0604020202020204"/>
                <a:sym typeface="Arial" panose="020B0604020202020204"/>
              </a:rPr>
              <a:t>.1.4</a:t>
            </a:r>
            <a:r>
              <a:rPr lang="en-US" sz="3200" b="1">
                <a:solidFill>
                  <a:schemeClr val="lt1"/>
                </a:solidFill>
                <a:latin typeface="Arial" panose="020B0604020202020204"/>
                <a:ea typeface="Arial" panose="020B0604020202020204"/>
                <a:cs typeface="Arial" panose="020B0604020202020204"/>
                <a:sym typeface="Arial" panose="020B0604020202020204"/>
              </a:rPr>
              <a:t> </a:t>
            </a:r>
            <a:r>
              <a:rPr lang="en-US" sz="3200" b="1">
                <a:latin typeface="Arial" panose="020B0604020202020204"/>
                <a:ea typeface="Arial" panose="020B0604020202020204"/>
                <a:cs typeface="Arial" panose="020B0604020202020204"/>
                <a:sym typeface="Arial" panose="020B0604020202020204"/>
              </a:rPr>
              <a:t>Vòng đời gia đình</a:t>
            </a:r>
            <a:endParaRPr sz="3200" b="1">
              <a:latin typeface="Arial" panose="020B0604020202020204"/>
              <a:ea typeface="Arial" panose="020B0604020202020204"/>
              <a:cs typeface="Arial" panose="020B0604020202020204"/>
              <a:sym typeface="Arial" panose="020B0604020202020204"/>
            </a:endParaRPr>
          </a:p>
        </p:txBody>
      </p:sp>
      <p:sp>
        <p:nvSpPr>
          <p:cNvPr id="1608" name="Google Shape;1608;p241"/>
          <p:cNvSpPr txBox="1">
            <a:spLocks noGrp="1"/>
          </p:cNvSpPr>
          <p:nvPr>
            <p:ph type="body" idx="1"/>
          </p:nvPr>
        </p:nvSpPr>
        <p:spPr>
          <a:xfrm>
            <a:off x="186420" y="1765103"/>
            <a:ext cx="11335020" cy="3327794"/>
          </a:xfrm>
          <a:prstGeom prst="rect">
            <a:avLst/>
          </a:prstGeom>
          <a:noFill/>
          <a:ln>
            <a:noFill/>
          </a:ln>
        </p:spPr>
        <p:txBody>
          <a:bodyPr spcFirstLastPara="1" wrap="square" lIns="91425" tIns="45700" rIns="91425" bIns="45700" anchor="t" anchorCtr="0">
            <a:spAutoFit/>
          </a:bodyPr>
          <a:lstStyle/>
          <a:p>
            <a:pPr marL="342900" lvl="0" indent="-342900" algn="just" rtl="0">
              <a:lnSpc>
                <a:spcPct val="146000"/>
              </a:lnSpc>
              <a:spcBef>
                <a:spcPts val="0"/>
              </a:spcBef>
              <a:spcAft>
                <a:spcPts val="0"/>
              </a:spcAft>
              <a:buSzPts val="2400"/>
              <a:buChar char="•"/>
            </a:pPr>
            <a:r>
              <a:rPr lang="en-US" sz="2400">
                <a:latin typeface="Arial" panose="020B0604020202020204"/>
                <a:ea typeface="Arial" panose="020B0604020202020204"/>
                <a:cs typeface="Arial" panose="020B0604020202020204"/>
                <a:sym typeface="Arial" panose="020B0604020202020204"/>
              </a:rPr>
              <a:t>Một gia đình là một nhóm các cá nhân sống chung với nhau và có quan hệ huyết thống, nhận con nuôi hoặc hôn nhân. </a:t>
            </a:r>
          </a:p>
          <a:p>
            <a:pPr marL="342900" lvl="0" indent="-342900" algn="just" rtl="0">
              <a:lnSpc>
                <a:spcPct val="146000"/>
              </a:lnSpc>
              <a:spcBef>
                <a:spcPts val="0"/>
              </a:spcBef>
              <a:spcAft>
                <a:spcPts val="0"/>
              </a:spcAft>
              <a:buSzPts val="2400"/>
              <a:buChar char="•"/>
            </a:pPr>
            <a:r>
              <a:rPr lang="en-US" sz="2400">
                <a:latin typeface="Arial" panose="020B0604020202020204"/>
                <a:ea typeface="Arial" panose="020B0604020202020204"/>
                <a:cs typeface="Arial" panose="020B0604020202020204"/>
                <a:sym typeface="Arial" panose="020B0604020202020204"/>
              </a:rPr>
              <a:t>Mô hình chi tiêu của các thành viên trong gia đình chủ yếu phụ thuộc vào tuổi tác, thu nhập, các mối quan hệ với nhau. </a:t>
            </a:r>
          </a:p>
          <a:p>
            <a:pPr marL="342900" lvl="0" indent="-342900" algn="just" rtl="0">
              <a:lnSpc>
                <a:spcPct val="146000"/>
              </a:lnSpc>
              <a:spcBef>
                <a:spcPts val="0"/>
              </a:spcBef>
              <a:spcAft>
                <a:spcPts val="0"/>
              </a:spcAft>
              <a:buSzPts val="2400"/>
              <a:buChar char="•"/>
            </a:pPr>
            <a:r>
              <a:rPr lang="en-US" sz="2400">
                <a:latin typeface="Arial" panose="020B0604020202020204"/>
                <a:ea typeface="Arial" panose="020B0604020202020204"/>
                <a:cs typeface="Arial" panose="020B0604020202020204"/>
                <a:sym typeface="Arial" panose="020B0604020202020204"/>
              </a:rPr>
              <a:t>Gia đình là tổ chức mua hàng tiêu dùng quan trọng nhất trong xã hội và các thành viên trong gia đình tạo thành nhóm tham chiếu chính có ảnh hưởng nhất </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Shape 1618"/>
        <p:cNvGrpSpPr/>
        <p:nvPr/>
      </p:nvGrpSpPr>
      <p:grpSpPr>
        <a:xfrm>
          <a:off x="0" y="0"/>
          <a:ext cx="0" cy="0"/>
          <a:chOff x="0" y="0"/>
          <a:chExt cx="0" cy="0"/>
        </a:xfrm>
      </p:grpSpPr>
      <p:sp>
        <p:nvSpPr>
          <p:cNvPr id="1619" name="Google Shape;1619;p243"/>
          <p:cNvSpPr txBox="1">
            <a:spLocks noGrp="1"/>
          </p:cNvSpPr>
          <p:nvPr>
            <p:ph type="body" idx="1"/>
          </p:nvPr>
        </p:nvSpPr>
        <p:spPr>
          <a:xfrm>
            <a:off x="316547" y="1496366"/>
            <a:ext cx="4743133" cy="4132274"/>
          </a:xfrm>
          <a:prstGeom prst="rect">
            <a:avLst/>
          </a:prstGeom>
          <a:noFill/>
          <a:ln>
            <a:noFill/>
          </a:ln>
        </p:spPr>
        <p:txBody>
          <a:bodyPr spcFirstLastPara="1" wrap="square" lIns="91425" tIns="45700" rIns="91425" bIns="45700" anchor="t" anchorCtr="0">
            <a:noAutofit/>
          </a:bodyPr>
          <a:lstStyle/>
          <a:p>
            <a:pPr marL="457200" lvl="0" indent="-457200" algn="l" rtl="0">
              <a:lnSpc>
                <a:spcPct val="90000"/>
              </a:lnSpc>
              <a:spcBef>
                <a:spcPts val="0"/>
              </a:spcBef>
              <a:spcAft>
                <a:spcPts val="0"/>
              </a:spcAft>
              <a:buSzPts val="2800"/>
              <a:buChar char="•"/>
            </a:pPr>
            <a:r>
              <a:rPr lang="en-US">
                <a:latin typeface="Arial" panose="020B0604020202020204"/>
                <a:ea typeface="Arial" panose="020B0604020202020204"/>
                <a:cs typeface="Arial" panose="020B0604020202020204"/>
                <a:sym typeface="Arial" panose="020B0604020202020204"/>
              </a:rPr>
              <a:t>Yếu tố quyết định lớn nhất của giai tầng xã hội là nghề nghiệp.</a:t>
            </a:r>
          </a:p>
          <a:p>
            <a:pPr marL="635000" lvl="0" indent="-279400" algn="l" rtl="0">
              <a:lnSpc>
                <a:spcPct val="90000"/>
              </a:lnSpc>
              <a:spcBef>
                <a:spcPts val="1000"/>
              </a:spcBef>
              <a:spcAft>
                <a:spcPts val="0"/>
              </a:spcAft>
              <a:buSzPts val="2800"/>
              <a:buNone/>
            </a:pPr>
            <a:endParaRPr>
              <a:latin typeface="Arial" panose="020B0604020202020204"/>
              <a:ea typeface="Arial" panose="020B0604020202020204"/>
              <a:cs typeface="Arial" panose="020B0604020202020204"/>
              <a:sym typeface="Arial" panose="020B0604020202020204"/>
            </a:endParaRPr>
          </a:p>
          <a:p>
            <a:pPr marL="457200" lvl="0" indent="-457200" algn="l" rtl="0">
              <a:lnSpc>
                <a:spcPct val="90000"/>
              </a:lnSpc>
              <a:spcBef>
                <a:spcPts val="1000"/>
              </a:spcBef>
              <a:spcAft>
                <a:spcPts val="0"/>
              </a:spcAft>
              <a:buSzPts val="2800"/>
              <a:buChar char="•"/>
            </a:pPr>
            <a:r>
              <a:rPr lang="en-US" b="0">
                <a:latin typeface="Arial" panose="020B0604020202020204"/>
                <a:ea typeface="Arial" panose="020B0604020202020204"/>
                <a:cs typeface="Arial" panose="020B0604020202020204"/>
                <a:sym typeface="Arial" panose="020B0604020202020204"/>
              </a:rPr>
              <a:t>Sự khác nhau trong tiêu dùng phần lớn xuất phát từ </a:t>
            </a:r>
            <a:r>
              <a:rPr lang="en-US">
                <a:latin typeface="Arial" panose="020B0604020202020204"/>
                <a:ea typeface="Arial" panose="020B0604020202020204"/>
                <a:cs typeface="Arial" panose="020B0604020202020204"/>
                <a:sym typeface="Arial" panose="020B0604020202020204"/>
              </a:rPr>
              <a:t>thu nhập</a:t>
            </a:r>
            <a:r>
              <a:rPr lang="en-US" b="0">
                <a:latin typeface="Arial" panose="020B0604020202020204"/>
                <a:ea typeface="Arial" panose="020B0604020202020204"/>
                <a:cs typeface="Arial" panose="020B0604020202020204"/>
                <a:sym typeface="Arial" panose="020B0604020202020204"/>
              </a:rPr>
              <a:t>.</a:t>
            </a:r>
          </a:p>
          <a:p>
            <a:pPr marL="635000" lvl="0" indent="-279400" algn="l" rtl="0">
              <a:lnSpc>
                <a:spcPct val="90000"/>
              </a:lnSpc>
              <a:spcBef>
                <a:spcPts val="1000"/>
              </a:spcBef>
              <a:spcAft>
                <a:spcPts val="0"/>
              </a:spcAft>
              <a:buSzPts val="2800"/>
              <a:buNone/>
            </a:pPr>
            <a:endParaRPr b="0">
              <a:latin typeface="Arial" panose="020B0604020202020204"/>
              <a:ea typeface="Arial" panose="020B0604020202020204"/>
              <a:cs typeface="Arial" panose="020B0604020202020204"/>
              <a:sym typeface="Arial" panose="020B0604020202020204"/>
            </a:endParaRPr>
          </a:p>
          <a:p>
            <a:pPr marL="457200" lvl="0" indent="-457200" algn="l" rtl="0">
              <a:lnSpc>
                <a:spcPct val="90000"/>
              </a:lnSpc>
              <a:spcBef>
                <a:spcPts val="1000"/>
              </a:spcBef>
              <a:spcAft>
                <a:spcPts val="0"/>
              </a:spcAft>
              <a:buSzPts val="2800"/>
              <a:buChar char="•"/>
            </a:pPr>
            <a:r>
              <a:rPr lang="en-US" b="0">
                <a:latin typeface="Arial" panose="020B0604020202020204"/>
                <a:ea typeface="Arial" panose="020B0604020202020204"/>
                <a:cs typeface="Arial" panose="020B0604020202020204"/>
                <a:sym typeface="Arial" panose="020B0604020202020204"/>
              </a:rPr>
              <a:t>Có thể phân khúc thị trường theo tiêu thức nghề nghiệp.</a:t>
            </a:r>
          </a:p>
          <a:p>
            <a:pPr marL="635000" lvl="0" indent="-279400" algn="l" rtl="0">
              <a:lnSpc>
                <a:spcPct val="90000"/>
              </a:lnSpc>
              <a:spcBef>
                <a:spcPts val="1000"/>
              </a:spcBef>
              <a:spcAft>
                <a:spcPts val="0"/>
              </a:spcAft>
              <a:buSzPts val="2800"/>
              <a:buNone/>
            </a:pPr>
            <a:endParaRPr lang="en-US" b="0">
              <a:latin typeface="Arial" panose="020B0604020202020204"/>
              <a:ea typeface="Arial" panose="020B0604020202020204"/>
              <a:cs typeface="Arial" panose="020B0604020202020204"/>
              <a:sym typeface="Arial" panose="020B0604020202020204"/>
            </a:endParaRPr>
          </a:p>
        </p:txBody>
      </p:sp>
      <p:sp>
        <p:nvSpPr>
          <p:cNvPr id="2" name="Google Shape;1614;p242"/>
          <p:cNvSpPr txBox="1"/>
          <p:nvPr/>
        </p:nvSpPr>
        <p:spPr>
          <a:xfrm>
            <a:off x="208756" y="-178482"/>
            <a:ext cx="11774488" cy="1884733"/>
          </a:xfrm>
          <a:prstGeom prst="rect">
            <a:avLst/>
          </a:prstGeom>
          <a:noFill/>
          <a:ln>
            <a:noFill/>
          </a:ln>
        </p:spPr>
        <p:txBody>
          <a:bodyPr spcFirstLastPara="1" wrap="square" lIns="91425" tIns="45700" rIns="91425" bIns="45700" anchor="b" anchorCtr="0">
            <a:normAutofit fontScale="82500" lnSpcReduction="2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30000"/>
              </a:lnSpc>
              <a:spcBef>
                <a:spcPts val="0"/>
              </a:spcBef>
              <a:spcAft>
                <a:spcPts val="0"/>
              </a:spcAft>
              <a:buClr>
                <a:srgbClr val="000000"/>
              </a:buClr>
              <a:buSzPct val="111000"/>
              <a:buFont typeface="Arial" panose="020B0604020202020204"/>
              <a:buNone/>
              <a:tabLst/>
              <a:defRPr/>
            </a:pPr>
            <a:br>
              <a:rPr kumimoji="0" lang="en-US" sz="40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br>
            <a:r>
              <a:rPr kumimoji="0" lang="en-US" sz="40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4.2. NGHỀ NGHIỆP 	</a:t>
            </a:r>
            <a:br>
              <a:rPr kumimoji="0" lang="en-US" sz="40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br>
            <a:endParaRPr kumimoji="0" lang="en-US" sz="40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3" name="Picture 2" descr="Viện Công nghệ tài chính ngân hàng"/>
          <p:cNvPicPr>
            <a:picLocks noChangeAspect="1"/>
          </p:cNvPicPr>
          <p:nvPr/>
        </p:nvPicPr>
        <p:blipFill>
          <a:blip r:embed="rId3"/>
          <a:stretch>
            <a:fillRect/>
          </a:stretch>
        </p:blipFill>
        <p:spPr>
          <a:xfrm>
            <a:off x="5361273" y="1496366"/>
            <a:ext cx="2466975" cy="1847850"/>
          </a:xfrm>
          <a:prstGeom prst="rect">
            <a:avLst/>
          </a:prstGeom>
        </p:spPr>
      </p:pic>
      <p:pic>
        <p:nvPicPr>
          <p:cNvPr id="5" name="Picture 4" descr="Tạo cầu nối đưa sinh viên đến gần hơn với doanh nghiệp"/>
          <p:cNvPicPr>
            <a:picLocks noChangeAspect="1"/>
          </p:cNvPicPr>
          <p:nvPr/>
        </p:nvPicPr>
        <p:blipFill>
          <a:blip r:embed="rId4"/>
          <a:stretch>
            <a:fillRect/>
          </a:stretch>
        </p:blipFill>
        <p:spPr>
          <a:xfrm>
            <a:off x="8235762" y="1496366"/>
            <a:ext cx="2823666" cy="1837005"/>
          </a:xfrm>
          <a:prstGeom prst="rect">
            <a:avLst/>
          </a:prstGeom>
        </p:spPr>
      </p:pic>
      <p:pic>
        <p:nvPicPr>
          <p:cNvPr id="6" name="Picture 5" descr="Trường Đại học Tài chính - Marketing"/>
          <p:cNvPicPr>
            <a:picLocks noChangeAspect="1"/>
          </p:cNvPicPr>
          <p:nvPr/>
        </p:nvPicPr>
        <p:blipFill>
          <a:blip r:embed="rId5"/>
          <a:stretch>
            <a:fillRect/>
          </a:stretch>
        </p:blipFill>
        <p:spPr>
          <a:xfrm>
            <a:off x="6257771" y="3702287"/>
            <a:ext cx="3955982" cy="2633553"/>
          </a:xfrm>
          <a:prstGeom prst="rect">
            <a:avLst/>
          </a:prstGeom>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Shape 1629"/>
        <p:cNvGrpSpPr/>
        <p:nvPr/>
      </p:nvGrpSpPr>
      <p:grpSpPr>
        <a:xfrm>
          <a:off x="0" y="0"/>
          <a:ext cx="0" cy="0"/>
          <a:chOff x="0" y="0"/>
          <a:chExt cx="0" cy="0"/>
        </a:xfrm>
      </p:grpSpPr>
      <p:grpSp>
        <p:nvGrpSpPr>
          <p:cNvPr id="1630" name="Google Shape;1630;p245"/>
          <p:cNvGrpSpPr/>
          <p:nvPr/>
        </p:nvGrpSpPr>
        <p:grpSpPr>
          <a:xfrm>
            <a:off x="343533" y="1782520"/>
            <a:ext cx="11445014" cy="3733750"/>
            <a:chOff x="1467630" y="1426608"/>
            <a:chExt cx="11445014" cy="3733750"/>
          </a:xfrm>
        </p:grpSpPr>
        <p:sp>
          <p:nvSpPr>
            <p:cNvPr id="1631" name="Google Shape;1631;p245"/>
            <p:cNvSpPr/>
            <p:nvPr/>
          </p:nvSpPr>
          <p:spPr>
            <a:xfrm>
              <a:off x="9179584" y="1426608"/>
              <a:ext cx="3733060" cy="3733750"/>
            </a:xfrm>
            <a:prstGeom prst="ellipse">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1632" name="Google Shape;1632;p245"/>
            <p:cNvSpPr/>
            <p:nvPr/>
          </p:nvSpPr>
          <p:spPr>
            <a:xfrm>
              <a:off x="9303533" y="1551088"/>
              <a:ext cx="3485161" cy="3484790"/>
            </a:xfrm>
            <a:prstGeom prst="ellipse">
              <a:avLst/>
            </a:prstGeom>
            <a:solidFill>
              <a:srgbClr val="E1EFD8"/>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1633" name="Google Shape;1633;p245"/>
            <p:cNvSpPr txBox="1"/>
            <p:nvPr/>
          </p:nvSpPr>
          <p:spPr>
            <a:xfrm>
              <a:off x="9801760" y="2049009"/>
              <a:ext cx="2488706" cy="2488948"/>
            </a:xfrm>
            <a:prstGeom prst="rect">
              <a:avLst/>
            </a:prstGeom>
            <a:noFill/>
            <a:ln>
              <a:noFill/>
            </a:ln>
          </p:spPr>
          <p:txBody>
            <a:bodyPr spcFirstLastPara="1" wrap="square" lIns="30475" tIns="30475" rIns="30475" bIns="3047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2400"/>
                <a:buFont typeface="Arial" panose="020B0604020202020204"/>
                <a:buNone/>
                <a:tabLst/>
                <a:defRPr/>
              </a:pPr>
              <a:r>
                <a:rPr kumimoji="0" lang="en-US"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Khi tình trạng kinh tế chung có sự suy thoái</a:t>
              </a:r>
              <a:r>
                <a:rPr kumimoji="0" lang="vi-VN"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phải thiết kế lại sản phẩm.</a:t>
              </a:r>
              <a:endParaRPr kumimoji="0"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1634" name="Google Shape;1634;p245"/>
            <p:cNvSpPr/>
            <p:nvPr/>
          </p:nvSpPr>
          <p:spPr>
            <a:xfrm rot="2700000">
              <a:off x="5325855" y="1431122"/>
              <a:ext cx="3724068" cy="3724068"/>
            </a:xfrm>
            <a:prstGeom prst="teardrop">
              <a:avLst>
                <a:gd name="adj" fmla="val 100000"/>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1635" name="Google Shape;1635;p245"/>
            <p:cNvSpPr/>
            <p:nvPr/>
          </p:nvSpPr>
          <p:spPr>
            <a:xfrm>
              <a:off x="5445308" y="1551088"/>
              <a:ext cx="3485161" cy="3484790"/>
            </a:xfrm>
            <a:prstGeom prst="ellipse">
              <a:avLst/>
            </a:prstGeom>
            <a:solidFill>
              <a:srgbClr val="FFF2C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1636" name="Google Shape;1636;p245"/>
            <p:cNvSpPr txBox="1"/>
            <p:nvPr/>
          </p:nvSpPr>
          <p:spPr>
            <a:xfrm>
              <a:off x="5943536" y="2049009"/>
              <a:ext cx="2488706" cy="2488948"/>
            </a:xfrm>
            <a:prstGeom prst="rect">
              <a:avLst/>
            </a:prstGeom>
            <a:noFill/>
            <a:ln>
              <a:noFill/>
            </a:ln>
          </p:spPr>
          <p:txBody>
            <a:bodyPr spcFirstLastPara="1" wrap="square" lIns="30475" tIns="30475" rIns="30475" bIns="3047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2400"/>
                <a:buFont typeface="Arial" panose="020B0604020202020204"/>
                <a:buNone/>
                <a:tabLst/>
                <a:defRPr/>
              </a:pPr>
              <a:r>
                <a:rPr kumimoji="0" lang="en-US"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Người đang ở tình trạng kinh tế khả quan thường có xu hướng sử dụng sản phẩm đắt tiền, xa xỉ.</a:t>
              </a:r>
              <a:endParaRPr kumimoji="0"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1637" name="Google Shape;1637;p245"/>
            <p:cNvSpPr/>
            <p:nvPr/>
          </p:nvSpPr>
          <p:spPr>
            <a:xfrm rot="2700000">
              <a:off x="1467630" y="1431122"/>
              <a:ext cx="3724068" cy="3724068"/>
            </a:xfrm>
            <a:prstGeom prst="teardrop">
              <a:avLst>
                <a:gd name="adj" fmla="val 100000"/>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1638" name="Google Shape;1638;p245"/>
            <p:cNvSpPr/>
            <p:nvPr/>
          </p:nvSpPr>
          <p:spPr>
            <a:xfrm>
              <a:off x="1587084" y="1551088"/>
              <a:ext cx="3485161" cy="3484790"/>
            </a:xfrm>
            <a:prstGeom prst="ellipse">
              <a:avLst/>
            </a:prstGeom>
            <a:solidFill>
              <a:schemeClr val="l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1639" name="Google Shape;1639;p245"/>
            <p:cNvSpPr txBox="1"/>
            <p:nvPr/>
          </p:nvSpPr>
          <p:spPr>
            <a:xfrm>
              <a:off x="1919438" y="2049009"/>
              <a:ext cx="2861769" cy="2488948"/>
            </a:xfrm>
            <a:prstGeom prst="rect">
              <a:avLst/>
            </a:prstGeom>
            <a:noFill/>
            <a:ln>
              <a:noFill/>
            </a:ln>
          </p:spPr>
          <p:txBody>
            <a:bodyPr spcFirstLastPara="1" wrap="square" lIns="30475" tIns="30475" rIns="30475" bIns="3047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2400"/>
                <a:buFont typeface="Arial" panose="020B0604020202020204"/>
                <a:buNone/>
                <a:tabLst/>
                <a:defRPr/>
              </a:pPr>
              <a:r>
                <a:rPr kumimoji="0" lang="en-US"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Tình trạng kinh tế của một người có thể đánh giá qua thu nhập, tài sản tích tụ, khả năng vay mượn, chi tiêu so với thu nhập và chi tiêu so với tích sản.</a:t>
              </a:r>
              <a:endParaRPr kumimoji="0"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sp>
        <p:nvSpPr>
          <p:cNvPr id="1625" name="Google Shape;1625;p244"/>
          <p:cNvSpPr txBox="1"/>
          <p:nvPr/>
        </p:nvSpPr>
        <p:spPr>
          <a:xfrm>
            <a:off x="-1228060" y="380452"/>
            <a:ext cx="11774488" cy="904147"/>
          </a:xfrm>
          <a:prstGeom prst="rect">
            <a:avLst/>
          </a:prstGeom>
          <a:noFill/>
          <a:ln>
            <a:noFill/>
          </a:ln>
        </p:spPr>
        <p:txBody>
          <a:bodyPr spcFirstLastPara="1" wrap="square" lIns="91425" tIns="45700" rIns="91425" bIns="45700" anchor="b" anchorCtr="0">
            <a:normAutofit fontScale="52500" lnSpcReduction="2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30000"/>
              </a:lnSpc>
              <a:spcBef>
                <a:spcPts val="0"/>
              </a:spcBef>
              <a:spcAft>
                <a:spcPts val="0"/>
              </a:spcAft>
              <a:buClr>
                <a:srgbClr val="000000"/>
              </a:buClr>
              <a:buSzPts val="3600"/>
              <a:buFont typeface="Arial" panose="020B0604020202020204"/>
              <a:buNone/>
              <a:tabLst/>
              <a:defRPr/>
            </a:pPr>
            <a:r>
              <a:rPr kumimoji="0" lang="en-US" sz="3600" b="1" i="0" u="none" strike="noStrike" kern="0" cap="none" spc="0" normalizeH="0" baseline="0" noProof="0">
                <a:ln>
                  <a:noFill/>
                </a:ln>
                <a:solidFill>
                  <a:srgbClr val="0000FF"/>
                </a:solidFill>
                <a:effectLst/>
                <a:uLnTx/>
                <a:uFillTx/>
                <a:latin typeface="Arial" panose="020B0604020202020204"/>
                <a:cs typeface="Arial" panose="020B0604020202020204"/>
                <a:sym typeface="Arial" panose="020B0604020202020204"/>
              </a:rPr>
              <a:t>	</a:t>
            </a:r>
            <a:br>
              <a:rPr kumimoji="0" lang="en-US" sz="3600" b="1" i="0" u="none" strike="noStrike" kern="0" cap="none" spc="0" normalizeH="0" baseline="0" noProof="0">
                <a:ln>
                  <a:noFill/>
                </a:ln>
                <a:solidFill>
                  <a:srgbClr val="0000FF"/>
                </a:solidFill>
                <a:effectLst/>
                <a:uLnTx/>
                <a:uFillTx/>
                <a:latin typeface="Arial" panose="020B0604020202020204"/>
                <a:cs typeface="Arial" panose="020B0604020202020204"/>
                <a:sym typeface="Arial" panose="020B0604020202020204"/>
              </a:rPr>
            </a:br>
            <a:r>
              <a:rPr kumimoji="0" lang="en-US" sz="5300" b="1" i="0" u="none" strike="noStrike" kern="0" cap="none" spc="0" normalizeH="0" baseline="0" noProof="0">
                <a:ln>
                  <a:noFill/>
                </a:ln>
                <a:solidFill>
                  <a:srgbClr val="0000FF"/>
                </a:solidFill>
                <a:effectLst/>
                <a:uLnTx/>
                <a:uFillTx/>
                <a:latin typeface="Arial" panose="020B0604020202020204"/>
                <a:cs typeface="Arial" panose="020B0604020202020204"/>
                <a:sym typeface="Arial" panose="020B0604020202020204"/>
              </a:rPr>
              <a:t>4.3. TÌNH TRẠNG KINH TẾ</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Shape 1648"/>
        <p:cNvGrpSpPr/>
        <p:nvPr/>
      </p:nvGrpSpPr>
      <p:grpSpPr>
        <a:xfrm>
          <a:off x="0" y="0"/>
          <a:ext cx="0" cy="0"/>
          <a:chOff x="0" y="0"/>
          <a:chExt cx="0" cy="0"/>
        </a:xfrm>
      </p:grpSpPr>
      <p:sp>
        <p:nvSpPr>
          <p:cNvPr id="1649" name="Google Shape;1649;p247"/>
          <p:cNvSpPr txBox="1">
            <a:spLocks noGrp="1"/>
          </p:cNvSpPr>
          <p:nvPr>
            <p:ph type="body" idx="1"/>
          </p:nvPr>
        </p:nvSpPr>
        <p:spPr>
          <a:xfrm>
            <a:off x="1" y="1043419"/>
            <a:ext cx="11010900" cy="5484381"/>
          </a:xfrm>
          <a:prstGeom prst="rect">
            <a:avLst/>
          </a:prstGeom>
          <a:noFill/>
          <a:ln>
            <a:noFill/>
          </a:ln>
        </p:spPr>
        <p:txBody>
          <a:bodyPr spcFirstLastPara="1" wrap="square" lIns="91425" tIns="45700" rIns="91425" bIns="45700" anchor="t" anchorCtr="0">
            <a:spAutoFit/>
          </a:bodyPr>
          <a:lstStyle/>
          <a:p>
            <a:pPr marL="457200" lvl="0" indent="-457200" algn="just" rtl="0">
              <a:lnSpc>
                <a:spcPct val="150000"/>
              </a:lnSpc>
              <a:spcBef>
                <a:spcPts val="0"/>
              </a:spcBef>
              <a:spcAft>
                <a:spcPts val="0"/>
              </a:spcAft>
              <a:buSzPts val="2800"/>
              <a:buChar char="•"/>
            </a:pPr>
            <a:r>
              <a:rPr lang="en-US">
                <a:latin typeface="Arial" panose="020B0604020202020204"/>
                <a:ea typeface="Arial" panose="020B0604020202020204"/>
                <a:cs typeface="Arial" panose="020B0604020202020204"/>
                <a:sym typeface="Arial" panose="020B0604020202020204"/>
              </a:rPr>
              <a:t>Quan </a:t>
            </a:r>
            <a:r>
              <a:rPr lang="en-US" err="1">
                <a:latin typeface="Arial" panose="020B0604020202020204"/>
                <a:ea typeface="Arial" panose="020B0604020202020204"/>
                <a:cs typeface="Arial" panose="020B0604020202020204"/>
                <a:sym typeface="Arial" panose="020B0604020202020204"/>
              </a:rPr>
              <a:t>niệm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toàn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bộ</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suy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nghĩ</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cảm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xúc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của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liên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quan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mình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như</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đối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tượng</a:t>
            </a:r>
            <a:r>
              <a:rPr lang="en-US">
                <a:latin typeface="Arial" panose="020B0604020202020204"/>
                <a:ea typeface="Arial" panose="020B0604020202020204"/>
                <a:cs typeface="Arial" panose="020B0604020202020204"/>
                <a:sym typeface="Arial" panose="020B0604020202020204"/>
              </a:rPr>
              <a:t>. </a:t>
            </a:r>
            <a:endParaRPr>
              <a:latin typeface="Arial" panose="020B0604020202020204"/>
              <a:ea typeface="Arial" panose="020B0604020202020204"/>
              <a:cs typeface="Arial" panose="020B0604020202020204"/>
              <a:sym typeface="Arial" panose="020B0604020202020204"/>
            </a:endParaRPr>
          </a:p>
          <a:p>
            <a:pPr marL="457200" lvl="0" indent="-457200" algn="just" rtl="0">
              <a:lnSpc>
                <a:spcPct val="150000"/>
              </a:lnSpc>
              <a:spcBef>
                <a:spcPts val="0"/>
              </a:spcBef>
              <a:spcAft>
                <a:spcPts val="0"/>
              </a:spcAft>
              <a:buSzPts val="2800"/>
              <a:buChar char="•"/>
            </a:pPr>
            <a:r>
              <a:rPr lang="en-US" err="1">
                <a:latin typeface="Arial" panose="020B0604020202020204"/>
                <a:ea typeface="Arial" panose="020B0604020202020204"/>
                <a:cs typeface="Arial" panose="020B0604020202020204"/>
                <a:sym typeface="Arial" panose="020B0604020202020204"/>
              </a:rPr>
              <a:t>Gồm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bốn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thành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phần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cơ</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bản</a:t>
            </a:r>
            <a:r>
              <a:rPr lang="en-US">
                <a:latin typeface="Arial" panose="020B0604020202020204"/>
                <a:ea typeface="Arial" panose="020B0604020202020204"/>
                <a:cs typeface="Arial" panose="020B0604020202020204"/>
                <a:sym typeface="Arial" panose="020B0604020202020204"/>
              </a:rPr>
              <a:t>: </a:t>
            </a:r>
            <a:endParaRPr>
              <a:latin typeface="Arial" panose="020B0604020202020204"/>
              <a:ea typeface="Arial" panose="020B0604020202020204"/>
              <a:cs typeface="Arial" panose="020B0604020202020204"/>
              <a:sym typeface="Arial" panose="020B0604020202020204"/>
            </a:endParaRPr>
          </a:p>
          <a:p>
            <a:pPr marL="800100" lvl="1" indent="-342900" algn="just" rtl="0">
              <a:lnSpc>
                <a:spcPct val="150000"/>
              </a:lnSpc>
              <a:spcBef>
                <a:spcPts val="0"/>
              </a:spcBef>
              <a:spcAft>
                <a:spcPts val="0"/>
              </a:spcAft>
              <a:buSzPts val="2400"/>
              <a:buChar char="•"/>
            </a:pPr>
            <a:r>
              <a:rPr lang="en-US" err="1">
                <a:latin typeface="Arial" panose="020B0604020202020204"/>
                <a:ea typeface="Arial" panose="020B0604020202020204"/>
                <a:cs typeface="Arial" panose="020B0604020202020204"/>
                <a:sym typeface="Arial" panose="020B0604020202020204"/>
              </a:rPr>
              <a:t>Thực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tế</a:t>
            </a:r>
            <a:r>
              <a:rPr lang="en-US">
                <a:latin typeface="Arial" panose="020B0604020202020204"/>
                <a:ea typeface="Arial" panose="020B0604020202020204"/>
                <a:cs typeface="Arial" panose="020B0604020202020204"/>
                <a:sym typeface="Arial" panose="020B0604020202020204"/>
              </a:rPr>
              <a:t> so </a:t>
            </a:r>
            <a:r>
              <a:rPr lang="en-US" err="1">
                <a:latin typeface="Arial" panose="020B0604020202020204"/>
                <a:ea typeface="Arial" panose="020B0604020202020204"/>
                <a:cs typeface="Arial" panose="020B0604020202020204"/>
                <a:sym typeface="Arial" panose="020B0604020202020204"/>
              </a:rPr>
              <a:t>với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lý</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tưởng</a:t>
            </a:r>
            <a:r>
              <a:rPr lang="en-US">
                <a:latin typeface="Arial" panose="020B0604020202020204"/>
                <a:ea typeface="Arial" panose="020B0604020202020204"/>
                <a:cs typeface="Arial" panose="020B0604020202020204"/>
                <a:sym typeface="Arial" panose="020B0604020202020204"/>
              </a:rPr>
              <a:t>:</a:t>
            </a:r>
            <a:endParaRPr>
              <a:latin typeface="Arial" panose="020B0604020202020204"/>
              <a:ea typeface="Arial" panose="020B0604020202020204"/>
              <a:cs typeface="Arial" panose="020B0604020202020204"/>
              <a:sym typeface="Arial" panose="020B0604020202020204"/>
            </a:endParaRPr>
          </a:p>
          <a:p>
            <a:pPr marL="1257300" lvl="2" indent="-342900" algn="just" rtl="0">
              <a:lnSpc>
                <a:spcPct val="150000"/>
              </a:lnSpc>
              <a:spcBef>
                <a:spcPts val="0"/>
              </a:spcBef>
              <a:spcAft>
                <a:spcPts val="0"/>
              </a:spcAft>
              <a:buSzPts val="2000"/>
              <a:buChar char="•"/>
            </a:pPr>
            <a:r>
              <a:rPr lang="en-US" err="1">
                <a:latin typeface="Arial" panose="020B0604020202020204"/>
                <a:ea typeface="Arial" panose="020B0604020202020204"/>
                <a:cs typeface="Arial" panose="020B0604020202020204"/>
                <a:sym typeface="Arial" panose="020B0604020202020204"/>
              </a:rPr>
              <a:t>Bản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thực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tế</a:t>
            </a:r>
            <a:r>
              <a:rPr lang="en-US">
                <a:latin typeface="Arial" panose="020B0604020202020204"/>
                <a:ea typeface="Arial" panose="020B0604020202020204"/>
                <a:cs typeface="Arial" panose="020B0604020202020204"/>
                <a:sym typeface="Arial" panose="020B0604020202020204"/>
              </a:rPr>
              <a:t>: con </a:t>
            </a:r>
            <a:r>
              <a:rPr lang="en-US" err="1">
                <a:latin typeface="Arial" panose="020B0604020202020204"/>
                <a:ea typeface="Arial" panose="020B0604020202020204"/>
                <a:cs typeface="Arial" panose="020B0604020202020204"/>
                <a:sym typeface="Arial" panose="020B0604020202020204"/>
              </a:rPr>
              <a:t>người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tôi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hiện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tại</a:t>
            </a:r>
            <a:endParaRPr>
              <a:latin typeface="Arial" panose="020B0604020202020204"/>
              <a:ea typeface="Arial" panose="020B0604020202020204"/>
              <a:cs typeface="Arial" panose="020B0604020202020204"/>
              <a:sym typeface="Arial" panose="020B0604020202020204"/>
            </a:endParaRPr>
          </a:p>
          <a:p>
            <a:pPr marL="1257300" lvl="2" indent="-342900" algn="just" rtl="0">
              <a:lnSpc>
                <a:spcPct val="150000"/>
              </a:lnSpc>
              <a:spcBef>
                <a:spcPts val="0"/>
              </a:spcBef>
              <a:spcAft>
                <a:spcPts val="0"/>
              </a:spcAft>
              <a:buSzPts val="2000"/>
              <a:buChar char="•"/>
            </a:pPr>
            <a:r>
              <a:rPr lang="en-US" err="1">
                <a:latin typeface="Arial" panose="020B0604020202020204"/>
                <a:ea typeface="Arial" panose="020B0604020202020204"/>
                <a:cs typeface="Arial" panose="020B0604020202020204"/>
                <a:sym typeface="Arial" panose="020B0604020202020204"/>
              </a:rPr>
              <a:t>Bản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lý</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tưởng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tôi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muốn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trở</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thành</a:t>
            </a:r>
            <a:r>
              <a:rPr lang="en-US">
                <a:latin typeface="Arial" panose="020B0604020202020204"/>
                <a:ea typeface="Arial" panose="020B0604020202020204"/>
                <a:cs typeface="Arial" panose="020B0604020202020204"/>
                <a:sym typeface="Arial" panose="020B0604020202020204"/>
              </a:rPr>
              <a:t> ai</a:t>
            </a:r>
            <a:endParaRPr>
              <a:latin typeface="Arial" panose="020B0604020202020204"/>
              <a:ea typeface="Arial" panose="020B0604020202020204"/>
              <a:cs typeface="Arial" panose="020B0604020202020204"/>
              <a:sym typeface="Arial" panose="020B0604020202020204"/>
            </a:endParaRPr>
          </a:p>
          <a:p>
            <a:pPr marL="800100" lvl="1" indent="-342900" algn="just" rtl="0">
              <a:lnSpc>
                <a:spcPct val="150000"/>
              </a:lnSpc>
              <a:spcBef>
                <a:spcPts val="0"/>
              </a:spcBef>
              <a:spcAft>
                <a:spcPts val="0"/>
              </a:spcAft>
              <a:buSzPts val="2400"/>
              <a:buChar char="•"/>
            </a:pPr>
            <a:r>
              <a:rPr lang="en-US" err="1">
                <a:latin typeface="Arial" panose="020B0604020202020204"/>
                <a:ea typeface="Arial" panose="020B0604020202020204"/>
                <a:cs typeface="Arial" panose="020B0604020202020204"/>
                <a:sym typeface="Arial" panose="020B0604020202020204"/>
              </a:rPr>
              <a:t>Riêng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tư</a:t>
            </a:r>
            <a:r>
              <a:rPr lang="en-US">
                <a:latin typeface="Arial" panose="020B0604020202020204"/>
                <a:ea typeface="Arial" panose="020B0604020202020204"/>
                <a:cs typeface="Arial" panose="020B0604020202020204"/>
                <a:sym typeface="Arial" panose="020B0604020202020204"/>
              </a:rPr>
              <a:t> so </a:t>
            </a:r>
            <a:r>
              <a:rPr lang="en-US" err="1">
                <a:latin typeface="Arial" panose="020B0604020202020204"/>
                <a:ea typeface="Arial" panose="020B0604020202020204"/>
                <a:cs typeface="Arial" panose="020B0604020202020204"/>
                <a:sym typeface="Arial" panose="020B0604020202020204"/>
              </a:rPr>
              <a:t>với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xã</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hội</a:t>
            </a:r>
            <a:endParaRPr>
              <a:latin typeface="Arial" panose="020B0604020202020204"/>
              <a:ea typeface="Arial" panose="020B0604020202020204"/>
              <a:cs typeface="Arial" panose="020B0604020202020204"/>
              <a:sym typeface="Arial" panose="020B0604020202020204"/>
            </a:endParaRPr>
          </a:p>
          <a:p>
            <a:pPr marL="1257300" lvl="2" indent="-342900" algn="just" rtl="0">
              <a:lnSpc>
                <a:spcPct val="150000"/>
              </a:lnSpc>
              <a:spcBef>
                <a:spcPts val="0"/>
              </a:spcBef>
              <a:spcAft>
                <a:spcPts val="0"/>
              </a:spcAft>
              <a:buSzPts val="2000"/>
              <a:buChar char="•"/>
            </a:pPr>
            <a:r>
              <a:rPr lang="en-US" err="1">
                <a:latin typeface="Arial" panose="020B0604020202020204"/>
                <a:ea typeface="Arial" panose="020B0604020202020204"/>
                <a:cs typeface="Arial" panose="020B0604020202020204"/>
                <a:sym typeface="Arial" panose="020B0604020202020204"/>
              </a:rPr>
              <a:t>Bản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riêng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tư</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tôi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muốn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trở</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thành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chính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mình</a:t>
            </a:r>
            <a:endParaRPr>
              <a:latin typeface="Arial" panose="020B0604020202020204"/>
              <a:ea typeface="Arial" panose="020B0604020202020204"/>
              <a:cs typeface="Arial" panose="020B0604020202020204"/>
              <a:sym typeface="Arial" panose="020B0604020202020204"/>
            </a:endParaRPr>
          </a:p>
          <a:p>
            <a:pPr marL="1257300" lvl="2" indent="-342900" algn="just" rtl="0">
              <a:lnSpc>
                <a:spcPct val="150000"/>
              </a:lnSpc>
              <a:spcBef>
                <a:spcPts val="0"/>
              </a:spcBef>
              <a:spcAft>
                <a:spcPts val="0"/>
              </a:spcAft>
              <a:buSzPts val="2000"/>
              <a:buChar char="•"/>
            </a:pPr>
            <a:r>
              <a:rPr lang="en-US" err="1">
                <a:latin typeface="Arial" panose="020B0604020202020204"/>
                <a:ea typeface="Arial" panose="020B0604020202020204"/>
                <a:cs typeface="Arial" panose="020B0604020202020204"/>
                <a:sym typeface="Arial" panose="020B0604020202020204"/>
              </a:rPr>
              <a:t>Bản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xã</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hội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mọi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người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nhìn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thấy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như</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thế</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nào</a:t>
            </a:r>
            <a:r>
              <a:rPr lang="en-US">
                <a:latin typeface="Arial" panose="020B0604020202020204"/>
                <a:ea typeface="Arial" panose="020B0604020202020204"/>
                <a:cs typeface="Arial" panose="020B0604020202020204"/>
                <a:sym typeface="Arial" panose="020B0604020202020204"/>
              </a:rPr>
              <a:t> </a:t>
            </a:r>
            <a:r>
              <a:rPr lang="en-US" i="1">
                <a:latin typeface="Arial" panose="020B0604020202020204"/>
                <a:ea typeface="Arial" panose="020B0604020202020204"/>
                <a:cs typeface="Arial" panose="020B0604020202020204"/>
                <a:sym typeface="Arial" panose="020B0604020202020204"/>
              </a:rPr>
              <a:t>(</a:t>
            </a:r>
            <a:r>
              <a:rPr lang="en-US" i="1" err="1">
                <a:latin typeface="Arial" panose="020B0604020202020204"/>
                <a:ea typeface="Arial" panose="020B0604020202020204"/>
                <a:cs typeface="Arial" panose="020B0604020202020204"/>
                <a:sym typeface="Arial" panose="020B0604020202020204"/>
              </a:rPr>
              <a:t>bản</a:t>
            </a:r>
            <a:r>
              <a:rPr lang="en-US" i="1">
                <a:latin typeface="Arial" panose="020B0604020202020204"/>
                <a:ea typeface="Arial" panose="020B0604020202020204"/>
                <a:cs typeface="Arial" panose="020B0604020202020204"/>
                <a:sym typeface="Arial" panose="020B0604020202020204"/>
              </a:rPr>
              <a:t> </a:t>
            </a:r>
            <a:r>
              <a:rPr lang="en-US" i="1" err="1">
                <a:latin typeface="Arial" panose="020B0604020202020204"/>
                <a:ea typeface="Arial" panose="020B0604020202020204"/>
                <a:cs typeface="Arial" panose="020B0604020202020204"/>
                <a:sym typeface="Arial" panose="020B0604020202020204"/>
              </a:rPr>
              <a:t>thân</a:t>
            </a:r>
            <a:r>
              <a:rPr lang="en-US" i="1">
                <a:latin typeface="Arial" panose="020B0604020202020204"/>
                <a:ea typeface="Arial" panose="020B0604020202020204"/>
                <a:cs typeface="Arial" panose="020B0604020202020204"/>
                <a:sym typeface="Arial" panose="020B0604020202020204"/>
              </a:rPr>
              <a:t> </a:t>
            </a:r>
            <a:r>
              <a:rPr lang="en-US" i="1" err="1">
                <a:latin typeface="Arial" panose="020B0604020202020204"/>
                <a:ea typeface="Arial" panose="020B0604020202020204"/>
                <a:cs typeface="Arial" panose="020B0604020202020204"/>
                <a:sym typeface="Arial" panose="020B0604020202020204"/>
              </a:rPr>
              <a:t>xã</a:t>
            </a:r>
            <a:r>
              <a:rPr lang="en-US" i="1">
                <a:latin typeface="Arial" panose="020B0604020202020204"/>
                <a:ea typeface="Arial" panose="020B0604020202020204"/>
                <a:cs typeface="Arial" panose="020B0604020202020204"/>
                <a:sym typeface="Arial" panose="020B0604020202020204"/>
              </a:rPr>
              <a:t> </a:t>
            </a:r>
            <a:r>
              <a:rPr lang="en-US" i="1" err="1">
                <a:latin typeface="Arial" panose="020B0604020202020204"/>
                <a:ea typeface="Arial" panose="020B0604020202020204"/>
                <a:cs typeface="Arial" panose="020B0604020202020204"/>
                <a:sym typeface="Arial" panose="020B0604020202020204"/>
              </a:rPr>
              <a:t>hội</a:t>
            </a:r>
            <a:r>
              <a:rPr lang="en-US" i="1">
                <a:latin typeface="Arial" panose="020B0604020202020204"/>
                <a:ea typeface="Arial" panose="020B0604020202020204"/>
                <a:cs typeface="Arial" panose="020B0604020202020204"/>
                <a:sym typeface="Arial" panose="020B0604020202020204"/>
              </a:rPr>
              <a:t> </a:t>
            </a:r>
            <a:r>
              <a:rPr lang="en-US" i="1" err="1">
                <a:latin typeface="Arial" panose="020B0604020202020204"/>
                <a:ea typeface="Arial" panose="020B0604020202020204"/>
                <a:cs typeface="Arial" panose="020B0604020202020204"/>
                <a:sym typeface="Arial" panose="020B0604020202020204"/>
              </a:rPr>
              <a:t>thực</a:t>
            </a:r>
            <a:r>
              <a:rPr lang="en-US" i="1">
                <a:latin typeface="Arial" panose="020B0604020202020204"/>
                <a:ea typeface="Arial" panose="020B0604020202020204"/>
                <a:cs typeface="Arial" panose="020B0604020202020204"/>
                <a:sym typeface="Arial" panose="020B0604020202020204"/>
              </a:rPr>
              <a:t> </a:t>
            </a:r>
            <a:r>
              <a:rPr lang="en-US" i="1" err="1">
                <a:latin typeface="Arial" panose="020B0604020202020204"/>
                <a:ea typeface="Arial" panose="020B0604020202020204"/>
                <a:cs typeface="Arial" panose="020B0604020202020204"/>
                <a:sym typeface="Arial" panose="020B0604020202020204"/>
              </a:rPr>
              <a:t>tế</a:t>
            </a:r>
            <a:r>
              <a:rPr lang="en-US" i="1">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hoặc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tôi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muốn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người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nhìn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thấy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mình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như</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thế</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nào</a:t>
            </a:r>
            <a:r>
              <a:rPr lang="en-US">
                <a:latin typeface="Arial" panose="020B0604020202020204"/>
                <a:ea typeface="Arial" panose="020B0604020202020204"/>
                <a:cs typeface="Arial" panose="020B0604020202020204"/>
                <a:sym typeface="Arial" panose="020B0604020202020204"/>
              </a:rPr>
              <a:t> </a:t>
            </a:r>
            <a:r>
              <a:rPr lang="en-US" i="1">
                <a:latin typeface="Arial" panose="020B0604020202020204"/>
                <a:ea typeface="Arial" panose="020B0604020202020204"/>
                <a:cs typeface="Arial" panose="020B0604020202020204"/>
                <a:sym typeface="Arial" panose="020B0604020202020204"/>
              </a:rPr>
              <a:t>(</a:t>
            </a:r>
            <a:r>
              <a:rPr lang="en-US" i="1" err="1">
                <a:latin typeface="Arial" panose="020B0604020202020204"/>
                <a:ea typeface="Arial" panose="020B0604020202020204"/>
                <a:cs typeface="Arial" panose="020B0604020202020204"/>
                <a:sym typeface="Arial" panose="020B0604020202020204"/>
              </a:rPr>
              <a:t>bản</a:t>
            </a:r>
            <a:r>
              <a:rPr lang="en-US" i="1">
                <a:latin typeface="Arial" panose="020B0604020202020204"/>
                <a:ea typeface="Arial" panose="020B0604020202020204"/>
                <a:cs typeface="Arial" panose="020B0604020202020204"/>
                <a:sym typeface="Arial" panose="020B0604020202020204"/>
              </a:rPr>
              <a:t> </a:t>
            </a:r>
            <a:r>
              <a:rPr lang="en-US" i="1" err="1">
                <a:latin typeface="Arial" panose="020B0604020202020204"/>
                <a:ea typeface="Arial" panose="020B0604020202020204"/>
                <a:cs typeface="Arial" panose="020B0604020202020204"/>
                <a:sym typeface="Arial" panose="020B0604020202020204"/>
              </a:rPr>
              <a:t>thân</a:t>
            </a:r>
            <a:r>
              <a:rPr lang="en-US" i="1">
                <a:latin typeface="Arial" panose="020B0604020202020204"/>
                <a:ea typeface="Arial" panose="020B0604020202020204"/>
                <a:cs typeface="Arial" panose="020B0604020202020204"/>
                <a:sym typeface="Arial" panose="020B0604020202020204"/>
              </a:rPr>
              <a:t> </a:t>
            </a:r>
            <a:r>
              <a:rPr lang="en-US" i="1" err="1">
                <a:latin typeface="Arial" panose="020B0604020202020204"/>
                <a:ea typeface="Arial" panose="020B0604020202020204"/>
                <a:cs typeface="Arial" panose="020B0604020202020204"/>
                <a:sym typeface="Arial" panose="020B0604020202020204"/>
              </a:rPr>
              <a:t>xã</a:t>
            </a:r>
            <a:r>
              <a:rPr lang="en-US" i="1">
                <a:latin typeface="Arial" panose="020B0604020202020204"/>
                <a:ea typeface="Arial" panose="020B0604020202020204"/>
                <a:cs typeface="Arial" panose="020B0604020202020204"/>
                <a:sym typeface="Arial" panose="020B0604020202020204"/>
              </a:rPr>
              <a:t> </a:t>
            </a:r>
            <a:r>
              <a:rPr lang="en-US" i="1" err="1">
                <a:latin typeface="Arial" panose="020B0604020202020204"/>
                <a:ea typeface="Arial" panose="020B0604020202020204"/>
                <a:cs typeface="Arial" panose="020B0604020202020204"/>
                <a:sym typeface="Arial" panose="020B0604020202020204"/>
              </a:rPr>
              <a:t>hội</a:t>
            </a:r>
            <a:r>
              <a:rPr lang="en-US" i="1">
                <a:latin typeface="Arial" panose="020B0604020202020204"/>
                <a:ea typeface="Arial" panose="020B0604020202020204"/>
                <a:cs typeface="Arial" panose="020B0604020202020204"/>
                <a:sym typeface="Arial" panose="020B0604020202020204"/>
              </a:rPr>
              <a:t> </a:t>
            </a:r>
            <a:r>
              <a:rPr lang="en-US" i="1" err="1">
                <a:latin typeface="Arial" panose="020B0604020202020204"/>
                <a:ea typeface="Arial" panose="020B0604020202020204"/>
                <a:cs typeface="Arial" panose="020B0604020202020204"/>
                <a:sym typeface="Arial" panose="020B0604020202020204"/>
              </a:rPr>
              <a:t>lý</a:t>
            </a:r>
            <a:r>
              <a:rPr lang="en-US" i="1">
                <a:latin typeface="Arial" panose="020B0604020202020204"/>
                <a:ea typeface="Arial" panose="020B0604020202020204"/>
                <a:cs typeface="Arial" panose="020B0604020202020204"/>
                <a:sym typeface="Arial" panose="020B0604020202020204"/>
              </a:rPr>
              <a:t> </a:t>
            </a:r>
            <a:r>
              <a:rPr lang="en-US" i="1" err="1">
                <a:latin typeface="Arial" panose="020B0604020202020204"/>
                <a:ea typeface="Arial" panose="020B0604020202020204"/>
                <a:cs typeface="Arial" panose="020B0604020202020204"/>
                <a:sym typeface="Arial" panose="020B0604020202020204"/>
              </a:rPr>
              <a:t>tưởng</a:t>
            </a:r>
            <a:r>
              <a:rPr lang="en-US" i="1">
                <a:latin typeface="Arial" panose="020B0604020202020204"/>
                <a:ea typeface="Arial" panose="020B0604020202020204"/>
                <a:cs typeface="Arial" panose="020B0604020202020204"/>
                <a:sym typeface="Arial" panose="020B0604020202020204"/>
              </a:rPr>
              <a:t>)</a:t>
            </a:r>
            <a:endParaRPr>
              <a:latin typeface="Arial" panose="020B0604020202020204"/>
              <a:ea typeface="Arial" panose="020B0604020202020204"/>
              <a:cs typeface="Arial" panose="020B0604020202020204"/>
              <a:sym typeface="Arial" panose="020B0604020202020204"/>
            </a:endParaRPr>
          </a:p>
        </p:txBody>
      </p:sp>
      <p:sp>
        <p:nvSpPr>
          <p:cNvPr id="1650" name="Google Shape;1650;p247"/>
          <p:cNvSpPr txBox="1"/>
          <p:nvPr/>
        </p:nvSpPr>
        <p:spPr>
          <a:xfrm>
            <a:off x="417512" y="-646145"/>
            <a:ext cx="11774488" cy="2445000"/>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130000"/>
              </a:lnSpc>
              <a:spcBef>
                <a:spcPts val="0"/>
              </a:spcBef>
              <a:spcAft>
                <a:spcPts val="0"/>
              </a:spcAft>
              <a:buClr>
                <a:srgbClr val="000000"/>
              </a:buClr>
              <a:buSzPts val="3600"/>
              <a:buFont typeface="Arial" panose="020B0604020202020204"/>
              <a:buNone/>
              <a:tabLst/>
              <a:defRPr/>
            </a:pPr>
            <a:br>
              <a:rPr kumimoji="0" lang="en-US" sz="36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br>
            <a:r>
              <a:rPr kumimoji="0" lang="en-US" sz="36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4.4. QUAN NIỆM BẢN THÂN</a:t>
            </a:r>
            <a:br>
              <a:rPr kumimoji="0" lang="en-US" sz="36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br>
            <a:endParaRPr kumimoji="0" sz="36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Shape 1654"/>
        <p:cNvGrpSpPr/>
        <p:nvPr/>
      </p:nvGrpSpPr>
      <p:grpSpPr>
        <a:xfrm>
          <a:off x="0" y="0"/>
          <a:ext cx="0" cy="0"/>
          <a:chOff x="0" y="0"/>
          <a:chExt cx="0" cy="0"/>
        </a:xfrm>
      </p:grpSpPr>
      <p:sp>
        <p:nvSpPr>
          <p:cNvPr id="1655" name="Google Shape;1655;p248"/>
          <p:cNvSpPr txBox="1">
            <a:spLocks noGrp="1"/>
          </p:cNvSpPr>
          <p:nvPr>
            <p:ph type="body" idx="1"/>
          </p:nvPr>
        </p:nvSpPr>
        <p:spPr>
          <a:xfrm>
            <a:off x="0" y="1454714"/>
            <a:ext cx="11672644" cy="5221902"/>
          </a:xfrm>
          <a:prstGeom prst="rect">
            <a:avLst/>
          </a:prstGeom>
          <a:noFill/>
          <a:ln>
            <a:noFill/>
          </a:ln>
        </p:spPr>
        <p:txBody>
          <a:bodyPr spcFirstLastPara="1" wrap="square" lIns="91425" tIns="45700" rIns="91425" bIns="45700" anchor="t" anchorCtr="0">
            <a:spAutoFit/>
          </a:bodyPr>
          <a:lstStyle/>
          <a:p>
            <a:pPr marL="342900" lvl="0" indent="-342900" algn="just" rtl="0">
              <a:lnSpc>
                <a:spcPts val="4000"/>
              </a:lnSpc>
              <a:spcBef>
                <a:spcPts val="0"/>
              </a:spcBef>
              <a:spcAft>
                <a:spcPts val="0"/>
              </a:spcAft>
              <a:buSzPts val="2400"/>
              <a:buChar char="•"/>
            </a:pPr>
            <a:r>
              <a:rPr lang="en-US" sz="2600">
                <a:latin typeface="Arial" panose="020B0604020202020204"/>
                <a:ea typeface="Arial" panose="020B0604020202020204"/>
                <a:cs typeface="Arial" panose="020B0604020202020204"/>
                <a:sym typeface="Arial" panose="020B0604020202020204"/>
              </a:rPr>
              <a:t>Quan </a:t>
            </a:r>
            <a:r>
              <a:rPr lang="en-US" sz="2600" err="1">
                <a:latin typeface="Arial" panose="020B0604020202020204"/>
                <a:ea typeface="Arial" panose="020B0604020202020204"/>
                <a:cs typeface="Arial" panose="020B0604020202020204"/>
                <a:sym typeface="Arial" panose="020B0604020202020204"/>
              </a:rPr>
              <a:t>niệm</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bản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thân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rất</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quan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trọng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trong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tất</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cả</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các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nền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văn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hóa</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Khái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niệm</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bản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thân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nhấn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mạnh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mục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tiêu</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cá</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nhân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đặc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điểm</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thành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tích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và</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mong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muốn</a:t>
            </a:r>
            <a:r>
              <a:rPr lang="en-US" sz="2600">
                <a:latin typeface="Arial" panose="020B0604020202020204"/>
                <a:ea typeface="Arial" panose="020B0604020202020204"/>
                <a:cs typeface="Arial" panose="020B0604020202020204"/>
                <a:sym typeface="Arial" panose="020B0604020202020204"/>
              </a:rPr>
              <a:t>. </a:t>
            </a:r>
            <a:endParaRPr sz="2600">
              <a:latin typeface="Arial" panose="020B0604020202020204"/>
              <a:ea typeface="Arial" panose="020B0604020202020204"/>
              <a:cs typeface="Arial" panose="020B0604020202020204"/>
              <a:sym typeface="Arial" panose="020B0604020202020204"/>
            </a:endParaRPr>
          </a:p>
          <a:p>
            <a:pPr marL="342900" lvl="0" indent="-342900" algn="just" rtl="0">
              <a:lnSpc>
                <a:spcPts val="4000"/>
              </a:lnSpc>
              <a:spcBef>
                <a:spcPts val="0"/>
              </a:spcBef>
              <a:spcAft>
                <a:spcPts val="0"/>
              </a:spcAft>
              <a:buSzPts val="2400"/>
              <a:buChar char="•"/>
            </a:pPr>
            <a:r>
              <a:rPr lang="en-US" sz="2600">
                <a:latin typeface="Arial" panose="020B0604020202020204"/>
                <a:ea typeface="Arial" panose="020B0604020202020204"/>
                <a:cs typeface="Arial" panose="020B0604020202020204"/>
                <a:sym typeface="Arial" panose="020B0604020202020204"/>
              </a:rPr>
              <a:t>Quan </a:t>
            </a:r>
            <a:r>
              <a:rPr lang="en-US" sz="2600" err="1">
                <a:latin typeface="Arial" panose="020B0604020202020204"/>
                <a:ea typeface="Arial" panose="020B0604020202020204"/>
                <a:cs typeface="Arial" panose="020B0604020202020204"/>
                <a:sym typeface="Arial" panose="020B0604020202020204"/>
              </a:rPr>
              <a:t>niệm</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tự</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phụ</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thuộc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lẫn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nhau</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nhấn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mạnh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gia</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đình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chủ</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nghĩa</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tập</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thể</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mối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quan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hệ</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văn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hóa</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và</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xã</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hội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Họ</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xác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định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bản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thân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về</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vai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trò</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xã</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hội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mối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quan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hệ</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gia</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đình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và</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sự</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tương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đồng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với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các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thành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viên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khác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trong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nhóm</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của</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họ</a:t>
            </a:r>
            <a:r>
              <a:rPr lang="en-US" sz="2600">
                <a:latin typeface="Arial" panose="020B0604020202020204"/>
                <a:ea typeface="Arial" panose="020B0604020202020204"/>
                <a:cs typeface="Arial" panose="020B0604020202020204"/>
                <a:sym typeface="Arial" panose="020B0604020202020204"/>
              </a:rPr>
              <a:t>.</a:t>
            </a:r>
            <a:endParaRPr sz="2600">
              <a:latin typeface="Arial" panose="020B0604020202020204"/>
              <a:ea typeface="Arial" panose="020B0604020202020204"/>
              <a:cs typeface="Arial" panose="020B0604020202020204"/>
              <a:sym typeface="Arial" panose="020B0604020202020204"/>
            </a:endParaRPr>
          </a:p>
          <a:p>
            <a:pPr marL="342900" lvl="0" indent="-342900" algn="just" rtl="0">
              <a:lnSpc>
                <a:spcPts val="4000"/>
              </a:lnSpc>
              <a:spcBef>
                <a:spcPts val="0"/>
              </a:spcBef>
              <a:spcAft>
                <a:spcPts val="0"/>
              </a:spcAft>
              <a:buSzPts val="2400"/>
              <a:buChar char="•"/>
            </a:pPr>
            <a:r>
              <a:rPr lang="en-US" sz="2600" err="1">
                <a:latin typeface="Arial" panose="020B0604020202020204"/>
                <a:ea typeface="Arial" panose="020B0604020202020204"/>
                <a:cs typeface="Arial" panose="020B0604020202020204"/>
                <a:sym typeface="Arial" panose="020B0604020202020204"/>
              </a:rPr>
              <a:t>Quảng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cáo</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nhấn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mạnh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yếu</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tố</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cá</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nhân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đạt</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hiệu</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quả</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nhất</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khi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sức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hấp</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dẫn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của</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chúng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phù</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hợp</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với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loại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quan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niệm</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bản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thân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chiếm</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ưu</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thế</a:t>
            </a:r>
            <a:r>
              <a:rPr lang="en-US" sz="2600">
                <a:latin typeface="Arial" panose="020B0604020202020204"/>
                <a:ea typeface="Arial" panose="020B0604020202020204"/>
                <a:cs typeface="Arial" panose="020B0604020202020204"/>
                <a:sym typeface="Arial" panose="020B0604020202020204"/>
              </a:rPr>
              <a:t> do </a:t>
            </a:r>
            <a:r>
              <a:rPr lang="en-US" sz="2600" err="1">
                <a:latin typeface="Arial" panose="020B0604020202020204"/>
                <a:ea typeface="Arial" panose="020B0604020202020204"/>
                <a:cs typeface="Arial" panose="020B0604020202020204"/>
                <a:sym typeface="Arial" panose="020B0604020202020204"/>
              </a:rPr>
              <a:t>thị</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trường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mục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tiêu</a:t>
            </a:r>
            <a:r>
              <a:rPr lang="en-US" sz="2600">
                <a:latin typeface="Arial" panose="020B0604020202020204"/>
                <a:ea typeface="Arial" panose="020B0604020202020204"/>
                <a:cs typeface="Arial" panose="020B0604020202020204"/>
                <a:sym typeface="Arial" panose="020B0604020202020204"/>
              </a:rPr>
              <a:t>. </a:t>
            </a:r>
            <a:endParaRPr sz="2600">
              <a:latin typeface="Arial" panose="020B0604020202020204"/>
              <a:ea typeface="Arial" panose="020B0604020202020204"/>
              <a:cs typeface="Arial" panose="020B0604020202020204"/>
              <a:sym typeface="Arial" panose="020B0604020202020204"/>
            </a:endParaRPr>
          </a:p>
        </p:txBody>
      </p:sp>
      <p:sp>
        <p:nvSpPr>
          <p:cNvPr id="1656" name="Google Shape;1656;p248"/>
          <p:cNvSpPr txBox="1">
            <a:spLocks noGrp="1"/>
          </p:cNvSpPr>
          <p:nvPr>
            <p:ph type="title"/>
          </p:nvPr>
        </p:nvSpPr>
        <p:spPr>
          <a:xfrm>
            <a:off x="277761" y="12915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4</a:t>
            </a:r>
            <a:r>
              <a:rPr lang="en-US" sz="3200" b="1">
                <a:latin typeface="Arial" panose="020B0604020202020204"/>
                <a:ea typeface="Arial" panose="020B0604020202020204"/>
                <a:cs typeface="Arial" panose="020B0604020202020204"/>
                <a:sym typeface="Arial" panose="020B0604020202020204"/>
              </a:rPr>
              <a:t>.4.1. Quan niệm tự phụ thuộc/phụ thuộc lẫn nhau </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Shape 1660"/>
        <p:cNvGrpSpPr/>
        <p:nvPr/>
      </p:nvGrpSpPr>
      <p:grpSpPr>
        <a:xfrm>
          <a:off x="0" y="0"/>
          <a:ext cx="0" cy="0"/>
          <a:chOff x="0" y="0"/>
          <a:chExt cx="0" cy="0"/>
        </a:xfrm>
      </p:grpSpPr>
      <p:sp>
        <p:nvSpPr>
          <p:cNvPr id="1661" name="Google Shape;1661;p249"/>
          <p:cNvSpPr txBox="1">
            <a:spLocks noGrp="1"/>
          </p:cNvSpPr>
          <p:nvPr>
            <p:ph type="body" idx="1"/>
          </p:nvPr>
        </p:nvSpPr>
        <p:spPr>
          <a:xfrm>
            <a:off x="270224" y="1362730"/>
            <a:ext cx="11405220" cy="5286022"/>
          </a:xfrm>
          <a:prstGeom prst="rect">
            <a:avLst/>
          </a:prstGeom>
          <a:noFill/>
          <a:ln>
            <a:noFill/>
          </a:ln>
        </p:spPr>
        <p:txBody>
          <a:bodyPr spcFirstLastPara="1" wrap="square" lIns="91425" tIns="45700" rIns="91425" bIns="45700" anchor="t" anchorCtr="0">
            <a:spAutoFit/>
          </a:bodyPr>
          <a:lstStyle/>
          <a:p>
            <a:pPr marL="342900" lvl="0" indent="-342900" algn="just" rtl="0">
              <a:lnSpc>
                <a:spcPts val="4500"/>
              </a:lnSpc>
              <a:spcBef>
                <a:spcPts val="0"/>
              </a:spcBef>
              <a:spcAft>
                <a:spcPts val="0"/>
              </a:spcAft>
              <a:buSzPts val="2400"/>
              <a:buChar char="•"/>
            </a:pP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số</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tài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không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chỉ</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biểu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hiện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của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khái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niệm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phần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không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thiếu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trong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sắc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của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người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đó</a:t>
            </a:r>
            <a:r>
              <a:rPr lang="en-US">
                <a:latin typeface="Arial" panose="020B0604020202020204"/>
                <a:ea typeface="Arial" panose="020B0604020202020204"/>
                <a:cs typeface="Arial" panose="020B0604020202020204"/>
                <a:sym typeface="Arial" panose="020B0604020202020204"/>
              </a:rPr>
              <a:t>.</a:t>
            </a:r>
            <a:endParaRPr lang="vi-VN">
              <a:latin typeface="Arial" panose="020B0604020202020204"/>
              <a:ea typeface="Arial" panose="020B0604020202020204"/>
              <a:cs typeface="Arial" panose="020B0604020202020204"/>
              <a:sym typeface="Arial" panose="020B0604020202020204"/>
            </a:endParaRPr>
          </a:p>
          <a:p>
            <a:pPr marL="342900" lvl="0" indent="-342900" algn="just" rtl="0">
              <a:lnSpc>
                <a:spcPts val="4500"/>
              </a:lnSpc>
              <a:spcBef>
                <a:spcPts val="0"/>
              </a:spcBef>
              <a:spcAft>
                <a:spcPts val="0"/>
              </a:spcAft>
              <a:buSzPts val="2400"/>
              <a:buChar char="•"/>
            </a:pPr>
            <a:r>
              <a:rPr lang="en-US" err="1">
                <a:latin typeface="Arial" panose="020B0604020202020204"/>
                <a:ea typeface="Arial" panose="020B0604020202020204"/>
                <a:cs typeface="Arial" panose="020B0604020202020204"/>
                <a:sym typeface="Arial" panose="020B0604020202020204"/>
              </a:rPr>
              <a:t>Hiệu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ứng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sở</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hữu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đơn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thuần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hoặc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hiệu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ứng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sở</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hữu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Mọi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người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xu </a:t>
            </a:r>
            <a:r>
              <a:rPr lang="en-US" err="1">
                <a:latin typeface="Arial" panose="020B0604020202020204"/>
                <a:ea typeface="Arial" panose="020B0604020202020204"/>
                <a:cs typeface="Arial" panose="020B0604020202020204"/>
                <a:sym typeface="Arial" panose="020B0604020202020204"/>
              </a:rPr>
              <a:t>hướng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coi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trọng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đồ</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vật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hơn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sau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được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hơn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trước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đó</a:t>
            </a:r>
            <a:r>
              <a:rPr lang="en-US">
                <a:latin typeface="Arial" panose="020B0604020202020204"/>
                <a:ea typeface="Arial" panose="020B0604020202020204"/>
                <a:cs typeface="Arial" panose="020B0604020202020204"/>
                <a:sym typeface="Arial" panose="020B0604020202020204"/>
              </a:rPr>
              <a:t>.</a:t>
            </a:r>
            <a:endParaRPr lang="vi-VN">
              <a:latin typeface="Arial" panose="020B0604020202020204"/>
              <a:ea typeface="Arial" panose="020B0604020202020204"/>
              <a:cs typeface="Arial" panose="020B0604020202020204"/>
              <a:sym typeface="Arial" panose="020B0604020202020204"/>
            </a:endParaRPr>
          </a:p>
          <a:p>
            <a:pPr marL="342900" lvl="0" indent="-342900" algn="just" rtl="0">
              <a:lnSpc>
                <a:spcPts val="4500"/>
              </a:lnSpc>
              <a:spcBef>
                <a:spcPts val="0"/>
              </a:spcBef>
              <a:spcAft>
                <a:spcPts val="0"/>
              </a:spcAft>
              <a:buSzPts val="2400"/>
              <a:buChar char="•"/>
            </a:pPr>
            <a:r>
              <a:rPr lang="en-US">
                <a:latin typeface="Arial" panose="020B0604020202020204"/>
                <a:ea typeface="Arial" panose="020B0604020202020204"/>
                <a:cs typeface="Arial" panose="020B0604020202020204"/>
                <a:sym typeface="Arial" panose="020B0604020202020204"/>
              </a:rPr>
              <a:t>Quan </a:t>
            </a:r>
            <a:r>
              <a:rPr lang="en-US" err="1">
                <a:latin typeface="Arial" panose="020B0604020202020204"/>
                <a:ea typeface="Arial" panose="020B0604020202020204"/>
                <a:cs typeface="Arial" panose="020B0604020202020204"/>
                <a:sym typeface="Arial" panose="020B0604020202020204"/>
              </a:rPr>
              <a:t>niệm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tự</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mở</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rộng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hiệu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ứng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sở</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hữu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đơn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thuần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rất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nhiều</a:t>
            </a:r>
            <a:r>
              <a:rPr lang="en-US">
                <a:latin typeface="Arial" panose="020B0604020202020204"/>
                <a:ea typeface="Arial" panose="020B0604020202020204"/>
                <a:cs typeface="Arial" panose="020B0604020202020204"/>
                <a:sym typeface="Arial" panose="020B0604020202020204"/>
              </a:rPr>
              <a:t> ý </a:t>
            </a:r>
            <a:r>
              <a:rPr lang="en-US" err="1">
                <a:latin typeface="Arial" panose="020B0604020202020204"/>
                <a:ea typeface="Arial" panose="020B0604020202020204"/>
                <a:cs typeface="Arial" panose="020B0604020202020204"/>
                <a:sym typeface="Arial" panose="020B0604020202020204"/>
              </a:rPr>
              <a:t>nghĩa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cho</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chiến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lược</a:t>
            </a:r>
            <a:r>
              <a:rPr lang="en-US">
                <a:latin typeface="Arial" panose="020B0604020202020204"/>
                <a:ea typeface="Arial" panose="020B0604020202020204"/>
                <a:cs typeface="Arial" panose="020B0604020202020204"/>
                <a:sym typeface="Arial" panose="020B0604020202020204"/>
              </a:rPr>
              <a:t> marketing. </a:t>
            </a:r>
            <a:r>
              <a:rPr lang="en-US" err="1">
                <a:latin typeface="Arial" panose="020B0604020202020204"/>
                <a:ea typeface="Arial" panose="020B0604020202020204"/>
                <a:cs typeface="Arial" panose="020B0604020202020204"/>
                <a:sym typeface="Arial" panose="020B0604020202020204"/>
              </a:rPr>
              <a:t>Truyền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thông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khiến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khách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hàng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tiềm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năng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định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quyền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sở</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hữu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phẩm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dẫn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việc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đánh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giá</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phẩm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nâng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cao</a:t>
            </a:r>
            <a:r>
              <a:rPr lang="en-US">
                <a:latin typeface="Arial" panose="020B0604020202020204"/>
                <a:ea typeface="Arial" panose="020B0604020202020204"/>
                <a:cs typeface="Arial" panose="020B0604020202020204"/>
                <a:sym typeface="Arial" panose="020B0604020202020204"/>
              </a:rPr>
              <a:t>. </a:t>
            </a:r>
            <a:endParaRPr>
              <a:latin typeface="Arial" panose="020B0604020202020204"/>
              <a:ea typeface="Arial" panose="020B0604020202020204"/>
              <a:cs typeface="Arial" panose="020B0604020202020204"/>
              <a:sym typeface="Arial" panose="020B0604020202020204"/>
            </a:endParaRPr>
          </a:p>
        </p:txBody>
      </p:sp>
      <p:sp>
        <p:nvSpPr>
          <p:cNvPr id="1662" name="Google Shape;1662;p249"/>
          <p:cNvSpPr txBox="1">
            <a:spLocks noGrp="1"/>
          </p:cNvSpPr>
          <p:nvPr>
            <p:ph type="title"/>
          </p:nvPr>
        </p:nvSpPr>
        <p:spPr>
          <a:xfrm>
            <a:off x="270224" y="209248"/>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4</a:t>
            </a:r>
            <a:r>
              <a:rPr lang="en-US" sz="3200" b="1">
                <a:latin typeface="Arial" panose="020B0604020202020204"/>
                <a:ea typeface="Arial" panose="020B0604020202020204"/>
                <a:cs typeface="Arial" panose="020B0604020202020204"/>
                <a:sym typeface="Arial" panose="020B0604020202020204"/>
              </a:rPr>
              <a:t>.4.2. Tự chủ và tự mở rộng bản thân </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Shape 1667"/>
        <p:cNvGrpSpPr/>
        <p:nvPr/>
      </p:nvGrpSpPr>
      <p:grpSpPr>
        <a:xfrm>
          <a:off x="0" y="0"/>
          <a:ext cx="0" cy="0"/>
          <a:chOff x="0" y="0"/>
          <a:chExt cx="0" cy="0"/>
        </a:xfrm>
      </p:grpSpPr>
      <p:sp>
        <p:nvSpPr>
          <p:cNvPr id="1668" name="Google Shape;1668;p2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4</a:t>
            </a:r>
            <a:r>
              <a:rPr lang="en-US" sz="3200" b="1">
                <a:latin typeface="Arial" panose="020B0604020202020204"/>
                <a:ea typeface="Arial" panose="020B0604020202020204"/>
                <a:cs typeface="Arial" panose="020B0604020202020204"/>
                <a:sym typeface="Arial" panose="020B0604020202020204"/>
              </a:rPr>
              <a:t>.4.3. Đo lường quan niệm bản thân </a:t>
            </a:r>
            <a:br>
              <a:rPr lang="en-US" sz="3200" b="1">
                <a:latin typeface="Arial" panose="020B0604020202020204"/>
                <a:ea typeface="Arial" panose="020B0604020202020204"/>
                <a:cs typeface="Arial" panose="020B0604020202020204"/>
                <a:sym typeface="Arial" panose="020B0604020202020204"/>
              </a:rPr>
            </a:br>
            <a:endParaRPr sz="3200" b="1">
              <a:latin typeface="Arial" panose="020B0604020202020204"/>
              <a:ea typeface="Arial" panose="020B0604020202020204"/>
              <a:cs typeface="Arial" panose="020B0604020202020204"/>
              <a:sym typeface="Arial" panose="020B0604020202020204"/>
            </a:endParaRPr>
          </a:p>
        </p:txBody>
      </p:sp>
      <p:sp>
        <p:nvSpPr>
          <p:cNvPr id="1670" name="Google Shape;1670;p250"/>
          <p:cNvSpPr txBox="1"/>
          <p:nvPr/>
        </p:nvSpPr>
        <p:spPr>
          <a:xfrm>
            <a:off x="172100" y="2301809"/>
            <a:ext cx="3670325" cy="156966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panose="020B0604020202020204"/>
              <a:buNone/>
              <a:tabLst/>
              <a:defRPr/>
            </a:pPr>
            <a:r>
              <a:rPr kumimoji="0" lang="en-US" sz="24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Bảng 4.</a:t>
            </a:r>
            <a:r>
              <a:rPr kumimoji="0" lang="en-US" sz="24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a:t>
            </a:r>
            <a:r>
              <a:rPr kumimoji="0" lang="en-US" sz="24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Thang đo quan niệm bản thân, quan niệm người khác và quan niệm sản phẩm</a:t>
            </a:r>
            <a:endParaRPr kumimoji="0" sz="24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aphicFrame>
        <p:nvGraphicFramePr>
          <p:cNvPr id="1671" name="Google Shape;1671;p250"/>
          <p:cNvGraphicFramePr/>
          <p:nvPr/>
        </p:nvGraphicFramePr>
        <p:xfrm>
          <a:off x="3907901" y="1496685"/>
          <a:ext cx="7733450" cy="5181600"/>
        </p:xfrm>
        <a:graphic>
          <a:graphicData uri="http://schemas.openxmlformats.org/drawingml/2006/table">
            <a:tbl>
              <a:tblPr firstRow="1" firstCol="1" bandRow="1">
                <a:noFill/>
              </a:tblPr>
              <a:tblGrid>
                <a:gridCol w="2377375">
                  <a:extLst>
                    <a:ext uri="{9D8B030D-6E8A-4147-A177-3AD203B41FA5}">
                      <a16:colId xmlns:a16="http://schemas.microsoft.com/office/drawing/2014/main" val="20000"/>
                    </a:ext>
                  </a:extLst>
                </a:gridCol>
                <a:gridCol w="567325">
                  <a:extLst>
                    <a:ext uri="{9D8B030D-6E8A-4147-A177-3AD203B41FA5}">
                      <a16:colId xmlns:a16="http://schemas.microsoft.com/office/drawing/2014/main" val="20001"/>
                    </a:ext>
                  </a:extLst>
                </a:gridCol>
                <a:gridCol w="567325">
                  <a:extLst>
                    <a:ext uri="{9D8B030D-6E8A-4147-A177-3AD203B41FA5}">
                      <a16:colId xmlns:a16="http://schemas.microsoft.com/office/drawing/2014/main" val="20002"/>
                    </a:ext>
                  </a:extLst>
                </a:gridCol>
                <a:gridCol w="567325">
                  <a:extLst>
                    <a:ext uri="{9D8B030D-6E8A-4147-A177-3AD203B41FA5}">
                      <a16:colId xmlns:a16="http://schemas.microsoft.com/office/drawing/2014/main" val="20003"/>
                    </a:ext>
                  </a:extLst>
                </a:gridCol>
                <a:gridCol w="567325">
                  <a:extLst>
                    <a:ext uri="{9D8B030D-6E8A-4147-A177-3AD203B41FA5}">
                      <a16:colId xmlns:a16="http://schemas.microsoft.com/office/drawing/2014/main" val="20004"/>
                    </a:ext>
                  </a:extLst>
                </a:gridCol>
                <a:gridCol w="567325">
                  <a:extLst>
                    <a:ext uri="{9D8B030D-6E8A-4147-A177-3AD203B41FA5}">
                      <a16:colId xmlns:a16="http://schemas.microsoft.com/office/drawing/2014/main" val="20005"/>
                    </a:ext>
                  </a:extLst>
                </a:gridCol>
                <a:gridCol w="2519450">
                  <a:extLst>
                    <a:ext uri="{9D8B030D-6E8A-4147-A177-3AD203B41FA5}">
                      <a16:colId xmlns:a16="http://schemas.microsoft.com/office/drawing/2014/main" val="20006"/>
                    </a:ext>
                  </a:extLst>
                </a:gridCol>
              </a:tblGrid>
              <a:tr h="298125">
                <a:tc rowSpan="2">
                  <a:txBody>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u="none" strike="noStrike" cap="none">
                          <a:solidFill>
                            <a:schemeClr val="dk1"/>
                          </a:solidFill>
                          <a:latin typeface="Arial" panose="020B0604020202020204"/>
                          <a:ea typeface="Arial" panose="020B0604020202020204"/>
                          <a:cs typeface="Arial" panose="020B0604020202020204"/>
                          <a:sym typeface="Arial" panose="020B0604020202020204"/>
                        </a:rPr>
                        <a:t>Quan niệm</a:t>
                      </a:r>
                      <a:endParaRPr sz="2000" b="1"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nchor="ctr">
                    <a:solidFill>
                      <a:srgbClr val="E1EFD8"/>
                    </a:solidFill>
                  </a:tcPr>
                </a:tc>
                <a:tc gridSpan="5">
                  <a:txBody>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u="none" strike="noStrike" cap="none">
                          <a:solidFill>
                            <a:schemeClr val="dk1"/>
                          </a:solidFill>
                          <a:latin typeface="Arial" panose="020B0604020202020204"/>
                          <a:ea typeface="Arial" panose="020B0604020202020204"/>
                          <a:cs typeface="Arial" panose="020B0604020202020204"/>
                          <a:sym typeface="Arial" panose="020B0604020202020204"/>
                        </a:rPr>
                        <a:t>Điểm</a:t>
                      </a:r>
                      <a:endParaRPr sz="2000" b="1"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u="none" strike="noStrike" cap="none">
                          <a:solidFill>
                            <a:schemeClr val="dk1"/>
                          </a:solidFill>
                          <a:latin typeface="Arial" panose="020B0604020202020204"/>
                          <a:ea typeface="Arial" panose="020B0604020202020204"/>
                          <a:cs typeface="Arial" panose="020B0604020202020204"/>
                          <a:sym typeface="Arial" panose="020B0604020202020204"/>
                        </a:rPr>
                        <a:t>Quan niệm</a:t>
                      </a:r>
                      <a:endParaRPr sz="2000" b="1"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nchor="ctr">
                    <a:solidFill>
                      <a:srgbClr val="E1EFD8"/>
                    </a:solidFill>
                  </a:tcPr>
                </a:tc>
                <a:extLst>
                  <a:ext uri="{0D108BD9-81ED-4DB2-BD59-A6C34878D82A}">
                    <a16:rowId xmlns:a16="http://schemas.microsoft.com/office/drawing/2014/main" val="10000"/>
                  </a:ext>
                </a:extLst>
              </a:tr>
              <a:tr h="2981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1</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2</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3</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4</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5</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vMerge="1">
                  <a:txBody>
                    <a:bodyPr/>
                    <a:lstStyle/>
                    <a:p>
                      <a:endParaRPr lang="en-US"/>
                    </a:p>
                  </a:txBody>
                  <a:tcPr/>
                </a:tc>
                <a:extLst>
                  <a:ext uri="{0D108BD9-81ED-4DB2-BD59-A6C34878D82A}">
                    <a16:rowId xmlns:a16="http://schemas.microsoft.com/office/drawing/2014/main" val="10001"/>
                  </a:ext>
                </a:extLst>
              </a:tr>
              <a:tr h="298125">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1. Cục mịch</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Tinh tế</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extLst>
                  <a:ext uri="{0D108BD9-81ED-4DB2-BD59-A6C34878D82A}">
                    <a16:rowId xmlns:a16="http://schemas.microsoft.com/office/drawing/2014/main" val="10002"/>
                  </a:ext>
                </a:extLst>
              </a:tr>
              <a:tr h="298125">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2. Tuyệt vời</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Điềm tĩnh</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extLst>
                  <a:ext uri="{0D108BD9-81ED-4DB2-BD59-A6C34878D82A}">
                    <a16:rowId xmlns:a16="http://schemas.microsoft.com/office/drawing/2014/main" val="10003"/>
                  </a:ext>
                </a:extLst>
              </a:tr>
              <a:tr h="298125">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3. Khó chịu</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Thoải mái</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extLst>
                  <a:ext uri="{0D108BD9-81ED-4DB2-BD59-A6C34878D82A}">
                    <a16:rowId xmlns:a16="http://schemas.microsoft.com/office/drawing/2014/main" val="10004"/>
                  </a:ext>
                </a:extLst>
              </a:tr>
              <a:tr h="298125">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4. Thống trị</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Phục tùng</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extLst>
                  <a:ext uri="{0D108BD9-81ED-4DB2-BD59-A6C34878D82A}">
                    <a16:rowId xmlns:a16="http://schemas.microsoft.com/office/drawing/2014/main" val="10005"/>
                  </a:ext>
                </a:extLst>
              </a:tr>
              <a:tr h="298125">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5. Tằn tiện</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Nuông chiều</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extLst>
                  <a:ext uri="{0D108BD9-81ED-4DB2-BD59-A6C34878D82A}">
                    <a16:rowId xmlns:a16="http://schemas.microsoft.com/office/drawing/2014/main" val="10006"/>
                  </a:ext>
                </a:extLst>
              </a:tr>
              <a:tr h="298125">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6. Dễ chịu</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Khó chịu</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extLst>
                  <a:ext uri="{0D108BD9-81ED-4DB2-BD59-A6C34878D82A}">
                    <a16:rowId xmlns:a16="http://schemas.microsoft.com/office/drawing/2014/main" val="10007"/>
                  </a:ext>
                </a:extLst>
              </a:tr>
              <a:tr h="298125">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7. Nội tâm</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Không liên kết</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extLst>
                  <a:ext uri="{0D108BD9-81ED-4DB2-BD59-A6C34878D82A}">
                    <a16:rowId xmlns:a16="http://schemas.microsoft.com/office/drawing/2014/main" val="10008"/>
                  </a:ext>
                </a:extLst>
              </a:tr>
              <a:tr h="298125">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8. Có tổ chức</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Không có tổ chức</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extLst>
                  <a:ext uri="{0D108BD9-81ED-4DB2-BD59-A6C34878D82A}">
                    <a16:rowId xmlns:a16="http://schemas.microsoft.com/office/drawing/2014/main" val="10009"/>
                  </a:ext>
                </a:extLst>
              </a:tr>
              <a:tr h="298125">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9. Hợp lý</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Đa cảm</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extLst>
                  <a:ext uri="{0D108BD9-81ED-4DB2-BD59-A6C34878D82A}">
                    <a16:rowId xmlns:a16="http://schemas.microsoft.com/office/drawing/2014/main" val="10010"/>
                  </a:ext>
                </a:extLst>
              </a:tr>
              <a:tr h="298125">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10. Trẻ trung</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Trưởng thành</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extLst>
                  <a:ext uri="{0D108BD9-81ED-4DB2-BD59-A6C34878D82A}">
                    <a16:rowId xmlns:a16="http://schemas.microsoft.com/office/drawing/2014/main" val="10011"/>
                  </a:ext>
                </a:extLst>
              </a:tr>
              <a:tr h="298125">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11. Nghi thức</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Không chính thức</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extLst>
                  <a:ext uri="{0D108BD9-81ED-4DB2-BD59-A6C34878D82A}">
                    <a16:rowId xmlns:a16="http://schemas.microsoft.com/office/drawing/2014/main" val="10012"/>
                  </a:ext>
                </a:extLst>
              </a:tr>
              <a:tr h="298125">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12. Chính thống</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Tự do</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extLst>
                  <a:ext uri="{0D108BD9-81ED-4DB2-BD59-A6C34878D82A}">
                    <a16:rowId xmlns:a16="http://schemas.microsoft.com/office/drawing/2014/main" val="10013"/>
                  </a:ext>
                </a:extLst>
              </a:tr>
              <a:tr h="298125">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13. Phức tạp</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Đơn giản</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extLst>
                  <a:ext uri="{0D108BD9-81ED-4DB2-BD59-A6C34878D82A}">
                    <a16:rowId xmlns:a16="http://schemas.microsoft.com/office/drawing/2014/main" val="10014"/>
                  </a:ext>
                </a:extLst>
              </a:tr>
              <a:tr h="298125">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14. Không màu mè</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Màu mè</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extLst>
                  <a:ext uri="{0D108BD9-81ED-4DB2-BD59-A6C34878D82A}">
                    <a16:rowId xmlns:a16="http://schemas.microsoft.com/office/drawing/2014/main" val="10015"/>
                  </a:ext>
                </a:extLst>
              </a:tr>
              <a:tr h="298125">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solidFill>
                            <a:schemeClr val="dk1"/>
                          </a:solidFill>
                          <a:latin typeface="Arial" panose="020B0604020202020204"/>
                          <a:ea typeface="Arial" panose="020B0604020202020204"/>
                          <a:cs typeface="Arial" panose="020B0604020202020204"/>
                          <a:sym typeface="Arial" panose="020B0604020202020204"/>
                        </a:rPr>
                        <a:t>15. Khiêm tốn</a:t>
                      </a:r>
                      <a:endParaRPr sz="20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 </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tc>
                  <a:txBody>
                    <a:bodyPr/>
                    <a:lstStyle/>
                    <a:p>
                      <a:pPr marL="0" marR="0" lvl="0" indent="0" algn="just" rtl="0">
                        <a:lnSpc>
                          <a:spcPct val="100000"/>
                        </a:lnSpc>
                        <a:spcBef>
                          <a:spcPts val="0"/>
                        </a:spcBef>
                        <a:spcAft>
                          <a:spcPts val="0"/>
                        </a:spcAft>
                        <a:buClr>
                          <a:srgbClr val="000000"/>
                        </a:buClr>
                        <a:buSzPts val="2000"/>
                        <a:buFont typeface="Arial" panose="020B0604020202020204"/>
                        <a:buNone/>
                      </a:pPr>
                      <a:r>
                        <a:rPr lang="en-US" sz="2000" b="0" u="none" strike="noStrike" cap="none">
                          <a:latin typeface="Arial" panose="020B0604020202020204"/>
                          <a:ea typeface="Arial" panose="020B0604020202020204"/>
                          <a:cs typeface="Arial" panose="020B0604020202020204"/>
                          <a:sym typeface="Arial" panose="020B0604020202020204"/>
                        </a:rPr>
                        <a:t>Vô ích</a:t>
                      </a:r>
                      <a:endParaRPr sz="2000" b="0" u="none" strike="noStrike" cap="none">
                        <a:latin typeface="Arial" panose="020B0604020202020204"/>
                        <a:ea typeface="Arial" panose="020B0604020202020204"/>
                        <a:cs typeface="Arial" panose="020B0604020202020204"/>
                        <a:sym typeface="Arial" panose="020B0604020202020204"/>
                      </a:endParaRPr>
                    </a:p>
                  </a:txBody>
                  <a:tcPr marL="68575" marR="68575" marT="0" marB="0">
                    <a:solidFill>
                      <a:srgbClr val="E1EFD8"/>
                    </a:solidFill>
                  </a:tcPr>
                </a:tc>
                <a:extLst>
                  <a:ext uri="{0D108BD9-81ED-4DB2-BD59-A6C34878D82A}">
                    <a16:rowId xmlns:a16="http://schemas.microsoft.com/office/drawing/2014/main" val="10016"/>
                  </a:ext>
                </a:extLst>
              </a:tr>
            </a:tbl>
          </a:graphicData>
        </a:graphic>
      </p:graphicFrame>
      <p:sp>
        <p:nvSpPr>
          <p:cNvPr id="1672" name="Google Shape;1672;p250"/>
          <p:cNvSpPr txBox="1"/>
          <p:nvPr/>
        </p:nvSpPr>
        <p:spPr>
          <a:xfrm>
            <a:off x="716578" y="5959950"/>
            <a:ext cx="2855461" cy="318998"/>
          </a:xfrm>
          <a:prstGeom prst="rect">
            <a:avLst/>
          </a:prstGeom>
          <a:noFill/>
          <a:ln>
            <a:noFill/>
          </a:ln>
        </p:spPr>
        <p:txBody>
          <a:bodyPr spcFirstLastPara="1" wrap="square" lIns="91425" tIns="45700" rIns="91425" bIns="45700" anchor="t" anchorCtr="0">
            <a:spAutoFit/>
          </a:bodyPr>
          <a:lstStyle/>
          <a:p>
            <a:pPr marL="0" marR="0" lvl="0" indent="0" algn="just" defTabSz="914400" rtl="0" eaLnBrk="1" fontAlgn="auto" latinLnBrk="0" hangingPunct="1">
              <a:lnSpc>
                <a:spcPct val="115000"/>
              </a:lnSpc>
              <a:spcBef>
                <a:spcPts val="0"/>
              </a:spcBef>
              <a:spcAft>
                <a:spcPts val="0"/>
              </a:spcAft>
              <a:buClr>
                <a:srgbClr val="000000"/>
              </a:buClr>
              <a:buSzPts val="1400"/>
              <a:buFont typeface="Arial" panose="020B0604020202020204"/>
              <a:buNone/>
              <a:tabLst/>
              <a:defRPr/>
            </a:pPr>
            <a:r>
              <a:rPr kumimoji="0" lang="en-US" sz="1400" b="0" i="1" u="sng"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Nguồn:</a:t>
            </a:r>
            <a:r>
              <a:rPr kumimoji="0" lang="en-US" sz="1400" b="0" i="1"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Malhotra (1981)</a:t>
            </a:r>
            <a:endParaRPr kumimoji="0" sz="2000" b="0" i="1"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Shape 1676"/>
        <p:cNvGrpSpPr/>
        <p:nvPr/>
      </p:nvGrpSpPr>
      <p:grpSpPr>
        <a:xfrm>
          <a:off x="0" y="0"/>
          <a:ext cx="0" cy="0"/>
          <a:chOff x="0" y="0"/>
          <a:chExt cx="0" cy="0"/>
        </a:xfrm>
      </p:grpSpPr>
      <p:sp>
        <p:nvSpPr>
          <p:cNvPr id="1677" name="Google Shape;1677;p251"/>
          <p:cNvSpPr txBox="1">
            <a:spLocks noGrp="1"/>
          </p:cNvSpPr>
          <p:nvPr>
            <p:ph type="body" idx="1"/>
          </p:nvPr>
        </p:nvSpPr>
        <p:spPr>
          <a:xfrm>
            <a:off x="248264" y="2285918"/>
            <a:ext cx="11126821" cy="3970277"/>
          </a:xfrm>
          <a:prstGeom prst="rect">
            <a:avLst/>
          </a:prstGeom>
          <a:noFill/>
          <a:ln>
            <a:noFill/>
          </a:ln>
        </p:spPr>
        <p:txBody>
          <a:bodyPr spcFirstLastPara="1" wrap="square" lIns="91425" tIns="45700" rIns="91425" bIns="45700" anchor="t" anchorCtr="0">
            <a:spAutoFit/>
          </a:bodyPr>
          <a:lstStyle/>
          <a:p>
            <a:pPr marL="457200" lvl="0" indent="-457200" algn="just" rtl="0">
              <a:lnSpc>
                <a:spcPct val="150000"/>
              </a:lnSpc>
              <a:spcBef>
                <a:spcPts val="0"/>
              </a:spcBef>
              <a:spcAft>
                <a:spcPts val="0"/>
              </a:spcAft>
              <a:buSzPts val="2800"/>
              <a:buChar char="•"/>
            </a:pPr>
            <a:r>
              <a:rPr lang="en-US">
                <a:latin typeface="Arial" panose="020B0604020202020204"/>
                <a:ea typeface="Arial" panose="020B0604020202020204"/>
                <a:cs typeface="Arial" panose="020B0604020202020204"/>
                <a:sym typeface="Arial" panose="020B0604020202020204"/>
              </a:rPr>
              <a:t>Mọi người thường cố gắng có được quan niệm bản thân lý tưởng hoặc duy trì quan niệm bản thân thực tế của họ, thường liên quan đến việc mua và tiêu thụ sản phẩm. </a:t>
            </a:r>
            <a:endParaRPr>
              <a:latin typeface="Arial" panose="020B0604020202020204"/>
              <a:ea typeface="Arial" panose="020B0604020202020204"/>
              <a:cs typeface="Arial" panose="020B0604020202020204"/>
              <a:sym typeface="Arial" panose="020B0604020202020204"/>
            </a:endParaRPr>
          </a:p>
          <a:p>
            <a:pPr marL="635000" lvl="0" indent="-279400" algn="just" rtl="0">
              <a:lnSpc>
                <a:spcPct val="150000"/>
              </a:lnSpc>
              <a:spcBef>
                <a:spcPts val="0"/>
              </a:spcBef>
              <a:spcAft>
                <a:spcPts val="0"/>
              </a:spcAft>
              <a:buSzPts val="2800"/>
              <a:buNone/>
            </a:pPr>
            <a:endParaRPr>
              <a:latin typeface="Arial" panose="020B0604020202020204"/>
              <a:ea typeface="Arial" panose="020B0604020202020204"/>
              <a:cs typeface="Arial" panose="020B0604020202020204"/>
              <a:sym typeface="Arial" panose="020B0604020202020204"/>
            </a:endParaRPr>
          </a:p>
          <a:p>
            <a:pPr marL="457200" lvl="0" indent="-457200" algn="just" rtl="0">
              <a:lnSpc>
                <a:spcPct val="150000"/>
              </a:lnSpc>
              <a:spcBef>
                <a:spcPts val="0"/>
              </a:spcBef>
              <a:spcAft>
                <a:spcPts val="0"/>
              </a:spcAft>
              <a:buSzPts val="2800"/>
              <a:buChar char="•"/>
            </a:pPr>
            <a:r>
              <a:rPr lang="en-US">
                <a:latin typeface="Arial" panose="020B0604020202020204"/>
                <a:ea typeface="Arial" panose="020B0604020202020204"/>
                <a:cs typeface="Arial" panose="020B0604020202020204"/>
                <a:sym typeface="Arial" panose="020B0604020202020204"/>
              </a:rPr>
              <a:t>Các doanh nghiệp nên cố gắng phát triển hình ảnh sản phẩm phù hợp với quan niệm bản thân của khách hàng mục tiêu của họ. </a:t>
            </a:r>
            <a:endParaRPr>
              <a:latin typeface="Arial" panose="020B0604020202020204"/>
              <a:ea typeface="Arial" panose="020B0604020202020204"/>
              <a:cs typeface="Arial" panose="020B0604020202020204"/>
              <a:sym typeface="Arial" panose="020B0604020202020204"/>
            </a:endParaRPr>
          </a:p>
        </p:txBody>
      </p:sp>
      <p:sp>
        <p:nvSpPr>
          <p:cNvPr id="1678" name="Google Shape;1678;p251"/>
          <p:cNvSpPr txBox="1">
            <a:spLocks noGrp="1"/>
          </p:cNvSpPr>
          <p:nvPr>
            <p:ph type="title"/>
          </p:nvPr>
        </p:nvSpPr>
        <p:spPr>
          <a:xfrm>
            <a:off x="248264" y="999224"/>
            <a:ext cx="11126820" cy="128669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4</a:t>
            </a:r>
            <a:r>
              <a:rPr lang="en-US" sz="3200" b="1">
                <a:latin typeface="Arial" panose="020B0604020202020204"/>
                <a:ea typeface="Arial" panose="020B0604020202020204"/>
                <a:cs typeface="Arial" panose="020B0604020202020204"/>
                <a:sym typeface="Arial" panose="020B0604020202020204"/>
              </a:rPr>
              <a:t>.4.4. </a:t>
            </a:r>
            <a:r>
              <a:rPr lang="en-US" sz="3200" b="1" err="1">
                <a:latin typeface="Arial" panose="020B0604020202020204"/>
                <a:ea typeface="Arial" panose="020B0604020202020204"/>
                <a:cs typeface="Arial" panose="020B0604020202020204"/>
                <a:sym typeface="Arial" panose="020B0604020202020204"/>
              </a:rPr>
              <a:t>Sử</a:t>
            </a:r>
            <a:r>
              <a:rPr lang="en-US" sz="3200" b="1">
                <a:latin typeface="Arial" panose="020B0604020202020204"/>
                <a:ea typeface="Arial" panose="020B0604020202020204"/>
                <a:cs typeface="Arial" panose="020B0604020202020204"/>
                <a:sym typeface="Arial" panose="020B0604020202020204"/>
              </a:rPr>
              <a:t> </a:t>
            </a:r>
            <a:r>
              <a:rPr lang="en-US" sz="3200" b="1" err="1">
                <a:latin typeface="Arial" panose="020B0604020202020204"/>
                <a:ea typeface="Arial" panose="020B0604020202020204"/>
                <a:cs typeface="Arial" panose="020B0604020202020204"/>
                <a:sym typeface="Arial" panose="020B0604020202020204"/>
              </a:rPr>
              <a:t>dụng</a:t>
            </a:r>
            <a:r>
              <a:rPr lang="en-US" sz="3200" b="1">
                <a:latin typeface="Arial" panose="020B0604020202020204"/>
                <a:ea typeface="Arial" panose="020B0604020202020204"/>
                <a:cs typeface="Arial" panose="020B0604020202020204"/>
                <a:sym typeface="Arial" panose="020B0604020202020204"/>
              </a:rPr>
              <a:t> </a:t>
            </a:r>
            <a:r>
              <a:rPr lang="en-US" sz="3200" b="1" err="1">
                <a:latin typeface="Arial" panose="020B0604020202020204"/>
                <a:ea typeface="Arial" panose="020B0604020202020204"/>
                <a:cs typeface="Arial" panose="020B0604020202020204"/>
                <a:sym typeface="Arial" panose="020B0604020202020204"/>
              </a:rPr>
              <a:t>quan</a:t>
            </a:r>
            <a:r>
              <a:rPr lang="en-US" sz="3200" b="1">
                <a:latin typeface="Arial" panose="020B0604020202020204"/>
                <a:ea typeface="Arial" panose="020B0604020202020204"/>
                <a:cs typeface="Arial" panose="020B0604020202020204"/>
                <a:sym typeface="Arial" panose="020B0604020202020204"/>
              </a:rPr>
              <a:t> </a:t>
            </a:r>
            <a:r>
              <a:rPr lang="en-US" sz="3200" b="1" err="1">
                <a:latin typeface="Arial" panose="020B0604020202020204"/>
                <a:ea typeface="Arial" panose="020B0604020202020204"/>
                <a:cs typeface="Arial" panose="020B0604020202020204"/>
                <a:sym typeface="Arial" panose="020B0604020202020204"/>
              </a:rPr>
              <a:t>niệm</a:t>
            </a:r>
            <a:r>
              <a:rPr lang="en-US" sz="3200" b="1">
                <a:latin typeface="Arial" panose="020B0604020202020204"/>
                <a:ea typeface="Arial" panose="020B0604020202020204"/>
                <a:cs typeface="Arial" panose="020B0604020202020204"/>
                <a:sym typeface="Arial" panose="020B0604020202020204"/>
              </a:rPr>
              <a:t> </a:t>
            </a:r>
            <a:r>
              <a:rPr lang="en-US" sz="3200" b="1" err="1">
                <a:latin typeface="Arial" panose="020B0604020202020204"/>
                <a:ea typeface="Arial" panose="020B0604020202020204"/>
                <a:cs typeface="Arial" panose="020B0604020202020204"/>
                <a:sym typeface="Arial" panose="020B0604020202020204"/>
              </a:rPr>
              <a:t>bản</a:t>
            </a:r>
            <a:r>
              <a:rPr lang="en-US" sz="3200" b="1">
                <a:latin typeface="Arial" panose="020B0604020202020204"/>
                <a:ea typeface="Arial" panose="020B0604020202020204"/>
                <a:cs typeface="Arial" panose="020B0604020202020204"/>
                <a:sym typeface="Arial" panose="020B0604020202020204"/>
              </a:rPr>
              <a:t> </a:t>
            </a:r>
            <a:r>
              <a:rPr lang="en-US" sz="3200" b="1" err="1">
                <a:latin typeface="Arial" panose="020B0604020202020204"/>
                <a:ea typeface="Arial" panose="020B0604020202020204"/>
                <a:cs typeface="Arial" panose="020B0604020202020204"/>
                <a:sym typeface="Arial" panose="020B0604020202020204"/>
              </a:rPr>
              <a:t>thân</a:t>
            </a:r>
            <a:r>
              <a:rPr lang="en-US" sz="3200" b="1">
                <a:latin typeface="Arial" panose="020B0604020202020204"/>
                <a:ea typeface="Arial" panose="020B0604020202020204"/>
                <a:cs typeface="Arial" panose="020B0604020202020204"/>
                <a:sym typeface="Arial" panose="020B0604020202020204"/>
              </a:rPr>
              <a:t> </a:t>
            </a:r>
            <a:r>
              <a:rPr lang="en-US" sz="3200" b="1" err="1">
                <a:latin typeface="Arial" panose="020B0604020202020204"/>
                <a:ea typeface="Arial" panose="020B0604020202020204"/>
                <a:cs typeface="Arial" panose="020B0604020202020204"/>
                <a:sym typeface="Arial" panose="020B0604020202020204"/>
              </a:rPr>
              <a:t>để</a:t>
            </a:r>
            <a:r>
              <a:rPr lang="en-US" sz="3200" b="1">
                <a:latin typeface="Arial" panose="020B0604020202020204"/>
                <a:ea typeface="Arial" panose="020B0604020202020204"/>
                <a:cs typeface="Arial" panose="020B0604020202020204"/>
                <a:sym typeface="Arial" panose="020B0604020202020204"/>
              </a:rPr>
              <a:t> </a:t>
            </a:r>
            <a:r>
              <a:rPr lang="en-US" sz="3200" b="1" err="1">
                <a:latin typeface="Arial" panose="020B0604020202020204"/>
                <a:ea typeface="Arial" panose="020B0604020202020204"/>
                <a:cs typeface="Arial" panose="020B0604020202020204"/>
                <a:sym typeface="Arial" panose="020B0604020202020204"/>
              </a:rPr>
              <a:t>định</a:t>
            </a:r>
            <a:r>
              <a:rPr lang="en-US" sz="3200" b="1">
                <a:latin typeface="Arial" panose="020B0604020202020204"/>
                <a:ea typeface="Arial" panose="020B0604020202020204"/>
                <a:cs typeface="Arial" panose="020B0604020202020204"/>
                <a:sym typeface="Arial" panose="020B0604020202020204"/>
              </a:rPr>
              <a:t> </a:t>
            </a:r>
            <a:r>
              <a:rPr lang="en-US" sz="3200" b="1" err="1">
                <a:latin typeface="Arial" panose="020B0604020202020204"/>
                <a:ea typeface="Arial" panose="020B0604020202020204"/>
                <a:cs typeface="Arial" panose="020B0604020202020204"/>
                <a:sym typeface="Arial" panose="020B0604020202020204"/>
              </a:rPr>
              <a:t>vị</a:t>
            </a:r>
            <a:r>
              <a:rPr lang="en-US" sz="3200" b="1">
                <a:latin typeface="Arial" panose="020B0604020202020204"/>
                <a:ea typeface="Arial" panose="020B0604020202020204"/>
                <a:cs typeface="Arial" panose="020B0604020202020204"/>
                <a:sym typeface="Arial" panose="020B0604020202020204"/>
              </a:rPr>
              <a:t> </a:t>
            </a:r>
            <a:r>
              <a:rPr lang="en-US" sz="3200" b="1" err="1">
                <a:latin typeface="Arial" panose="020B0604020202020204"/>
                <a:ea typeface="Arial" panose="020B0604020202020204"/>
                <a:cs typeface="Arial" panose="020B0604020202020204"/>
                <a:sym typeface="Arial" panose="020B0604020202020204"/>
              </a:rPr>
              <a:t>sản</a:t>
            </a:r>
            <a:r>
              <a:rPr lang="en-US" sz="3200" b="1">
                <a:latin typeface="Arial" panose="020B0604020202020204"/>
                <a:ea typeface="Arial" panose="020B0604020202020204"/>
                <a:cs typeface="Arial" panose="020B0604020202020204"/>
                <a:sym typeface="Arial" panose="020B0604020202020204"/>
              </a:rPr>
              <a:t> </a:t>
            </a:r>
            <a:r>
              <a:rPr lang="en-US" sz="3200" b="1" err="1">
                <a:latin typeface="Arial" panose="020B0604020202020204"/>
                <a:ea typeface="Arial" panose="020B0604020202020204"/>
                <a:cs typeface="Arial" panose="020B0604020202020204"/>
                <a:sym typeface="Arial" panose="020B0604020202020204"/>
              </a:rPr>
              <a:t>phẩm</a:t>
            </a:r>
            <a:endParaRPr sz="3200" b="1">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Shape 1682"/>
        <p:cNvGrpSpPr/>
        <p:nvPr/>
      </p:nvGrpSpPr>
      <p:grpSpPr>
        <a:xfrm>
          <a:off x="0" y="0"/>
          <a:ext cx="0" cy="0"/>
          <a:chOff x="0" y="0"/>
          <a:chExt cx="0" cy="0"/>
        </a:xfrm>
      </p:grpSpPr>
      <p:sp>
        <p:nvSpPr>
          <p:cNvPr id="1683" name="Google Shape;1683;p252"/>
          <p:cNvSpPr txBox="1">
            <a:spLocks noGrp="1"/>
          </p:cNvSpPr>
          <p:nvPr>
            <p:ph type="body" idx="1"/>
          </p:nvPr>
        </p:nvSpPr>
        <p:spPr>
          <a:xfrm>
            <a:off x="532589" y="2080923"/>
            <a:ext cx="11126821" cy="3970277"/>
          </a:xfrm>
          <a:prstGeom prst="rect">
            <a:avLst/>
          </a:prstGeom>
          <a:noFill/>
          <a:ln>
            <a:noFill/>
          </a:ln>
        </p:spPr>
        <p:txBody>
          <a:bodyPr spcFirstLastPara="1" wrap="square" lIns="91425" tIns="45700" rIns="91425" bIns="45700" anchor="t" anchorCtr="0">
            <a:spAutoFit/>
          </a:bodyPr>
          <a:lstStyle/>
          <a:p>
            <a:pPr marL="457200" lvl="0" indent="-457200" algn="just" rtl="0">
              <a:lnSpc>
                <a:spcPct val="150000"/>
              </a:lnSpc>
              <a:spcBef>
                <a:spcPts val="0"/>
              </a:spcBef>
              <a:spcAft>
                <a:spcPts val="0"/>
              </a:spcAft>
              <a:buSzPts val="2800"/>
              <a:buChar char="•"/>
            </a:pPr>
            <a:r>
              <a:rPr lang="en-US">
                <a:latin typeface="Arial" panose="020B0604020202020204"/>
                <a:ea typeface="Arial" panose="020B0604020202020204"/>
                <a:cs typeface="Arial" panose="020B0604020202020204"/>
                <a:sym typeface="Arial" panose="020B0604020202020204"/>
              </a:rPr>
              <a:t>Các doanh nghiệp và sản phẩm tạo ra một hình ảnh quan tâm hoặc tốt cho môi trường có thể sẽ được hỗ trợ, ủng hộ bởi những khách hàng này. </a:t>
            </a:r>
          </a:p>
          <a:p>
            <a:pPr marL="457200" lvl="0" indent="-279400" algn="just" rtl="0">
              <a:lnSpc>
                <a:spcPct val="150000"/>
              </a:lnSpc>
              <a:spcBef>
                <a:spcPts val="0"/>
              </a:spcBef>
              <a:spcAft>
                <a:spcPts val="0"/>
              </a:spcAft>
              <a:buSzPts val="2800"/>
              <a:buNone/>
            </a:pPr>
            <a:endParaRPr lang="en-US">
              <a:latin typeface="Arial" panose="020B0604020202020204"/>
              <a:ea typeface="Arial" panose="020B0604020202020204"/>
              <a:cs typeface="Arial" panose="020B0604020202020204"/>
              <a:sym typeface="Arial" panose="020B0604020202020204"/>
            </a:endParaRPr>
          </a:p>
          <a:p>
            <a:pPr marL="457200" lvl="0" indent="-457200" algn="just" rtl="0">
              <a:lnSpc>
                <a:spcPct val="150000"/>
              </a:lnSpc>
              <a:spcBef>
                <a:spcPts val="0"/>
              </a:spcBef>
              <a:spcAft>
                <a:spcPts val="0"/>
              </a:spcAft>
              <a:buSzPts val="2800"/>
              <a:buChar char="•"/>
            </a:pPr>
            <a:r>
              <a:rPr lang="en-US">
                <a:latin typeface="Arial" panose="020B0604020202020204"/>
                <a:ea typeface="Arial" panose="020B0604020202020204"/>
                <a:cs typeface="Arial" panose="020B0604020202020204"/>
                <a:sym typeface="Arial" panose="020B0604020202020204"/>
              </a:rPr>
              <a:t>KH thích các thương hiệu phù hợp với quan niệm bản thân của họ, tuy nhiên phụ thuộc vào sản phẩm, tình huống, cá nhân</a:t>
            </a:r>
            <a:endParaRPr>
              <a:latin typeface="Arial" panose="020B0604020202020204"/>
              <a:ea typeface="Arial" panose="020B0604020202020204"/>
              <a:cs typeface="Arial" panose="020B0604020202020204"/>
              <a:sym typeface="Arial" panose="020B0604020202020204"/>
            </a:endParaRPr>
          </a:p>
        </p:txBody>
      </p:sp>
      <p:sp>
        <p:nvSpPr>
          <p:cNvPr id="1684" name="Google Shape;1684;p252"/>
          <p:cNvSpPr txBox="1">
            <a:spLocks noGrp="1"/>
          </p:cNvSpPr>
          <p:nvPr>
            <p:ph type="title"/>
          </p:nvPr>
        </p:nvSpPr>
        <p:spPr>
          <a:xfrm>
            <a:off x="153996" y="989797"/>
            <a:ext cx="11126820" cy="128669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4</a:t>
            </a:r>
            <a:r>
              <a:rPr lang="en-US" sz="3200" b="1">
                <a:latin typeface="Arial" panose="020B0604020202020204"/>
                <a:ea typeface="Arial" panose="020B0604020202020204"/>
                <a:cs typeface="Arial" panose="020B0604020202020204"/>
                <a:sym typeface="Arial" panose="020B0604020202020204"/>
              </a:rPr>
              <a:t>.4.4. Sử dụng quan niệm bản thân để định vị sản phẩm</a:t>
            </a:r>
            <a:endParaRPr sz="3200" b="1">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Shape 1688"/>
        <p:cNvGrpSpPr/>
        <p:nvPr/>
      </p:nvGrpSpPr>
      <p:grpSpPr>
        <a:xfrm>
          <a:off x="0" y="0"/>
          <a:ext cx="0" cy="0"/>
          <a:chOff x="0" y="0"/>
          <a:chExt cx="0" cy="0"/>
        </a:xfrm>
      </p:grpSpPr>
      <p:pic>
        <p:nvPicPr>
          <p:cNvPr id="1689" name="Google Shape;1689;p253" descr="Text&#10;&#10;Description automatically generated with low confidence"/>
          <p:cNvPicPr preferRelativeResize="0"/>
          <p:nvPr/>
        </p:nvPicPr>
        <p:blipFill rotWithShape="1">
          <a:blip r:embed="rId3"/>
          <a:srcRect/>
          <a:stretch>
            <a:fillRect/>
          </a:stretch>
        </p:blipFill>
        <p:spPr>
          <a:xfrm>
            <a:off x="1726627" y="1118713"/>
            <a:ext cx="7465499" cy="4014761"/>
          </a:xfrm>
          <a:prstGeom prst="rect">
            <a:avLst/>
          </a:prstGeom>
          <a:noFill/>
          <a:ln>
            <a:noFill/>
          </a:ln>
        </p:spPr>
      </p:pic>
      <p:sp>
        <p:nvSpPr>
          <p:cNvPr id="1690" name="Google Shape;1690;p253"/>
          <p:cNvSpPr txBox="1"/>
          <p:nvPr/>
        </p:nvSpPr>
        <p:spPr>
          <a:xfrm>
            <a:off x="1630091" y="5248108"/>
            <a:ext cx="10029319" cy="769401"/>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800"/>
              <a:buFont typeface="Arial" panose="020B0604020202020204"/>
              <a:buNone/>
              <a:tabLst/>
              <a:defRPr/>
            </a:pPr>
            <a:r>
              <a:rPr kumimoji="0" lang="en-US" sz="2200" b="1"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Hình</a:t>
            </a:r>
            <a:r>
              <a:rPr kumimoji="0" lang="en-US" sz="2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4.1: </a:t>
            </a:r>
            <a:r>
              <a:rPr kumimoji="0" lang="en-US" sz="2200" b="1"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Mối</a:t>
            </a:r>
            <a:r>
              <a:rPr kumimoji="0" lang="en-US" sz="2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200" b="1"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quan</a:t>
            </a:r>
            <a:r>
              <a:rPr kumimoji="0" lang="en-US" sz="2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200" b="1"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hệ</a:t>
            </a:r>
            <a:r>
              <a:rPr kumimoji="0" lang="en-US" sz="2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200" b="1"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giữa</a:t>
            </a:r>
            <a:r>
              <a:rPr kumimoji="0" lang="en-US" sz="2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200" b="1"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quan</a:t>
            </a:r>
            <a:r>
              <a:rPr kumimoji="0" lang="en-US" sz="2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200" b="1"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niệm</a:t>
            </a:r>
            <a:r>
              <a:rPr kumimoji="0" lang="en-US" sz="2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200" b="1"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bản</a:t>
            </a:r>
            <a:r>
              <a:rPr kumimoji="0" lang="en-US" sz="2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200" b="1"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thân</a:t>
            </a:r>
            <a:r>
              <a:rPr kumimoji="0" lang="en-US" sz="2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200" b="1"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và</a:t>
            </a:r>
            <a:r>
              <a:rPr kumimoji="0" lang="en-US" sz="2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200" b="1"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ảnh</a:t>
            </a:r>
            <a:r>
              <a:rPr kumimoji="0" lang="en-US" sz="2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200" b="1"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hưởng</a:t>
            </a:r>
            <a:r>
              <a:rPr kumimoji="0" lang="en-US" sz="2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200" b="1"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của</a:t>
            </a:r>
            <a:r>
              <a:rPr kumimoji="0" lang="en-US" sz="2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200" b="1"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hình</a:t>
            </a:r>
            <a:r>
              <a:rPr kumimoji="0" lang="en-US" sz="2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200" b="1"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ảnh</a:t>
            </a:r>
            <a:r>
              <a:rPr kumimoji="0" lang="en-US" sz="2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200" b="1"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thương</a:t>
            </a:r>
            <a:r>
              <a:rPr kumimoji="0" lang="en-US" sz="2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200" b="1"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hiệu</a:t>
            </a:r>
            <a:endParaRPr kumimoji="0" sz="2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 name="Google Shape;1684;p252"/>
          <p:cNvSpPr txBox="1">
            <a:spLocks noGrp="1"/>
          </p:cNvSpPr>
          <p:nvPr>
            <p:ph type="title"/>
          </p:nvPr>
        </p:nvSpPr>
        <p:spPr>
          <a:xfrm>
            <a:off x="532590" y="0"/>
            <a:ext cx="11126820" cy="128669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4</a:t>
            </a:r>
            <a:r>
              <a:rPr lang="en-US" sz="3200" b="1">
                <a:latin typeface="Arial" panose="020B0604020202020204"/>
                <a:ea typeface="Arial" panose="020B0604020202020204"/>
                <a:cs typeface="Arial" panose="020B0604020202020204"/>
                <a:sym typeface="Arial" panose="020B0604020202020204"/>
              </a:rPr>
              <a:t>.4.4. Sử dụng quan niệm bản thân để định vị sản phẩm</a:t>
            </a:r>
            <a:endParaRPr sz="3200" b="1">
              <a:latin typeface="Arial" panose="020B0604020202020204"/>
              <a:ea typeface="Arial" panose="020B0604020202020204"/>
              <a:cs typeface="Arial" panose="020B0604020202020204"/>
              <a:sym typeface="Arial" panose="020B0604020202020204"/>
            </a:endParaRPr>
          </a:p>
        </p:txBody>
      </p:sp>
      <p:sp>
        <p:nvSpPr>
          <p:cNvPr id="5" name="TextBox 4"/>
          <p:cNvSpPr txBox="1"/>
          <p:nvPr/>
        </p:nvSpPr>
        <p:spPr>
          <a:xfrm>
            <a:off x="7186030" y="6295732"/>
            <a:ext cx="389401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vi-VN"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Nguồn: Nguyễn Xuân Trường &amp; cộng sự, 2020</a:t>
            </a:r>
            <a:endParaRPr kumimoji="0" 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Shape 1694"/>
        <p:cNvGrpSpPr/>
        <p:nvPr/>
      </p:nvGrpSpPr>
      <p:grpSpPr>
        <a:xfrm>
          <a:off x="0" y="0"/>
          <a:ext cx="0" cy="0"/>
          <a:chOff x="0" y="0"/>
          <a:chExt cx="0" cy="0"/>
        </a:xfrm>
      </p:grpSpPr>
      <p:sp>
        <p:nvSpPr>
          <p:cNvPr id="1695" name="Google Shape;1695;p254"/>
          <p:cNvSpPr txBox="1">
            <a:spLocks noGrp="1"/>
          </p:cNvSpPr>
          <p:nvPr>
            <p:ph type="body" idx="1"/>
          </p:nvPr>
        </p:nvSpPr>
        <p:spPr>
          <a:xfrm>
            <a:off x="174523" y="1548745"/>
            <a:ext cx="11397682" cy="4616608"/>
          </a:xfrm>
          <a:prstGeom prst="rect">
            <a:avLst/>
          </a:prstGeom>
          <a:noFill/>
          <a:ln>
            <a:noFill/>
          </a:ln>
        </p:spPr>
        <p:txBody>
          <a:bodyPr spcFirstLastPara="1" wrap="square" lIns="91425" tIns="45700" rIns="91425" bIns="45700" anchor="t" anchorCtr="0">
            <a:spAutoFit/>
          </a:bodyPr>
          <a:lstStyle/>
          <a:p>
            <a:pPr marL="457200" lvl="0" indent="-457200" algn="just" rtl="0">
              <a:lnSpc>
                <a:spcPct val="150000"/>
              </a:lnSpc>
              <a:spcBef>
                <a:spcPts val="0"/>
              </a:spcBef>
              <a:spcAft>
                <a:spcPts val="0"/>
              </a:spcAft>
              <a:buSzPts val="2800"/>
              <a:buChar char="•"/>
            </a:pPr>
            <a:r>
              <a:rPr lang="en-US">
                <a:latin typeface="Arial" panose="020B0604020202020204"/>
                <a:ea typeface="Arial" panose="020B0604020202020204"/>
                <a:cs typeface="Arial" panose="020B0604020202020204"/>
                <a:sym typeface="Arial" panose="020B0604020202020204"/>
              </a:rPr>
              <a:t>Quan niệm bản thân có nhiều chiều, các nhà marketing đã bị chỉ trích vì tập trung quá nhiều vào tầm quan trọng của việc kích thích tiêu dùng, vào giàu và làm đẹp. </a:t>
            </a:r>
          </a:p>
          <a:p>
            <a:pPr marL="457200" lvl="0" indent="-457200" algn="just" rtl="0">
              <a:lnSpc>
                <a:spcPct val="150000"/>
              </a:lnSpc>
              <a:spcBef>
                <a:spcPts val="0"/>
              </a:spcBef>
              <a:spcAft>
                <a:spcPts val="0"/>
              </a:spcAft>
              <a:buSzPts val="2800"/>
              <a:buChar char="•"/>
            </a:pPr>
            <a:r>
              <a:rPr lang="en-US">
                <a:latin typeface="Arial" panose="020B0604020202020204"/>
                <a:ea typeface="Arial" panose="020B0604020202020204"/>
                <a:cs typeface="Arial" panose="020B0604020202020204"/>
                <a:sym typeface="Arial" panose="020B0604020202020204"/>
              </a:rPr>
              <a:t>Nhiều phụ nữ trẻ hiện nay có những quan niệm bản thân có phần tiêu cực do nhận thức của họ về vẻ đẹp của họ so với tiêu chuẩn được miêu tả ở các cuộc thi sắc đẹp đang ngày càng nở rộ và trên phương tiện truyền thông. </a:t>
            </a:r>
          </a:p>
        </p:txBody>
      </p:sp>
      <p:sp>
        <p:nvSpPr>
          <p:cNvPr id="1696" name="Google Shape;1696;p254"/>
          <p:cNvSpPr txBox="1">
            <a:spLocks noGrp="1"/>
          </p:cNvSpPr>
          <p:nvPr>
            <p:ph type="title"/>
          </p:nvPr>
        </p:nvSpPr>
        <p:spPr>
          <a:xfrm>
            <a:off x="174523" y="37690"/>
            <a:ext cx="10515600" cy="128669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4</a:t>
            </a:r>
            <a:r>
              <a:rPr lang="en-US" sz="3200" b="1">
                <a:latin typeface="Arial" panose="020B0604020202020204"/>
                <a:ea typeface="Arial" panose="020B0604020202020204"/>
                <a:cs typeface="Arial" panose="020B0604020202020204"/>
                <a:sym typeface="Arial" panose="020B0604020202020204"/>
              </a:rPr>
              <a:t>.4.5. Đạo đức marketing và quan niệm bản thân</a:t>
            </a:r>
            <a:endParaRPr sz="3200" b="1">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Shape 1705"/>
        <p:cNvGrpSpPr/>
        <p:nvPr/>
      </p:nvGrpSpPr>
      <p:grpSpPr>
        <a:xfrm>
          <a:off x="0" y="0"/>
          <a:ext cx="0" cy="0"/>
          <a:chOff x="0" y="0"/>
          <a:chExt cx="0" cy="0"/>
        </a:xfrm>
      </p:grpSpPr>
      <p:sp>
        <p:nvSpPr>
          <p:cNvPr id="1706" name="Google Shape;1706;p256"/>
          <p:cNvSpPr txBox="1">
            <a:spLocks noGrp="1"/>
          </p:cNvSpPr>
          <p:nvPr>
            <p:ph type="title"/>
          </p:nvPr>
        </p:nvSpPr>
        <p:spPr>
          <a:xfrm>
            <a:off x="282131" y="1073470"/>
            <a:ext cx="10588434" cy="10626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latin typeface="Arial" panose="020B0604020202020204"/>
                <a:ea typeface="Arial" panose="020B0604020202020204"/>
                <a:cs typeface="Arial" panose="020B0604020202020204"/>
                <a:sym typeface="Arial" panose="020B0604020202020204"/>
              </a:rPr>
              <a:t>4.5.1. Bản chất của lối sống</a:t>
            </a:r>
            <a:endParaRPr sz="3200" b="1">
              <a:latin typeface="Arial" panose="020B0604020202020204"/>
              <a:ea typeface="Arial" panose="020B0604020202020204"/>
              <a:cs typeface="Arial" panose="020B0604020202020204"/>
              <a:sym typeface="Arial" panose="020B0604020202020204"/>
            </a:endParaRPr>
          </a:p>
        </p:txBody>
      </p:sp>
      <p:cxnSp>
        <p:nvCxnSpPr>
          <p:cNvPr id="1707" name="Google Shape;1707;p256"/>
          <p:cNvCxnSpPr/>
          <p:nvPr/>
        </p:nvCxnSpPr>
        <p:spPr>
          <a:xfrm>
            <a:off x="1047624" y="2265037"/>
            <a:ext cx="10125012" cy="0"/>
          </a:xfrm>
          <a:prstGeom prst="straightConnector1">
            <a:avLst/>
          </a:prstGeom>
          <a:noFill/>
          <a:ln w="15875" cap="flat" cmpd="sng">
            <a:solidFill>
              <a:srgbClr val="595959"/>
            </a:solidFill>
            <a:prstDash val="solid"/>
            <a:miter lim="800000"/>
            <a:headEnd type="none" w="sm" len="sm"/>
            <a:tailEnd type="none" w="sm" len="sm"/>
          </a:ln>
        </p:spPr>
      </p:cxnSp>
      <p:grpSp>
        <p:nvGrpSpPr>
          <p:cNvPr id="1708" name="Google Shape;1708;p256"/>
          <p:cNvGrpSpPr/>
          <p:nvPr/>
        </p:nvGrpSpPr>
        <p:grpSpPr>
          <a:xfrm>
            <a:off x="1516212" y="2393961"/>
            <a:ext cx="9656423" cy="3761550"/>
            <a:chOff x="0" y="42442"/>
            <a:chExt cx="8120270" cy="3761550"/>
          </a:xfrm>
        </p:grpSpPr>
        <p:sp>
          <p:nvSpPr>
            <p:cNvPr id="1709" name="Google Shape;1709;p256"/>
            <p:cNvSpPr/>
            <p:nvPr/>
          </p:nvSpPr>
          <p:spPr>
            <a:xfrm>
              <a:off x="0" y="42442"/>
              <a:ext cx="8120270" cy="1787175"/>
            </a:xfrm>
            <a:prstGeom prst="roundRect">
              <a:avLst>
                <a:gd name="adj" fmla="val 16667"/>
              </a:avLst>
            </a:prstGeom>
            <a:solidFill>
              <a:srgbClr val="D8E2F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1710" name="Google Shape;1710;p256"/>
            <p:cNvSpPr txBox="1"/>
            <p:nvPr/>
          </p:nvSpPr>
          <p:spPr>
            <a:xfrm>
              <a:off x="87243" y="129685"/>
              <a:ext cx="7945784" cy="1612689"/>
            </a:xfrm>
            <a:prstGeom prst="rect">
              <a:avLst/>
            </a:prstGeom>
            <a:noFill/>
            <a:ln>
              <a:noFill/>
            </a:ln>
          </p:spPr>
          <p:txBody>
            <a:bodyPr spcFirstLastPara="1" wrap="square" lIns="91425" tIns="91425" rIns="91425" bIns="91425" anchor="ctr"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400"/>
                <a:buFont typeface="Arial" panose="020B0604020202020204"/>
                <a:buNone/>
                <a:tabLst/>
                <a:defRPr/>
              </a:pPr>
              <a:r>
                <a:rPr kumimoji="0" lang="en-US"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Phong cách sống (Lối sống) là cách sinh hoạt, cách làm việc, cách xử sự của một người được thể hiện qua hành động, sự quan tâm và quan niệm của người đó về môi trường xung quanh. </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1711" name="Google Shape;1711;p256"/>
            <p:cNvSpPr/>
            <p:nvPr/>
          </p:nvSpPr>
          <p:spPr>
            <a:xfrm>
              <a:off x="0" y="2016817"/>
              <a:ext cx="8120270" cy="1787175"/>
            </a:xfrm>
            <a:prstGeom prst="roundRect">
              <a:avLst>
                <a:gd name="adj" fmla="val 16667"/>
              </a:avLst>
            </a:prstGeom>
            <a:solidFill>
              <a:srgbClr val="FFF2C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1712" name="Google Shape;1712;p256"/>
            <p:cNvSpPr txBox="1"/>
            <p:nvPr/>
          </p:nvSpPr>
          <p:spPr>
            <a:xfrm>
              <a:off x="87243" y="2104060"/>
              <a:ext cx="7945784" cy="1612689"/>
            </a:xfrm>
            <a:prstGeom prst="rect">
              <a:avLst/>
            </a:prstGeom>
            <a:noFill/>
            <a:ln>
              <a:noFill/>
            </a:ln>
          </p:spPr>
          <p:txBody>
            <a:bodyPr spcFirstLastPara="1" wrap="square" lIns="91425" tIns="91425" rIns="91425" bIns="91425" anchor="ctr"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400"/>
                <a:buFont typeface="Arial" panose="020B0604020202020204"/>
                <a:buNone/>
                <a:tabLst/>
                <a:defRPr/>
              </a:pPr>
              <a:r>
                <a:rPr kumimoji="0" lang="en-US"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Lối sống của khách hàng đôi khi được nhà tiếp thị sử dụng như một tiêu thức để phân khúc thị trường.</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sp>
        <p:nvSpPr>
          <p:cNvPr id="1701" name="Google Shape;1701;p255"/>
          <p:cNvSpPr txBox="1"/>
          <p:nvPr/>
        </p:nvSpPr>
        <p:spPr>
          <a:xfrm>
            <a:off x="-4127861" y="32512"/>
            <a:ext cx="11774488" cy="909258"/>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30000"/>
              </a:lnSpc>
              <a:spcBef>
                <a:spcPts val="0"/>
              </a:spcBef>
              <a:spcAft>
                <a:spcPts val="0"/>
              </a:spcAft>
              <a:buClr>
                <a:srgbClr val="000000"/>
              </a:buClr>
              <a:buSzPts val="3600"/>
              <a:buFont typeface="Arial" panose="020B0604020202020204"/>
              <a:buNone/>
              <a:tabLst/>
              <a:defRPr/>
            </a:pPr>
            <a:br>
              <a:rPr kumimoji="0" lang="en-US" sz="3200" b="1" i="0" u="none" strike="noStrike" kern="0" cap="none" spc="0" normalizeH="0" baseline="0" noProof="0">
                <a:ln>
                  <a:noFill/>
                </a:ln>
                <a:solidFill>
                  <a:srgbClr val="0000FF"/>
                </a:solidFill>
                <a:effectLst/>
                <a:uLnTx/>
                <a:uFillTx/>
                <a:latin typeface="Arial" panose="020B0604020202020204"/>
                <a:cs typeface="Arial" panose="020B0604020202020204"/>
                <a:sym typeface="Arial" panose="020B0604020202020204"/>
              </a:rPr>
            </a:br>
            <a:r>
              <a:rPr kumimoji="0" lang="en-US" sz="3200" b="1" i="0" u="none" strike="noStrike" kern="0" cap="none" spc="0" normalizeH="0" baseline="0" noProof="0">
                <a:ln>
                  <a:noFill/>
                </a:ln>
                <a:solidFill>
                  <a:srgbClr val="0000FF"/>
                </a:solidFill>
                <a:effectLst/>
                <a:uLnTx/>
                <a:uFillTx/>
                <a:latin typeface="Arial" panose="020B0604020202020204"/>
                <a:cs typeface="Arial" panose="020B0604020202020204"/>
                <a:sym typeface="Arial" panose="020B0604020202020204"/>
              </a:rPr>
              <a:t>4.5. LỐI SỐNG </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Shape 1717"/>
        <p:cNvGrpSpPr/>
        <p:nvPr/>
      </p:nvGrpSpPr>
      <p:grpSpPr>
        <a:xfrm>
          <a:off x="0" y="0"/>
          <a:ext cx="0" cy="0"/>
          <a:chOff x="0" y="0"/>
          <a:chExt cx="0" cy="0"/>
        </a:xfrm>
      </p:grpSpPr>
      <p:pic>
        <p:nvPicPr>
          <p:cNvPr id="1718" name="Google Shape;1718;p257" descr="Timeline&#10;&#10;Description automatically generated"/>
          <p:cNvPicPr preferRelativeResize="0"/>
          <p:nvPr/>
        </p:nvPicPr>
        <p:blipFill rotWithShape="1">
          <a:blip r:embed="rId3"/>
          <a:srcRect/>
          <a:stretch>
            <a:fillRect/>
          </a:stretch>
        </p:blipFill>
        <p:spPr>
          <a:xfrm>
            <a:off x="1662469" y="942679"/>
            <a:ext cx="8141407" cy="4972642"/>
          </a:xfrm>
          <a:prstGeom prst="rect">
            <a:avLst/>
          </a:prstGeom>
          <a:noFill/>
          <a:ln>
            <a:noFill/>
          </a:ln>
        </p:spPr>
      </p:pic>
      <p:sp>
        <p:nvSpPr>
          <p:cNvPr id="1719" name="Google Shape;1719;p257"/>
          <p:cNvSpPr txBox="1"/>
          <p:nvPr/>
        </p:nvSpPr>
        <p:spPr>
          <a:xfrm>
            <a:off x="681893" y="5915321"/>
            <a:ext cx="10101469" cy="430847"/>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800"/>
              <a:buFont typeface="Arial" panose="020B0604020202020204"/>
              <a:buNone/>
              <a:tabLst/>
              <a:defRPr/>
            </a:pPr>
            <a:r>
              <a:rPr kumimoji="0" lang="en-US" sz="2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Hình 4.2: Sơ đồ phong cách sống ảnh hưởng đến hành vi</a:t>
            </a:r>
            <a:endParaRPr kumimoji="0" sz="22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 name="Google Shape;1706;p256"/>
          <p:cNvSpPr txBox="1">
            <a:spLocks noGrp="1"/>
          </p:cNvSpPr>
          <p:nvPr>
            <p:ph type="title"/>
          </p:nvPr>
        </p:nvSpPr>
        <p:spPr>
          <a:xfrm>
            <a:off x="938031" y="69528"/>
            <a:ext cx="10588434" cy="10626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4</a:t>
            </a:r>
            <a:r>
              <a:rPr lang="en-US" sz="3200" b="1">
                <a:latin typeface="Arial" panose="020B0604020202020204"/>
                <a:ea typeface="Arial" panose="020B0604020202020204"/>
                <a:cs typeface="Arial" panose="020B0604020202020204"/>
                <a:sym typeface="Arial" panose="020B0604020202020204"/>
              </a:rPr>
              <a:t>.5.1. Bản chất của lối sống</a:t>
            </a:r>
            <a:endParaRPr sz="3200" b="1">
              <a:latin typeface="Arial" panose="020B0604020202020204"/>
              <a:ea typeface="Arial" panose="020B0604020202020204"/>
              <a:cs typeface="Arial" panose="020B0604020202020204"/>
              <a:sym typeface="Arial" panose="020B0604020202020204"/>
            </a:endParaRPr>
          </a:p>
        </p:txBody>
      </p:sp>
      <p:sp>
        <p:nvSpPr>
          <p:cNvPr id="4" name="TextBox 3"/>
          <p:cNvSpPr txBox="1"/>
          <p:nvPr/>
        </p:nvSpPr>
        <p:spPr>
          <a:xfrm>
            <a:off x="6002791" y="6430988"/>
            <a:ext cx="389401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vi-VN"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Nguồn: Nguyễn Xuân Trường &amp; cộng sự, 2020</a:t>
            </a:r>
            <a:endParaRPr kumimoji="0" 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Shape 1723"/>
        <p:cNvGrpSpPr/>
        <p:nvPr/>
      </p:nvGrpSpPr>
      <p:grpSpPr>
        <a:xfrm>
          <a:off x="0" y="0"/>
          <a:ext cx="0" cy="0"/>
          <a:chOff x="0" y="0"/>
          <a:chExt cx="0" cy="0"/>
        </a:xfrm>
      </p:grpSpPr>
      <p:sp>
        <p:nvSpPr>
          <p:cNvPr id="1724" name="Google Shape;1724;p258"/>
          <p:cNvSpPr txBox="1">
            <a:spLocks noGrp="1"/>
          </p:cNvSpPr>
          <p:nvPr>
            <p:ph type="title"/>
          </p:nvPr>
        </p:nvSpPr>
        <p:spPr>
          <a:xfrm>
            <a:off x="145026"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4</a:t>
            </a:r>
            <a:r>
              <a:rPr lang="en-US" sz="3200" b="1">
                <a:latin typeface="Arial" panose="020B0604020202020204"/>
                <a:ea typeface="Arial" panose="020B0604020202020204"/>
                <a:cs typeface="Arial" panose="020B0604020202020204"/>
                <a:sym typeface="Arial" panose="020B0604020202020204"/>
              </a:rPr>
              <a:t>.5.2. Đo lường phong cách sống</a:t>
            </a:r>
            <a:endParaRPr sz="3200" b="1">
              <a:latin typeface="Arial" panose="020B0604020202020204"/>
              <a:ea typeface="Arial" panose="020B0604020202020204"/>
              <a:cs typeface="Arial" panose="020B0604020202020204"/>
              <a:sym typeface="Arial" panose="020B0604020202020204"/>
            </a:endParaRPr>
          </a:p>
        </p:txBody>
      </p:sp>
      <p:sp>
        <p:nvSpPr>
          <p:cNvPr id="1725" name="Google Shape;1725;p258"/>
          <p:cNvSpPr txBox="1">
            <a:spLocks noGrp="1"/>
          </p:cNvSpPr>
          <p:nvPr>
            <p:ph type="body" idx="1"/>
          </p:nvPr>
        </p:nvSpPr>
        <p:spPr>
          <a:xfrm>
            <a:off x="145026" y="1545621"/>
            <a:ext cx="11561944" cy="4493497"/>
          </a:xfrm>
          <a:prstGeom prst="rect">
            <a:avLst/>
          </a:prstGeom>
          <a:noFill/>
          <a:ln>
            <a:noFill/>
          </a:ln>
        </p:spPr>
        <p:txBody>
          <a:bodyPr spcFirstLastPara="1" wrap="square" lIns="91425" tIns="45700" rIns="91425" bIns="45700" anchor="t" anchorCtr="0">
            <a:spAutoFit/>
          </a:bodyPr>
          <a:lstStyle/>
          <a:p>
            <a:pPr marL="457200" lvl="0" indent="-342900" algn="just" rtl="0">
              <a:lnSpc>
                <a:spcPct val="100000"/>
              </a:lnSpc>
              <a:spcBef>
                <a:spcPts val="0"/>
              </a:spcBef>
              <a:spcAft>
                <a:spcPts val="0"/>
              </a:spcAft>
              <a:buSzPts val="1800"/>
              <a:buChar char="•"/>
            </a:pPr>
            <a:r>
              <a:rPr lang="en-US" sz="2600" err="1">
                <a:latin typeface="Arial" panose="020B0604020202020204"/>
                <a:ea typeface="Arial" panose="020B0604020202020204"/>
                <a:cs typeface="Arial" panose="020B0604020202020204"/>
                <a:sym typeface="Arial" panose="020B0604020202020204"/>
              </a:rPr>
              <a:t>Nỗ</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lực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phát</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triển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các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biện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pháp</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định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lượng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phong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cách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sống</a:t>
            </a:r>
            <a:r>
              <a:rPr lang="en-US" sz="2600">
                <a:latin typeface="Arial" panose="020B0604020202020204"/>
                <a:ea typeface="Arial" panose="020B0604020202020204"/>
                <a:cs typeface="Arial" panose="020B0604020202020204"/>
                <a:sym typeface="Arial" panose="020B0604020202020204"/>
              </a:rPr>
              <a:t> ban </a:t>
            </a:r>
            <a:r>
              <a:rPr lang="en-US" sz="2600" err="1">
                <a:latin typeface="Arial" panose="020B0604020202020204"/>
                <a:ea typeface="Arial" panose="020B0604020202020204"/>
                <a:cs typeface="Arial" panose="020B0604020202020204"/>
                <a:sym typeface="Arial" panose="020B0604020202020204"/>
              </a:rPr>
              <a:t>đầu</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được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gọi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là</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tâm</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lý</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học</a:t>
            </a:r>
            <a:r>
              <a:rPr lang="en-US" sz="2600">
                <a:latin typeface="Arial" panose="020B0604020202020204"/>
                <a:ea typeface="Arial" panose="020B0604020202020204"/>
                <a:cs typeface="Arial" panose="020B0604020202020204"/>
                <a:sym typeface="Arial" panose="020B0604020202020204"/>
              </a:rPr>
              <a:t>. Trong </a:t>
            </a:r>
            <a:r>
              <a:rPr lang="en-US" sz="2600" err="1">
                <a:latin typeface="Arial" panose="020B0604020202020204"/>
                <a:ea typeface="Arial" panose="020B0604020202020204"/>
                <a:cs typeface="Arial" panose="020B0604020202020204"/>
                <a:sym typeface="Arial" panose="020B0604020202020204"/>
              </a:rPr>
              <a:t>thực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tế</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các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thuật</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ngữ</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tâm</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lý</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học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và</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phong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cách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sống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thường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được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sử</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dụng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thay</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thế</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cho</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nhau</a:t>
            </a:r>
            <a:r>
              <a:rPr lang="en-US" sz="2600">
                <a:latin typeface="Arial" panose="020B0604020202020204"/>
                <a:ea typeface="Arial" panose="020B0604020202020204"/>
                <a:cs typeface="Arial" panose="020B0604020202020204"/>
                <a:sym typeface="Arial" panose="020B0604020202020204"/>
              </a:rPr>
              <a:t>. </a:t>
            </a:r>
            <a:endParaRPr lang="vi-VN" sz="2600">
              <a:latin typeface="Arial" panose="020B0604020202020204"/>
              <a:ea typeface="Arial" panose="020B0604020202020204"/>
              <a:cs typeface="Arial" panose="020B0604020202020204"/>
              <a:sym typeface="Arial" panose="020B0604020202020204"/>
            </a:endParaRPr>
          </a:p>
          <a:p>
            <a:pPr marL="457200" lvl="0" indent="-342900" algn="just" rtl="0">
              <a:lnSpc>
                <a:spcPct val="100000"/>
              </a:lnSpc>
              <a:spcBef>
                <a:spcPts val="0"/>
              </a:spcBef>
              <a:spcAft>
                <a:spcPts val="0"/>
              </a:spcAft>
              <a:buSzPts val="1800"/>
              <a:buChar char="•"/>
            </a:pPr>
            <a:endParaRPr lang="vi-VN" sz="2600">
              <a:latin typeface="Arial" panose="020B0604020202020204"/>
              <a:ea typeface="Arial" panose="020B0604020202020204"/>
              <a:cs typeface="Arial" panose="020B0604020202020204"/>
              <a:sym typeface="Arial" panose="020B0604020202020204"/>
            </a:endParaRPr>
          </a:p>
          <a:p>
            <a:pPr marL="457200" lvl="0" indent="-342900" algn="just" rtl="0">
              <a:lnSpc>
                <a:spcPct val="100000"/>
              </a:lnSpc>
              <a:spcBef>
                <a:spcPts val="0"/>
              </a:spcBef>
              <a:spcAft>
                <a:spcPts val="0"/>
              </a:spcAft>
              <a:buSzPts val="1800"/>
              <a:buChar char="•"/>
            </a:pPr>
            <a:r>
              <a:rPr lang="en-US" sz="2600" b="1" err="1">
                <a:latin typeface="Arial" panose="020B0604020202020204"/>
                <a:ea typeface="Arial" panose="020B0604020202020204"/>
                <a:cs typeface="Arial" panose="020B0604020202020204"/>
                <a:sym typeface="Arial" panose="020B0604020202020204"/>
              </a:rPr>
              <a:t>Tâm</a:t>
            </a:r>
            <a:r>
              <a:rPr lang="en-US" sz="2600" b="1">
                <a:latin typeface="Arial" panose="020B0604020202020204"/>
                <a:ea typeface="Arial" panose="020B0604020202020204"/>
                <a:cs typeface="Arial" panose="020B0604020202020204"/>
                <a:sym typeface="Arial" panose="020B0604020202020204"/>
              </a:rPr>
              <a:t> </a:t>
            </a:r>
            <a:r>
              <a:rPr lang="en-US" sz="2600" b="1" err="1">
                <a:latin typeface="Arial" panose="020B0604020202020204"/>
                <a:ea typeface="Arial" panose="020B0604020202020204"/>
                <a:cs typeface="Arial" panose="020B0604020202020204"/>
                <a:sym typeface="Arial" panose="020B0604020202020204"/>
              </a:rPr>
              <a:t>lý</a:t>
            </a:r>
            <a:r>
              <a:rPr lang="en-US" sz="2600" b="1">
                <a:latin typeface="Arial" panose="020B0604020202020204"/>
                <a:ea typeface="Arial" panose="020B0604020202020204"/>
                <a:cs typeface="Arial" panose="020B0604020202020204"/>
                <a:sym typeface="Arial" panose="020B0604020202020204"/>
              </a:rPr>
              <a:t> </a:t>
            </a:r>
            <a:r>
              <a:rPr lang="en-US" sz="2600" b="1" err="1">
                <a:latin typeface="Arial" panose="020B0604020202020204"/>
                <a:ea typeface="Arial" panose="020B0604020202020204"/>
                <a:cs typeface="Arial" panose="020B0604020202020204"/>
                <a:sym typeface="Arial" panose="020B0604020202020204"/>
              </a:rPr>
              <a:t>học</a:t>
            </a:r>
            <a:r>
              <a:rPr lang="en-US" sz="2600" b="1">
                <a:latin typeface="Arial" panose="020B0604020202020204"/>
                <a:ea typeface="Arial" panose="020B0604020202020204"/>
                <a:cs typeface="Arial" panose="020B0604020202020204"/>
                <a:sym typeface="Arial" panose="020B0604020202020204"/>
              </a:rPr>
              <a:t> </a:t>
            </a:r>
            <a:r>
              <a:rPr lang="en-US" sz="2600" b="1" err="1">
                <a:latin typeface="Arial" panose="020B0604020202020204"/>
                <a:ea typeface="Arial" panose="020B0604020202020204"/>
                <a:cs typeface="Arial" panose="020B0604020202020204"/>
                <a:sym typeface="Arial" panose="020B0604020202020204"/>
              </a:rPr>
              <a:t>hoặc</a:t>
            </a:r>
            <a:r>
              <a:rPr lang="en-US" sz="2600" b="1">
                <a:latin typeface="Arial" panose="020B0604020202020204"/>
                <a:ea typeface="Arial" panose="020B0604020202020204"/>
                <a:cs typeface="Arial" panose="020B0604020202020204"/>
                <a:sym typeface="Arial" panose="020B0604020202020204"/>
              </a:rPr>
              <a:t> </a:t>
            </a:r>
            <a:r>
              <a:rPr lang="en-US" sz="2600" b="1" err="1">
                <a:latin typeface="Arial" panose="020B0604020202020204"/>
                <a:ea typeface="Arial" panose="020B0604020202020204"/>
                <a:cs typeface="Arial" panose="020B0604020202020204"/>
                <a:sym typeface="Arial" panose="020B0604020202020204"/>
              </a:rPr>
              <a:t>nghiên</a:t>
            </a:r>
            <a:r>
              <a:rPr lang="en-US" sz="2600" b="1">
                <a:latin typeface="Arial" panose="020B0604020202020204"/>
                <a:ea typeface="Arial" panose="020B0604020202020204"/>
                <a:cs typeface="Arial" panose="020B0604020202020204"/>
                <a:sym typeface="Arial" panose="020B0604020202020204"/>
              </a:rPr>
              <a:t> </a:t>
            </a:r>
            <a:r>
              <a:rPr lang="en-US" sz="2600" b="1" err="1">
                <a:latin typeface="Arial" panose="020B0604020202020204"/>
                <a:ea typeface="Arial" panose="020B0604020202020204"/>
                <a:cs typeface="Arial" panose="020B0604020202020204"/>
                <a:sym typeface="Arial" panose="020B0604020202020204"/>
              </a:rPr>
              <a:t>cứu</a:t>
            </a:r>
            <a:r>
              <a:rPr lang="en-US" sz="2600" b="1">
                <a:latin typeface="Arial" panose="020B0604020202020204"/>
                <a:ea typeface="Arial" panose="020B0604020202020204"/>
                <a:cs typeface="Arial" panose="020B0604020202020204"/>
                <a:sym typeface="Arial" panose="020B0604020202020204"/>
              </a:rPr>
              <a:t> </a:t>
            </a:r>
            <a:r>
              <a:rPr lang="en-US" sz="2600" b="1" err="1">
                <a:latin typeface="Arial" panose="020B0604020202020204"/>
                <a:ea typeface="Arial" panose="020B0604020202020204"/>
                <a:cs typeface="Arial" panose="020B0604020202020204"/>
                <a:sym typeface="Arial" panose="020B0604020202020204"/>
              </a:rPr>
              <a:t>về</a:t>
            </a:r>
            <a:r>
              <a:rPr lang="en-US" sz="2600" b="1">
                <a:latin typeface="Arial" panose="020B0604020202020204"/>
                <a:ea typeface="Arial" panose="020B0604020202020204"/>
                <a:cs typeface="Arial" panose="020B0604020202020204"/>
                <a:sym typeface="Arial" panose="020B0604020202020204"/>
              </a:rPr>
              <a:t> </a:t>
            </a:r>
            <a:r>
              <a:rPr lang="en-US" sz="2600" b="1" err="1">
                <a:latin typeface="Arial" panose="020B0604020202020204"/>
                <a:ea typeface="Arial" panose="020B0604020202020204"/>
                <a:cs typeface="Arial" panose="020B0604020202020204"/>
                <a:sym typeface="Arial" panose="020B0604020202020204"/>
              </a:rPr>
              <a:t>phong</a:t>
            </a:r>
            <a:r>
              <a:rPr lang="en-US" sz="2600" b="1">
                <a:latin typeface="Arial" panose="020B0604020202020204"/>
                <a:ea typeface="Arial" panose="020B0604020202020204"/>
                <a:cs typeface="Arial" panose="020B0604020202020204"/>
                <a:sym typeface="Arial" panose="020B0604020202020204"/>
              </a:rPr>
              <a:t> </a:t>
            </a:r>
            <a:r>
              <a:rPr lang="en-US" sz="2600" b="1" err="1">
                <a:latin typeface="Arial" panose="020B0604020202020204"/>
                <a:ea typeface="Arial" panose="020B0604020202020204"/>
                <a:cs typeface="Arial" panose="020B0604020202020204"/>
                <a:sym typeface="Arial" panose="020B0604020202020204"/>
              </a:rPr>
              <a:t>cách</a:t>
            </a:r>
            <a:r>
              <a:rPr lang="en-US" sz="2600" b="1">
                <a:latin typeface="Arial" panose="020B0604020202020204"/>
                <a:ea typeface="Arial" panose="020B0604020202020204"/>
                <a:cs typeface="Arial" panose="020B0604020202020204"/>
                <a:sym typeface="Arial" panose="020B0604020202020204"/>
              </a:rPr>
              <a:t> </a:t>
            </a:r>
            <a:r>
              <a:rPr lang="en-US" sz="2600" b="1" err="1">
                <a:latin typeface="Arial" panose="020B0604020202020204"/>
                <a:ea typeface="Arial" panose="020B0604020202020204"/>
                <a:cs typeface="Arial" panose="020B0604020202020204"/>
                <a:sym typeface="Arial" panose="020B0604020202020204"/>
              </a:rPr>
              <a:t>sống</a:t>
            </a:r>
            <a:r>
              <a:rPr lang="en-US" sz="2600" b="1">
                <a:latin typeface="Arial" panose="020B0604020202020204"/>
                <a:ea typeface="Arial" panose="020B0604020202020204"/>
                <a:cs typeface="Arial" panose="020B0604020202020204"/>
                <a:sym typeface="Arial" panose="020B0604020202020204"/>
              </a:rPr>
              <a:t> </a:t>
            </a:r>
            <a:r>
              <a:rPr lang="en-US" sz="2600" b="1" err="1">
                <a:latin typeface="Arial" panose="020B0604020202020204"/>
                <a:ea typeface="Arial" panose="020B0604020202020204"/>
                <a:cs typeface="Arial" panose="020B0604020202020204"/>
                <a:sym typeface="Arial" panose="020B0604020202020204"/>
              </a:rPr>
              <a:t>thường</a:t>
            </a:r>
            <a:r>
              <a:rPr lang="en-US" sz="2600" b="1">
                <a:latin typeface="Arial" panose="020B0604020202020204"/>
                <a:ea typeface="Arial" panose="020B0604020202020204"/>
                <a:cs typeface="Arial" panose="020B0604020202020204"/>
                <a:sym typeface="Arial" panose="020B0604020202020204"/>
              </a:rPr>
              <a:t> bao </a:t>
            </a:r>
            <a:r>
              <a:rPr lang="en-US" sz="2600" b="1" err="1">
                <a:latin typeface="Arial" panose="020B0604020202020204"/>
                <a:ea typeface="Arial" panose="020B0604020202020204"/>
                <a:cs typeface="Arial" panose="020B0604020202020204"/>
                <a:sym typeface="Arial" panose="020B0604020202020204"/>
              </a:rPr>
              <a:t>gồm</a:t>
            </a:r>
            <a:r>
              <a:rPr lang="en-US" sz="2600" b="1">
                <a:latin typeface="Arial" panose="020B0604020202020204"/>
                <a:ea typeface="Arial" panose="020B0604020202020204"/>
                <a:cs typeface="Arial" panose="020B0604020202020204"/>
                <a:sym typeface="Arial" panose="020B0604020202020204"/>
              </a:rPr>
              <a:t>: </a:t>
            </a:r>
          </a:p>
          <a:p>
            <a:pPr marL="1257300" lvl="0" indent="-342900" algn="just" rtl="0">
              <a:lnSpc>
                <a:spcPct val="100000"/>
              </a:lnSpc>
              <a:spcBef>
                <a:spcPts val="0"/>
              </a:spcBef>
              <a:spcAft>
                <a:spcPts val="0"/>
              </a:spcAft>
              <a:buSzPts val="1800"/>
              <a:buChar char="•"/>
            </a:pPr>
            <a:r>
              <a:rPr lang="en-US" sz="2600">
                <a:latin typeface="Arial" panose="020B0604020202020204"/>
                <a:ea typeface="Arial" panose="020B0604020202020204"/>
                <a:cs typeface="Arial" panose="020B0604020202020204"/>
                <a:sym typeface="Arial" panose="020B0604020202020204"/>
              </a:rPr>
              <a:t>Thái </a:t>
            </a:r>
            <a:r>
              <a:rPr lang="en-US" sz="2600" err="1">
                <a:latin typeface="Arial" panose="020B0604020202020204"/>
                <a:ea typeface="Arial" panose="020B0604020202020204"/>
                <a:cs typeface="Arial" panose="020B0604020202020204"/>
                <a:sym typeface="Arial" panose="020B0604020202020204"/>
              </a:rPr>
              <a:t>độ</a:t>
            </a:r>
            <a:endParaRPr sz="2600">
              <a:latin typeface="Arial" panose="020B0604020202020204"/>
              <a:ea typeface="Arial" panose="020B0604020202020204"/>
              <a:cs typeface="Arial" panose="020B0604020202020204"/>
              <a:sym typeface="Arial" panose="020B0604020202020204"/>
            </a:endParaRPr>
          </a:p>
          <a:p>
            <a:pPr marL="1257300" lvl="0" indent="-342900" algn="just" rtl="0">
              <a:lnSpc>
                <a:spcPct val="100000"/>
              </a:lnSpc>
              <a:spcBef>
                <a:spcPts val="0"/>
              </a:spcBef>
              <a:spcAft>
                <a:spcPts val="0"/>
              </a:spcAft>
              <a:buSzPts val="1800"/>
              <a:buChar char="•"/>
            </a:pPr>
            <a:r>
              <a:rPr lang="en-US" sz="2600" err="1">
                <a:latin typeface="Arial" panose="020B0604020202020204"/>
                <a:ea typeface="Arial" panose="020B0604020202020204"/>
                <a:cs typeface="Arial" panose="020B0604020202020204"/>
                <a:sym typeface="Arial" panose="020B0604020202020204"/>
              </a:rPr>
              <a:t>Giá</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trị</a:t>
            </a:r>
            <a:endParaRPr sz="2600">
              <a:latin typeface="Arial" panose="020B0604020202020204"/>
              <a:ea typeface="Arial" panose="020B0604020202020204"/>
              <a:cs typeface="Arial" panose="020B0604020202020204"/>
              <a:sym typeface="Arial" panose="020B0604020202020204"/>
            </a:endParaRPr>
          </a:p>
          <a:p>
            <a:pPr marL="1257300" lvl="0" indent="-342900" algn="just" rtl="0">
              <a:lnSpc>
                <a:spcPct val="100000"/>
              </a:lnSpc>
              <a:spcBef>
                <a:spcPts val="0"/>
              </a:spcBef>
              <a:spcAft>
                <a:spcPts val="0"/>
              </a:spcAft>
              <a:buSzPts val="1800"/>
              <a:buChar char="•"/>
            </a:pPr>
            <a:r>
              <a:rPr lang="en-US" sz="2600" err="1">
                <a:latin typeface="Arial" panose="020B0604020202020204"/>
                <a:ea typeface="Arial" panose="020B0604020202020204"/>
                <a:cs typeface="Arial" panose="020B0604020202020204"/>
                <a:sym typeface="Arial" panose="020B0604020202020204"/>
              </a:rPr>
              <a:t>Các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hoạt</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động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và</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sở</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thích</a:t>
            </a:r>
            <a:endParaRPr sz="2600">
              <a:latin typeface="Arial" panose="020B0604020202020204"/>
              <a:ea typeface="Arial" panose="020B0604020202020204"/>
              <a:cs typeface="Arial" panose="020B0604020202020204"/>
              <a:sym typeface="Arial" panose="020B0604020202020204"/>
            </a:endParaRPr>
          </a:p>
          <a:p>
            <a:pPr marL="1257300" lvl="0" indent="-342900" algn="just" rtl="0">
              <a:lnSpc>
                <a:spcPct val="100000"/>
              </a:lnSpc>
              <a:spcBef>
                <a:spcPts val="0"/>
              </a:spcBef>
              <a:spcAft>
                <a:spcPts val="0"/>
              </a:spcAft>
              <a:buSzPts val="1800"/>
              <a:buChar char="•"/>
            </a:pPr>
            <a:r>
              <a:rPr lang="en-US" sz="2600" err="1">
                <a:latin typeface="Arial" panose="020B0604020202020204"/>
                <a:ea typeface="Arial" panose="020B0604020202020204"/>
                <a:cs typeface="Arial" panose="020B0604020202020204"/>
                <a:sym typeface="Arial" panose="020B0604020202020204"/>
              </a:rPr>
              <a:t>Nhân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khẩu</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học</a:t>
            </a:r>
            <a:endParaRPr sz="2600">
              <a:latin typeface="Arial" panose="020B0604020202020204"/>
              <a:ea typeface="Arial" panose="020B0604020202020204"/>
              <a:cs typeface="Arial" panose="020B0604020202020204"/>
              <a:sym typeface="Arial" panose="020B0604020202020204"/>
            </a:endParaRPr>
          </a:p>
          <a:p>
            <a:pPr marL="1257300" lvl="0" indent="-342900" algn="just" rtl="0">
              <a:lnSpc>
                <a:spcPct val="100000"/>
              </a:lnSpc>
              <a:spcBef>
                <a:spcPts val="0"/>
              </a:spcBef>
              <a:spcAft>
                <a:spcPts val="0"/>
              </a:spcAft>
              <a:buSzPts val="1800"/>
              <a:buChar char="•"/>
            </a:pPr>
            <a:r>
              <a:rPr lang="en-US" sz="2600" err="1">
                <a:latin typeface="Arial" panose="020B0604020202020204"/>
                <a:ea typeface="Arial" panose="020B0604020202020204"/>
                <a:cs typeface="Arial" panose="020B0604020202020204"/>
                <a:sym typeface="Arial" panose="020B0604020202020204"/>
              </a:rPr>
              <a:t>Các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mẫu</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hình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phương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tiện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truyền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thông</a:t>
            </a:r>
            <a:endParaRPr sz="2600">
              <a:latin typeface="Arial" panose="020B0604020202020204"/>
              <a:ea typeface="Arial" panose="020B0604020202020204"/>
              <a:cs typeface="Arial" panose="020B0604020202020204"/>
              <a:sym typeface="Arial" panose="020B0604020202020204"/>
            </a:endParaRPr>
          </a:p>
          <a:p>
            <a:pPr marL="1257300" lvl="0" indent="-342900" algn="just" rtl="0">
              <a:lnSpc>
                <a:spcPct val="100000"/>
              </a:lnSpc>
              <a:spcBef>
                <a:spcPts val="0"/>
              </a:spcBef>
              <a:spcAft>
                <a:spcPts val="0"/>
              </a:spcAft>
              <a:buSzPts val="1800"/>
              <a:buChar char="•"/>
            </a:pPr>
            <a:r>
              <a:rPr lang="en-US" sz="2600" err="1">
                <a:latin typeface="Arial" panose="020B0604020202020204"/>
                <a:ea typeface="Arial" panose="020B0604020202020204"/>
                <a:cs typeface="Arial" panose="020B0604020202020204"/>
                <a:sym typeface="Arial" panose="020B0604020202020204"/>
              </a:rPr>
              <a:t>Tỷ</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lệ</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sử</a:t>
            </a:r>
            <a:r>
              <a:rPr lang="en-US" sz="2600">
                <a:latin typeface="Arial" panose="020B0604020202020204"/>
                <a:ea typeface="Arial" panose="020B0604020202020204"/>
                <a:cs typeface="Arial" panose="020B0604020202020204"/>
                <a:sym typeface="Arial" panose="020B0604020202020204"/>
              </a:rPr>
              <a:t> </a:t>
            </a:r>
            <a:r>
              <a:rPr lang="en-US" sz="2600" err="1"/>
              <a:t>dụng</a:t>
            </a:r>
            <a:r>
              <a:rPr lang="en-US" sz="2600"/>
              <a:t> </a:t>
            </a:r>
            <a:r>
              <a:rPr lang="en-US" sz="2600" err="1"/>
              <a:t>sản</a:t>
            </a:r>
            <a:r>
              <a:rPr lang="en-US" sz="2600"/>
              <a:t> </a:t>
            </a:r>
            <a:r>
              <a:rPr lang="en-US" sz="2600" err="1"/>
              <a:t>phẩm</a:t>
            </a:r>
            <a:endParaRPr sz="260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sp>
        <p:nvSpPr>
          <p:cNvPr id="1730" name="Google Shape;1730;p259"/>
          <p:cNvSpPr txBox="1">
            <a:spLocks noGrp="1"/>
          </p:cNvSpPr>
          <p:nvPr>
            <p:ph type="title"/>
          </p:nvPr>
        </p:nvSpPr>
        <p:spPr>
          <a:xfrm>
            <a:off x="204019"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4</a:t>
            </a:r>
            <a:r>
              <a:rPr lang="en-US" sz="3200" b="1">
                <a:latin typeface="Arial" panose="020B0604020202020204"/>
                <a:ea typeface="Arial" panose="020B0604020202020204"/>
                <a:cs typeface="Arial" panose="020B0604020202020204"/>
                <a:sym typeface="Arial" panose="020B0604020202020204"/>
              </a:rPr>
              <a:t>.5.3. Lối sống chung và cụ thể</a:t>
            </a:r>
            <a:endParaRPr sz="3200" b="1">
              <a:latin typeface="Arial" panose="020B0604020202020204"/>
              <a:ea typeface="Arial" panose="020B0604020202020204"/>
              <a:cs typeface="Arial" panose="020B0604020202020204"/>
              <a:sym typeface="Arial" panose="020B0604020202020204"/>
            </a:endParaRPr>
          </a:p>
        </p:txBody>
      </p:sp>
      <p:sp>
        <p:nvSpPr>
          <p:cNvPr id="1731" name="Google Shape;1731;p259"/>
          <p:cNvSpPr txBox="1">
            <a:spLocks noGrp="1"/>
          </p:cNvSpPr>
          <p:nvPr>
            <p:ph type="body" idx="1"/>
          </p:nvPr>
        </p:nvSpPr>
        <p:spPr>
          <a:xfrm>
            <a:off x="524929" y="1768244"/>
            <a:ext cx="10928640" cy="4616608"/>
          </a:xfrm>
          <a:prstGeom prst="rect">
            <a:avLst/>
          </a:prstGeom>
          <a:noFill/>
          <a:ln>
            <a:noFill/>
          </a:ln>
        </p:spPr>
        <p:txBody>
          <a:bodyPr spcFirstLastPara="1" wrap="square" lIns="91425" tIns="45700" rIns="91425" bIns="45700" anchor="t" anchorCtr="0">
            <a:spAutoFit/>
          </a:bodyPr>
          <a:lstStyle/>
          <a:p>
            <a:pPr marL="342900" lvl="0" indent="-342900" algn="just" rtl="0">
              <a:lnSpc>
                <a:spcPct val="150000"/>
              </a:lnSpc>
              <a:spcBef>
                <a:spcPts val="0"/>
              </a:spcBef>
              <a:spcAft>
                <a:spcPts val="0"/>
              </a:spcAft>
              <a:buClr>
                <a:schemeClr val="dk1"/>
              </a:buClr>
              <a:buSzPts val="2400"/>
              <a:buFont typeface="Arial" panose="020B0604020202020204"/>
              <a:buChar char="•"/>
            </a:pPr>
            <a:r>
              <a:rPr lang="en-US" err="1">
                <a:latin typeface="Arial" panose="020B0604020202020204"/>
                <a:ea typeface="Arial" panose="020B0604020202020204"/>
                <a:cs typeface="Arial" panose="020B0604020202020204"/>
                <a:sym typeface="Arial" panose="020B0604020202020204"/>
              </a:rPr>
              <a:t>Lược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đồ</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phép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đo</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phong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sống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được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xây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dựng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với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mức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độ</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cụ</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nhau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nhà</a:t>
            </a:r>
            <a:r>
              <a:rPr lang="en-US">
                <a:latin typeface="Arial" panose="020B0604020202020204"/>
                <a:ea typeface="Arial" panose="020B0604020202020204"/>
                <a:cs typeface="Arial" panose="020B0604020202020204"/>
                <a:sym typeface="Arial" panose="020B0604020202020204"/>
              </a:rPr>
              <a:t> marketing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nghiên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cứu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mô</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hình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phong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sống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chung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của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quần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số</a:t>
            </a:r>
            <a:r>
              <a:rPr lang="en-US">
                <a:latin typeface="Arial" panose="020B0604020202020204"/>
                <a:ea typeface="Arial" panose="020B0604020202020204"/>
                <a:cs typeface="Arial" panose="020B0604020202020204"/>
                <a:sym typeface="Arial" panose="020B0604020202020204"/>
              </a:rPr>
              <a:t>.</a:t>
            </a:r>
            <a:endParaRPr>
              <a:latin typeface="Arial" panose="020B0604020202020204"/>
              <a:ea typeface="Arial" panose="020B0604020202020204"/>
              <a:cs typeface="Arial" panose="020B0604020202020204"/>
              <a:sym typeface="Arial" panose="020B0604020202020204"/>
            </a:endParaRPr>
          </a:p>
          <a:p>
            <a:pPr marL="342900" lvl="0" indent="-342900" algn="just" rtl="0">
              <a:lnSpc>
                <a:spcPct val="150000"/>
              </a:lnSpc>
              <a:spcBef>
                <a:spcPts val="0"/>
              </a:spcBef>
              <a:spcAft>
                <a:spcPts val="0"/>
              </a:spcAft>
              <a:buClr>
                <a:schemeClr val="dk1"/>
              </a:buClr>
              <a:buSzPts val="2400"/>
              <a:buFont typeface="Arial" panose="020B0604020202020204"/>
              <a:buChar char="•"/>
            </a:pPr>
            <a:r>
              <a:rPr lang="en-US" err="1">
                <a:latin typeface="Arial" panose="020B0604020202020204"/>
                <a:ea typeface="Arial" panose="020B0604020202020204"/>
                <a:cs typeface="Arial" panose="020B0604020202020204"/>
                <a:sym typeface="Arial" panose="020B0604020202020204"/>
              </a:rPr>
              <a:t>Những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tiếp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cận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phong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sống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chung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không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cụ</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cho</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bất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phẩm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hoặc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hoạt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động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nào</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vì</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vậy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chúng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khả</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năng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ứng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dụng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rộng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rãi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trong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việc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phát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triển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chiến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lược</a:t>
            </a:r>
            <a:r>
              <a:rPr lang="en-US">
                <a:latin typeface="Arial" panose="020B0604020202020204"/>
                <a:ea typeface="Arial" panose="020B0604020202020204"/>
                <a:cs typeface="Arial" panose="020B0604020202020204"/>
                <a:sym typeface="Arial" panose="020B0604020202020204"/>
              </a:rPr>
              <a:t> marketing </a:t>
            </a:r>
            <a:r>
              <a:rPr lang="en-US" err="1">
                <a:latin typeface="Arial" panose="020B0604020202020204"/>
                <a:ea typeface="Arial" panose="020B0604020202020204"/>
                <a:cs typeface="Arial" panose="020B0604020202020204"/>
                <a:sym typeface="Arial" panose="020B0604020202020204"/>
              </a:rPr>
              <a:t>cho</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loạt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phẩm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thương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hiệu</a:t>
            </a:r>
            <a:r>
              <a:rPr lang="en-US">
                <a:latin typeface="Arial" panose="020B0604020202020204"/>
                <a:ea typeface="Arial" panose="020B0604020202020204"/>
                <a:cs typeface="Arial" panose="020B0604020202020204"/>
                <a:sym typeface="Arial" panose="020B0604020202020204"/>
              </a:rPr>
              <a:t>. </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Shape 1735"/>
        <p:cNvGrpSpPr/>
        <p:nvPr/>
      </p:nvGrpSpPr>
      <p:grpSpPr>
        <a:xfrm>
          <a:off x="0" y="0"/>
          <a:ext cx="0" cy="0"/>
          <a:chOff x="0" y="0"/>
          <a:chExt cx="0" cy="0"/>
        </a:xfrm>
      </p:grpSpPr>
      <p:sp>
        <p:nvSpPr>
          <p:cNvPr id="1736" name="Google Shape;1736;p260"/>
          <p:cNvSpPr txBox="1">
            <a:spLocks noGrp="1"/>
          </p:cNvSpPr>
          <p:nvPr>
            <p:ph type="title"/>
          </p:nvPr>
        </p:nvSpPr>
        <p:spPr>
          <a:xfrm>
            <a:off x="204019"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4</a:t>
            </a:r>
            <a:r>
              <a:rPr lang="en-US" sz="3200" b="1">
                <a:latin typeface="Arial" panose="020B0604020202020204"/>
                <a:ea typeface="Arial" panose="020B0604020202020204"/>
                <a:cs typeface="Arial" panose="020B0604020202020204"/>
                <a:sym typeface="Arial" panose="020B0604020202020204"/>
              </a:rPr>
              <a:t>.5.4. Hệ thống giá trị phong cách sống (VALS)</a:t>
            </a:r>
          </a:p>
        </p:txBody>
      </p:sp>
      <p:sp>
        <p:nvSpPr>
          <p:cNvPr id="1737" name="Google Shape;1737;p260"/>
          <p:cNvSpPr txBox="1">
            <a:spLocks noGrp="1"/>
          </p:cNvSpPr>
          <p:nvPr>
            <p:ph type="body" idx="1"/>
          </p:nvPr>
        </p:nvSpPr>
        <p:spPr>
          <a:xfrm>
            <a:off x="346913" y="1343818"/>
            <a:ext cx="11005931" cy="4616608"/>
          </a:xfrm>
          <a:prstGeom prst="rect">
            <a:avLst/>
          </a:prstGeom>
          <a:noFill/>
          <a:ln>
            <a:noFill/>
          </a:ln>
        </p:spPr>
        <p:txBody>
          <a:bodyPr spcFirstLastPara="1" wrap="square" lIns="91425" tIns="45700" rIns="91425" bIns="45700" anchor="t" anchorCtr="0">
            <a:spAutoFit/>
          </a:bodyPr>
          <a:lstStyle/>
          <a:p>
            <a:pPr marL="228600" lvl="0" indent="-228600" algn="just" rtl="0">
              <a:lnSpc>
                <a:spcPct val="150000"/>
              </a:lnSpc>
              <a:spcBef>
                <a:spcPts val="0"/>
              </a:spcBef>
              <a:spcAft>
                <a:spcPts val="0"/>
              </a:spcAft>
              <a:buClr>
                <a:schemeClr val="dk1"/>
              </a:buClr>
              <a:buSzPts val="2800"/>
              <a:buFont typeface="Arial" panose="020B0604020202020204"/>
              <a:buChar char="-"/>
            </a:pPr>
            <a:r>
              <a:rPr lang="en-US">
                <a:latin typeface="Arial" panose="020B0604020202020204"/>
                <a:ea typeface="Arial" panose="020B0604020202020204"/>
                <a:cs typeface="Arial" panose="020B0604020202020204"/>
                <a:sym typeface="Arial" panose="020B0604020202020204"/>
              </a:rPr>
              <a:t>VALS (Values and </a:t>
            </a:r>
            <a:r>
              <a:rPr lang="en-US" err="1">
                <a:latin typeface="Arial" panose="020B0604020202020204"/>
                <a:ea typeface="Arial" panose="020B0604020202020204"/>
                <a:cs typeface="Arial" panose="020B0604020202020204"/>
                <a:sym typeface="Arial" panose="020B0604020202020204"/>
              </a:rPr>
              <a:t>LifeStyle</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phương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pháp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nghiên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cứu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độc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quyền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được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sử</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dụng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cho</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khúc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thị</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trường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tâm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lý</a:t>
            </a:r>
            <a:r>
              <a:rPr lang="en-US">
                <a:latin typeface="Arial" panose="020B0604020202020204"/>
                <a:ea typeface="Arial" panose="020B0604020202020204"/>
                <a:cs typeface="Arial" panose="020B0604020202020204"/>
                <a:sym typeface="Arial" panose="020B0604020202020204"/>
              </a:rPr>
              <a:t>. </a:t>
            </a:r>
          </a:p>
          <a:p>
            <a:pPr marL="228600" lvl="0" indent="-50800" algn="just" rtl="0">
              <a:lnSpc>
                <a:spcPct val="150000"/>
              </a:lnSpc>
              <a:spcBef>
                <a:spcPts val="0"/>
              </a:spcBef>
              <a:spcAft>
                <a:spcPts val="0"/>
              </a:spcAft>
              <a:buClr>
                <a:schemeClr val="dk1"/>
              </a:buClr>
              <a:buSzPts val="2800"/>
              <a:buFont typeface="Calibri" panose="020F0502020204030204"/>
              <a:buNone/>
            </a:pPr>
            <a:endParaRPr>
              <a:latin typeface="Arial" panose="020B0604020202020204"/>
              <a:ea typeface="Arial" panose="020B0604020202020204"/>
              <a:cs typeface="Arial" panose="020B0604020202020204"/>
              <a:sym typeface="Arial" panose="020B0604020202020204"/>
            </a:endParaRPr>
          </a:p>
          <a:p>
            <a:pPr marL="228600" lvl="0" indent="-228600" algn="just" rtl="0">
              <a:lnSpc>
                <a:spcPct val="150000"/>
              </a:lnSpc>
              <a:spcBef>
                <a:spcPts val="0"/>
              </a:spcBef>
              <a:spcAft>
                <a:spcPts val="0"/>
              </a:spcAft>
              <a:buClr>
                <a:schemeClr val="dk1"/>
              </a:buClr>
              <a:buSzPts val="2800"/>
              <a:buFont typeface="Arial" panose="020B0604020202020204"/>
              <a:buChar char="-"/>
            </a:pPr>
            <a:r>
              <a:rPr lang="en-US" err="1">
                <a:latin typeface="Arial" panose="020B0604020202020204"/>
                <a:ea typeface="Arial" panose="020B0604020202020204"/>
                <a:cs typeface="Arial" panose="020B0604020202020204"/>
                <a:sym typeface="Arial" panose="020B0604020202020204"/>
              </a:rPr>
              <a:t>Được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giới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thiệu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lần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đầu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vào</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năm</a:t>
            </a:r>
            <a:r>
              <a:rPr lang="en-US">
                <a:latin typeface="Arial" panose="020B0604020202020204"/>
                <a:ea typeface="Arial" panose="020B0604020202020204"/>
                <a:cs typeface="Arial" panose="020B0604020202020204"/>
                <a:sym typeface="Arial" panose="020B0604020202020204"/>
              </a:rPr>
              <a:t> 1978, SRI </a:t>
            </a:r>
            <a:r>
              <a:rPr lang="en-US" err="1">
                <a:latin typeface="Arial" panose="020B0604020202020204"/>
                <a:ea typeface="Arial" panose="020B0604020202020204"/>
                <a:cs typeface="Arial" panose="020B0604020202020204"/>
                <a:sym typeface="Arial" panose="020B0604020202020204"/>
              </a:rPr>
              <a:t>đã</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phát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triển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chương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trình</a:t>
            </a:r>
            <a:r>
              <a:rPr lang="en-US">
                <a:latin typeface="Arial" panose="020B0604020202020204"/>
                <a:ea typeface="Arial" panose="020B0604020202020204"/>
                <a:cs typeface="Arial" panose="020B0604020202020204"/>
                <a:sym typeface="Arial" panose="020B0604020202020204"/>
              </a:rPr>
              <a:t> VALS2 </a:t>
            </a:r>
            <a:r>
              <a:rPr lang="en-US" err="1">
                <a:latin typeface="Arial" panose="020B0604020202020204"/>
                <a:ea typeface="Arial" panose="020B0604020202020204"/>
                <a:cs typeface="Arial" panose="020B0604020202020204"/>
                <a:sym typeface="Arial" panose="020B0604020202020204"/>
              </a:rPr>
              <a:t>và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đã</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sửa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đổi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đáng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vào</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năm</a:t>
            </a:r>
            <a:r>
              <a:rPr lang="en-US">
                <a:latin typeface="Arial" panose="020B0604020202020204"/>
                <a:ea typeface="Arial" panose="020B0604020202020204"/>
                <a:cs typeface="Arial" panose="020B0604020202020204"/>
                <a:sym typeface="Arial" panose="020B0604020202020204"/>
              </a:rPr>
              <a:t> 1989. VALS2 </a:t>
            </a:r>
            <a:r>
              <a:rPr lang="en-US" err="1">
                <a:latin typeface="Arial" panose="020B0604020202020204"/>
                <a:ea typeface="Arial" panose="020B0604020202020204"/>
                <a:cs typeface="Arial" panose="020B0604020202020204"/>
                <a:sym typeface="Arial" panose="020B0604020202020204"/>
              </a:rPr>
              <a:t>ít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chú</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trọng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hoạt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động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lợi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ích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nhiều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hơn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nữa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cơ</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sở</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tâm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lý</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khai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thái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độ</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giá</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trị</a:t>
            </a:r>
            <a:r>
              <a:rPr lang="en-US">
                <a:latin typeface="Arial" panose="020B0604020202020204"/>
                <a:ea typeface="Arial" panose="020B0604020202020204"/>
                <a:cs typeface="Arial" panose="020B0604020202020204"/>
                <a:sym typeface="Arial" panose="020B0604020202020204"/>
              </a:rPr>
              <a:t>.</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Shape 1741"/>
        <p:cNvGrpSpPr/>
        <p:nvPr/>
      </p:nvGrpSpPr>
      <p:grpSpPr>
        <a:xfrm>
          <a:off x="0" y="0"/>
          <a:ext cx="0" cy="0"/>
          <a:chOff x="0" y="0"/>
          <a:chExt cx="0" cy="0"/>
        </a:xfrm>
      </p:grpSpPr>
      <p:sp>
        <p:nvSpPr>
          <p:cNvPr id="1742" name="Google Shape;1742;p261"/>
          <p:cNvSpPr txBox="1">
            <a:spLocks noGrp="1"/>
          </p:cNvSpPr>
          <p:nvPr>
            <p:ph type="title"/>
          </p:nvPr>
        </p:nvSpPr>
        <p:spPr>
          <a:xfrm>
            <a:off x="204019"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4</a:t>
            </a:r>
            <a:r>
              <a:rPr lang="en-US" sz="3200" b="1">
                <a:latin typeface="Arial" panose="020B0604020202020204"/>
                <a:ea typeface="Arial" panose="020B0604020202020204"/>
                <a:cs typeface="Arial" panose="020B0604020202020204"/>
                <a:sym typeface="Arial" panose="020B0604020202020204"/>
              </a:rPr>
              <a:t>.5.4. Hệ thống giá trị phong cách sống (VALS)</a:t>
            </a:r>
          </a:p>
        </p:txBody>
      </p:sp>
      <p:sp>
        <p:nvSpPr>
          <p:cNvPr id="1743" name="Google Shape;1743;p261"/>
          <p:cNvSpPr txBox="1">
            <a:spLocks noGrp="1"/>
          </p:cNvSpPr>
          <p:nvPr>
            <p:ph type="body" idx="1"/>
          </p:nvPr>
        </p:nvSpPr>
        <p:spPr>
          <a:xfrm>
            <a:off x="204019" y="1086561"/>
            <a:ext cx="11561400" cy="5493771"/>
          </a:xfrm>
          <a:prstGeom prst="rect">
            <a:avLst/>
          </a:prstGeom>
          <a:noFill/>
          <a:ln>
            <a:noFill/>
          </a:ln>
        </p:spPr>
        <p:txBody>
          <a:bodyPr spcFirstLastPara="1" wrap="square" lIns="91425" tIns="45700" rIns="91425" bIns="45700" anchor="t" anchorCtr="0">
            <a:spAutoFit/>
          </a:bodyPr>
          <a:lstStyle/>
          <a:p>
            <a:pPr marL="0" lvl="0" indent="0" algn="just" rtl="0">
              <a:lnSpc>
                <a:spcPct val="150000"/>
              </a:lnSpc>
              <a:spcBef>
                <a:spcPts val="0"/>
              </a:spcBef>
              <a:spcAft>
                <a:spcPts val="0"/>
              </a:spcAft>
              <a:buClr>
                <a:schemeClr val="dk1"/>
              </a:buClr>
              <a:buSzPts val="2400"/>
              <a:buNone/>
            </a:pPr>
            <a:r>
              <a:rPr lang="en-US" sz="2600" b="1" err="1">
                <a:latin typeface="Arial" panose="020B0604020202020204"/>
                <a:ea typeface="Arial" panose="020B0604020202020204"/>
                <a:cs typeface="Arial" panose="020B0604020202020204"/>
                <a:sym typeface="Arial" panose="020B0604020202020204"/>
              </a:rPr>
              <a:t>Chương</a:t>
            </a:r>
            <a:r>
              <a:rPr lang="en-US" sz="2600" b="1">
                <a:latin typeface="Arial" panose="020B0604020202020204"/>
                <a:ea typeface="Arial" panose="020B0604020202020204"/>
                <a:cs typeface="Arial" panose="020B0604020202020204"/>
                <a:sym typeface="Arial" panose="020B0604020202020204"/>
              </a:rPr>
              <a:t> </a:t>
            </a:r>
            <a:r>
              <a:rPr lang="en-US" sz="2600" b="1" err="1">
                <a:latin typeface="Arial" panose="020B0604020202020204"/>
                <a:ea typeface="Arial" panose="020B0604020202020204"/>
                <a:cs typeface="Arial" panose="020B0604020202020204"/>
                <a:sym typeface="Arial" panose="020B0604020202020204"/>
              </a:rPr>
              <a:t>trình</a:t>
            </a:r>
            <a:r>
              <a:rPr lang="en-US" sz="2600" b="1">
                <a:latin typeface="Arial" panose="020B0604020202020204"/>
                <a:ea typeface="Arial" panose="020B0604020202020204"/>
                <a:cs typeface="Arial" panose="020B0604020202020204"/>
                <a:sym typeface="Arial" panose="020B0604020202020204"/>
              </a:rPr>
              <a:t> VALS2 </a:t>
            </a:r>
            <a:r>
              <a:rPr lang="en-US" sz="2600" b="1" err="1">
                <a:latin typeface="Arial" panose="020B0604020202020204"/>
                <a:ea typeface="Arial" panose="020B0604020202020204"/>
                <a:cs typeface="Arial" panose="020B0604020202020204"/>
                <a:sym typeface="Arial" panose="020B0604020202020204"/>
              </a:rPr>
              <a:t>có</a:t>
            </a:r>
            <a:r>
              <a:rPr lang="en-US" sz="2600" b="1">
                <a:latin typeface="Arial" panose="020B0604020202020204"/>
                <a:ea typeface="Arial" panose="020B0604020202020204"/>
                <a:cs typeface="Arial" panose="020B0604020202020204"/>
                <a:sym typeface="Arial" panose="020B0604020202020204"/>
              </a:rPr>
              <a:t> </a:t>
            </a:r>
            <a:r>
              <a:rPr lang="en-US" sz="2600" b="1" err="1">
                <a:latin typeface="Arial" panose="020B0604020202020204"/>
                <a:ea typeface="Arial" panose="020B0604020202020204"/>
                <a:cs typeface="Arial" panose="020B0604020202020204"/>
                <a:sym typeface="Arial" panose="020B0604020202020204"/>
              </a:rPr>
              <a:t>hai</a:t>
            </a:r>
            <a:r>
              <a:rPr lang="en-US" sz="2600" b="1">
                <a:latin typeface="Arial" panose="020B0604020202020204"/>
                <a:ea typeface="Arial" panose="020B0604020202020204"/>
                <a:cs typeface="Arial" panose="020B0604020202020204"/>
                <a:sym typeface="Arial" panose="020B0604020202020204"/>
              </a:rPr>
              <a:t> </a:t>
            </a:r>
            <a:r>
              <a:rPr lang="en-US" sz="2600" b="1" err="1">
                <a:latin typeface="Arial" panose="020B0604020202020204"/>
                <a:ea typeface="Arial" panose="020B0604020202020204"/>
                <a:cs typeface="Arial" panose="020B0604020202020204"/>
                <a:sym typeface="Arial" panose="020B0604020202020204"/>
              </a:rPr>
              <a:t>chiều</a:t>
            </a:r>
            <a:r>
              <a:rPr lang="en-US" sz="2600" b="1">
                <a:latin typeface="Arial" panose="020B0604020202020204"/>
                <a:ea typeface="Arial" panose="020B0604020202020204"/>
                <a:cs typeface="Arial" panose="020B0604020202020204"/>
                <a:sym typeface="Arial" panose="020B0604020202020204"/>
              </a:rPr>
              <a:t>:</a:t>
            </a:r>
          </a:p>
          <a:p>
            <a:pPr marL="514350" lvl="0" indent="-514350" algn="just" rtl="0">
              <a:lnSpc>
                <a:spcPct val="150000"/>
              </a:lnSpc>
              <a:spcBef>
                <a:spcPts val="0"/>
              </a:spcBef>
              <a:spcAft>
                <a:spcPts val="0"/>
              </a:spcAft>
              <a:buClr>
                <a:schemeClr val="dk1"/>
              </a:buClr>
              <a:buSzPts val="2400"/>
              <a:buAutoNum type="arabicParenR"/>
            </a:pPr>
            <a:r>
              <a:rPr lang="en-US" sz="2600" err="1">
                <a:latin typeface="Arial" panose="020B0604020202020204"/>
                <a:ea typeface="Arial" panose="020B0604020202020204"/>
                <a:cs typeface="Arial" panose="020B0604020202020204"/>
                <a:sym typeface="Arial" panose="020B0604020202020204"/>
              </a:rPr>
              <a:t>Chiều</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hướng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thứ</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nhất</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là</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tự</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định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hướng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xác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định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loại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mục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tiêu</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và</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hành</a:t>
            </a:r>
            <a:r>
              <a:rPr lang="en-US" sz="2600">
                <a:latin typeface="Arial" panose="020B0604020202020204"/>
                <a:ea typeface="Arial" panose="020B0604020202020204"/>
                <a:cs typeface="Arial" panose="020B0604020202020204"/>
                <a:sym typeface="Arial" panose="020B0604020202020204"/>
              </a:rPr>
              <a:t> vi </a:t>
            </a:r>
            <a:r>
              <a:rPr lang="en-US" sz="2600" err="1">
                <a:latin typeface="Arial" panose="020B0604020202020204"/>
                <a:ea typeface="Arial" panose="020B0604020202020204"/>
                <a:cs typeface="Arial" panose="020B0604020202020204"/>
                <a:sym typeface="Arial" panose="020B0604020202020204"/>
              </a:rPr>
              <a:t>mà</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các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cá</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nhân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sẽ</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theo</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đuổi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đề</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cập</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đến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các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mô</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hình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thái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độ</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và</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hoạt</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động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giúp</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cá</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nhân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củng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cố</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duy</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trì</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hoặc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sửa</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đổi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hình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ảnh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bản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thân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xã</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hội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của</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họ</a:t>
            </a:r>
            <a:r>
              <a:rPr lang="en-US" sz="2600">
                <a:latin typeface="Arial" panose="020B0604020202020204"/>
                <a:ea typeface="Arial" panose="020B0604020202020204"/>
                <a:cs typeface="Arial" panose="020B0604020202020204"/>
                <a:sym typeface="Arial" panose="020B0604020202020204"/>
              </a:rPr>
              <a:t>. </a:t>
            </a:r>
          </a:p>
          <a:p>
            <a:pPr marL="514350" lvl="0" indent="-514350" algn="just" rtl="0">
              <a:lnSpc>
                <a:spcPct val="150000"/>
              </a:lnSpc>
              <a:spcBef>
                <a:spcPts val="0"/>
              </a:spcBef>
              <a:spcAft>
                <a:spcPts val="0"/>
              </a:spcAft>
              <a:buClr>
                <a:schemeClr val="dk1"/>
              </a:buClr>
              <a:buSzPts val="2400"/>
              <a:buAutoNum type="arabicParenR"/>
            </a:pPr>
            <a:r>
              <a:rPr lang="en-US" sz="2600" err="1">
                <a:latin typeface="Arial" panose="020B0604020202020204"/>
                <a:ea typeface="Arial" panose="020B0604020202020204"/>
                <a:cs typeface="Arial" panose="020B0604020202020204"/>
                <a:sym typeface="Arial" panose="020B0604020202020204"/>
              </a:rPr>
              <a:t>Chiều</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thứ</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hai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là</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nguồn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lực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phản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ánh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khả</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năng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của</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các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cá</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nhân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theo</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đuổi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sự</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tự</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định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hướng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vượt</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trội</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của</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họ</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và</a:t>
            </a:r>
            <a:r>
              <a:rPr lang="en-US" sz="2600">
                <a:latin typeface="Arial" panose="020B0604020202020204"/>
                <a:ea typeface="Arial" panose="020B0604020202020204"/>
                <a:cs typeface="Arial" panose="020B0604020202020204"/>
                <a:sym typeface="Arial" panose="020B0604020202020204"/>
              </a:rPr>
              <a:t> bao </a:t>
            </a:r>
            <a:r>
              <a:rPr lang="en-US" sz="2600" err="1">
                <a:latin typeface="Arial" panose="020B0604020202020204"/>
                <a:ea typeface="Arial" panose="020B0604020202020204"/>
                <a:cs typeface="Arial" panose="020B0604020202020204"/>
                <a:sym typeface="Arial" panose="020B0604020202020204"/>
              </a:rPr>
              <a:t>gồm</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đầy</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đủ</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các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phương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tiện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vật</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chất</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tâm</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lý</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nhân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khẩu</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học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và</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vật</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chất</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như</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tự</a:t>
            </a:r>
            <a:r>
              <a:rPr lang="en-US" sz="2600">
                <a:latin typeface="Arial" panose="020B0604020202020204"/>
                <a:ea typeface="Arial" panose="020B0604020202020204"/>
                <a:cs typeface="Arial" panose="020B0604020202020204"/>
                <a:sym typeface="Arial" panose="020B0604020202020204"/>
              </a:rPr>
              <a:t> tin, </a:t>
            </a:r>
            <a:r>
              <a:rPr lang="en-US" sz="2600" err="1">
                <a:latin typeface="Arial" panose="020B0604020202020204"/>
                <a:ea typeface="Arial" panose="020B0604020202020204"/>
                <a:cs typeface="Arial" panose="020B0604020202020204"/>
                <a:sym typeface="Arial" panose="020B0604020202020204"/>
              </a:rPr>
              <a:t>kỹ</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năng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giao</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tiếp</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sáng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tạo</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thông</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minh</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háo</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hức</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để</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mua</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tiền</a:t>
            </a:r>
            <a:r>
              <a:rPr lang="en-US" sz="2600">
                <a:latin typeface="Arial" panose="020B0604020202020204"/>
                <a:ea typeface="Arial" panose="020B0604020202020204"/>
                <a:cs typeface="Arial" panose="020B0604020202020204"/>
                <a:sym typeface="Arial" panose="020B0604020202020204"/>
              </a:rPr>
              <a:t> </a:t>
            </a:r>
            <a:r>
              <a:rPr lang="en-US" sz="2600" err="1">
                <a:latin typeface="Arial" panose="020B0604020202020204"/>
                <a:ea typeface="Arial" panose="020B0604020202020204"/>
                <a:cs typeface="Arial" panose="020B0604020202020204"/>
                <a:sym typeface="Arial" panose="020B0604020202020204"/>
              </a:rPr>
              <a:t>bạc</a:t>
            </a:r>
            <a:r>
              <a:rPr lang="en-US" sz="2600">
                <a:latin typeface="Arial" panose="020B0604020202020204"/>
                <a:ea typeface="Arial" panose="020B0604020202020204"/>
                <a:cs typeface="Arial" panose="020B0604020202020204"/>
                <a:sym typeface="Arial" panose="020B0604020202020204"/>
              </a:rPr>
              <a:t>….</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Shape 1747"/>
        <p:cNvGrpSpPr/>
        <p:nvPr/>
      </p:nvGrpSpPr>
      <p:grpSpPr>
        <a:xfrm>
          <a:off x="0" y="0"/>
          <a:ext cx="0" cy="0"/>
          <a:chOff x="0" y="0"/>
          <a:chExt cx="0" cy="0"/>
        </a:xfrm>
      </p:grpSpPr>
      <p:pic>
        <p:nvPicPr>
          <p:cNvPr id="1748" name="Google Shape;1748;p262" descr="Shape&#10;&#10;Description automatically generated"/>
          <p:cNvPicPr preferRelativeResize="0"/>
          <p:nvPr/>
        </p:nvPicPr>
        <p:blipFill rotWithShape="1">
          <a:blip r:embed="rId3"/>
          <a:srcRect/>
          <a:stretch>
            <a:fillRect/>
          </a:stretch>
        </p:blipFill>
        <p:spPr>
          <a:xfrm>
            <a:off x="228600" y="125582"/>
            <a:ext cx="7106553" cy="6632237"/>
          </a:xfrm>
          <a:prstGeom prst="rect">
            <a:avLst/>
          </a:prstGeom>
          <a:noFill/>
          <a:ln>
            <a:noFill/>
          </a:ln>
        </p:spPr>
      </p:pic>
      <p:sp>
        <p:nvSpPr>
          <p:cNvPr id="1749" name="Google Shape;1749;p262"/>
          <p:cNvSpPr txBox="1"/>
          <p:nvPr/>
        </p:nvSpPr>
        <p:spPr>
          <a:xfrm>
            <a:off x="4320504" y="6409962"/>
            <a:ext cx="7444409" cy="335156"/>
          </a:xfrm>
          <a:prstGeom prst="rect">
            <a:avLst/>
          </a:prstGeom>
          <a:noFill/>
          <a:ln>
            <a:noFill/>
          </a:ln>
        </p:spPr>
        <p:txBody>
          <a:bodyPr spcFirstLastPara="1" wrap="square" lIns="91425" tIns="45700" rIns="91425" bIns="45700" anchor="t" anchorCtr="0">
            <a:spAutoFit/>
          </a:bodyPr>
          <a:lstStyle/>
          <a:p>
            <a:pPr marL="0" marR="0" lvl="0" indent="0" algn="just" defTabSz="914400" rtl="0" eaLnBrk="1" fontAlgn="auto" latinLnBrk="0" hangingPunct="1">
              <a:lnSpc>
                <a:spcPct val="125000"/>
              </a:lnSpc>
              <a:spcBef>
                <a:spcPts val="0"/>
              </a:spcBef>
              <a:spcAft>
                <a:spcPts val="0"/>
              </a:spcAft>
              <a:buClr>
                <a:srgbClr val="000000"/>
              </a:buClr>
              <a:buSzPts val="1400"/>
              <a:buFont typeface="Arial" panose="020B0604020202020204"/>
              <a:buNone/>
              <a:tabLst/>
              <a:defRPr/>
            </a:pPr>
            <a:r>
              <a:rPr kumimoji="0" lang="en-US" sz="1400" b="1" i="1" u="sng"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Nguồn:</a:t>
            </a:r>
            <a:r>
              <a:rPr kumimoji="0" lang="en-US" sz="1400" b="0" i="1"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SRI Consulting Business Intelligence. </a:t>
            </a:r>
            <a:r>
              <a:rPr kumimoji="0" lang="en-US" sz="1400" b="0" i="1" u="sng" strike="noStrike" kern="0" cap="none" spc="0" normalizeH="0" baseline="0" noProof="0">
                <a:ln>
                  <a:noFill/>
                </a:ln>
                <a:solidFill>
                  <a:srgbClr val="0563C1"/>
                </a:solidFill>
                <a:effectLst/>
                <a:uLnTx/>
                <a:uFillTx/>
                <a:latin typeface="Arial" panose="020B0604020202020204"/>
                <a:ea typeface="Arial" panose="020B0604020202020204"/>
                <a:cs typeface="Arial" panose="020B0604020202020204"/>
                <a:sym typeface="Arial" panose="020B0604020202020204"/>
                <a:hlinkClick r:id="rId4"/>
              </a:rPr>
              <a:t>www.sric-bi.cor/VALS/</a:t>
            </a:r>
            <a:r>
              <a:rPr kumimoji="0" lang="en-US" sz="1400" b="0" i="1"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a:t>
            </a:r>
            <a:endParaRPr kumimoji="0" sz="2000" b="0" i="1"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1750" name="Google Shape;1750;p262"/>
          <p:cNvSpPr txBox="1"/>
          <p:nvPr/>
        </p:nvSpPr>
        <p:spPr>
          <a:xfrm>
            <a:off x="231140" y="6329620"/>
            <a:ext cx="3581400" cy="83099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tabLst/>
              <a:defRPr/>
            </a:pPr>
            <a:r>
              <a:rPr kumimoji="0" lang="en-US"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Hình 4.3: Khung VALS</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800"/>
              <a:buFont typeface="Calibri" panose="020F0502020204030204"/>
              <a:buNone/>
              <a:tabLst/>
              <a:defRPr/>
            </a:pPr>
            <a:endParaRPr kumimoji="0"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1751" name="Google Shape;1751;p262"/>
          <p:cNvSpPr txBox="1"/>
          <p:nvPr/>
        </p:nvSpPr>
        <p:spPr>
          <a:xfrm>
            <a:off x="7531100" y="291786"/>
            <a:ext cx="4429760" cy="6370934"/>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000000"/>
              </a:buClr>
              <a:buSzPts val="2400"/>
              <a:buFont typeface="Arial" panose="020B0604020202020204"/>
              <a:buChar char="•"/>
              <a:tabLst/>
              <a:defRPr/>
            </a:pPr>
            <a:r>
              <a:rPr kumimoji="0" lang="en-US" sz="2400" b="0" i="0" u="sng"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Động lực:</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285750" marR="0" lvl="0" indent="-285750" algn="l" defTabSz="914400" rtl="0" eaLnBrk="1" fontAlgn="auto" latinLnBrk="0" hangingPunct="1">
              <a:lnSpc>
                <a:spcPct val="100000"/>
              </a:lnSpc>
              <a:spcBef>
                <a:spcPts val="0"/>
              </a:spcBef>
              <a:spcAft>
                <a:spcPts val="0"/>
              </a:spcAft>
              <a:buClr>
                <a:srgbClr val="000000"/>
              </a:buClr>
              <a:buSzPts val="2000"/>
              <a:buFont typeface="Calibri" panose="020F0502020204030204"/>
              <a:buChar char="-"/>
              <a:tabLst/>
              <a:defRPr/>
            </a:pPr>
            <a:r>
              <a:rPr kumimoji="0" lang="en-US"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Lý tưởng: </a:t>
            </a:r>
            <a:r>
              <a:rPr kumimoji="0" lang="en-US" sz="20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các lựa chọn được thúc đẩy bởi niềm tin và nguyên tắc thay vì cảm xúc hoặc mong muốn được xã hội chấp nhận -&gt; </a:t>
            </a:r>
            <a:r>
              <a:rPr kumimoji="0" lang="en-US"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Mua chức năng và độ tin cậy</a:t>
            </a:r>
            <a:endParaRPr kumimoji="0"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285750" marR="0" lvl="0" indent="-285750" algn="l" defTabSz="914400" rtl="0" eaLnBrk="1" fontAlgn="auto" latinLnBrk="0" hangingPunct="1">
              <a:lnSpc>
                <a:spcPct val="100000"/>
              </a:lnSpc>
              <a:spcBef>
                <a:spcPts val="0"/>
              </a:spcBef>
              <a:spcAft>
                <a:spcPts val="0"/>
              </a:spcAft>
              <a:buClr>
                <a:srgbClr val="000000"/>
              </a:buClr>
              <a:buSzPts val="2000"/>
              <a:buFont typeface="Calibri" panose="020F0502020204030204"/>
              <a:buChar char="-"/>
              <a:tabLst/>
              <a:defRPr/>
            </a:pPr>
            <a:r>
              <a:rPr kumimoji="0" lang="en-US"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Thành tích: </a:t>
            </a:r>
            <a:r>
              <a:rPr kumimoji="0" lang="en-US" sz="20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phấn đấu cho 1 vị trí xã hội rõ ràng, bị ảnh hưởng mạnh mẽ bởi người khác -&gt; </a:t>
            </a:r>
            <a:r>
              <a:rPr kumimoji="0" lang="en-US"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Mua biểu tượng địa vị</a:t>
            </a:r>
            <a:endParaRPr kumimoji="0"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285750" marR="0" lvl="0" indent="-285750" algn="l" defTabSz="914400" rtl="0" eaLnBrk="1" fontAlgn="auto" latinLnBrk="0" hangingPunct="1">
              <a:lnSpc>
                <a:spcPct val="100000"/>
              </a:lnSpc>
              <a:spcBef>
                <a:spcPts val="0"/>
              </a:spcBef>
              <a:spcAft>
                <a:spcPts val="0"/>
              </a:spcAft>
              <a:buClr>
                <a:srgbClr val="000000"/>
              </a:buClr>
              <a:buSzPts val="2000"/>
              <a:buFont typeface="Calibri" panose="020F0502020204030204"/>
              <a:buChar char="-"/>
              <a:tabLst/>
              <a:defRPr/>
            </a:pPr>
            <a:r>
              <a:rPr kumimoji="0" lang="en-US"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Thể hiện bản thân: </a:t>
            </a:r>
            <a:r>
              <a:rPr kumimoji="0" lang="en-US" sz="20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thể hiện cá tín -&gt; </a:t>
            </a:r>
            <a:r>
              <a:rPr kumimoji="0" lang="en-US"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Mua trải nghiệm</a:t>
            </a:r>
            <a:endParaRPr kumimoji="0"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285750" marR="0" lvl="0" indent="-285750" algn="l" defTabSz="914400" rtl="0" eaLnBrk="1" fontAlgn="auto" latinLnBrk="0" hangingPunct="1">
              <a:lnSpc>
                <a:spcPct val="100000"/>
              </a:lnSpc>
              <a:spcBef>
                <a:spcPts val="0"/>
              </a:spcBef>
              <a:spcAft>
                <a:spcPts val="0"/>
              </a:spcAft>
              <a:buClr>
                <a:srgbClr val="000000"/>
              </a:buClr>
              <a:buSzPts val="2400"/>
              <a:buFont typeface="Arial" panose="020B0604020202020204"/>
              <a:buChar char="•"/>
              <a:tabLst/>
              <a:defRPr/>
            </a:pPr>
            <a:r>
              <a:rPr kumimoji="0" lang="en-US" sz="2400" b="0" i="0" u="sng"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Nguồn lực: </a:t>
            </a:r>
            <a:r>
              <a:rPr kumimoji="0" lang="en-US" sz="20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thường tăng từ tuổi vị thành niên đến tuổi trung niên -&gt; duy trì tương đối ổn định cho đến khi chúng bắt đầu suy giảm khi về già -&gt; hỗ trợ hoặc ức chế khả năng hành động theo động lực chính của KH</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tabLst/>
              <a:defRPr/>
            </a:pPr>
            <a:endParaRPr kumimoji="0"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Shape 1755"/>
        <p:cNvGrpSpPr/>
        <p:nvPr/>
      </p:nvGrpSpPr>
      <p:grpSpPr>
        <a:xfrm>
          <a:off x="0" y="0"/>
          <a:ext cx="0" cy="0"/>
          <a:chOff x="0" y="0"/>
          <a:chExt cx="0" cy="0"/>
        </a:xfrm>
      </p:grpSpPr>
      <p:sp>
        <p:nvSpPr>
          <p:cNvPr id="1756" name="Google Shape;1756;p263"/>
          <p:cNvSpPr txBox="1">
            <a:spLocks noGrp="1"/>
          </p:cNvSpPr>
          <p:nvPr>
            <p:ph type="title"/>
          </p:nvPr>
        </p:nvSpPr>
        <p:spPr>
          <a:xfrm>
            <a:off x="145025"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4</a:t>
            </a:r>
            <a:r>
              <a:rPr lang="en-US" sz="3200" b="1">
                <a:latin typeface="Arial" panose="020B0604020202020204"/>
                <a:ea typeface="Arial" panose="020B0604020202020204"/>
                <a:cs typeface="Arial" panose="020B0604020202020204"/>
                <a:sym typeface="Arial" panose="020B0604020202020204"/>
              </a:rPr>
              <a:t>.5.5. Phân tích nhân khẩu học lối sống </a:t>
            </a:r>
          </a:p>
        </p:txBody>
      </p:sp>
      <p:sp>
        <p:nvSpPr>
          <p:cNvPr id="1757" name="Google Shape;1757;p263"/>
          <p:cNvSpPr txBox="1">
            <a:spLocks noGrp="1"/>
          </p:cNvSpPr>
          <p:nvPr>
            <p:ph type="body" idx="1"/>
          </p:nvPr>
        </p:nvSpPr>
        <p:spPr>
          <a:xfrm>
            <a:off x="287486" y="1885260"/>
            <a:ext cx="11301540" cy="3323946"/>
          </a:xfrm>
          <a:prstGeom prst="rect">
            <a:avLst/>
          </a:prstGeom>
          <a:noFill/>
          <a:ln>
            <a:noFill/>
          </a:ln>
        </p:spPr>
        <p:txBody>
          <a:bodyPr spcFirstLastPara="1" wrap="square" lIns="91425" tIns="45700" rIns="91425" bIns="45700" anchor="t" anchorCtr="0">
            <a:spAutoFit/>
          </a:bodyPr>
          <a:lstStyle/>
          <a:p>
            <a:pPr marL="0" lvl="0" indent="0" algn="just" rtl="0">
              <a:lnSpc>
                <a:spcPct val="150000"/>
              </a:lnSpc>
              <a:spcBef>
                <a:spcPts val="0"/>
              </a:spcBef>
              <a:spcAft>
                <a:spcPts val="0"/>
              </a:spcAft>
              <a:buClr>
                <a:schemeClr val="dk1"/>
              </a:buClr>
              <a:buSzPts val="2800"/>
              <a:buNone/>
            </a:pPr>
            <a:r>
              <a:rPr lang="en-US" err="1">
                <a:latin typeface="Arial" panose="020B0604020202020204"/>
                <a:ea typeface="Arial" panose="020B0604020202020204"/>
                <a:cs typeface="Arial" panose="020B0604020202020204"/>
                <a:sym typeface="Arial" panose="020B0604020202020204"/>
              </a:rPr>
              <a:t>Những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người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nền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tảng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văn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hóa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phương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tiện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quan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điểm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văn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hóa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tương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tự</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tự</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nhiên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hướng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nhau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Họ</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chấp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nhận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giá</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trị</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xã</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hội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thị</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hiếu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vọng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tương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tự</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Họ</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hiện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mô</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hình</a:t>
            </a:r>
            <a:r>
              <a:rPr lang="en-US">
                <a:latin typeface="Arial" panose="020B0604020202020204"/>
                <a:ea typeface="Arial" panose="020B0604020202020204"/>
                <a:cs typeface="Arial" panose="020B0604020202020204"/>
                <a:sym typeface="Arial" panose="020B0604020202020204"/>
              </a:rPr>
              <a:t> chia </a:t>
            </a:r>
            <a:r>
              <a:rPr lang="en-US" err="1">
                <a:latin typeface="Arial" panose="020B0604020202020204"/>
                <a:ea typeface="Arial" panose="020B0604020202020204"/>
                <a:cs typeface="Arial" panose="020B0604020202020204"/>
                <a:sym typeface="Arial" panose="020B0604020202020204"/>
              </a:rPr>
              <a:t>sẻ</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hành</a:t>
            </a:r>
            <a:r>
              <a:rPr lang="en-US">
                <a:latin typeface="Arial" panose="020B0604020202020204"/>
                <a:ea typeface="Arial" panose="020B0604020202020204"/>
                <a:cs typeface="Arial" panose="020B0604020202020204"/>
                <a:sym typeface="Arial" panose="020B0604020202020204"/>
              </a:rPr>
              <a:t> vi </a:t>
            </a:r>
            <a:r>
              <a:rPr lang="en-US" err="1">
                <a:latin typeface="Arial" panose="020B0604020202020204"/>
                <a:ea typeface="Arial" panose="020B0604020202020204"/>
                <a:cs typeface="Arial" panose="020B0604020202020204"/>
                <a:sym typeface="Arial" panose="020B0604020202020204"/>
              </a:rPr>
              <a:t>của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khách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hàng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đối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với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phẩm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dịch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vụ</a:t>
            </a:r>
            <a:r>
              <a:rPr lang="en-US">
                <a:latin typeface="Arial" panose="020B0604020202020204"/>
                <a:ea typeface="Arial" panose="020B0604020202020204"/>
                <a:cs typeface="Arial" panose="020B0604020202020204"/>
                <a:sym typeface="Arial" panose="020B0604020202020204"/>
              </a:rPr>
              <a:t>, </a:t>
            </a:r>
            <a:br>
              <a:rPr lang="en-US">
                <a:latin typeface="Arial" panose="020B0604020202020204"/>
                <a:ea typeface="Arial" panose="020B0604020202020204"/>
                <a:cs typeface="Arial" panose="020B0604020202020204"/>
                <a:sym typeface="Arial" panose="020B0604020202020204"/>
              </a:rPr>
            </a:br>
            <a:r>
              <a:rPr lang="en-US" err="1">
                <a:latin typeface="Arial" panose="020B0604020202020204"/>
                <a:ea typeface="Arial" panose="020B0604020202020204"/>
                <a:cs typeface="Arial" panose="020B0604020202020204"/>
                <a:sym typeface="Arial" panose="020B0604020202020204"/>
              </a:rPr>
              <a:t>truyền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thông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chương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trình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khuyến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mãi</a:t>
            </a:r>
            <a:r>
              <a:rPr lang="en-US">
                <a:latin typeface="Arial" panose="020B0604020202020204"/>
                <a:ea typeface="Arial" panose="020B0604020202020204"/>
                <a:cs typeface="Arial" panose="020B0604020202020204"/>
                <a:sym typeface="Arial" panose="020B0604020202020204"/>
              </a:rPr>
              <a:t>.</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Shape 1761"/>
        <p:cNvGrpSpPr/>
        <p:nvPr/>
      </p:nvGrpSpPr>
      <p:grpSpPr>
        <a:xfrm>
          <a:off x="0" y="0"/>
          <a:ext cx="0" cy="0"/>
          <a:chOff x="0" y="0"/>
          <a:chExt cx="0" cy="0"/>
        </a:xfrm>
      </p:grpSpPr>
      <p:sp>
        <p:nvSpPr>
          <p:cNvPr id="1762" name="Google Shape;1762;p264"/>
          <p:cNvSpPr txBox="1">
            <a:spLocks noGrp="1"/>
          </p:cNvSpPr>
          <p:nvPr>
            <p:ph type="title"/>
          </p:nvPr>
        </p:nvSpPr>
        <p:spPr>
          <a:xfrm>
            <a:off x="277761"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4</a:t>
            </a:r>
            <a:r>
              <a:rPr lang="en-US" sz="3200" b="1">
                <a:latin typeface="Arial" panose="020B0604020202020204"/>
                <a:ea typeface="Arial" panose="020B0604020202020204"/>
                <a:cs typeface="Arial" panose="020B0604020202020204"/>
                <a:sym typeface="Arial" panose="020B0604020202020204"/>
              </a:rPr>
              <a:t>.5.6. Phong cách sống quốc tế</a:t>
            </a:r>
            <a:endParaRPr sz="3200" b="1">
              <a:latin typeface="Arial" panose="020B0604020202020204"/>
              <a:ea typeface="Arial" panose="020B0604020202020204"/>
              <a:cs typeface="Arial" panose="020B0604020202020204"/>
              <a:sym typeface="Arial" panose="020B0604020202020204"/>
            </a:endParaRPr>
          </a:p>
        </p:txBody>
      </p:sp>
      <p:graphicFrame>
        <p:nvGraphicFramePr>
          <p:cNvPr id="1764" name="Google Shape;1764;p264"/>
          <p:cNvGraphicFramePr/>
          <p:nvPr/>
        </p:nvGraphicFramePr>
        <p:xfrm>
          <a:off x="71120" y="1325880"/>
          <a:ext cx="11826240" cy="5166360"/>
        </p:xfrm>
        <a:graphic>
          <a:graphicData uri="http://schemas.openxmlformats.org/drawingml/2006/table">
            <a:tbl>
              <a:tblPr firstRow="1" firstCol="1" bandRow="1">
                <a:noFill/>
              </a:tblPr>
              <a:tblGrid>
                <a:gridCol w="11826240">
                  <a:extLst>
                    <a:ext uri="{9D8B030D-6E8A-4147-A177-3AD203B41FA5}">
                      <a16:colId xmlns:a16="http://schemas.microsoft.com/office/drawing/2014/main" val="20000"/>
                    </a:ext>
                  </a:extLst>
                </a:gridCol>
              </a:tblGrid>
              <a:tr h="890270">
                <a:tc>
                  <a:txBody>
                    <a:bodyPr/>
                    <a:lstStyle/>
                    <a:p>
                      <a:pPr marL="342900" marR="0" lvl="0" indent="-342900" algn="just" rtl="0">
                        <a:lnSpc>
                          <a:spcPct val="100000"/>
                        </a:lnSpc>
                        <a:spcBef>
                          <a:spcPts val="0"/>
                        </a:spcBef>
                        <a:spcAft>
                          <a:spcPts val="0"/>
                        </a:spcAft>
                        <a:buClr>
                          <a:schemeClr val="dk1"/>
                        </a:buClr>
                        <a:buSzPts val="2400"/>
                        <a:buFont typeface="Noto Sans Symbols"/>
                        <a:buChar char="▪"/>
                      </a:pPr>
                      <a:r>
                        <a:rPr lang="en-US" sz="2400" b="1" u="none" strike="noStrike" cap="none">
                          <a:solidFill>
                            <a:schemeClr val="dk1"/>
                          </a:solidFill>
                          <a:latin typeface="Arial" panose="020B0604020202020204"/>
                          <a:ea typeface="Arial" panose="020B0604020202020204"/>
                          <a:cs typeface="Arial" panose="020B0604020202020204"/>
                          <a:sym typeface="Arial" panose="020B0604020202020204"/>
                        </a:rPr>
                        <a:t>Người phấn đấu - Strivers (23%): </a:t>
                      </a: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Giá trị vật chất và mục tiêu nghề nghiệp và được thúc đẩy bởi sự giàu có, địa vị và sức mạnh. </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47575" marR="47575" marT="0" marB="0">
                    <a:solidFill>
                      <a:srgbClr val="FBE4D4"/>
                    </a:solidFill>
                  </a:tcPr>
                </a:tc>
                <a:extLst>
                  <a:ext uri="{0D108BD9-81ED-4DB2-BD59-A6C34878D82A}">
                    <a16:rowId xmlns:a16="http://schemas.microsoft.com/office/drawing/2014/main" val="10000"/>
                  </a:ext>
                </a:extLst>
              </a:tr>
              <a:tr h="1256030">
                <a:tc>
                  <a:txBody>
                    <a:bodyPr/>
                    <a:lstStyle/>
                    <a:p>
                      <a:pPr marL="342900" marR="0" lvl="0" indent="-342900" algn="just" rtl="0">
                        <a:lnSpc>
                          <a:spcPct val="100000"/>
                        </a:lnSpc>
                        <a:spcBef>
                          <a:spcPts val="0"/>
                        </a:spcBef>
                        <a:spcAft>
                          <a:spcPts val="0"/>
                        </a:spcAft>
                        <a:buClr>
                          <a:schemeClr val="dk1"/>
                        </a:buClr>
                        <a:buSzPts val="2400"/>
                        <a:buFont typeface="Noto Sans Symbols"/>
                        <a:buChar char="▪"/>
                      </a:pPr>
                      <a:r>
                        <a:rPr lang="en-US" sz="2400" b="1" u="none" strike="noStrike" cap="none">
                          <a:solidFill>
                            <a:schemeClr val="dk1"/>
                          </a:solidFill>
                          <a:latin typeface="Arial" panose="020B0604020202020204"/>
                          <a:ea typeface="Arial" panose="020B0604020202020204"/>
                          <a:cs typeface="Arial" panose="020B0604020202020204"/>
                          <a:sym typeface="Arial" panose="020B0604020202020204"/>
                        </a:rPr>
                        <a:t>Tín đồ - </a:t>
                      </a:r>
                      <a:r>
                        <a:rPr lang="en-US" sz="2400" u="none" strike="noStrike" cap="none">
                          <a:solidFill>
                            <a:schemeClr val="dk1"/>
                          </a:solidFill>
                          <a:latin typeface="Arial" panose="020B0604020202020204"/>
                          <a:ea typeface="Arial" panose="020B0604020202020204"/>
                          <a:cs typeface="Arial" panose="020B0604020202020204"/>
                          <a:sym typeface="Arial" panose="020B0604020202020204"/>
                        </a:rPr>
                        <a:t>Devours</a:t>
                      </a:r>
                      <a:r>
                        <a:rPr lang="en-US" sz="2400" b="1" u="none" strike="noStrike" cap="none">
                          <a:solidFill>
                            <a:schemeClr val="dk1"/>
                          </a:solidFill>
                          <a:latin typeface="Arial" panose="020B0604020202020204"/>
                          <a:ea typeface="Arial" panose="020B0604020202020204"/>
                          <a:cs typeface="Arial" panose="020B0604020202020204"/>
                          <a:sym typeface="Arial" panose="020B0604020202020204"/>
                        </a:rPr>
                        <a:t> (22%): </a:t>
                      </a: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Đức tin truyền thống bổn phận truyền thống và sự </a:t>
                      </a:r>
                      <a:b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b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tôn trọng đối với người lớn tuổi. Ít liên quan đến những phương tiện truyền thông nhất và ít quan tâm đến các thương hiệu phương Tây. </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47575" marR="47575" marT="0" marB="0">
                    <a:solidFill>
                      <a:srgbClr val="FBE4D4"/>
                    </a:solidFill>
                  </a:tcPr>
                </a:tc>
                <a:extLst>
                  <a:ext uri="{0D108BD9-81ED-4DB2-BD59-A6C34878D82A}">
                    <a16:rowId xmlns:a16="http://schemas.microsoft.com/office/drawing/2014/main" val="10001"/>
                  </a:ext>
                </a:extLst>
              </a:tr>
              <a:tr h="836930">
                <a:tc>
                  <a:txBody>
                    <a:bodyPr/>
                    <a:lstStyle/>
                    <a:p>
                      <a:pPr marL="342900" marR="0" lvl="0" indent="-342900" algn="just" rtl="0">
                        <a:lnSpc>
                          <a:spcPct val="100000"/>
                        </a:lnSpc>
                        <a:spcBef>
                          <a:spcPts val="0"/>
                        </a:spcBef>
                        <a:spcAft>
                          <a:spcPts val="0"/>
                        </a:spcAft>
                        <a:buClr>
                          <a:schemeClr val="dk1"/>
                        </a:buClr>
                        <a:buSzPts val="2400"/>
                        <a:buFont typeface="Noto Sans Symbols"/>
                        <a:buChar char="▪"/>
                      </a:pPr>
                      <a:r>
                        <a:rPr lang="en-US" sz="2400" b="1" u="none" strike="noStrike" cap="none">
                          <a:solidFill>
                            <a:schemeClr val="dk1"/>
                          </a:solidFill>
                          <a:latin typeface="Arial" panose="020B0604020202020204"/>
                          <a:ea typeface="Arial" panose="020B0604020202020204"/>
                          <a:cs typeface="Arial" panose="020B0604020202020204"/>
                          <a:sym typeface="Arial" panose="020B0604020202020204"/>
                        </a:rPr>
                        <a:t>Những người theo chủ nghĩa vị tha - Altruists (18%): </a:t>
                      </a: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Rất thích quan tâm đến các vấn đề xã hội và phúc lợi xã hội. </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47575" marR="47575" marT="0" marB="0">
                    <a:solidFill>
                      <a:srgbClr val="FBE4D4"/>
                    </a:solidFill>
                  </a:tcPr>
                </a:tc>
                <a:extLst>
                  <a:ext uri="{0D108BD9-81ED-4DB2-BD59-A6C34878D82A}">
                    <a16:rowId xmlns:a16="http://schemas.microsoft.com/office/drawing/2014/main" val="10002"/>
                  </a:ext>
                </a:extLst>
              </a:tr>
              <a:tr h="455295">
                <a:tc>
                  <a:txBody>
                    <a:bodyPr/>
                    <a:lstStyle/>
                    <a:p>
                      <a:pPr marL="342900" marR="0" lvl="0" indent="-342900" algn="just" rtl="0">
                        <a:lnSpc>
                          <a:spcPct val="100000"/>
                        </a:lnSpc>
                        <a:spcBef>
                          <a:spcPts val="0"/>
                        </a:spcBef>
                        <a:spcAft>
                          <a:spcPts val="0"/>
                        </a:spcAft>
                        <a:buClr>
                          <a:schemeClr val="dk1"/>
                        </a:buClr>
                        <a:buSzPts val="2400"/>
                        <a:buFont typeface="Noto Sans Symbols"/>
                        <a:buChar char="▪"/>
                      </a:pPr>
                      <a:r>
                        <a:rPr lang="en-US" sz="2400" b="1" u="none" strike="noStrike" cap="none">
                          <a:solidFill>
                            <a:schemeClr val="dk1"/>
                          </a:solidFill>
                          <a:latin typeface="Arial" panose="020B0604020202020204"/>
                          <a:ea typeface="Arial" panose="020B0604020202020204"/>
                          <a:cs typeface="Arial" panose="020B0604020202020204"/>
                          <a:sym typeface="Arial" panose="020B0604020202020204"/>
                        </a:rPr>
                        <a:t>Thân thiện - Intimates (15%): </a:t>
                      </a: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Mối quan hệ cá nhân và gia đình gần gũi. </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47575" marR="47575" marT="0" marB="0">
                    <a:solidFill>
                      <a:srgbClr val="FBE4D4"/>
                    </a:solidFill>
                  </a:tcPr>
                </a:tc>
                <a:extLst>
                  <a:ext uri="{0D108BD9-81ED-4DB2-BD59-A6C34878D82A}">
                    <a16:rowId xmlns:a16="http://schemas.microsoft.com/office/drawing/2014/main" val="10003"/>
                  </a:ext>
                </a:extLst>
              </a:tr>
              <a:tr h="890270">
                <a:tc>
                  <a:txBody>
                    <a:bodyPr/>
                    <a:lstStyle/>
                    <a:p>
                      <a:pPr marL="342900" marR="0" lvl="0" indent="-342900" algn="just" rtl="0">
                        <a:lnSpc>
                          <a:spcPct val="100000"/>
                        </a:lnSpc>
                        <a:spcBef>
                          <a:spcPts val="0"/>
                        </a:spcBef>
                        <a:spcAft>
                          <a:spcPts val="0"/>
                        </a:spcAft>
                        <a:buClr>
                          <a:schemeClr val="dk1"/>
                        </a:buClr>
                        <a:buSzPts val="2400"/>
                        <a:buFont typeface="Noto Sans Symbols"/>
                        <a:buChar char="▪"/>
                      </a:pPr>
                      <a:r>
                        <a:rPr lang="en-US" sz="2400" b="1" u="none" strike="noStrike" cap="none">
                          <a:solidFill>
                            <a:schemeClr val="dk1"/>
                          </a:solidFill>
                          <a:latin typeface="Arial" panose="020B0604020202020204"/>
                          <a:ea typeface="Arial" panose="020B0604020202020204"/>
                          <a:cs typeface="Arial" panose="020B0604020202020204"/>
                          <a:sym typeface="Arial" panose="020B0604020202020204"/>
                        </a:rPr>
                        <a:t>Người tìm kiếm niềm vui - Fun Seekers (12%): </a:t>
                      </a: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Phiêu lưu mạo hiểm, vui lòng và phấn khích. </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47575" marR="47575" marT="0" marB="0">
                    <a:solidFill>
                      <a:srgbClr val="FBE4D4"/>
                    </a:solidFill>
                  </a:tcPr>
                </a:tc>
                <a:extLst>
                  <a:ext uri="{0D108BD9-81ED-4DB2-BD59-A6C34878D82A}">
                    <a16:rowId xmlns:a16="http://schemas.microsoft.com/office/drawing/2014/main" val="10004"/>
                  </a:ext>
                </a:extLst>
              </a:tr>
              <a:tr h="837565">
                <a:tc>
                  <a:txBody>
                    <a:bodyPr/>
                    <a:lstStyle/>
                    <a:p>
                      <a:pPr marL="342900" marR="0" lvl="0" indent="-342900" algn="just" rtl="0">
                        <a:lnSpc>
                          <a:spcPct val="100000"/>
                        </a:lnSpc>
                        <a:spcBef>
                          <a:spcPts val="0"/>
                        </a:spcBef>
                        <a:spcAft>
                          <a:spcPts val="0"/>
                        </a:spcAft>
                        <a:buClr>
                          <a:schemeClr val="dk1"/>
                        </a:buClr>
                        <a:buSzPts val="2400"/>
                        <a:buFont typeface="Noto Sans Symbols"/>
                        <a:buChar char="▪"/>
                      </a:pPr>
                      <a:r>
                        <a:rPr lang="en-US" sz="2400" b="1" u="none" strike="noStrike" cap="none">
                          <a:solidFill>
                            <a:schemeClr val="dk1"/>
                          </a:solidFill>
                          <a:latin typeface="Arial" panose="020B0604020202020204"/>
                          <a:ea typeface="Arial" panose="020B0604020202020204"/>
                          <a:cs typeface="Arial" panose="020B0604020202020204"/>
                          <a:sym typeface="Arial" panose="020B0604020202020204"/>
                        </a:rPr>
                        <a:t>Người sáng tạo - Creative (10%): </a:t>
                      </a: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Có hứng thú với kiến ​​thức giáo dục và </a:t>
                      </a:r>
                      <a:b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b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công nghệ. </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47575" marR="47575" marT="0" marB="0">
                    <a:solidFill>
                      <a:srgbClr val="FBE4D4"/>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Shape 1773"/>
        <p:cNvGrpSpPr/>
        <p:nvPr/>
      </p:nvGrpSpPr>
      <p:grpSpPr>
        <a:xfrm>
          <a:off x="0" y="0"/>
          <a:ext cx="0" cy="0"/>
          <a:chOff x="0" y="0"/>
          <a:chExt cx="0" cy="0"/>
        </a:xfrm>
      </p:grpSpPr>
      <p:sp>
        <p:nvSpPr>
          <p:cNvPr id="1774" name="Google Shape;1774;p266"/>
          <p:cNvSpPr/>
          <p:nvPr/>
        </p:nvSpPr>
        <p:spPr>
          <a:xfrm>
            <a:off x="1007772" y="1873343"/>
            <a:ext cx="10176455" cy="4097300"/>
          </a:xfrm>
          <a:prstGeom prst="rect">
            <a:avLst/>
          </a:prstGeom>
          <a:noFill/>
          <a:ln>
            <a:noFill/>
          </a:ln>
        </p:spPr>
        <p:txBody>
          <a:bodyPr spcFirstLastPara="1" wrap="square" lIns="91425" tIns="45700" rIns="91425" bIns="45700" anchor="t" anchorCtr="0">
            <a:noAutofit/>
          </a:bodyPr>
          <a:lstStyle/>
          <a:p>
            <a:pPr marL="457200" marR="0" lvl="0" indent="-457200" algn="just" defTabSz="914400" rtl="0" eaLnBrk="1" fontAlgn="auto" latinLnBrk="0" hangingPunct="1">
              <a:lnSpc>
                <a:spcPct val="143000"/>
              </a:lnSpc>
              <a:spcBef>
                <a:spcPts val="0"/>
              </a:spcBef>
              <a:spcAft>
                <a:spcPts val="0"/>
              </a:spcAft>
              <a:buClr>
                <a:srgbClr val="000000"/>
              </a:buClr>
              <a:buSzPts val="2800"/>
              <a:buFont typeface="Arial" panose="020B0604020202020204"/>
              <a:buChar char="•"/>
              <a:tabLst/>
              <a:defRPr/>
            </a:pP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Cá</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tính</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được</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diễn</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đạt</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bằng</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những</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nét</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phong</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cách</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những</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phẩm</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chất</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tự</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tin,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độc</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lập</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sôi</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nổi</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lịch</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thiệp</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năng</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động</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trách</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nhiệm</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hiếu</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thắng</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bảo</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thủ</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cởi</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mở</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thận</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trọng</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a:t>
            </a:r>
            <a:endParaRPr kumimoji="0"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457200" marR="0" lvl="0" indent="-457200" algn="just" defTabSz="914400" rtl="0" eaLnBrk="1" fontAlgn="auto" latinLnBrk="0" hangingPunct="1">
              <a:lnSpc>
                <a:spcPct val="143000"/>
              </a:lnSpc>
              <a:spcBef>
                <a:spcPts val="0"/>
              </a:spcBef>
              <a:spcAft>
                <a:spcPts val="0"/>
              </a:spcAft>
              <a:buClr>
                <a:srgbClr val="000000"/>
              </a:buClr>
              <a:buSzPts val="2800"/>
              <a:buFont typeface="Arial" panose="020B0604020202020204"/>
              <a:buChar char="•"/>
              <a:tabLst/>
              <a:defRPr/>
            </a:pP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Cá</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tính</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ổn</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định</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và</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khó</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thay</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đổi</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vì</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thế</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có</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thể</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dự</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đoán</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được</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a:t>
            </a:r>
            <a:endParaRPr kumimoji="0"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457200" marR="0" lvl="0" indent="-457200" algn="just" defTabSz="914400" rtl="0" eaLnBrk="1" fontAlgn="auto" latinLnBrk="0" hangingPunct="1">
              <a:lnSpc>
                <a:spcPct val="143000"/>
              </a:lnSpc>
              <a:spcBef>
                <a:spcPts val="0"/>
              </a:spcBef>
              <a:spcAft>
                <a:spcPts val="0"/>
              </a:spcAft>
              <a:buClr>
                <a:srgbClr val="000000"/>
              </a:buClr>
              <a:buSzPts val="2800"/>
              <a:buFont typeface="Arial" panose="020B0604020202020204"/>
              <a:buChar char="•"/>
              <a:tabLst/>
              <a:defRPr/>
            </a:pP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Nhà</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tiếp</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thị</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có</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thể</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dựa</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trên</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cơ</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sở</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cá</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tính</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để</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phân</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khúc</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thị</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trường</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triển</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khai</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các</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chiến</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dịch</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xúc</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tiến</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bán</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hàng</a:t>
            </a:r>
            <a:r>
              <a:rPr kumimoji="0" lang="en-US"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endParaRPr kumimoji="0"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1769" name="Google Shape;1769;p265"/>
          <p:cNvSpPr txBox="1"/>
          <p:nvPr/>
        </p:nvSpPr>
        <p:spPr>
          <a:xfrm>
            <a:off x="-195505" y="-110565"/>
            <a:ext cx="11774488" cy="1011455"/>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30000"/>
              </a:lnSpc>
              <a:spcBef>
                <a:spcPts val="0"/>
              </a:spcBef>
              <a:spcAft>
                <a:spcPts val="0"/>
              </a:spcAft>
              <a:buClr>
                <a:srgbClr val="000000"/>
              </a:buClr>
              <a:buSzPts val="3600"/>
              <a:buFont typeface="Arial" panose="020B0604020202020204"/>
              <a:buNone/>
              <a:tabLst/>
              <a:defRPr/>
            </a:pPr>
            <a:r>
              <a:rPr kumimoji="0" lang="en-US" sz="36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4.6. CÁ TÍNH </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Shape 1791"/>
        <p:cNvGrpSpPr/>
        <p:nvPr/>
      </p:nvGrpSpPr>
      <p:grpSpPr>
        <a:xfrm>
          <a:off x="0" y="0"/>
          <a:ext cx="0" cy="0"/>
          <a:chOff x="0" y="0"/>
          <a:chExt cx="0" cy="0"/>
        </a:xfrm>
      </p:grpSpPr>
      <p:sp>
        <p:nvSpPr>
          <p:cNvPr id="1792" name="Google Shape;1792;p267"/>
          <p:cNvSpPr txBox="1">
            <a:spLocks noGrp="1"/>
          </p:cNvSpPr>
          <p:nvPr>
            <p:ph type="title"/>
          </p:nvPr>
        </p:nvSpPr>
        <p:spPr>
          <a:xfrm>
            <a:off x="405577" y="291090"/>
            <a:ext cx="10515599" cy="932688"/>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2800"/>
              <a:buFont typeface="Arial" panose="020B0604020202020204"/>
              <a:buNone/>
            </a:pPr>
            <a:br>
              <a:rPr lang="en-US" sz="2800" b="1">
                <a:solidFill>
                  <a:schemeClr val="dk1"/>
                </a:solidFill>
                <a:latin typeface="Arial" panose="020B0604020202020204"/>
                <a:ea typeface="Arial" panose="020B0604020202020204"/>
                <a:cs typeface="Arial" panose="020B0604020202020204"/>
                <a:sym typeface="Arial" panose="020B0604020202020204"/>
              </a:rPr>
            </a:br>
            <a:endParaRPr sz="2800">
              <a:solidFill>
                <a:schemeClr val="dk1"/>
              </a:solidFill>
              <a:latin typeface="Arial" panose="020B0604020202020204"/>
              <a:ea typeface="Arial" panose="020B0604020202020204"/>
              <a:cs typeface="Arial" panose="020B0604020202020204"/>
              <a:sym typeface="Arial" panose="020B0604020202020204"/>
            </a:endParaRPr>
          </a:p>
        </p:txBody>
      </p:sp>
      <p:sp>
        <p:nvSpPr>
          <p:cNvPr id="1793" name="Google Shape;1793;p267"/>
          <p:cNvSpPr/>
          <p:nvPr/>
        </p:nvSpPr>
        <p:spPr>
          <a:xfrm rot="5400000">
            <a:off x="6032938" y="-6032938"/>
            <a:ext cx="126124" cy="1219200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Calibri" panose="020F0502020204030204"/>
              <a:buNone/>
              <a:tabLst/>
              <a:defRPr/>
            </a:pPr>
            <a:endParaRPr kumimoji="0" sz="1800" b="0"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794" name="Google Shape;1794;p267"/>
          <p:cNvSpPr txBox="1"/>
          <p:nvPr/>
        </p:nvSpPr>
        <p:spPr>
          <a:xfrm>
            <a:off x="7312528" y="6126466"/>
            <a:ext cx="6096000" cy="3078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25000"/>
              </a:lnSpc>
              <a:spcBef>
                <a:spcPts val="0"/>
              </a:spcBef>
              <a:spcAft>
                <a:spcPts val="0"/>
              </a:spcAft>
              <a:buClr>
                <a:srgbClr val="000000"/>
              </a:buClr>
              <a:buSzPts val="1400"/>
              <a:buFont typeface="Arial" panose="020B0604020202020204"/>
              <a:buNone/>
              <a:tabLst/>
              <a:defRPr/>
            </a:pPr>
            <a:r>
              <a:rPr kumimoji="0" lang="en-US" sz="1400" b="1" i="1" u="sng"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Nguồn:</a:t>
            </a:r>
            <a:r>
              <a:rPr kumimoji="0" lang="en-US" sz="1400" b="0" i="1"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Cattell; Eber &amp; Tatsuoka (1970)</a:t>
            </a:r>
            <a:endParaRPr kumimoji="0" sz="2000" b="0" i="1"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aphicFrame>
        <p:nvGraphicFramePr>
          <p:cNvPr id="2" name="Table 1">
            <a:extLst>
              <a:ext uri="{FF2B5EF4-FFF2-40B4-BE49-F238E27FC236}">
                <a16:creationId xmlns:a16="http://schemas.microsoft.com/office/drawing/2014/main" id="{4DC22A46-62A8-E000-CA6C-174795638057}"/>
              </a:ext>
            </a:extLst>
          </p:cNvPr>
          <p:cNvGraphicFramePr>
            <a:graphicFrameLocks noGrp="1"/>
          </p:cNvGraphicFramePr>
          <p:nvPr/>
        </p:nvGraphicFramePr>
        <p:xfrm>
          <a:off x="754369" y="757434"/>
          <a:ext cx="9473713" cy="5338040"/>
        </p:xfrm>
        <a:graphic>
          <a:graphicData uri="http://schemas.openxmlformats.org/drawingml/2006/table">
            <a:tbl>
              <a:tblPr firstRow="1" bandRow="1">
                <a:tableStyleId>{5C22544A-7EE6-4342-B048-85BDC9FD1C3A}</a:tableStyleId>
              </a:tblPr>
              <a:tblGrid>
                <a:gridCol w="4175850">
                  <a:extLst>
                    <a:ext uri="{9D8B030D-6E8A-4147-A177-3AD203B41FA5}">
                      <a16:colId xmlns:a16="http://schemas.microsoft.com/office/drawing/2014/main" val="2607512182"/>
                    </a:ext>
                  </a:extLst>
                </a:gridCol>
                <a:gridCol w="5297863">
                  <a:extLst>
                    <a:ext uri="{9D8B030D-6E8A-4147-A177-3AD203B41FA5}">
                      <a16:colId xmlns:a16="http://schemas.microsoft.com/office/drawing/2014/main" val="577625983"/>
                    </a:ext>
                  </a:extLst>
                </a:gridCol>
              </a:tblGrid>
              <a:tr h="370840">
                <a:tc gridSpan="2">
                  <a:txBody>
                    <a:bodyPr/>
                    <a:lstStyle/>
                    <a:p>
                      <a:pPr algn="ctr"/>
                      <a:r>
                        <a:rPr lang="en-US" sz="2800" b="1">
                          <a:solidFill>
                            <a:schemeClr val="dk1"/>
                          </a:solidFill>
                          <a:latin typeface="+mn-lt"/>
                          <a:ea typeface="Arial" panose="020B0604020202020204"/>
                          <a:cs typeface="Arial" panose="020B0604020202020204"/>
                          <a:sym typeface="Arial" panose="020B0604020202020204"/>
                        </a:rPr>
                        <a:t>Bảng 4.2: Mười sáu tính cách của khách hàng</a:t>
                      </a:r>
                      <a:endParaRPr lang="en-US" sz="2800"/>
                    </a:p>
                  </a:txBody>
                  <a:tcPr/>
                </a:tc>
                <a:tc hMerge="1">
                  <a:txBody>
                    <a:bodyPr/>
                    <a:lstStyle/>
                    <a:p>
                      <a:endParaRPr lang="en-US"/>
                    </a:p>
                  </a:txBody>
                  <a:tcPr/>
                </a:tc>
                <a:extLst>
                  <a:ext uri="{0D108BD9-81ED-4DB2-BD59-A6C34878D82A}">
                    <a16:rowId xmlns:a16="http://schemas.microsoft.com/office/drawing/2014/main" val="2483823249"/>
                  </a:ext>
                </a:extLst>
              </a:tr>
              <a:tr h="370840">
                <a:tc>
                  <a:txBody>
                    <a:bodyPr/>
                    <a:lstStyle/>
                    <a:p>
                      <a:pPr marL="0" marR="0" lvl="0" indent="0" algn="just" rtl="0">
                        <a:lnSpc>
                          <a:spcPct val="100000"/>
                        </a:lnSpc>
                        <a:spcBef>
                          <a:spcPts val="0"/>
                        </a:spcBef>
                        <a:spcAft>
                          <a:spcPts val="0"/>
                        </a:spcAft>
                        <a:buNone/>
                      </a:pPr>
                      <a:r>
                        <a:rPr lang="en-US" sz="2400" b="0" i="0" u="none" strike="noStrike" cap="none">
                          <a:solidFill>
                            <a:schemeClr val="dk1"/>
                          </a:solidFill>
                          <a:latin typeface="Arial" panose="020B0604020202020204"/>
                          <a:ea typeface="Arial" panose="020B0604020202020204"/>
                          <a:cs typeface="Arial" panose="020B0604020202020204"/>
                          <a:sym typeface="Arial" panose="020B0604020202020204"/>
                        </a:rPr>
                        <a:t>1. Dè dặt – Thoải mái</a:t>
                      </a:r>
                      <a:endParaRPr sz="2400" b="0"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69625" marT="27850" marB="208875"/>
                </a:tc>
                <a:tc>
                  <a:txBody>
                    <a:bodyPr/>
                    <a:lstStyle/>
                    <a:p>
                      <a:pPr marL="0" marR="0" lvl="0" indent="0" algn="just" rtl="0">
                        <a:lnSpc>
                          <a:spcPct val="100000"/>
                        </a:lnSpc>
                        <a:spcBef>
                          <a:spcPts val="0"/>
                        </a:spcBef>
                        <a:spcAft>
                          <a:spcPts val="0"/>
                        </a:spcAft>
                        <a:buNone/>
                      </a:pPr>
                      <a:r>
                        <a:rPr lang="en-US" sz="2400" b="0" i="0" u="none" strike="noStrike" cap="none">
                          <a:solidFill>
                            <a:schemeClr val="dk1"/>
                          </a:solidFill>
                          <a:latin typeface="Arial" panose="020B0604020202020204"/>
                          <a:ea typeface="Arial" panose="020B0604020202020204"/>
                          <a:cs typeface="Arial" panose="020B0604020202020204"/>
                          <a:sym typeface="Arial" panose="020B0604020202020204"/>
                        </a:rPr>
                        <a:t>9. Tin người – Hay nghi ngờ</a:t>
                      </a:r>
                      <a:endParaRPr sz="2400" b="0"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69625" marT="27850" marB="208875"/>
                </a:tc>
                <a:extLst>
                  <a:ext uri="{0D108BD9-81ED-4DB2-BD59-A6C34878D82A}">
                    <a16:rowId xmlns:a16="http://schemas.microsoft.com/office/drawing/2014/main" val="744210373"/>
                  </a:ext>
                </a:extLst>
              </a:tr>
              <a:tr h="370840">
                <a:tc>
                  <a:txBody>
                    <a:bodyPr/>
                    <a:lstStyle/>
                    <a:p>
                      <a:pPr marL="0" marR="0" lvl="0" indent="0" algn="just" rtl="0">
                        <a:lnSpc>
                          <a:spcPct val="100000"/>
                        </a:lnSpc>
                        <a:spcBef>
                          <a:spcPts val="0"/>
                        </a:spcBef>
                        <a:spcAft>
                          <a:spcPts val="0"/>
                        </a:spcAft>
                        <a:buNone/>
                      </a:pP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2. Uể oải – Lanh lợi</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69625" marT="27850" marB="208875"/>
                </a:tc>
                <a:tc>
                  <a:txBody>
                    <a:bodyPr/>
                    <a:lstStyle/>
                    <a:p>
                      <a:pPr marL="0" marR="0" lvl="0" indent="0" algn="just" rtl="0">
                        <a:lnSpc>
                          <a:spcPct val="100000"/>
                        </a:lnSpc>
                        <a:spcBef>
                          <a:spcPts val="0"/>
                        </a:spcBef>
                        <a:spcAft>
                          <a:spcPts val="0"/>
                        </a:spcAft>
                        <a:buNone/>
                      </a:pP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10. Thực tế - Hoang tưởng</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69625" marT="27850" marB="208875"/>
                </a:tc>
                <a:extLst>
                  <a:ext uri="{0D108BD9-81ED-4DB2-BD59-A6C34878D82A}">
                    <a16:rowId xmlns:a16="http://schemas.microsoft.com/office/drawing/2014/main" val="3197301092"/>
                  </a:ext>
                </a:extLst>
              </a:tr>
              <a:tr h="370840">
                <a:tc>
                  <a:txBody>
                    <a:bodyPr/>
                    <a:lstStyle/>
                    <a:p>
                      <a:pPr marL="0" marR="0" lvl="0" indent="0" algn="just" rtl="0">
                        <a:lnSpc>
                          <a:spcPct val="100000"/>
                        </a:lnSpc>
                        <a:spcBef>
                          <a:spcPts val="0"/>
                        </a:spcBef>
                        <a:spcAft>
                          <a:spcPts val="0"/>
                        </a:spcAft>
                        <a:buNone/>
                      </a:pP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3. Giao động – Kiên định</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69625" marT="27850" marB="208875"/>
                </a:tc>
                <a:tc>
                  <a:txBody>
                    <a:bodyPr/>
                    <a:lstStyle/>
                    <a:p>
                      <a:pPr marL="0" marR="0" lvl="0" indent="0" algn="just" rtl="0">
                        <a:lnSpc>
                          <a:spcPct val="100000"/>
                        </a:lnSpc>
                        <a:spcBef>
                          <a:spcPts val="0"/>
                        </a:spcBef>
                        <a:spcAft>
                          <a:spcPts val="0"/>
                        </a:spcAft>
                        <a:buNone/>
                      </a:pP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11. Không phô trương – Hào nhoáng</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69625" marT="27850" marB="208875"/>
                </a:tc>
                <a:extLst>
                  <a:ext uri="{0D108BD9-81ED-4DB2-BD59-A6C34878D82A}">
                    <a16:rowId xmlns:a16="http://schemas.microsoft.com/office/drawing/2014/main" val="807378386"/>
                  </a:ext>
                </a:extLst>
              </a:tr>
              <a:tr h="370840">
                <a:tc>
                  <a:txBody>
                    <a:bodyPr/>
                    <a:lstStyle/>
                    <a:p>
                      <a:pPr marL="0" marR="0" lvl="0" indent="0" algn="just" rtl="0">
                        <a:lnSpc>
                          <a:spcPct val="100000"/>
                        </a:lnSpc>
                        <a:spcBef>
                          <a:spcPts val="0"/>
                        </a:spcBef>
                        <a:spcAft>
                          <a:spcPts val="0"/>
                        </a:spcAft>
                        <a:buNone/>
                      </a:pP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4. Hiền – Dữ</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69625" marT="27850" marB="208875"/>
                </a:tc>
                <a:tc>
                  <a:txBody>
                    <a:bodyPr/>
                    <a:lstStyle/>
                    <a:p>
                      <a:pPr marL="0" marR="0" lvl="0" indent="0" algn="just" rtl="0">
                        <a:lnSpc>
                          <a:spcPct val="100000"/>
                        </a:lnSpc>
                        <a:spcBef>
                          <a:spcPts val="0"/>
                        </a:spcBef>
                        <a:spcAft>
                          <a:spcPts val="0"/>
                        </a:spcAft>
                        <a:buNone/>
                      </a:pP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12. Tự đảm bảo – Tự trách</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69625" marT="27850" marB="208875"/>
                </a:tc>
                <a:extLst>
                  <a:ext uri="{0D108BD9-81ED-4DB2-BD59-A6C34878D82A}">
                    <a16:rowId xmlns:a16="http://schemas.microsoft.com/office/drawing/2014/main" val="2204112093"/>
                  </a:ext>
                </a:extLst>
              </a:tr>
              <a:tr h="370840">
                <a:tc>
                  <a:txBody>
                    <a:bodyPr/>
                    <a:lstStyle/>
                    <a:p>
                      <a:pPr marL="0" marR="0" lvl="0" indent="0" algn="just" rtl="0">
                        <a:lnSpc>
                          <a:spcPct val="100000"/>
                        </a:lnSpc>
                        <a:spcBef>
                          <a:spcPts val="0"/>
                        </a:spcBef>
                        <a:spcAft>
                          <a:spcPts val="0"/>
                        </a:spcAft>
                        <a:buNone/>
                      </a:pP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5. Nghiêm túc – Hay đùa cợt</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69625" marT="27850" marB="208875"/>
                </a:tc>
                <a:tc>
                  <a:txBody>
                    <a:bodyPr/>
                    <a:lstStyle/>
                    <a:p>
                      <a:pPr marL="0" marR="0" lvl="0" indent="0" algn="just" rtl="0">
                        <a:lnSpc>
                          <a:spcPct val="100000"/>
                        </a:lnSpc>
                        <a:spcBef>
                          <a:spcPts val="0"/>
                        </a:spcBef>
                        <a:spcAft>
                          <a:spcPts val="0"/>
                        </a:spcAft>
                        <a:buNone/>
                      </a:pP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13. Bảo thủ - Thích thử nghiệm</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69625" marT="27850" marB="208875"/>
                </a:tc>
                <a:extLst>
                  <a:ext uri="{0D108BD9-81ED-4DB2-BD59-A6C34878D82A}">
                    <a16:rowId xmlns:a16="http://schemas.microsoft.com/office/drawing/2014/main" val="511727094"/>
                  </a:ext>
                </a:extLst>
              </a:tr>
              <a:tr h="370840">
                <a:tc>
                  <a:txBody>
                    <a:bodyPr/>
                    <a:lstStyle/>
                    <a:p>
                      <a:pPr marL="0" marR="0" lvl="0" indent="0" algn="just" rtl="0">
                        <a:lnSpc>
                          <a:spcPct val="100000"/>
                        </a:lnSpc>
                        <a:spcBef>
                          <a:spcPts val="0"/>
                        </a:spcBef>
                        <a:spcAft>
                          <a:spcPts val="0"/>
                        </a:spcAft>
                        <a:buNone/>
                      </a:pP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6. Vị lợi – Tận tâm</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69625" marT="27850" marB="208875"/>
                </a:tc>
                <a:tc>
                  <a:txBody>
                    <a:bodyPr/>
                    <a:lstStyle/>
                    <a:p>
                      <a:pPr marL="0" marR="0" lvl="0" indent="0" algn="just" rtl="0">
                        <a:lnSpc>
                          <a:spcPct val="100000"/>
                        </a:lnSpc>
                        <a:spcBef>
                          <a:spcPts val="0"/>
                        </a:spcBef>
                        <a:spcAft>
                          <a:spcPts val="0"/>
                        </a:spcAft>
                        <a:buNone/>
                      </a:pP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14. Phụ thuộc – Không phụ thuộc</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69625" marT="27850" marB="208875"/>
                </a:tc>
                <a:extLst>
                  <a:ext uri="{0D108BD9-81ED-4DB2-BD59-A6C34878D82A}">
                    <a16:rowId xmlns:a16="http://schemas.microsoft.com/office/drawing/2014/main" val="3229853582"/>
                  </a:ext>
                </a:extLst>
              </a:tr>
              <a:tr h="370840">
                <a:tc>
                  <a:txBody>
                    <a:bodyPr/>
                    <a:lstStyle/>
                    <a:p>
                      <a:pPr marL="0" marR="0" lvl="0" indent="0" algn="just" rtl="0">
                        <a:lnSpc>
                          <a:spcPct val="100000"/>
                        </a:lnSpc>
                        <a:spcBef>
                          <a:spcPts val="0"/>
                        </a:spcBef>
                        <a:spcAft>
                          <a:spcPts val="0"/>
                        </a:spcAft>
                        <a:buNone/>
                      </a:pP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7. Nhút nhát – Mạnh dạn</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69625" marT="27850" marB="208875"/>
                </a:tc>
                <a:tc>
                  <a:txBody>
                    <a:bodyPr/>
                    <a:lstStyle/>
                    <a:p>
                      <a:pPr marL="0" marR="0" lvl="0" indent="0" algn="just" rtl="0">
                        <a:lnSpc>
                          <a:spcPct val="100000"/>
                        </a:lnSpc>
                        <a:spcBef>
                          <a:spcPts val="0"/>
                        </a:spcBef>
                        <a:spcAft>
                          <a:spcPts val="0"/>
                        </a:spcAft>
                        <a:buNone/>
                      </a:pP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15- Vô kỷ luật – Chừng mực</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69625" marT="27850" marB="208875"/>
                </a:tc>
                <a:extLst>
                  <a:ext uri="{0D108BD9-81ED-4DB2-BD59-A6C34878D82A}">
                    <a16:rowId xmlns:a16="http://schemas.microsoft.com/office/drawing/2014/main" val="430639604"/>
                  </a:ext>
                </a:extLst>
              </a:tr>
              <a:tr h="370840">
                <a:tc>
                  <a:txBody>
                    <a:bodyPr/>
                    <a:lstStyle/>
                    <a:p>
                      <a:pPr marL="0" marR="0" lvl="0" indent="0" algn="just" rtl="0">
                        <a:lnSpc>
                          <a:spcPct val="100000"/>
                        </a:lnSpc>
                        <a:spcBef>
                          <a:spcPts val="0"/>
                        </a:spcBef>
                        <a:spcAft>
                          <a:spcPts val="0"/>
                        </a:spcAft>
                        <a:buNone/>
                      </a:pP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8. Cứng rắn – Mềm yếu</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69625" marT="27850" marB="208875"/>
                </a:tc>
                <a:tc>
                  <a:txBody>
                    <a:bodyPr/>
                    <a:lstStyle/>
                    <a:p>
                      <a:pPr marL="0" marR="0" lvl="0" indent="0" algn="just" rtl="0">
                        <a:lnSpc>
                          <a:spcPct val="100000"/>
                        </a:lnSpc>
                        <a:spcBef>
                          <a:spcPts val="0"/>
                        </a:spcBef>
                        <a:spcAft>
                          <a:spcPts val="0"/>
                        </a:spcAft>
                        <a:buNone/>
                      </a:pPr>
                      <a:r>
                        <a:rPr lang="en-US" sz="2400" b="0" u="none" strike="noStrike" cap="none">
                          <a:solidFill>
                            <a:schemeClr val="dk1"/>
                          </a:solidFill>
                          <a:latin typeface="Arial" panose="020B0604020202020204"/>
                          <a:ea typeface="Arial" panose="020B0604020202020204"/>
                          <a:cs typeface="Arial" panose="020B0604020202020204"/>
                          <a:sym typeface="Arial" panose="020B0604020202020204"/>
                        </a:rPr>
                        <a:t>16. Nhẹ nhàng – Căng thẳng</a:t>
                      </a:r>
                      <a:endParaRPr sz="2400" b="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69625" marT="27850" marB="208875"/>
                </a:tc>
                <a:extLst>
                  <a:ext uri="{0D108BD9-81ED-4DB2-BD59-A6C34878D82A}">
                    <a16:rowId xmlns:a16="http://schemas.microsoft.com/office/drawing/2014/main" val="2087943086"/>
                  </a:ext>
                </a:extLst>
              </a:tr>
            </a:tbl>
          </a:graphicData>
        </a:graphic>
      </p:graphicFrame>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Shape 1799"/>
        <p:cNvGrpSpPr/>
        <p:nvPr/>
      </p:nvGrpSpPr>
      <p:grpSpPr>
        <a:xfrm>
          <a:off x="0" y="0"/>
          <a:ext cx="0" cy="0"/>
          <a:chOff x="0" y="0"/>
          <a:chExt cx="0" cy="0"/>
        </a:xfrm>
      </p:grpSpPr>
      <p:sp>
        <p:nvSpPr>
          <p:cNvPr id="1800" name="Google Shape;1800;p268"/>
          <p:cNvSpPr txBox="1">
            <a:spLocks noGrp="1"/>
          </p:cNvSpPr>
          <p:nvPr>
            <p:ph type="title"/>
          </p:nvPr>
        </p:nvSpPr>
        <p:spPr>
          <a:xfrm>
            <a:off x="93483" y="554185"/>
            <a:ext cx="10515600" cy="86677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Arial" panose="020B0604020202020204"/>
              <a:buNone/>
            </a:pPr>
            <a:r>
              <a:rPr lang="en-US" sz="3600" b="1">
                <a:latin typeface="Arial" panose="020B0604020202020204"/>
                <a:ea typeface="Arial" panose="020B0604020202020204"/>
                <a:cs typeface="Arial" panose="020B0604020202020204"/>
                <a:sym typeface="Arial" panose="020B0604020202020204"/>
              </a:rPr>
              <a:t>CÂU HỎI THẢO LUẬN</a:t>
            </a:r>
          </a:p>
        </p:txBody>
      </p:sp>
      <p:sp>
        <p:nvSpPr>
          <p:cNvPr id="1801" name="Google Shape;1801;p268"/>
          <p:cNvSpPr txBox="1">
            <a:spLocks noGrp="1"/>
          </p:cNvSpPr>
          <p:nvPr>
            <p:ph type="body" idx="1"/>
          </p:nvPr>
        </p:nvSpPr>
        <p:spPr>
          <a:xfrm>
            <a:off x="373380" y="1613535"/>
            <a:ext cx="11209020" cy="54864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18000"/>
              </a:lnSpc>
              <a:spcBef>
                <a:spcPts val="0"/>
              </a:spcBef>
              <a:spcAft>
                <a:spcPts val="0"/>
              </a:spcAft>
              <a:buClr>
                <a:schemeClr val="dk1"/>
              </a:buClr>
              <a:buSzPts val="2800"/>
              <a:buFont typeface="Calibri" panose="020F0502020204030204"/>
              <a:buAutoNum type="arabicPeriod"/>
            </a:pPr>
            <a:r>
              <a:rPr lang="en-US" sz="2400">
                <a:latin typeface="Arial" panose="020B0604020202020204"/>
                <a:ea typeface="Arial" panose="020B0604020202020204"/>
                <a:cs typeface="Arial" panose="020B0604020202020204"/>
                <a:sym typeface="Arial" panose="020B0604020202020204"/>
              </a:rPr>
              <a:t>Sự khác biệt giữa các thế hệ ảnh hưởng như thế nào đến hành vi của khách hàng.</a:t>
            </a:r>
            <a:endParaRPr sz="2400"/>
          </a:p>
          <a:p>
            <a:pPr marL="342900" marR="0" lvl="0" indent="-342900" algn="just" rtl="0">
              <a:lnSpc>
                <a:spcPct val="118000"/>
              </a:lnSpc>
              <a:spcBef>
                <a:spcPts val="0"/>
              </a:spcBef>
              <a:spcAft>
                <a:spcPts val="0"/>
              </a:spcAft>
              <a:buClr>
                <a:schemeClr val="dk1"/>
              </a:buClr>
              <a:buSzPts val="2800"/>
              <a:buFont typeface="Calibri" panose="020F0502020204030204"/>
              <a:buAutoNum type="arabicPeriod"/>
            </a:pPr>
            <a:r>
              <a:rPr lang="en-US" sz="2400">
                <a:latin typeface="Arial" panose="020B0604020202020204"/>
                <a:ea typeface="Arial" panose="020B0604020202020204"/>
                <a:cs typeface="Arial" panose="020B0604020202020204"/>
                <a:sym typeface="Arial" panose="020B0604020202020204"/>
              </a:rPr>
              <a:t>Quy mô gia đình và cấu trúc gia đình ở Việt Nam đã thay đổi như thế nào? Điều này có ý nghĩa gì khi hoạch định các chiến lược marketing?</a:t>
            </a:r>
            <a:endParaRPr sz="2400"/>
          </a:p>
          <a:p>
            <a:pPr marL="342900" marR="0" lvl="0" indent="-342900" algn="just" rtl="0">
              <a:lnSpc>
                <a:spcPct val="118000"/>
              </a:lnSpc>
              <a:spcBef>
                <a:spcPts val="0"/>
              </a:spcBef>
              <a:spcAft>
                <a:spcPts val="0"/>
              </a:spcAft>
              <a:buClr>
                <a:schemeClr val="dk1"/>
              </a:buClr>
              <a:buSzPts val="2800"/>
              <a:buFont typeface="Calibri" panose="020F0502020204030204"/>
              <a:buAutoNum type="arabicPeriod"/>
            </a:pPr>
            <a:r>
              <a:rPr lang="en-US" sz="2400">
                <a:latin typeface="Arial" panose="020B0604020202020204"/>
                <a:ea typeface="Arial" panose="020B0604020202020204"/>
                <a:cs typeface="Arial" panose="020B0604020202020204"/>
                <a:sym typeface="Arial" panose="020B0604020202020204"/>
              </a:rPr>
              <a:t>Tại sao trong thực tế, xu hướng gia đình nhỏ hơn, thậm chí nhiều bạn trẻ thích xu hướng gia đình đơn thân, trong khi quảng cáo đi vào vấn đề “gia đình sum vầy” vẫn đem lại hiệu quả cao?</a:t>
            </a:r>
            <a:endParaRPr sz="2400"/>
          </a:p>
          <a:p>
            <a:pPr marL="342900" marR="0" lvl="0" indent="-342900" algn="just" rtl="0">
              <a:lnSpc>
                <a:spcPct val="118000"/>
              </a:lnSpc>
              <a:spcBef>
                <a:spcPts val="0"/>
              </a:spcBef>
              <a:spcAft>
                <a:spcPts val="0"/>
              </a:spcAft>
              <a:buClr>
                <a:schemeClr val="dk1"/>
              </a:buClr>
              <a:buSzPts val="2800"/>
              <a:buFont typeface="Calibri" panose="020F0502020204030204"/>
              <a:buAutoNum type="arabicPeriod"/>
            </a:pPr>
            <a:r>
              <a:rPr lang="en-US" sz="2400">
                <a:latin typeface="Arial" panose="020B0604020202020204"/>
                <a:ea typeface="Arial" panose="020B0604020202020204"/>
                <a:cs typeface="Arial" panose="020B0604020202020204"/>
                <a:sym typeface="Arial" panose="020B0604020202020204"/>
              </a:rPr>
              <a:t>Hãy giải thích tại sao hiện nay có một số người lớn tuổi, nhiều người ở vùng sâu, vùng xa lại kết nối online nhiều, dành thời gian trên mạng nhiều hơn so với một số bạn trẻ? Ứng dụng điều này trong marketing như thế nào?</a:t>
            </a:r>
            <a:endParaRPr sz="24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Shape 2124"/>
        <p:cNvGrpSpPr/>
        <p:nvPr/>
      </p:nvGrpSpPr>
      <p:grpSpPr>
        <a:xfrm>
          <a:off x="0" y="0"/>
          <a:ext cx="0" cy="0"/>
          <a:chOff x="0" y="0"/>
          <a:chExt cx="0" cy="0"/>
        </a:xfrm>
      </p:grpSpPr>
      <p:sp>
        <p:nvSpPr>
          <p:cNvPr id="2125" name="Google Shape;2125;p309"/>
          <p:cNvSpPr txBox="1">
            <a:spLocks noGrp="1"/>
          </p:cNvSpPr>
          <p:nvPr>
            <p:ph type="ctrTitle"/>
          </p:nvPr>
        </p:nvSpPr>
        <p:spPr>
          <a:xfrm>
            <a:off x="1524000" y="1122363"/>
            <a:ext cx="9144000" cy="1562964"/>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800"/>
              <a:buFont typeface="Arial" panose="020B0604020202020204"/>
              <a:buNone/>
            </a:pPr>
            <a:r>
              <a:rPr lang="en-US" sz="4800" b="1">
                <a:latin typeface="Arial" panose="020B0604020202020204"/>
                <a:ea typeface="Arial" panose="020B0604020202020204"/>
                <a:cs typeface="Arial" panose="020B0604020202020204"/>
                <a:sym typeface="Arial" panose="020B0604020202020204"/>
              </a:rPr>
              <a:t>CHƯƠNG </a:t>
            </a:r>
            <a:r>
              <a:rPr lang="en-US" sz="4800" b="1"/>
              <a:t>5</a:t>
            </a:r>
            <a:endParaRPr lang="en-US" sz="4800" b="1">
              <a:latin typeface="Arial" panose="020B0604020202020204"/>
              <a:ea typeface="Arial" panose="020B0604020202020204"/>
              <a:cs typeface="Arial" panose="020B0604020202020204"/>
              <a:sym typeface="Arial" panose="020B0604020202020204"/>
            </a:endParaRPr>
          </a:p>
        </p:txBody>
      </p:sp>
      <p:sp>
        <p:nvSpPr>
          <p:cNvPr id="2126" name="Google Shape;2126;p309"/>
          <p:cNvSpPr txBox="1">
            <a:spLocks noGrp="1"/>
          </p:cNvSpPr>
          <p:nvPr>
            <p:ph type="subTitle" idx="1"/>
          </p:nvPr>
        </p:nvSpPr>
        <p:spPr>
          <a:xfrm>
            <a:off x="1524000" y="2685327"/>
            <a:ext cx="9144000" cy="1655762"/>
          </a:xfrm>
          <a:prstGeom prst="rect">
            <a:avLst/>
          </a:prstGeom>
          <a:noFill/>
          <a:ln>
            <a:noFill/>
          </a:ln>
        </p:spPr>
        <p:txBody>
          <a:bodyPr spcFirstLastPara="1" wrap="square" lIns="91425" tIns="45700" rIns="91425" bIns="45700" anchor="t" anchorCtr="0">
            <a:noAutofit/>
          </a:bodyPr>
          <a:lstStyle/>
          <a:p>
            <a:pPr marL="0" lvl="0" indent="0" algn="ctr" rtl="0">
              <a:lnSpc>
                <a:spcPct val="150000"/>
              </a:lnSpc>
              <a:spcBef>
                <a:spcPts val="0"/>
              </a:spcBef>
              <a:spcAft>
                <a:spcPts val="0"/>
              </a:spcAft>
              <a:buClr>
                <a:schemeClr val="dk1"/>
              </a:buClr>
              <a:buSzPts val="4800"/>
              <a:buNone/>
            </a:pPr>
            <a:r>
              <a:rPr lang="en-US" sz="4800" b="1">
                <a:latin typeface="Arial" panose="020B0604020202020204"/>
                <a:ea typeface="Arial" panose="020B0604020202020204"/>
                <a:cs typeface="Arial" panose="020B0604020202020204"/>
                <a:sym typeface="Arial" panose="020B0604020202020204"/>
              </a:rPr>
              <a:t>QUY TRÌNH RA QUYẾT ĐỊNH MUA CỦA KHÁCH HÀNG</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Shape 2130"/>
        <p:cNvGrpSpPr/>
        <p:nvPr/>
      </p:nvGrpSpPr>
      <p:grpSpPr>
        <a:xfrm>
          <a:off x="0" y="0"/>
          <a:ext cx="0" cy="0"/>
          <a:chOff x="0" y="0"/>
          <a:chExt cx="0" cy="0"/>
        </a:xfrm>
      </p:grpSpPr>
      <p:sp>
        <p:nvSpPr>
          <p:cNvPr id="2131" name="Google Shape;2131;p310"/>
          <p:cNvSpPr txBox="1">
            <a:spLocks noGrp="1"/>
          </p:cNvSpPr>
          <p:nvPr>
            <p:ph type="title"/>
          </p:nvPr>
        </p:nvSpPr>
        <p:spPr>
          <a:xfrm>
            <a:off x="676154"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3600"/>
              <a:buFont typeface="Arial" panose="020B0604020202020204"/>
              <a:buNone/>
            </a:pPr>
            <a:r>
              <a:rPr lang="en-US" sz="3600" b="1">
                <a:solidFill>
                  <a:srgbClr val="000000"/>
                </a:solidFill>
                <a:latin typeface="Arial" panose="020B0604020202020204"/>
                <a:ea typeface="Arial" panose="020B0604020202020204"/>
                <a:cs typeface="Arial" panose="020B0604020202020204"/>
                <a:sym typeface="Arial" panose="020B0604020202020204"/>
              </a:rPr>
              <a:t>MỤC TIÊU CHƯƠNG </a:t>
            </a:r>
            <a:r>
              <a:rPr lang="en-US" sz="3600" b="1">
                <a:solidFill>
                  <a:srgbClr val="000000"/>
                </a:solidFill>
              </a:rPr>
              <a:t>5</a:t>
            </a:r>
            <a:endParaRPr lang="en-US" sz="3600" b="1">
              <a:solidFill>
                <a:srgbClr val="000000"/>
              </a:solidFill>
              <a:latin typeface="Arial" panose="020B0604020202020204"/>
              <a:ea typeface="Arial" panose="020B0604020202020204"/>
              <a:cs typeface="Arial" panose="020B0604020202020204"/>
              <a:sym typeface="Arial" panose="020B0604020202020204"/>
            </a:endParaRPr>
          </a:p>
        </p:txBody>
      </p:sp>
      <p:sp>
        <p:nvSpPr>
          <p:cNvPr id="2132" name="Google Shape;2132;p310"/>
          <p:cNvSpPr txBox="1">
            <a:spLocks noGrp="1"/>
          </p:cNvSpPr>
          <p:nvPr>
            <p:ph type="body" idx="1"/>
          </p:nvPr>
        </p:nvSpPr>
        <p:spPr>
          <a:xfrm>
            <a:off x="676154" y="1133797"/>
            <a:ext cx="11014275" cy="5451676"/>
          </a:xfrm>
          <a:prstGeom prst="rect">
            <a:avLst/>
          </a:prstGeom>
          <a:noFill/>
          <a:ln>
            <a:noFill/>
          </a:ln>
        </p:spPr>
        <p:txBody>
          <a:bodyPr spcFirstLastPara="1" wrap="square" lIns="91425" tIns="45700" rIns="91425" bIns="45700" anchor="t" anchorCtr="0">
            <a:normAutofit lnSpcReduction="10000"/>
          </a:bodyPr>
          <a:lstStyle/>
          <a:p>
            <a:pPr marL="457200" lvl="0" indent="-457200" algn="l" rtl="0">
              <a:lnSpc>
                <a:spcPct val="150000"/>
              </a:lnSpc>
              <a:spcBef>
                <a:spcPts val="0"/>
              </a:spcBef>
              <a:spcAft>
                <a:spcPts val="0"/>
              </a:spcAft>
              <a:buClr>
                <a:schemeClr val="dk1"/>
              </a:buClr>
              <a:buSzPts val="2800"/>
              <a:buFont typeface="Noto Sans Symbols"/>
              <a:buChar char="⮚"/>
            </a:pPr>
            <a:r>
              <a:rPr lang="en-US">
                <a:latin typeface="Arial" panose="020B0604020202020204"/>
                <a:ea typeface="Arial" panose="020B0604020202020204"/>
                <a:cs typeface="Arial" panose="020B0604020202020204"/>
                <a:sym typeface="Arial" panose="020B0604020202020204"/>
              </a:rPr>
              <a:t>Phân tích được quá trình ra quyết định mua của KH.</a:t>
            </a:r>
            <a:endParaRPr>
              <a:latin typeface="Arial" panose="020B0604020202020204"/>
              <a:ea typeface="Arial" panose="020B0604020202020204"/>
              <a:cs typeface="Arial" panose="020B0604020202020204"/>
              <a:sym typeface="Arial" panose="020B0604020202020204"/>
            </a:endParaRPr>
          </a:p>
          <a:p>
            <a:pPr marL="457200" lvl="0" indent="-457200" algn="l" rtl="0">
              <a:lnSpc>
                <a:spcPct val="150000"/>
              </a:lnSpc>
              <a:spcBef>
                <a:spcPts val="1000"/>
              </a:spcBef>
              <a:spcAft>
                <a:spcPts val="0"/>
              </a:spcAft>
              <a:buClr>
                <a:schemeClr val="dk1"/>
              </a:buClr>
              <a:buSzPts val="2800"/>
              <a:buFont typeface="Noto Sans Symbols"/>
              <a:buChar char="⮚"/>
            </a:pPr>
            <a:r>
              <a:rPr lang="en-US">
                <a:latin typeface="Arial" panose="020B0604020202020204"/>
                <a:ea typeface="Arial" panose="020B0604020202020204"/>
                <a:cs typeface="Arial" panose="020B0604020202020204"/>
                <a:sym typeface="Arial" panose="020B0604020202020204"/>
              </a:rPr>
              <a:t>Đánh giá và đưa ra các giải pháp một cách thuyết phục về các yếu tố ảnh hưởng đến quá trình ra quyết định mua.</a:t>
            </a:r>
            <a:endParaRPr>
              <a:latin typeface="Arial" panose="020B0604020202020204"/>
              <a:ea typeface="Arial" panose="020B0604020202020204"/>
              <a:cs typeface="Arial" panose="020B0604020202020204"/>
              <a:sym typeface="Arial" panose="020B0604020202020204"/>
            </a:endParaRPr>
          </a:p>
          <a:p>
            <a:pPr marL="457200" lvl="0" indent="-457200" algn="l" rtl="0">
              <a:lnSpc>
                <a:spcPct val="150000"/>
              </a:lnSpc>
              <a:spcBef>
                <a:spcPts val="1000"/>
              </a:spcBef>
              <a:spcAft>
                <a:spcPts val="0"/>
              </a:spcAft>
              <a:buClr>
                <a:schemeClr val="dk1"/>
              </a:buClr>
              <a:buSzPts val="2800"/>
              <a:buFont typeface="Noto Sans Symbols"/>
              <a:buChar char="⮚"/>
            </a:pPr>
            <a:r>
              <a:rPr lang="en-US">
                <a:latin typeface="Arial" panose="020B0604020202020204"/>
                <a:ea typeface="Arial" panose="020B0604020202020204"/>
                <a:cs typeface="Arial" panose="020B0604020202020204"/>
                <a:sym typeface="Arial" panose="020B0604020202020204"/>
              </a:rPr>
              <a:t>Tổng hợp được về các đặc điểm của KH, quá trình thông qua quyết định mua và những nhân tố ảnh hưởng đến hành vi mua của KH.</a:t>
            </a:r>
            <a:endParaRPr>
              <a:latin typeface="Arial" panose="020B0604020202020204"/>
              <a:ea typeface="Arial" panose="020B0604020202020204"/>
              <a:cs typeface="Arial" panose="020B0604020202020204"/>
              <a:sym typeface="Arial" panose="020B0604020202020204"/>
            </a:endParaRPr>
          </a:p>
          <a:p>
            <a:pPr marL="457200" lvl="0" indent="-457200" algn="l" rtl="0">
              <a:lnSpc>
                <a:spcPct val="150000"/>
              </a:lnSpc>
              <a:spcBef>
                <a:spcPts val="1000"/>
              </a:spcBef>
              <a:spcAft>
                <a:spcPts val="0"/>
              </a:spcAft>
              <a:buClr>
                <a:schemeClr val="dk1"/>
              </a:buClr>
              <a:buSzPts val="2800"/>
              <a:buFont typeface="Noto Sans Symbols"/>
              <a:buChar char="⮚"/>
            </a:pPr>
            <a:r>
              <a:rPr lang="en-US">
                <a:latin typeface="Arial" panose="020B0604020202020204"/>
                <a:ea typeface="Arial" panose="020B0604020202020204"/>
                <a:cs typeface="Arial" panose="020B0604020202020204"/>
                <a:sym typeface="Arial" panose="020B0604020202020204"/>
              </a:rPr>
              <a:t>Áp dụng được chiến lược marketing dựa trên quy trình ra quyết định mua của KH.</a:t>
            </a:r>
            <a:endParaRPr>
              <a:latin typeface="Arial" panose="020B0604020202020204"/>
              <a:ea typeface="Arial" panose="020B0604020202020204"/>
              <a:cs typeface="Arial" panose="020B0604020202020204"/>
              <a:sym typeface="Arial" panose="020B0604020202020204"/>
            </a:endParaRPr>
          </a:p>
          <a:p>
            <a:pPr marL="228600" lvl="0" indent="-50800" algn="l" rtl="0">
              <a:lnSpc>
                <a:spcPct val="90000"/>
              </a:lnSpc>
              <a:spcBef>
                <a:spcPts val="1000"/>
              </a:spcBef>
              <a:spcAft>
                <a:spcPts val="0"/>
              </a:spcAft>
              <a:buClr>
                <a:schemeClr val="dk1"/>
              </a:buClr>
              <a:buSzPts val="2800"/>
              <a:buNone/>
            </a:pPr>
            <a:endParaRPr>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Shape 2136"/>
        <p:cNvGrpSpPr/>
        <p:nvPr/>
      </p:nvGrpSpPr>
      <p:grpSpPr>
        <a:xfrm>
          <a:off x="0" y="0"/>
          <a:ext cx="0" cy="0"/>
          <a:chOff x="0" y="0"/>
          <a:chExt cx="0" cy="0"/>
        </a:xfrm>
      </p:grpSpPr>
      <p:sp>
        <p:nvSpPr>
          <p:cNvPr id="2137" name="Google Shape;2137;p311"/>
          <p:cNvSpPr txBox="1">
            <a:spLocks noGrp="1"/>
          </p:cNvSpPr>
          <p:nvPr>
            <p:ph type="title"/>
          </p:nvPr>
        </p:nvSpPr>
        <p:spPr>
          <a:xfrm>
            <a:off x="838200" y="573470"/>
            <a:ext cx="10515600" cy="11048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3600"/>
              <a:buFont typeface="Arial" panose="020B0604020202020204"/>
              <a:buNone/>
            </a:pPr>
            <a:r>
              <a:rPr lang="en-US" sz="3600" b="1">
                <a:solidFill>
                  <a:srgbClr val="000000"/>
                </a:solidFill>
                <a:latin typeface="Arial" panose="020B0604020202020204"/>
                <a:ea typeface="Arial" panose="020B0604020202020204"/>
                <a:cs typeface="Arial" panose="020B0604020202020204"/>
                <a:sym typeface="Arial" panose="020B0604020202020204"/>
              </a:rPr>
              <a:t>NỘI DUNG CHƯƠNG </a:t>
            </a:r>
            <a:r>
              <a:rPr lang="en-US" sz="3600" b="1">
                <a:solidFill>
                  <a:srgbClr val="000000"/>
                </a:solidFill>
              </a:rPr>
              <a:t>5</a:t>
            </a:r>
            <a:endParaRPr lang="en-US" sz="3600" b="1">
              <a:solidFill>
                <a:srgbClr val="000000"/>
              </a:solidFill>
              <a:latin typeface="Arial" panose="020B0604020202020204"/>
              <a:ea typeface="Arial" panose="020B0604020202020204"/>
              <a:cs typeface="Arial" panose="020B0604020202020204"/>
              <a:sym typeface="Arial" panose="020B0604020202020204"/>
            </a:endParaRPr>
          </a:p>
        </p:txBody>
      </p:sp>
      <p:sp>
        <p:nvSpPr>
          <p:cNvPr id="2138" name="Google Shape;2138;p311"/>
          <p:cNvSpPr txBox="1">
            <a:spLocks noGrp="1"/>
          </p:cNvSpPr>
          <p:nvPr>
            <p:ph type="body" idx="1"/>
          </p:nvPr>
        </p:nvSpPr>
        <p:spPr>
          <a:xfrm>
            <a:off x="838200" y="1678330"/>
            <a:ext cx="11141597" cy="4371312"/>
          </a:xfrm>
          <a:prstGeom prst="rect">
            <a:avLst/>
          </a:prstGeom>
          <a:noFill/>
          <a:ln>
            <a:noFill/>
          </a:ln>
        </p:spPr>
        <p:txBody>
          <a:bodyPr spcFirstLastPara="1" wrap="square" lIns="91425" tIns="45700" rIns="91425" bIns="45700" anchor="t" anchorCtr="0">
            <a:normAutofit/>
          </a:bodyPr>
          <a:lstStyle/>
          <a:p>
            <a:pPr>
              <a:lnSpc>
                <a:spcPct val="115000"/>
              </a:lnSpc>
              <a:spcAft>
                <a:spcPts val="1000"/>
              </a:spcAft>
              <a:buNone/>
            </a:pPr>
            <a:r>
              <a:rPr lang="vi-VN" sz="3200"/>
              <a:t>5</a:t>
            </a:r>
            <a:r>
              <a:rPr lang="en-US" sz="3200"/>
              <a:t>.1. Các loại quyết định của khách hàng cá nhân</a:t>
            </a:r>
            <a:endParaRPr lang="vi-VN" sz="3200"/>
          </a:p>
          <a:p>
            <a:pPr>
              <a:lnSpc>
                <a:spcPct val="115000"/>
              </a:lnSpc>
              <a:spcAft>
                <a:spcPts val="1000"/>
              </a:spcAft>
              <a:buNone/>
            </a:pPr>
            <a:r>
              <a:rPr lang="vi-VN" sz="3200"/>
              <a:t>5.</a:t>
            </a:r>
            <a:r>
              <a:rPr lang="en-US" sz="3200"/>
              <a:t>2. Các giai đoạn trong quá trình ra quyết định mua </a:t>
            </a:r>
            <a:endParaRPr lang="vi-VN" sz="3200"/>
          </a:p>
          <a:p>
            <a:pPr>
              <a:lnSpc>
                <a:spcPct val="115000"/>
              </a:lnSpc>
              <a:spcAft>
                <a:spcPts val="1000"/>
              </a:spcAft>
              <a:buNone/>
            </a:pPr>
            <a:r>
              <a:rPr lang="vi-VN" sz="3200">
                <a:latin typeface="Arial" panose="020B0604020202020204"/>
                <a:ea typeface="Arial" panose="020B0604020202020204"/>
                <a:cs typeface="Arial" panose="020B0604020202020204"/>
                <a:sym typeface="Arial" panose="020B0604020202020204"/>
              </a:rPr>
              <a:t>5.3 </a:t>
            </a:r>
            <a:r>
              <a:rPr lang="en-US" sz="3200">
                <a:latin typeface="Arial" panose="020B0604020202020204"/>
                <a:ea typeface="Arial" panose="020B0604020202020204"/>
                <a:cs typeface="Arial" panose="020B0604020202020204"/>
                <a:sym typeface="Arial" panose="020B0604020202020204"/>
              </a:rPr>
              <a:t>Các giai đoạn trong quá trình mua </a:t>
            </a:r>
            <a:r>
              <a:rPr lang="vi-VN" sz="3200">
                <a:latin typeface="Arial" panose="020B0604020202020204"/>
                <a:ea typeface="Arial" panose="020B0604020202020204"/>
                <a:cs typeface="Arial" panose="020B0604020202020204"/>
                <a:sym typeface="Arial" panose="020B0604020202020204"/>
              </a:rPr>
              <a:t>sản phẩm mới</a:t>
            </a:r>
          </a:p>
          <a:p>
            <a:pPr marL="0" lvl="0" indent="0">
              <a:lnSpc>
                <a:spcPct val="150000"/>
              </a:lnSpc>
              <a:buSzPts val="3200"/>
              <a:buNone/>
            </a:pPr>
            <a:endParaRPr lang="vi-VN" sz="32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Shape 2147"/>
        <p:cNvGrpSpPr/>
        <p:nvPr/>
      </p:nvGrpSpPr>
      <p:grpSpPr>
        <a:xfrm>
          <a:off x="0" y="0"/>
          <a:ext cx="0" cy="0"/>
          <a:chOff x="0" y="0"/>
          <a:chExt cx="0" cy="0"/>
        </a:xfrm>
      </p:grpSpPr>
      <p:sp>
        <p:nvSpPr>
          <p:cNvPr id="2148" name="Google Shape;2148;p313"/>
          <p:cNvSpPr txBox="1">
            <a:spLocks noGrp="1"/>
          </p:cNvSpPr>
          <p:nvPr>
            <p:ph type="body" idx="1"/>
          </p:nvPr>
        </p:nvSpPr>
        <p:spPr>
          <a:xfrm>
            <a:off x="166990" y="1483171"/>
            <a:ext cx="11593285" cy="4899363"/>
          </a:xfrm>
          <a:prstGeom prst="rect">
            <a:avLst/>
          </a:prstGeom>
          <a:noFill/>
          <a:ln>
            <a:noFill/>
          </a:ln>
        </p:spPr>
        <p:txBody>
          <a:bodyPr spcFirstLastPara="1" wrap="square" lIns="91425" tIns="45700" rIns="91425" bIns="45700" anchor="t" anchorCtr="0">
            <a:noAutofit/>
          </a:bodyPr>
          <a:lstStyle/>
          <a:p>
            <a:pPr marL="457200" lvl="0" indent="-457200" algn="l" rtl="0">
              <a:lnSpc>
                <a:spcPct val="110000"/>
              </a:lnSpc>
              <a:spcBef>
                <a:spcPts val="0"/>
              </a:spcBef>
              <a:spcAft>
                <a:spcPts val="0"/>
              </a:spcAft>
              <a:buClr>
                <a:schemeClr val="dk1"/>
              </a:buClr>
              <a:buSzPts val="2600"/>
              <a:buFont typeface="Arial" panose="020B0604020202020204"/>
              <a:buChar char="•"/>
            </a:pPr>
            <a:r>
              <a:rPr lang="en-US" sz="2600">
                <a:latin typeface="Arial" panose="020B0604020202020204"/>
                <a:ea typeface="Arial" panose="020B0604020202020204"/>
                <a:cs typeface="Arial" panose="020B0604020202020204"/>
                <a:sym typeface="Arial" panose="020B0604020202020204"/>
              </a:rPr>
              <a:t>Hành vi mua của KH thay đổi theo kiểu quyết định mua. Quá trình quyết định mua còn thay đổi theo loại sản phẩm liên quan. </a:t>
            </a:r>
            <a:endParaRPr sz="2600"/>
          </a:p>
          <a:p>
            <a:pPr marL="645160" lvl="0" indent="-292100" algn="l" rtl="0">
              <a:lnSpc>
                <a:spcPct val="110000"/>
              </a:lnSpc>
              <a:spcBef>
                <a:spcPts val="1000"/>
              </a:spcBef>
              <a:spcAft>
                <a:spcPts val="0"/>
              </a:spcAft>
              <a:buClr>
                <a:schemeClr val="dk1"/>
              </a:buClr>
              <a:buSzPts val="2600"/>
              <a:buFont typeface="Arial" panose="020B0604020202020204"/>
              <a:buNone/>
            </a:pPr>
            <a:endParaRPr sz="2600">
              <a:latin typeface="Arial" panose="020B0604020202020204"/>
              <a:ea typeface="Arial" panose="020B0604020202020204"/>
              <a:cs typeface="Arial" panose="020B0604020202020204"/>
              <a:sym typeface="Arial" panose="020B0604020202020204"/>
            </a:endParaRPr>
          </a:p>
          <a:p>
            <a:pPr marL="457200" lvl="0" indent="-457200" algn="l" rtl="0">
              <a:lnSpc>
                <a:spcPct val="110000"/>
              </a:lnSpc>
              <a:spcBef>
                <a:spcPts val="1000"/>
              </a:spcBef>
              <a:spcAft>
                <a:spcPts val="0"/>
              </a:spcAft>
              <a:buClr>
                <a:schemeClr val="dk1"/>
              </a:buClr>
              <a:buSzPts val="2600"/>
              <a:buFont typeface="Arial" panose="020B0604020202020204"/>
              <a:buChar char="•"/>
            </a:pPr>
            <a:r>
              <a:rPr lang="en-US" sz="2600">
                <a:latin typeface="Arial" panose="020B0604020202020204"/>
                <a:ea typeface="Arial" panose="020B0604020202020204"/>
                <a:cs typeface="Arial" panose="020B0604020202020204"/>
                <a:sym typeface="Arial" panose="020B0604020202020204"/>
              </a:rPr>
              <a:t>Một quyết định mua có thể bị ảnh hưởng mạnh mẽ bởi tình huống mà người mua thể hiện được bản thân. </a:t>
            </a:r>
            <a:endParaRPr sz="2600"/>
          </a:p>
          <a:p>
            <a:pPr marL="645160" lvl="0" indent="-292100" algn="l" rtl="0">
              <a:lnSpc>
                <a:spcPct val="110000"/>
              </a:lnSpc>
              <a:spcBef>
                <a:spcPts val="1000"/>
              </a:spcBef>
              <a:spcAft>
                <a:spcPts val="0"/>
              </a:spcAft>
              <a:buClr>
                <a:schemeClr val="dk1"/>
              </a:buClr>
              <a:buSzPts val="2600"/>
              <a:buFont typeface="Arial" panose="020B0604020202020204"/>
              <a:buNone/>
            </a:pPr>
            <a:endParaRPr sz="2600">
              <a:latin typeface="Arial" panose="020B0604020202020204"/>
              <a:ea typeface="Arial" panose="020B0604020202020204"/>
              <a:cs typeface="Arial" panose="020B0604020202020204"/>
              <a:sym typeface="Arial" panose="020B0604020202020204"/>
            </a:endParaRPr>
          </a:p>
          <a:p>
            <a:pPr marL="457200" lvl="0" indent="-457200" algn="l" rtl="0">
              <a:lnSpc>
                <a:spcPct val="110000"/>
              </a:lnSpc>
              <a:spcBef>
                <a:spcPts val="1000"/>
              </a:spcBef>
              <a:spcAft>
                <a:spcPts val="0"/>
              </a:spcAft>
              <a:buClr>
                <a:schemeClr val="dk1"/>
              </a:buClr>
              <a:buSzPts val="2600"/>
              <a:buFont typeface="Arial" panose="020B0604020202020204"/>
              <a:buChar char="•"/>
            </a:pPr>
            <a:r>
              <a:rPr lang="en-US" sz="2600">
                <a:latin typeface="Arial" panose="020B0604020202020204"/>
                <a:ea typeface="Arial" panose="020B0604020202020204"/>
                <a:cs typeface="Arial" panose="020B0604020202020204"/>
                <a:sym typeface="Arial" panose="020B0604020202020204"/>
              </a:rPr>
              <a:t>Quyết định của KH thể hiện hình ảnh của một cá nhân đánh giá cẩn thận các thuộc tính của một bộ sản phẩm, nhãn hiệu hoặc dịch vụ và lựa chọn hợp lý một nhu cầu giải quyết nhu cầu được công nhận rõ ràng với chi phí thấp nhất. </a:t>
            </a:r>
            <a:endParaRPr sz="2600">
              <a:latin typeface="Arial" panose="020B0604020202020204"/>
              <a:ea typeface="Arial" panose="020B0604020202020204"/>
              <a:cs typeface="Arial" panose="020B0604020202020204"/>
              <a:sym typeface="Arial" panose="020B0604020202020204"/>
            </a:endParaRPr>
          </a:p>
        </p:txBody>
      </p:sp>
      <p:sp>
        <p:nvSpPr>
          <p:cNvPr id="2" name="Google Shape;2143;p312"/>
          <p:cNvSpPr txBox="1"/>
          <p:nvPr/>
        </p:nvSpPr>
        <p:spPr>
          <a:xfrm>
            <a:off x="166990" y="311576"/>
            <a:ext cx="10886021" cy="8274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500"/>
              </a:spcBef>
              <a:spcAft>
                <a:spcPts val="0"/>
              </a:spcAft>
              <a:buClr>
                <a:schemeClr val="dk1"/>
              </a:buClr>
              <a:buSzPts val="18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42900" algn="l" rtl="0">
              <a:lnSpc>
                <a:spcPct val="90000"/>
              </a:lnSpc>
              <a:spcBef>
                <a:spcPts val="500"/>
              </a:spcBef>
              <a:spcAft>
                <a:spcPts val="0"/>
              </a:spcAft>
              <a:buClr>
                <a:schemeClr val="dk1"/>
              </a:buClr>
              <a:buSzPts val="18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0" marR="0" lvl="0" indent="0" algn="l" defTabSz="914400" rtl="0" eaLnBrk="1" fontAlgn="auto" latinLnBrk="0" hangingPunct="1">
              <a:lnSpc>
                <a:spcPct val="150000"/>
              </a:lnSpc>
              <a:spcBef>
                <a:spcPts val="0"/>
              </a:spcBef>
              <a:spcAft>
                <a:spcPts val="0"/>
              </a:spcAft>
              <a:buClr>
                <a:srgbClr val="000000"/>
              </a:buClr>
              <a:buSzPct val="100000"/>
              <a:buFont typeface="Arial" panose="020B0604020202020204"/>
              <a:buNone/>
              <a:tabLst/>
              <a:defRPr/>
            </a:pPr>
            <a:r>
              <a:rPr kumimoji="0" lang="en-US" sz="2900" b="1" i="0" u="none" strike="noStrike" kern="0" cap="none" spc="0" normalizeH="0" baseline="0" noProof="0">
                <a:ln>
                  <a:noFill/>
                </a:ln>
                <a:solidFill>
                  <a:srgbClr val="0000FF"/>
                </a:solidFill>
                <a:effectLst/>
                <a:uLnTx/>
                <a:uFillTx/>
                <a:latin typeface="Arial" panose="020B0604020202020204"/>
                <a:cs typeface="Arial" panose="020B0604020202020204"/>
                <a:sym typeface="Arial" panose="020B0604020202020204"/>
              </a:rPr>
              <a:t>5.1. CÁC LOẠI QUYẾT ĐỊNH CỦA KHÁCH HÀNG CÁ NHÂN</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Shape 2152"/>
        <p:cNvGrpSpPr/>
        <p:nvPr/>
      </p:nvGrpSpPr>
      <p:grpSpPr>
        <a:xfrm>
          <a:off x="0" y="0"/>
          <a:ext cx="0" cy="0"/>
          <a:chOff x="0" y="0"/>
          <a:chExt cx="0" cy="0"/>
        </a:xfrm>
      </p:grpSpPr>
      <p:sp>
        <p:nvSpPr>
          <p:cNvPr id="2153" name="Google Shape;2153;p314"/>
          <p:cNvSpPr txBox="1">
            <a:spLocks noGrp="1"/>
          </p:cNvSpPr>
          <p:nvPr>
            <p:ph type="body" idx="1"/>
          </p:nvPr>
        </p:nvSpPr>
        <p:spPr>
          <a:xfrm>
            <a:off x="261258" y="1558587"/>
            <a:ext cx="11560628" cy="4942226"/>
          </a:xfrm>
          <a:prstGeom prst="rect">
            <a:avLst/>
          </a:prstGeom>
          <a:noFill/>
          <a:ln>
            <a:noFill/>
          </a:ln>
        </p:spPr>
        <p:txBody>
          <a:bodyPr spcFirstLastPara="1" wrap="square" lIns="91425" tIns="45700" rIns="91425" bIns="45700" anchor="t" anchorCtr="0">
            <a:normAutofit/>
          </a:bodyPr>
          <a:lstStyle/>
          <a:p>
            <a:pPr marL="457200" lvl="0" indent="-457200" algn="l" rtl="0">
              <a:lnSpc>
                <a:spcPct val="110000"/>
              </a:lnSpc>
              <a:spcBef>
                <a:spcPts val="0"/>
              </a:spcBef>
              <a:spcAft>
                <a:spcPts val="0"/>
              </a:spcAft>
              <a:buClr>
                <a:schemeClr val="dk1"/>
              </a:buClr>
              <a:buSzPts val="2800"/>
              <a:buFont typeface="Arial" panose="020B0604020202020204"/>
              <a:buChar char="•"/>
            </a:pPr>
            <a:r>
              <a:rPr lang="en-US">
                <a:latin typeface="Arial" panose="020B0604020202020204"/>
                <a:ea typeface="Arial" panose="020B0604020202020204"/>
                <a:cs typeface="Arial" panose="020B0604020202020204"/>
                <a:sym typeface="Arial" panose="020B0604020202020204"/>
              </a:rPr>
              <a:t>Mặc dù hành vi mua hàng và hành vi tiêu dùng liên quan được điều khiển bởi cảm xúc hoặc tình huống nhu cầu có các đặc điểm khác biệt với mô hình dựa trên thuộc tính truyền thống, mô hình quy trình quyết định cung cấp những hiểu biết hữu ích về tất cả các loại mua hàng của KH. </a:t>
            </a:r>
            <a:endParaRPr>
              <a:latin typeface="Arial" panose="020B0604020202020204"/>
              <a:ea typeface="Arial" panose="020B0604020202020204"/>
              <a:cs typeface="Arial" panose="020B0604020202020204"/>
              <a:sym typeface="Arial" panose="020B0604020202020204"/>
            </a:endParaRPr>
          </a:p>
          <a:p>
            <a:pPr marL="457200" lvl="0" indent="-457200" algn="l" rtl="0">
              <a:lnSpc>
                <a:spcPct val="110000"/>
              </a:lnSpc>
              <a:spcBef>
                <a:spcPts val="1000"/>
              </a:spcBef>
              <a:spcAft>
                <a:spcPts val="0"/>
              </a:spcAft>
              <a:buClr>
                <a:schemeClr val="dk1"/>
              </a:buClr>
              <a:buSzPts val="2800"/>
              <a:buFont typeface="Arial" panose="020B0604020202020204"/>
              <a:buChar char="•"/>
            </a:pPr>
            <a:r>
              <a:rPr lang="en-US">
                <a:latin typeface="Arial" panose="020B0604020202020204"/>
                <a:ea typeface="Arial" panose="020B0604020202020204"/>
                <a:cs typeface="Arial" panose="020B0604020202020204"/>
                <a:sym typeface="Arial" panose="020B0604020202020204"/>
              </a:rPr>
              <a:t>Sự tham gia mua hàng là mức độ quan tâm đến quy trình mua hàng được kích hoạt bởi nhu cầu xem xét một giao dịch mua cụ thể.</a:t>
            </a:r>
            <a:endParaRPr>
              <a:latin typeface="Arial" panose="020B0604020202020204"/>
              <a:ea typeface="Arial" panose="020B0604020202020204"/>
              <a:cs typeface="Arial" panose="020B0604020202020204"/>
              <a:sym typeface="Arial" panose="020B0604020202020204"/>
            </a:endParaRPr>
          </a:p>
          <a:p>
            <a:pPr marL="457200" lvl="0" indent="-457200" algn="l" rtl="0">
              <a:lnSpc>
                <a:spcPct val="110000"/>
              </a:lnSpc>
              <a:spcBef>
                <a:spcPts val="1000"/>
              </a:spcBef>
              <a:spcAft>
                <a:spcPts val="0"/>
              </a:spcAft>
              <a:buClr>
                <a:schemeClr val="dk1"/>
              </a:buClr>
              <a:buSzPts val="2800"/>
              <a:buFont typeface="Arial" panose="020B0604020202020204"/>
              <a:buChar char="•"/>
            </a:pPr>
            <a:r>
              <a:rPr lang="en-US">
                <a:latin typeface="Arial" panose="020B0604020202020204"/>
                <a:ea typeface="Arial" panose="020B0604020202020204"/>
                <a:cs typeface="Arial" panose="020B0604020202020204"/>
                <a:sym typeface="Arial" panose="020B0604020202020204"/>
              </a:rPr>
              <a:t>Đôi khi KH thực hiện một quá trình quyết định phức tạp đòi hỏi lượng thời gian và năng lượng đáng kể </a:t>
            </a:r>
            <a:endParaRPr>
              <a:latin typeface="Arial" panose="020B0604020202020204"/>
              <a:ea typeface="Arial" panose="020B0604020202020204"/>
              <a:cs typeface="Arial" panose="020B0604020202020204"/>
              <a:sym typeface="Arial" panose="020B0604020202020204"/>
            </a:endParaRPr>
          </a:p>
        </p:txBody>
      </p:sp>
      <p:sp>
        <p:nvSpPr>
          <p:cNvPr id="3" name="Google Shape;2143;p312"/>
          <p:cNvSpPr txBox="1"/>
          <p:nvPr/>
        </p:nvSpPr>
        <p:spPr>
          <a:xfrm>
            <a:off x="261258" y="357187"/>
            <a:ext cx="11181144" cy="1655762"/>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500"/>
              </a:spcBef>
              <a:spcAft>
                <a:spcPts val="0"/>
              </a:spcAft>
              <a:buClr>
                <a:schemeClr val="dk1"/>
              </a:buClr>
              <a:buSzPts val="18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42900" algn="l" rtl="0">
              <a:lnSpc>
                <a:spcPct val="90000"/>
              </a:lnSpc>
              <a:spcBef>
                <a:spcPts val="500"/>
              </a:spcBef>
              <a:spcAft>
                <a:spcPts val="0"/>
              </a:spcAft>
              <a:buClr>
                <a:schemeClr val="dk1"/>
              </a:buClr>
              <a:buSzPts val="18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0" indent="0">
              <a:lnSpc>
                <a:spcPct val="150000"/>
              </a:lnSpc>
              <a:spcBef>
                <a:spcPts val="0"/>
              </a:spcBef>
              <a:buClr>
                <a:srgbClr val="000000"/>
              </a:buClr>
              <a:buSzPct val="100000"/>
              <a:buNone/>
            </a:pPr>
            <a:r>
              <a:rPr lang="en-US" sz="2900" b="1">
                <a:solidFill>
                  <a:srgbClr val="0000FF"/>
                </a:solidFill>
              </a:rPr>
              <a:t>5.1. CÁC LOẠI QUYẾT ĐỊNH CỦA KHÁCH HÀNG CÁ NHÂN</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Shape 2157"/>
        <p:cNvGrpSpPr/>
        <p:nvPr/>
      </p:nvGrpSpPr>
      <p:grpSpPr>
        <a:xfrm>
          <a:off x="0" y="0"/>
          <a:ext cx="0" cy="0"/>
          <a:chOff x="0" y="0"/>
          <a:chExt cx="0" cy="0"/>
        </a:xfrm>
      </p:grpSpPr>
      <p:sp>
        <p:nvSpPr>
          <p:cNvPr id="2158" name="Google Shape;2158;p315"/>
          <p:cNvSpPr txBox="1">
            <a:spLocks noGrp="1"/>
          </p:cNvSpPr>
          <p:nvPr>
            <p:ph type="title"/>
          </p:nvPr>
        </p:nvSpPr>
        <p:spPr>
          <a:xfrm>
            <a:off x="838200" y="365126"/>
            <a:ext cx="9775785" cy="93124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5</a:t>
            </a:r>
            <a:r>
              <a:rPr lang="en-US" sz="3200" b="1">
                <a:latin typeface="Arial" panose="020B0604020202020204"/>
                <a:ea typeface="Arial" panose="020B0604020202020204"/>
                <a:cs typeface="Arial" panose="020B0604020202020204"/>
                <a:sym typeface="Arial" panose="020B0604020202020204"/>
              </a:rPr>
              <a:t>.1.1. Quyết định mua hàng danh nghĩa </a:t>
            </a:r>
            <a:endParaRPr sz="3200" b="1">
              <a:latin typeface="Arial" panose="020B0604020202020204"/>
              <a:ea typeface="Arial" panose="020B0604020202020204"/>
              <a:cs typeface="Arial" panose="020B0604020202020204"/>
              <a:sym typeface="Arial" panose="020B0604020202020204"/>
            </a:endParaRPr>
          </a:p>
        </p:txBody>
      </p:sp>
      <p:sp>
        <p:nvSpPr>
          <p:cNvPr id="2159" name="Google Shape;2159;p315"/>
          <p:cNvSpPr txBox="1">
            <a:spLocks noGrp="1"/>
          </p:cNvSpPr>
          <p:nvPr>
            <p:ph type="body" idx="1"/>
          </p:nvPr>
        </p:nvSpPr>
        <p:spPr>
          <a:xfrm>
            <a:off x="838200" y="1296366"/>
            <a:ext cx="10515600" cy="50826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b="1">
                <a:latin typeface="Arial" panose="020B0604020202020204"/>
                <a:ea typeface="Arial" panose="020B0604020202020204"/>
                <a:cs typeface="Arial" panose="020B0604020202020204"/>
                <a:sym typeface="Arial" panose="020B0604020202020204"/>
              </a:rPr>
              <a:t>Ra quyết định danh nghĩa</a:t>
            </a: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p:txBody>
      </p:sp>
      <p:sp>
        <p:nvSpPr>
          <p:cNvPr id="2160" name="Google Shape;2160;p315"/>
          <p:cNvSpPr/>
          <p:nvPr/>
        </p:nvSpPr>
        <p:spPr>
          <a:xfrm>
            <a:off x="5519340" y="1707325"/>
            <a:ext cx="1828800" cy="1342103"/>
          </a:xfrm>
          <a:prstGeom prst="diamond">
            <a:avLst/>
          </a:prstGeom>
          <a:solidFill>
            <a:srgbClr val="F7CAA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2000"/>
              <a:buFont typeface="Arial" panose="020B0604020202020204"/>
              <a:buNone/>
              <a:tabLst/>
              <a:defRPr/>
            </a:pPr>
            <a:r>
              <a:rPr kumimoji="0" lang="en-US"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Bản chất</a:t>
            </a:r>
            <a:endParaRPr kumimoji="0"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161" name="Google Shape;2161;p315"/>
          <p:cNvSpPr/>
          <p:nvPr/>
        </p:nvSpPr>
        <p:spPr>
          <a:xfrm>
            <a:off x="838200" y="1908052"/>
            <a:ext cx="4778477" cy="1017639"/>
          </a:xfrm>
          <a:prstGeom prst="parallelogram">
            <a:avLst>
              <a:gd name="adj" fmla="val 25000"/>
            </a:avLst>
          </a:prstGeom>
          <a:solidFill>
            <a:srgbClr val="DDEAF6"/>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C0C0C"/>
              </a:buClr>
              <a:buSzPts val="2000"/>
              <a:buFont typeface="Arial" panose="020B0604020202020204"/>
              <a:buNone/>
              <a:tabLst/>
              <a:defRPr/>
            </a:pPr>
            <a:r>
              <a:rPr kumimoji="0" lang="en-US" sz="2000" b="1" i="0" u="none" strike="noStrike" kern="0" cap="none" spc="0" normalizeH="0" baseline="0" noProof="0">
                <a:ln>
                  <a:noFill/>
                </a:ln>
                <a:solidFill>
                  <a:srgbClr val="0C0C0C"/>
                </a:solidFill>
                <a:effectLst/>
                <a:uLnTx/>
                <a:uFillTx/>
                <a:latin typeface="Arial" panose="020B0604020202020204"/>
                <a:ea typeface="Arial" panose="020B0604020202020204"/>
                <a:cs typeface="Arial" panose="020B0604020202020204"/>
                <a:sym typeface="Arial" panose="020B0604020202020204"/>
              </a:rPr>
              <a:t>Đôi khi được coi là quyết định theo thói quen.</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162" name="Google Shape;2162;p315"/>
          <p:cNvSpPr/>
          <p:nvPr/>
        </p:nvSpPr>
        <p:spPr>
          <a:xfrm>
            <a:off x="7155764" y="1908051"/>
            <a:ext cx="4778477" cy="1017639"/>
          </a:xfrm>
          <a:prstGeom prst="parallelogram">
            <a:avLst>
              <a:gd name="adj" fmla="val 25000"/>
            </a:avLst>
          </a:prstGeom>
          <a:solidFill>
            <a:srgbClr val="EDEDED"/>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tabLst/>
              <a:defRPr/>
            </a:pPr>
            <a:r>
              <a:rPr kumimoji="0" lang="en-US"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Xảy ra khi có sự tham gia rất thấp với việc mua hàng</a:t>
            </a:r>
            <a:endParaRPr kumimoji="0"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163" name="Google Shape;2163;p315"/>
          <p:cNvSpPr/>
          <p:nvPr/>
        </p:nvSpPr>
        <p:spPr>
          <a:xfrm>
            <a:off x="5010521" y="3049428"/>
            <a:ext cx="2846438" cy="1720864"/>
          </a:xfrm>
          <a:prstGeom prst="diamond">
            <a:avLst/>
          </a:prstGeom>
          <a:solidFill>
            <a:srgbClr val="C4E0B2"/>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2000"/>
              <a:buFont typeface="Arial" panose="020B0604020202020204"/>
              <a:buNone/>
              <a:tabLst/>
              <a:defRPr/>
            </a:pPr>
            <a:r>
              <a:rPr kumimoji="0" lang="en-US"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Chiến lược Marketing</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164" name="Google Shape;2164;p315"/>
          <p:cNvSpPr/>
          <p:nvPr/>
        </p:nvSpPr>
        <p:spPr>
          <a:xfrm>
            <a:off x="7663548" y="3296903"/>
            <a:ext cx="4416962" cy="1178844"/>
          </a:xfrm>
          <a:prstGeom prst="parallelogram">
            <a:avLst>
              <a:gd name="adj" fmla="val 25000"/>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Thu hút những người mua mới bằng cách đưa ra những tính năng, đặc điểm mới</a:t>
            </a:r>
            <a:endParaRPr kumimoji="0"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165" name="Google Shape;2165;p315"/>
          <p:cNvSpPr/>
          <p:nvPr/>
        </p:nvSpPr>
        <p:spPr>
          <a:xfrm>
            <a:off x="1" y="3296902"/>
            <a:ext cx="5168016" cy="1178845"/>
          </a:xfrm>
          <a:prstGeom prst="parallelogram">
            <a:avLst>
              <a:gd name="adj" fmla="val 25000"/>
            </a:avLst>
          </a:prstGeom>
          <a:solidFill>
            <a:srgbClr val="FFF2C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tabLst/>
              <a:defRPr/>
            </a:pPr>
            <a:r>
              <a:rPr kumimoji="0" lang="en-US"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Đem lại sự thỏa mãn tích cực  cho KH: duy trì sự ổn định về phẩm chất, dịch vụ và giá cả</a:t>
            </a:r>
            <a:endParaRPr kumimoji="0"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166" name="Google Shape;2166;p315"/>
          <p:cNvSpPr/>
          <p:nvPr/>
        </p:nvSpPr>
        <p:spPr>
          <a:xfrm>
            <a:off x="4154013" y="4770293"/>
            <a:ext cx="4650621" cy="1324329"/>
          </a:xfrm>
          <a:prstGeom prst="parallelogram">
            <a:avLst>
              <a:gd name="adj" fmla="val 25000"/>
            </a:avLst>
          </a:prstGeom>
          <a:solidFill>
            <a:srgbClr val="E1EFD8"/>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Sử dụng các cách trưng bày hấp dẫn khởi động ý nghĩ mua sắm, những dịp khuyến mãi về giá và quà tặng</a:t>
            </a:r>
            <a:endParaRPr kumimoji="0"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Shape 2170"/>
        <p:cNvGrpSpPr/>
        <p:nvPr/>
      </p:nvGrpSpPr>
      <p:grpSpPr>
        <a:xfrm>
          <a:off x="0" y="0"/>
          <a:ext cx="0" cy="0"/>
          <a:chOff x="0" y="0"/>
          <a:chExt cx="0" cy="0"/>
        </a:xfrm>
      </p:grpSpPr>
      <p:sp>
        <p:nvSpPr>
          <p:cNvPr id="2171" name="Google Shape;2171;p316"/>
          <p:cNvSpPr txBox="1">
            <a:spLocks noGrp="1"/>
          </p:cNvSpPr>
          <p:nvPr>
            <p:ph type="title"/>
          </p:nvPr>
        </p:nvSpPr>
        <p:spPr>
          <a:xfrm>
            <a:off x="838200" y="885760"/>
            <a:ext cx="10515600" cy="68484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Font typeface="Arial" panose="020B0604020202020204"/>
              <a:buNone/>
            </a:pPr>
            <a:r>
              <a:rPr lang="en-US" sz="2800" b="1">
                <a:latin typeface="Arial" panose="020B0604020202020204"/>
                <a:ea typeface="Arial" panose="020B0604020202020204"/>
                <a:cs typeface="Arial" panose="020B0604020202020204"/>
                <a:sym typeface="Arial" panose="020B0604020202020204"/>
              </a:rPr>
              <a:t>Ra quyết định danh nghĩa có 2 loại</a:t>
            </a:r>
            <a:endParaRPr sz="2800" b="1">
              <a:latin typeface="Arial" panose="020B0604020202020204"/>
              <a:ea typeface="Arial" panose="020B0604020202020204"/>
              <a:cs typeface="Arial" panose="020B0604020202020204"/>
              <a:sym typeface="Arial" panose="020B0604020202020204"/>
            </a:endParaRPr>
          </a:p>
        </p:txBody>
      </p:sp>
      <p:sp>
        <p:nvSpPr>
          <p:cNvPr id="2172" name="Google Shape;2172;p316"/>
          <p:cNvSpPr txBox="1">
            <a:spLocks noGrp="1"/>
          </p:cNvSpPr>
          <p:nvPr>
            <p:ph type="body" idx="1"/>
          </p:nvPr>
        </p:nvSpPr>
        <p:spPr>
          <a:xfrm>
            <a:off x="0" y="1475233"/>
            <a:ext cx="6193536" cy="5382767"/>
          </a:xfrm>
          <a:prstGeom prst="rect">
            <a:avLst/>
          </a:prstGeom>
          <a:solidFill>
            <a:srgbClr val="FFF2CC"/>
          </a:solidFill>
          <a:ln>
            <a:noFill/>
          </a:ln>
        </p:spPr>
        <p:txBody>
          <a:bodyPr spcFirstLastPara="1" wrap="square" lIns="91425" tIns="45700" rIns="91425" bIns="45700" anchor="t" anchorCtr="0">
            <a:noAutofit/>
          </a:bodyPr>
          <a:lstStyle/>
          <a:p>
            <a:pPr marL="361950" lvl="0" indent="0" algn="l" rtl="0">
              <a:lnSpc>
                <a:spcPct val="100000"/>
              </a:lnSpc>
              <a:spcBef>
                <a:spcPts val="0"/>
              </a:spcBef>
              <a:spcAft>
                <a:spcPts val="0"/>
              </a:spcAft>
              <a:buClr>
                <a:schemeClr val="dk1"/>
              </a:buClr>
              <a:buSzPts val="2400"/>
              <a:buNone/>
            </a:pPr>
            <a:r>
              <a:rPr lang="en-US" sz="2400" b="1">
                <a:latin typeface="Arial" panose="020B0604020202020204"/>
                <a:ea typeface="Arial" panose="020B0604020202020204"/>
                <a:cs typeface="Arial" panose="020B0604020202020204"/>
                <a:sym typeface="Arial" panose="020B0604020202020204"/>
              </a:rPr>
              <a:t>Mua hàng trung thành</a:t>
            </a:r>
            <a:endParaRPr sz="2400" b="1">
              <a:latin typeface="Arial" panose="020B0604020202020204"/>
              <a:ea typeface="Arial" panose="020B0604020202020204"/>
              <a:cs typeface="Arial" panose="020B0604020202020204"/>
              <a:sym typeface="Arial" panose="020B0604020202020204"/>
            </a:endParaRPr>
          </a:p>
          <a:p>
            <a:pPr marL="361950" lvl="0" indent="-217170" algn="l" rtl="0">
              <a:lnSpc>
                <a:spcPct val="170000"/>
              </a:lnSpc>
              <a:spcBef>
                <a:spcPts val="100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KH không trải qua trình tự niềm tin - thái độ - hành vi. </a:t>
            </a:r>
          </a:p>
          <a:p>
            <a:pPr marL="361950" lvl="0" indent="-217170" algn="l" rtl="0">
              <a:lnSpc>
                <a:spcPct val="170000"/>
              </a:lnSpc>
              <a:spcBef>
                <a:spcPts val="100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KH không bỏ công tìm kiếm thông tin về các nhãn hiệu, đánh giá các đặc điểm, rồi đi đến quyết định mua</a:t>
            </a:r>
            <a:endParaRPr sz="1800">
              <a:latin typeface="Arial" panose="020B0604020202020204"/>
              <a:ea typeface="Arial" panose="020B0604020202020204"/>
              <a:cs typeface="Arial" panose="020B0604020202020204"/>
              <a:sym typeface="Arial" panose="020B0604020202020204"/>
            </a:endParaRPr>
          </a:p>
          <a:p>
            <a:pPr marL="361950" lvl="0" indent="-217170" algn="l" rtl="0">
              <a:lnSpc>
                <a:spcPct val="170000"/>
              </a:lnSpc>
              <a:spcBef>
                <a:spcPts val="100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Sự cạnh tranh quảng cáo chỉ tạo ra sự quen thuộc với nhãn hiệu chứ không tạo ra sự tin tưởng</a:t>
            </a:r>
            <a:endParaRPr sz="1800">
              <a:latin typeface="Arial" panose="020B0604020202020204"/>
              <a:ea typeface="Arial" panose="020B0604020202020204"/>
              <a:cs typeface="Arial" panose="020B0604020202020204"/>
              <a:sym typeface="Arial" panose="020B0604020202020204"/>
            </a:endParaRPr>
          </a:p>
          <a:p>
            <a:pPr marL="361950" lvl="0" indent="-217170" algn="l" rtl="0">
              <a:lnSpc>
                <a:spcPct val="170000"/>
              </a:lnSpc>
              <a:spcBef>
                <a:spcPts val="100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Quá trình mua sắm xuất phát từ niềm tin vào nhãn hiệu được hình thành theo kiến thức được lĩnh hội thụ động, tiếp đến là hành vi mua hàng, rồi sau là việc đánh giá sản phẩm đã được mua. </a:t>
            </a:r>
            <a:endParaRPr sz="18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1800"/>
              <a:buNone/>
            </a:pPr>
            <a:endParaRPr sz="1800">
              <a:latin typeface="Arial" panose="020B0604020202020204"/>
              <a:ea typeface="Arial" panose="020B0604020202020204"/>
              <a:cs typeface="Arial" panose="020B0604020202020204"/>
              <a:sym typeface="Arial" panose="020B0604020202020204"/>
            </a:endParaRPr>
          </a:p>
        </p:txBody>
      </p:sp>
      <p:sp>
        <p:nvSpPr>
          <p:cNvPr id="2173" name="Google Shape;2173;p316"/>
          <p:cNvSpPr txBox="1">
            <a:spLocks noGrp="1"/>
          </p:cNvSpPr>
          <p:nvPr>
            <p:ph type="body" idx="2"/>
          </p:nvPr>
        </p:nvSpPr>
        <p:spPr>
          <a:xfrm>
            <a:off x="6193536" y="1475234"/>
            <a:ext cx="5998464" cy="5382766"/>
          </a:xfrm>
          <a:prstGeom prst="rect">
            <a:avLst/>
          </a:prstGeom>
          <a:solidFill>
            <a:srgbClr val="C4E0B2"/>
          </a:solid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b="1">
                <a:latin typeface="Arial" panose="020B0604020202020204"/>
                <a:ea typeface="Arial" panose="020B0604020202020204"/>
                <a:cs typeface="Arial" panose="020B0604020202020204"/>
                <a:sym typeface="Arial" panose="020B0604020202020204"/>
              </a:rPr>
              <a:t>Mua hàng lặp lại</a:t>
            </a:r>
            <a:endParaRPr sz="2400" b="1">
              <a:latin typeface="Arial" panose="020B0604020202020204"/>
              <a:ea typeface="Arial" panose="020B0604020202020204"/>
              <a:cs typeface="Arial" panose="020B0604020202020204"/>
              <a:sym typeface="Arial" panose="020B0604020202020204"/>
            </a:endParaRPr>
          </a:p>
          <a:p>
            <a:pPr marL="228600" lvl="0" indent="-228600" algn="l" rtl="0">
              <a:lnSpc>
                <a:spcPct val="150000"/>
              </a:lnSpc>
              <a:spcBef>
                <a:spcPts val="100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KH không coi trọng danh mục sản phẩm hoặc mua hàng. </a:t>
            </a:r>
          </a:p>
          <a:p>
            <a:pPr marL="228600" lvl="0" indent="-228600" algn="l" rtl="0">
              <a:lnSpc>
                <a:spcPct val="150000"/>
              </a:lnSpc>
              <a:spcBef>
                <a:spcPts val="100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Đã dùng thử sản phẩm và sản phẩm đem lại sự hài lòng và họ tiếp tục mua sản  bất cứ khi nào cần sản phẩm đó.</a:t>
            </a:r>
          </a:p>
          <a:p>
            <a:pPr marL="228600" lvl="0" indent="-228600" algn="l" rtl="0">
              <a:lnSpc>
                <a:spcPct val="150000"/>
              </a:lnSpc>
              <a:spcBef>
                <a:spcPts val="100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KH là người mua lặp lại của sản phẩm nhưng họ không cam kết với sản phẩm đó</a:t>
            </a:r>
            <a:endParaRPr sz="1800">
              <a:latin typeface="Arial" panose="020B0604020202020204"/>
              <a:ea typeface="Arial" panose="020B0604020202020204"/>
              <a:cs typeface="Arial" panose="020B0604020202020204"/>
              <a:sym typeface="Arial" panose="020B0604020202020204"/>
            </a:endParaRPr>
          </a:p>
          <a:p>
            <a:pPr marL="228600" lvl="0" indent="-228600" algn="l" rtl="0">
              <a:lnSpc>
                <a:spcPct val="150000"/>
              </a:lnSpc>
              <a:spcBef>
                <a:spcPts val="100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KH chỉ tham gia vào một quy trình quyết định hạn chế trước khi quyết định mua thương hiệu nếu họ gặp những chiến lược chiêu thị của thương hiệu.</a:t>
            </a:r>
          </a:p>
          <a:p>
            <a:pPr marL="228600" lvl="0" indent="-114300" algn="l" rtl="0">
              <a:lnSpc>
                <a:spcPct val="150000"/>
              </a:lnSpc>
              <a:spcBef>
                <a:spcPts val="1000"/>
              </a:spcBef>
              <a:spcAft>
                <a:spcPts val="0"/>
              </a:spcAft>
              <a:buClr>
                <a:schemeClr val="dk1"/>
              </a:buClr>
              <a:buSzPts val="1800"/>
              <a:buNone/>
            </a:pPr>
            <a:endParaRPr sz="18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2400"/>
              <a:buNone/>
            </a:pPr>
            <a:endParaRPr sz="2400" b="1">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Shape 2177"/>
        <p:cNvGrpSpPr/>
        <p:nvPr/>
      </p:nvGrpSpPr>
      <p:grpSpPr>
        <a:xfrm>
          <a:off x="0" y="0"/>
          <a:ext cx="0" cy="0"/>
          <a:chOff x="0" y="0"/>
          <a:chExt cx="0" cy="0"/>
        </a:xfrm>
      </p:grpSpPr>
      <p:sp>
        <p:nvSpPr>
          <p:cNvPr id="2178" name="Google Shape;2178;p317"/>
          <p:cNvSpPr txBox="1">
            <a:spLocks noGrp="1"/>
          </p:cNvSpPr>
          <p:nvPr>
            <p:ph type="title"/>
          </p:nvPr>
        </p:nvSpPr>
        <p:spPr>
          <a:xfrm>
            <a:off x="838200" y="365126"/>
            <a:ext cx="9775785" cy="93124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Arial" panose="020B0604020202020204"/>
              <a:buNone/>
            </a:pPr>
            <a:r>
              <a:rPr lang="en-US" sz="3600" b="1"/>
              <a:t>5</a:t>
            </a:r>
            <a:r>
              <a:rPr lang="en-US" sz="3600" b="1">
                <a:latin typeface="Arial" panose="020B0604020202020204"/>
                <a:ea typeface="Arial" panose="020B0604020202020204"/>
                <a:cs typeface="Arial" panose="020B0604020202020204"/>
                <a:sym typeface="Arial" panose="020B0604020202020204"/>
              </a:rPr>
              <a:t>.1.2. Quyết định hạn chế</a:t>
            </a:r>
            <a:br>
              <a:rPr lang="en-US" sz="3600" b="1">
                <a:latin typeface="Arial" panose="020B0604020202020204"/>
                <a:ea typeface="Arial" panose="020B0604020202020204"/>
                <a:cs typeface="Arial" panose="020B0604020202020204"/>
                <a:sym typeface="Arial" panose="020B0604020202020204"/>
              </a:rPr>
            </a:br>
            <a:endParaRPr sz="3600" b="1">
              <a:latin typeface="Arial" panose="020B0604020202020204"/>
              <a:ea typeface="Arial" panose="020B0604020202020204"/>
              <a:cs typeface="Arial" panose="020B0604020202020204"/>
              <a:sym typeface="Arial" panose="020B0604020202020204"/>
            </a:endParaRPr>
          </a:p>
        </p:txBody>
      </p:sp>
      <p:sp>
        <p:nvSpPr>
          <p:cNvPr id="2179" name="Google Shape;2179;p317"/>
          <p:cNvSpPr txBox="1">
            <a:spLocks noGrp="1"/>
          </p:cNvSpPr>
          <p:nvPr>
            <p:ph type="body" idx="1"/>
          </p:nvPr>
        </p:nvSpPr>
        <p:spPr>
          <a:xfrm>
            <a:off x="838200" y="1296366"/>
            <a:ext cx="10515600" cy="488059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p:txBody>
      </p:sp>
      <p:sp>
        <p:nvSpPr>
          <p:cNvPr id="2180" name="Google Shape;2180;p317"/>
          <p:cNvSpPr/>
          <p:nvPr/>
        </p:nvSpPr>
        <p:spPr>
          <a:xfrm>
            <a:off x="5495968" y="1671083"/>
            <a:ext cx="1828800" cy="1720864"/>
          </a:xfrm>
          <a:prstGeom prst="diamond">
            <a:avLst/>
          </a:prstGeom>
          <a:solidFill>
            <a:srgbClr val="F7CAA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2000"/>
              <a:buFont typeface="Arial" panose="020B0604020202020204"/>
              <a:buNone/>
              <a:tabLst/>
              <a:defRPr/>
            </a:pPr>
            <a:r>
              <a:rPr kumimoji="0" lang="en-US"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Bản chất</a:t>
            </a:r>
            <a:endParaRPr kumimoji="0"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181" name="Google Shape;2181;p317"/>
          <p:cNvSpPr/>
          <p:nvPr/>
        </p:nvSpPr>
        <p:spPr>
          <a:xfrm>
            <a:off x="198636" y="1166705"/>
            <a:ext cx="5606592" cy="2202625"/>
          </a:xfrm>
          <a:prstGeom prst="parallelogram">
            <a:avLst>
              <a:gd name="adj" fmla="val 25000"/>
            </a:avLst>
          </a:prstGeom>
          <a:solidFill>
            <a:schemeClr val="lt2"/>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144780" marR="0" lvl="0" indent="-133350" algn="l" defTabSz="914400" rtl="0" eaLnBrk="1" fontAlgn="auto" latinLnBrk="0" hangingPunct="1">
              <a:lnSpc>
                <a:spcPct val="100000"/>
              </a:lnSpc>
              <a:spcBef>
                <a:spcPts val="0"/>
              </a:spcBef>
              <a:spcAft>
                <a:spcPts val="0"/>
              </a:spcAft>
              <a:buClr>
                <a:srgbClr val="000000"/>
              </a:buClr>
              <a:buSzPts val="1800"/>
              <a:buFont typeface="Arial" panose="020B0604020202020204"/>
              <a:buChar char="•"/>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Liên quan đến tìm kiếm bên ngoài và giới hạn bên ngoài, với một vài lựa chọn thay thế</a:t>
            </a:r>
            <a:endParaRPr kumimoji="0"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1430" marR="0" lvl="0" indent="0" algn="l" defTabSz="914400" rtl="0" eaLnBrk="1" fontAlgn="auto" latinLnBrk="0" hangingPunct="1">
              <a:lnSpc>
                <a:spcPct val="100000"/>
              </a:lnSpc>
              <a:spcBef>
                <a:spcPts val="0"/>
              </a:spcBef>
              <a:spcAft>
                <a:spcPts val="0"/>
              </a:spcAft>
              <a:buClr>
                <a:srgbClr val="FFFFFF"/>
              </a:buClr>
              <a:buSzPts val="1800"/>
              <a:buFont typeface="Calibri" panose="020F0502020204030204"/>
              <a:buNone/>
              <a:tabLst/>
              <a:defRPr/>
            </a:pPr>
            <a:endParaRPr kumimoji="0"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44780" marR="0" lvl="0" indent="-133350" algn="l" defTabSz="914400" rtl="0" eaLnBrk="1" fontAlgn="auto" latinLnBrk="0" hangingPunct="1">
              <a:lnSpc>
                <a:spcPct val="100000"/>
              </a:lnSpc>
              <a:spcBef>
                <a:spcPts val="0"/>
              </a:spcBef>
              <a:spcAft>
                <a:spcPts val="0"/>
              </a:spcAft>
              <a:buClr>
                <a:srgbClr val="000000"/>
              </a:buClr>
              <a:buSzPts val="1800"/>
              <a:buFont typeface="Arial" panose="020B0604020202020204"/>
              <a:buChar char="•"/>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Quy tắc quyết định đơn giản dựa trên một vài thuộc tính và ít đánh giá sau khi mua </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endParaRPr kumimoji="0"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182" name="Google Shape;2182;p317"/>
          <p:cNvSpPr/>
          <p:nvPr/>
        </p:nvSpPr>
        <p:spPr>
          <a:xfrm>
            <a:off x="7136545" y="1198837"/>
            <a:ext cx="5055455" cy="2193110"/>
          </a:xfrm>
          <a:prstGeom prst="parallelogram">
            <a:avLst>
              <a:gd name="adj" fmla="val 25000"/>
            </a:avLst>
          </a:prstGeom>
          <a:solidFill>
            <a:srgbClr val="FFF2C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278130" marR="0" lvl="0" indent="-266700" algn="l" defTabSz="914400" rtl="0" eaLnBrk="1" fontAlgn="auto" latinLnBrk="0" hangingPunct="1">
              <a:lnSpc>
                <a:spcPct val="100000"/>
              </a:lnSpc>
              <a:spcBef>
                <a:spcPts val="0"/>
              </a:spcBef>
              <a:spcAft>
                <a:spcPts val="0"/>
              </a:spcAft>
              <a:buClr>
                <a:srgbClr val="000000"/>
              </a:buClr>
              <a:buSzPts val="1800"/>
              <a:buFont typeface="Arial" panose="020B0604020202020204"/>
              <a:buChar char="•"/>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Sản phẩm có giá trị hơn nên KH bỏ thêm thời gian cho việc quyết định mua để giảm thiểu rủi ro.</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278130" marR="0" lvl="0" indent="-152400" algn="l" defTabSz="914400" rtl="0" eaLnBrk="1" fontAlgn="auto" latinLnBrk="0" hangingPunct="1">
              <a:lnSpc>
                <a:spcPct val="100000"/>
              </a:lnSpc>
              <a:spcBef>
                <a:spcPts val="0"/>
              </a:spcBef>
              <a:spcAft>
                <a:spcPts val="0"/>
              </a:spcAft>
              <a:buClr>
                <a:srgbClr val="FFFFFF"/>
              </a:buClr>
              <a:buSzPts val="1800"/>
              <a:buFont typeface="Arial" panose="020B0604020202020204"/>
              <a:buNone/>
              <a:tabLst/>
              <a:defRPr/>
            </a:pPr>
            <a:endParaRPr kumimoji="0"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278130" marR="0" lvl="0" indent="-266700" algn="l" defTabSz="914400" rtl="0" eaLnBrk="1" fontAlgn="auto" latinLnBrk="0" hangingPunct="1">
              <a:lnSpc>
                <a:spcPct val="100000"/>
              </a:lnSpc>
              <a:spcBef>
                <a:spcPts val="0"/>
              </a:spcBef>
              <a:spcAft>
                <a:spcPts val="0"/>
              </a:spcAft>
              <a:buClr>
                <a:srgbClr val="000000"/>
              </a:buClr>
              <a:buSzPts val="1800"/>
              <a:buFont typeface="Arial" panose="020B0604020202020204"/>
              <a:buChar char="•"/>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Sự chuyển dịch nhãn hiệu trong tiêu dùng là rất lớn do không thoả mãn</a:t>
            </a:r>
            <a:endParaRPr kumimoji="0"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183" name="Google Shape;2183;p317"/>
          <p:cNvSpPr/>
          <p:nvPr/>
        </p:nvSpPr>
        <p:spPr>
          <a:xfrm>
            <a:off x="4992563" y="3427351"/>
            <a:ext cx="2846438" cy="1720864"/>
          </a:xfrm>
          <a:prstGeom prst="diamond">
            <a:avLst/>
          </a:prstGeom>
          <a:solidFill>
            <a:srgbClr val="C4E0B2"/>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2000"/>
              <a:buFont typeface="Arial" panose="020B0604020202020204"/>
              <a:buNone/>
              <a:tabLst/>
              <a:defRPr/>
            </a:pPr>
            <a:r>
              <a:rPr kumimoji="0" lang="en-US"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Chiến lược Marketing</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184" name="Google Shape;2184;p317"/>
          <p:cNvSpPr/>
          <p:nvPr/>
        </p:nvSpPr>
        <p:spPr>
          <a:xfrm>
            <a:off x="7722671" y="3734465"/>
            <a:ext cx="4270693" cy="1178844"/>
          </a:xfrm>
          <a:prstGeom prst="parallelogram">
            <a:avLst>
              <a:gd name="adj" fmla="val 25000"/>
            </a:avLst>
          </a:prstGeom>
          <a:solidFill>
            <a:srgbClr val="E1EFD8"/>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Cần cung cấp thông tin rõ ràng để giúp KH không mất thời gian cho việc so sánh, đánh giá</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185" name="Google Shape;2185;p317"/>
          <p:cNvSpPr/>
          <p:nvPr/>
        </p:nvSpPr>
        <p:spPr>
          <a:xfrm>
            <a:off x="0" y="3722444"/>
            <a:ext cx="5168016" cy="1178845"/>
          </a:xfrm>
          <a:prstGeom prst="parallelogram">
            <a:avLst>
              <a:gd name="adj" fmla="val 25000"/>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Quan tâm đến ổn định chất lượng sản phẩm để đem lại sự thỏa mãn</a:t>
            </a:r>
            <a:endParaRPr kumimoji="0"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186" name="Google Shape;2186;p317"/>
          <p:cNvSpPr/>
          <p:nvPr/>
        </p:nvSpPr>
        <p:spPr>
          <a:xfrm>
            <a:off x="4141822" y="5137064"/>
            <a:ext cx="4270693" cy="1324329"/>
          </a:xfrm>
          <a:prstGeom prst="parallelogram">
            <a:avLst>
              <a:gd name="adj" fmla="val 25000"/>
            </a:avLst>
          </a:prstGeom>
          <a:solidFill>
            <a:srgbClr val="F2F2F2"/>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Chú trọng xây dựng các chiến lược chiêu thị gây được sự chú ý để khiến KH thấy lợi ích khi mua SP</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Shape 2190"/>
        <p:cNvGrpSpPr/>
        <p:nvPr/>
      </p:nvGrpSpPr>
      <p:grpSpPr>
        <a:xfrm>
          <a:off x="0" y="0"/>
          <a:ext cx="0" cy="0"/>
          <a:chOff x="0" y="0"/>
          <a:chExt cx="0" cy="0"/>
        </a:xfrm>
      </p:grpSpPr>
      <p:sp>
        <p:nvSpPr>
          <p:cNvPr id="2191" name="Google Shape;2191;p318"/>
          <p:cNvSpPr txBox="1">
            <a:spLocks noGrp="1"/>
          </p:cNvSpPr>
          <p:nvPr>
            <p:ph type="title"/>
          </p:nvPr>
        </p:nvSpPr>
        <p:spPr>
          <a:xfrm>
            <a:off x="838200" y="325780"/>
            <a:ext cx="9775785" cy="63669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5</a:t>
            </a:r>
            <a:r>
              <a:rPr lang="en-US" sz="3200" b="1">
                <a:latin typeface="Arial" panose="020B0604020202020204"/>
                <a:ea typeface="Arial" panose="020B0604020202020204"/>
                <a:cs typeface="Arial" panose="020B0604020202020204"/>
                <a:sym typeface="Arial" panose="020B0604020202020204"/>
              </a:rPr>
              <a:t>.1.3. Quyết định mở rộng </a:t>
            </a:r>
            <a:endParaRPr sz="3200" b="1">
              <a:latin typeface="Arial" panose="020B0604020202020204"/>
              <a:ea typeface="Arial" panose="020B0604020202020204"/>
              <a:cs typeface="Arial" panose="020B0604020202020204"/>
              <a:sym typeface="Arial" panose="020B0604020202020204"/>
            </a:endParaRPr>
          </a:p>
        </p:txBody>
      </p:sp>
      <p:sp>
        <p:nvSpPr>
          <p:cNvPr id="2192" name="Google Shape;2192;p318"/>
          <p:cNvSpPr txBox="1">
            <a:spLocks noGrp="1"/>
          </p:cNvSpPr>
          <p:nvPr>
            <p:ph type="body" idx="1"/>
          </p:nvPr>
        </p:nvSpPr>
        <p:spPr>
          <a:xfrm>
            <a:off x="838200" y="1296366"/>
            <a:ext cx="10515600" cy="488059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3000"/>
              <a:buNone/>
            </a:pPr>
            <a:endParaRPr sz="3000">
              <a:latin typeface="Arial" panose="020B0604020202020204"/>
              <a:ea typeface="Arial" panose="020B0604020202020204"/>
              <a:cs typeface="Arial" panose="020B0604020202020204"/>
              <a:sym typeface="Arial" panose="020B0604020202020204"/>
            </a:endParaRPr>
          </a:p>
        </p:txBody>
      </p:sp>
      <p:sp>
        <p:nvSpPr>
          <p:cNvPr id="2194" name="Google Shape;2194;p318"/>
          <p:cNvSpPr/>
          <p:nvPr/>
        </p:nvSpPr>
        <p:spPr>
          <a:xfrm>
            <a:off x="0" y="1505880"/>
            <a:ext cx="5751671" cy="2651545"/>
          </a:xfrm>
          <a:prstGeom prst="parallelogram">
            <a:avLst>
              <a:gd name="adj" fmla="val 25000"/>
            </a:avLst>
          </a:prstGeom>
          <a:solidFill>
            <a:srgbClr val="F2F2F2"/>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9525" marR="0" lvl="0" indent="-9525" algn="l" defTabSz="914400" rtl="0" eaLnBrk="1" fontAlgn="auto" latinLnBrk="0" hangingPunct="1">
              <a:lnSpc>
                <a:spcPct val="100000"/>
              </a:lnSpc>
              <a:spcBef>
                <a:spcPts val="0"/>
              </a:spcBef>
              <a:spcAft>
                <a:spcPts val="0"/>
              </a:spcAft>
              <a:buClr>
                <a:srgbClr val="000000"/>
              </a:buClr>
              <a:buSzPts val="1800"/>
              <a:buFont typeface="Arial" panose="020B0604020202020204"/>
              <a:buChar char="•"/>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Liên quan đến việc tìm kiếm thông tin bên trong và bên ngoài </a:t>
            </a:r>
            <a:r>
              <a:rPr kumimoji="0" lang="en-US" sz="18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mở rộng, theo sau là một đánh giá phức tạp về nhiều lựa chọn thay thế và đánh giá sau mua.</a:t>
            </a:r>
            <a:endParaRPr kumimoji="0" sz="18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a:p>
            <a:pPr marL="9525" marR="0" lvl="0" indent="-9525" algn="l" defTabSz="914400" rtl="0" eaLnBrk="1" fontAlgn="auto" latinLnBrk="0" hangingPunct="1">
              <a:lnSpc>
                <a:spcPct val="100000"/>
              </a:lnSpc>
              <a:spcBef>
                <a:spcPts val="0"/>
              </a:spcBef>
              <a:spcAft>
                <a:spcPts val="0"/>
              </a:spcAft>
              <a:buClr>
                <a:srgbClr val="000000"/>
              </a:buClr>
              <a:buSzPts val="2000"/>
              <a:buFont typeface="Arial" panose="020B0604020202020204"/>
              <a:buChar char="•"/>
              <a:tabLst/>
              <a:defRPr/>
            </a:pPr>
            <a:r>
              <a:rPr kumimoji="0" lang="en-US" sz="18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 SP trường hợp này thường có giá trị cao và phức tạp </a:t>
            </a:r>
            <a:endParaRPr kumimoji="0" sz="18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195" name="Google Shape;2195;p318"/>
          <p:cNvSpPr/>
          <p:nvPr/>
        </p:nvSpPr>
        <p:spPr>
          <a:xfrm>
            <a:off x="6662057" y="1525938"/>
            <a:ext cx="5529943" cy="2985437"/>
          </a:xfrm>
          <a:prstGeom prst="parallelogram">
            <a:avLst>
              <a:gd name="adj" fmla="val 25000"/>
            </a:avLst>
          </a:prstGeom>
          <a:solidFill>
            <a:srgbClr val="DDEAF6"/>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95250" marR="0" lvl="0" indent="-95250" algn="l" defTabSz="914400" rtl="0" eaLnBrk="1" fontAlgn="auto" latinLnBrk="0" hangingPunct="1">
              <a:lnSpc>
                <a:spcPct val="100000"/>
              </a:lnSpc>
              <a:spcBef>
                <a:spcPts val="0"/>
              </a:spcBef>
              <a:spcAft>
                <a:spcPts val="0"/>
              </a:spcAft>
              <a:buClr>
                <a:srgbClr val="000000"/>
              </a:buClr>
              <a:buSzPts val="1800"/>
              <a:buFont typeface="Arial" panose="020B0604020202020204"/>
              <a:buChar char="•"/>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KH có hành vi mua phức tạp khi họ tham gia nhiều vào việc mua sắm và ý thức rõ những khác biệt lớn giữa các nhãn hiệu </a:t>
            </a:r>
            <a:endParaRPr kumimoji="0"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95250" marR="0" lvl="0" indent="-95250" algn="l" defTabSz="914400" rtl="0" eaLnBrk="1" fontAlgn="auto" latinLnBrk="0" hangingPunct="1">
              <a:lnSpc>
                <a:spcPct val="100000"/>
              </a:lnSpc>
              <a:spcBef>
                <a:spcPts val="0"/>
              </a:spcBef>
              <a:spcAft>
                <a:spcPts val="0"/>
              </a:spcAft>
              <a:buClr>
                <a:srgbClr val="000000"/>
              </a:buClr>
              <a:buSzPts val="1800"/>
              <a:buFont typeface="Arial" panose="020B0604020202020204"/>
              <a:buChar char="•"/>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Trường hợp quyết định mua tình cờ, phần lớn dựa vào cảm xúc khi nhìn thấy đẹp, thấy thích hoặc những mong muốn có từ trước nên không có sự cân nhắc </a:t>
            </a:r>
            <a:endParaRPr kumimoji="0"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196" name="Google Shape;2196;p318"/>
          <p:cNvSpPr/>
          <p:nvPr/>
        </p:nvSpPr>
        <p:spPr>
          <a:xfrm>
            <a:off x="4622142" y="4511375"/>
            <a:ext cx="2777110" cy="1905392"/>
          </a:xfrm>
          <a:prstGeom prst="diamond">
            <a:avLst/>
          </a:prstGeom>
          <a:solidFill>
            <a:srgbClr val="C4E0B2"/>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2000"/>
              <a:buFont typeface="Arial" panose="020B0604020202020204"/>
              <a:buNone/>
              <a:tabLst/>
              <a:defRPr/>
            </a:pPr>
            <a:r>
              <a:rPr kumimoji="0" lang="en-US"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Chiến lược Marketing</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197" name="Google Shape;2197;p318"/>
          <p:cNvSpPr/>
          <p:nvPr/>
        </p:nvSpPr>
        <p:spPr>
          <a:xfrm>
            <a:off x="7028317" y="4874649"/>
            <a:ext cx="4270693" cy="1178844"/>
          </a:xfrm>
          <a:prstGeom prst="parallelogram">
            <a:avLst>
              <a:gd name="adj" fmla="val 25000"/>
            </a:avLst>
          </a:prstGeom>
          <a:solidFill>
            <a:srgbClr val="E1EFD8"/>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Chú trọng đến bao bì, mẫu mã, trưng bày để thuyết phục KH mua ngẫu hứng</a:t>
            </a:r>
            <a:endParaRPr kumimoji="0"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198" name="Google Shape;2198;p318"/>
          <p:cNvSpPr/>
          <p:nvPr/>
        </p:nvSpPr>
        <p:spPr>
          <a:xfrm>
            <a:off x="72186" y="4626900"/>
            <a:ext cx="4920890" cy="1446487"/>
          </a:xfrm>
          <a:prstGeom prst="parallelogram">
            <a:avLst>
              <a:gd name="adj" fmla="val 25000"/>
            </a:avLst>
          </a:prstGeom>
          <a:solidFill>
            <a:srgbClr val="FBE4D4"/>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tabLst/>
              <a:defRPr/>
            </a:pPr>
            <a:r>
              <a:rPr kumimoji="0" lang="en-US" sz="18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Chú trọng thông tin về sản phẩm rõ ràng và quan tâm tư vấn KH đối với các mặt hàng phức tạp</a:t>
            </a:r>
            <a:endParaRPr kumimoji="0" sz="18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Google Shape;2193;p318"/>
          <p:cNvSpPr/>
          <p:nvPr/>
        </p:nvSpPr>
        <p:spPr>
          <a:xfrm>
            <a:off x="4915543" y="2489201"/>
            <a:ext cx="2190307" cy="1571502"/>
          </a:xfrm>
          <a:prstGeom prst="diamond">
            <a:avLst/>
          </a:prstGeom>
          <a:solidFill>
            <a:srgbClr val="F7CAA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2000"/>
              <a:buFont typeface="Arial" panose="020B0604020202020204"/>
              <a:buNone/>
              <a:tabLst/>
              <a:defRPr/>
            </a:pPr>
            <a:r>
              <a:rPr kumimoji="0" lang="en-US"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Bản chất</a:t>
            </a:r>
            <a:endParaRPr kumimoji="0"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Shape 2202"/>
        <p:cNvGrpSpPr/>
        <p:nvPr/>
      </p:nvGrpSpPr>
      <p:grpSpPr>
        <a:xfrm>
          <a:off x="0" y="0"/>
          <a:ext cx="0" cy="0"/>
          <a:chOff x="0" y="0"/>
          <a:chExt cx="0" cy="0"/>
        </a:xfrm>
      </p:grpSpPr>
      <p:grpSp>
        <p:nvGrpSpPr>
          <p:cNvPr id="2203" name="Google Shape;2203;p319"/>
          <p:cNvGrpSpPr/>
          <p:nvPr/>
        </p:nvGrpSpPr>
        <p:grpSpPr>
          <a:xfrm>
            <a:off x="1036408" y="60123"/>
            <a:ext cx="9662607" cy="6738110"/>
            <a:chOff x="-151" y="2764"/>
            <a:chExt cx="8940" cy="9090"/>
          </a:xfrm>
        </p:grpSpPr>
        <p:grpSp>
          <p:nvGrpSpPr>
            <p:cNvPr id="2204" name="Google Shape;2204;p319"/>
            <p:cNvGrpSpPr/>
            <p:nvPr/>
          </p:nvGrpSpPr>
          <p:grpSpPr>
            <a:xfrm>
              <a:off x="715" y="3676"/>
              <a:ext cx="8074" cy="8178"/>
              <a:chOff x="736" y="4306"/>
              <a:chExt cx="8074" cy="8178"/>
            </a:xfrm>
          </p:grpSpPr>
          <p:sp>
            <p:nvSpPr>
              <p:cNvPr id="2205" name="Google Shape;2205;p319"/>
              <p:cNvSpPr txBox="1"/>
              <p:nvPr/>
            </p:nvSpPr>
            <p:spPr>
              <a:xfrm>
                <a:off x="736" y="4306"/>
                <a:ext cx="2598" cy="7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Ra quyết định danh nghĩa</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206" name="Google Shape;2206;p319"/>
              <p:cNvSpPr txBox="1"/>
              <p:nvPr/>
            </p:nvSpPr>
            <p:spPr>
              <a:xfrm>
                <a:off x="3468" y="4306"/>
                <a:ext cx="2308" cy="7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Ra quyết định hạn chế</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207" name="Google Shape;2207;p319"/>
              <p:cNvSpPr txBox="1"/>
              <p:nvPr/>
            </p:nvSpPr>
            <p:spPr>
              <a:xfrm>
                <a:off x="6045" y="4306"/>
                <a:ext cx="2308" cy="7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Ra quyết định mở rộng</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208" name="Google Shape;2208;p319"/>
              <p:cNvSpPr txBox="1"/>
              <p:nvPr/>
            </p:nvSpPr>
            <p:spPr>
              <a:xfrm>
                <a:off x="890" y="5748"/>
                <a:ext cx="2308" cy="109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Tìm kiếm thông tin</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Giới hạn bên trong</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209" name="Google Shape;2209;p319"/>
              <p:cNvSpPr txBox="1"/>
              <p:nvPr/>
            </p:nvSpPr>
            <p:spPr>
              <a:xfrm>
                <a:off x="3468" y="5748"/>
                <a:ext cx="2308" cy="109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Tìm kiếm thông tin</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Bên trong</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Bên ngoài hạn chế</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 </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210" name="Google Shape;2210;p319"/>
              <p:cNvSpPr txBox="1"/>
              <p:nvPr/>
            </p:nvSpPr>
            <p:spPr>
              <a:xfrm>
                <a:off x="6045" y="5748"/>
                <a:ext cx="2704" cy="109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Tìm kiếm thông tin</a:t>
                </a: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 </a:t>
                </a:r>
                <a:endParaRPr kumimoji="0" lang="vi-VN"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Bên trong</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Bên ngoài</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 </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211" name="Google Shape;2211;p319"/>
              <p:cNvSpPr txBox="1"/>
              <p:nvPr/>
            </p:nvSpPr>
            <p:spPr>
              <a:xfrm>
                <a:off x="890" y="11248"/>
                <a:ext cx="2308" cy="121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Sau mua</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Không có bất hòa</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Đánh giá rất hạn chế</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212" name="Google Shape;2212;p319"/>
              <p:cNvSpPr txBox="1"/>
              <p:nvPr/>
            </p:nvSpPr>
            <p:spPr>
              <a:xfrm>
                <a:off x="3468" y="11248"/>
                <a:ext cx="2308" cy="1236"/>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Sau mua</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Không có bất hòa</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Đánh giá hạn chế</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 </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213" name="Google Shape;2213;p319"/>
              <p:cNvSpPr txBox="1"/>
              <p:nvPr/>
            </p:nvSpPr>
            <p:spPr>
              <a:xfrm>
                <a:off x="6045" y="11248"/>
                <a:ext cx="2765" cy="1236"/>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Sau mua</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Có bất hòa</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Đánh giá đầy đủ</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 </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214" name="Google Shape;2214;p319"/>
              <p:cNvSpPr txBox="1"/>
              <p:nvPr/>
            </p:nvSpPr>
            <p:spPr>
              <a:xfrm>
                <a:off x="3178" y="7504"/>
                <a:ext cx="2598" cy="1626"/>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Đánh giá lựa chọn</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Vài thuộc tính</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Quy tắc quyết định đơn giản</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Một vài lựa chọn </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215" name="Google Shape;2215;p319"/>
              <p:cNvSpPr txBox="1"/>
              <p:nvPr/>
            </p:nvSpPr>
            <p:spPr>
              <a:xfrm>
                <a:off x="6045" y="7504"/>
                <a:ext cx="2704" cy="1626"/>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Đánh giá lựa chọn</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Nhiều thuộc tính</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Quy tắc quyết định phức tạp</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Nhiều lựa chọn </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 </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216" name="Google Shape;2216;p319"/>
              <p:cNvSpPr txBox="1"/>
              <p:nvPr/>
            </p:nvSpPr>
            <p:spPr>
              <a:xfrm>
                <a:off x="890" y="9807"/>
                <a:ext cx="2308" cy="7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Quyết định mua</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217" name="Google Shape;2217;p319"/>
              <p:cNvSpPr txBox="1"/>
              <p:nvPr/>
            </p:nvSpPr>
            <p:spPr>
              <a:xfrm>
                <a:off x="3468" y="9807"/>
                <a:ext cx="2308" cy="7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Quyết định mua</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218" name="Google Shape;2218;p319"/>
              <p:cNvSpPr txBox="1"/>
              <p:nvPr/>
            </p:nvSpPr>
            <p:spPr>
              <a:xfrm>
                <a:off x="6045" y="9807"/>
                <a:ext cx="2704" cy="7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18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Quyết định mua</a:t>
                </a:r>
                <a:endParaRPr kumimoji="0" sz="1800" b="0"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219" name="Google Shape;2219;p319"/>
              <p:cNvCxnSpPr/>
              <p:nvPr/>
            </p:nvCxnSpPr>
            <p:spPr>
              <a:xfrm>
                <a:off x="2045" y="5091"/>
                <a:ext cx="0" cy="657"/>
              </a:xfrm>
              <a:prstGeom prst="straightConnector1">
                <a:avLst/>
              </a:prstGeom>
              <a:noFill/>
              <a:ln w="19050" cap="flat" cmpd="sng">
                <a:solidFill>
                  <a:srgbClr val="000000"/>
                </a:solidFill>
                <a:prstDash val="solid"/>
                <a:round/>
                <a:headEnd type="none" w="sm" len="sm"/>
                <a:tailEnd type="triangle" w="med" len="med"/>
              </a:ln>
            </p:spPr>
          </p:cxnSp>
          <p:cxnSp>
            <p:nvCxnSpPr>
              <p:cNvPr id="2220" name="Google Shape;2220;p319"/>
              <p:cNvCxnSpPr/>
              <p:nvPr/>
            </p:nvCxnSpPr>
            <p:spPr>
              <a:xfrm>
                <a:off x="2045" y="6842"/>
                <a:ext cx="1" cy="2965"/>
              </a:xfrm>
              <a:prstGeom prst="straightConnector1">
                <a:avLst/>
              </a:prstGeom>
              <a:noFill/>
              <a:ln w="19050" cap="flat" cmpd="sng">
                <a:solidFill>
                  <a:srgbClr val="000000"/>
                </a:solidFill>
                <a:prstDash val="solid"/>
                <a:round/>
                <a:headEnd type="none" w="sm" len="sm"/>
                <a:tailEnd type="triangle" w="med" len="med"/>
              </a:ln>
            </p:spPr>
          </p:cxnSp>
          <p:cxnSp>
            <p:nvCxnSpPr>
              <p:cNvPr id="2221" name="Google Shape;2221;p319"/>
              <p:cNvCxnSpPr/>
              <p:nvPr/>
            </p:nvCxnSpPr>
            <p:spPr>
              <a:xfrm>
                <a:off x="2045" y="10573"/>
                <a:ext cx="0" cy="657"/>
              </a:xfrm>
              <a:prstGeom prst="straightConnector1">
                <a:avLst/>
              </a:prstGeom>
              <a:noFill/>
              <a:ln w="19050" cap="flat" cmpd="sng">
                <a:solidFill>
                  <a:srgbClr val="000000"/>
                </a:solidFill>
                <a:prstDash val="solid"/>
                <a:round/>
                <a:headEnd type="none" w="sm" len="sm"/>
                <a:tailEnd type="triangle" w="med" len="med"/>
              </a:ln>
            </p:spPr>
          </p:cxnSp>
          <p:cxnSp>
            <p:nvCxnSpPr>
              <p:cNvPr id="2222" name="Google Shape;2222;p319"/>
              <p:cNvCxnSpPr/>
              <p:nvPr/>
            </p:nvCxnSpPr>
            <p:spPr>
              <a:xfrm>
                <a:off x="4623" y="5091"/>
                <a:ext cx="0" cy="657"/>
              </a:xfrm>
              <a:prstGeom prst="straightConnector1">
                <a:avLst/>
              </a:prstGeom>
              <a:noFill/>
              <a:ln w="19050" cap="flat" cmpd="sng">
                <a:solidFill>
                  <a:srgbClr val="000000"/>
                </a:solidFill>
                <a:prstDash val="solid"/>
                <a:round/>
                <a:headEnd type="none" w="sm" len="sm"/>
                <a:tailEnd type="triangle" w="med" len="med"/>
              </a:ln>
            </p:spPr>
          </p:cxnSp>
          <p:cxnSp>
            <p:nvCxnSpPr>
              <p:cNvPr id="2223" name="Google Shape;2223;p319"/>
              <p:cNvCxnSpPr/>
              <p:nvPr/>
            </p:nvCxnSpPr>
            <p:spPr>
              <a:xfrm>
                <a:off x="4623" y="6847"/>
                <a:ext cx="0" cy="657"/>
              </a:xfrm>
              <a:prstGeom prst="straightConnector1">
                <a:avLst/>
              </a:prstGeom>
              <a:noFill/>
              <a:ln w="19050" cap="flat" cmpd="sng">
                <a:solidFill>
                  <a:srgbClr val="000000"/>
                </a:solidFill>
                <a:prstDash val="solid"/>
                <a:round/>
                <a:headEnd type="none" w="sm" len="sm"/>
                <a:tailEnd type="triangle" w="med" len="med"/>
              </a:ln>
            </p:spPr>
          </p:cxnSp>
          <p:cxnSp>
            <p:nvCxnSpPr>
              <p:cNvPr id="2224" name="Google Shape;2224;p319"/>
              <p:cNvCxnSpPr/>
              <p:nvPr/>
            </p:nvCxnSpPr>
            <p:spPr>
              <a:xfrm>
                <a:off x="7218" y="5091"/>
                <a:ext cx="0" cy="657"/>
              </a:xfrm>
              <a:prstGeom prst="straightConnector1">
                <a:avLst/>
              </a:prstGeom>
              <a:noFill/>
              <a:ln w="19050" cap="flat" cmpd="sng">
                <a:solidFill>
                  <a:srgbClr val="000000"/>
                </a:solidFill>
                <a:prstDash val="solid"/>
                <a:round/>
                <a:headEnd type="none" w="sm" len="sm"/>
                <a:tailEnd type="triangle" w="med" len="med"/>
              </a:ln>
            </p:spPr>
          </p:cxnSp>
          <p:cxnSp>
            <p:nvCxnSpPr>
              <p:cNvPr id="2225" name="Google Shape;2225;p319"/>
              <p:cNvCxnSpPr/>
              <p:nvPr/>
            </p:nvCxnSpPr>
            <p:spPr>
              <a:xfrm>
                <a:off x="7218" y="6847"/>
                <a:ext cx="0" cy="657"/>
              </a:xfrm>
              <a:prstGeom prst="straightConnector1">
                <a:avLst/>
              </a:prstGeom>
              <a:noFill/>
              <a:ln w="19050" cap="flat" cmpd="sng">
                <a:solidFill>
                  <a:srgbClr val="000000"/>
                </a:solidFill>
                <a:prstDash val="solid"/>
                <a:round/>
                <a:headEnd type="none" w="sm" len="sm"/>
                <a:tailEnd type="triangle" w="med" len="med"/>
              </a:ln>
            </p:spPr>
          </p:cxnSp>
          <p:cxnSp>
            <p:nvCxnSpPr>
              <p:cNvPr id="2226" name="Google Shape;2226;p319"/>
              <p:cNvCxnSpPr/>
              <p:nvPr/>
            </p:nvCxnSpPr>
            <p:spPr>
              <a:xfrm>
                <a:off x="4623" y="9130"/>
                <a:ext cx="0" cy="657"/>
              </a:xfrm>
              <a:prstGeom prst="straightConnector1">
                <a:avLst/>
              </a:prstGeom>
              <a:noFill/>
              <a:ln w="19050" cap="flat" cmpd="sng">
                <a:solidFill>
                  <a:srgbClr val="000000"/>
                </a:solidFill>
                <a:prstDash val="solid"/>
                <a:round/>
                <a:headEnd type="none" w="sm" len="sm"/>
                <a:tailEnd type="triangle" w="med" len="med"/>
              </a:ln>
            </p:spPr>
          </p:cxnSp>
          <p:cxnSp>
            <p:nvCxnSpPr>
              <p:cNvPr id="2227" name="Google Shape;2227;p319"/>
              <p:cNvCxnSpPr/>
              <p:nvPr/>
            </p:nvCxnSpPr>
            <p:spPr>
              <a:xfrm>
                <a:off x="7218" y="9130"/>
                <a:ext cx="0" cy="657"/>
              </a:xfrm>
              <a:prstGeom prst="straightConnector1">
                <a:avLst/>
              </a:prstGeom>
              <a:noFill/>
              <a:ln w="19050" cap="flat" cmpd="sng">
                <a:solidFill>
                  <a:srgbClr val="000000"/>
                </a:solidFill>
                <a:prstDash val="solid"/>
                <a:round/>
                <a:headEnd type="none" w="sm" len="sm"/>
                <a:tailEnd type="triangle" w="med" len="med"/>
              </a:ln>
            </p:spPr>
          </p:cxnSp>
          <p:cxnSp>
            <p:nvCxnSpPr>
              <p:cNvPr id="2228" name="Google Shape;2228;p319"/>
              <p:cNvCxnSpPr/>
              <p:nvPr/>
            </p:nvCxnSpPr>
            <p:spPr>
              <a:xfrm>
                <a:off x="4623" y="10592"/>
                <a:ext cx="0" cy="657"/>
              </a:xfrm>
              <a:prstGeom prst="straightConnector1">
                <a:avLst/>
              </a:prstGeom>
              <a:noFill/>
              <a:ln w="19050" cap="flat" cmpd="sng">
                <a:solidFill>
                  <a:srgbClr val="000000"/>
                </a:solidFill>
                <a:prstDash val="solid"/>
                <a:round/>
                <a:headEnd type="none" w="sm" len="sm"/>
                <a:tailEnd type="triangle" w="med" len="med"/>
              </a:ln>
            </p:spPr>
          </p:cxnSp>
          <p:cxnSp>
            <p:nvCxnSpPr>
              <p:cNvPr id="2229" name="Google Shape;2229;p319"/>
              <p:cNvCxnSpPr/>
              <p:nvPr/>
            </p:nvCxnSpPr>
            <p:spPr>
              <a:xfrm>
                <a:off x="7218" y="10592"/>
                <a:ext cx="0" cy="657"/>
              </a:xfrm>
              <a:prstGeom prst="straightConnector1">
                <a:avLst/>
              </a:prstGeom>
              <a:noFill/>
              <a:ln w="19050" cap="flat" cmpd="sng">
                <a:solidFill>
                  <a:srgbClr val="000000"/>
                </a:solidFill>
                <a:prstDash val="solid"/>
                <a:round/>
                <a:headEnd type="none" w="sm" len="sm"/>
                <a:tailEnd type="triangle" w="med" len="med"/>
              </a:ln>
            </p:spPr>
          </p:cxnSp>
        </p:grpSp>
        <p:grpSp>
          <p:nvGrpSpPr>
            <p:cNvPr id="2230" name="Google Shape;2230;p319"/>
            <p:cNvGrpSpPr/>
            <p:nvPr/>
          </p:nvGrpSpPr>
          <p:grpSpPr>
            <a:xfrm>
              <a:off x="-151" y="2764"/>
              <a:ext cx="8879" cy="747"/>
              <a:chOff x="-151" y="2926"/>
              <a:chExt cx="8879" cy="747"/>
            </a:xfrm>
          </p:grpSpPr>
          <p:cxnSp>
            <p:nvCxnSpPr>
              <p:cNvPr id="2231" name="Google Shape;2231;p319"/>
              <p:cNvCxnSpPr/>
              <p:nvPr/>
            </p:nvCxnSpPr>
            <p:spPr>
              <a:xfrm>
                <a:off x="2418" y="3396"/>
                <a:ext cx="4373" cy="0"/>
              </a:xfrm>
              <a:prstGeom prst="straightConnector1">
                <a:avLst/>
              </a:prstGeom>
              <a:noFill/>
              <a:ln w="19050" cap="flat" cmpd="sng">
                <a:solidFill>
                  <a:srgbClr val="000000"/>
                </a:solidFill>
                <a:prstDash val="solid"/>
                <a:round/>
                <a:headEnd type="none" w="sm" len="sm"/>
                <a:tailEnd type="triangle" w="med" len="med"/>
              </a:ln>
            </p:spPr>
          </p:cxnSp>
          <p:sp>
            <p:nvSpPr>
              <p:cNvPr id="2232" name="Google Shape;2232;p319"/>
              <p:cNvSpPr txBox="1"/>
              <p:nvPr/>
            </p:nvSpPr>
            <p:spPr>
              <a:xfrm>
                <a:off x="5475" y="2926"/>
                <a:ext cx="3253" cy="726"/>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20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Mua hàng có sự tham gia cao</a:t>
                </a:r>
                <a:endParaRPr kumimoji="0" sz="20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233" name="Google Shape;2233;p319"/>
              <p:cNvSpPr txBox="1"/>
              <p:nvPr/>
            </p:nvSpPr>
            <p:spPr>
              <a:xfrm>
                <a:off x="-151" y="2947"/>
                <a:ext cx="3411" cy="726"/>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Times New Roman" panose="02020603050405020304"/>
                  <a:buNone/>
                  <a:tabLst/>
                  <a:defRPr/>
                </a:pPr>
                <a:r>
                  <a:rPr kumimoji="0" lang="en-US" sz="20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Mua hàng có sự tham gia thấp</a:t>
                </a:r>
                <a:endParaRPr kumimoji="0" sz="20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grpSp>
      </p:grpSp>
      <p:sp>
        <p:nvSpPr>
          <p:cNvPr id="2234" name="Google Shape;2234;p319"/>
          <p:cNvSpPr txBox="1"/>
          <p:nvPr/>
        </p:nvSpPr>
        <p:spPr>
          <a:xfrm flipH="1">
            <a:off x="159766" y="3126802"/>
            <a:ext cx="3058835" cy="923330"/>
          </a:xfrm>
          <a:prstGeom prst="rect">
            <a:avLst/>
          </a:prstGeom>
          <a:solidFill>
            <a:schemeClr val="lt1"/>
          </a:solid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300"/>
              <a:buFont typeface="Times New Roman" panose="02020603050405020304"/>
              <a:buNone/>
              <a:tabLst/>
              <a:defRPr/>
            </a:pPr>
            <a:r>
              <a:rPr kumimoji="0" lang="en-US" sz="20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Hình 5.1</a:t>
            </a:r>
            <a:br>
              <a:rPr kumimoji="0" lang="vi-VN" sz="20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br>
            <a:r>
              <a:rPr kumimoji="0" lang="en-US" sz="20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rPr>
              <a:t> Mức độ tham gia và các dạng quyết định mua hàng</a:t>
            </a:r>
            <a:endParaRPr kumimoji="0" sz="20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235" name="Google Shape;2235;p319"/>
          <p:cNvSpPr/>
          <p:nvPr/>
        </p:nvSpPr>
        <p:spPr>
          <a:xfrm>
            <a:off x="4358665" y="3269534"/>
            <a:ext cx="934871" cy="318933"/>
          </a:xfrm>
          <a:prstGeom prst="rect">
            <a:avLst/>
          </a:prstGeom>
          <a:noFill/>
          <a:ln>
            <a:noFill/>
          </a:ln>
        </p:spPr>
        <p:txBody>
          <a:bodyPr spcFirstLastPara="1" wrap="square" lIns="91425" tIns="45700" rIns="91425" bIns="45700" anchor="t" anchorCtr="0">
            <a:noAutofit/>
          </a:bodyPr>
          <a:lstStyle/>
          <a:p>
            <a:pPr marL="742950" marR="0" lvl="1" indent="-203200" algn="l" defTabSz="914400" rtl="0" eaLnBrk="1" fontAlgn="auto" latinLnBrk="0" hangingPunct="1">
              <a:lnSpc>
                <a:spcPct val="125000"/>
              </a:lnSpc>
              <a:spcBef>
                <a:spcPts val="0"/>
              </a:spcBef>
              <a:spcAft>
                <a:spcPts val="0"/>
              </a:spcAft>
              <a:buClr>
                <a:srgbClr val="000000"/>
              </a:buClr>
              <a:buSzPts val="1300"/>
              <a:buFont typeface="Calibri" panose="020F0502020204030204"/>
              <a:buNone/>
              <a:tabLst/>
              <a:defRPr/>
            </a:pPr>
            <a:endParaRPr kumimoji="0" sz="13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2"/>
          <p:cNvSpPr txBox="1"/>
          <p:nvPr/>
        </p:nvSpPr>
        <p:spPr>
          <a:xfrm>
            <a:off x="-80958" y="5539948"/>
            <a:ext cx="221981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vi-VN"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Nguồn: Nguyễn Xuân Trường &amp; cộng sự, 2020</a:t>
            </a:r>
            <a:endParaRPr kumimoji="0" 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Shape 2246"/>
        <p:cNvGrpSpPr/>
        <p:nvPr/>
      </p:nvGrpSpPr>
      <p:grpSpPr>
        <a:xfrm>
          <a:off x="0" y="0"/>
          <a:ext cx="0" cy="0"/>
          <a:chOff x="0" y="0"/>
          <a:chExt cx="0" cy="0"/>
        </a:xfrm>
      </p:grpSpPr>
      <p:sp>
        <p:nvSpPr>
          <p:cNvPr id="2247" name="Google Shape;2247;p321"/>
          <p:cNvSpPr txBox="1">
            <a:spLocks noGrp="1"/>
          </p:cNvSpPr>
          <p:nvPr>
            <p:ph type="title"/>
          </p:nvPr>
        </p:nvSpPr>
        <p:spPr>
          <a:xfrm>
            <a:off x="838200" y="1391711"/>
            <a:ext cx="10515600" cy="66623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Arial" panose="020B0604020202020204"/>
              <a:buNone/>
            </a:pPr>
            <a:br>
              <a:rPr lang="en-US" sz="3200" b="1">
                <a:latin typeface="Arial" panose="020B0604020202020204"/>
                <a:ea typeface="Arial" panose="020B0604020202020204"/>
                <a:cs typeface="Arial" panose="020B0604020202020204"/>
                <a:sym typeface="Arial" panose="020B0604020202020204"/>
              </a:rPr>
            </a:br>
            <a:r>
              <a:rPr lang="en-US" sz="3600" b="1"/>
              <a:t>5</a:t>
            </a:r>
            <a:r>
              <a:rPr lang="en-US" sz="3600" b="1">
                <a:latin typeface="Arial" panose="020B0604020202020204"/>
                <a:ea typeface="Arial" panose="020B0604020202020204"/>
                <a:cs typeface="Arial" panose="020B0604020202020204"/>
                <a:sym typeface="Arial" panose="020B0604020202020204"/>
              </a:rPr>
              <a:t>.2.1 Bản chất của xác định vấn đề</a:t>
            </a:r>
            <a:br>
              <a:rPr lang="en-US" sz="3600" b="1">
                <a:latin typeface="Arial" panose="020B0604020202020204"/>
                <a:ea typeface="Arial" panose="020B0604020202020204"/>
                <a:cs typeface="Arial" panose="020B0604020202020204"/>
                <a:sym typeface="Arial" panose="020B0604020202020204"/>
              </a:rPr>
            </a:br>
            <a:endParaRPr sz="3600">
              <a:latin typeface="Arial" panose="020B0604020202020204"/>
              <a:ea typeface="Arial" panose="020B0604020202020204"/>
              <a:cs typeface="Arial" panose="020B0604020202020204"/>
              <a:sym typeface="Arial" panose="020B0604020202020204"/>
            </a:endParaRPr>
          </a:p>
        </p:txBody>
      </p:sp>
      <p:sp>
        <p:nvSpPr>
          <p:cNvPr id="2248" name="Google Shape;2248;p321"/>
          <p:cNvSpPr txBox="1">
            <a:spLocks noGrp="1"/>
          </p:cNvSpPr>
          <p:nvPr>
            <p:ph type="body" idx="1"/>
          </p:nvPr>
        </p:nvSpPr>
        <p:spPr>
          <a:xfrm>
            <a:off x="838200" y="1605746"/>
            <a:ext cx="10515600" cy="462729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580"/>
              </a:spcBef>
              <a:spcAft>
                <a:spcPts val="0"/>
              </a:spcAft>
              <a:buClr>
                <a:srgbClr val="FF0000"/>
              </a:buClr>
              <a:buSzPts val="2800"/>
              <a:buFont typeface="Noto Sans Symbols"/>
              <a:buNone/>
            </a:pPr>
            <a:endParaRPr lang="en-US" b="1">
              <a:solidFill>
                <a:srgbClr val="FF0000"/>
              </a:solidFill>
              <a:latin typeface="Arial" panose="020B0604020202020204"/>
              <a:ea typeface="Arial" panose="020B0604020202020204"/>
              <a:cs typeface="Arial" panose="020B0604020202020204"/>
              <a:sym typeface="Arial" panose="020B0604020202020204"/>
            </a:endParaRPr>
          </a:p>
          <a:p>
            <a:pPr marL="228600" lvl="0" indent="-228600" algn="l" rtl="0">
              <a:lnSpc>
                <a:spcPct val="90000"/>
              </a:lnSpc>
              <a:spcBef>
                <a:spcPts val="580"/>
              </a:spcBef>
              <a:spcAft>
                <a:spcPts val="0"/>
              </a:spcAft>
              <a:buClr>
                <a:srgbClr val="FF0000"/>
              </a:buClr>
              <a:buSzPts val="2800"/>
              <a:buFont typeface="Noto Sans Symbols"/>
              <a:buNone/>
            </a:pPr>
            <a:r>
              <a:rPr lang="en-US" b="1">
                <a:solidFill>
                  <a:srgbClr val="FF0000"/>
                </a:solidFill>
                <a:latin typeface="Arial" panose="020B0604020202020204"/>
                <a:ea typeface="Arial" panose="020B0604020202020204"/>
                <a:cs typeface="Arial" panose="020B0604020202020204"/>
                <a:sym typeface="Arial" panose="020B0604020202020204"/>
              </a:rPr>
              <a:t>TRẠNG THÁI MONG MUỐN  - TRẠNG THÁI THỰC TẾ = ????</a:t>
            </a:r>
          </a:p>
        </p:txBody>
      </p:sp>
      <p:sp>
        <p:nvSpPr>
          <p:cNvPr id="2249" name="Google Shape;2249;p321"/>
          <p:cNvSpPr/>
          <p:nvPr/>
        </p:nvSpPr>
        <p:spPr>
          <a:xfrm>
            <a:off x="1107472" y="3429000"/>
            <a:ext cx="9497027" cy="3139321"/>
          </a:xfrm>
          <a:prstGeom prst="rect">
            <a:avLst/>
          </a:prstGeom>
          <a:noFill/>
          <a:ln>
            <a:noFill/>
          </a:ln>
        </p:spPr>
        <p:txBody>
          <a:bodyPr spcFirstLastPara="1" wrap="square" lIns="91425" tIns="45700" rIns="91425" bIns="45700" anchor="t" anchorCtr="0">
            <a:noAutofit/>
          </a:bodyPr>
          <a:lstStyle/>
          <a:p>
            <a:pPr marL="342900" marR="0" lvl="0" indent="-342900" algn="l" defTabSz="914400" rtl="0" eaLnBrk="1" fontAlgn="auto" latinLnBrk="0" hangingPunct="1">
              <a:lnSpc>
                <a:spcPct val="150000"/>
              </a:lnSpc>
              <a:spcBef>
                <a:spcPts val="0"/>
              </a:spcBef>
              <a:spcAft>
                <a:spcPts val="0"/>
              </a:spcAft>
              <a:buClr>
                <a:srgbClr val="000000"/>
              </a:buClr>
              <a:buSzPts val="2400"/>
              <a:buFont typeface="Arial" panose="020B0604020202020204"/>
              <a:buChar char="•"/>
              <a:tabLst/>
              <a:defRPr/>
            </a:pPr>
            <a:r>
              <a:rPr kumimoji="0" lang="en-US"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Trạng thái thực tế là cách một cá nhân nhận thức được cảm xúc và tình huống của mình ở thời điểm hiện tại. </a:t>
            </a:r>
            <a:endParaRPr kumimoji="0" lang="vi-VN"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342900" marR="0" lvl="0" indent="-342900" algn="l" defTabSz="914400" rtl="0" eaLnBrk="1" fontAlgn="auto" latinLnBrk="0" hangingPunct="1">
              <a:lnSpc>
                <a:spcPct val="150000"/>
              </a:lnSpc>
              <a:spcBef>
                <a:spcPts val="0"/>
              </a:spcBef>
              <a:spcAft>
                <a:spcPts val="0"/>
              </a:spcAft>
              <a:buClr>
                <a:srgbClr val="000000"/>
              </a:buClr>
              <a:buSzPts val="2400"/>
              <a:buFont typeface="Arial" panose="020B0604020202020204"/>
              <a:buChar char="•"/>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342900" marR="0" lvl="0" indent="-342900" algn="l" defTabSz="914400" rtl="0" eaLnBrk="1" fontAlgn="auto" latinLnBrk="0" hangingPunct="1">
              <a:lnSpc>
                <a:spcPct val="150000"/>
              </a:lnSpc>
              <a:spcBef>
                <a:spcPts val="0"/>
              </a:spcBef>
              <a:spcAft>
                <a:spcPts val="0"/>
              </a:spcAft>
              <a:buClr>
                <a:srgbClr val="000000"/>
              </a:buClr>
              <a:buSzPts val="2400"/>
              <a:buFont typeface="Arial" panose="020B0604020202020204"/>
              <a:buChar char="•"/>
              <a:tabLst/>
              <a:defRPr/>
            </a:pPr>
            <a:r>
              <a:rPr kumimoji="0" lang="en-US"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Trạng thái mong muốn là cách một cá nhân muốn cảm nhận hoặc ở thời điểm hiện tại. </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alibri" panose="020F0502020204030204"/>
              <a:buNone/>
              <a:tabLst/>
              <a:defRPr/>
            </a:pPr>
            <a:endParaRPr kumimoji="0" sz="1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251" name="Google Shape;2251;p321"/>
          <p:cNvSpPr/>
          <p:nvPr/>
        </p:nvSpPr>
        <p:spPr>
          <a:xfrm>
            <a:off x="2682240" y="2706250"/>
            <a:ext cx="6096000" cy="523220"/>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FF0000"/>
              </a:buClr>
              <a:buSzPts val="2800"/>
              <a:buFont typeface="Arial" panose="020B0604020202020204"/>
              <a:buNone/>
              <a:tabLst/>
              <a:defRPr/>
            </a:pPr>
            <a:r>
              <a:rPr kumimoji="0" lang="en-US" sz="2800" b="1" i="0" u="none" strike="noStrike" kern="0" cap="none" spc="0" normalizeH="0" baseline="0" noProof="0">
                <a:ln>
                  <a:noFill/>
                </a:ln>
                <a:solidFill>
                  <a:srgbClr val="FF0000"/>
                </a:solidFill>
                <a:effectLst/>
                <a:uLnTx/>
                <a:uFillTx/>
                <a:latin typeface="Arial" panose="020B0604020202020204"/>
                <a:ea typeface="Arial" panose="020B0604020202020204"/>
                <a:cs typeface="Arial" panose="020B0604020202020204"/>
                <a:sym typeface="Arial" panose="020B0604020202020204"/>
              </a:rPr>
              <a:t>NHẬN THỨC VẤN ĐỀ</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242" name="Google Shape;2242;p320"/>
          <p:cNvSpPr txBox="1"/>
          <p:nvPr/>
        </p:nvSpPr>
        <p:spPr>
          <a:xfrm>
            <a:off x="-916135" y="122842"/>
            <a:ext cx="11181144" cy="1655762"/>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500"/>
              </a:spcBef>
              <a:spcAft>
                <a:spcPts val="0"/>
              </a:spcAft>
              <a:buClr>
                <a:schemeClr val="dk1"/>
              </a:buClr>
              <a:buSzPts val="18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42900" algn="l" rtl="0">
              <a:lnSpc>
                <a:spcPct val="90000"/>
              </a:lnSpc>
              <a:spcBef>
                <a:spcPts val="500"/>
              </a:spcBef>
              <a:spcAft>
                <a:spcPts val="0"/>
              </a:spcAft>
              <a:buClr>
                <a:schemeClr val="dk1"/>
              </a:buClr>
              <a:buSzPts val="18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0" marR="0" lvl="0" indent="0" algn="ctr" defTabSz="914400" rtl="0" eaLnBrk="1" fontAlgn="auto" latinLnBrk="0" hangingPunct="1">
              <a:lnSpc>
                <a:spcPct val="150000"/>
              </a:lnSpc>
              <a:spcBef>
                <a:spcPts val="0"/>
              </a:spcBef>
              <a:spcAft>
                <a:spcPts val="0"/>
              </a:spcAft>
              <a:buClr>
                <a:srgbClr val="000000"/>
              </a:buClr>
              <a:buSzPts val="3600"/>
              <a:buFont typeface="Arial" panose="020B0604020202020204"/>
              <a:buNone/>
              <a:tabLst/>
              <a:defRPr/>
            </a:pPr>
            <a:r>
              <a:rPr kumimoji="0" lang="en-US" sz="36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5.2. QUY TRÌNH XÁC ĐỊNH VẤN ĐỀ</a:t>
            </a:r>
            <a:endParaRPr kumimoji="0" lang="en-US" sz="2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Shape 2255"/>
        <p:cNvGrpSpPr/>
        <p:nvPr/>
      </p:nvGrpSpPr>
      <p:grpSpPr>
        <a:xfrm>
          <a:off x="0" y="0"/>
          <a:ext cx="0" cy="0"/>
          <a:chOff x="0" y="0"/>
          <a:chExt cx="0" cy="0"/>
        </a:xfrm>
      </p:grpSpPr>
      <p:sp>
        <p:nvSpPr>
          <p:cNvPr id="2256" name="Google Shape;2256;p322"/>
          <p:cNvSpPr txBox="1">
            <a:spLocks noGrp="1"/>
          </p:cNvSpPr>
          <p:nvPr>
            <p:ph type="title"/>
          </p:nvPr>
        </p:nvSpPr>
        <p:spPr>
          <a:xfrm>
            <a:off x="408972" y="212726"/>
            <a:ext cx="10515600" cy="99751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5</a:t>
            </a:r>
            <a:r>
              <a:rPr lang="en-US" sz="3200" b="1">
                <a:latin typeface="Arial" panose="020B0604020202020204"/>
                <a:ea typeface="Arial" panose="020B0604020202020204"/>
                <a:cs typeface="Arial" panose="020B0604020202020204"/>
                <a:sym typeface="Arial" panose="020B0604020202020204"/>
              </a:rPr>
              <a:t>.2.1 Bản chất của xác định vấn đề</a:t>
            </a:r>
            <a:endParaRPr sz="3200"/>
          </a:p>
        </p:txBody>
      </p:sp>
      <p:sp>
        <p:nvSpPr>
          <p:cNvPr id="2257" name="Google Shape;2257;p322"/>
          <p:cNvSpPr txBox="1">
            <a:spLocks noGrp="1"/>
          </p:cNvSpPr>
          <p:nvPr>
            <p:ph type="body" idx="1"/>
          </p:nvPr>
        </p:nvSpPr>
        <p:spPr>
          <a:xfrm>
            <a:off x="206829" y="1210237"/>
            <a:ext cx="11756571" cy="5462727"/>
          </a:xfrm>
          <a:prstGeom prst="rect">
            <a:avLst/>
          </a:prstGeom>
          <a:noFill/>
          <a:ln>
            <a:noFill/>
          </a:ln>
        </p:spPr>
        <p:txBody>
          <a:bodyPr spcFirstLastPara="1" wrap="square" lIns="91425" tIns="45700" rIns="91425" bIns="45700" anchor="t" anchorCtr="0">
            <a:normAutofit fontScale="92500"/>
          </a:bodyPr>
          <a:lstStyle/>
          <a:p>
            <a:pPr marL="457200" lvl="0" indent="-457200" algn="l" rtl="0">
              <a:lnSpc>
                <a:spcPct val="150000"/>
              </a:lnSpc>
              <a:spcBef>
                <a:spcPts val="0"/>
              </a:spcBef>
              <a:spcAft>
                <a:spcPts val="0"/>
              </a:spcAft>
              <a:buClr>
                <a:schemeClr val="dk1"/>
              </a:buClr>
              <a:buSzPct val="100000"/>
              <a:buFont typeface="Arial" panose="020B0604020202020204"/>
              <a:buChar char="•"/>
            </a:pPr>
            <a:r>
              <a:rPr lang="en-US">
                <a:latin typeface="Arial" panose="020B0604020202020204"/>
                <a:ea typeface="Arial" panose="020B0604020202020204"/>
                <a:cs typeface="Arial" panose="020B0604020202020204"/>
                <a:sym typeface="Arial" panose="020B0604020202020204"/>
              </a:rPr>
              <a:t>Xác định vấn đề là giai đoạn đầu tiên trong quy trình ra quyết định của KH, là kết quả của sự khác biệt giữa trạng thái mong muốn và trạng thái thực tế đủ để khơi dậy, kích hoạt quy trình quyết định. </a:t>
            </a:r>
          </a:p>
          <a:p>
            <a:pPr marL="457200" lvl="0" indent="-457200" algn="l" rtl="0">
              <a:lnSpc>
                <a:spcPct val="150000"/>
              </a:lnSpc>
              <a:spcBef>
                <a:spcPts val="1000"/>
              </a:spcBef>
              <a:spcAft>
                <a:spcPts val="0"/>
              </a:spcAft>
              <a:buClr>
                <a:schemeClr val="dk1"/>
              </a:buClr>
              <a:buSzPct val="100000"/>
              <a:buFont typeface="Arial" panose="020B0604020202020204"/>
              <a:buChar char="•"/>
            </a:pPr>
            <a:r>
              <a:rPr lang="en-US">
                <a:latin typeface="Arial" panose="020B0604020202020204"/>
                <a:ea typeface="Arial" panose="020B0604020202020204"/>
                <a:cs typeface="Arial" panose="020B0604020202020204"/>
                <a:sym typeface="Arial" panose="020B0604020202020204"/>
              </a:rPr>
              <a:t>Loại hành động được thực hiện bởi KH để đối phó với một vấn đề được xác định liên quan trực tiếp đến tầm quan trọng của vấn đề đối với họ, tình huống và sự không hài lòng hoặc bất tiện do vấn đề tạo ra. </a:t>
            </a:r>
          </a:p>
          <a:p>
            <a:pPr marL="457200" lvl="0" indent="-457200" algn="l" rtl="0">
              <a:lnSpc>
                <a:spcPct val="150000"/>
              </a:lnSpc>
              <a:spcBef>
                <a:spcPts val="1000"/>
              </a:spcBef>
              <a:spcAft>
                <a:spcPts val="0"/>
              </a:spcAft>
              <a:buClr>
                <a:schemeClr val="dk1"/>
              </a:buClr>
              <a:buSzPct val="100000"/>
              <a:buFont typeface="Arial" panose="020B0604020202020204"/>
              <a:buChar char="•"/>
            </a:pPr>
            <a:r>
              <a:rPr lang="en-US">
                <a:latin typeface="Arial" panose="020B0604020202020204"/>
                <a:ea typeface="Arial" panose="020B0604020202020204"/>
                <a:cs typeface="Arial" panose="020B0604020202020204"/>
                <a:sym typeface="Arial" panose="020B0604020202020204"/>
              </a:rPr>
              <a:t>KH bị áp lực thời gian, môi trường xung quanh…Nhận thức về trạng thái thực tế cũng được xác định bởi lối sống và tình hình hiện tại của KH.</a:t>
            </a: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Shape 2261"/>
        <p:cNvGrpSpPr/>
        <p:nvPr/>
      </p:nvGrpSpPr>
      <p:grpSpPr>
        <a:xfrm>
          <a:off x="0" y="0"/>
          <a:ext cx="0" cy="0"/>
          <a:chOff x="0" y="0"/>
          <a:chExt cx="0" cy="0"/>
        </a:xfrm>
      </p:grpSpPr>
      <p:sp>
        <p:nvSpPr>
          <p:cNvPr id="2262" name="Google Shape;2262;p323"/>
          <p:cNvSpPr txBox="1">
            <a:spLocks noGrp="1"/>
          </p:cNvSpPr>
          <p:nvPr>
            <p:ph type="title"/>
          </p:nvPr>
        </p:nvSpPr>
        <p:spPr>
          <a:xfrm>
            <a:off x="391885" y="201839"/>
            <a:ext cx="9741061" cy="82706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5</a:t>
            </a:r>
            <a:r>
              <a:rPr lang="en-US" sz="3200" b="1">
                <a:latin typeface="Arial" panose="020B0604020202020204"/>
                <a:ea typeface="Arial" panose="020B0604020202020204"/>
                <a:cs typeface="Arial" panose="020B0604020202020204"/>
                <a:sym typeface="Arial" panose="020B0604020202020204"/>
              </a:rPr>
              <a:t>.2.2. Các loại vấn đề của </a:t>
            </a:r>
            <a:r>
              <a:rPr lang="vi-VN" sz="3200" b="1">
                <a:latin typeface="Arial" panose="020B0604020202020204"/>
                <a:ea typeface="Arial" panose="020B0604020202020204"/>
                <a:cs typeface="Arial" panose="020B0604020202020204"/>
                <a:sym typeface="Arial" panose="020B0604020202020204"/>
              </a:rPr>
              <a:t>người tiêu dùng</a:t>
            </a:r>
          </a:p>
        </p:txBody>
      </p:sp>
      <p:sp>
        <p:nvSpPr>
          <p:cNvPr id="2263" name="Google Shape;2263;p323"/>
          <p:cNvSpPr txBox="1">
            <a:spLocks noGrp="1"/>
          </p:cNvSpPr>
          <p:nvPr>
            <p:ph type="body" idx="1"/>
          </p:nvPr>
        </p:nvSpPr>
        <p:spPr>
          <a:xfrm>
            <a:off x="275449" y="1355478"/>
            <a:ext cx="11589980" cy="5300683"/>
          </a:xfrm>
          <a:prstGeom prst="rect">
            <a:avLst/>
          </a:prstGeom>
          <a:noFill/>
          <a:ln>
            <a:noFill/>
          </a:ln>
        </p:spPr>
        <p:txBody>
          <a:bodyPr spcFirstLastPara="1" wrap="square" lIns="91425" tIns="45700" rIns="91425" bIns="45700" anchor="t" anchorCtr="0">
            <a:normAutofit/>
          </a:bodyPr>
          <a:lstStyle/>
          <a:p>
            <a:pPr marL="457200" lvl="0" indent="-457200" algn="l" rtl="0">
              <a:lnSpc>
                <a:spcPct val="100000"/>
              </a:lnSpc>
              <a:spcBef>
                <a:spcPts val="0"/>
              </a:spcBef>
              <a:spcAft>
                <a:spcPts val="0"/>
              </a:spcAft>
              <a:buClr>
                <a:schemeClr val="dk1"/>
              </a:buClr>
              <a:buSzPts val="2600"/>
              <a:buFont typeface="Arial" panose="020B0604020202020204"/>
              <a:buChar char="•"/>
            </a:pPr>
            <a:r>
              <a:rPr lang="en-US" sz="2600">
                <a:latin typeface="Arial" panose="020B0604020202020204"/>
                <a:ea typeface="Arial" panose="020B0604020202020204"/>
                <a:cs typeface="Arial" panose="020B0604020202020204"/>
                <a:sym typeface="Arial" panose="020B0604020202020204"/>
              </a:rPr>
              <a:t>Các loại vấn đề của khách hàng gồm vấn đề kích hoạt (đã hoạt động) và vấn đề chưa kích hoạt.</a:t>
            </a:r>
            <a:endParaRPr sz="2600">
              <a:latin typeface="Arial" panose="020B0604020202020204"/>
              <a:ea typeface="Arial" panose="020B0604020202020204"/>
              <a:cs typeface="Arial" panose="020B0604020202020204"/>
              <a:sym typeface="Arial" panose="020B0604020202020204"/>
            </a:endParaRPr>
          </a:p>
          <a:p>
            <a:pPr marL="457200" lvl="0" indent="-457200" algn="l" rtl="0">
              <a:lnSpc>
                <a:spcPct val="100000"/>
              </a:lnSpc>
              <a:spcBef>
                <a:spcPts val="1000"/>
              </a:spcBef>
              <a:spcAft>
                <a:spcPts val="0"/>
              </a:spcAft>
              <a:buClr>
                <a:schemeClr val="dk1"/>
              </a:buClr>
              <a:buSzPts val="2600"/>
              <a:buFont typeface="Arial" panose="020B0604020202020204"/>
              <a:buChar char="•"/>
            </a:pPr>
            <a:r>
              <a:rPr lang="en-US" sz="2600">
                <a:latin typeface="Arial" panose="020B0604020202020204"/>
                <a:ea typeface="Arial" panose="020B0604020202020204"/>
                <a:cs typeface="Arial" panose="020B0604020202020204"/>
                <a:sym typeface="Arial" panose="020B0604020202020204"/>
              </a:rPr>
              <a:t>Một vấn đề đã kích hoạt là một vấn đề mà KH nhận thức được hoặc sẽ nhận thức được trong quá trình bình thường của các sự kiện. Một vấn đề chưa kích hoạt là một trong những điều mà KH không nhận thức được.</a:t>
            </a:r>
          </a:p>
          <a:p>
            <a:pPr marL="457200" lvl="0" indent="-457200" algn="just" rtl="0">
              <a:lnSpc>
                <a:spcPct val="100000"/>
              </a:lnSpc>
              <a:spcBef>
                <a:spcPts val="1000"/>
              </a:spcBef>
              <a:spcAft>
                <a:spcPts val="0"/>
              </a:spcAft>
              <a:buClr>
                <a:schemeClr val="dk1"/>
              </a:buClr>
              <a:buSzPts val="2600"/>
              <a:buFont typeface="Arial" panose="020B0604020202020204"/>
              <a:buChar char="•"/>
            </a:pPr>
            <a:r>
              <a:rPr lang="en-US" sz="2600">
                <a:latin typeface="Arial" panose="020B0604020202020204"/>
                <a:ea typeface="Arial" panose="020B0604020202020204"/>
                <a:cs typeface="Arial" panose="020B0604020202020204"/>
                <a:sym typeface="Arial" panose="020B0604020202020204"/>
              </a:rPr>
              <a:t>Các vấn đề đã kích hoạt đòi hỏi doanh nghiệp thuyết phục KH rằng thương hiệu của họ là giải pháp ưu việt, KH đã nhận thức được vấn đề.</a:t>
            </a:r>
          </a:p>
          <a:p>
            <a:pPr marL="457200" lvl="0" indent="-457200" algn="l" rtl="0">
              <a:lnSpc>
                <a:spcPct val="100000"/>
              </a:lnSpc>
              <a:spcBef>
                <a:spcPts val="1000"/>
              </a:spcBef>
              <a:spcAft>
                <a:spcPts val="0"/>
              </a:spcAft>
              <a:buClr>
                <a:schemeClr val="dk1"/>
              </a:buClr>
              <a:buSzPts val="2600"/>
              <a:buFont typeface="Arial" panose="020B0604020202020204"/>
              <a:buChar char="•"/>
            </a:pPr>
            <a:r>
              <a:rPr lang="en-US" sz="2600">
                <a:latin typeface="Arial" panose="020B0604020202020204"/>
                <a:ea typeface="Arial" panose="020B0604020202020204"/>
                <a:cs typeface="Arial" panose="020B0604020202020204"/>
                <a:sym typeface="Arial" panose="020B0604020202020204"/>
              </a:rPr>
              <a:t>Ngược lại, các vấn đề chưa kích hoạt đòi hỏi doanh nghiệp phải thuyết phục KH rằng họ có vấn đề và thương hiệu của nhà doanh nghiệp là </a:t>
            </a:r>
          </a:p>
          <a:p>
            <a:pPr marL="276225" lvl="0" indent="0" algn="l" rtl="0">
              <a:lnSpc>
                <a:spcPct val="100000"/>
              </a:lnSpc>
              <a:spcBef>
                <a:spcPts val="1000"/>
              </a:spcBef>
              <a:spcAft>
                <a:spcPts val="0"/>
              </a:spcAft>
              <a:buClr>
                <a:schemeClr val="dk1"/>
              </a:buClr>
              <a:buSzPts val="2600"/>
              <a:buNone/>
            </a:pPr>
            <a:r>
              <a:rPr lang="en-US" sz="2600" b="1">
                <a:latin typeface="Arial" panose="020B0604020202020204"/>
                <a:ea typeface="Arial" panose="020B0604020202020204"/>
                <a:cs typeface="Arial" panose="020B0604020202020204"/>
                <a:sym typeface="Arial" panose="020B0604020202020204"/>
              </a:rPr>
              <a:t>			một giải pháp ưu việt cho vấn đề. </a:t>
            </a:r>
            <a:endParaRPr b="1"/>
          </a:p>
          <a:p>
            <a:pPr marL="635000" lvl="0" indent="-279400" algn="l" rtl="0">
              <a:lnSpc>
                <a:spcPct val="100000"/>
              </a:lnSpc>
              <a:spcBef>
                <a:spcPts val="1000"/>
              </a:spcBef>
              <a:spcAft>
                <a:spcPts val="0"/>
              </a:spcAft>
              <a:buClr>
                <a:schemeClr val="dk1"/>
              </a:buClr>
              <a:buSzPts val="28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Shape 2267"/>
        <p:cNvGrpSpPr/>
        <p:nvPr/>
      </p:nvGrpSpPr>
      <p:grpSpPr>
        <a:xfrm>
          <a:off x="0" y="0"/>
          <a:ext cx="0" cy="0"/>
          <a:chOff x="0" y="0"/>
          <a:chExt cx="0" cy="0"/>
        </a:xfrm>
      </p:grpSpPr>
      <p:sp>
        <p:nvSpPr>
          <p:cNvPr id="2268" name="Google Shape;2268;p324"/>
          <p:cNvSpPr txBox="1">
            <a:spLocks noGrp="1"/>
          </p:cNvSpPr>
          <p:nvPr>
            <p:ph type="title"/>
          </p:nvPr>
        </p:nvSpPr>
        <p:spPr>
          <a:xfrm>
            <a:off x="205864" y="319349"/>
            <a:ext cx="10515600" cy="91966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5</a:t>
            </a:r>
            <a:r>
              <a:rPr lang="en-US" sz="3200" b="1">
                <a:latin typeface="Arial" panose="020B0604020202020204"/>
                <a:ea typeface="Arial" panose="020B0604020202020204"/>
                <a:cs typeface="Arial" panose="020B0604020202020204"/>
                <a:sym typeface="Arial" panose="020B0604020202020204"/>
              </a:rPr>
              <a:t>.2.3. Không kiểm soát giới hạn xác nhận vấn đề</a:t>
            </a:r>
            <a:br>
              <a:rPr lang="en-US" sz="3200" b="1">
                <a:latin typeface="Arial" panose="020B0604020202020204"/>
                <a:ea typeface="Arial" panose="020B0604020202020204"/>
                <a:cs typeface="Arial" panose="020B0604020202020204"/>
                <a:sym typeface="Arial" panose="020B0604020202020204"/>
              </a:rPr>
            </a:br>
            <a:endParaRPr sz="3200">
              <a:latin typeface="Arial" panose="020B0604020202020204"/>
              <a:ea typeface="Arial" panose="020B0604020202020204"/>
              <a:cs typeface="Arial" panose="020B0604020202020204"/>
              <a:sym typeface="Arial" panose="020B0604020202020204"/>
            </a:endParaRPr>
          </a:p>
        </p:txBody>
      </p:sp>
      <p:sp>
        <p:nvSpPr>
          <p:cNvPr id="2269" name="Google Shape;2269;p324"/>
          <p:cNvSpPr txBox="1">
            <a:spLocks noGrp="1"/>
          </p:cNvSpPr>
          <p:nvPr>
            <p:ph type="body" idx="1"/>
          </p:nvPr>
        </p:nvSpPr>
        <p:spPr>
          <a:xfrm>
            <a:off x="125691" y="1479305"/>
            <a:ext cx="11860445" cy="5509027"/>
          </a:xfrm>
          <a:prstGeom prst="rect">
            <a:avLst/>
          </a:prstGeom>
          <a:noFill/>
          <a:ln>
            <a:noFill/>
          </a:ln>
        </p:spPr>
        <p:txBody>
          <a:bodyPr spcFirstLastPara="1" wrap="square" lIns="91425" tIns="45700" rIns="91425" bIns="45700" anchor="t" anchorCtr="0">
            <a:normAutofit/>
          </a:bodyPr>
          <a:lstStyle/>
          <a:p>
            <a:pPr marL="457200" lvl="0" indent="-457200" algn="l" rtl="0">
              <a:lnSpc>
                <a:spcPct val="150000"/>
              </a:lnSpc>
              <a:spcBef>
                <a:spcPts val="0"/>
              </a:spcBef>
              <a:spcAft>
                <a:spcPts val="0"/>
              </a:spcAft>
              <a:buClr>
                <a:schemeClr val="dk1"/>
              </a:buClr>
              <a:buSzPts val="3000"/>
              <a:buFont typeface="Arial" panose="020B0604020202020204"/>
              <a:buChar char="•"/>
            </a:pPr>
            <a:r>
              <a:rPr lang="en-US">
                <a:latin typeface="Arial" panose="020B0604020202020204"/>
                <a:ea typeface="Arial" panose="020B0604020202020204"/>
                <a:cs typeface="Arial" panose="020B0604020202020204"/>
                <a:sym typeface="Arial" panose="020B0604020202020204"/>
              </a:rPr>
              <a:t>Sự khác biệt giữa những gì KH mong muốn và những gì KH có là điều kiện cần thiết để xác nhận vấn đề. </a:t>
            </a:r>
          </a:p>
          <a:p>
            <a:pPr marL="457200" lvl="0" indent="-457200" algn="l" rtl="0">
              <a:lnSpc>
                <a:spcPct val="150000"/>
              </a:lnSpc>
              <a:spcBef>
                <a:spcPts val="1000"/>
              </a:spcBef>
              <a:spcAft>
                <a:spcPts val="0"/>
              </a:spcAft>
              <a:buClr>
                <a:schemeClr val="dk1"/>
              </a:buClr>
              <a:buSzPts val="3000"/>
              <a:buFont typeface="Arial" panose="020B0604020202020204"/>
              <a:buChar char="•"/>
            </a:pPr>
            <a:r>
              <a:rPr lang="en-US">
                <a:latin typeface="Arial" panose="020B0604020202020204"/>
                <a:ea typeface="Arial" panose="020B0604020202020204"/>
                <a:cs typeface="Arial" panose="020B0604020202020204"/>
                <a:sym typeface="Arial" panose="020B0604020202020204"/>
              </a:rPr>
              <a:t>Sự khác biệt có thể là kết quả của một loạt các yếu tố ảnh hưởng đến mong muốn của KH, nhận thức về trạng thái hiện tại hoặc cả hai. </a:t>
            </a:r>
          </a:p>
          <a:p>
            <a:pPr marL="457200" lvl="0" indent="-457200" algn="l" rtl="0">
              <a:lnSpc>
                <a:spcPct val="150000"/>
              </a:lnSpc>
              <a:spcBef>
                <a:spcPts val="1000"/>
              </a:spcBef>
              <a:spcAft>
                <a:spcPts val="0"/>
              </a:spcAft>
              <a:buClr>
                <a:schemeClr val="dk1"/>
              </a:buClr>
              <a:buSzPts val="3000"/>
              <a:buFont typeface="Arial" panose="020B0604020202020204"/>
              <a:buChar char="•"/>
            </a:pPr>
            <a:r>
              <a:rPr lang="en-US">
                <a:latin typeface="Arial" panose="020B0604020202020204"/>
                <a:ea typeface="Arial" panose="020B0604020202020204"/>
                <a:cs typeface="Arial" panose="020B0604020202020204"/>
                <a:sym typeface="Arial" panose="020B0604020202020204"/>
              </a:rPr>
              <a:t>Những yếu tố này thường vượt quá tầm ảnh hưởng trực tiếp của người quản lý marketing, chẳng hạn như thay đổi thành phần gia đình. </a:t>
            </a:r>
            <a:endParaRPr>
              <a:latin typeface="Arial" panose="020B0604020202020204"/>
              <a:ea typeface="Arial" panose="020B0604020202020204"/>
              <a:cs typeface="Arial" panose="020B0604020202020204"/>
              <a:sym typeface="Arial" panose="020B0604020202020204"/>
            </a:endParaRPr>
          </a:p>
          <a:p>
            <a:pPr marL="635000" lvl="0" indent="-279400" algn="l" rtl="0">
              <a:lnSpc>
                <a:spcPct val="90000"/>
              </a:lnSpc>
              <a:spcBef>
                <a:spcPts val="1000"/>
              </a:spcBef>
              <a:spcAft>
                <a:spcPts val="0"/>
              </a:spcAft>
              <a:buClr>
                <a:schemeClr val="dk1"/>
              </a:buClr>
              <a:buSzPts val="2800"/>
              <a:buFont typeface="Arial" panose="020B0604020202020204"/>
              <a:buNone/>
            </a:pPr>
            <a:endParaRPr sz="30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Shape 2273"/>
        <p:cNvGrpSpPr/>
        <p:nvPr/>
      </p:nvGrpSpPr>
      <p:grpSpPr>
        <a:xfrm>
          <a:off x="0" y="0"/>
          <a:ext cx="0" cy="0"/>
          <a:chOff x="0" y="0"/>
          <a:chExt cx="0" cy="0"/>
        </a:xfrm>
      </p:grpSpPr>
      <p:sp>
        <p:nvSpPr>
          <p:cNvPr id="2274" name="Google Shape;2274;p325"/>
          <p:cNvSpPr txBox="1">
            <a:spLocks noGrp="1"/>
          </p:cNvSpPr>
          <p:nvPr>
            <p:ph type="title"/>
          </p:nvPr>
        </p:nvSpPr>
        <p:spPr>
          <a:xfrm>
            <a:off x="205864" y="319349"/>
            <a:ext cx="10515600" cy="91966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5</a:t>
            </a:r>
            <a:r>
              <a:rPr lang="en-US" sz="3200" b="1">
                <a:latin typeface="Arial" panose="020B0604020202020204"/>
                <a:ea typeface="Arial" panose="020B0604020202020204"/>
                <a:cs typeface="Arial" panose="020B0604020202020204"/>
                <a:sym typeface="Arial" panose="020B0604020202020204"/>
              </a:rPr>
              <a:t>.2.3. Không kiểm soát giới hạn xác nhận vấn đề</a:t>
            </a:r>
            <a:endParaRPr sz="3200">
              <a:latin typeface="Arial" panose="020B0604020202020204"/>
              <a:ea typeface="Arial" panose="020B0604020202020204"/>
              <a:cs typeface="Arial" panose="020B0604020202020204"/>
              <a:sym typeface="Arial" panose="020B0604020202020204"/>
            </a:endParaRPr>
          </a:p>
        </p:txBody>
      </p:sp>
      <p:sp>
        <p:nvSpPr>
          <p:cNvPr id="2275" name="Google Shape;2275;p325"/>
          <p:cNvSpPr txBox="1">
            <a:spLocks noGrp="1"/>
          </p:cNvSpPr>
          <p:nvPr>
            <p:ph type="body" idx="1"/>
          </p:nvPr>
        </p:nvSpPr>
        <p:spPr>
          <a:xfrm>
            <a:off x="205864" y="1497710"/>
            <a:ext cx="11553049" cy="5509027"/>
          </a:xfrm>
          <a:prstGeom prst="rect">
            <a:avLst/>
          </a:prstGeom>
          <a:noFill/>
          <a:ln>
            <a:noFill/>
          </a:ln>
        </p:spPr>
        <p:txBody>
          <a:bodyPr spcFirstLastPara="1" wrap="square" lIns="91425" tIns="45700" rIns="91425" bIns="45700" anchor="t" anchorCtr="0">
            <a:normAutofit/>
          </a:bodyPr>
          <a:lstStyle/>
          <a:p>
            <a:pPr marL="457200" lvl="0" indent="-457200" algn="l" rtl="0">
              <a:lnSpc>
                <a:spcPct val="150000"/>
              </a:lnSpc>
              <a:spcBef>
                <a:spcPts val="0"/>
              </a:spcBef>
              <a:spcAft>
                <a:spcPts val="0"/>
              </a:spcAft>
              <a:buClr>
                <a:schemeClr val="dk1"/>
              </a:buClr>
              <a:buSzPts val="3000"/>
              <a:buFont typeface="Arial" panose="020B0604020202020204"/>
              <a:buChar char="•"/>
            </a:pPr>
            <a:r>
              <a:rPr lang="en-US" sz="3000">
                <a:latin typeface="Arial" panose="020B0604020202020204"/>
                <a:ea typeface="Arial" panose="020B0604020202020204"/>
                <a:cs typeface="Arial" panose="020B0604020202020204"/>
                <a:sym typeface="Arial" panose="020B0604020202020204"/>
              </a:rPr>
              <a:t>Hầu hết các yếu tố phi thị trường ảnh hưởng đến xác định vấn đề là khá rõ ràng và hợp lý. </a:t>
            </a:r>
          </a:p>
          <a:p>
            <a:pPr marL="647700" lvl="0" indent="-266700" algn="l" rtl="0">
              <a:lnSpc>
                <a:spcPct val="150000"/>
              </a:lnSpc>
              <a:spcBef>
                <a:spcPts val="1000"/>
              </a:spcBef>
              <a:spcAft>
                <a:spcPts val="0"/>
              </a:spcAft>
              <a:buClr>
                <a:schemeClr val="dk1"/>
              </a:buClr>
              <a:buSzPts val="3000"/>
              <a:buFont typeface="Arial" panose="020B0604020202020204"/>
              <a:buNone/>
            </a:pPr>
            <a:endParaRPr sz="3000">
              <a:latin typeface="Arial" panose="020B0604020202020204"/>
              <a:ea typeface="Arial" panose="020B0604020202020204"/>
              <a:cs typeface="Arial" panose="020B0604020202020204"/>
              <a:sym typeface="Arial" panose="020B0604020202020204"/>
            </a:endParaRPr>
          </a:p>
          <a:p>
            <a:pPr marL="457200" lvl="0" indent="-457200" algn="l" rtl="0">
              <a:lnSpc>
                <a:spcPct val="150000"/>
              </a:lnSpc>
              <a:spcBef>
                <a:spcPts val="1000"/>
              </a:spcBef>
              <a:spcAft>
                <a:spcPts val="0"/>
              </a:spcAft>
              <a:buClr>
                <a:schemeClr val="dk1"/>
              </a:buClr>
              <a:buSzPts val="3000"/>
              <a:buFont typeface="Arial" panose="020B0604020202020204"/>
              <a:buChar char="•"/>
            </a:pPr>
            <a:r>
              <a:rPr lang="en-US" sz="3000">
                <a:latin typeface="Arial" panose="020B0604020202020204"/>
                <a:ea typeface="Arial" panose="020B0604020202020204"/>
                <a:cs typeface="Arial" panose="020B0604020202020204"/>
                <a:sym typeface="Arial" panose="020B0604020202020204"/>
              </a:rPr>
              <a:t>Các cơ quan chính phủ, phi chính phủ và các nhóm khách hàng khác nhau tích cực cố gắng kích hoạt nhận biết vấn đề, thường liên quan đến việc tiêu thụ các sản phẩm khác nhau. </a:t>
            </a: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Shape 2279"/>
        <p:cNvGrpSpPr/>
        <p:nvPr/>
      </p:nvGrpSpPr>
      <p:grpSpPr>
        <a:xfrm>
          <a:off x="0" y="0"/>
          <a:ext cx="0" cy="0"/>
          <a:chOff x="0" y="0"/>
          <a:chExt cx="0" cy="0"/>
        </a:xfrm>
      </p:grpSpPr>
      <p:sp>
        <p:nvSpPr>
          <p:cNvPr id="2280" name="Google Shape;2280;p326"/>
          <p:cNvSpPr txBox="1">
            <a:spLocks noGrp="1"/>
          </p:cNvSpPr>
          <p:nvPr>
            <p:ph type="title"/>
          </p:nvPr>
        </p:nvSpPr>
        <p:spPr>
          <a:xfrm>
            <a:off x="272143" y="348526"/>
            <a:ext cx="10515600" cy="66502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Arial" panose="020B0604020202020204"/>
              <a:buNone/>
            </a:pPr>
            <a:br>
              <a:rPr lang="en-US" sz="3600" b="1">
                <a:latin typeface="Arial" panose="020B0604020202020204"/>
                <a:ea typeface="Arial" panose="020B0604020202020204"/>
                <a:cs typeface="Arial" panose="020B0604020202020204"/>
                <a:sym typeface="Arial" panose="020B0604020202020204"/>
              </a:rPr>
            </a:br>
            <a:r>
              <a:rPr lang="en-US" sz="3600" b="1"/>
              <a:t>5</a:t>
            </a:r>
            <a:r>
              <a:rPr lang="en-US" sz="3600" b="1">
                <a:latin typeface="Arial" panose="020B0604020202020204"/>
                <a:ea typeface="Arial" panose="020B0604020202020204"/>
                <a:cs typeface="Arial" panose="020B0604020202020204"/>
                <a:sym typeface="Arial" panose="020B0604020202020204"/>
              </a:rPr>
              <a:t>.2.4. Chiến lược marketing với xác định vấn đề</a:t>
            </a:r>
            <a:br>
              <a:rPr lang="en-US" b="1"/>
            </a:br>
            <a:endParaRPr lang="en-US" b="1"/>
          </a:p>
        </p:txBody>
      </p:sp>
      <p:sp>
        <p:nvSpPr>
          <p:cNvPr id="2281" name="Google Shape;2281;p326"/>
          <p:cNvSpPr txBox="1">
            <a:spLocks noGrp="1"/>
          </p:cNvSpPr>
          <p:nvPr>
            <p:ph type="body" idx="1"/>
          </p:nvPr>
        </p:nvSpPr>
        <p:spPr>
          <a:xfrm>
            <a:off x="272143" y="1500437"/>
            <a:ext cx="11506200" cy="492689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b="1">
                <a:latin typeface="Arial" panose="020B0604020202020204"/>
                <a:ea typeface="Arial" panose="020B0604020202020204"/>
                <a:cs typeface="Arial" panose="020B0604020202020204"/>
                <a:sym typeface="Arial" panose="020B0604020202020204"/>
              </a:rPr>
              <a:t>Các doanh nghiệp có bốn mối quan tâm liên quan đến nhận dạng vấn đề:</a:t>
            </a:r>
          </a:p>
          <a:p>
            <a:pPr marL="0" lvl="0" indent="0" algn="l" rtl="0">
              <a:lnSpc>
                <a:spcPct val="90000"/>
              </a:lnSpc>
              <a:spcBef>
                <a:spcPts val="0"/>
              </a:spcBef>
              <a:spcAft>
                <a:spcPts val="0"/>
              </a:spcAft>
              <a:buClr>
                <a:schemeClr val="dk1"/>
              </a:buClr>
              <a:buSzPts val="2800"/>
              <a:buNone/>
            </a:pPr>
            <a:endParaRPr lang="en-US" b="1">
              <a:latin typeface="Arial" panose="020B0604020202020204"/>
              <a:ea typeface="Arial" panose="020B0604020202020204"/>
              <a:cs typeface="Arial" panose="020B0604020202020204"/>
              <a:sym typeface="Arial" panose="020B0604020202020204"/>
            </a:endParaRPr>
          </a:p>
          <a:p>
            <a:pPr marL="514350" lvl="0" indent="-514350" algn="l" rtl="0">
              <a:lnSpc>
                <a:spcPct val="90000"/>
              </a:lnSpc>
              <a:spcBef>
                <a:spcPts val="1000"/>
              </a:spcBef>
              <a:spcAft>
                <a:spcPts val="0"/>
              </a:spcAft>
              <a:buClr>
                <a:schemeClr val="dk1"/>
              </a:buClr>
              <a:buSzPts val="2800"/>
              <a:buAutoNum type="arabicParenBoth"/>
            </a:pPr>
            <a:r>
              <a:rPr lang="en-US">
                <a:latin typeface="Arial" panose="020B0604020202020204"/>
                <a:ea typeface="Arial" panose="020B0604020202020204"/>
                <a:cs typeface="Arial" panose="020B0604020202020204"/>
                <a:sym typeface="Arial" panose="020B0604020202020204"/>
              </a:rPr>
              <a:t>Đầu tiên, họ cần biết những vấn đề mà khách hàng đang gặp phải. </a:t>
            </a:r>
          </a:p>
          <a:p>
            <a:pPr marL="514350" lvl="0" indent="-514350" algn="l" rtl="0">
              <a:lnSpc>
                <a:spcPct val="90000"/>
              </a:lnSpc>
              <a:spcBef>
                <a:spcPts val="1000"/>
              </a:spcBef>
              <a:spcAft>
                <a:spcPts val="0"/>
              </a:spcAft>
              <a:buClr>
                <a:schemeClr val="dk1"/>
              </a:buClr>
              <a:buSzPts val="2800"/>
              <a:buAutoNum type="arabicParenBoth"/>
            </a:pPr>
            <a:r>
              <a:rPr lang="en-US">
                <a:latin typeface="Arial" panose="020B0604020202020204"/>
                <a:ea typeface="Arial" panose="020B0604020202020204"/>
                <a:cs typeface="Arial" panose="020B0604020202020204"/>
                <a:sym typeface="Arial" panose="020B0604020202020204"/>
              </a:rPr>
              <a:t>Thứ hai, họ phải biết cách phát triển hỗn hợp marketing để giải quyết các vấn đề của khách hàng. </a:t>
            </a:r>
          </a:p>
          <a:p>
            <a:pPr marL="514350" lvl="0" indent="-514350" algn="l" rtl="0">
              <a:lnSpc>
                <a:spcPct val="90000"/>
              </a:lnSpc>
              <a:spcBef>
                <a:spcPts val="1000"/>
              </a:spcBef>
              <a:spcAft>
                <a:spcPts val="0"/>
              </a:spcAft>
              <a:buClr>
                <a:schemeClr val="dk1"/>
              </a:buClr>
              <a:buSzPts val="2800"/>
              <a:buAutoNum type="arabicParenBoth"/>
            </a:pPr>
            <a:r>
              <a:rPr lang="en-US">
                <a:latin typeface="Arial" panose="020B0604020202020204"/>
                <a:ea typeface="Arial" panose="020B0604020202020204"/>
                <a:cs typeface="Arial" panose="020B0604020202020204"/>
                <a:sym typeface="Arial" panose="020B0604020202020204"/>
              </a:rPr>
              <a:t>Thứ ba, các nhà quản lý đôi khi muốn khách hàng nhận ra vấn đề. </a:t>
            </a:r>
          </a:p>
          <a:p>
            <a:pPr marL="514350" lvl="0" indent="-514350" algn="l" rtl="0">
              <a:lnSpc>
                <a:spcPct val="90000"/>
              </a:lnSpc>
              <a:spcBef>
                <a:spcPts val="1000"/>
              </a:spcBef>
              <a:spcAft>
                <a:spcPts val="0"/>
              </a:spcAft>
              <a:buClr>
                <a:schemeClr val="dk1"/>
              </a:buClr>
              <a:buSzPts val="2800"/>
              <a:buAutoNum type="arabicParenBoth"/>
            </a:pPr>
            <a:r>
              <a:rPr lang="en-US">
                <a:latin typeface="Arial" panose="020B0604020202020204"/>
                <a:ea typeface="Arial" panose="020B0604020202020204"/>
                <a:cs typeface="Arial" panose="020B0604020202020204"/>
                <a:sym typeface="Arial" panose="020B0604020202020204"/>
              </a:rPr>
              <a:t>Cuối cùng, có những lúc họ mong muốn ngăn chặn sự xác định vấn đề của khách hàng. </a:t>
            </a:r>
            <a:endParaRPr>
              <a:latin typeface="Arial" panose="020B0604020202020204"/>
              <a:ea typeface="Arial" panose="020B0604020202020204"/>
              <a:cs typeface="Arial" panose="020B0604020202020204"/>
              <a:sym typeface="Arial" panose="020B0604020202020204"/>
            </a:endParaRPr>
          </a:p>
          <a:p>
            <a:pPr marL="228600" lvl="0" indent="-50800" algn="l" rtl="0">
              <a:lnSpc>
                <a:spcPct val="90000"/>
              </a:lnSpc>
              <a:spcBef>
                <a:spcPts val="1000"/>
              </a:spcBef>
              <a:spcAft>
                <a:spcPts val="0"/>
              </a:spcAft>
              <a:buClr>
                <a:schemeClr val="dk1"/>
              </a:buClr>
              <a:buSzPts val="2800"/>
              <a:buNone/>
            </a:pPr>
            <a:endParaRPr>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Shape 2285"/>
        <p:cNvGrpSpPr/>
        <p:nvPr/>
      </p:nvGrpSpPr>
      <p:grpSpPr>
        <a:xfrm>
          <a:off x="0" y="0"/>
          <a:ext cx="0" cy="0"/>
          <a:chOff x="0" y="0"/>
          <a:chExt cx="0" cy="0"/>
        </a:xfrm>
      </p:grpSpPr>
      <p:sp>
        <p:nvSpPr>
          <p:cNvPr id="2286" name="Google Shape;2286;p327"/>
          <p:cNvSpPr txBox="1">
            <a:spLocks noGrp="1"/>
          </p:cNvSpPr>
          <p:nvPr>
            <p:ph type="title"/>
          </p:nvPr>
        </p:nvSpPr>
        <p:spPr>
          <a:xfrm>
            <a:off x="544010" y="365125"/>
            <a:ext cx="10809790" cy="7214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3200"/>
              <a:buFont typeface="Arial" panose="020B0604020202020204"/>
              <a:buNone/>
            </a:pPr>
            <a:r>
              <a:rPr lang="en-US" sz="3200" b="1">
                <a:solidFill>
                  <a:srgbClr val="000000"/>
                </a:solidFill>
              </a:rPr>
              <a:t>5</a:t>
            </a:r>
            <a:r>
              <a:rPr lang="en-US" sz="3200" b="1">
                <a:solidFill>
                  <a:srgbClr val="000000"/>
                </a:solidFill>
                <a:latin typeface="Arial" panose="020B0604020202020204"/>
                <a:ea typeface="Arial" panose="020B0604020202020204"/>
                <a:cs typeface="Arial" panose="020B0604020202020204"/>
                <a:sym typeface="Arial" panose="020B0604020202020204"/>
              </a:rPr>
              <a:t>.2.4. Chiến lược marketing với xác định vấn đề</a:t>
            </a:r>
            <a:endParaRPr sz="3200"/>
          </a:p>
        </p:txBody>
      </p:sp>
      <p:grpSp>
        <p:nvGrpSpPr>
          <p:cNvPr id="2287" name="Google Shape;2287;p327"/>
          <p:cNvGrpSpPr/>
          <p:nvPr/>
        </p:nvGrpSpPr>
        <p:grpSpPr>
          <a:xfrm>
            <a:off x="1618311" y="2832100"/>
            <a:ext cx="5867400" cy="1143000"/>
            <a:chOff x="1344" y="1392"/>
            <a:chExt cx="3072" cy="288"/>
          </a:xfrm>
        </p:grpSpPr>
        <p:sp>
          <p:nvSpPr>
            <p:cNvPr id="2288" name="Google Shape;2288;p327"/>
            <p:cNvSpPr/>
            <p:nvPr/>
          </p:nvSpPr>
          <p:spPr>
            <a:xfrm>
              <a:off x="1680" y="1392"/>
              <a:ext cx="2736" cy="288"/>
            </a:xfrm>
            <a:prstGeom prst="rect">
              <a:avLst/>
            </a:prstGeom>
            <a:solidFill>
              <a:srgbClr val="F2F2F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Noto Sans Symbols"/>
                <a:buNone/>
                <a:tabLst/>
                <a:defRPr/>
              </a:pPr>
              <a:endParaRPr kumimoji="0" sz="1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289" name="Google Shape;2289;p327"/>
            <p:cNvSpPr/>
            <p:nvPr/>
          </p:nvSpPr>
          <p:spPr>
            <a:xfrm>
              <a:off x="1344" y="1392"/>
              <a:ext cx="384" cy="288"/>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Noto Sans Symbols"/>
                <a:buNone/>
                <a:tabLst/>
                <a:defRPr/>
              </a:pPr>
              <a:r>
                <a:rPr kumimoji="0" lang="en-US" sz="1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1</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grpSp>
        <p:nvGrpSpPr>
          <p:cNvPr id="2290" name="Google Shape;2290;p327"/>
          <p:cNvGrpSpPr/>
          <p:nvPr/>
        </p:nvGrpSpPr>
        <p:grpSpPr>
          <a:xfrm>
            <a:off x="1618311" y="3724372"/>
            <a:ext cx="5867400" cy="1028821"/>
            <a:chOff x="1344" y="1872"/>
            <a:chExt cx="3072" cy="288"/>
          </a:xfrm>
        </p:grpSpPr>
        <p:sp>
          <p:nvSpPr>
            <p:cNvPr id="2291" name="Google Shape;2291;p327"/>
            <p:cNvSpPr/>
            <p:nvPr/>
          </p:nvSpPr>
          <p:spPr>
            <a:xfrm>
              <a:off x="1680" y="1872"/>
              <a:ext cx="2736" cy="288"/>
            </a:xfrm>
            <a:prstGeom prst="rect">
              <a:avLst/>
            </a:pr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Noto Sans Symbols"/>
                <a:buNone/>
                <a:tabLst/>
                <a:defRPr/>
              </a:pPr>
              <a:endParaRPr kumimoji="0" sz="1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292" name="Google Shape;2292;p327"/>
            <p:cNvSpPr/>
            <p:nvPr/>
          </p:nvSpPr>
          <p:spPr>
            <a:xfrm>
              <a:off x="1344" y="1872"/>
              <a:ext cx="384" cy="28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Noto Sans Symbols"/>
                <a:buNone/>
                <a:tabLst/>
                <a:defRPr/>
              </a:pPr>
              <a:r>
                <a:rPr kumimoji="0" lang="en-US" sz="1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2</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grpSp>
        <p:nvGrpSpPr>
          <p:cNvPr id="2293" name="Google Shape;2293;p327"/>
          <p:cNvGrpSpPr/>
          <p:nvPr/>
        </p:nvGrpSpPr>
        <p:grpSpPr>
          <a:xfrm>
            <a:off x="1618311" y="4757041"/>
            <a:ext cx="5867400" cy="762000"/>
            <a:chOff x="1344" y="1392"/>
            <a:chExt cx="3072" cy="288"/>
          </a:xfrm>
        </p:grpSpPr>
        <p:sp>
          <p:nvSpPr>
            <p:cNvPr id="2294" name="Google Shape;2294;p327"/>
            <p:cNvSpPr/>
            <p:nvPr/>
          </p:nvSpPr>
          <p:spPr>
            <a:xfrm>
              <a:off x="1680" y="1392"/>
              <a:ext cx="2736" cy="288"/>
            </a:xfrm>
            <a:prstGeom prst="rect">
              <a:avLst/>
            </a:pr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Noto Sans Symbols"/>
                <a:buNone/>
                <a:tabLst/>
                <a:defRPr/>
              </a:pPr>
              <a:endParaRPr kumimoji="0" sz="1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295" name="Google Shape;2295;p327"/>
            <p:cNvSpPr/>
            <p:nvPr/>
          </p:nvSpPr>
          <p:spPr>
            <a:xfrm>
              <a:off x="1344" y="1392"/>
              <a:ext cx="384" cy="28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Noto Sans Symbols"/>
                <a:buNone/>
                <a:tabLst/>
                <a:defRPr/>
              </a:pPr>
              <a:r>
                <a:rPr kumimoji="0" lang="en-US" sz="1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3</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grpSp>
        <p:nvGrpSpPr>
          <p:cNvPr id="2296" name="Google Shape;2296;p327"/>
          <p:cNvGrpSpPr/>
          <p:nvPr/>
        </p:nvGrpSpPr>
        <p:grpSpPr>
          <a:xfrm>
            <a:off x="1640870" y="5511088"/>
            <a:ext cx="5867400" cy="838200"/>
            <a:chOff x="1344" y="1872"/>
            <a:chExt cx="3072" cy="288"/>
          </a:xfrm>
        </p:grpSpPr>
        <p:sp>
          <p:nvSpPr>
            <p:cNvPr id="2297" name="Google Shape;2297;p327"/>
            <p:cNvSpPr/>
            <p:nvPr/>
          </p:nvSpPr>
          <p:spPr>
            <a:xfrm>
              <a:off x="1680" y="1872"/>
              <a:ext cx="2736" cy="288"/>
            </a:xfrm>
            <a:prstGeom prst="rect">
              <a:avLst/>
            </a:prstGeom>
            <a:gradFill>
              <a:gsLst>
                <a:gs pos="0">
                  <a:srgbClr val="DCE2FF"/>
                </a:gs>
                <a:gs pos="100000">
                  <a:srgbClr val="9EB0FE"/>
                </a:gs>
              </a:gsLst>
              <a:lin ang="0" scaled="0"/>
            </a:gra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Noto Sans Symbols"/>
                <a:buNone/>
                <a:tabLst/>
                <a:defRPr/>
              </a:pPr>
              <a:endParaRPr kumimoji="0" sz="1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298" name="Google Shape;2298;p327"/>
            <p:cNvSpPr/>
            <p:nvPr/>
          </p:nvSpPr>
          <p:spPr>
            <a:xfrm>
              <a:off x="1344" y="1872"/>
              <a:ext cx="384" cy="288"/>
            </a:xfrm>
            <a:prstGeom prst="rect">
              <a:avLst/>
            </a:prstGeom>
            <a:gradFill>
              <a:gsLst>
                <a:gs pos="0">
                  <a:srgbClr val="573A7A"/>
                </a:gs>
                <a:gs pos="50000">
                  <a:srgbClr val="A971ED"/>
                </a:gs>
                <a:gs pos="100000">
                  <a:srgbClr val="573A7A"/>
                </a:gs>
              </a:gsLst>
              <a:lin ang="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Noto Sans Symbols"/>
                <a:buNone/>
                <a:tabLst/>
                <a:defRPr/>
              </a:pPr>
              <a:r>
                <a:rPr kumimoji="0" lang="en-US" sz="1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4</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sp>
        <p:nvSpPr>
          <p:cNvPr id="2299" name="Google Shape;2299;p327"/>
          <p:cNvSpPr/>
          <p:nvPr/>
        </p:nvSpPr>
        <p:spPr>
          <a:xfrm>
            <a:off x="2057400" y="2632868"/>
            <a:ext cx="4859338" cy="830263"/>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400"/>
              <a:buFont typeface="Noto Sans Symbols"/>
              <a:buNone/>
              <a:tabLst/>
              <a:defRPr/>
            </a:pPr>
            <a:endParaRPr kumimoji="0" sz="2400" b="0" i="0" u="none" strike="noStrike" kern="0" cap="none" spc="0" normalizeH="0" baseline="0" noProof="0">
              <a:ln>
                <a:noFill/>
              </a:ln>
              <a:solidFill>
                <a:srgbClr val="0000FF"/>
              </a:solidFill>
              <a:effectLst/>
              <a:uLnTx/>
              <a:uFillTx/>
              <a:latin typeface="Arial" panose="020B0604020202020204"/>
              <a:ea typeface="Arial" panose="020B0604020202020204"/>
              <a:cs typeface="Arial" panose="020B0604020202020204"/>
              <a:sym typeface="Arial" panose="020B0604020202020204"/>
            </a:endParaRPr>
          </a:p>
          <a:p>
            <a:pPr marL="0" marR="0" lvl="0" indent="0" algn="ctr" defTabSz="914400" rtl="0" eaLnBrk="1" fontAlgn="auto" latinLnBrk="0" hangingPunct="1">
              <a:lnSpc>
                <a:spcPct val="100000"/>
              </a:lnSpc>
              <a:spcBef>
                <a:spcPts val="0"/>
              </a:spcBef>
              <a:spcAft>
                <a:spcPts val="0"/>
              </a:spcAft>
              <a:buClr>
                <a:srgbClr val="002060"/>
              </a:buClr>
              <a:buSzPts val="2400"/>
              <a:buFont typeface="Noto Sans Symbols"/>
              <a:buNone/>
              <a:tabLst/>
              <a:defRPr/>
            </a:pPr>
            <a:r>
              <a:rPr kumimoji="0" lang="en-US"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Dựa vào khả năng trực giác</a:t>
            </a:r>
            <a:endParaRPr kumimoji="0"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endParaRPr>
          </a:p>
        </p:txBody>
      </p:sp>
      <p:sp>
        <p:nvSpPr>
          <p:cNvPr id="2300" name="Google Shape;2300;p327"/>
          <p:cNvSpPr/>
          <p:nvPr/>
        </p:nvSpPr>
        <p:spPr>
          <a:xfrm>
            <a:off x="2133600" y="3657600"/>
            <a:ext cx="4800600" cy="830263"/>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400"/>
              <a:buFont typeface="Noto Sans Symbols"/>
              <a:buNone/>
              <a:tabLst/>
              <a:defRPr/>
            </a:pPr>
            <a:endParaRPr kumimoji="0" sz="2400" b="0" i="0" u="none" strike="noStrike" kern="0" cap="none" spc="0" normalizeH="0" baseline="0" noProof="0">
              <a:ln>
                <a:noFill/>
              </a:ln>
              <a:solidFill>
                <a:srgbClr val="0000FF"/>
              </a:solidFill>
              <a:effectLst/>
              <a:uLnTx/>
              <a:uFillTx/>
              <a:latin typeface="Arial" panose="020B0604020202020204"/>
              <a:ea typeface="Arial" panose="020B0604020202020204"/>
              <a:cs typeface="Arial" panose="020B0604020202020204"/>
              <a:sym typeface="Arial" panose="020B0604020202020204"/>
            </a:endParaRPr>
          </a:p>
          <a:p>
            <a:pPr marL="0" marR="0" lvl="0" indent="0" algn="ctr" defTabSz="914400" rtl="0" eaLnBrk="1" fontAlgn="auto" latinLnBrk="0" hangingPunct="1">
              <a:lnSpc>
                <a:spcPct val="100000"/>
              </a:lnSpc>
              <a:spcBef>
                <a:spcPts val="0"/>
              </a:spcBef>
              <a:spcAft>
                <a:spcPts val="0"/>
              </a:spcAft>
              <a:buClr>
                <a:srgbClr val="002060"/>
              </a:buClr>
              <a:buSzPts val="2400"/>
              <a:buFont typeface="Noto Sans Symbols"/>
              <a:buNone/>
              <a:tabLst/>
              <a:defRPr/>
            </a:pPr>
            <a:r>
              <a:rPr kumimoji="0" lang="en-US"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Điều tra trực tiếp</a:t>
            </a:r>
            <a:endParaRPr kumimoji="0"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endParaRPr>
          </a:p>
        </p:txBody>
      </p:sp>
      <p:sp>
        <p:nvSpPr>
          <p:cNvPr id="2301" name="Google Shape;2301;p327"/>
          <p:cNvSpPr/>
          <p:nvPr/>
        </p:nvSpPr>
        <p:spPr>
          <a:xfrm>
            <a:off x="2351736" y="4495800"/>
            <a:ext cx="4582464" cy="830263"/>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Noto Sans Symbols"/>
              <a:buNone/>
              <a:tabLst/>
              <a:defRPr/>
            </a:pPr>
            <a:endParaRPr kumimoji="0" sz="2400" b="0" i="0" u="none" strike="noStrike" kern="0" cap="none" spc="0" normalizeH="0" baseline="0" noProof="0">
              <a:ln>
                <a:noFill/>
              </a:ln>
              <a:solidFill>
                <a:srgbClr val="0000FF"/>
              </a:solidFill>
              <a:effectLst/>
              <a:uLnTx/>
              <a:uFillTx/>
              <a:latin typeface="Arial" panose="020B0604020202020204"/>
              <a:ea typeface="Arial" panose="020B0604020202020204"/>
              <a:cs typeface="Arial" panose="020B0604020202020204"/>
              <a:sym typeface="Arial" panose="020B0604020202020204"/>
            </a:endParaRPr>
          </a:p>
          <a:p>
            <a:pPr marL="0" marR="0" lvl="0" indent="0" algn="ctr" defTabSz="914400" rtl="0" eaLnBrk="1" fontAlgn="auto" latinLnBrk="0" hangingPunct="1">
              <a:lnSpc>
                <a:spcPct val="100000"/>
              </a:lnSpc>
              <a:spcBef>
                <a:spcPts val="0"/>
              </a:spcBef>
              <a:spcAft>
                <a:spcPts val="0"/>
              </a:spcAft>
              <a:buClr>
                <a:srgbClr val="002060"/>
              </a:buClr>
              <a:buSzPts val="2400"/>
              <a:buFont typeface="Noto Sans Symbols"/>
              <a:buNone/>
              <a:tabLst/>
              <a:defRPr/>
            </a:pPr>
            <a:r>
              <a:rPr kumimoji="0" lang="en-US"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Sử dụng nhóm trọng điểm</a:t>
            </a:r>
            <a:endParaRPr kumimoji="0"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endParaRPr>
          </a:p>
        </p:txBody>
      </p:sp>
      <p:sp>
        <p:nvSpPr>
          <p:cNvPr id="2302" name="Google Shape;2302;p327"/>
          <p:cNvSpPr/>
          <p:nvPr/>
        </p:nvSpPr>
        <p:spPr>
          <a:xfrm>
            <a:off x="2133600" y="4953000"/>
            <a:ext cx="5181600" cy="1200329"/>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400"/>
              <a:buFont typeface="Noto Sans Symbols"/>
              <a:buNone/>
              <a:tabLst/>
              <a:defRPr/>
            </a:pPr>
            <a:endParaRPr kumimoji="0"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400"/>
              <a:buFont typeface="Noto Sans Symbols"/>
              <a:buNone/>
              <a:tabLst/>
              <a:defRPr/>
            </a:pPr>
            <a:endParaRPr kumimoji="0" sz="2400" b="0" i="0" u="none" strike="noStrike" kern="0" cap="none" spc="0" normalizeH="0" baseline="0" noProof="0">
              <a:ln>
                <a:noFill/>
              </a:ln>
              <a:solidFill>
                <a:srgbClr val="0000FF"/>
              </a:solidFill>
              <a:effectLst/>
              <a:uLnTx/>
              <a:uFillTx/>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FF"/>
              </a:buClr>
              <a:buSzPts val="2400"/>
              <a:buFont typeface="Noto Sans Symbols"/>
              <a:buNone/>
              <a:tabLst/>
              <a:defRPr/>
            </a:pPr>
            <a:r>
              <a:rPr kumimoji="0" lang="en-US" sz="2400" b="0" i="0" u="none" strike="noStrike" kern="0" cap="none" spc="0" normalizeH="0" baseline="0" noProof="0">
                <a:ln>
                  <a:noFill/>
                </a:ln>
                <a:solidFill>
                  <a:srgbClr val="0000FF"/>
                </a:solidFill>
                <a:effectLst/>
                <a:uLnTx/>
                <a:uFillTx/>
                <a:latin typeface="Arial" panose="020B0604020202020204"/>
                <a:ea typeface="Arial" panose="020B0604020202020204"/>
                <a:cs typeface="Arial" panose="020B0604020202020204"/>
                <a:sym typeface="Arial" panose="020B0604020202020204"/>
              </a:rPr>
              <a:t>Nghiên cứu nhân tố con người</a:t>
            </a:r>
            <a:endParaRPr kumimoji="0" sz="2400" b="0" i="0" u="none" strike="noStrike" kern="0" cap="none" spc="0" normalizeH="0" baseline="0" noProof="0">
              <a:ln>
                <a:noFill/>
              </a:ln>
              <a:solidFill>
                <a:srgbClr val="0000FF"/>
              </a:solidFill>
              <a:effectLst/>
              <a:uLnTx/>
              <a:uFillTx/>
              <a:latin typeface="Arial" panose="020B0604020202020204"/>
              <a:ea typeface="Arial" panose="020B0604020202020204"/>
              <a:cs typeface="Arial" panose="020B0604020202020204"/>
              <a:sym typeface="Arial" panose="020B0604020202020204"/>
            </a:endParaRPr>
          </a:p>
        </p:txBody>
      </p:sp>
      <p:grpSp>
        <p:nvGrpSpPr>
          <p:cNvPr id="2303" name="Google Shape;2303;p327"/>
          <p:cNvGrpSpPr/>
          <p:nvPr/>
        </p:nvGrpSpPr>
        <p:grpSpPr>
          <a:xfrm>
            <a:off x="1562100" y="5474615"/>
            <a:ext cx="5867400" cy="838200"/>
            <a:chOff x="1344" y="1872"/>
            <a:chExt cx="3072" cy="288"/>
          </a:xfrm>
        </p:grpSpPr>
        <p:sp>
          <p:nvSpPr>
            <p:cNvPr id="2304" name="Google Shape;2304;p327"/>
            <p:cNvSpPr/>
            <p:nvPr/>
          </p:nvSpPr>
          <p:spPr>
            <a:xfrm>
              <a:off x="1680" y="1872"/>
              <a:ext cx="2736" cy="28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333160"/>
                </a:buClr>
                <a:buSzPts val="2400"/>
                <a:buFont typeface="Noto Sans Symbols"/>
                <a:buNone/>
                <a:tabLst/>
                <a:defRPr/>
              </a:pPr>
              <a:r>
                <a:rPr kumimoji="0" lang="en-US" sz="2400" b="0" i="0" u="none" strike="noStrike" kern="0" cap="none" spc="0" normalizeH="0" baseline="0" noProof="0">
                  <a:ln>
                    <a:noFill/>
                  </a:ln>
                  <a:solidFill>
                    <a:srgbClr val="333160"/>
                  </a:solidFill>
                  <a:effectLst/>
                  <a:uLnTx/>
                  <a:uFillTx/>
                  <a:latin typeface="Arial" panose="020B0604020202020204"/>
                  <a:ea typeface="Arial" panose="020B0604020202020204"/>
                  <a:cs typeface="Arial" panose="020B0604020202020204"/>
                  <a:sym typeface="Arial" panose="020B0604020202020204"/>
                </a:rPr>
                <a:t>Nghiên cứu nhân tố con người</a:t>
              </a:r>
              <a:endParaRPr kumimoji="0" sz="2400" b="0" i="0" u="none" strike="noStrike" kern="0" cap="none" spc="0" normalizeH="0" baseline="0" noProof="0">
                <a:ln>
                  <a:noFill/>
                </a:ln>
                <a:solidFill>
                  <a:srgbClr val="333160"/>
                </a:solidFill>
                <a:effectLst/>
                <a:uLnTx/>
                <a:uFillTx/>
                <a:latin typeface="Arial" panose="020B0604020202020204"/>
                <a:ea typeface="Arial" panose="020B0604020202020204"/>
                <a:cs typeface="Arial" panose="020B0604020202020204"/>
                <a:sym typeface="Arial" panose="020B0604020202020204"/>
              </a:endParaRPr>
            </a:p>
          </p:txBody>
        </p:sp>
        <p:sp>
          <p:nvSpPr>
            <p:cNvPr id="2305" name="Google Shape;2305;p327"/>
            <p:cNvSpPr/>
            <p:nvPr/>
          </p:nvSpPr>
          <p:spPr>
            <a:xfrm>
              <a:off x="1344" y="1872"/>
              <a:ext cx="384" cy="28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Noto Sans Symbols"/>
                <a:buNone/>
                <a:tabLst/>
                <a:defRPr/>
              </a:pPr>
              <a:r>
                <a:rPr kumimoji="0" lang="en-US" sz="1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4</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sp>
        <p:nvSpPr>
          <p:cNvPr id="2306" name="Google Shape;2306;p327"/>
          <p:cNvSpPr>
            <a:spLocks noGrp="1"/>
          </p:cNvSpPr>
          <p:nvPr>
            <p:ph type="body" idx="1"/>
          </p:nvPr>
        </p:nvSpPr>
        <p:spPr>
          <a:xfrm>
            <a:off x="1562100" y="1780826"/>
            <a:ext cx="5946170" cy="982663"/>
          </a:xfrm>
          <a:prstGeom prst="roundRect">
            <a:avLst>
              <a:gd name="adj" fmla="val 16667"/>
            </a:avLst>
          </a:prstGeom>
          <a:solidFill>
            <a:schemeClr val="lt1"/>
          </a:solidFill>
          <a:ln w="25400" cap="flat" cmpd="sng">
            <a:solidFill>
              <a:schemeClr val="dk1"/>
            </a:solidFill>
            <a:prstDash val="solid"/>
            <a:round/>
            <a:headEnd type="none" w="sm" len="sm"/>
            <a:tailEnd type="none" w="sm" len="sm"/>
          </a:ln>
          <a:effectLst>
            <a:outerShdw dist="107763" dir="2700000" algn="ctr" rotWithShape="0">
              <a:srgbClr val="000000">
                <a:alpha val="49803"/>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1800"/>
              <a:buNone/>
            </a:pPr>
            <a:r>
              <a:rPr lang="en-US" sz="1800" b="1">
                <a:latin typeface="Arial" panose="020B0604020202020204"/>
                <a:ea typeface="Arial" panose="020B0604020202020204"/>
                <a:cs typeface="Arial" panose="020B0604020202020204"/>
                <a:sym typeface="Arial" panose="020B0604020202020204"/>
              </a:rPr>
              <a:t>CÁC PHƯƠNG PHÁP XÁC ĐỊNH VẤN ĐỀ CỦA KH</a:t>
            </a:r>
          </a:p>
        </p:txBody>
      </p:sp>
      <p:sp>
        <p:nvSpPr>
          <p:cNvPr id="2307" name="Google Shape;2307;p327"/>
          <p:cNvSpPr/>
          <p:nvPr/>
        </p:nvSpPr>
        <p:spPr>
          <a:xfrm>
            <a:off x="799390" y="1146007"/>
            <a:ext cx="7375358" cy="52322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Noto Sans Symbols"/>
              <a:buChar char="❖"/>
              <a:tabLst/>
              <a:defRPr/>
            </a:pPr>
            <a:r>
              <a:rPr kumimoji="0" lang="en-US" sz="2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Khám phá vấn đề của khách hàng </a:t>
            </a:r>
            <a:endParaRPr kumimoji="0"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Shape 2311"/>
        <p:cNvGrpSpPr/>
        <p:nvPr/>
      </p:nvGrpSpPr>
      <p:grpSpPr>
        <a:xfrm>
          <a:off x="0" y="0"/>
          <a:ext cx="0" cy="0"/>
          <a:chOff x="0" y="0"/>
          <a:chExt cx="0" cy="0"/>
        </a:xfrm>
      </p:grpSpPr>
      <p:sp>
        <p:nvSpPr>
          <p:cNvPr id="2312" name="Google Shape;2312;p328"/>
          <p:cNvSpPr txBox="1">
            <a:spLocks noGrp="1"/>
          </p:cNvSpPr>
          <p:nvPr>
            <p:ph type="title"/>
          </p:nvPr>
        </p:nvSpPr>
        <p:spPr>
          <a:xfrm>
            <a:off x="239486" y="365125"/>
            <a:ext cx="10856089" cy="6102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3200"/>
              <a:buFont typeface="Arial" panose="020B0604020202020204"/>
              <a:buNone/>
            </a:pPr>
            <a:r>
              <a:rPr lang="en-US" sz="3200" b="1">
                <a:solidFill>
                  <a:srgbClr val="000000"/>
                </a:solidFill>
              </a:rPr>
              <a:t>5</a:t>
            </a:r>
            <a:r>
              <a:rPr lang="en-US" sz="3200" b="1">
                <a:solidFill>
                  <a:srgbClr val="000000"/>
                </a:solidFill>
                <a:latin typeface="Arial" panose="020B0604020202020204"/>
                <a:ea typeface="Arial" panose="020B0604020202020204"/>
                <a:cs typeface="Arial" panose="020B0604020202020204"/>
                <a:sym typeface="Arial" panose="020B0604020202020204"/>
              </a:rPr>
              <a:t>.2.4. Chiến lược marketing với xác định vấn đề</a:t>
            </a:r>
          </a:p>
        </p:txBody>
      </p:sp>
      <p:sp>
        <p:nvSpPr>
          <p:cNvPr id="2313" name="Google Shape;2313;p328"/>
          <p:cNvSpPr txBox="1">
            <a:spLocks noGrp="1"/>
          </p:cNvSpPr>
          <p:nvPr>
            <p:ph type="body" idx="1"/>
          </p:nvPr>
        </p:nvSpPr>
        <p:spPr>
          <a:xfrm>
            <a:off x="239486" y="1308689"/>
            <a:ext cx="11506200" cy="5201603"/>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ct val="108000"/>
              <a:buFont typeface="Noto Sans Symbols"/>
              <a:buChar char="❖"/>
            </a:pPr>
            <a:r>
              <a:rPr lang="en-US" b="1" err="1">
                <a:latin typeface="Arial" panose="020B0604020202020204"/>
                <a:ea typeface="Arial" panose="020B0604020202020204"/>
                <a:cs typeface="Arial" panose="020B0604020202020204"/>
                <a:sym typeface="Arial" panose="020B0604020202020204"/>
              </a:rPr>
              <a:t>Phân</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tích</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hoạt</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động</a:t>
            </a:r>
            <a:r>
              <a:rPr lang="en-US" b="1">
                <a:latin typeface="Arial" panose="020B0604020202020204"/>
                <a:ea typeface="Arial" panose="020B0604020202020204"/>
                <a:cs typeface="Arial" panose="020B0604020202020204"/>
                <a:sym typeface="Arial" panose="020B0604020202020204"/>
              </a:rPr>
              <a:t> </a:t>
            </a:r>
            <a:endParaRPr>
              <a:latin typeface="Arial" panose="020B0604020202020204"/>
              <a:ea typeface="Arial" panose="020B0604020202020204"/>
              <a:cs typeface="Arial" panose="020B0604020202020204"/>
              <a:sym typeface="Arial" panose="020B0604020202020204"/>
            </a:endParaRPr>
          </a:p>
          <a:p>
            <a:pPr marL="457200" lvl="0" indent="-457200" algn="just" rtl="0">
              <a:lnSpc>
                <a:spcPct val="150000"/>
              </a:lnSpc>
              <a:spcBef>
                <a:spcPts val="1000"/>
              </a:spcBef>
              <a:spcAft>
                <a:spcPts val="0"/>
              </a:spcAft>
              <a:buClr>
                <a:schemeClr val="dk1"/>
              </a:buClr>
              <a:buSzPct val="108000"/>
              <a:buFont typeface="Arial" panose="020B0604020202020204"/>
              <a:buChar char="•"/>
            </a:pPr>
            <a:r>
              <a:rPr lang="en-US">
                <a:latin typeface="Arial" panose="020B0604020202020204"/>
                <a:ea typeface="Arial" panose="020B0604020202020204"/>
                <a:cs typeface="Arial" panose="020B0604020202020204"/>
                <a:sym typeface="Arial" panose="020B0604020202020204"/>
              </a:rPr>
              <a:t>Kruger; </a:t>
            </a:r>
            <a:r>
              <a:rPr lang="en-US" err="1">
                <a:latin typeface="Arial" panose="020B0604020202020204"/>
                <a:ea typeface="Arial" panose="020B0604020202020204"/>
                <a:cs typeface="Arial" panose="020B0604020202020204"/>
                <a:sym typeface="Arial" panose="020B0604020202020204"/>
              </a:rPr>
              <a:t>Kragic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Ude</a:t>
            </a:r>
            <a:r>
              <a:rPr lang="en-US">
                <a:latin typeface="Arial" panose="020B0604020202020204"/>
                <a:ea typeface="Arial" panose="020B0604020202020204"/>
                <a:cs typeface="Arial" panose="020B0604020202020204"/>
                <a:sym typeface="Arial" panose="020B0604020202020204"/>
              </a:rPr>
              <a:t> &amp; </a:t>
            </a:r>
            <a:r>
              <a:rPr lang="en-US" err="1">
                <a:latin typeface="Arial" panose="020B0604020202020204"/>
                <a:ea typeface="Arial" panose="020B0604020202020204"/>
                <a:cs typeface="Arial" panose="020B0604020202020204"/>
                <a:sym typeface="Arial" panose="020B0604020202020204"/>
              </a:rPr>
              <a:t>Geib</a:t>
            </a:r>
            <a:r>
              <a:rPr lang="en-US">
                <a:latin typeface="Arial" panose="020B0604020202020204"/>
                <a:ea typeface="Arial" panose="020B0604020202020204"/>
                <a:cs typeface="Arial" panose="020B0604020202020204"/>
                <a:sym typeface="Arial" panose="020B0604020202020204"/>
              </a:rPr>
              <a:t> (2007) </a:t>
            </a:r>
            <a:r>
              <a:rPr lang="en-US" err="1">
                <a:latin typeface="Arial" panose="020B0604020202020204"/>
                <a:ea typeface="Arial" panose="020B0604020202020204"/>
                <a:cs typeface="Arial" panose="020B0604020202020204"/>
                <a:sym typeface="Arial" panose="020B0604020202020204"/>
              </a:rPr>
              <a:t>đã</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xem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xét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phương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pháp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tiếp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cận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hành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động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của</a:t>
            </a:r>
            <a:r>
              <a:rPr lang="en-US">
                <a:latin typeface="Arial" panose="020B0604020202020204"/>
                <a:ea typeface="Arial" panose="020B0604020202020204"/>
                <a:cs typeface="Arial" panose="020B0604020202020204"/>
                <a:sym typeface="Arial" panose="020B0604020202020204"/>
              </a:rPr>
              <a:t> con </a:t>
            </a:r>
            <a:r>
              <a:rPr lang="en-US" err="1">
                <a:latin typeface="Arial" panose="020B0604020202020204"/>
                <a:ea typeface="Arial" panose="020B0604020202020204"/>
                <a:cs typeface="Arial" panose="020B0604020202020204"/>
                <a:sym typeface="Arial" panose="020B0604020202020204"/>
              </a:rPr>
              <a:t>người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trong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loại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chúng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dựa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sự</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phức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tạp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của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tính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năng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liên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quan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trình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định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trình</a:t>
            </a:r>
            <a:r>
              <a:rPr lang="en-US">
                <a:latin typeface="Arial" panose="020B0604020202020204"/>
                <a:ea typeface="Arial" panose="020B0604020202020204"/>
                <a:cs typeface="Arial" panose="020B0604020202020204"/>
                <a:sym typeface="Arial" panose="020B0604020202020204"/>
              </a:rPr>
              <a:t>.</a:t>
            </a:r>
          </a:p>
          <a:p>
            <a:pPr marL="457200" lvl="0" indent="-457200" algn="just" rtl="0">
              <a:lnSpc>
                <a:spcPct val="150000"/>
              </a:lnSpc>
              <a:spcBef>
                <a:spcPts val="1000"/>
              </a:spcBef>
              <a:spcAft>
                <a:spcPts val="0"/>
              </a:spcAft>
              <a:buClr>
                <a:schemeClr val="dk1"/>
              </a:buClr>
              <a:buSzPct val="108000"/>
              <a:buFont typeface="Arial" panose="020B0604020202020204"/>
              <a:buChar char="•"/>
            </a:pPr>
            <a:r>
              <a:rPr lang="en-US" err="1">
                <a:latin typeface="Arial" panose="020B0604020202020204"/>
                <a:ea typeface="Arial" panose="020B0604020202020204"/>
                <a:cs typeface="Arial" panose="020B0604020202020204"/>
                <a:sym typeface="Arial" panose="020B0604020202020204"/>
              </a:rPr>
              <a:t>Phân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tích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hoạt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động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tập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trung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vào</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hoạt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động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cụ</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chẳng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hạn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người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xe</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điện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hoặc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xe</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gắn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máy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dễ</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bị</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máy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trời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mưa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hoặc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triều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cường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chính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vì</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thế</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Vinfast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cho</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ra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đời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xe</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điện</a:t>
            </a:r>
            <a:r>
              <a:rPr lang="en-US">
                <a:latin typeface="Arial" panose="020B0604020202020204"/>
                <a:ea typeface="Arial" panose="020B0604020202020204"/>
                <a:cs typeface="Arial" panose="020B0604020202020204"/>
                <a:sym typeface="Arial" panose="020B0604020202020204"/>
              </a:rPr>
              <a:t> Kala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được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đoạn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đường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ngập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nước</a:t>
            </a:r>
            <a:r>
              <a:rPr lang="en-US">
                <a:latin typeface="Arial" panose="020B0604020202020204"/>
                <a:ea typeface="Arial" panose="020B0604020202020204"/>
                <a:cs typeface="Arial" panose="020B0604020202020204"/>
                <a:sym typeface="Arial" panose="020B0604020202020204"/>
              </a:rPr>
              <a:t> do </a:t>
            </a:r>
            <a:r>
              <a:rPr lang="en-US" err="1">
                <a:latin typeface="Arial" panose="020B0604020202020204"/>
                <a:ea typeface="Arial" panose="020B0604020202020204"/>
                <a:cs typeface="Arial" panose="020B0604020202020204"/>
                <a:sym typeface="Arial" panose="020B0604020202020204"/>
              </a:rPr>
              <a:t>mưa</a:t>
            </a:r>
            <a:r>
              <a:rPr lang="en-US">
                <a:latin typeface="Arial" panose="020B0604020202020204"/>
                <a:ea typeface="Arial" panose="020B0604020202020204"/>
                <a:cs typeface="Arial" panose="020B0604020202020204"/>
                <a:sym typeface="Arial" panose="020B0604020202020204"/>
              </a:rPr>
              <a:t> hay </a:t>
            </a:r>
            <a:r>
              <a:rPr lang="en-US" err="1">
                <a:latin typeface="Arial" panose="020B0604020202020204"/>
                <a:ea typeface="Arial" panose="020B0604020202020204"/>
                <a:cs typeface="Arial" panose="020B0604020202020204"/>
                <a:sym typeface="Arial" panose="020B0604020202020204"/>
              </a:rPr>
              <a:t>triều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cường</a:t>
            </a:r>
            <a:r>
              <a:rPr lang="en-US">
                <a:latin typeface="Arial" panose="020B0604020202020204"/>
                <a:ea typeface="Arial" panose="020B0604020202020204"/>
                <a:cs typeface="Arial" panose="020B0604020202020204"/>
                <a:sym typeface="Arial" panose="020B0604020202020204"/>
              </a:rPr>
              <a:t>. </a:t>
            </a:r>
          </a:p>
          <a:p>
            <a:pPr marL="0" lvl="0" indent="0" algn="l" rtl="0">
              <a:lnSpc>
                <a:spcPct val="90000"/>
              </a:lnSpc>
              <a:spcBef>
                <a:spcPts val="1000"/>
              </a:spcBef>
              <a:spcAft>
                <a:spcPts val="0"/>
              </a:spcAft>
              <a:buClr>
                <a:schemeClr val="dk1"/>
              </a:buClr>
              <a:buSzPct val="108000"/>
              <a:buNone/>
            </a:pPr>
            <a:endParaRPr lang="en-US">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Shape 2317"/>
        <p:cNvGrpSpPr/>
        <p:nvPr/>
      </p:nvGrpSpPr>
      <p:grpSpPr>
        <a:xfrm>
          <a:off x="0" y="0"/>
          <a:ext cx="0" cy="0"/>
          <a:chOff x="0" y="0"/>
          <a:chExt cx="0" cy="0"/>
        </a:xfrm>
      </p:grpSpPr>
      <p:sp>
        <p:nvSpPr>
          <p:cNvPr id="2318" name="Google Shape;2318;p329"/>
          <p:cNvSpPr txBox="1">
            <a:spLocks noGrp="1"/>
          </p:cNvSpPr>
          <p:nvPr>
            <p:ph type="title"/>
          </p:nvPr>
        </p:nvSpPr>
        <p:spPr>
          <a:xfrm>
            <a:off x="239486" y="365125"/>
            <a:ext cx="10856089" cy="6102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3200"/>
              <a:buFont typeface="Arial" panose="020B0604020202020204"/>
              <a:buNone/>
            </a:pPr>
            <a:r>
              <a:rPr lang="en-US" sz="3200" b="1">
                <a:solidFill>
                  <a:srgbClr val="000000"/>
                </a:solidFill>
              </a:rPr>
              <a:t>5</a:t>
            </a:r>
            <a:r>
              <a:rPr lang="en-US" sz="3200" b="1">
                <a:solidFill>
                  <a:srgbClr val="000000"/>
                </a:solidFill>
                <a:latin typeface="Arial" panose="020B0604020202020204"/>
                <a:ea typeface="Arial" panose="020B0604020202020204"/>
                <a:cs typeface="Arial" panose="020B0604020202020204"/>
                <a:sym typeface="Arial" panose="020B0604020202020204"/>
              </a:rPr>
              <a:t>.2.4. Chiến lược marketing với xác định vấn đề</a:t>
            </a:r>
          </a:p>
        </p:txBody>
      </p:sp>
      <p:sp>
        <p:nvSpPr>
          <p:cNvPr id="2319" name="Google Shape;2319;p329"/>
          <p:cNvSpPr txBox="1">
            <a:spLocks noGrp="1"/>
          </p:cNvSpPr>
          <p:nvPr>
            <p:ph type="body" idx="1"/>
          </p:nvPr>
        </p:nvSpPr>
        <p:spPr>
          <a:xfrm>
            <a:off x="239486" y="1308689"/>
            <a:ext cx="11506200" cy="520160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b="1" err="1">
                <a:latin typeface="Arial" panose="020B0604020202020204"/>
                <a:ea typeface="Arial" panose="020B0604020202020204"/>
                <a:cs typeface="Arial" panose="020B0604020202020204"/>
                <a:sym typeface="Arial" panose="020B0604020202020204"/>
              </a:rPr>
              <a:t>Phân</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tích</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sản</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phẩm</a:t>
            </a:r>
            <a:endParaRPr>
              <a:latin typeface="Arial" panose="020B0604020202020204"/>
              <a:ea typeface="Arial" panose="020B0604020202020204"/>
              <a:cs typeface="Arial" panose="020B0604020202020204"/>
              <a:sym typeface="Arial" panose="020B0604020202020204"/>
            </a:endParaRPr>
          </a:p>
          <a:p>
            <a:pPr marL="457200" lvl="0" indent="-457200" algn="just" rtl="0">
              <a:lnSpc>
                <a:spcPct val="150000"/>
              </a:lnSpc>
              <a:spcBef>
                <a:spcPts val="1000"/>
              </a:spcBef>
              <a:spcAft>
                <a:spcPts val="0"/>
              </a:spcAft>
              <a:buClr>
                <a:schemeClr val="dk1"/>
              </a:buClr>
              <a:buSzPts val="2800"/>
              <a:buFont typeface="Arial" panose="020B0604020202020204"/>
              <a:buChar char="•"/>
            </a:pPr>
            <a:r>
              <a:rPr lang="en-US" err="1">
                <a:latin typeface="Arial" panose="020B0604020202020204"/>
                <a:ea typeface="Arial" panose="020B0604020202020204"/>
                <a:cs typeface="Arial" panose="020B0604020202020204"/>
                <a:sym typeface="Arial" panose="020B0604020202020204"/>
              </a:rPr>
              <a:t>Tương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tự</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như</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tích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hoạt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động</a:t>
            </a:r>
            <a:r>
              <a:rPr lang="en-US">
                <a:latin typeface="Arial" panose="020B0604020202020204"/>
                <a:ea typeface="Arial" panose="020B0604020202020204"/>
                <a:cs typeface="Arial" panose="020B0604020202020204"/>
                <a:sym typeface="Arial" panose="020B0604020202020204"/>
              </a:rPr>
              <a:t> ở </a:t>
            </a:r>
            <a:r>
              <a:rPr lang="en-US" err="1">
                <a:latin typeface="Arial" panose="020B0604020202020204"/>
                <a:ea typeface="Arial" panose="020B0604020202020204"/>
                <a:cs typeface="Arial" panose="020B0604020202020204"/>
                <a:sym typeface="Arial" panose="020B0604020202020204"/>
              </a:rPr>
              <a:t>trên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nhưng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tích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phẩm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sẽ</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kiểm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việc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mua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sử</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dụng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phẩm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hoặc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hiệu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cụ</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a:t>
            </a:r>
          </a:p>
          <a:p>
            <a:pPr marL="457200" lvl="0" indent="-457200" algn="l" rtl="0">
              <a:lnSpc>
                <a:spcPct val="150000"/>
              </a:lnSpc>
              <a:spcBef>
                <a:spcPts val="1000"/>
              </a:spcBef>
              <a:spcAft>
                <a:spcPts val="0"/>
              </a:spcAft>
              <a:buClr>
                <a:schemeClr val="dk1"/>
              </a:buClr>
              <a:buSzPts val="2800"/>
              <a:buFont typeface="Arial" panose="020B0604020202020204"/>
              <a:buChar char="•"/>
            </a:pPr>
            <a:r>
              <a:rPr lang="en-US">
                <a:latin typeface="Arial" panose="020B0604020202020204"/>
                <a:ea typeface="Arial" panose="020B0604020202020204"/>
                <a:cs typeface="Arial" panose="020B0604020202020204"/>
                <a:sym typeface="Arial" panose="020B0604020202020204"/>
              </a:rPr>
              <a:t>Do </a:t>
            </a:r>
            <a:r>
              <a:rPr lang="en-US" err="1">
                <a:latin typeface="Arial" panose="020B0604020202020204"/>
                <a:ea typeface="Arial" panose="020B0604020202020204"/>
                <a:cs typeface="Arial" panose="020B0604020202020204"/>
                <a:sym typeface="Arial" panose="020B0604020202020204"/>
              </a:rPr>
              <a:t>đó</a:t>
            </a:r>
            <a:r>
              <a:rPr lang="en-US">
                <a:latin typeface="Arial" panose="020B0604020202020204"/>
                <a:ea typeface="Arial" panose="020B0604020202020204"/>
                <a:cs typeface="Arial" panose="020B0604020202020204"/>
                <a:sym typeface="Arial" panose="020B0604020202020204"/>
              </a:rPr>
              <a:t> KH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được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hỏi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liên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quan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việc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sử</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dụng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phẩm</a:t>
            </a:r>
            <a:r>
              <a:rPr lang="en-US">
                <a:latin typeface="Arial" panose="020B0604020202020204"/>
                <a:ea typeface="Arial" panose="020B0604020202020204"/>
                <a:cs typeface="Arial" panose="020B0604020202020204"/>
                <a:sym typeface="Arial" panose="020B0604020202020204"/>
              </a:rPr>
              <a:t>. </a:t>
            </a:r>
          </a:p>
          <a:p>
            <a:pPr marL="0" lvl="0" indent="0" algn="l" rtl="0">
              <a:lnSpc>
                <a:spcPct val="90000"/>
              </a:lnSpc>
              <a:spcBef>
                <a:spcPts val="1000"/>
              </a:spcBef>
              <a:spcAft>
                <a:spcPts val="0"/>
              </a:spcAft>
              <a:buClr>
                <a:schemeClr val="dk1"/>
              </a:buClr>
              <a:buSzPts val="2800"/>
              <a:buNone/>
            </a:pPr>
            <a:endParaRPr lang="en-US">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Shape 2323"/>
        <p:cNvGrpSpPr/>
        <p:nvPr/>
      </p:nvGrpSpPr>
      <p:grpSpPr>
        <a:xfrm>
          <a:off x="0" y="0"/>
          <a:ext cx="0" cy="0"/>
          <a:chOff x="0" y="0"/>
          <a:chExt cx="0" cy="0"/>
        </a:xfrm>
      </p:grpSpPr>
      <p:sp>
        <p:nvSpPr>
          <p:cNvPr id="2325" name="Google Shape;2325;p330"/>
          <p:cNvSpPr txBox="1">
            <a:spLocks noGrp="1"/>
          </p:cNvSpPr>
          <p:nvPr>
            <p:ph type="body" idx="1"/>
          </p:nvPr>
        </p:nvSpPr>
        <p:spPr>
          <a:xfrm>
            <a:off x="272143" y="902825"/>
            <a:ext cx="11591907" cy="595517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b="1" err="1">
                <a:latin typeface="Arial" panose="020B0604020202020204"/>
                <a:ea typeface="Arial" panose="020B0604020202020204"/>
                <a:cs typeface="Arial" panose="020B0604020202020204"/>
                <a:sym typeface="Arial" panose="020B0604020202020204"/>
              </a:rPr>
              <a:t>Phân</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tích</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vấn</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đề</a:t>
            </a:r>
            <a:r>
              <a:rPr lang="en-US" b="1">
                <a:latin typeface="Arial" panose="020B0604020202020204"/>
                <a:ea typeface="Arial" panose="020B0604020202020204"/>
                <a:cs typeface="Arial" panose="020B0604020202020204"/>
                <a:sym typeface="Arial" panose="020B0604020202020204"/>
              </a:rPr>
              <a:t> </a:t>
            </a:r>
            <a:endParaRPr>
              <a:latin typeface="Arial" panose="020B0604020202020204"/>
              <a:ea typeface="Arial" panose="020B0604020202020204"/>
              <a:cs typeface="Arial" panose="020B0604020202020204"/>
              <a:sym typeface="Arial" panose="020B0604020202020204"/>
            </a:endParaRPr>
          </a:p>
          <a:p>
            <a:pPr marL="457200" lvl="0" indent="-457200" algn="just" rtl="0">
              <a:lnSpc>
                <a:spcPct val="150000"/>
              </a:lnSpc>
              <a:spcBef>
                <a:spcPts val="1000"/>
              </a:spcBef>
              <a:spcAft>
                <a:spcPts val="0"/>
              </a:spcAft>
              <a:buClr>
                <a:schemeClr val="dk1"/>
              </a:buClr>
              <a:buSzPts val="2900"/>
              <a:buFont typeface="Arial" panose="020B0604020202020204"/>
              <a:buChar char="•"/>
            </a:pPr>
            <a:r>
              <a:rPr lang="en-US">
                <a:latin typeface="Arial" panose="020B0604020202020204"/>
                <a:ea typeface="Arial" panose="020B0604020202020204"/>
                <a:cs typeface="Arial" panose="020B0604020202020204"/>
                <a:sym typeface="Arial" panose="020B0604020202020204"/>
              </a:rPr>
              <a:t>DN </a:t>
            </a:r>
            <a:r>
              <a:rPr lang="en-US" err="1">
                <a:latin typeface="Arial" panose="020B0604020202020204"/>
                <a:ea typeface="Arial" panose="020B0604020202020204"/>
                <a:cs typeface="Arial" panose="020B0604020202020204"/>
                <a:sym typeface="Arial" panose="020B0604020202020204"/>
              </a:rPr>
              <a:t>đưa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ra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yêu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cầu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đáp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viên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chỉ</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ra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những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hoạt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động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phẩm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hoặc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thương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hiệu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nào</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được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liên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với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những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đó</a:t>
            </a:r>
            <a:r>
              <a:rPr lang="en-US">
                <a:latin typeface="Arial" panose="020B0604020202020204"/>
                <a:ea typeface="Arial" panose="020B0604020202020204"/>
                <a:cs typeface="Arial" panose="020B0604020202020204"/>
                <a:sym typeface="Arial" panose="020B0604020202020204"/>
              </a:rPr>
              <a:t>.</a:t>
            </a:r>
          </a:p>
          <a:p>
            <a:pPr marL="457200" lvl="0" indent="-457200" algn="just" rtl="0">
              <a:lnSpc>
                <a:spcPct val="150000"/>
              </a:lnSpc>
              <a:spcBef>
                <a:spcPts val="1000"/>
              </a:spcBef>
              <a:spcAft>
                <a:spcPts val="0"/>
              </a:spcAft>
              <a:buClr>
                <a:schemeClr val="dk1"/>
              </a:buClr>
              <a:buSzPts val="2900"/>
              <a:buFont typeface="Arial" panose="020B0604020202020204"/>
              <a:buChar char="•"/>
            </a:pPr>
            <a:r>
              <a:rPr lang="en-US">
                <a:latin typeface="Arial" panose="020B0604020202020204"/>
                <a:ea typeface="Arial" panose="020B0604020202020204"/>
                <a:cs typeface="Arial" panose="020B0604020202020204"/>
                <a:sym typeface="Arial" panose="020B0604020202020204"/>
              </a:rPr>
              <a:t>Khi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của</a:t>
            </a:r>
            <a:r>
              <a:rPr lang="en-US">
                <a:latin typeface="Arial" panose="020B0604020202020204"/>
                <a:ea typeface="Arial" panose="020B0604020202020204"/>
                <a:cs typeface="Arial" panose="020B0604020202020204"/>
                <a:sym typeface="Arial" panose="020B0604020202020204"/>
              </a:rPr>
              <a:t> KH </a:t>
            </a:r>
            <a:r>
              <a:rPr lang="en-US" err="1">
                <a:latin typeface="Arial" panose="020B0604020202020204"/>
                <a:ea typeface="Arial" panose="020B0604020202020204"/>
                <a:cs typeface="Arial" panose="020B0604020202020204"/>
                <a:sym typeface="Arial" panose="020B0604020202020204"/>
              </a:rPr>
              <a:t>được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định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người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lý</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cấu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trúc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hỗn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hợp</a:t>
            </a:r>
            <a:r>
              <a:rPr lang="en-US">
                <a:latin typeface="Arial" panose="020B0604020202020204"/>
                <a:ea typeface="Arial" panose="020B0604020202020204"/>
                <a:cs typeface="Arial" panose="020B0604020202020204"/>
                <a:sym typeface="Arial" panose="020B0604020202020204"/>
              </a:rPr>
              <a:t> marketing </a:t>
            </a:r>
            <a:r>
              <a:rPr lang="en-US" err="1">
                <a:latin typeface="Arial" panose="020B0604020202020204"/>
                <a:ea typeface="Arial" panose="020B0604020202020204"/>
                <a:cs typeface="Arial" panose="020B0604020202020204"/>
                <a:sym typeface="Arial" panose="020B0604020202020204"/>
              </a:rPr>
              <a:t>để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giải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quyết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p>
          <a:p>
            <a:pPr marL="457200" lvl="0" indent="-457200" algn="just" rtl="0">
              <a:lnSpc>
                <a:spcPct val="150000"/>
              </a:lnSpc>
              <a:spcBef>
                <a:spcPts val="1000"/>
              </a:spcBef>
              <a:spcAft>
                <a:spcPts val="0"/>
              </a:spcAft>
              <a:buClr>
                <a:schemeClr val="dk1"/>
              </a:buClr>
              <a:buSzPts val="2900"/>
              <a:buFont typeface="Arial" panose="020B0604020202020204"/>
              <a:buChar char="•"/>
            </a:pPr>
            <a:r>
              <a:rPr lang="en-US">
                <a:latin typeface="Arial" panose="020B0604020202020204"/>
                <a:ea typeface="Arial" panose="020B0604020202020204"/>
                <a:cs typeface="Arial" panose="020B0604020202020204"/>
                <a:sym typeface="Arial" panose="020B0604020202020204"/>
              </a:rPr>
              <a:t>Liên </a:t>
            </a:r>
            <a:r>
              <a:rPr lang="en-US" err="1">
                <a:latin typeface="Arial" panose="020B0604020202020204"/>
                <a:ea typeface="Arial" panose="020B0604020202020204"/>
                <a:cs typeface="Arial" panose="020B0604020202020204"/>
                <a:sym typeface="Arial" panose="020B0604020202020204"/>
              </a:rPr>
              <a:t>quan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việc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phát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triển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phẩm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mới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hoặc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thay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đổi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phẩm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hiện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sửa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đổi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kênh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phối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thay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đổi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chính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sách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giá</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hoặc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thiết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lập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chiến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lược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quảng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cáo</a:t>
            </a:r>
            <a:r>
              <a:rPr lang="en-US">
                <a:latin typeface="Arial" panose="020B0604020202020204"/>
                <a:ea typeface="Arial" panose="020B0604020202020204"/>
                <a:cs typeface="Arial" panose="020B0604020202020204"/>
                <a:sym typeface="Arial" panose="020B0604020202020204"/>
              </a:rPr>
              <a:t>. </a:t>
            </a:r>
            <a:endParaRPr>
              <a:latin typeface="Arial" panose="020B0604020202020204"/>
              <a:ea typeface="Arial" panose="020B0604020202020204"/>
              <a:cs typeface="Arial" panose="020B0604020202020204"/>
              <a:sym typeface="Arial" panose="020B0604020202020204"/>
            </a:endParaRPr>
          </a:p>
        </p:txBody>
      </p:sp>
      <p:sp>
        <p:nvSpPr>
          <p:cNvPr id="2" name="Google Shape;2318;p329"/>
          <p:cNvSpPr txBox="1">
            <a:spLocks noGrp="1"/>
          </p:cNvSpPr>
          <p:nvPr>
            <p:ph type="title"/>
          </p:nvPr>
        </p:nvSpPr>
        <p:spPr>
          <a:xfrm>
            <a:off x="667955" y="214296"/>
            <a:ext cx="10856089" cy="6102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3200"/>
              <a:buFont typeface="Arial" panose="020B0604020202020204"/>
              <a:buNone/>
            </a:pPr>
            <a:r>
              <a:rPr lang="en-US" sz="3200" b="1">
                <a:solidFill>
                  <a:srgbClr val="000000"/>
                </a:solidFill>
              </a:rPr>
              <a:t>5</a:t>
            </a:r>
            <a:r>
              <a:rPr lang="en-US" sz="3200" b="1">
                <a:solidFill>
                  <a:srgbClr val="000000"/>
                </a:solidFill>
                <a:latin typeface="Arial" panose="020B0604020202020204"/>
                <a:ea typeface="Arial" panose="020B0604020202020204"/>
                <a:cs typeface="Arial" panose="020B0604020202020204"/>
                <a:sym typeface="Arial" panose="020B0604020202020204"/>
              </a:rPr>
              <a:t>.2.4. Chiến lược marketing với xác định vấn đề</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Shape 2329"/>
        <p:cNvGrpSpPr/>
        <p:nvPr/>
      </p:nvGrpSpPr>
      <p:grpSpPr>
        <a:xfrm>
          <a:off x="0" y="0"/>
          <a:ext cx="0" cy="0"/>
          <a:chOff x="0" y="0"/>
          <a:chExt cx="0" cy="0"/>
        </a:xfrm>
      </p:grpSpPr>
      <p:sp>
        <p:nvSpPr>
          <p:cNvPr id="2330" name="Google Shape;2330;p331"/>
          <p:cNvSpPr txBox="1">
            <a:spLocks noGrp="1"/>
          </p:cNvSpPr>
          <p:nvPr>
            <p:ph type="body" idx="1"/>
          </p:nvPr>
        </p:nvSpPr>
        <p:spPr>
          <a:xfrm>
            <a:off x="304799" y="1125079"/>
            <a:ext cx="11593287" cy="5362391"/>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150000"/>
              </a:lnSpc>
              <a:spcBef>
                <a:spcPts val="0"/>
              </a:spcBef>
              <a:spcAft>
                <a:spcPts val="0"/>
              </a:spcAft>
              <a:buClr>
                <a:schemeClr val="dk1"/>
              </a:buClr>
              <a:buSzPct val="100000"/>
              <a:buFont typeface="Noto Sans Symbols"/>
              <a:buChar char="❖"/>
            </a:pPr>
            <a:r>
              <a:rPr lang="en-US" b="1" err="1">
                <a:latin typeface="Arial" panose="020B0604020202020204"/>
                <a:ea typeface="Arial" panose="020B0604020202020204"/>
                <a:cs typeface="Arial" panose="020B0604020202020204"/>
                <a:sym typeface="Arial" panose="020B0604020202020204"/>
              </a:rPr>
              <a:t>Nghiên</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cứu</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các</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vấn</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đề</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của</a:t>
            </a:r>
            <a:r>
              <a:rPr lang="en-US" b="1">
                <a:latin typeface="Arial" panose="020B0604020202020204"/>
                <a:ea typeface="Arial" panose="020B0604020202020204"/>
                <a:cs typeface="Arial" panose="020B0604020202020204"/>
                <a:sym typeface="Arial" panose="020B0604020202020204"/>
              </a:rPr>
              <a:t> con </a:t>
            </a:r>
            <a:r>
              <a:rPr lang="en-US" b="1" err="1">
                <a:latin typeface="Arial" panose="020B0604020202020204"/>
                <a:ea typeface="Arial" panose="020B0604020202020204"/>
                <a:cs typeface="Arial" panose="020B0604020202020204"/>
                <a:sym typeface="Arial" panose="020B0604020202020204"/>
              </a:rPr>
              <a:t>người</a:t>
            </a:r>
            <a:endParaRPr>
              <a:latin typeface="Arial" panose="020B0604020202020204"/>
              <a:ea typeface="Arial" panose="020B0604020202020204"/>
              <a:cs typeface="Arial" panose="020B0604020202020204"/>
              <a:sym typeface="Arial" panose="020B0604020202020204"/>
            </a:endParaRPr>
          </a:p>
          <a:p>
            <a:pPr marL="457200" lvl="0" indent="-457200" algn="just" rtl="0">
              <a:lnSpc>
                <a:spcPct val="150000"/>
              </a:lnSpc>
              <a:spcBef>
                <a:spcPts val="1000"/>
              </a:spcBef>
              <a:spcAft>
                <a:spcPts val="0"/>
              </a:spcAft>
              <a:buClr>
                <a:schemeClr val="dk1"/>
              </a:buClr>
              <a:buSzPct val="100000"/>
              <a:buFont typeface="Arial" panose="020B0604020202020204"/>
              <a:buChar char="•"/>
            </a:pPr>
            <a:r>
              <a:rPr lang="en-US">
                <a:latin typeface="Arial" panose="020B0604020202020204"/>
                <a:ea typeface="Arial" panose="020B0604020202020204"/>
                <a:cs typeface="Arial" panose="020B0604020202020204"/>
                <a:sym typeface="Arial" panose="020B0604020202020204"/>
              </a:rPr>
              <a:t>Hai </a:t>
            </a:r>
            <a:r>
              <a:rPr lang="en-US" err="1">
                <a:latin typeface="Arial" panose="020B0604020202020204"/>
                <a:ea typeface="Arial" panose="020B0604020202020204"/>
                <a:cs typeface="Arial" panose="020B0604020202020204"/>
                <a:sym typeface="Arial" panose="020B0604020202020204"/>
              </a:rPr>
              <a:t>cách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tiếp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cận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cơ</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nhận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biết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chung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nhận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thức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chọn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lọc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Nhận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dạng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chung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liên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quan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sự</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biệt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loạt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thương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hiệu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trong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danh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mục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phẩm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giảm</a:t>
            </a:r>
            <a:r>
              <a:rPr lang="en-US">
                <a:latin typeface="Arial" panose="020B0604020202020204"/>
                <a:ea typeface="Arial" panose="020B0604020202020204"/>
                <a:cs typeface="Arial" panose="020B0604020202020204"/>
                <a:sym typeface="Arial" panose="020B0604020202020204"/>
              </a:rPr>
              <a:t>.</a:t>
            </a:r>
            <a:endParaRPr>
              <a:latin typeface="Arial" panose="020B0604020202020204"/>
              <a:ea typeface="Arial" panose="020B0604020202020204"/>
              <a:cs typeface="Arial" panose="020B0604020202020204"/>
              <a:sym typeface="Arial" panose="020B0604020202020204"/>
            </a:endParaRPr>
          </a:p>
          <a:p>
            <a:pPr marL="457200" lvl="0" indent="-457200" algn="just" rtl="0">
              <a:lnSpc>
                <a:spcPct val="150000"/>
              </a:lnSpc>
              <a:spcBef>
                <a:spcPts val="1000"/>
              </a:spcBef>
              <a:spcAft>
                <a:spcPts val="0"/>
              </a:spcAft>
              <a:buClr>
                <a:schemeClr val="dk1"/>
              </a:buClr>
              <a:buSzPct val="100000"/>
              <a:buFont typeface="Arial" panose="020B0604020202020204"/>
              <a:buChar char="•"/>
            </a:pPr>
            <a:r>
              <a:rPr lang="en-US" err="1">
                <a:latin typeface="Arial" panose="020B0604020202020204"/>
                <a:ea typeface="Arial" panose="020B0604020202020204"/>
                <a:cs typeface="Arial" panose="020B0604020202020204"/>
                <a:sym typeface="Arial" panose="020B0604020202020204"/>
              </a:rPr>
              <a:t>Nhận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thức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chung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được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công</a:t>
            </a:r>
            <a:r>
              <a:rPr lang="en-US">
                <a:latin typeface="Arial" panose="020B0604020202020204"/>
                <a:ea typeface="Arial" panose="020B0604020202020204"/>
                <a:cs typeface="Arial" panose="020B0604020202020204"/>
                <a:sym typeface="Arial" panose="020B0604020202020204"/>
              </a:rPr>
              <a:t> ty </a:t>
            </a:r>
            <a:r>
              <a:rPr lang="en-US" err="1">
                <a:latin typeface="Arial" panose="020B0604020202020204"/>
                <a:ea typeface="Arial" panose="020B0604020202020204"/>
                <a:cs typeface="Arial" panose="020B0604020202020204"/>
                <a:sym typeface="Arial" panose="020B0604020202020204"/>
              </a:rPr>
              <a:t>quan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tâm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trong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những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điều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kiện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sau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đây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tồn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tại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Vòng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đời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phẩm</a:t>
            </a:r>
            <a:r>
              <a:rPr lang="en-US">
                <a:latin typeface="Arial" panose="020B0604020202020204"/>
                <a:ea typeface="Arial" panose="020B0604020202020204"/>
                <a:cs typeface="Arial" panose="020B0604020202020204"/>
                <a:sym typeface="Arial" panose="020B0604020202020204"/>
              </a:rPr>
              <a:t> ở </a:t>
            </a:r>
            <a:r>
              <a:rPr lang="en-US" err="1">
                <a:latin typeface="Arial" panose="020B0604020202020204"/>
                <a:ea typeface="Arial" panose="020B0604020202020204"/>
                <a:cs typeface="Arial" panose="020B0604020202020204"/>
                <a:sym typeface="Arial" panose="020B0604020202020204"/>
              </a:rPr>
              <a:t>giai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đoạn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giới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thiệu</a:t>
            </a:r>
            <a:r>
              <a:rPr lang="en-US">
                <a:latin typeface="Arial" panose="020B0604020202020204"/>
                <a:ea typeface="Arial" panose="020B0604020202020204"/>
                <a:cs typeface="Arial" panose="020B0604020202020204"/>
                <a:sym typeface="Arial" panose="020B0604020202020204"/>
              </a:rPr>
              <a:t>. (ii)Thị </a:t>
            </a:r>
            <a:r>
              <a:rPr lang="en-US" err="1">
                <a:latin typeface="Arial" panose="020B0604020202020204"/>
                <a:ea typeface="Arial" panose="020B0604020202020204"/>
                <a:cs typeface="Arial" panose="020B0604020202020204"/>
                <a:sym typeface="Arial" panose="020B0604020202020204"/>
              </a:rPr>
              <a:t>phần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công</a:t>
            </a:r>
            <a:r>
              <a:rPr lang="en-US">
                <a:latin typeface="Arial" panose="020B0604020202020204"/>
                <a:ea typeface="Arial" panose="020B0604020202020204"/>
                <a:cs typeface="Arial" panose="020B0604020202020204"/>
                <a:sym typeface="Arial" panose="020B0604020202020204"/>
              </a:rPr>
              <a:t> ty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tỷ</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lệ</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cao</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của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thị</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trường</a:t>
            </a:r>
            <a:r>
              <a:rPr lang="en-US">
                <a:latin typeface="Arial" panose="020B0604020202020204"/>
                <a:ea typeface="Arial" panose="020B0604020202020204"/>
                <a:cs typeface="Arial" panose="020B0604020202020204"/>
                <a:sym typeface="Arial" panose="020B0604020202020204"/>
              </a:rPr>
              <a:t>. (ii) </a:t>
            </a:r>
            <a:r>
              <a:rPr lang="en-US" err="1">
                <a:latin typeface="Arial" panose="020B0604020202020204"/>
                <a:ea typeface="Arial" panose="020B0604020202020204"/>
                <a:cs typeface="Arial" panose="020B0604020202020204"/>
                <a:sym typeface="Arial" panose="020B0604020202020204"/>
              </a:rPr>
              <a:t>Tìm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kiếm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ngoài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sau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nhận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biết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bị</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hạn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chế</a:t>
            </a:r>
            <a:r>
              <a:rPr lang="en-US">
                <a:latin typeface="Arial" panose="020B0604020202020204"/>
                <a:ea typeface="Arial" panose="020B0604020202020204"/>
                <a:cs typeface="Arial" panose="020B0604020202020204"/>
                <a:sym typeface="Arial" panose="020B0604020202020204"/>
              </a:rPr>
              <a:t>. (iv) </a:t>
            </a:r>
            <a:r>
              <a:rPr lang="en-US" err="1">
                <a:latin typeface="Arial" panose="020B0604020202020204"/>
                <a:ea typeface="Arial" panose="020B0604020202020204"/>
                <a:cs typeface="Arial" panose="020B0604020202020204"/>
                <a:sym typeface="Arial" panose="020B0604020202020204"/>
              </a:rPr>
              <a:t>Đây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nỗ</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lực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cần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sự</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hợp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toàn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ngành</a:t>
            </a:r>
            <a:r>
              <a:rPr lang="en-US">
                <a:latin typeface="Arial" panose="020B0604020202020204"/>
                <a:ea typeface="Arial" panose="020B0604020202020204"/>
                <a:cs typeface="Arial" panose="020B0604020202020204"/>
                <a:sym typeface="Arial" panose="020B0604020202020204"/>
              </a:rPr>
              <a:t>.  </a:t>
            </a:r>
          </a:p>
        </p:txBody>
      </p:sp>
      <p:sp>
        <p:nvSpPr>
          <p:cNvPr id="5" name="Google Shape;2318;p329"/>
          <p:cNvSpPr txBox="1">
            <a:spLocks noGrp="1"/>
          </p:cNvSpPr>
          <p:nvPr>
            <p:ph type="title"/>
          </p:nvPr>
        </p:nvSpPr>
        <p:spPr>
          <a:xfrm>
            <a:off x="239486" y="365125"/>
            <a:ext cx="10856089" cy="6102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3200"/>
              <a:buFont typeface="Arial" panose="020B0604020202020204"/>
              <a:buNone/>
            </a:pPr>
            <a:r>
              <a:rPr lang="en-US" sz="3200" b="1">
                <a:solidFill>
                  <a:srgbClr val="000000"/>
                </a:solidFill>
              </a:rPr>
              <a:t>5</a:t>
            </a:r>
            <a:r>
              <a:rPr lang="en-US" sz="3200" b="1">
                <a:solidFill>
                  <a:srgbClr val="000000"/>
                </a:solidFill>
                <a:latin typeface="Arial" panose="020B0604020202020204"/>
                <a:ea typeface="Arial" panose="020B0604020202020204"/>
                <a:cs typeface="Arial" panose="020B0604020202020204"/>
                <a:sym typeface="Arial" panose="020B0604020202020204"/>
              </a:rPr>
              <a:t>.2.4. Chiến lược marketing với xác định vấn đề</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Shape 2335"/>
        <p:cNvGrpSpPr/>
        <p:nvPr/>
      </p:nvGrpSpPr>
      <p:grpSpPr>
        <a:xfrm>
          <a:off x="0" y="0"/>
          <a:ext cx="0" cy="0"/>
          <a:chOff x="0" y="0"/>
          <a:chExt cx="0" cy="0"/>
        </a:xfrm>
      </p:grpSpPr>
      <p:sp>
        <p:nvSpPr>
          <p:cNvPr id="2336" name="Google Shape;2336;p332"/>
          <p:cNvSpPr txBox="1">
            <a:spLocks noGrp="1"/>
          </p:cNvSpPr>
          <p:nvPr>
            <p:ph type="body" idx="1"/>
          </p:nvPr>
        </p:nvSpPr>
        <p:spPr>
          <a:xfrm>
            <a:off x="217715" y="1135605"/>
            <a:ext cx="11280770" cy="5197033"/>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ct val="100000"/>
              <a:buFont typeface="Noto Sans Symbols"/>
              <a:buChar char="❖"/>
            </a:pPr>
            <a:r>
              <a:rPr lang="en-US" b="1" err="1">
                <a:latin typeface="Arial" panose="020B0604020202020204"/>
                <a:ea typeface="Arial" panose="020B0604020202020204"/>
                <a:cs typeface="Arial" panose="020B0604020202020204"/>
                <a:sym typeface="Arial" panose="020B0604020202020204"/>
              </a:rPr>
              <a:t>Nghiên</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cứu</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cảm</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xúc</a:t>
            </a:r>
            <a:endParaRPr>
              <a:latin typeface="Arial" panose="020B0604020202020204"/>
              <a:ea typeface="Arial" panose="020B0604020202020204"/>
              <a:cs typeface="Arial" panose="020B0604020202020204"/>
              <a:sym typeface="Arial" panose="020B0604020202020204"/>
            </a:endParaRPr>
          </a:p>
          <a:p>
            <a:pPr marL="457200" lvl="0" indent="-457200" algn="just" rtl="0">
              <a:lnSpc>
                <a:spcPct val="150000"/>
              </a:lnSpc>
              <a:spcBef>
                <a:spcPts val="1000"/>
              </a:spcBef>
              <a:spcAft>
                <a:spcPts val="0"/>
              </a:spcAft>
              <a:buClr>
                <a:schemeClr val="dk1"/>
              </a:buClr>
              <a:buSzPct val="100000"/>
              <a:buFont typeface="Arial" panose="020B0604020202020204"/>
              <a:buChar char="•"/>
            </a:pPr>
            <a:r>
              <a:rPr lang="en-US" err="1">
                <a:latin typeface="Arial" panose="020B0604020202020204"/>
                <a:ea typeface="Arial" panose="020B0604020202020204"/>
                <a:cs typeface="Arial" panose="020B0604020202020204"/>
                <a:sym typeface="Arial" panose="020B0604020202020204"/>
              </a:rPr>
              <a:t>Cảm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xúc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rất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quan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trọng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đối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với</a:t>
            </a:r>
            <a:r>
              <a:rPr lang="en-US">
                <a:latin typeface="Arial" panose="020B0604020202020204"/>
                <a:ea typeface="Arial" panose="020B0604020202020204"/>
                <a:cs typeface="Arial" panose="020B0604020202020204"/>
                <a:sym typeface="Arial" panose="020B0604020202020204"/>
              </a:rPr>
              <a:t> KH, </a:t>
            </a:r>
            <a:r>
              <a:rPr lang="en-US" err="1">
                <a:latin typeface="Arial" panose="020B0604020202020204"/>
                <a:ea typeface="Arial" panose="020B0604020202020204"/>
                <a:cs typeface="Arial" panose="020B0604020202020204"/>
                <a:sym typeface="Arial" panose="020B0604020202020204"/>
              </a:rPr>
              <a:t>nhất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là</a:t>
            </a:r>
            <a:r>
              <a:rPr lang="en-US">
                <a:latin typeface="Arial" panose="020B0604020202020204"/>
                <a:ea typeface="Arial" panose="020B0604020202020204"/>
                <a:cs typeface="Arial" panose="020B0604020202020204"/>
                <a:sym typeface="Arial" panose="020B0604020202020204"/>
              </a:rPr>
              <a:t> ở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nước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phương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đông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nơi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văn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hóa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ngữ</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cảnh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cao</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như</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Việt</a:t>
            </a:r>
            <a:r>
              <a:rPr lang="en-US">
                <a:latin typeface="Arial" panose="020B0604020202020204"/>
                <a:ea typeface="Arial" panose="020B0604020202020204"/>
                <a:cs typeface="Arial" panose="020B0604020202020204"/>
                <a:sym typeface="Arial" panose="020B0604020202020204"/>
              </a:rPr>
              <a:t> Nam, </a:t>
            </a:r>
            <a:r>
              <a:rPr lang="en-US" err="1">
                <a:latin typeface="Arial" panose="020B0604020202020204"/>
                <a:ea typeface="Arial" panose="020B0604020202020204"/>
                <a:cs typeface="Arial" panose="020B0604020202020204"/>
                <a:sym typeface="Arial" panose="020B0604020202020204"/>
              </a:rPr>
              <a:t>Nhật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Bản</a:t>
            </a:r>
            <a:r>
              <a:rPr lang="en-US">
                <a:latin typeface="Arial" panose="020B0604020202020204"/>
                <a:ea typeface="Arial" panose="020B0604020202020204"/>
                <a:cs typeface="Arial" panose="020B0604020202020204"/>
                <a:sym typeface="Arial" panose="020B0604020202020204"/>
              </a:rPr>
              <a:t>, Trung </a:t>
            </a:r>
            <a:r>
              <a:rPr lang="en-US" err="1">
                <a:latin typeface="Arial" panose="020B0604020202020204"/>
                <a:ea typeface="Arial" panose="020B0604020202020204"/>
                <a:cs typeface="Arial" panose="020B0604020202020204"/>
                <a:sym typeface="Arial" panose="020B0604020202020204"/>
              </a:rPr>
              <a:t>Quốc</a:t>
            </a:r>
            <a:r>
              <a:rPr lang="en-US">
                <a:latin typeface="Arial" panose="020B0604020202020204"/>
                <a:ea typeface="Arial" panose="020B0604020202020204"/>
                <a:cs typeface="Arial" panose="020B0604020202020204"/>
                <a:sym typeface="Arial" panose="020B0604020202020204"/>
              </a:rPr>
              <a:t>…</a:t>
            </a:r>
          </a:p>
          <a:p>
            <a:pPr marL="457200" lvl="0" indent="-457200" algn="just" rtl="0">
              <a:lnSpc>
                <a:spcPct val="150000"/>
              </a:lnSpc>
              <a:spcBef>
                <a:spcPts val="1000"/>
              </a:spcBef>
              <a:spcAft>
                <a:spcPts val="0"/>
              </a:spcAft>
              <a:buClr>
                <a:schemeClr val="dk1"/>
              </a:buClr>
              <a:buSzPct val="100000"/>
              <a:buFont typeface="Arial" panose="020B0604020202020204"/>
              <a:buChar char="•"/>
            </a:pP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doanh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nghiệp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đang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ngày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càng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quan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tâm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nghiên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cứu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vai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trò</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của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cảm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xúc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trong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việc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nhận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biết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giải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quyết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a:t>
            </a:r>
          </a:p>
          <a:p>
            <a:pPr marL="457200" lvl="0" indent="-457200" algn="just" rtl="0">
              <a:lnSpc>
                <a:spcPct val="150000"/>
              </a:lnSpc>
              <a:spcBef>
                <a:spcPts val="1000"/>
              </a:spcBef>
              <a:spcAft>
                <a:spcPts val="0"/>
              </a:spcAft>
              <a:buClr>
                <a:schemeClr val="dk1"/>
              </a:buClr>
              <a:buSzPct val="100000"/>
              <a:buFont typeface="Arial" panose="020B0604020202020204"/>
              <a:buChar char="•"/>
            </a:pPr>
            <a:r>
              <a:rPr lang="en-US" err="1">
                <a:latin typeface="Arial" panose="020B0604020202020204"/>
                <a:ea typeface="Arial" panose="020B0604020202020204"/>
                <a:cs typeface="Arial" panose="020B0604020202020204"/>
                <a:sym typeface="Arial" panose="020B0604020202020204"/>
              </a:rPr>
              <a:t>Phương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pháp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phổ</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biến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nghiên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cứu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nhóm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tập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trung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phỏng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kiểm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cảm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xúc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liên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quan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nhất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định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cạnh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nghiên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cứu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khảo</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sát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cũng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được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sử</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dụng</a:t>
            </a:r>
            <a:r>
              <a:rPr lang="en-US">
                <a:latin typeface="Arial" panose="020B0604020202020204"/>
                <a:ea typeface="Arial" panose="020B0604020202020204"/>
                <a:cs typeface="Arial" panose="020B0604020202020204"/>
                <a:sym typeface="Arial" panose="020B0604020202020204"/>
              </a:rPr>
              <a:t> </a:t>
            </a:r>
            <a:endParaRPr>
              <a:latin typeface="Arial" panose="020B0604020202020204"/>
              <a:ea typeface="Arial" panose="020B0604020202020204"/>
              <a:cs typeface="Arial" panose="020B0604020202020204"/>
              <a:sym typeface="Arial" panose="020B0604020202020204"/>
            </a:endParaRPr>
          </a:p>
        </p:txBody>
      </p:sp>
      <p:sp>
        <p:nvSpPr>
          <p:cNvPr id="2" name="Google Shape;2318;p329"/>
          <p:cNvSpPr txBox="1">
            <a:spLocks noGrp="1"/>
          </p:cNvSpPr>
          <p:nvPr>
            <p:ph type="title"/>
          </p:nvPr>
        </p:nvSpPr>
        <p:spPr>
          <a:xfrm>
            <a:off x="430055" y="449966"/>
            <a:ext cx="10856089" cy="6102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3200"/>
              <a:buFont typeface="Arial" panose="020B0604020202020204"/>
              <a:buNone/>
            </a:pPr>
            <a:r>
              <a:rPr lang="en-US" sz="3200" b="1">
                <a:solidFill>
                  <a:srgbClr val="000000"/>
                </a:solidFill>
              </a:rPr>
              <a:t>5</a:t>
            </a:r>
            <a:r>
              <a:rPr lang="en-US" sz="3200" b="1">
                <a:solidFill>
                  <a:srgbClr val="000000"/>
                </a:solidFill>
                <a:latin typeface="Arial" panose="020B0604020202020204"/>
                <a:ea typeface="Arial" panose="020B0604020202020204"/>
                <a:cs typeface="Arial" panose="020B0604020202020204"/>
                <a:sym typeface="Arial" panose="020B0604020202020204"/>
              </a:rPr>
              <a:t>.2.4. Chiến lược marketing với xác định vấn đề</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Shape 2341"/>
        <p:cNvGrpSpPr/>
        <p:nvPr/>
      </p:nvGrpSpPr>
      <p:grpSpPr>
        <a:xfrm>
          <a:off x="0" y="0"/>
          <a:ext cx="0" cy="0"/>
          <a:chOff x="0" y="0"/>
          <a:chExt cx="0" cy="0"/>
        </a:xfrm>
      </p:grpSpPr>
      <p:sp>
        <p:nvSpPr>
          <p:cNvPr id="2342" name="Google Shape;2342;p333"/>
          <p:cNvSpPr txBox="1">
            <a:spLocks noGrp="1"/>
          </p:cNvSpPr>
          <p:nvPr>
            <p:ph type="body" idx="1"/>
          </p:nvPr>
        </p:nvSpPr>
        <p:spPr>
          <a:xfrm>
            <a:off x="248165" y="945431"/>
            <a:ext cx="11606377" cy="5529796"/>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150000"/>
              </a:lnSpc>
              <a:spcBef>
                <a:spcPts val="0"/>
              </a:spcBef>
              <a:spcAft>
                <a:spcPts val="0"/>
              </a:spcAft>
              <a:buClr>
                <a:schemeClr val="dk1"/>
              </a:buClr>
              <a:buSzPct val="108000"/>
              <a:buFont typeface="Noto Sans Symbols"/>
              <a:buChar char="❖"/>
            </a:pPr>
            <a:r>
              <a:rPr lang="en-US" b="1" err="1">
                <a:latin typeface="Arial" panose="020B0604020202020204"/>
                <a:ea typeface="Arial" panose="020B0604020202020204"/>
                <a:cs typeface="Arial" panose="020B0604020202020204"/>
                <a:sym typeface="Arial" panose="020B0604020202020204"/>
              </a:rPr>
              <a:t>Đáp</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ứng</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với</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các</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vấn</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đề</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của</a:t>
            </a:r>
            <a:r>
              <a:rPr lang="en-US" b="1">
                <a:latin typeface="Arial" panose="020B0604020202020204"/>
                <a:ea typeface="Arial" panose="020B0604020202020204"/>
                <a:cs typeface="Arial" panose="020B0604020202020204"/>
                <a:sym typeface="Arial" panose="020B0604020202020204"/>
              </a:rPr>
              <a:t> </a:t>
            </a:r>
            <a:r>
              <a:rPr lang="vi-VN" b="1">
                <a:latin typeface="Arial" panose="020B0604020202020204"/>
                <a:ea typeface="Arial" panose="020B0604020202020204"/>
                <a:cs typeface="Arial" panose="020B0604020202020204"/>
                <a:sym typeface="Arial" panose="020B0604020202020204"/>
              </a:rPr>
              <a:t>người tiêu dùng</a:t>
            </a:r>
            <a:endParaRPr>
              <a:latin typeface="Arial" panose="020B0604020202020204"/>
              <a:ea typeface="Arial" panose="020B0604020202020204"/>
              <a:cs typeface="Arial" panose="020B0604020202020204"/>
              <a:sym typeface="Arial" panose="020B0604020202020204"/>
            </a:endParaRPr>
          </a:p>
          <a:p>
            <a:pPr marL="457200" lvl="0" indent="-457200" algn="just" rtl="0">
              <a:lnSpc>
                <a:spcPct val="150000"/>
              </a:lnSpc>
              <a:spcBef>
                <a:spcPts val="1000"/>
              </a:spcBef>
              <a:spcAft>
                <a:spcPts val="0"/>
              </a:spcAft>
              <a:buClr>
                <a:schemeClr val="dk1"/>
              </a:buClr>
              <a:buSzPct val="108000"/>
              <a:buFont typeface="Arial" panose="020B0604020202020204"/>
              <a:buChar char="•"/>
            </a:pPr>
            <a:r>
              <a:rPr lang="en-US">
                <a:latin typeface="Arial" panose="020B0604020202020204"/>
                <a:ea typeface="Arial" panose="020B0604020202020204"/>
                <a:cs typeface="Arial" panose="020B0604020202020204"/>
                <a:sym typeface="Arial" panose="020B0604020202020204"/>
              </a:rPr>
              <a:t>Khi </a:t>
            </a:r>
            <a:r>
              <a:rPr lang="en-US" err="1">
                <a:latin typeface="Arial" panose="020B0604020202020204"/>
                <a:ea typeface="Arial" panose="020B0604020202020204"/>
                <a:cs typeface="Arial" panose="020B0604020202020204"/>
                <a:sym typeface="Arial" panose="020B0604020202020204"/>
              </a:rPr>
              <a:t>đã</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định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được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của</a:t>
            </a:r>
            <a:r>
              <a:rPr lang="en-US">
                <a:latin typeface="Arial" panose="020B0604020202020204"/>
                <a:ea typeface="Arial" panose="020B0604020202020204"/>
                <a:cs typeface="Arial" panose="020B0604020202020204"/>
                <a:sym typeface="Arial" panose="020B0604020202020204"/>
              </a:rPr>
              <a:t> KH,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doanh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nghiệp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triển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khai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được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chiến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lược</a:t>
            </a:r>
            <a:r>
              <a:rPr lang="en-US">
                <a:latin typeface="Arial" panose="020B0604020202020204"/>
                <a:ea typeface="Arial" panose="020B0604020202020204"/>
                <a:cs typeface="Arial" panose="020B0604020202020204"/>
                <a:sym typeface="Arial" panose="020B0604020202020204"/>
              </a:rPr>
              <a:t> marketing </a:t>
            </a:r>
            <a:r>
              <a:rPr lang="en-US" err="1">
                <a:latin typeface="Arial" panose="020B0604020202020204"/>
                <a:ea typeface="Arial" panose="020B0604020202020204"/>
                <a:cs typeface="Arial" panose="020B0604020202020204"/>
                <a:sym typeface="Arial" panose="020B0604020202020204"/>
              </a:rPr>
              <a:t>để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giải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quyết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a:t>
            </a:r>
          </a:p>
          <a:p>
            <a:pPr marL="457200" lvl="0" indent="-457200" algn="just" rtl="0">
              <a:lnSpc>
                <a:spcPct val="150000"/>
              </a:lnSpc>
              <a:spcBef>
                <a:spcPts val="1000"/>
              </a:spcBef>
              <a:spcAft>
                <a:spcPts val="0"/>
              </a:spcAft>
              <a:buClr>
                <a:schemeClr val="dk1"/>
              </a:buClr>
              <a:buSzPct val="108000"/>
              <a:buFont typeface="Arial" panose="020B0604020202020204"/>
              <a:buChar char="•"/>
            </a:pPr>
            <a:r>
              <a:rPr lang="en-US" err="1">
                <a:latin typeface="Arial" panose="020B0604020202020204"/>
                <a:ea typeface="Arial" panose="020B0604020202020204"/>
                <a:cs typeface="Arial" panose="020B0604020202020204"/>
                <a:sym typeface="Arial" panose="020B0604020202020204"/>
              </a:rPr>
              <a:t>Điều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này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liên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quan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việc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phát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triển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phẩm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mới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hoặc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thay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đổi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phẩm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hiện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cấu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trúc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lại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kênh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phối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thay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đổi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chính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sách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giá</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hoặc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thích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ứng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chiến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lược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quảng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cáo</a:t>
            </a:r>
            <a:r>
              <a:rPr lang="en-US">
                <a:latin typeface="Arial" panose="020B0604020202020204"/>
                <a:ea typeface="Arial" panose="020B0604020202020204"/>
                <a:cs typeface="Arial" panose="020B0604020202020204"/>
                <a:sym typeface="Arial" panose="020B0604020202020204"/>
              </a:rPr>
              <a:t>.</a:t>
            </a:r>
          </a:p>
          <a:p>
            <a:pPr marL="457200" lvl="0" indent="-457200" algn="just" rtl="0">
              <a:lnSpc>
                <a:spcPct val="150000"/>
              </a:lnSpc>
              <a:spcBef>
                <a:spcPts val="1000"/>
              </a:spcBef>
              <a:spcAft>
                <a:spcPts val="0"/>
              </a:spcAft>
              <a:buClr>
                <a:schemeClr val="dk1"/>
              </a:buClr>
              <a:buSzPct val="108000"/>
              <a:buFont typeface="Arial" panose="020B0604020202020204"/>
              <a:buChar char="•"/>
            </a:pPr>
            <a:r>
              <a:rPr lang="en-US" err="1">
                <a:latin typeface="Arial" panose="020B0604020202020204"/>
                <a:ea typeface="Arial" panose="020B0604020202020204"/>
                <a:cs typeface="Arial" panose="020B0604020202020204"/>
                <a:sym typeface="Arial" panose="020B0604020202020204"/>
              </a:rPr>
              <a:t>Nhận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thức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được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sẽ</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giúp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doanh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nghiệp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phân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khúc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được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thị</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trường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hợp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lý</a:t>
            </a:r>
            <a:r>
              <a:rPr lang="en-US">
                <a:latin typeface="Arial" panose="020B0604020202020204"/>
                <a:ea typeface="Arial" panose="020B0604020202020204"/>
                <a:cs typeface="Arial" panose="020B0604020202020204"/>
                <a:sym typeface="Arial" panose="020B0604020202020204"/>
              </a:rPr>
              <a:t> (Venkatesh Kumar; </a:t>
            </a:r>
            <a:r>
              <a:rPr lang="en-US" err="1">
                <a:latin typeface="Arial" panose="020B0604020202020204"/>
                <a:ea typeface="Arial" panose="020B0604020202020204"/>
                <a:cs typeface="Arial" panose="020B0604020202020204"/>
                <a:sym typeface="Arial" panose="020B0604020202020204"/>
              </a:rPr>
              <a:t>Ramakumar</a:t>
            </a:r>
            <a:r>
              <a:rPr lang="en-US">
                <a:latin typeface="Arial" panose="020B0604020202020204"/>
                <a:ea typeface="Arial" panose="020B0604020202020204"/>
                <a:cs typeface="Arial" panose="020B0604020202020204"/>
                <a:sym typeface="Arial" panose="020B0604020202020204"/>
              </a:rPr>
              <a:t> &amp; </a:t>
            </a:r>
            <a:r>
              <a:rPr lang="en-US" err="1">
                <a:latin typeface="Arial" panose="020B0604020202020204"/>
                <a:ea typeface="Arial" panose="020B0604020202020204"/>
                <a:cs typeface="Arial" panose="020B0604020202020204"/>
                <a:sym typeface="Arial" panose="020B0604020202020204"/>
              </a:rPr>
              <a:t>Thillairajan</a:t>
            </a:r>
            <a:r>
              <a:rPr lang="en-US">
                <a:latin typeface="Arial" panose="020B0604020202020204"/>
                <a:ea typeface="Arial" panose="020B0604020202020204"/>
                <a:cs typeface="Arial" panose="020B0604020202020204"/>
                <a:sym typeface="Arial" panose="020B0604020202020204"/>
              </a:rPr>
              <a:t>, 2008). </a:t>
            </a:r>
            <a:endParaRPr>
              <a:latin typeface="Arial" panose="020B0604020202020204"/>
              <a:ea typeface="Arial" panose="020B0604020202020204"/>
              <a:cs typeface="Arial" panose="020B0604020202020204"/>
              <a:sym typeface="Arial" panose="020B0604020202020204"/>
            </a:endParaRPr>
          </a:p>
        </p:txBody>
      </p:sp>
      <p:sp>
        <p:nvSpPr>
          <p:cNvPr id="2" name="Google Shape;2318;p329"/>
          <p:cNvSpPr txBox="1">
            <a:spLocks noGrp="1"/>
          </p:cNvSpPr>
          <p:nvPr>
            <p:ph type="title"/>
          </p:nvPr>
        </p:nvSpPr>
        <p:spPr>
          <a:xfrm>
            <a:off x="456302" y="335196"/>
            <a:ext cx="10856089" cy="6102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3200"/>
              <a:buFont typeface="Arial" panose="020B0604020202020204"/>
              <a:buNone/>
            </a:pPr>
            <a:r>
              <a:rPr lang="en-US" sz="3200" b="1">
                <a:solidFill>
                  <a:srgbClr val="000000"/>
                </a:solidFill>
              </a:rPr>
              <a:t>5</a:t>
            </a:r>
            <a:r>
              <a:rPr lang="en-US" sz="3200" b="1">
                <a:solidFill>
                  <a:srgbClr val="000000"/>
                </a:solidFill>
                <a:latin typeface="Arial" panose="020B0604020202020204"/>
                <a:ea typeface="Arial" panose="020B0604020202020204"/>
                <a:cs typeface="Arial" panose="020B0604020202020204"/>
                <a:sym typeface="Arial" panose="020B0604020202020204"/>
              </a:rPr>
              <a:t>.2.4. Chiến lược marketing với xác định vấn đề</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Shape 2347"/>
        <p:cNvGrpSpPr/>
        <p:nvPr/>
      </p:nvGrpSpPr>
      <p:grpSpPr>
        <a:xfrm>
          <a:off x="0" y="0"/>
          <a:ext cx="0" cy="0"/>
          <a:chOff x="0" y="0"/>
          <a:chExt cx="0" cy="0"/>
        </a:xfrm>
      </p:grpSpPr>
      <p:sp>
        <p:nvSpPr>
          <p:cNvPr id="2348" name="Google Shape;2348;p334"/>
          <p:cNvSpPr txBox="1">
            <a:spLocks noGrp="1"/>
          </p:cNvSpPr>
          <p:nvPr>
            <p:ph type="body" idx="1"/>
          </p:nvPr>
        </p:nvSpPr>
        <p:spPr>
          <a:xfrm>
            <a:off x="200490" y="1266347"/>
            <a:ext cx="11629560" cy="5448778"/>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l" rtl="0">
              <a:lnSpc>
                <a:spcPct val="150000"/>
              </a:lnSpc>
              <a:spcBef>
                <a:spcPts val="0"/>
              </a:spcBef>
              <a:spcAft>
                <a:spcPts val="0"/>
              </a:spcAft>
              <a:buClr>
                <a:schemeClr val="dk1"/>
              </a:buClr>
              <a:buSzPct val="100000"/>
              <a:buFont typeface="Noto Sans Symbols"/>
              <a:buChar char="❖"/>
            </a:pPr>
            <a:r>
              <a:rPr lang="en-US" b="1" err="1">
                <a:latin typeface="Arial" panose="020B0604020202020204"/>
                <a:ea typeface="Arial" panose="020B0604020202020204"/>
                <a:cs typeface="Arial" panose="020B0604020202020204"/>
                <a:sym typeface="Arial" panose="020B0604020202020204"/>
              </a:rPr>
              <a:t>Giúp</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khách</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hàng</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nhận</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ra</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vấn</a:t>
            </a:r>
            <a:r>
              <a:rPr lang="en-US" b="1">
                <a:latin typeface="Arial" panose="020B0604020202020204"/>
                <a:ea typeface="Arial" panose="020B0604020202020204"/>
                <a:cs typeface="Arial" panose="020B0604020202020204"/>
                <a:sym typeface="Arial" panose="020B0604020202020204"/>
              </a:rPr>
              <a:t> </a:t>
            </a:r>
            <a:r>
              <a:rPr lang="en-US" b="1" err="1">
                <a:latin typeface="Arial" panose="020B0604020202020204"/>
                <a:ea typeface="Arial" panose="020B0604020202020204"/>
                <a:cs typeface="Arial" panose="020B0604020202020204"/>
                <a:sym typeface="Arial" panose="020B0604020202020204"/>
              </a:rPr>
              <a:t>đề</a:t>
            </a:r>
            <a:r>
              <a:rPr lang="en-US" b="1">
                <a:latin typeface="Arial" panose="020B0604020202020204"/>
                <a:ea typeface="Arial" panose="020B0604020202020204"/>
                <a:cs typeface="Arial" panose="020B0604020202020204"/>
                <a:sym typeface="Arial" panose="020B0604020202020204"/>
              </a:rPr>
              <a:t> </a:t>
            </a:r>
            <a:endParaRPr>
              <a:latin typeface="Arial" panose="020B0604020202020204"/>
              <a:ea typeface="Arial" panose="020B0604020202020204"/>
              <a:cs typeface="Arial" panose="020B0604020202020204"/>
              <a:sym typeface="Arial" panose="020B0604020202020204"/>
            </a:endParaRPr>
          </a:p>
          <a:p>
            <a:pPr marL="457200" lvl="0" indent="-457200" algn="just" rtl="0">
              <a:lnSpc>
                <a:spcPct val="150000"/>
              </a:lnSpc>
              <a:spcBef>
                <a:spcPts val="1000"/>
              </a:spcBef>
              <a:spcAft>
                <a:spcPts val="0"/>
              </a:spcAft>
              <a:buClr>
                <a:schemeClr val="dk1"/>
              </a:buClr>
              <a:buSzPct val="100000"/>
              <a:buFont typeface="Arial" panose="020B0604020202020204"/>
              <a:buChar char="•"/>
            </a:pP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những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lúc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doanh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nghiệp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muốn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tạo</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ra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sự</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nhận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biết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hơn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đáp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ứng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với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Nhận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biết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chung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chọn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lọc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hai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cách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tiếp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cận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cơ</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gây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ra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sự</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nhận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biết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p>
          <a:p>
            <a:pPr marL="457200" lvl="0" indent="-457200" algn="just" rtl="0">
              <a:lnSpc>
                <a:spcPct val="150000"/>
              </a:lnSpc>
              <a:spcBef>
                <a:spcPts val="1000"/>
              </a:spcBef>
              <a:spcAft>
                <a:spcPts val="0"/>
              </a:spcAft>
              <a:buClr>
                <a:schemeClr val="dk1"/>
              </a:buClr>
              <a:buSzPct val="100000"/>
              <a:buFont typeface="Arial" panose="020B0604020202020204"/>
              <a:buChar char="•"/>
            </a:pPr>
            <a:r>
              <a:rPr lang="en-US" err="1">
                <a:latin typeface="Arial" panose="020B0604020202020204"/>
                <a:ea typeface="Arial" panose="020B0604020202020204"/>
                <a:cs typeface="Arial" panose="020B0604020202020204"/>
                <a:sym typeface="Arial" panose="020B0604020202020204"/>
              </a:rPr>
              <a:t>Nói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chung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công</a:t>
            </a:r>
            <a:r>
              <a:rPr lang="en-US">
                <a:latin typeface="Arial" panose="020B0604020202020204"/>
                <a:ea typeface="Arial" panose="020B0604020202020204"/>
                <a:cs typeface="Arial" panose="020B0604020202020204"/>
                <a:sym typeface="Arial" panose="020B0604020202020204"/>
              </a:rPr>
              <a:t> ty </a:t>
            </a:r>
            <a:r>
              <a:rPr lang="en-US" err="1">
                <a:latin typeface="Arial" panose="020B0604020202020204"/>
                <a:ea typeface="Arial" panose="020B0604020202020204"/>
                <a:cs typeface="Arial" panose="020B0604020202020204"/>
                <a:sym typeface="Arial" panose="020B0604020202020204"/>
              </a:rPr>
              <a:t>sẽ</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cố</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gắng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ảnh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hưởng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việc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nhận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biết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chung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tiềm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ẩn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hoặc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tầm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quan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trọng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thấp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trong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những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điều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kiện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sau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đây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tồn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tại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giai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đoạn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đầu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trong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vòng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đời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phẩm</a:t>
            </a:r>
            <a:r>
              <a:rPr lang="en-US">
                <a:latin typeface="Arial" panose="020B0604020202020204"/>
                <a:ea typeface="Arial" panose="020B0604020202020204"/>
                <a:cs typeface="Arial" panose="020B0604020202020204"/>
                <a:sym typeface="Arial" panose="020B0604020202020204"/>
              </a:rPr>
              <a:t>; (ii) </a:t>
            </a:r>
            <a:r>
              <a:rPr lang="en-US" err="1">
                <a:latin typeface="Arial" panose="020B0604020202020204"/>
                <a:ea typeface="Arial" panose="020B0604020202020204"/>
                <a:cs typeface="Arial" panose="020B0604020202020204"/>
                <a:sym typeface="Arial" panose="020B0604020202020204"/>
              </a:rPr>
              <a:t>Doanh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nghiệp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tỷ</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lệ</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thị</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phần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cao</a:t>
            </a:r>
            <a:r>
              <a:rPr lang="en-US">
                <a:latin typeface="Arial" panose="020B0604020202020204"/>
                <a:ea typeface="Arial" panose="020B0604020202020204"/>
                <a:cs typeface="Arial" panose="020B0604020202020204"/>
                <a:sym typeface="Arial" panose="020B0604020202020204"/>
              </a:rPr>
              <a:t>; (iii) </a:t>
            </a:r>
            <a:r>
              <a:rPr lang="en-US" err="1">
                <a:latin typeface="Arial" panose="020B0604020202020204"/>
                <a:ea typeface="Arial" panose="020B0604020202020204"/>
                <a:cs typeface="Arial" panose="020B0604020202020204"/>
                <a:sym typeface="Arial" panose="020B0604020202020204"/>
              </a:rPr>
              <a:t>Tìm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kiếm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bên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ngoài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sau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nhận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biết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bị</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hạn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chế</a:t>
            </a:r>
            <a:r>
              <a:rPr lang="en-US">
                <a:latin typeface="Arial" panose="020B0604020202020204"/>
                <a:ea typeface="Arial" panose="020B0604020202020204"/>
                <a:cs typeface="Arial" panose="020B0604020202020204"/>
                <a:sym typeface="Arial" panose="020B0604020202020204"/>
              </a:rPr>
              <a:t>; (iv) </a:t>
            </a:r>
            <a:r>
              <a:rPr lang="en-US" err="1">
                <a:latin typeface="Arial" panose="020B0604020202020204"/>
                <a:ea typeface="Arial" panose="020B0604020202020204"/>
                <a:cs typeface="Arial" panose="020B0604020202020204"/>
                <a:sym typeface="Arial" panose="020B0604020202020204"/>
              </a:rPr>
              <a:t>Cần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một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nỗ</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lực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hợp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toàn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ngành</a:t>
            </a:r>
            <a:r>
              <a:rPr lang="en-US">
                <a:latin typeface="Arial" panose="020B0604020202020204"/>
                <a:ea typeface="Arial" panose="020B0604020202020204"/>
                <a:cs typeface="Arial" panose="020B0604020202020204"/>
                <a:sym typeface="Arial" panose="020B0604020202020204"/>
              </a:rPr>
              <a:t> </a:t>
            </a:r>
          </a:p>
        </p:txBody>
      </p:sp>
      <p:sp>
        <p:nvSpPr>
          <p:cNvPr id="2" name="Google Shape;2318;p329"/>
          <p:cNvSpPr txBox="1">
            <a:spLocks noGrp="1"/>
          </p:cNvSpPr>
          <p:nvPr>
            <p:ph type="title"/>
          </p:nvPr>
        </p:nvSpPr>
        <p:spPr>
          <a:xfrm>
            <a:off x="465729" y="497100"/>
            <a:ext cx="10856089" cy="6102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3200"/>
              <a:buFont typeface="Arial" panose="020B0604020202020204"/>
              <a:buNone/>
            </a:pPr>
            <a:r>
              <a:rPr lang="en-US" sz="3200" b="1">
                <a:solidFill>
                  <a:srgbClr val="000000"/>
                </a:solidFill>
              </a:rPr>
              <a:t>5</a:t>
            </a:r>
            <a:r>
              <a:rPr lang="en-US" sz="3200" b="1">
                <a:solidFill>
                  <a:srgbClr val="000000"/>
                </a:solidFill>
                <a:latin typeface="Arial" panose="020B0604020202020204"/>
                <a:ea typeface="Arial" panose="020B0604020202020204"/>
                <a:cs typeface="Arial" panose="020B0604020202020204"/>
                <a:sym typeface="Arial" panose="020B0604020202020204"/>
              </a:rPr>
              <a:t>.2.4. Chiến lược marketing với xác định vấn đề</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Shape 2353"/>
        <p:cNvGrpSpPr/>
        <p:nvPr/>
      </p:nvGrpSpPr>
      <p:grpSpPr>
        <a:xfrm>
          <a:off x="0" y="0"/>
          <a:ext cx="0" cy="0"/>
          <a:chOff x="0" y="0"/>
          <a:chExt cx="0" cy="0"/>
        </a:xfrm>
      </p:grpSpPr>
      <p:sp>
        <p:nvSpPr>
          <p:cNvPr id="2354" name="Google Shape;2354;p335"/>
          <p:cNvSpPr txBox="1">
            <a:spLocks noGrp="1"/>
          </p:cNvSpPr>
          <p:nvPr>
            <p:ph type="subTitle" idx="1"/>
          </p:nvPr>
        </p:nvSpPr>
        <p:spPr>
          <a:xfrm>
            <a:off x="289367" y="2253497"/>
            <a:ext cx="11181144" cy="1655762"/>
          </a:xfrm>
          <a:prstGeom prst="rect">
            <a:avLst/>
          </a:prstGeom>
          <a:noFill/>
          <a:ln>
            <a:noFill/>
          </a:ln>
        </p:spPr>
        <p:txBody>
          <a:bodyPr spcFirstLastPara="1" wrap="square" lIns="91425" tIns="45700" rIns="91425" bIns="45700" anchor="t" anchorCtr="0">
            <a:normAutofit lnSpcReduction="10000"/>
          </a:bodyPr>
          <a:lstStyle/>
          <a:p>
            <a:pPr marL="0" lvl="0" indent="0" algn="ctr" rtl="0">
              <a:lnSpc>
                <a:spcPct val="150000"/>
              </a:lnSpc>
              <a:spcBef>
                <a:spcPts val="0"/>
              </a:spcBef>
              <a:spcAft>
                <a:spcPts val="0"/>
              </a:spcAft>
              <a:buClr>
                <a:schemeClr val="dk1"/>
              </a:buClr>
              <a:buSzPts val="3600"/>
              <a:buNone/>
            </a:pPr>
            <a:r>
              <a:rPr lang="en-US" sz="3600" b="1"/>
              <a:t>5</a:t>
            </a:r>
            <a:r>
              <a:rPr lang="en-US" sz="3600" b="1">
                <a:latin typeface="Arial" panose="020B0604020202020204"/>
                <a:ea typeface="Arial" panose="020B0604020202020204"/>
                <a:cs typeface="Arial" panose="020B0604020202020204"/>
                <a:sym typeface="Arial" panose="020B0604020202020204"/>
              </a:rPr>
              <a:t>.3. CÁC GIAI ĐOẠN TRONG QUÁ TRÌNH RA QUYẾT ĐỊNH MUA HÀNG</a:t>
            </a: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Shape 2364"/>
        <p:cNvGrpSpPr/>
        <p:nvPr/>
      </p:nvGrpSpPr>
      <p:grpSpPr>
        <a:xfrm>
          <a:off x="0" y="0"/>
          <a:ext cx="0" cy="0"/>
          <a:chOff x="0" y="0"/>
          <a:chExt cx="0" cy="0"/>
        </a:xfrm>
      </p:grpSpPr>
      <p:sp>
        <p:nvSpPr>
          <p:cNvPr id="2365" name="Google Shape;2365;p337"/>
          <p:cNvSpPr txBox="1"/>
          <p:nvPr/>
        </p:nvSpPr>
        <p:spPr>
          <a:xfrm>
            <a:off x="279722" y="51985"/>
            <a:ext cx="7772400" cy="1362075"/>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002060"/>
              </a:buClr>
              <a:buSzPts val="3200"/>
              <a:buFont typeface="Arial" panose="020B0604020202020204"/>
              <a:buNone/>
              <a:tabLst/>
              <a:defRPr/>
            </a:pPr>
            <a:r>
              <a:rPr kumimoji="0" lang="en-US" sz="3200" b="1" i="0" u="none" strike="noStrike" kern="0" cap="none" spc="0" normalizeH="0" baseline="0" noProof="0">
                <a:ln>
                  <a:noFill/>
                </a:ln>
                <a:solidFill>
                  <a:srgbClr val="002060"/>
                </a:solidFill>
                <a:effectLst/>
                <a:uLnTx/>
                <a:uFillTx/>
                <a:latin typeface="Arial" panose="020B0604020202020204"/>
                <a:cs typeface="Arial" panose="020B0604020202020204"/>
                <a:sym typeface="Arial" panose="020B0604020202020204"/>
              </a:rPr>
              <a:t>5</a:t>
            </a:r>
            <a:r>
              <a:rPr kumimoji="0" lang="en-US" sz="3200" b="1"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.3.1 Xác định nhu cầu</a:t>
            </a:r>
            <a:endParaRPr kumimoji="0" sz="3200" b="1"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endParaRPr>
          </a:p>
        </p:txBody>
      </p:sp>
      <p:sp>
        <p:nvSpPr>
          <p:cNvPr id="2366" name="Google Shape;2366;p337"/>
          <p:cNvSpPr txBox="1"/>
          <p:nvPr/>
        </p:nvSpPr>
        <p:spPr>
          <a:xfrm>
            <a:off x="609600" y="1620837"/>
            <a:ext cx="10515600" cy="4351338"/>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90000"/>
              </a:lnSpc>
              <a:spcBef>
                <a:spcPts val="0"/>
              </a:spcBef>
              <a:spcAft>
                <a:spcPts val="0"/>
              </a:spcAft>
              <a:buClr>
                <a:srgbClr val="000000"/>
              </a:buClr>
              <a:buSzPts val="2800"/>
              <a:buFont typeface="Arial" panose="020B0604020202020204"/>
              <a:buNone/>
              <a:tabLst/>
              <a:defRPr/>
            </a:pPr>
            <a:endParaRPr kumimoji="0"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367" name="Google Shape;2367;p337"/>
          <p:cNvSpPr txBox="1"/>
          <p:nvPr/>
        </p:nvSpPr>
        <p:spPr>
          <a:xfrm>
            <a:off x="444661" y="1302343"/>
            <a:ext cx="10515600" cy="4351338"/>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90000"/>
              </a:lnSpc>
              <a:spcBef>
                <a:spcPts val="0"/>
              </a:spcBef>
              <a:spcAft>
                <a:spcPts val="0"/>
              </a:spcAft>
              <a:buClr>
                <a:srgbClr val="000000"/>
              </a:buClr>
              <a:buSzPts val="2800"/>
              <a:buFont typeface="Arial" panose="020B0604020202020204"/>
              <a:buNone/>
              <a:tabLst/>
              <a:defRPr/>
            </a:pPr>
            <a:endParaRPr kumimoji="0" sz="2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368" name="Google Shape;2368;p337"/>
          <p:cNvSpPr txBox="1"/>
          <p:nvPr/>
        </p:nvSpPr>
        <p:spPr>
          <a:xfrm>
            <a:off x="279721" y="1620837"/>
            <a:ext cx="11585708" cy="4431620"/>
          </a:xfrm>
          <a:prstGeom prst="rect">
            <a:avLst/>
          </a:prstGeom>
          <a:noFill/>
          <a:ln>
            <a:noFill/>
          </a:ln>
        </p:spPr>
        <p:txBody>
          <a:bodyPr spcFirstLastPara="1" wrap="square" lIns="91425" tIns="45700" rIns="91425" bIns="45700" anchor="t" anchorCtr="0">
            <a:normAutofit fontScale="70000" lnSpcReduction="20000"/>
          </a:bodyPr>
          <a:lstStyle/>
          <a:p>
            <a:pPr marL="571500" marR="0" lvl="0" indent="-571500" algn="just" defTabSz="914400" rtl="0" eaLnBrk="1" fontAlgn="auto" latinLnBrk="0" hangingPunct="1">
              <a:lnSpc>
                <a:spcPct val="120000"/>
              </a:lnSpc>
              <a:spcBef>
                <a:spcPts val="0"/>
              </a:spcBef>
              <a:spcAft>
                <a:spcPts val="0"/>
              </a:spcAft>
              <a:buClr>
                <a:srgbClr val="000000"/>
              </a:buClr>
              <a:buSzPct val="100000"/>
              <a:buFont typeface="Arial" panose="020B0604020202020204"/>
              <a:buChar char="•"/>
              <a:tabLst/>
              <a:defRPr/>
            </a:pP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Nhu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cầu</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thường</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được</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xuất</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hiện</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khi</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một</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người</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ý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thức</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được</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sự</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khác</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biệt</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giữa</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tình</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trạng</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thực</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tế</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và</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tình</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trạng</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mong</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muốn</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765810" marR="0" lvl="0" indent="-411480" algn="just" defTabSz="914400" rtl="0" eaLnBrk="1" fontAlgn="auto" latinLnBrk="0" hangingPunct="1">
              <a:lnSpc>
                <a:spcPct val="120000"/>
              </a:lnSpc>
              <a:spcBef>
                <a:spcPts val="580"/>
              </a:spcBef>
              <a:spcAft>
                <a:spcPts val="0"/>
              </a:spcAft>
              <a:buClr>
                <a:srgbClr val="000000"/>
              </a:buClr>
              <a:buSzPct val="100000"/>
              <a:buFont typeface="Arial" panose="020B0604020202020204"/>
              <a:buNone/>
              <a:tabLst/>
              <a:defRPr/>
            </a:pPr>
            <a:endParaRPr kumimoji="0"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571500" marR="0" lvl="0" indent="-571500" algn="just" defTabSz="914400" rtl="0" eaLnBrk="1" fontAlgn="auto" latinLnBrk="0" hangingPunct="1">
              <a:lnSpc>
                <a:spcPct val="120000"/>
              </a:lnSpc>
              <a:spcBef>
                <a:spcPts val="580"/>
              </a:spcBef>
              <a:spcAft>
                <a:spcPts val="0"/>
              </a:spcAft>
              <a:buClr>
                <a:srgbClr val="000000"/>
              </a:buClr>
              <a:buSzPct val="100000"/>
              <a:buFont typeface="Arial" panose="020B0604020202020204"/>
              <a:buChar char="•"/>
              <a:tabLst/>
              <a:defRPr/>
            </a:pP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Nhu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cầu</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có</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tính</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chức</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năng</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hoặc</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tính</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cảm</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xúc</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tâm</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lý</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765810" marR="0" lvl="0" indent="-411480" algn="just" defTabSz="914400" rtl="0" eaLnBrk="1" fontAlgn="auto" latinLnBrk="0" hangingPunct="1">
              <a:lnSpc>
                <a:spcPct val="120000"/>
              </a:lnSpc>
              <a:spcBef>
                <a:spcPts val="580"/>
              </a:spcBef>
              <a:spcAft>
                <a:spcPts val="0"/>
              </a:spcAft>
              <a:buClr>
                <a:srgbClr val="000000"/>
              </a:buClr>
              <a:buSzPct val="100000"/>
              <a:buFont typeface="Arial" panose="020B0604020202020204"/>
              <a:buNone/>
              <a:tabLst/>
              <a:defRPr/>
            </a:pPr>
            <a:endParaRPr kumimoji="0"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571500" marR="0" lvl="0" indent="-571500" algn="just" defTabSz="914400" rtl="0" eaLnBrk="1" fontAlgn="auto" latinLnBrk="0" hangingPunct="1">
              <a:lnSpc>
                <a:spcPct val="120000"/>
              </a:lnSpc>
              <a:spcBef>
                <a:spcPts val="580"/>
              </a:spcBef>
              <a:spcAft>
                <a:spcPts val="0"/>
              </a:spcAft>
              <a:buClr>
                <a:srgbClr val="000000"/>
              </a:buClr>
              <a:buSzPct val="100000"/>
              <a:buFont typeface="Arial" panose="020B0604020202020204"/>
              <a:buChar char="•"/>
              <a:tabLst/>
              <a:defRPr/>
            </a:pP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Cơ</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chế</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xuất</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hiện</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nhu</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cầu</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cũng</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có</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thể</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từ</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tác</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nhân</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kích</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thích</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nội</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tại</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hoặc</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từ</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tác</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nhân</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kích</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thích</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bên</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ngoài</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765810" marR="0" lvl="0" indent="-411480" algn="just" defTabSz="914400" rtl="0" eaLnBrk="1" fontAlgn="auto" latinLnBrk="0" hangingPunct="1">
              <a:lnSpc>
                <a:spcPct val="120000"/>
              </a:lnSpc>
              <a:spcBef>
                <a:spcPts val="580"/>
              </a:spcBef>
              <a:spcAft>
                <a:spcPts val="0"/>
              </a:spcAft>
              <a:buClr>
                <a:srgbClr val="000000"/>
              </a:buClr>
              <a:buSzPct val="100000"/>
              <a:buFont typeface="Arial" panose="020B0604020202020204"/>
              <a:buNone/>
              <a:tabLst/>
              <a:defRPr/>
            </a:pPr>
            <a:endParaRPr kumimoji="0"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571500" marR="0" lvl="0" indent="-571500" algn="just" defTabSz="914400" rtl="0" eaLnBrk="1" fontAlgn="auto" latinLnBrk="0" hangingPunct="1">
              <a:lnSpc>
                <a:spcPct val="120000"/>
              </a:lnSpc>
              <a:spcBef>
                <a:spcPts val="580"/>
              </a:spcBef>
              <a:spcAft>
                <a:spcPts val="0"/>
              </a:spcAft>
              <a:buClr>
                <a:srgbClr val="000000"/>
              </a:buClr>
              <a:buSzPct val="100000"/>
              <a:buFont typeface="Arial" panose="020B0604020202020204"/>
              <a:buChar char="•"/>
              <a:tabLst/>
              <a:defRPr/>
            </a:pP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Người</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bán</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hàng</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cần</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xác</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định</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được</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tính</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chất</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của</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nhu</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cầu</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cũng</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như</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cơ</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chế</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xuất</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hiện</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nhu</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cầu</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để</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có</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những</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gợi</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ý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kích</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thích</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quyết</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định</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mua</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3600" b="0" i="0" u="none" strike="noStrike" kern="0" cap="none" spc="0" normalizeH="0" baseline="0" noProof="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của</a:t>
            </a:r>
            <a:r>
              <a:rPr kumimoji="0" lang="en-US" sz="36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 KH. </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Shape 2372"/>
        <p:cNvGrpSpPr/>
        <p:nvPr/>
      </p:nvGrpSpPr>
      <p:grpSpPr>
        <a:xfrm>
          <a:off x="0" y="0"/>
          <a:ext cx="0" cy="0"/>
          <a:chOff x="0" y="0"/>
          <a:chExt cx="0" cy="0"/>
        </a:xfrm>
      </p:grpSpPr>
      <p:sp>
        <p:nvSpPr>
          <p:cNvPr id="2373" name="Google Shape;2373;p338"/>
          <p:cNvSpPr txBox="1"/>
          <p:nvPr/>
        </p:nvSpPr>
        <p:spPr>
          <a:xfrm>
            <a:off x="609600" y="51985"/>
            <a:ext cx="7772400" cy="1362075"/>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002060"/>
              </a:buClr>
              <a:buSzPts val="3200"/>
              <a:buFont typeface="Arial" panose="020B0604020202020204"/>
              <a:buNone/>
              <a:tabLst/>
              <a:defRPr/>
            </a:pPr>
            <a:r>
              <a:rPr kumimoji="0" lang="en-US" sz="3200" b="1" i="0" u="none" strike="noStrike" kern="0" cap="none" spc="0" normalizeH="0" baseline="0" noProof="0">
                <a:ln>
                  <a:noFill/>
                </a:ln>
                <a:solidFill>
                  <a:srgbClr val="002060"/>
                </a:solidFill>
                <a:effectLst/>
                <a:uLnTx/>
                <a:uFillTx/>
                <a:latin typeface="Arial" panose="020B0604020202020204"/>
                <a:cs typeface="Arial" panose="020B0604020202020204"/>
                <a:sym typeface="Arial" panose="020B0604020202020204"/>
              </a:rPr>
              <a:t>5</a:t>
            </a:r>
            <a:r>
              <a:rPr kumimoji="0" lang="en-US" sz="3200" b="1"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.3.1 Nhận biết nhu cầu</a:t>
            </a:r>
            <a:endParaRPr kumimoji="0" sz="3200" b="1"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endParaRPr>
          </a:p>
        </p:txBody>
      </p:sp>
      <p:sp>
        <p:nvSpPr>
          <p:cNvPr id="2374" name="Google Shape;2374;p338"/>
          <p:cNvSpPr txBox="1">
            <a:spLocks noGrp="1"/>
          </p:cNvSpPr>
          <p:nvPr>
            <p:ph type="title"/>
          </p:nvPr>
        </p:nvSpPr>
        <p:spPr>
          <a:xfrm>
            <a:off x="722313" y="952500"/>
            <a:ext cx="7772400" cy="136207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C000"/>
              </a:buClr>
              <a:buSzPts val="3200"/>
              <a:buFont typeface="Arial" panose="020B0604020202020204"/>
              <a:buNone/>
            </a:pPr>
            <a:r>
              <a:rPr lang="en-US" sz="3200" b="1">
                <a:solidFill>
                  <a:srgbClr val="FFC000"/>
                </a:solidFill>
                <a:latin typeface="Arial" panose="020B0604020202020204"/>
                <a:ea typeface="Arial" panose="020B0604020202020204"/>
                <a:cs typeface="Arial" panose="020B0604020202020204"/>
                <a:sym typeface="Arial" panose="020B0604020202020204"/>
              </a:rPr>
              <a:t>CHIẾN LƯỢC MARKETING VÀ NHẬN BIẾT NHU CẦU</a:t>
            </a:r>
            <a:endParaRPr sz="3200">
              <a:latin typeface="Arial" panose="020B0604020202020204"/>
              <a:ea typeface="Arial" panose="020B0604020202020204"/>
              <a:cs typeface="Arial" panose="020B0604020202020204"/>
              <a:sym typeface="Arial" panose="020B0604020202020204"/>
            </a:endParaRPr>
          </a:p>
        </p:txBody>
      </p:sp>
      <p:sp>
        <p:nvSpPr>
          <p:cNvPr id="2375" name="Google Shape;2375;p338"/>
          <p:cNvSpPr txBox="1"/>
          <p:nvPr/>
        </p:nvSpPr>
        <p:spPr>
          <a:xfrm>
            <a:off x="722313" y="2314575"/>
            <a:ext cx="7772400" cy="1571625"/>
          </a:xfrm>
          <a:prstGeom prst="rect">
            <a:avLst/>
          </a:prstGeom>
          <a:noFill/>
          <a:ln>
            <a:noFill/>
          </a:ln>
        </p:spPr>
        <p:txBody>
          <a:bodyPr spcFirstLastPara="1" wrap="square" lIns="91425" tIns="45700" rIns="91425" bIns="45700" anchor="t" anchorCtr="0">
            <a:normAutofit/>
          </a:bodyPr>
          <a:lstStyle/>
          <a:p>
            <a:pPr marL="228600" marR="0" lvl="0" indent="-228600" algn="ctr" defTabSz="914400" rtl="0" eaLnBrk="1" fontAlgn="auto" latinLnBrk="0" hangingPunct="1">
              <a:lnSpc>
                <a:spcPct val="90000"/>
              </a:lnSpc>
              <a:spcBef>
                <a:spcPts val="0"/>
              </a:spcBef>
              <a:spcAft>
                <a:spcPts val="0"/>
              </a:spcAft>
              <a:buClr>
                <a:srgbClr val="ED7D31"/>
              </a:buClr>
              <a:buSzPts val="3200"/>
              <a:buFont typeface="Arial" panose="020B0604020202020204"/>
              <a:buChar char="•"/>
              <a:tabLst/>
              <a:defRPr/>
            </a:pPr>
            <a:r>
              <a:rPr kumimoji="0" lang="en-US" sz="3200" b="0" i="0" u="none" strike="noStrike" kern="0" cap="none" spc="0" normalizeH="0" baseline="0" noProof="0">
                <a:ln>
                  <a:noFill/>
                </a:ln>
                <a:solidFill>
                  <a:srgbClr val="ED7D31"/>
                </a:solidFill>
                <a:effectLst/>
                <a:uLnTx/>
                <a:uFillTx/>
                <a:latin typeface="Arial" panose="020B0604020202020204"/>
                <a:ea typeface="Arial" panose="020B0604020202020204"/>
                <a:cs typeface="Arial" panose="020B0604020202020204"/>
                <a:sym typeface="Arial" panose="020B0604020202020204"/>
              </a:rPr>
              <a:t>CÁC YẾU TỐ KÍCH THÍCH NHU CẦU</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nvGrpSpPr>
          <p:cNvPr id="2376" name="Google Shape;2376;p338"/>
          <p:cNvGrpSpPr/>
          <p:nvPr/>
        </p:nvGrpSpPr>
        <p:grpSpPr>
          <a:xfrm>
            <a:off x="609600" y="2933991"/>
            <a:ext cx="7017924" cy="3421380"/>
            <a:chOff x="-152400" y="0"/>
            <a:chExt cx="7017924" cy="3421380"/>
          </a:xfrm>
        </p:grpSpPr>
        <p:sp>
          <p:nvSpPr>
            <p:cNvPr id="2377" name="Google Shape;2377;p338"/>
            <p:cNvSpPr/>
            <p:nvPr/>
          </p:nvSpPr>
          <p:spPr>
            <a:xfrm>
              <a:off x="476141" y="0"/>
              <a:ext cx="6083339" cy="754380"/>
            </a:xfrm>
            <a:prstGeom prst="roundRect">
              <a:avLst>
                <a:gd name="adj" fmla="val 10000"/>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378" name="Google Shape;2378;p338"/>
            <p:cNvSpPr txBox="1"/>
            <p:nvPr/>
          </p:nvSpPr>
          <p:spPr>
            <a:xfrm>
              <a:off x="498236" y="22095"/>
              <a:ext cx="5127410" cy="71019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7030A0"/>
                </a:buClr>
                <a:buSzPts val="2400"/>
                <a:buFont typeface="Arial" panose="020B0604020202020204"/>
                <a:buNone/>
                <a:tabLst/>
                <a:defRPr/>
              </a:pPr>
              <a:r>
                <a:rPr kumimoji="0" lang="en-US" sz="2400" b="1" i="0" u="none" strike="noStrike" kern="0" cap="none" spc="0" normalizeH="0" baseline="0" noProof="0">
                  <a:ln>
                    <a:noFill/>
                  </a:ln>
                  <a:solidFill>
                    <a:srgbClr val="7030A0"/>
                  </a:solidFill>
                  <a:effectLst/>
                  <a:uLnTx/>
                  <a:uFillTx/>
                  <a:latin typeface="Arial" panose="020B0604020202020204"/>
                  <a:ea typeface="Arial" panose="020B0604020202020204"/>
                  <a:cs typeface="Arial" panose="020B0604020202020204"/>
                  <a:sym typeface="Arial" panose="020B0604020202020204"/>
                </a:rPr>
                <a:t>HOẠT  ĐỘNG QUẢNG CÁO</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379" name="Google Shape;2379;p338"/>
            <p:cNvSpPr/>
            <p:nvPr/>
          </p:nvSpPr>
          <p:spPr>
            <a:xfrm>
              <a:off x="76184" y="909094"/>
              <a:ext cx="6058978" cy="754380"/>
            </a:xfrm>
            <a:prstGeom prst="roundRect">
              <a:avLst>
                <a:gd name="adj" fmla="val 10000"/>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380" name="Google Shape;2380;p338"/>
            <p:cNvSpPr txBox="1"/>
            <p:nvPr/>
          </p:nvSpPr>
          <p:spPr>
            <a:xfrm>
              <a:off x="98279" y="931189"/>
              <a:ext cx="4973179" cy="710189"/>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002060"/>
                </a:buClr>
                <a:buSzPts val="2400"/>
                <a:buFont typeface="Arial" panose="020B0604020202020204"/>
                <a:buNone/>
                <a:tabLst/>
                <a:defRPr/>
              </a:pPr>
              <a:r>
                <a:rPr kumimoji="0" lang="en-US" sz="2400" b="1"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THÔNG ĐIỆP QUẢNG CÁO</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381" name="Google Shape;2381;p338"/>
            <p:cNvSpPr/>
            <p:nvPr/>
          </p:nvSpPr>
          <p:spPr>
            <a:xfrm>
              <a:off x="688328" y="1809611"/>
              <a:ext cx="5909585" cy="754380"/>
            </a:xfrm>
            <a:prstGeom prst="roundRect">
              <a:avLst>
                <a:gd name="adj" fmla="val 10000"/>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382" name="Google Shape;2382;p338"/>
            <p:cNvSpPr txBox="1"/>
            <p:nvPr/>
          </p:nvSpPr>
          <p:spPr>
            <a:xfrm>
              <a:off x="-152400" y="1831706"/>
              <a:ext cx="5719679" cy="710189"/>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90000"/>
                </a:lnSpc>
                <a:spcBef>
                  <a:spcPts val="0"/>
                </a:spcBef>
                <a:spcAft>
                  <a:spcPts val="0"/>
                </a:spcAft>
                <a:buClr>
                  <a:srgbClr val="C55A11"/>
                </a:buClr>
                <a:buSzPts val="3200"/>
                <a:buFont typeface="Calibri" panose="020F0502020204030204"/>
                <a:buNone/>
                <a:tabLst/>
                <a:defRPr/>
              </a:pPr>
              <a:r>
                <a:rPr kumimoji="0" lang="en-US" sz="3200" b="1" i="0" u="none" strike="noStrike" kern="0" cap="none" spc="0" normalizeH="0" baseline="0" noProof="0">
                  <a:ln>
                    <a:noFill/>
                  </a:ln>
                  <a:solidFill>
                    <a:srgbClr val="C55A11"/>
                  </a:solidFill>
                  <a:effectLst/>
                  <a:uLnTx/>
                  <a:uFillTx/>
                  <a:latin typeface="Arial" panose="020B0604020202020204"/>
                  <a:ea typeface="Arial" panose="020B0604020202020204"/>
                  <a:cs typeface="Arial" panose="020B0604020202020204"/>
                  <a:sym typeface="Arial" panose="020B0604020202020204"/>
                </a:rPr>
                <a:t>CÁCH BÀI TRÍ, BÀY HÀNG</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383" name="Google Shape;2383;p338"/>
            <p:cNvSpPr/>
            <p:nvPr/>
          </p:nvSpPr>
          <p:spPr>
            <a:xfrm>
              <a:off x="1129749" y="2667000"/>
              <a:ext cx="5735775" cy="754380"/>
            </a:xfrm>
            <a:prstGeom prst="roundRect">
              <a:avLst>
                <a:gd name="adj" fmla="val 10000"/>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384" name="Google Shape;2384;p338"/>
            <p:cNvSpPr txBox="1"/>
            <p:nvPr/>
          </p:nvSpPr>
          <p:spPr>
            <a:xfrm>
              <a:off x="1151844" y="2689095"/>
              <a:ext cx="4705539" cy="710189"/>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C000"/>
                </a:buClr>
                <a:buSzPts val="2400"/>
                <a:buFont typeface="Arial" panose="020B0604020202020204"/>
                <a:buNone/>
                <a:tabLst/>
                <a:defRPr/>
              </a:pPr>
              <a:r>
                <a:rPr kumimoji="0" lang="en-US" sz="2400" b="1" i="0" u="none" strike="noStrike" kern="0" cap="none" spc="0" normalizeH="0" baseline="0" noProof="0">
                  <a:ln>
                    <a:noFill/>
                  </a:ln>
                  <a:solidFill>
                    <a:srgbClr val="FFC000"/>
                  </a:solidFill>
                  <a:effectLst/>
                  <a:uLnTx/>
                  <a:uFillTx/>
                  <a:latin typeface="Arial" panose="020B0604020202020204"/>
                  <a:ea typeface="Arial" panose="020B0604020202020204"/>
                  <a:cs typeface="Arial" panose="020B0604020202020204"/>
                  <a:sym typeface="Arial" panose="020B0604020202020204"/>
                </a:rPr>
                <a:t>CẢI TIẾN SẢN PHẨM</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385" name="Google Shape;2385;p338"/>
            <p:cNvSpPr/>
            <p:nvPr/>
          </p:nvSpPr>
          <p:spPr>
            <a:xfrm>
              <a:off x="5158454" y="577786"/>
              <a:ext cx="490347" cy="490347"/>
            </a:xfrm>
            <a:prstGeom prst="downArrow">
              <a:avLst>
                <a:gd name="adj1" fmla="val 55000"/>
                <a:gd name="adj2" fmla="val 45000"/>
              </a:avLst>
            </a:prstGeom>
            <a:solidFill>
              <a:srgbClr val="00B0F0">
                <a:alpha val="89803"/>
              </a:srgbClr>
            </a:solidFill>
            <a:ln w="12700" cap="flat" cmpd="sng">
              <a:solidFill>
                <a:srgbClr val="CCD3EA">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386" name="Google Shape;2386;p338"/>
            <p:cNvSpPr txBox="1"/>
            <p:nvPr/>
          </p:nvSpPr>
          <p:spPr>
            <a:xfrm>
              <a:off x="5268782" y="577786"/>
              <a:ext cx="269691" cy="368986"/>
            </a:xfrm>
            <a:prstGeom prst="rect">
              <a:avLst/>
            </a:prstGeom>
            <a:noFill/>
            <a:ln>
              <a:noFill/>
            </a:ln>
          </p:spPr>
          <p:txBody>
            <a:bodyPr spcFirstLastPara="1" wrap="square" lIns="27925" tIns="27925" rIns="27925" bIns="2792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2200"/>
                <a:buFont typeface="Calibri" panose="020F0502020204030204"/>
                <a:buNone/>
                <a:tabLst/>
                <a:defRPr/>
              </a:pPr>
              <a:endParaRPr kumimoji="0" sz="22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387" name="Google Shape;2387;p338"/>
            <p:cNvSpPr/>
            <p:nvPr/>
          </p:nvSpPr>
          <p:spPr>
            <a:xfrm>
              <a:off x="5287082" y="1371600"/>
              <a:ext cx="490347" cy="490347"/>
            </a:xfrm>
            <a:prstGeom prst="downArrow">
              <a:avLst>
                <a:gd name="adj1" fmla="val 55000"/>
                <a:gd name="adj2" fmla="val 45000"/>
              </a:avLst>
            </a:prstGeom>
            <a:solidFill>
              <a:srgbClr val="FFC000">
                <a:alpha val="89803"/>
              </a:srgbClr>
            </a:solidFill>
            <a:ln w="12700" cap="flat" cmpd="sng">
              <a:solidFill>
                <a:srgbClr val="CCD3EA">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388" name="Google Shape;2388;p338"/>
            <p:cNvSpPr txBox="1"/>
            <p:nvPr/>
          </p:nvSpPr>
          <p:spPr>
            <a:xfrm>
              <a:off x="5397410" y="1371600"/>
              <a:ext cx="269691" cy="368986"/>
            </a:xfrm>
            <a:prstGeom prst="rect">
              <a:avLst/>
            </a:prstGeom>
            <a:noFill/>
            <a:ln>
              <a:noFill/>
            </a:ln>
          </p:spPr>
          <p:txBody>
            <a:bodyPr spcFirstLastPara="1" wrap="square" lIns="27925" tIns="27925" rIns="27925" bIns="2792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2200"/>
                <a:buFont typeface="Calibri" panose="020F0502020204030204"/>
                <a:buNone/>
                <a:tabLst/>
                <a:defRPr/>
              </a:pPr>
              <a:endParaRPr kumimoji="0" sz="22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389" name="Google Shape;2389;p338"/>
            <p:cNvSpPr/>
            <p:nvPr/>
          </p:nvSpPr>
          <p:spPr>
            <a:xfrm>
              <a:off x="5267400" y="2286000"/>
              <a:ext cx="490347" cy="490347"/>
            </a:xfrm>
            <a:prstGeom prst="downArrow">
              <a:avLst>
                <a:gd name="adj1" fmla="val 55000"/>
                <a:gd name="adj2" fmla="val 45000"/>
              </a:avLst>
            </a:prstGeom>
            <a:solidFill>
              <a:srgbClr val="C00000">
                <a:alpha val="89803"/>
              </a:srgbClr>
            </a:solidFill>
            <a:ln w="12700" cap="flat" cmpd="sng">
              <a:solidFill>
                <a:srgbClr val="CCD3EA">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390" name="Google Shape;2390;p338"/>
            <p:cNvSpPr txBox="1"/>
            <p:nvPr/>
          </p:nvSpPr>
          <p:spPr>
            <a:xfrm>
              <a:off x="5377728" y="2286000"/>
              <a:ext cx="269691" cy="368986"/>
            </a:xfrm>
            <a:prstGeom prst="rect">
              <a:avLst/>
            </a:prstGeom>
            <a:noFill/>
            <a:ln>
              <a:noFill/>
            </a:ln>
          </p:spPr>
          <p:txBody>
            <a:bodyPr spcFirstLastPara="1" wrap="square" lIns="27925" tIns="27925" rIns="27925" bIns="2792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2200"/>
                <a:buFont typeface="Calibri" panose="020F0502020204030204"/>
                <a:buNone/>
                <a:tabLst/>
                <a:defRPr/>
              </a:pPr>
              <a:endParaRPr kumimoji="0" sz="22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Shape 2396"/>
        <p:cNvGrpSpPr/>
        <p:nvPr/>
      </p:nvGrpSpPr>
      <p:grpSpPr>
        <a:xfrm>
          <a:off x="0" y="0"/>
          <a:ext cx="0" cy="0"/>
          <a:chOff x="0" y="0"/>
          <a:chExt cx="0" cy="0"/>
        </a:xfrm>
      </p:grpSpPr>
      <p:sp>
        <p:nvSpPr>
          <p:cNvPr id="2397" name="Google Shape;2397;p339"/>
          <p:cNvSpPr txBox="1"/>
          <p:nvPr/>
        </p:nvSpPr>
        <p:spPr>
          <a:xfrm>
            <a:off x="228600" y="259952"/>
            <a:ext cx="7772400" cy="978695"/>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002060"/>
              </a:buClr>
              <a:buSzPts val="3200"/>
              <a:buFont typeface="Arial" panose="020B0604020202020204"/>
              <a:buNone/>
              <a:tabLst/>
              <a:defRPr/>
            </a:pPr>
            <a:r>
              <a:rPr kumimoji="0" lang="en-US" sz="3200" b="1" i="0" u="none" strike="noStrike" kern="0" cap="none" spc="0" normalizeH="0" baseline="0" noProof="0">
                <a:ln>
                  <a:noFill/>
                </a:ln>
                <a:solidFill>
                  <a:srgbClr val="002060"/>
                </a:solidFill>
                <a:effectLst/>
                <a:uLnTx/>
                <a:uFillTx/>
                <a:latin typeface="Arial" panose="020B0604020202020204"/>
                <a:cs typeface="Arial" panose="020B0604020202020204"/>
                <a:sym typeface="Arial" panose="020B0604020202020204"/>
              </a:rPr>
              <a:t>5</a:t>
            </a:r>
            <a:r>
              <a:rPr kumimoji="0" lang="en-US" sz="3200" b="1"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.3.2 Tìm kiếm thông tin</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398" name="Google Shape;2398;p339"/>
          <p:cNvSpPr txBox="1"/>
          <p:nvPr/>
        </p:nvSpPr>
        <p:spPr>
          <a:xfrm>
            <a:off x="647700" y="1545622"/>
            <a:ext cx="7772400" cy="676275"/>
          </a:xfrm>
          <a:prstGeom prst="rect">
            <a:avLst/>
          </a:prstGeom>
          <a:noFill/>
          <a:ln>
            <a:noFill/>
          </a:ln>
        </p:spPr>
        <p:txBody>
          <a:bodyPr spcFirstLastPara="1" wrap="square" lIns="91425" tIns="45700" rIns="91425" bIns="45700" anchor="t" anchorCtr="0">
            <a:normAutofit/>
          </a:bodyPr>
          <a:lstStyle/>
          <a:p>
            <a:pPr marL="228600" marR="0" lvl="0" indent="-228600" algn="ctr" defTabSz="914400" rtl="0" eaLnBrk="1" fontAlgn="auto" latinLnBrk="0" hangingPunct="1">
              <a:lnSpc>
                <a:spcPct val="90000"/>
              </a:lnSpc>
              <a:spcBef>
                <a:spcPts val="0"/>
              </a:spcBef>
              <a:spcAft>
                <a:spcPts val="0"/>
              </a:spcAft>
              <a:buClr>
                <a:srgbClr val="FF0000"/>
              </a:buClr>
              <a:buSzPts val="2800"/>
              <a:buFont typeface="Arial" panose="020B0604020202020204"/>
              <a:buChar char="•"/>
              <a:tabLst/>
              <a:defRPr/>
            </a:pPr>
            <a:r>
              <a:rPr kumimoji="0" lang="en-US" sz="2800" b="1" i="0" u="none" strike="noStrike" kern="0" cap="none" spc="0" normalizeH="0" baseline="0" noProof="0">
                <a:ln>
                  <a:noFill/>
                </a:ln>
                <a:solidFill>
                  <a:srgbClr val="FF0000"/>
                </a:solidFill>
                <a:effectLst/>
                <a:uLnTx/>
                <a:uFillTx/>
                <a:latin typeface="Arial" panose="020B0604020202020204"/>
                <a:ea typeface="Arial" panose="020B0604020202020204"/>
                <a:cs typeface="Arial" panose="020B0604020202020204"/>
                <a:sym typeface="Arial" panose="020B0604020202020204"/>
              </a:rPr>
              <a:t>BẢN CHẤT TÌM KIẾM THÔNG TIN</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399" name="Google Shape;2399;p339"/>
          <p:cNvSpPr txBox="1"/>
          <p:nvPr/>
        </p:nvSpPr>
        <p:spPr>
          <a:xfrm>
            <a:off x="152400" y="3810000"/>
            <a:ext cx="8763000" cy="36988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Noto Sans Symbols"/>
              <a:buNone/>
              <a:tabLst/>
              <a:defRPr/>
            </a:pPr>
            <a:endParaRPr kumimoji="0" sz="18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405" name="Google Shape;2405;p339"/>
          <p:cNvSpPr txBox="1"/>
          <p:nvPr/>
        </p:nvSpPr>
        <p:spPr>
          <a:xfrm flipH="1">
            <a:off x="6477001" y="4907131"/>
            <a:ext cx="2667000" cy="523875"/>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C00000"/>
              </a:buClr>
              <a:buSzPts val="2800"/>
              <a:buFont typeface="Noto Sans Symbols"/>
              <a:buNone/>
              <a:tabLst/>
              <a:defRPr/>
            </a:pPr>
            <a:r>
              <a:rPr kumimoji="0" lang="en-US" sz="2800" b="1" i="0" u="none" strike="noStrike" kern="0" cap="none" spc="0" normalizeH="0" baseline="0" noProof="0">
                <a:ln>
                  <a:noFill/>
                </a:ln>
                <a:solidFill>
                  <a:srgbClr val="C00000"/>
                </a:solidFill>
                <a:effectLst/>
                <a:uLnTx/>
                <a:uFillTx/>
                <a:latin typeface="Times New Roman" panose="02020603050405020304"/>
                <a:ea typeface="Times New Roman" panose="02020603050405020304"/>
                <a:cs typeface="Times New Roman" panose="02020603050405020304"/>
                <a:sym typeface="Times New Roman" panose="02020603050405020304"/>
              </a:rPr>
              <a:t>BÊN TRONG</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406" name="Google Shape;2406;p339"/>
          <p:cNvSpPr txBox="1"/>
          <p:nvPr/>
        </p:nvSpPr>
        <p:spPr>
          <a:xfrm>
            <a:off x="6629402" y="4827275"/>
            <a:ext cx="2362198" cy="6858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4472C4"/>
              </a:buClr>
              <a:buSzPts val="2720"/>
              <a:buFont typeface="Noto Sans Symbols"/>
              <a:buNone/>
              <a:tabLst/>
              <a:defRPr/>
            </a:pPr>
            <a:endParaRPr kumimoji="0" sz="3200" b="1" i="0" u="sng" strike="noStrike" kern="0" cap="none" spc="0" normalizeH="0" baseline="0" noProof="0">
              <a:ln>
                <a:noFill/>
              </a:ln>
              <a:solidFill>
                <a:srgbClr val="FF0066"/>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407" name="Google Shape;2407;p339"/>
          <p:cNvSpPr txBox="1"/>
          <p:nvPr/>
        </p:nvSpPr>
        <p:spPr>
          <a:xfrm>
            <a:off x="2628900" y="3720315"/>
            <a:ext cx="2209800" cy="52387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C00000"/>
              </a:buClr>
              <a:buSzPts val="2800"/>
              <a:buFont typeface="Noto Sans Symbols"/>
              <a:buNone/>
              <a:tabLst/>
              <a:defRPr/>
            </a:pPr>
            <a:r>
              <a:rPr kumimoji="0" lang="en-US" sz="2800" b="1" i="0" u="none" strike="noStrike" kern="0" cap="none" spc="0" normalizeH="0" baseline="0" noProof="0">
                <a:ln>
                  <a:noFill/>
                </a:ln>
                <a:solidFill>
                  <a:srgbClr val="C00000"/>
                </a:solidFill>
                <a:effectLst/>
                <a:uLnTx/>
                <a:uFillTx/>
                <a:latin typeface="Times New Roman" panose="02020603050405020304"/>
                <a:ea typeface="Times New Roman" panose="02020603050405020304"/>
                <a:cs typeface="Times New Roman" panose="02020603050405020304"/>
                <a:sym typeface="Times New Roman" panose="02020603050405020304"/>
              </a:rPr>
              <a:t>BÊN NGOÀI</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05"/>
                                        </p:tgtEl>
                                        <p:attrNameLst>
                                          <p:attrName>style.visibility</p:attrName>
                                        </p:attrNameLst>
                                      </p:cBhvr>
                                      <p:to>
                                        <p:strVal val="visible"/>
                                      </p:to>
                                    </p:set>
                                    <p:animEffect transition="in" filter="fade">
                                      <p:cBhvr>
                                        <p:cTn id="7" dur="500"/>
                                        <p:tgtEl>
                                          <p:spTgt spid="240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07">
                                            <p:txEl>
                                              <p:pRg st="0" end="0"/>
                                            </p:txEl>
                                          </p:spTgt>
                                        </p:tgtEl>
                                        <p:attrNameLst>
                                          <p:attrName>style.visibility</p:attrName>
                                        </p:attrNameLst>
                                      </p:cBhvr>
                                      <p:to>
                                        <p:strVal val="visible"/>
                                      </p:to>
                                    </p:set>
                                    <p:animEffect transition="in" filter="fade">
                                      <p:cBhvr>
                                        <p:cTn id="12" dur="500"/>
                                        <p:tgtEl>
                                          <p:spTgt spid="24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Shape 2411"/>
        <p:cNvGrpSpPr/>
        <p:nvPr/>
      </p:nvGrpSpPr>
      <p:grpSpPr>
        <a:xfrm>
          <a:off x="0" y="0"/>
          <a:ext cx="0" cy="0"/>
          <a:chOff x="0" y="0"/>
          <a:chExt cx="0" cy="0"/>
        </a:xfrm>
      </p:grpSpPr>
      <p:sp>
        <p:nvSpPr>
          <p:cNvPr id="2412" name="Google Shape;2412;p340"/>
          <p:cNvSpPr txBox="1"/>
          <p:nvPr/>
        </p:nvSpPr>
        <p:spPr>
          <a:xfrm>
            <a:off x="722312" y="1304765"/>
            <a:ext cx="7772400" cy="623887"/>
          </a:xfrm>
          <a:prstGeom prst="rect">
            <a:avLst/>
          </a:prstGeom>
          <a:noFill/>
          <a:ln>
            <a:noFill/>
          </a:ln>
        </p:spPr>
        <p:txBody>
          <a:bodyPr spcFirstLastPara="1" wrap="square" lIns="91425" tIns="45700" rIns="91425" bIns="45700" anchor="ctr" anchorCtr="0">
            <a:normAutofit/>
          </a:bodyPr>
          <a:lstStyle/>
          <a:p>
            <a:pPr marL="0" marR="0" lvl="0" indent="0" algn="ctr" defTabSz="914400" rtl="0" eaLnBrk="1" fontAlgn="auto" latinLnBrk="0" hangingPunct="1">
              <a:lnSpc>
                <a:spcPct val="90000"/>
              </a:lnSpc>
              <a:spcBef>
                <a:spcPts val="0"/>
              </a:spcBef>
              <a:spcAft>
                <a:spcPts val="0"/>
              </a:spcAft>
              <a:buClr>
                <a:srgbClr val="7030A0"/>
              </a:buClr>
              <a:buSzPts val="2800"/>
              <a:buFont typeface="Arial" panose="020B0604020202020204"/>
              <a:buNone/>
              <a:tabLst/>
              <a:defRPr/>
            </a:pPr>
            <a:r>
              <a:rPr kumimoji="0" lang="en-US" sz="2800" b="1" i="0" u="none" strike="noStrike" kern="0" cap="none" spc="0" normalizeH="0" baseline="0" noProof="0">
                <a:ln>
                  <a:noFill/>
                </a:ln>
                <a:solidFill>
                  <a:srgbClr val="7030A0"/>
                </a:solidFill>
                <a:effectLst/>
                <a:uLnTx/>
                <a:uFillTx/>
                <a:latin typeface="Arial" panose="020B0604020202020204"/>
                <a:ea typeface="Arial" panose="020B0604020202020204"/>
                <a:cs typeface="Arial" panose="020B0604020202020204"/>
                <a:sym typeface="Arial" panose="020B0604020202020204"/>
              </a:rPr>
              <a:t>TÌM KIẾM THÔNG TIN BÊN TRONG</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413" name="Google Shape;2413;p340"/>
          <p:cNvSpPr txBox="1"/>
          <p:nvPr/>
        </p:nvSpPr>
        <p:spPr>
          <a:xfrm>
            <a:off x="1377387" y="2415834"/>
            <a:ext cx="7117325" cy="1338262"/>
          </a:xfrm>
          <a:prstGeom prst="rect">
            <a:avLst/>
          </a:prstGeom>
          <a:noFill/>
          <a:ln>
            <a:noFill/>
          </a:ln>
        </p:spPr>
        <p:txBody>
          <a:bodyPr spcFirstLastPara="1" wrap="square" lIns="91425" tIns="45700" rIns="91425" bIns="45700" anchor="t" anchorCtr="0">
            <a:noAutofit/>
          </a:bodyPr>
          <a:lstStyle/>
          <a:p>
            <a:pPr marL="342900" marR="0" lvl="0" indent="-342900" algn="l" defTabSz="914400" rtl="0" eaLnBrk="1" fontAlgn="auto" latinLnBrk="0" hangingPunct="1">
              <a:lnSpc>
                <a:spcPct val="90000"/>
              </a:lnSpc>
              <a:spcBef>
                <a:spcPts val="0"/>
              </a:spcBef>
              <a:spcAft>
                <a:spcPts val="0"/>
              </a:spcAft>
              <a:buClr>
                <a:srgbClr val="002060"/>
              </a:buClr>
              <a:buSzPts val="2160"/>
              <a:buFont typeface="Noto Sans Symbols"/>
              <a:buChar char="✔"/>
              <a:tabLst/>
              <a:defRPr/>
            </a:pPr>
            <a:r>
              <a:rPr kumimoji="0" lang="en-US"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LỤC LỌI TRÍ NHỚ</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480060" marR="0" lvl="0" indent="-205740" algn="l" defTabSz="914400" rtl="0" eaLnBrk="1" fontAlgn="auto" latinLnBrk="0" hangingPunct="1">
              <a:lnSpc>
                <a:spcPct val="90000"/>
              </a:lnSpc>
              <a:spcBef>
                <a:spcPts val="1000"/>
              </a:spcBef>
              <a:spcAft>
                <a:spcPts val="0"/>
              </a:spcAft>
              <a:buClr>
                <a:srgbClr val="002060"/>
              </a:buClr>
              <a:buSzPts val="2160"/>
              <a:buFont typeface="Noto Sans Symbols"/>
              <a:buNone/>
              <a:tabLst/>
              <a:defRPr/>
            </a:pPr>
            <a:endParaRPr kumimoji="0"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endParaRPr>
          </a:p>
          <a:p>
            <a:pPr marL="342900" marR="0" lvl="0" indent="-342900" algn="l" defTabSz="914400" rtl="0" eaLnBrk="1" fontAlgn="auto" latinLnBrk="0" hangingPunct="1">
              <a:lnSpc>
                <a:spcPct val="90000"/>
              </a:lnSpc>
              <a:spcBef>
                <a:spcPts val="1000"/>
              </a:spcBef>
              <a:spcAft>
                <a:spcPts val="0"/>
              </a:spcAft>
              <a:buClr>
                <a:srgbClr val="002060"/>
              </a:buClr>
              <a:buSzPts val="2160"/>
              <a:buFont typeface="Noto Sans Symbols"/>
              <a:buChar char="✔"/>
              <a:tabLst/>
              <a:defRPr/>
            </a:pPr>
            <a:r>
              <a:rPr kumimoji="0" lang="en-US"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KÝ ỨC</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480060" marR="0" lvl="0" indent="-205740" algn="l" defTabSz="914400" rtl="0" eaLnBrk="1" fontAlgn="auto" latinLnBrk="0" hangingPunct="1">
              <a:lnSpc>
                <a:spcPct val="90000"/>
              </a:lnSpc>
              <a:spcBef>
                <a:spcPts val="1000"/>
              </a:spcBef>
              <a:spcAft>
                <a:spcPts val="0"/>
              </a:spcAft>
              <a:buClr>
                <a:srgbClr val="002060"/>
              </a:buClr>
              <a:buSzPts val="2160"/>
              <a:buFont typeface="Noto Sans Symbols"/>
              <a:buNone/>
              <a:tabLst/>
              <a:defRPr/>
            </a:pPr>
            <a:endParaRPr kumimoji="0"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endParaRPr>
          </a:p>
          <a:p>
            <a:pPr marL="342900" marR="0" lvl="0" indent="-342900" algn="l" defTabSz="914400" rtl="0" eaLnBrk="1" fontAlgn="auto" latinLnBrk="0" hangingPunct="1">
              <a:lnSpc>
                <a:spcPct val="90000"/>
              </a:lnSpc>
              <a:spcBef>
                <a:spcPts val="1000"/>
              </a:spcBef>
              <a:spcAft>
                <a:spcPts val="0"/>
              </a:spcAft>
              <a:buClr>
                <a:srgbClr val="002060"/>
              </a:buClr>
              <a:buSzPts val="2160"/>
              <a:buFont typeface="Noto Sans Symbols"/>
              <a:buChar char="✔"/>
              <a:tabLst/>
              <a:defRPr/>
            </a:pPr>
            <a:r>
              <a:rPr kumimoji="0" lang="en-US"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NHỮNG KINH NGHIỆM CÁ NHÂN</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416" name="Google Shape;2416;p340"/>
          <p:cNvSpPr txBox="1"/>
          <p:nvPr/>
        </p:nvSpPr>
        <p:spPr>
          <a:xfrm>
            <a:off x="228600" y="259952"/>
            <a:ext cx="7772400" cy="978695"/>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002060"/>
              </a:buClr>
              <a:buSzPts val="3200"/>
              <a:buFont typeface="Arial" panose="020B0604020202020204"/>
              <a:buNone/>
              <a:tabLst/>
              <a:defRPr/>
            </a:pPr>
            <a:r>
              <a:rPr kumimoji="0" lang="en-US" sz="3200" b="1" i="0" u="none" strike="noStrike" kern="0" cap="none" spc="0" normalizeH="0" baseline="0" noProof="0">
                <a:ln>
                  <a:noFill/>
                </a:ln>
                <a:solidFill>
                  <a:srgbClr val="002060"/>
                </a:solidFill>
                <a:effectLst/>
                <a:uLnTx/>
                <a:uFillTx/>
                <a:latin typeface="Arial" panose="020B0604020202020204"/>
                <a:cs typeface="Arial" panose="020B0604020202020204"/>
                <a:sym typeface="Arial" panose="020B0604020202020204"/>
              </a:rPr>
              <a:t>5</a:t>
            </a:r>
            <a:r>
              <a:rPr kumimoji="0" lang="en-US" sz="3200" b="1"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.3.2 Tìm kiếm thông tin</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13">
                                            <p:txEl>
                                              <p:pRg st="0" end="0"/>
                                            </p:txEl>
                                          </p:spTgt>
                                        </p:tgtEl>
                                        <p:attrNameLst>
                                          <p:attrName>style.visibility</p:attrName>
                                        </p:attrNameLst>
                                      </p:cBhvr>
                                      <p:to>
                                        <p:strVal val="visible"/>
                                      </p:to>
                                    </p:set>
                                    <p:animEffect transition="in" filter="fade">
                                      <p:cBhvr>
                                        <p:cTn id="7" dur="500"/>
                                        <p:tgtEl>
                                          <p:spTgt spid="24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13">
                                            <p:txEl>
                                              <p:pRg st="1" end="1"/>
                                            </p:txEl>
                                          </p:spTgt>
                                        </p:tgtEl>
                                        <p:attrNameLst>
                                          <p:attrName>style.visibility</p:attrName>
                                        </p:attrNameLst>
                                      </p:cBhvr>
                                      <p:to>
                                        <p:strVal val="visible"/>
                                      </p:to>
                                    </p:set>
                                    <p:animEffect transition="in" filter="fade">
                                      <p:cBhvr>
                                        <p:cTn id="12" dur="500"/>
                                        <p:tgtEl>
                                          <p:spTgt spid="24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13">
                                            <p:txEl>
                                              <p:pRg st="2" end="2"/>
                                            </p:txEl>
                                          </p:spTgt>
                                        </p:tgtEl>
                                        <p:attrNameLst>
                                          <p:attrName>style.visibility</p:attrName>
                                        </p:attrNameLst>
                                      </p:cBhvr>
                                      <p:to>
                                        <p:strVal val="visible"/>
                                      </p:to>
                                    </p:set>
                                    <p:animEffect transition="in" filter="fade">
                                      <p:cBhvr>
                                        <p:cTn id="17" dur="500"/>
                                        <p:tgtEl>
                                          <p:spTgt spid="24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13">
                                            <p:txEl>
                                              <p:pRg st="3" end="3"/>
                                            </p:txEl>
                                          </p:spTgt>
                                        </p:tgtEl>
                                        <p:attrNameLst>
                                          <p:attrName>style.visibility</p:attrName>
                                        </p:attrNameLst>
                                      </p:cBhvr>
                                      <p:to>
                                        <p:strVal val="visible"/>
                                      </p:to>
                                    </p:set>
                                    <p:animEffect transition="in" filter="fade">
                                      <p:cBhvr>
                                        <p:cTn id="22" dur="500"/>
                                        <p:tgtEl>
                                          <p:spTgt spid="24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13">
                                            <p:txEl>
                                              <p:pRg st="4" end="4"/>
                                            </p:txEl>
                                          </p:spTgt>
                                        </p:tgtEl>
                                        <p:attrNameLst>
                                          <p:attrName>style.visibility</p:attrName>
                                        </p:attrNameLst>
                                      </p:cBhvr>
                                      <p:to>
                                        <p:strVal val="visible"/>
                                      </p:to>
                                    </p:set>
                                    <p:animEffect transition="in" filter="fade">
                                      <p:cBhvr>
                                        <p:cTn id="27" dur="500"/>
                                        <p:tgtEl>
                                          <p:spTgt spid="24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Shape 2420"/>
        <p:cNvGrpSpPr/>
        <p:nvPr/>
      </p:nvGrpSpPr>
      <p:grpSpPr>
        <a:xfrm>
          <a:off x="0" y="0"/>
          <a:ext cx="0" cy="0"/>
          <a:chOff x="0" y="0"/>
          <a:chExt cx="0" cy="0"/>
        </a:xfrm>
      </p:grpSpPr>
      <p:sp>
        <p:nvSpPr>
          <p:cNvPr id="2421" name="Google Shape;2421;p341"/>
          <p:cNvSpPr txBox="1"/>
          <p:nvPr/>
        </p:nvSpPr>
        <p:spPr>
          <a:xfrm>
            <a:off x="685800" y="630436"/>
            <a:ext cx="7772400" cy="1362075"/>
          </a:xfrm>
          <a:prstGeom prst="rect">
            <a:avLst/>
          </a:prstGeom>
          <a:noFill/>
          <a:ln>
            <a:noFill/>
          </a:ln>
        </p:spPr>
        <p:txBody>
          <a:bodyPr spcFirstLastPara="1" wrap="square" lIns="91425" tIns="45700" rIns="91425" bIns="91425" anchor="b" anchorCtr="0">
            <a:noAutofit/>
          </a:bodyPr>
          <a:lstStyle/>
          <a:p>
            <a:pPr marL="0" marR="0" lvl="0" indent="0" algn="ctr" defTabSz="914400" rtl="0" eaLnBrk="1" fontAlgn="auto" latinLnBrk="0" hangingPunct="1">
              <a:lnSpc>
                <a:spcPct val="100000"/>
              </a:lnSpc>
              <a:spcBef>
                <a:spcPts val="0"/>
              </a:spcBef>
              <a:spcAft>
                <a:spcPts val="0"/>
              </a:spcAft>
              <a:buClr>
                <a:srgbClr val="7030A0"/>
              </a:buClr>
              <a:buSzPts val="3200"/>
              <a:buFont typeface="Arial" panose="020B0604020202020204"/>
              <a:buNone/>
              <a:tabLst/>
              <a:defRPr/>
            </a:pPr>
            <a:r>
              <a:rPr kumimoji="0" lang="en-US" sz="3200" b="1" i="0" u="none" strike="noStrike" kern="0" cap="none" spc="0" normalizeH="0" baseline="0" noProof="0">
                <a:ln>
                  <a:noFill/>
                </a:ln>
                <a:solidFill>
                  <a:srgbClr val="7030A0"/>
                </a:solidFill>
                <a:effectLst/>
                <a:uLnTx/>
                <a:uFillTx/>
                <a:latin typeface="Arial" panose="020B0604020202020204"/>
                <a:ea typeface="Arial" panose="020B0604020202020204"/>
                <a:cs typeface="Arial" panose="020B0604020202020204"/>
                <a:sym typeface="Arial" panose="020B0604020202020204"/>
              </a:rPr>
              <a:t>TÌM KIẾM THÔNG TIN BÊN NGOÀI</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422" name="Google Shape;2422;p341"/>
          <p:cNvSpPr txBox="1"/>
          <p:nvPr/>
        </p:nvSpPr>
        <p:spPr>
          <a:xfrm>
            <a:off x="685800" y="2286000"/>
            <a:ext cx="7772400" cy="1338263"/>
          </a:xfrm>
          <a:prstGeom prst="rect">
            <a:avLst/>
          </a:prstGeom>
          <a:noFill/>
          <a:ln>
            <a:noFill/>
          </a:ln>
        </p:spPr>
        <p:txBody>
          <a:bodyPr spcFirstLastPara="1" wrap="square" lIns="91425" tIns="45700" rIns="91425" bIns="45700" anchor="t" anchorCtr="0">
            <a:noAutofit/>
          </a:bodyPr>
          <a:lstStyle/>
          <a:p>
            <a:pPr marL="450850" marR="0" lvl="0" indent="-342900" algn="l" defTabSz="914400" rtl="0" eaLnBrk="1" fontAlgn="auto" latinLnBrk="0" hangingPunct="1">
              <a:lnSpc>
                <a:spcPct val="100000"/>
              </a:lnSpc>
              <a:spcBef>
                <a:spcPts val="0"/>
              </a:spcBef>
              <a:spcAft>
                <a:spcPts val="0"/>
              </a:spcAft>
              <a:buClr>
                <a:srgbClr val="002060"/>
              </a:buClr>
              <a:buSzPts val="2040"/>
              <a:buFont typeface="Noto Sans Symbols"/>
              <a:buChar char="✔"/>
              <a:tabLst/>
              <a:defRPr/>
            </a:pPr>
            <a:r>
              <a:rPr kumimoji="0" lang="en-US"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GIA ĐÌNH, BẠN BÈ…</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450850" marR="0" lvl="0" indent="-213360" algn="l" defTabSz="914400" rtl="0" eaLnBrk="1" fontAlgn="auto" latinLnBrk="0" hangingPunct="1">
              <a:lnSpc>
                <a:spcPct val="100000"/>
              </a:lnSpc>
              <a:spcBef>
                <a:spcPts val="575"/>
              </a:spcBef>
              <a:spcAft>
                <a:spcPts val="0"/>
              </a:spcAft>
              <a:buClr>
                <a:srgbClr val="002060"/>
              </a:buClr>
              <a:buSzPts val="2040"/>
              <a:buFont typeface="Noto Sans Symbols"/>
              <a:buNone/>
              <a:tabLst/>
              <a:defRPr/>
            </a:pPr>
            <a:endParaRPr kumimoji="0"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endParaRPr>
          </a:p>
          <a:p>
            <a:pPr marL="450850" marR="0" lvl="0" indent="-342900" algn="l" defTabSz="914400" rtl="0" eaLnBrk="1" fontAlgn="auto" latinLnBrk="0" hangingPunct="1">
              <a:lnSpc>
                <a:spcPct val="100000"/>
              </a:lnSpc>
              <a:spcBef>
                <a:spcPts val="575"/>
              </a:spcBef>
              <a:spcAft>
                <a:spcPts val="0"/>
              </a:spcAft>
              <a:buClr>
                <a:srgbClr val="002060"/>
              </a:buClr>
              <a:buSzPts val="2040"/>
              <a:buFont typeface="Noto Sans Symbols"/>
              <a:buChar char="✔"/>
              <a:tabLst/>
              <a:defRPr/>
            </a:pPr>
            <a:r>
              <a:rPr kumimoji="0" lang="en-US"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SÁCH BÁO</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450850" marR="0" lvl="0" indent="-213360" algn="l" defTabSz="914400" rtl="0" eaLnBrk="1" fontAlgn="auto" latinLnBrk="0" hangingPunct="1">
              <a:lnSpc>
                <a:spcPct val="100000"/>
              </a:lnSpc>
              <a:spcBef>
                <a:spcPts val="575"/>
              </a:spcBef>
              <a:spcAft>
                <a:spcPts val="0"/>
              </a:spcAft>
              <a:buClr>
                <a:srgbClr val="002060"/>
              </a:buClr>
              <a:buSzPts val="2040"/>
              <a:buFont typeface="Noto Sans Symbols"/>
              <a:buNone/>
              <a:tabLst/>
              <a:defRPr/>
            </a:pPr>
            <a:endParaRPr kumimoji="0"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endParaRPr>
          </a:p>
          <a:p>
            <a:pPr marL="450850" marR="0" lvl="0" indent="-342900" algn="l" defTabSz="914400" rtl="0" eaLnBrk="1" fontAlgn="auto" latinLnBrk="0" hangingPunct="1">
              <a:lnSpc>
                <a:spcPct val="100000"/>
              </a:lnSpc>
              <a:spcBef>
                <a:spcPts val="575"/>
              </a:spcBef>
              <a:spcAft>
                <a:spcPts val="0"/>
              </a:spcAft>
              <a:buClr>
                <a:srgbClr val="002060"/>
              </a:buClr>
              <a:buSzPts val="2040"/>
              <a:buFont typeface="Noto Sans Symbols"/>
              <a:buChar char="✔"/>
              <a:tabLst/>
              <a:defRPr/>
            </a:pPr>
            <a:r>
              <a:rPr kumimoji="0" lang="en-US"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QUẢNG CÁO</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450850" marR="0" lvl="0" indent="-213360" algn="l" defTabSz="914400" rtl="0" eaLnBrk="1" fontAlgn="auto" latinLnBrk="0" hangingPunct="1">
              <a:lnSpc>
                <a:spcPct val="100000"/>
              </a:lnSpc>
              <a:spcBef>
                <a:spcPts val="575"/>
              </a:spcBef>
              <a:spcAft>
                <a:spcPts val="0"/>
              </a:spcAft>
              <a:buClr>
                <a:srgbClr val="002060"/>
              </a:buClr>
              <a:buSzPts val="2040"/>
              <a:buFont typeface="Noto Sans Symbols"/>
              <a:buNone/>
              <a:tabLst/>
              <a:defRPr/>
            </a:pPr>
            <a:endParaRPr kumimoji="0"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endParaRPr>
          </a:p>
          <a:p>
            <a:pPr marL="450850" marR="0" lvl="0" indent="-342900" algn="l" defTabSz="914400" rtl="0" eaLnBrk="1" fontAlgn="auto" latinLnBrk="0" hangingPunct="1">
              <a:lnSpc>
                <a:spcPct val="100000"/>
              </a:lnSpc>
              <a:spcBef>
                <a:spcPts val="575"/>
              </a:spcBef>
              <a:spcAft>
                <a:spcPts val="0"/>
              </a:spcAft>
              <a:buClr>
                <a:srgbClr val="002060"/>
              </a:buClr>
              <a:buSzPts val="2040"/>
              <a:buFont typeface="Noto Sans Symbols"/>
              <a:buChar char="✔"/>
              <a:tabLst/>
              <a:defRPr/>
            </a:pPr>
            <a:r>
              <a:rPr kumimoji="0" lang="en-US"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NGƯỜI BÁN HÀNG</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580390" marR="0" lvl="0" indent="-213360" algn="l" defTabSz="914400" rtl="0" eaLnBrk="1" fontAlgn="auto" latinLnBrk="0" hangingPunct="1">
              <a:lnSpc>
                <a:spcPct val="100000"/>
              </a:lnSpc>
              <a:spcBef>
                <a:spcPts val="575"/>
              </a:spcBef>
              <a:spcAft>
                <a:spcPts val="0"/>
              </a:spcAft>
              <a:buClr>
                <a:srgbClr val="002060"/>
              </a:buClr>
              <a:buSzPts val="2040"/>
              <a:buFont typeface="Noto Sans Symbols"/>
              <a:buNone/>
              <a:tabLst/>
              <a:defRPr/>
            </a:pPr>
            <a:endParaRPr kumimoji="0"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endParaRPr>
          </a:p>
          <a:p>
            <a:pPr marL="450850" marR="0" lvl="0" indent="-342900" algn="l" defTabSz="914400" rtl="0" eaLnBrk="1" fontAlgn="auto" latinLnBrk="0" hangingPunct="1">
              <a:lnSpc>
                <a:spcPct val="100000"/>
              </a:lnSpc>
              <a:spcBef>
                <a:spcPts val="575"/>
              </a:spcBef>
              <a:spcAft>
                <a:spcPts val="0"/>
              </a:spcAft>
              <a:buClr>
                <a:srgbClr val="002060"/>
              </a:buClr>
              <a:buSzPts val="2040"/>
              <a:buFont typeface="Noto Sans Symbols"/>
              <a:buChar char="✔"/>
              <a:tabLst/>
              <a:defRPr/>
            </a:pPr>
            <a:r>
              <a:rPr kumimoji="0" lang="en-US" sz="24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CÁCH BÀI TRÍ, BÀY HÀNG</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424" name="Google Shape;2424;p341"/>
          <p:cNvSpPr txBox="1"/>
          <p:nvPr/>
        </p:nvSpPr>
        <p:spPr>
          <a:xfrm>
            <a:off x="228600" y="259952"/>
            <a:ext cx="7772400" cy="978695"/>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002060"/>
              </a:buClr>
              <a:buSzPts val="3200"/>
              <a:buFont typeface="Arial" panose="020B0604020202020204"/>
              <a:buNone/>
              <a:tabLst/>
              <a:defRPr/>
            </a:pPr>
            <a:r>
              <a:rPr kumimoji="0" lang="en-US" sz="3200" b="1" i="0" u="none" strike="noStrike" kern="0" cap="none" spc="0" normalizeH="0" baseline="0" noProof="0">
                <a:ln>
                  <a:noFill/>
                </a:ln>
                <a:solidFill>
                  <a:srgbClr val="002060"/>
                </a:solidFill>
                <a:effectLst/>
                <a:uLnTx/>
                <a:uFillTx/>
                <a:latin typeface="Arial" panose="020B0604020202020204"/>
                <a:cs typeface="Arial" panose="020B0604020202020204"/>
                <a:sym typeface="Arial" panose="020B0604020202020204"/>
              </a:rPr>
              <a:t>5</a:t>
            </a:r>
            <a:r>
              <a:rPr kumimoji="0" lang="en-US" sz="3200" b="1"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.3.2 Tìm kiếm thông tin</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22">
                                            <p:txEl>
                                              <p:pRg st="0" end="0"/>
                                            </p:txEl>
                                          </p:spTgt>
                                        </p:tgtEl>
                                        <p:attrNameLst>
                                          <p:attrName>style.visibility</p:attrName>
                                        </p:attrNameLst>
                                      </p:cBhvr>
                                      <p:to>
                                        <p:strVal val="visible"/>
                                      </p:to>
                                    </p:set>
                                    <p:animEffect transition="in" filter="fade">
                                      <p:cBhvr>
                                        <p:cTn id="7" dur="500"/>
                                        <p:tgtEl>
                                          <p:spTgt spid="24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22">
                                            <p:txEl>
                                              <p:pRg st="1" end="1"/>
                                            </p:txEl>
                                          </p:spTgt>
                                        </p:tgtEl>
                                        <p:attrNameLst>
                                          <p:attrName>style.visibility</p:attrName>
                                        </p:attrNameLst>
                                      </p:cBhvr>
                                      <p:to>
                                        <p:strVal val="visible"/>
                                      </p:to>
                                    </p:set>
                                    <p:animEffect transition="in" filter="fade">
                                      <p:cBhvr>
                                        <p:cTn id="12" dur="500"/>
                                        <p:tgtEl>
                                          <p:spTgt spid="24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22">
                                            <p:txEl>
                                              <p:pRg st="2" end="2"/>
                                            </p:txEl>
                                          </p:spTgt>
                                        </p:tgtEl>
                                        <p:attrNameLst>
                                          <p:attrName>style.visibility</p:attrName>
                                        </p:attrNameLst>
                                      </p:cBhvr>
                                      <p:to>
                                        <p:strVal val="visible"/>
                                      </p:to>
                                    </p:set>
                                    <p:animEffect transition="in" filter="fade">
                                      <p:cBhvr>
                                        <p:cTn id="17" dur="500"/>
                                        <p:tgtEl>
                                          <p:spTgt spid="242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22">
                                            <p:txEl>
                                              <p:pRg st="3" end="3"/>
                                            </p:txEl>
                                          </p:spTgt>
                                        </p:tgtEl>
                                        <p:attrNameLst>
                                          <p:attrName>style.visibility</p:attrName>
                                        </p:attrNameLst>
                                      </p:cBhvr>
                                      <p:to>
                                        <p:strVal val="visible"/>
                                      </p:to>
                                    </p:set>
                                    <p:animEffect transition="in" filter="fade">
                                      <p:cBhvr>
                                        <p:cTn id="22" dur="500"/>
                                        <p:tgtEl>
                                          <p:spTgt spid="242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22">
                                            <p:txEl>
                                              <p:pRg st="4" end="4"/>
                                            </p:txEl>
                                          </p:spTgt>
                                        </p:tgtEl>
                                        <p:attrNameLst>
                                          <p:attrName>style.visibility</p:attrName>
                                        </p:attrNameLst>
                                      </p:cBhvr>
                                      <p:to>
                                        <p:strVal val="visible"/>
                                      </p:to>
                                    </p:set>
                                    <p:animEffect transition="in" filter="fade">
                                      <p:cBhvr>
                                        <p:cTn id="27" dur="500"/>
                                        <p:tgtEl>
                                          <p:spTgt spid="242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22">
                                            <p:txEl>
                                              <p:pRg st="5" end="5"/>
                                            </p:txEl>
                                          </p:spTgt>
                                        </p:tgtEl>
                                        <p:attrNameLst>
                                          <p:attrName>style.visibility</p:attrName>
                                        </p:attrNameLst>
                                      </p:cBhvr>
                                      <p:to>
                                        <p:strVal val="visible"/>
                                      </p:to>
                                    </p:set>
                                    <p:animEffect transition="in" filter="fade">
                                      <p:cBhvr>
                                        <p:cTn id="32" dur="500"/>
                                        <p:tgtEl>
                                          <p:spTgt spid="242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22">
                                            <p:txEl>
                                              <p:pRg st="6" end="6"/>
                                            </p:txEl>
                                          </p:spTgt>
                                        </p:tgtEl>
                                        <p:attrNameLst>
                                          <p:attrName>style.visibility</p:attrName>
                                        </p:attrNameLst>
                                      </p:cBhvr>
                                      <p:to>
                                        <p:strVal val="visible"/>
                                      </p:to>
                                    </p:set>
                                    <p:animEffect transition="in" filter="fade">
                                      <p:cBhvr>
                                        <p:cTn id="37" dur="500"/>
                                        <p:tgtEl>
                                          <p:spTgt spid="242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22">
                                            <p:txEl>
                                              <p:pRg st="7" end="7"/>
                                            </p:txEl>
                                          </p:spTgt>
                                        </p:tgtEl>
                                        <p:attrNameLst>
                                          <p:attrName>style.visibility</p:attrName>
                                        </p:attrNameLst>
                                      </p:cBhvr>
                                      <p:to>
                                        <p:strVal val="visible"/>
                                      </p:to>
                                    </p:set>
                                    <p:animEffect transition="in" filter="fade">
                                      <p:cBhvr>
                                        <p:cTn id="42" dur="500"/>
                                        <p:tgtEl>
                                          <p:spTgt spid="242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22">
                                            <p:txEl>
                                              <p:pRg st="8" end="8"/>
                                            </p:txEl>
                                          </p:spTgt>
                                        </p:tgtEl>
                                        <p:attrNameLst>
                                          <p:attrName>style.visibility</p:attrName>
                                        </p:attrNameLst>
                                      </p:cBhvr>
                                      <p:to>
                                        <p:strVal val="visible"/>
                                      </p:to>
                                    </p:set>
                                    <p:animEffect transition="in" filter="fade">
                                      <p:cBhvr>
                                        <p:cTn id="47" dur="500"/>
                                        <p:tgtEl>
                                          <p:spTgt spid="242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Shape 2428"/>
        <p:cNvGrpSpPr/>
        <p:nvPr/>
      </p:nvGrpSpPr>
      <p:grpSpPr>
        <a:xfrm>
          <a:off x="0" y="0"/>
          <a:ext cx="0" cy="0"/>
          <a:chOff x="0" y="0"/>
          <a:chExt cx="0" cy="0"/>
        </a:xfrm>
      </p:grpSpPr>
      <p:sp>
        <p:nvSpPr>
          <p:cNvPr id="2429" name="Google Shape;2429;p342"/>
          <p:cNvSpPr txBox="1"/>
          <p:nvPr/>
        </p:nvSpPr>
        <p:spPr>
          <a:xfrm>
            <a:off x="1944687" y="557609"/>
            <a:ext cx="8037513" cy="1362075"/>
          </a:xfrm>
          <a:prstGeom prst="rect">
            <a:avLst/>
          </a:prstGeom>
          <a:noFill/>
          <a:ln>
            <a:noFill/>
          </a:ln>
        </p:spPr>
        <p:txBody>
          <a:bodyPr spcFirstLastPara="1" wrap="square" lIns="91425" tIns="45700" rIns="91425" bIns="91425" anchor="b" anchorCtr="0">
            <a:noAutofit/>
          </a:bodyPr>
          <a:lstStyle/>
          <a:p>
            <a:pPr marL="0" marR="0" lvl="0" indent="0" algn="ctr" defTabSz="914400" rtl="0" eaLnBrk="1" fontAlgn="auto" latinLnBrk="0" hangingPunct="1">
              <a:lnSpc>
                <a:spcPct val="100000"/>
              </a:lnSpc>
              <a:spcBef>
                <a:spcPts val="0"/>
              </a:spcBef>
              <a:spcAft>
                <a:spcPts val="0"/>
              </a:spcAft>
              <a:buClr>
                <a:srgbClr val="7030A0"/>
              </a:buClr>
              <a:buSzPts val="3200"/>
              <a:buFont typeface="Arial" panose="020B0604020202020204"/>
              <a:buNone/>
              <a:tabLst/>
              <a:defRPr/>
            </a:pPr>
            <a:r>
              <a:rPr kumimoji="0" lang="en-US" sz="3200" b="1" i="0" u="none" strike="noStrike" kern="0" cap="none" spc="0" normalizeH="0" baseline="0" noProof="0">
                <a:ln>
                  <a:noFill/>
                </a:ln>
                <a:solidFill>
                  <a:srgbClr val="7030A0"/>
                </a:solidFill>
                <a:effectLst/>
                <a:uLnTx/>
                <a:uFillTx/>
                <a:latin typeface="Arial" panose="020B0604020202020204"/>
                <a:ea typeface="Arial" panose="020B0604020202020204"/>
                <a:cs typeface="Arial" panose="020B0604020202020204"/>
                <a:sym typeface="Arial" panose="020B0604020202020204"/>
              </a:rPr>
              <a:t>MỨC ĐỘ TÌM KIẾM THÔNG TIN</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430" name="Google Shape;2430;p342"/>
          <p:cNvSpPr txBox="1"/>
          <p:nvPr/>
        </p:nvSpPr>
        <p:spPr>
          <a:xfrm>
            <a:off x="1773820" y="1919684"/>
            <a:ext cx="7772400" cy="1325564"/>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50000"/>
              </a:lnSpc>
              <a:spcBef>
                <a:spcPts val="0"/>
              </a:spcBef>
              <a:spcAft>
                <a:spcPts val="0"/>
              </a:spcAft>
              <a:buClr>
                <a:srgbClr val="4472C4"/>
              </a:buClr>
              <a:buSzPts val="2380"/>
              <a:buFont typeface="Noto Sans Symbols"/>
              <a:buNone/>
              <a:tabLst/>
              <a:defRPr/>
            </a:pPr>
            <a:r>
              <a:rPr kumimoji="0" lang="en-US" sz="2800" b="1"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CĂN CỨ VÀO :</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517525" marR="0" lvl="0" indent="-517525" algn="l" defTabSz="914400" rtl="0" eaLnBrk="1" fontAlgn="auto" latinLnBrk="0" hangingPunct="1">
              <a:lnSpc>
                <a:spcPct val="150000"/>
              </a:lnSpc>
              <a:spcBef>
                <a:spcPts val="575"/>
              </a:spcBef>
              <a:spcAft>
                <a:spcPts val="0"/>
              </a:spcAft>
              <a:buClr>
                <a:srgbClr val="002060"/>
              </a:buClr>
              <a:buSzPts val="2520"/>
              <a:buFont typeface="Arial" panose="020B0604020202020204"/>
              <a:buChar char="•"/>
              <a:tabLst/>
              <a:defRPr/>
            </a:pPr>
            <a:r>
              <a:rPr kumimoji="0" lang="en-US" sz="28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Tình huống mua hàng</a:t>
            </a:r>
            <a:endParaRPr kumimoji="0" sz="28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endParaRPr>
          </a:p>
          <a:p>
            <a:pPr marL="517525" marR="0" lvl="0" indent="-517525" algn="l" defTabSz="914400" rtl="0" eaLnBrk="1" fontAlgn="auto" latinLnBrk="0" hangingPunct="1">
              <a:lnSpc>
                <a:spcPct val="150000"/>
              </a:lnSpc>
              <a:spcBef>
                <a:spcPts val="575"/>
              </a:spcBef>
              <a:spcAft>
                <a:spcPts val="0"/>
              </a:spcAft>
              <a:buClr>
                <a:srgbClr val="002060"/>
              </a:buClr>
              <a:buSzPts val="2520"/>
              <a:buFont typeface="Arial" panose="020B0604020202020204"/>
              <a:buChar char="•"/>
              <a:tabLst/>
              <a:defRPr/>
            </a:pPr>
            <a:r>
              <a:rPr kumimoji="0" lang="en-US" sz="28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Đặc tính của sản phẩm </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517525" marR="0" lvl="0" indent="-517525" algn="l" defTabSz="914400" rtl="0" eaLnBrk="1" fontAlgn="auto" latinLnBrk="0" hangingPunct="1">
              <a:lnSpc>
                <a:spcPct val="150000"/>
              </a:lnSpc>
              <a:spcBef>
                <a:spcPts val="575"/>
              </a:spcBef>
              <a:spcAft>
                <a:spcPts val="0"/>
              </a:spcAft>
              <a:buClr>
                <a:srgbClr val="002060"/>
              </a:buClr>
              <a:buSzPts val="2520"/>
              <a:buFont typeface="Arial" panose="020B0604020202020204"/>
              <a:buChar char="•"/>
              <a:tabLst/>
              <a:defRPr/>
            </a:pPr>
            <a:r>
              <a:rPr kumimoji="0" lang="en-US" sz="28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Đặc tính của người mua</a:t>
            </a:r>
            <a:endParaRPr kumimoji="0" sz="28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endParaRPr>
          </a:p>
          <a:p>
            <a:pPr marL="517525" marR="0" lvl="0" indent="-517525" algn="l" defTabSz="914400" rtl="0" eaLnBrk="1" fontAlgn="auto" latinLnBrk="0" hangingPunct="1">
              <a:lnSpc>
                <a:spcPct val="150000"/>
              </a:lnSpc>
              <a:spcBef>
                <a:spcPts val="575"/>
              </a:spcBef>
              <a:spcAft>
                <a:spcPts val="0"/>
              </a:spcAft>
              <a:buClr>
                <a:srgbClr val="002060"/>
              </a:buClr>
              <a:buSzPts val="2520"/>
              <a:buFont typeface="Arial" panose="020B0604020202020204"/>
              <a:buChar char="•"/>
              <a:tabLst/>
              <a:defRPr/>
            </a:pPr>
            <a:r>
              <a:rPr kumimoji="0" lang="en-US" sz="28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Thời gian</a:t>
            </a:r>
            <a:endParaRPr kumimoji="0" sz="2800" b="0"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endParaRPr>
          </a:p>
        </p:txBody>
      </p:sp>
      <p:sp>
        <p:nvSpPr>
          <p:cNvPr id="2431" name="Google Shape;2431;p342"/>
          <p:cNvSpPr txBox="1"/>
          <p:nvPr/>
        </p:nvSpPr>
        <p:spPr>
          <a:xfrm>
            <a:off x="228600" y="259952"/>
            <a:ext cx="7772400" cy="978695"/>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002060"/>
              </a:buClr>
              <a:buSzPts val="3200"/>
              <a:buFont typeface="Arial" panose="020B0604020202020204"/>
              <a:buNone/>
              <a:tabLst/>
              <a:defRPr/>
            </a:pPr>
            <a:r>
              <a:rPr kumimoji="0" lang="en-US" sz="3200" b="1" i="0" u="none" strike="noStrike" kern="0" cap="none" spc="0" normalizeH="0" baseline="0" noProof="0">
                <a:ln>
                  <a:noFill/>
                </a:ln>
                <a:solidFill>
                  <a:srgbClr val="002060"/>
                </a:solidFill>
                <a:effectLst/>
                <a:uLnTx/>
                <a:uFillTx/>
                <a:latin typeface="Arial" panose="020B0604020202020204"/>
                <a:cs typeface="Arial" panose="020B0604020202020204"/>
                <a:sym typeface="Arial" panose="020B0604020202020204"/>
              </a:rPr>
              <a:t>5</a:t>
            </a:r>
            <a:r>
              <a:rPr kumimoji="0" lang="en-US" sz="3200" b="1"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.3.2 Tìm kiếm thông tin</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Shape 2435"/>
        <p:cNvGrpSpPr/>
        <p:nvPr/>
      </p:nvGrpSpPr>
      <p:grpSpPr>
        <a:xfrm>
          <a:off x="0" y="0"/>
          <a:ext cx="0" cy="0"/>
          <a:chOff x="0" y="0"/>
          <a:chExt cx="0" cy="0"/>
        </a:xfrm>
      </p:grpSpPr>
      <p:sp>
        <p:nvSpPr>
          <p:cNvPr id="2436" name="Google Shape;2436;p343"/>
          <p:cNvSpPr txBox="1"/>
          <p:nvPr/>
        </p:nvSpPr>
        <p:spPr>
          <a:xfrm>
            <a:off x="2123162" y="1296252"/>
            <a:ext cx="7742359" cy="1186988"/>
          </a:xfrm>
          <a:prstGeom prst="rect">
            <a:avLst/>
          </a:prstGeom>
          <a:noFill/>
          <a:ln>
            <a:noFill/>
          </a:ln>
        </p:spPr>
        <p:txBody>
          <a:bodyPr spcFirstLastPara="1" wrap="square" lIns="91425" tIns="45700" rIns="91425" bIns="45700" anchor="ctr" anchorCtr="0">
            <a:normAutofit/>
          </a:bodyPr>
          <a:lstStyle/>
          <a:p>
            <a:pPr marL="0" marR="0" lvl="0" indent="0" algn="ctr" defTabSz="914400" rtl="0" eaLnBrk="1" fontAlgn="auto" latinLnBrk="0" hangingPunct="1">
              <a:lnSpc>
                <a:spcPct val="90000"/>
              </a:lnSpc>
              <a:spcBef>
                <a:spcPts val="0"/>
              </a:spcBef>
              <a:spcAft>
                <a:spcPts val="0"/>
              </a:spcAft>
              <a:buClr>
                <a:srgbClr val="FF0000"/>
              </a:buClr>
              <a:buSzPts val="2400"/>
              <a:buFont typeface="Arial" panose="020B0604020202020204"/>
              <a:buNone/>
              <a:tabLst/>
              <a:defRPr/>
            </a:pPr>
            <a:r>
              <a:rPr kumimoji="0" lang="en-US" sz="2400" b="1" i="0" u="none" strike="noStrike" kern="0" cap="none" spc="0" normalizeH="0" baseline="0" noProof="0">
                <a:ln>
                  <a:noFill/>
                </a:ln>
                <a:solidFill>
                  <a:srgbClr val="FF0000"/>
                </a:solidFill>
                <a:effectLst/>
                <a:uLnTx/>
                <a:uFillTx/>
                <a:latin typeface="Arial" panose="020B0604020202020204"/>
                <a:ea typeface="Arial" panose="020B0604020202020204"/>
                <a:cs typeface="Arial" panose="020B0604020202020204"/>
                <a:sym typeface="Arial" panose="020B0604020202020204"/>
              </a:rPr>
              <a:t>HƯỚNG TÌM KIẾM THÔNG TIN</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437" name="Google Shape;2437;p343"/>
          <p:cNvSpPr txBox="1"/>
          <p:nvPr/>
        </p:nvSpPr>
        <p:spPr>
          <a:xfrm>
            <a:off x="174172" y="141623"/>
            <a:ext cx="7772400" cy="978695"/>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002060"/>
              </a:buClr>
              <a:buSzPts val="3200"/>
              <a:buFont typeface="Arial" panose="020B0604020202020204"/>
              <a:buNone/>
              <a:tabLst/>
              <a:defRPr/>
            </a:pPr>
            <a:r>
              <a:rPr kumimoji="0" lang="en-US" sz="3200" b="1" i="0" u="none" strike="noStrike" kern="0" cap="none" spc="0" normalizeH="0" baseline="0" noProof="0">
                <a:ln>
                  <a:noFill/>
                </a:ln>
                <a:solidFill>
                  <a:srgbClr val="002060"/>
                </a:solidFill>
                <a:effectLst/>
                <a:uLnTx/>
                <a:uFillTx/>
                <a:latin typeface="Arial" panose="020B0604020202020204"/>
                <a:cs typeface="Arial" panose="020B0604020202020204"/>
                <a:sym typeface="Arial" panose="020B0604020202020204"/>
              </a:rPr>
              <a:t>5</a:t>
            </a:r>
            <a:r>
              <a:rPr kumimoji="0" lang="en-US" sz="3200" b="1"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.3.2 Tìm kiếm thông tin</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nvGrpSpPr>
          <p:cNvPr id="2438" name="Google Shape;2438;p343"/>
          <p:cNvGrpSpPr/>
          <p:nvPr/>
        </p:nvGrpSpPr>
        <p:grpSpPr>
          <a:xfrm>
            <a:off x="736151" y="2949084"/>
            <a:ext cx="10141530" cy="1873244"/>
            <a:chOff x="39465" y="814350"/>
            <a:chExt cx="10141530" cy="3641224"/>
          </a:xfrm>
        </p:grpSpPr>
        <p:sp>
          <p:nvSpPr>
            <p:cNvPr id="2439" name="Google Shape;2439;p343"/>
            <p:cNvSpPr/>
            <p:nvPr/>
          </p:nvSpPr>
          <p:spPr>
            <a:xfrm rot="-5400000">
              <a:off x="-1375836" y="2400494"/>
              <a:ext cx="3319039" cy="333533"/>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20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440" name="Google Shape;2440;p343"/>
            <p:cNvSpPr txBox="1"/>
            <p:nvPr/>
          </p:nvSpPr>
          <p:spPr>
            <a:xfrm rot="-5400000">
              <a:off x="-1375836" y="2400494"/>
              <a:ext cx="3319039" cy="333533"/>
            </a:xfrm>
            <a:prstGeom prst="rect">
              <a:avLst/>
            </a:prstGeom>
            <a:noFill/>
            <a:ln>
              <a:noFill/>
            </a:ln>
          </p:spPr>
          <p:txBody>
            <a:bodyPr spcFirstLastPara="1" wrap="square" lIns="0" tIns="0" rIns="294150" bIns="0" anchor="t" anchorCtr="0">
              <a:noAutofit/>
            </a:bodyPr>
            <a:lstStyle/>
            <a:p>
              <a:pPr marL="0" marR="0" lvl="0" indent="0" algn="r" defTabSz="914400" rtl="0" eaLnBrk="1" fontAlgn="auto" latinLnBrk="0" hangingPunct="1">
                <a:lnSpc>
                  <a:spcPct val="90000"/>
                </a:lnSpc>
                <a:spcBef>
                  <a:spcPts val="0"/>
                </a:spcBef>
                <a:spcAft>
                  <a:spcPts val="0"/>
                </a:spcAft>
                <a:buClr>
                  <a:srgbClr val="000000"/>
                </a:buClr>
                <a:buSzPts val="2500"/>
                <a:buFont typeface="Arial" panose="020B0604020202020204"/>
                <a:buNone/>
                <a:tabLst/>
                <a:defRPr/>
              </a:pPr>
              <a:endParaRPr kumimoji="0"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441" name="Google Shape;2441;p343"/>
            <p:cNvSpPr/>
            <p:nvPr/>
          </p:nvSpPr>
          <p:spPr>
            <a:xfrm>
              <a:off x="39465" y="936139"/>
              <a:ext cx="2002058" cy="3319039"/>
            </a:xfrm>
            <a:prstGeom prst="rect">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20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442" name="Google Shape;2442;p343"/>
            <p:cNvSpPr txBox="1"/>
            <p:nvPr/>
          </p:nvSpPr>
          <p:spPr>
            <a:xfrm>
              <a:off x="39465" y="936139"/>
              <a:ext cx="2002058" cy="1793227"/>
            </a:xfrm>
            <a:prstGeom prst="rect">
              <a:avLst/>
            </a:prstGeom>
            <a:noFill/>
            <a:ln>
              <a:noFill/>
            </a:ln>
          </p:spPr>
          <p:txBody>
            <a:bodyPr spcFirstLastPara="1" wrap="square" lIns="106675" tIns="294150" rIns="106675" bIns="106675" anchor="t" anchorCtr="0">
              <a:noAutofit/>
            </a:bodyPr>
            <a:lstStyle/>
            <a:p>
              <a:pPr marL="0" marR="0" lvl="1" indent="0" algn="ctr" defTabSz="914400" rtl="0" eaLnBrk="1" fontAlgn="auto" latinLnBrk="0" hangingPunct="1">
                <a:lnSpc>
                  <a:spcPct val="150000"/>
                </a:lnSpc>
                <a:spcBef>
                  <a:spcPts val="225"/>
                </a:spcBef>
                <a:spcAft>
                  <a:spcPts val="0"/>
                </a:spcAft>
                <a:buClr>
                  <a:srgbClr val="1F3864"/>
                </a:buClr>
                <a:buSzPts val="2000"/>
                <a:buFont typeface="Arial" panose="020B0604020202020204"/>
                <a:buNone/>
                <a:tabLst/>
                <a:defRPr/>
              </a:pPr>
              <a:r>
                <a:rPr kumimoji="0" lang="en-US" sz="2000" b="1" i="1" u="none" strike="noStrike" kern="0" cap="none" spc="0" normalizeH="0" baseline="0" noProof="0">
                  <a:ln>
                    <a:noFill/>
                  </a:ln>
                  <a:solidFill>
                    <a:srgbClr val="1F3864"/>
                  </a:solidFill>
                  <a:effectLst/>
                  <a:uLnTx/>
                  <a:uFillTx/>
                  <a:latin typeface="+mj-lt"/>
                  <a:ea typeface="Times New Roman" panose="02020603050405020304"/>
                  <a:cs typeface="Times New Roman" panose="02020603050405020304"/>
                  <a:sym typeface="Times New Roman" panose="02020603050405020304"/>
                </a:rPr>
                <a:t>NHÃN HIỆU</a:t>
              </a:r>
              <a:endParaRPr kumimoji="0" sz="2000" b="1" i="0" u="none" strike="noStrike" kern="0" cap="none" spc="0" normalizeH="0" baseline="0" noProof="0">
                <a:ln>
                  <a:noFill/>
                </a:ln>
                <a:solidFill>
                  <a:srgbClr val="000000"/>
                </a:solidFill>
                <a:effectLst/>
                <a:uLnTx/>
                <a:uFillTx/>
                <a:latin typeface="+mj-lt"/>
                <a:cs typeface="Arial" panose="020B0604020202020204"/>
                <a:sym typeface="Arial" panose="020B0604020202020204"/>
              </a:endParaRPr>
            </a:p>
            <a:p>
              <a:pPr marL="114300" marR="0" lvl="1" indent="0" algn="l" defTabSz="914400" rtl="0" eaLnBrk="1" fontAlgn="auto" latinLnBrk="0" hangingPunct="1">
                <a:lnSpc>
                  <a:spcPct val="150000"/>
                </a:lnSpc>
                <a:spcBef>
                  <a:spcPts val="0"/>
                </a:spcBef>
                <a:spcAft>
                  <a:spcPts val="0"/>
                </a:spcAft>
                <a:buClr>
                  <a:srgbClr val="000000"/>
                </a:buClr>
                <a:buSzPts val="1500"/>
                <a:buFont typeface="Arial" panose="020B0604020202020204"/>
                <a:buNone/>
                <a:tabLst/>
                <a:defRPr/>
              </a:pPr>
              <a:endParaRPr kumimoji="0" sz="2000" b="1" i="1"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228600" marR="0" lvl="1" indent="0" algn="l" defTabSz="914400" rtl="0" eaLnBrk="1" fontAlgn="auto" latinLnBrk="0" hangingPunct="1">
                <a:lnSpc>
                  <a:spcPct val="90000"/>
                </a:lnSpc>
                <a:spcBef>
                  <a:spcPts val="225"/>
                </a:spcBef>
                <a:spcAft>
                  <a:spcPts val="0"/>
                </a:spcAft>
                <a:buClr>
                  <a:srgbClr val="000000"/>
                </a:buClr>
                <a:buSzPts val="2400"/>
                <a:buFont typeface="Arial" panose="020B0604020202020204"/>
                <a:buNone/>
                <a:tabLst/>
                <a:defRPr/>
              </a:pPr>
              <a:endParaRPr kumimoji="0" sz="2000" b="1" i="0" u="none" strike="noStrike" kern="0" cap="none" spc="0" normalizeH="0" baseline="0" noProof="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444" name="Google Shape;2444;p343"/>
            <p:cNvSpPr/>
            <p:nvPr/>
          </p:nvSpPr>
          <p:spPr>
            <a:xfrm rot="-5400000">
              <a:off x="1596223" y="2629288"/>
              <a:ext cx="3319039" cy="333533"/>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20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445" name="Google Shape;2445;p343"/>
            <p:cNvSpPr txBox="1"/>
            <p:nvPr/>
          </p:nvSpPr>
          <p:spPr>
            <a:xfrm rot="-5400000">
              <a:off x="1596223" y="2629288"/>
              <a:ext cx="3319039" cy="333533"/>
            </a:xfrm>
            <a:prstGeom prst="rect">
              <a:avLst/>
            </a:prstGeom>
            <a:noFill/>
            <a:ln>
              <a:noFill/>
            </a:ln>
          </p:spPr>
          <p:txBody>
            <a:bodyPr spcFirstLastPara="1" wrap="square" lIns="0" tIns="0" rIns="294150" bIns="0" anchor="t" anchorCtr="0">
              <a:noAutofit/>
            </a:bodyPr>
            <a:lstStyle/>
            <a:p>
              <a:pPr marL="0" marR="0" lvl="0" indent="0" algn="r" defTabSz="914400" rtl="0" eaLnBrk="1" fontAlgn="auto" latinLnBrk="0" hangingPunct="1">
                <a:lnSpc>
                  <a:spcPct val="90000"/>
                </a:lnSpc>
                <a:spcBef>
                  <a:spcPts val="0"/>
                </a:spcBef>
                <a:spcAft>
                  <a:spcPts val="0"/>
                </a:spcAft>
                <a:buClr>
                  <a:srgbClr val="000000"/>
                </a:buClr>
                <a:buSzPts val="2500"/>
                <a:buFont typeface="Arial" panose="020B0604020202020204"/>
                <a:buNone/>
                <a:tabLst/>
                <a:defRPr/>
              </a:pPr>
              <a:endParaRPr kumimoji="0"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446" name="Google Shape;2446;p343"/>
            <p:cNvSpPr/>
            <p:nvPr/>
          </p:nvSpPr>
          <p:spPr>
            <a:xfrm>
              <a:off x="3077165" y="963732"/>
              <a:ext cx="1921848" cy="3319038"/>
            </a:xfrm>
            <a:prstGeom prst="rect">
              <a:avLst/>
            </a:prstGeom>
            <a:gradFill>
              <a:gsLst>
                <a:gs pos="0">
                  <a:srgbClr val="D8D8D8"/>
                </a:gs>
                <a:gs pos="35000">
                  <a:srgbClr val="E3E3E3"/>
                </a:gs>
                <a:gs pos="100000">
                  <a:srgbClr val="F4F4F4"/>
                </a:gs>
              </a:gsLst>
              <a:lin ang="16200000" scaled="0"/>
            </a:gradFill>
            <a:ln w="9525" cap="flat" cmpd="sng">
              <a:solidFill>
                <a:srgbClr val="A1A1A1"/>
              </a:solidFill>
              <a:prstDash val="solid"/>
              <a:round/>
              <a:headEnd type="none" w="sm" len="sm"/>
              <a:tailEnd type="none" w="sm" len="sm"/>
            </a:ln>
            <a:effectLst>
              <a:outerShdw blurRad="40000" dist="20000" dir="5400000" rotWithShape="0">
                <a:srgbClr val="000000">
                  <a:alpha val="38039"/>
                </a:srgbClr>
              </a:outerShdw>
            </a:effectLst>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20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447" name="Google Shape;2447;p343"/>
            <p:cNvSpPr txBox="1"/>
            <p:nvPr/>
          </p:nvSpPr>
          <p:spPr>
            <a:xfrm>
              <a:off x="3077165" y="988418"/>
              <a:ext cx="1921848" cy="2634231"/>
            </a:xfrm>
            <a:prstGeom prst="rect">
              <a:avLst/>
            </a:prstGeom>
            <a:noFill/>
            <a:ln>
              <a:noFill/>
            </a:ln>
          </p:spPr>
          <p:txBody>
            <a:bodyPr spcFirstLastPara="1" wrap="square" lIns="128000" tIns="294150" rIns="128000" bIns="128000" anchor="t" anchorCtr="0">
              <a:noAutofit/>
            </a:bodyPr>
            <a:lstStyle/>
            <a:p>
              <a:pPr marL="0" marR="0" lvl="1" indent="0" algn="ctr" defTabSz="914400" rtl="0" eaLnBrk="1" fontAlgn="auto" latinLnBrk="0" hangingPunct="1">
                <a:lnSpc>
                  <a:spcPct val="150000"/>
                </a:lnSpc>
                <a:spcBef>
                  <a:spcPts val="270"/>
                </a:spcBef>
                <a:spcAft>
                  <a:spcPts val="0"/>
                </a:spcAft>
                <a:buClr>
                  <a:srgbClr val="000000"/>
                </a:buClr>
                <a:buSzPts val="1800"/>
                <a:buFont typeface="Arial" panose="020B0604020202020204"/>
                <a:buNone/>
                <a:tabLst/>
                <a:defRPr/>
              </a:pPr>
              <a:r>
                <a:rPr kumimoji="0" lang="en-US" sz="2000" b="1" i="1" u="none" strike="noStrike" kern="0" cap="none" spc="0" normalizeH="0" baseline="0" noProof="0">
                  <a:ln>
                    <a:noFill/>
                  </a:ln>
                  <a:solidFill>
                    <a:srgbClr val="C55A11"/>
                  </a:solidFill>
                  <a:effectLst/>
                  <a:uLnTx/>
                  <a:uFillTx/>
                  <a:latin typeface="+mj-lt"/>
                  <a:ea typeface="Times New Roman" panose="02020603050405020304"/>
                  <a:cs typeface="Times New Roman" panose="02020603050405020304"/>
                  <a:sym typeface="Times New Roman" panose="02020603050405020304"/>
                </a:rPr>
                <a:t>CÁC CỬA HÀNG</a:t>
              </a:r>
              <a:endParaRPr kumimoji="0" sz="2000" b="1" i="1" u="none" strike="noStrike" kern="0" cap="none" spc="0" normalizeH="0" baseline="0" noProof="0">
                <a:ln>
                  <a:noFill/>
                </a:ln>
                <a:solidFill>
                  <a:srgbClr val="C55A11"/>
                </a:solidFill>
                <a:effectLst/>
                <a:uLnTx/>
                <a:uFillTx/>
                <a:latin typeface="+mj-lt"/>
                <a:ea typeface="Arial" panose="020B0604020202020204"/>
                <a:cs typeface="Arial" panose="020B0604020202020204"/>
                <a:sym typeface="Arial" panose="020B0604020202020204"/>
              </a:endParaRPr>
            </a:p>
            <a:p>
              <a:pPr marL="114300" marR="0" lvl="1" indent="-19050" algn="l" defTabSz="914400" rtl="0" eaLnBrk="1" fontAlgn="auto" latinLnBrk="0" hangingPunct="1">
                <a:lnSpc>
                  <a:spcPct val="90000"/>
                </a:lnSpc>
                <a:spcBef>
                  <a:spcPts val="270"/>
                </a:spcBef>
                <a:spcAft>
                  <a:spcPts val="0"/>
                </a:spcAft>
                <a:buClr>
                  <a:srgbClr val="000000"/>
                </a:buClr>
                <a:buSzPts val="1500"/>
                <a:buFont typeface="Arial" panose="020B0604020202020204"/>
                <a:buNone/>
                <a:tabLst/>
                <a:defRPr/>
              </a:pPr>
              <a:endParaRPr kumimoji="0"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14300" marR="0" lvl="1" indent="-19050" algn="l" defTabSz="914400" rtl="0" eaLnBrk="1" fontAlgn="auto" latinLnBrk="0" hangingPunct="1">
                <a:lnSpc>
                  <a:spcPct val="90000"/>
                </a:lnSpc>
                <a:spcBef>
                  <a:spcPts val="225"/>
                </a:spcBef>
                <a:spcAft>
                  <a:spcPts val="0"/>
                </a:spcAft>
                <a:buClr>
                  <a:srgbClr val="000000"/>
                </a:buClr>
                <a:buSzPts val="1500"/>
                <a:buFont typeface="Arial" panose="020B0604020202020204"/>
                <a:buNone/>
                <a:tabLst/>
                <a:defRPr/>
              </a:pPr>
              <a:endParaRPr kumimoji="0"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449" name="Google Shape;2449;p343"/>
            <p:cNvSpPr/>
            <p:nvPr/>
          </p:nvSpPr>
          <p:spPr>
            <a:xfrm rot="-5400000">
              <a:off x="4515153" y="2460277"/>
              <a:ext cx="3319039" cy="333533"/>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20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450" name="Google Shape;2450;p343"/>
            <p:cNvSpPr txBox="1"/>
            <p:nvPr/>
          </p:nvSpPr>
          <p:spPr>
            <a:xfrm rot="-5400000">
              <a:off x="4515153" y="2460277"/>
              <a:ext cx="3319039" cy="333533"/>
            </a:xfrm>
            <a:prstGeom prst="rect">
              <a:avLst/>
            </a:prstGeom>
            <a:noFill/>
            <a:ln>
              <a:noFill/>
            </a:ln>
          </p:spPr>
          <p:txBody>
            <a:bodyPr spcFirstLastPara="1" wrap="square" lIns="0" tIns="0" rIns="294150" bIns="0" anchor="t" anchorCtr="0">
              <a:noAutofit/>
            </a:bodyPr>
            <a:lstStyle/>
            <a:p>
              <a:pPr marL="0" marR="0" lvl="0" indent="0" algn="r" defTabSz="914400" rtl="0" eaLnBrk="1" fontAlgn="auto" latinLnBrk="0" hangingPunct="1">
                <a:lnSpc>
                  <a:spcPct val="90000"/>
                </a:lnSpc>
                <a:spcBef>
                  <a:spcPts val="0"/>
                </a:spcBef>
                <a:spcAft>
                  <a:spcPts val="0"/>
                </a:spcAft>
                <a:buClr>
                  <a:srgbClr val="000000"/>
                </a:buClr>
                <a:buSzPts val="2500"/>
                <a:buFont typeface="Arial" panose="020B0604020202020204"/>
                <a:buNone/>
                <a:tabLst/>
                <a:defRPr/>
              </a:pPr>
              <a:endParaRPr kumimoji="0"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451" name="Google Shape;2451;p343"/>
            <p:cNvSpPr/>
            <p:nvPr/>
          </p:nvSpPr>
          <p:spPr>
            <a:xfrm>
              <a:off x="6039422" y="814350"/>
              <a:ext cx="1661348" cy="3319039"/>
            </a:xfrm>
            <a:prstGeom prst="rect">
              <a:avLst/>
            </a:prstGeom>
            <a:gradFill>
              <a:gsLst>
                <a:gs pos="0">
                  <a:srgbClr val="9BCDFF"/>
                </a:gs>
                <a:gs pos="35000">
                  <a:srgbClr val="B8DCFF"/>
                </a:gs>
                <a:gs pos="100000">
                  <a:srgbClr val="E2F0FF"/>
                </a:gs>
              </a:gsLst>
              <a:lin ang="16200000" scaled="0"/>
            </a:gradFill>
            <a:ln w="9525" cap="flat" cmpd="sng">
              <a:solidFill>
                <a:srgbClr val="5597D3"/>
              </a:solidFill>
              <a:prstDash val="solid"/>
              <a:round/>
              <a:headEnd type="none" w="sm" len="sm"/>
              <a:tailEnd type="none" w="sm" len="sm"/>
            </a:ln>
            <a:effectLst>
              <a:outerShdw blurRad="40000" dist="20000" dir="5400000" rotWithShape="0">
                <a:srgbClr val="000000">
                  <a:alpha val="38039"/>
                </a:srgbClr>
              </a:outerShdw>
            </a:effectLst>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20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452" name="Google Shape;2452;p343"/>
            <p:cNvSpPr txBox="1"/>
            <p:nvPr/>
          </p:nvSpPr>
          <p:spPr>
            <a:xfrm>
              <a:off x="6039422" y="814350"/>
              <a:ext cx="1661348" cy="3319038"/>
            </a:xfrm>
            <a:prstGeom prst="rect">
              <a:avLst/>
            </a:prstGeom>
            <a:noFill/>
            <a:ln>
              <a:noFill/>
            </a:ln>
          </p:spPr>
          <p:txBody>
            <a:bodyPr spcFirstLastPara="1" wrap="square" lIns="113775" tIns="294150" rIns="113775" bIns="113775" anchor="t" anchorCtr="0">
              <a:noAutofit/>
            </a:bodyPr>
            <a:lstStyle/>
            <a:p>
              <a:pPr marL="0" marR="0" lvl="1" indent="0" algn="ctr" defTabSz="914400" rtl="0" eaLnBrk="1" fontAlgn="auto" latinLnBrk="0" hangingPunct="1">
                <a:lnSpc>
                  <a:spcPct val="150000"/>
                </a:lnSpc>
                <a:spcBef>
                  <a:spcPts val="240"/>
                </a:spcBef>
                <a:spcAft>
                  <a:spcPts val="0"/>
                </a:spcAft>
                <a:buClr>
                  <a:srgbClr val="000000"/>
                </a:buClr>
                <a:buSzPts val="1600"/>
                <a:buFont typeface="Arial" panose="020B0604020202020204"/>
                <a:buNone/>
                <a:tabLst/>
                <a:defRPr/>
              </a:pPr>
              <a:r>
                <a:rPr kumimoji="0" lang="en-US" sz="2000" b="1" i="1" u="none" strike="noStrike" kern="0" cap="none" spc="0" normalizeH="0" baseline="0" noProof="0">
                  <a:ln>
                    <a:noFill/>
                  </a:ln>
                  <a:solidFill>
                    <a:srgbClr val="000000"/>
                  </a:solidFill>
                  <a:effectLst/>
                  <a:uLnTx/>
                  <a:uFillTx/>
                  <a:latin typeface="+mj-lt"/>
                  <a:ea typeface="Times New Roman" panose="02020603050405020304"/>
                  <a:cs typeface="Times New Roman" panose="02020603050405020304"/>
                  <a:sym typeface="Times New Roman" panose="02020603050405020304"/>
                </a:rPr>
                <a:t>ĐẶC TÍNH CỦA SẢN PHẨM</a:t>
              </a:r>
              <a:endParaRPr kumimoji="0" sz="2000" b="1" i="0" u="none" strike="noStrike" kern="0" cap="none" spc="0" normalizeH="0" baseline="0" noProof="0">
                <a:ln>
                  <a:noFill/>
                </a:ln>
                <a:solidFill>
                  <a:srgbClr val="000000"/>
                </a:solidFill>
                <a:effectLst/>
                <a:uLnTx/>
                <a:uFillTx/>
                <a:latin typeface="+mj-lt"/>
                <a:cs typeface="Arial" panose="020B0604020202020204"/>
                <a:sym typeface="Arial" panose="020B0604020202020204"/>
              </a:endParaRPr>
            </a:p>
          </p:txBody>
        </p:sp>
        <p:sp>
          <p:nvSpPr>
            <p:cNvPr id="2454" name="Google Shape;2454;p343"/>
            <p:cNvSpPr/>
            <p:nvPr/>
          </p:nvSpPr>
          <p:spPr>
            <a:xfrm rot="-5400000">
              <a:off x="7342549" y="2316010"/>
              <a:ext cx="3319039" cy="333533"/>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20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455" name="Google Shape;2455;p343"/>
            <p:cNvSpPr txBox="1"/>
            <p:nvPr/>
          </p:nvSpPr>
          <p:spPr>
            <a:xfrm rot="-5400000">
              <a:off x="7342549" y="2316010"/>
              <a:ext cx="3319039" cy="333533"/>
            </a:xfrm>
            <a:prstGeom prst="rect">
              <a:avLst/>
            </a:prstGeom>
            <a:noFill/>
            <a:ln>
              <a:noFill/>
            </a:ln>
          </p:spPr>
          <p:txBody>
            <a:bodyPr spcFirstLastPara="1" wrap="square" lIns="0" tIns="0" rIns="294150" bIns="0" anchor="t" anchorCtr="0">
              <a:noAutofit/>
            </a:bodyPr>
            <a:lstStyle/>
            <a:p>
              <a:pPr marL="0" marR="0" lvl="0" indent="0" algn="r" defTabSz="914400" rtl="0" eaLnBrk="1" fontAlgn="auto" latinLnBrk="0" hangingPunct="1">
                <a:lnSpc>
                  <a:spcPct val="90000"/>
                </a:lnSpc>
                <a:spcBef>
                  <a:spcPts val="0"/>
                </a:spcBef>
                <a:spcAft>
                  <a:spcPts val="0"/>
                </a:spcAft>
                <a:buClr>
                  <a:srgbClr val="000000"/>
                </a:buClr>
                <a:buSzPts val="2500"/>
                <a:buFont typeface="Arial" panose="020B0604020202020204"/>
                <a:buNone/>
                <a:tabLst/>
                <a:defRPr/>
              </a:pPr>
              <a:endParaRPr kumimoji="0"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456" name="Google Shape;2456;p343"/>
            <p:cNvSpPr/>
            <p:nvPr/>
          </p:nvSpPr>
          <p:spPr>
            <a:xfrm>
              <a:off x="8519647" y="923061"/>
              <a:ext cx="1661348" cy="3319039"/>
            </a:xfrm>
            <a:prstGeom prst="rect">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2000" b="1"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457" name="Google Shape;2457;p343"/>
            <p:cNvSpPr txBox="1"/>
            <p:nvPr/>
          </p:nvSpPr>
          <p:spPr>
            <a:xfrm>
              <a:off x="8519647" y="923061"/>
              <a:ext cx="1661348" cy="3319038"/>
            </a:xfrm>
            <a:prstGeom prst="rect">
              <a:avLst/>
            </a:prstGeom>
            <a:noFill/>
            <a:ln>
              <a:noFill/>
            </a:ln>
          </p:spPr>
          <p:txBody>
            <a:bodyPr spcFirstLastPara="1" wrap="square" lIns="99550" tIns="294150" rIns="99550" bIns="99550" anchor="t" anchorCtr="0">
              <a:noAutofit/>
            </a:bodyPr>
            <a:lstStyle/>
            <a:p>
              <a:pPr marL="0" marR="0" lvl="1" indent="0" algn="ctr" defTabSz="914400" rtl="0" eaLnBrk="1" fontAlgn="auto" latinLnBrk="0" hangingPunct="1">
                <a:lnSpc>
                  <a:spcPct val="100000"/>
                </a:lnSpc>
                <a:spcBef>
                  <a:spcPts val="210"/>
                </a:spcBef>
                <a:spcAft>
                  <a:spcPts val="0"/>
                </a:spcAft>
                <a:buClr>
                  <a:srgbClr val="000000"/>
                </a:buClr>
                <a:buSzPts val="1600"/>
                <a:buFont typeface="Arial" panose="020B0604020202020204"/>
                <a:buNone/>
                <a:tabLst/>
                <a:defRPr/>
              </a:pPr>
              <a:r>
                <a:rPr kumimoji="0" lang="en-US" sz="2000" b="1" i="1" u="none" strike="noStrike" kern="0" cap="none" spc="0" normalizeH="0" baseline="0" noProof="0">
                  <a:ln>
                    <a:noFill/>
                  </a:ln>
                  <a:solidFill>
                    <a:srgbClr val="000000"/>
                  </a:solidFill>
                  <a:effectLst/>
                  <a:uLnTx/>
                  <a:uFillTx/>
                  <a:latin typeface="+mn-lt"/>
                  <a:ea typeface="Times New Roman" panose="02020603050405020304"/>
                  <a:cs typeface="Times New Roman" panose="02020603050405020304"/>
                  <a:sym typeface="Times New Roman" panose="02020603050405020304"/>
                </a:rPr>
                <a:t>NGUỒN THÔNG    TIN    TÌM KIẾM</a:t>
              </a:r>
              <a:endParaRPr kumimoji="0" sz="2000" b="1" i="0" u="none" strike="noStrike" kern="0" cap="none" spc="0" normalizeH="0" baseline="0" noProof="0">
                <a:ln>
                  <a:noFill/>
                </a:ln>
                <a:solidFill>
                  <a:srgbClr val="000000"/>
                </a:solidFill>
                <a:effectLst/>
                <a:uLnTx/>
                <a:uFillTx/>
                <a:latin typeface="+mn-lt"/>
                <a:cs typeface="Arial" panose="020B0604020202020204"/>
                <a:sym typeface="Arial" panose="020B0604020202020204"/>
              </a:endParaRPr>
            </a:p>
          </p:txBody>
        </p:sp>
      </p:gr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Shape 2462"/>
        <p:cNvGrpSpPr/>
        <p:nvPr/>
      </p:nvGrpSpPr>
      <p:grpSpPr>
        <a:xfrm>
          <a:off x="0" y="0"/>
          <a:ext cx="0" cy="0"/>
          <a:chOff x="0" y="0"/>
          <a:chExt cx="0" cy="0"/>
        </a:xfrm>
      </p:grpSpPr>
      <p:sp>
        <p:nvSpPr>
          <p:cNvPr id="2463" name="Google Shape;2463;p344"/>
          <p:cNvSpPr txBox="1"/>
          <p:nvPr/>
        </p:nvSpPr>
        <p:spPr>
          <a:xfrm>
            <a:off x="1034144" y="1169517"/>
            <a:ext cx="9089570" cy="540995"/>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ctr" defTabSz="914400" rtl="0" eaLnBrk="1" fontAlgn="auto" latinLnBrk="0" hangingPunct="1">
              <a:lnSpc>
                <a:spcPct val="90000"/>
              </a:lnSpc>
              <a:spcBef>
                <a:spcPts val="0"/>
              </a:spcBef>
              <a:spcAft>
                <a:spcPts val="0"/>
              </a:spcAft>
              <a:buClr>
                <a:srgbClr val="7030A0"/>
              </a:buClr>
              <a:buSzPct val="100000"/>
              <a:buFont typeface="Times New Roman" panose="02020603050405020304"/>
              <a:buNone/>
              <a:tabLst/>
              <a:defRPr/>
            </a:pPr>
            <a:r>
              <a:rPr kumimoji="0" lang="en-US" sz="4400" b="1" i="0" u="none" strike="noStrike" kern="0" cap="none" spc="0" normalizeH="0" baseline="0" noProof="0">
                <a:ln>
                  <a:noFill/>
                </a:ln>
                <a:solidFill>
                  <a:srgbClr val="7030A0"/>
                </a:solidFill>
                <a:effectLst/>
                <a:uLnTx/>
                <a:uFillTx/>
                <a:latin typeface="Times New Roman" panose="02020603050405020304"/>
                <a:ea typeface="Times New Roman" panose="02020603050405020304"/>
                <a:cs typeface="Times New Roman" panose="02020603050405020304"/>
                <a:sym typeface="Times New Roman" panose="02020603050405020304"/>
              </a:rPr>
              <a:t>CÁC NGUỒN THÔNG TIN THƯỜNG SỬ DỤNG</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nvGrpSpPr>
          <p:cNvPr id="2464" name="Google Shape;2464;p344"/>
          <p:cNvGrpSpPr/>
          <p:nvPr/>
        </p:nvGrpSpPr>
        <p:grpSpPr>
          <a:xfrm>
            <a:off x="1564114" y="1981201"/>
            <a:ext cx="8673048" cy="3970778"/>
            <a:chOff x="1557743" y="1156846"/>
            <a:chExt cx="6027611" cy="3389607"/>
          </a:xfrm>
        </p:grpSpPr>
        <p:sp>
          <p:nvSpPr>
            <p:cNvPr id="2473" name="Google Shape;2473;p344"/>
            <p:cNvSpPr/>
            <p:nvPr/>
          </p:nvSpPr>
          <p:spPr>
            <a:xfrm>
              <a:off x="1557743" y="1156846"/>
              <a:ext cx="1290719" cy="1290719"/>
            </a:xfrm>
            <a:prstGeom prst="ellipse">
              <a:avLst/>
            </a:prstGeom>
            <a:solidFill>
              <a:srgbClr val="93F31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474" name="Google Shape;2474;p344"/>
            <p:cNvSpPr txBox="1"/>
            <p:nvPr/>
          </p:nvSpPr>
          <p:spPr>
            <a:xfrm>
              <a:off x="1557743" y="1345866"/>
              <a:ext cx="1101698" cy="912677"/>
            </a:xfrm>
            <a:prstGeom prst="rect">
              <a:avLst/>
            </a:prstGeom>
            <a:noFill/>
            <a:ln>
              <a:noFill/>
            </a:ln>
          </p:spPr>
          <p:txBody>
            <a:bodyPr spcFirstLastPara="1" wrap="square" lIns="17775" tIns="17775" rIns="17775" bIns="1777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400"/>
                <a:buFont typeface="Times New Roman" panose="02020603050405020304"/>
                <a:buNone/>
                <a:tabLst/>
                <a:defRPr/>
              </a:pPr>
              <a:r>
                <a:rPr kumimoji="0" lang="en-US" sz="2400" b="1" i="0" u="none" strike="noStrike" kern="0" cap="none" spc="0" normalizeH="0" baseline="0" noProof="0">
                  <a:ln>
                    <a:noFill/>
                  </a:ln>
                  <a:solidFill>
                    <a:srgbClr val="000000"/>
                  </a:solidFill>
                  <a:effectLst/>
                  <a:uLnTx/>
                  <a:uFillTx/>
                  <a:latin typeface="+mj-lt"/>
                  <a:ea typeface="Times New Roman" panose="02020603050405020304"/>
                  <a:cs typeface="Times New Roman" panose="02020603050405020304"/>
                  <a:sym typeface="Times New Roman" panose="02020603050405020304"/>
                </a:rPr>
                <a:t>KINH NGHIỆM</a:t>
              </a:r>
              <a:endParaRPr kumimoji="0" sz="2400" b="1" i="0" u="none" strike="noStrike" kern="0" cap="none" spc="0" normalizeH="0" baseline="0" noProof="0">
                <a:ln>
                  <a:noFill/>
                </a:ln>
                <a:solidFill>
                  <a:srgbClr val="000000"/>
                </a:solidFill>
                <a:effectLst/>
                <a:uLnTx/>
                <a:uFillTx/>
                <a:latin typeface="+mj-lt"/>
                <a:ea typeface="Times New Roman" panose="02020603050405020304"/>
                <a:cs typeface="Times New Roman" panose="02020603050405020304"/>
                <a:sym typeface="Times New Roman" panose="02020603050405020304"/>
              </a:endParaRPr>
            </a:p>
          </p:txBody>
        </p:sp>
        <p:sp>
          <p:nvSpPr>
            <p:cNvPr id="2475" name="Google Shape;2475;p344"/>
            <p:cNvSpPr/>
            <p:nvPr/>
          </p:nvSpPr>
          <p:spPr>
            <a:xfrm>
              <a:off x="3256397" y="3030804"/>
              <a:ext cx="1290719" cy="1290719"/>
            </a:xfrm>
            <a:prstGeom prst="ellipse">
              <a:avLst/>
            </a:prstGeom>
            <a:solidFill>
              <a:srgbClr val="2EE84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476" name="Google Shape;2476;p344"/>
            <p:cNvSpPr txBox="1"/>
            <p:nvPr/>
          </p:nvSpPr>
          <p:spPr>
            <a:xfrm>
              <a:off x="3337822" y="3255734"/>
              <a:ext cx="1127867" cy="912677"/>
            </a:xfrm>
            <a:prstGeom prst="rect">
              <a:avLst/>
            </a:prstGeom>
            <a:noFill/>
            <a:ln>
              <a:noFill/>
            </a:ln>
          </p:spPr>
          <p:txBody>
            <a:bodyPr spcFirstLastPara="1" wrap="square" lIns="17775" tIns="17775" rIns="17775" bIns="1777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400"/>
                <a:buFont typeface="Times New Roman" panose="02020603050405020304"/>
                <a:buNone/>
                <a:tabLst/>
                <a:defRPr/>
              </a:pPr>
              <a:r>
                <a:rPr kumimoji="0" lang="en-US" sz="2400" b="1" i="0" u="none" strike="noStrike" kern="0" cap="none" spc="0" normalizeH="0" baseline="0" noProof="0">
                  <a:ln>
                    <a:noFill/>
                  </a:ln>
                  <a:solidFill>
                    <a:srgbClr val="000000"/>
                  </a:solidFill>
                  <a:effectLst/>
                  <a:uLnTx/>
                  <a:uFillTx/>
                  <a:latin typeface="+mj-lt"/>
                  <a:ea typeface="Times New Roman" panose="02020603050405020304"/>
                  <a:cs typeface="Times New Roman" panose="02020603050405020304"/>
                  <a:sym typeface="Times New Roman" panose="02020603050405020304"/>
                </a:rPr>
                <a:t>THƯƠNG MẠI</a:t>
              </a:r>
              <a:endParaRPr kumimoji="0" sz="2400" b="0" i="0" u="none" strike="noStrike" kern="0" cap="none" spc="0" normalizeH="0" baseline="0" noProof="0">
                <a:ln>
                  <a:noFill/>
                </a:ln>
                <a:solidFill>
                  <a:srgbClr val="000000"/>
                </a:solidFill>
                <a:effectLst/>
                <a:uLnTx/>
                <a:uFillTx/>
                <a:latin typeface="+mj-lt"/>
                <a:ea typeface="Arial" panose="020B0604020202020204"/>
                <a:cs typeface="Arial" panose="020B0604020202020204"/>
                <a:sym typeface="Arial" panose="020B0604020202020204"/>
              </a:endParaRPr>
            </a:p>
          </p:txBody>
        </p:sp>
        <p:sp>
          <p:nvSpPr>
            <p:cNvPr id="2477" name="Google Shape;2477;p344"/>
            <p:cNvSpPr/>
            <p:nvPr/>
          </p:nvSpPr>
          <p:spPr>
            <a:xfrm>
              <a:off x="6294635" y="3255734"/>
              <a:ext cx="1290719" cy="1290719"/>
            </a:xfrm>
            <a:prstGeom prst="ellipse">
              <a:avLst/>
            </a:prstGeom>
            <a:solidFill>
              <a:srgbClr val="44DEB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478" name="Google Shape;2478;p344"/>
            <p:cNvSpPr txBox="1"/>
            <p:nvPr/>
          </p:nvSpPr>
          <p:spPr>
            <a:xfrm>
              <a:off x="6483656" y="3444754"/>
              <a:ext cx="912677" cy="912677"/>
            </a:xfrm>
            <a:prstGeom prst="rect">
              <a:avLst/>
            </a:prstGeom>
            <a:noFill/>
            <a:ln>
              <a:noFill/>
            </a:ln>
          </p:spPr>
          <p:txBody>
            <a:bodyPr spcFirstLastPara="1" wrap="square" lIns="20300" tIns="20300" rIns="20300" bIns="2030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600"/>
                <a:buFont typeface="Times New Roman" panose="02020603050405020304"/>
                <a:buNone/>
                <a:tabLst/>
                <a:defRPr/>
              </a:pPr>
              <a:r>
                <a:rPr kumimoji="0" lang="en-US" sz="2400" b="1" i="0" u="none" strike="noStrike" kern="0" cap="none" spc="0" normalizeH="0" baseline="0" noProof="0">
                  <a:ln>
                    <a:noFill/>
                  </a:ln>
                  <a:solidFill>
                    <a:srgbClr val="000000"/>
                  </a:solidFill>
                  <a:effectLst/>
                  <a:uLnTx/>
                  <a:uFillTx/>
                  <a:latin typeface="+mj-lt"/>
                  <a:ea typeface="Times New Roman" panose="02020603050405020304"/>
                  <a:cs typeface="Times New Roman" panose="02020603050405020304"/>
                  <a:sym typeface="Times New Roman" panose="02020603050405020304"/>
                </a:rPr>
                <a:t>CÔNG CỘNG</a:t>
              </a:r>
              <a:endParaRPr kumimoji="0" sz="2400" b="1" i="0" u="none" strike="noStrike" kern="0" cap="none" spc="0" normalizeH="0" baseline="0" noProof="0">
                <a:ln>
                  <a:noFill/>
                </a:ln>
                <a:solidFill>
                  <a:srgbClr val="000000"/>
                </a:solidFill>
                <a:effectLst/>
                <a:uLnTx/>
                <a:uFillTx/>
                <a:latin typeface="+mj-lt"/>
                <a:ea typeface="Times New Roman" panose="02020603050405020304"/>
                <a:cs typeface="Times New Roman" panose="02020603050405020304"/>
                <a:sym typeface="Times New Roman" panose="02020603050405020304"/>
              </a:endParaRPr>
            </a:p>
          </p:txBody>
        </p:sp>
        <p:sp>
          <p:nvSpPr>
            <p:cNvPr id="2479" name="Google Shape;2479;p344"/>
            <p:cNvSpPr/>
            <p:nvPr/>
          </p:nvSpPr>
          <p:spPr>
            <a:xfrm>
              <a:off x="5003916" y="1241063"/>
              <a:ext cx="1290719" cy="1290719"/>
            </a:xfrm>
            <a:prstGeom prst="ellipse">
              <a:avLst/>
            </a:prstGeom>
            <a:solidFill>
              <a:srgbClr val="5999D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480" name="Google Shape;2480;p344"/>
            <p:cNvSpPr txBox="1"/>
            <p:nvPr/>
          </p:nvSpPr>
          <p:spPr>
            <a:xfrm>
              <a:off x="5192937" y="1352649"/>
              <a:ext cx="912677" cy="912677"/>
            </a:xfrm>
            <a:prstGeom prst="rect">
              <a:avLst/>
            </a:prstGeom>
            <a:noFill/>
            <a:ln>
              <a:noFill/>
            </a:ln>
          </p:spPr>
          <p:txBody>
            <a:bodyPr spcFirstLastPara="1" wrap="square" lIns="20300" tIns="20300" rIns="20300" bIns="2030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600"/>
                <a:buFont typeface="Calibri" panose="020F0502020204030204"/>
                <a:buNone/>
                <a:tabLst/>
                <a:defRPr/>
              </a:pPr>
              <a:r>
                <a:rPr kumimoji="0" lang="en-US" sz="24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CÁ NHÂN</a:t>
              </a:r>
              <a:endParaRPr kumimoji="0"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sp>
        <p:nvSpPr>
          <p:cNvPr id="2481" name="Google Shape;2481;p344"/>
          <p:cNvSpPr txBox="1">
            <a:spLocks noGrp="1"/>
          </p:cNvSpPr>
          <p:nvPr>
            <p:ph type="title"/>
          </p:nvPr>
        </p:nvSpPr>
        <p:spPr>
          <a:xfrm>
            <a:off x="298049" y="190720"/>
            <a:ext cx="10515600" cy="104105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2060"/>
              </a:buClr>
              <a:buSzPts val="3200"/>
              <a:buFont typeface="Arial" panose="020B0604020202020204"/>
              <a:buNone/>
            </a:pPr>
            <a:r>
              <a:rPr lang="en-US" sz="3200" b="1">
                <a:solidFill>
                  <a:srgbClr val="002060"/>
                </a:solidFill>
              </a:rPr>
              <a:t>5</a:t>
            </a:r>
            <a:r>
              <a:rPr lang="en-US" sz="3200" b="1" i="0" u="none" strike="noStrike" cap="none">
                <a:solidFill>
                  <a:srgbClr val="002060"/>
                </a:solidFill>
                <a:latin typeface="Arial" panose="020B0604020202020204"/>
                <a:ea typeface="Arial" panose="020B0604020202020204"/>
                <a:cs typeface="Arial" panose="020B0604020202020204"/>
                <a:sym typeface="Arial" panose="020B0604020202020204"/>
              </a:rPr>
              <a:t>.3.2 Tìm kiếm thông tin</a:t>
            </a: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Shape 2497"/>
        <p:cNvGrpSpPr/>
        <p:nvPr/>
      </p:nvGrpSpPr>
      <p:grpSpPr>
        <a:xfrm>
          <a:off x="0" y="0"/>
          <a:ext cx="0" cy="0"/>
          <a:chOff x="0" y="0"/>
          <a:chExt cx="0" cy="0"/>
        </a:xfrm>
      </p:grpSpPr>
      <p:sp>
        <p:nvSpPr>
          <p:cNvPr id="2498" name="Google Shape;2498;p346"/>
          <p:cNvSpPr txBox="1">
            <a:spLocks noGrp="1"/>
          </p:cNvSpPr>
          <p:nvPr>
            <p:ph type="title"/>
          </p:nvPr>
        </p:nvSpPr>
        <p:spPr>
          <a:xfrm>
            <a:off x="254643" y="365125"/>
            <a:ext cx="11099157" cy="95438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5</a:t>
            </a:r>
            <a:r>
              <a:rPr lang="en-US" sz="3200" b="1">
                <a:latin typeface="Arial" panose="020B0604020202020204"/>
                <a:ea typeface="Arial" panose="020B0604020202020204"/>
                <a:cs typeface="Arial" panose="020B0604020202020204"/>
                <a:sym typeface="Arial" panose="020B0604020202020204"/>
              </a:rPr>
              <a:t>.3.3. Đánh giá các lựa chọn</a:t>
            </a:r>
          </a:p>
        </p:txBody>
      </p:sp>
      <p:sp>
        <p:nvSpPr>
          <p:cNvPr id="2499" name="Google Shape;2499;p346"/>
          <p:cNvSpPr txBox="1"/>
          <p:nvPr/>
        </p:nvSpPr>
        <p:spPr>
          <a:xfrm>
            <a:off x="1682750" y="1044233"/>
            <a:ext cx="8382000" cy="796624"/>
          </a:xfrm>
          <a:prstGeom prst="rect">
            <a:avLst/>
          </a:prstGeom>
          <a:noFill/>
          <a:ln>
            <a:noFill/>
          </a:ln>
        </p:spPr>
        <p:txBody>
          <a:bodyPr spcFirstLastPara="1" wrap="square" lIns="91425" tIns="45700" rIns="91425" bIns="91425" anchor="b" anchorCtr="0">
            <a:noAutofit/>
          </a:bodyPr>
          <a:lstStyle/>
          <a:p>
            <a:pPr marL="0" marR="0" lvl="0" indent="0" algn="l" defTabSz="914400" rtl="0" eaLnBrk="1" fontAlgn="auto" latinLnBrk="0" hangingPunct="1">
              <a:lnSpc>
                <a:spcPct val="100000"/>
              </a:lnSpc>
              <a:spcBef>
                <a:spcPts val="0"/>
              </a:spcBef>
              <a:spcAft>
                <a:spcPts val="0"/>
              </a:spcAft>
              <a:buClr>
                <a:srgbClr val="7030A0"/>
              </a:buClr>
              <a:buSzPts val="2400"/>
              <a:buFont typeface="Times New Roman" panose="02020603050405020304"/>
              <a:buNone/>
              <a:tabLst/>
              <a:defRPr/>
            </a:pPr>
            <a:r>
              <a:rPr kumimoji="0" lang="en-US" sz="2400" b="1" i="0" u="none" strike="noStrike" kern="0" cap="none" spc="0" normalizeH="0" baseline="0" noProof="0">
                <a:ln>
                  <a:noFill/>
                </a:ln>
                <a:solidFill>
                  <a:srgbClr val="7030A0"/>
                </a:solidFill>
                <a:effectLst/>
                <a:uLnTx/>
                <a:uFillTx/>
                <a:latin typeface="Times New Roman" panose="02020603050405020304"/>
                <a:ea typeface="Times New Roman" panose="02020603050405020304"/>
                <a:cs typeface="Times New Roman" panose="02020603050405020304"/>
                <a:sym typeface="Times New Roman" panose="02020603050405020304"/>
              </a:rPr>
              <a:t>ĐÁNH GIÁ VÀ LỰA CHỌN GIẢI PHÁP</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nvGrpSpPr>
          <p:cNvPr id="2500" name="Google Shape;2500;p346"/>
          <p:cNvGrpSpPr/>
          <p:nvPr/>
        </p:nvGrpSpPr>
        <p:grpSpPr>
          <a:xfrm>
            <a:off x="2697161" y="2242656"/>
            <a:ext cx="6292206" cy="3948446"/>
            <a:chOff x="0" y="244034"/>
            <a:chExt cx="6292206" cy="3948446"/>
          </a:xfrm>
        </p:grpSpPr>
        <p:sp>
          <p:nvSpPr>
            <p:cNvPr id="2501" name="Google Shape;2501;p346"/>
            <p:cNvSpPr/>
            <p:nvPr/>
          </p:nvSpPr>
          <p:spPr>
            <a:xfrm>
              <a:off x="2195749" y="244034"/>
              <a:ext cx="2255117" cy="884310"/>
            </a:xfrm>
            <a:prstGeom prst="roundRect">
              <a:avLst>
                <a:gd name="adj" fmla="val 10000"/>
              </a:avLst>
            </a:prstGeom>
            <a:solidFill>
              <a:srgbClr val="E1EFD8"/>
            </a:solidFill>
            <a:ln>
              <a:noFill/>
            </a:ln>
            <a:effectLst>
              <a:outerShdw blurRad="45000" dist="25000" dir="5400000" rotWithShape="0">
                <a:srgbClr val="000000">
                  <a:alpha val="38039"/>
                </a:srgbClr>
              </a:outerShdw>
            </a:effectLst>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502" name="Google Shape;2502;p346"/>
            <p:cNvSpPr txBox="1"/>
            <p:nvPr/>
          </p:nvSpPr>
          <p:spPr>
            <a:xfrm>
              <a:off x="2221650" y="269935"/>
              <a:ext cx="2203315" cy="832508"/>
            </a:xfrm>
            <a:prstGeom prst="rect">
              <a:avLst/>
            </a:prstGeom>
            <a:noFill/>
            <a:ln>
              <a:noFill/>
            </a:ln>
          </p:spPr>
          <p:txBody>
            <a:bodyPr spcFirstLastPara="1" wrap="square" lIns="60950" tIns="60950" rIns="60950" bIns="6095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600"/>
                <a:buFont typeface="Arial" panose="020B0604020202020204"/>
                <a:buNone/>
                <a:tabLst/>
                <a:defRPr/>
              </a:pPr>
              <a:r>
                <a:rPr kumimoji="0" lang="en-US" sz="1600" b="1" i="0" u="none" strike="noStrike" kern="0" cap="none" spc="0" normalizeH="0" baseline="0" noProof="0">
                  <a:ln>
                    <a:noFill/>
                  </a:ln>
                  <a:solidFill>
                    <a:srgbClr val="000000"/>
                  </a:solidFill>
                  <a:effectLst/>
                  <a:uLnTx/>
                  <a:uFillTx/>
                  <a:latin typeface="+mj-lt"/>
                  <a:ea typeface="Times New Roman" panose="02020603050405020304"/>
                  <a:cs typeface="Times New Roman" panose="02020603050405020304"/>
                  <a:sym typeface="Times New Roman" panose="02020603050405020304"/>
                </a:rPr>
                <a:t>ĐÁNH GIÁ THÔNG QUA THUỘC TÍNH, ĐẶC TÍNH SP</a:t>
              </a:r>
            </a:p>
          </p:txBody>
        </p:sp>
        <p:sp>
          <p:nvSpPr>
            <p:cNvPr id="2503" name="Google Shape;2503;p346"/>
            <p:cNvSpPr/>
            <p:nvPr/>
          </p:nvSpPr>
          <p:spPr>
            <a:xfrm rot="3477770">
              <a:off x="3731559" y="1822422"/>
              <a:ext cx="1425588" cy="394645"/>
            </a:xfrm>
            <a:prstGeom prst="leftRightArrow">
              <a:avLst>
                <a:gd name="adj1" fmla="val 60000"/>
                <a:gd name="adj2" fmla="val 50000"/>
              </a:avLst>
            </a:prstGeom>
            <a:solidFill>
              <a:srgbClr val="0070C0"/>
            </a:solidFill>
            <a:ln>
              <a:noFill/>
            </a:ln>
            <a:effectLst>
              <a:outerShdw blurRad="45000" dist="25000" dir="5400000" rotWithShape="0">
                <a:srgbClr val="000000">
                  <a:alpha val="38039"/>
                </a:srgbClr>
              </a:outerShdw>
            </a:effectLst>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504" name="Google Shape;2504;p346"/>
            <p:cNvSpPr txBox="1"/>
            <p:nvPr/>
          </p:nvSpPr>
          <p:spPr>
            <a:xfrm rot="3477770">
              <a:off x="3849953" y="1901351"/>
              <a:ext cx="1188801" cy="236787"/>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700"/>
                <a:buFont typeface="Arial" panose="020B0604020202020204"/>
                <a:buNone/>
                <a:tabLst/>
                <a:defRPr/>
              </a:pPr>
              <a:endParaRPr kumimoji="0" sz="1700" b="0" i="0" u="none" strike="noStrike" kern="0" cap="none" spc="0" normalizeH="0" baseline="0" noProof="0">
                <a:ln>
                  <a:noFill/>
                </a:ln>
                <a:solidFill>
                  <a:srgbClr val="000000"/>
                </a:solidFill>
                <a:effectLst/>
                <a:uLnTx/>
                <a:uFillTx/>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2505" name="Google Shape;2505;p346"/>
            <p:cNvSpPr/>
            <p:nvPr/>
          </p:nvSpPr>
          <p:spPr>
            <a:xfrm>
              <a:off x="4037089" y="3064922"/>
              <a:ext cx="2255117" cy="1127558"/>
            </a:xfrm>
            <a:prstGeom prst="roundRect">
              <a:avLst>
                <a:gd name="adj" fmla="val 10000"/>
              </a:avLst>
            </a:prstGeom>
            <a:solidFill>
              <a:srgbClr val="DDEAF6"/>
            </a:solidFill>
            <a:ln>
              <a:noFill/>
            </a:ln>
            <a:effectLst>
              <a:outerShdw blurRad="45000" dist="25000" dir="5400000" rotWithShape="0">
                <a:srgbClr val="000000">
                  <a:alpha val="38039"/>
                </a:srgbClr>
              </a:outerShdw>
            </a:effectLst>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506" name="Google Shape;2506;p346"/>
            <p:cNvSpPr txBox="1"/>
            <p:nvPr/>
          </p:nvSpPr>
          <p:spPr>
            <a:xfrm>
              <a:off x="4070114" y="3097947"/>
              <a:ext cx="2189067" cy="1061508"/>
            </a:xfrm>
            <a:prstGeom prst="rect">
              <a:avLst/>
            </a:prstGeom>
            <a:noFill/>
            <a:ln>
              <a:noFill/>
            </a:ln>
          </p:spPr>
          <p:txBody>
            <a:bodyPr spcFirstLastPara="1" wrap="square" lIns="60950" tIns="60950" rIns="60950" bIns="6095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600"/>
                <a:buFont typeface="Arial" panose="020B0604020202020204"/>
                <a:buNone/>
                <a:tabLst/>
                <a:defRPr/>
              </a:pPr>
              <a:r>
                <a:rPr kumimoji="0" lang="en-US" sz="1600" b="1" i="0" u="none" strike="noStrike" kern="0" cap="none" spc="0" normalizeH="0" baseline="0" noProof="0">
                  <a:ln>
                    <a:noFill/>
                  </a:ln>
                  <a:solidFill>
                    <a:srgbClr val="AB0042"/>
                  </a:solidFill>
                  <a:effectLst/>
                  <a:uLnTx/>
                  <a:uFillTx/>
                  <a:latin typeface="+mj-lt"/>
                  <a:ea typeface="Times New Roman" panose="02020603050405020304"/>
                  <a:cs typeface="Times New Roman" panose="02020603050405020304"/>
                  <a:sym typeface="Times New Roman" panose="02020603050405020304"/>
                </a:rPr>
                <a:t>ĐẶC TÍNH CỦA SP PHỤ THUỘC VÀO TÂM LÝ, HOÀN CẢNH</a:t>
              </a:r>
            </a:p>
          </p:txBody>
        </p:sp>
        <p:sp>
          <p:nvSpPr>
            <p:cNvPr id="2507" name="Google Shape;2507;p346"/>
            <p:cNvSpPr/>
            <p:nvPr/>
          </p:nvSpPr>
          <p:spPr>
            <a:xfrm rot="-10786824">
              <a:off x="2433309" y="3585336"/>
              <a:ext cx="1425588" cy="394645"/>
            </a:xfrm>
            <a:prstGeom prst="leftRightArrow">
              <a:avLst>
                <a:gd name="adj1" fmla="val 60000"/>
                <a:gd name="adj2" fmla="val 50000"/>
              </a:avLst>
            </a:prstGeom>
            <a:solidFill>
              <a:srgbClr val="AB0042"/>
            </a:solidFill>
            <a:ln>
              <a:noFill/>
            </a:ln>
            <a:effectLst>
              <a:outerShdw blurRad="45000" dist="25000" dir="5400000" rotWithShape="0">
                <a:srgbClr val="000000">
                  <a:alpha val="38039"/>
                </a:srgbClr>
              </a:outerShdw>
            </a:effectLst>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508" name="Google Shape;2508;p346"/>
            <p:cNvSpPr txBox="1"/>
            <p:nvPr/>
          </p:nvSpPr>
          <p:spPr>
            <a:xfrm rot="13176">
              <a:off x="2551702" y="3664265"/>
              <a:ext cx="1188801" cy="236787"/>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700"/>
                <a:buFont typeface="Arial" panose="020B0604020202020204"/>
                <a:buNone/>
                <a:tabLst/>
                <a:defRPr/>
              </a:pPr>
              <a:endParaRPr kumimoji="0" sz="1700" b="0" i="0" u="none" strike="noStrike" kern="0" cap="none" spc="0" normalizeH="0" baseline="0" noProof="0">
                <a:ln>
                  <a:noFill/>
                </a:ln>
                <a:solidFill>
                  <a:srgbClr val="000000"/>
                </a:solidFill>
                <a:effectLst/>
                <a:uLnTx/>
                <a:uFillTx/>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2509" name="Google Shape;2509;p346"/>
            <p:cNvSpPr/>
            <p:nvPr/>
          </p:nvSpPr>
          <p:spPr>
            <a:xfrm>
              <a:off x="0" y="3049449"/>
              <a:ext cx="2255117" cy="1127558"/>
            </a:xfrm>
            <a:prstGeom prst="roundRect">
              <a:avLst>
                <a:gd name="adj" fmla="val 10000"/>
              </a:avLst>
            </a:prstGeom>
            <a:solidFill>
              <a:srgbClr val="FFF2CC"/>
            </a:solidFill>
            <a:ln>
              <a:noFill/>
            </a:ln>
            <a:effectLst>
              <a:outerShdw blurRad="45000" dist="25000" dir="5400000" rotWithShape="0">
                <a:srgbClr val="000000">
                  <a:alpha val="38039"/>
                </a:srgbClr>
              </a:outerShdw>
            </a:effectLst>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510" name="Google Shape;2510;p346"/>
            <p:cNvSpPr txBox="1"/>
            <p:nvPr/>
          </p:nvSpPr>
          <p:spPr>
            <a:xfrm>
              <a:off x="33025" y="3082474"/>
              <a:ext cx="2189067" cy="1061508"/>
            </a:xfrm>
            <a:prstGeom prst="rect">
              <a:avLst/>
            </a:prstGeom>
            <a:noFill/>
            <a:ln>
              <a:noFill/>
            </a:ln>
          </p:spPr>
          <p:txBody>
            <a:bodyPr spcFirstLastPara="1" wrap="square" lIns="60950" tIns="60950" rIns="60950" bIns="6095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600"/>
                <a:buFont typeface="Arial" panose="020B0604020202020204"/>
                <a:buNone/>
                <a:tabLst/>
                <a:defRPr/>
              </a:pPr>
              <a:r>
                <a:rPr kumimoji="0" lang="en-US" sz="1600" b="1" i="0" u="none" strike="noStrike" kern="0" cap="none" spc="0" normalizeH="0" baseline="0" noProof="0">
                  <a:ln>
                    <a:noFill/>
                  </a:ln>
                  <a:solidFill>
                    <a:srgbClr val="AB0042"/>
                  </a:solidFill>
                  <a:effectLst/>
                  <a:uLnTx/>
                  <a:uFillTx/>
                  <a:latin typeface="+mj-lt"/>
                  <a:ea typeface="Times New Roman" panose="02020603050405020304"/>
                  <a:cs typeface="Times New Roman" panose="02020603050405020304"/>
                  <a:sym typeface="Times New Roman" panose="02020603050405020304"/>
                </a:rPr>
                <a:t>NHÃN HIỆU ĐẠI DIỆN CHO SP</a:t>
              </a:r>
            </a:p>
          </p:txBody>
        </p:sp>
        <p:sp>
          <p:nvSpPr>
            <p:cNvPr id="2511" name="Google Shape;2511;p346"/>
            <p:cNvSpPr/>
            <p:nvPr/>
          </p:nvSpPr>
          <p:spPr>
            <a:xfrm rot="-3187453">
              <a:off x="1191133" y="1787044"/>
              <a:ext cx="1646169" cy="394645"/>
            </a:xfrm>
            <a:prstGeom prst="leftRightArrow">
              <a:avLst>
                <a:gd name="adj1" fmla="val 60000"/>
                <a:gd name="adj2" fmla="val 50000"/>
              </a:avLst>
            </a:prstGeom>
            <a:solidFill>
              <a:srgbClr val="002060"/>
            </a:solidFill>
            <a:ln>
              <a:noFill/>
            </a:ln>
            <a:effectLst>
              <a:outerShdw blurRad="45000" dist="25000" dir="5400000" rotWithShape="0">
                <a:srgbClr val="000000">
                  <a:alpha val="38039"/>
                </a:srgbClr>
              </a:outerShdw>
            </a:effectLst>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512" name="Google Shape;2512;p346"/>
            <p:cNvSpPr txBox="1"/>
            <p:nvPr/>
          </p:nvSpPr>
          <p:spPr>
            <a:xfrm rot="-3187453">
              <a:off x="1309527" y="1865973"/>
              <a:ext cx="1409382" cy="236787"/>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700"/>
                <a:buFont typeface="Arial" panose="020B0604020202020204"/>
                <a:buNone/>
                <a:tabLst/>
                <a:defRPr/>
              </a:pPr>
              <a:endParaRPr kumimoji="0" sz="1700" b="0" i="0" u="none" strike="noStrike" kern="0" cap="none" spc="0" normalizeH="0" baseline="0" noProof="0">
                <a:ln>
                  <a:noFill/>
                </a:ln>
                <a:solidFill>
                  <a:srgbClr val="000000"/>
                </a:solidFill>
                <a:effectLst/>
                <a:uLnTx/>
                <a:uFillTx/>
                <a:latin typeface="Libre Baskerville" panose="02000000000000000000"/>
                <a:ea typeface="Libre Baskerville" panose="02000000000000000000"/>
                <a:cs typeface="Libre Baskerville" panose="02000000000000000000"/>
                <a:sym typeface="Libre Baskerville" panose="02000000000000000000"/>
              </a:endParaRPr>
            </a:p>
          </p:txBody>
        </p:sp>
      </p:grpSp>
      <p:sp>
        <p:nvSpPr>
          <p:cNvPr id="2515" name="Google Shape;2515;p346"/>
          <p:cNvSpPr txBox="1"/>
          <p:nvPr/>
        </p:nvSpPr>
        <p:spPr>
          <a:xfrm>
            <a:off x="5306368" y="3396661"/>
            <a:ext cx="1524000" cy="193899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2060"/>
              </a:buClr>
              <a:buSzPts val="2000"/>
              <a:buFont typeface="Arial" panose="020B0604020202020204"/>
              <a:buNone/>
              <a:tabLst/>
              <a:defRPr/>
            </a:pPr>
            <a:r>
              <a:rPr kumimoji="0" lang="en-US" sz="2000" b="1"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CÁC XU HƯỚNG ĐÁNH GIÁ CỦA TIÊU DÙNG HIỆN NAY </a:t>
            </a: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Shape 2519"/>
        <p:cNvGrpSpPr/>
        <p:nvPr/>
      </p:nvGrpSpPr>
      <p:grpSpPr>
        <a:xfrm>
          <a:off x="0" y="0"/>
          <a:ext cx="0" cy="0"/>
          <a:chOff x="0" y="0"/>
          <a:chExt cx="0" cy="0"/>
        </a:xfrm>
      </p:grpSpPr>
      <p:sp>
        <p:nvSpPr>
          <p:cNvPr id="2520" name="Google Shape;2520;p347"/>
          <p:cNvSpPr txBox="1"/>
          <p:nvPr/>
        </p:nvSpPr>
        <p:spPr>
          <a:xfrm>
            <a:off x="2176039" y="952500"/>
            <a:ext cx="8299049" cy="1362075"/>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7030A0"/>
              </a:buClr>
              <a:buSzPts val="2400"/>
              <a:buFont typeface="Arial" panose="020B0604020202020204"/>
              <a:buNone/>
              <a:tabLst/>
              <a:defRPr/>
            </a:pPr>
            <a:r>
              <a:rPr kumimoji="0" lang="en-US" sz="2400" b="1" i="0" u="none" strike="noStrike" kern="0" cap="none" spc="0" normalizeH="0" baseline="0" noProof="0">
                <a:ln>
                  <a:noFill/>
                </a:ln>
                <a:solidFill>
                  <a:srgbClr val="7030A0"/>
                </a:solidFill>
                <a:effectLst/>
                <a:uLnTx/>
                <a:uFillTx/>
                <a:latin typeface="Arial" panose="020B0604020202020204"/>
                <a:ea typeface="Arial" panose="020B0604020202020204"/>
                <a:cs typeface="Arial" panose="020B0604020202020204"/>
                <a:sym typeface="Arial" panose="020B0604020202020204"/>
              </a:rPr>
              <a:t>KH SỬ DỤNG CÁC TIÊU CHUẨN ĐÁNH GIÁ</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521" name="Google Shape;2521;p347"/>
          <p:cNvSpPr txBox="1"/>
          <p:nvPr/>
        </p:nvSpPr>
        <p:spPr>
          <a:xfrm>
            <a:off x="2133600" y="2183607"/>
            <a:ext cx="7162800" cy="804862"/>
          </a:xfrm>
          <a:prstGeom prst="rect">
            <a:avLst/>
          </a:prstGeom>
          <a:solidFill>
            <a:srgbClr val="FBE4D4"/>
          </a:solidFill>
          <a:ln w="9525" cap="flat" cmpd="sng">
            <a:solidFill>
              <a:srgbClr val="0070C0"/>
            </a:solidFill>
            <a:prstDash val="solid"/>
            <a:round/>
            <a:headEnd type="none" w="sm" len="sm"/>
            <a:tailEnd type="none" w="sm" len="sm"/>
          </a:ln>
        </p:spPr>
        <p:txBody>
          <a:bodyPr spcFirstLastPara="1" wrap="square" lIns="91425" tIns="45700" rIns="91425" bIns="45700" anchor="t" anchorCtr="0">
            <a:normAutofit/>
          </a:bodyPr>
          <a:lstStyle/>
          <a:p>
            <a:pPr marL="228600" marR="0" lvl="0" indent="-228600" algn="ctr" defTabSz="914400" rtl="0" eaLnBrk="1" fontAlgn="auto" latinLnBrk="0" hangingPunct="1">
              <a:lnSpc>
                <a:spcPct val="90000"/>
              </a:lnSpc>
              <a:spcBef>
                <a:spcPts val="0"/>
              </a:spcBef>
              <a:spcAft>
                <a:spcPts val="0"/>
              </a:spcAft>
              <a:buClr>
                <a:srgbClr val="00B050"/>
              </a:buClr>
              <a:buSzPts val="2400"/>
              <a:buFont typeface="Noto Sans Symbols"/>
              <a:buNone/>
              <a:tabLst/>
              <a:defRPr/>
            </a:pPr>
            <a:r>
              <a:rPr kumimoji="0" lang="en-US" sz="2400" b="1" i="0" u="none" strike="noStrike" kern="0" cap="none" spc="0" normalizeH="0" baseline="0" noProof="0">
                <a:ln>
                  <a:noFill/>
                </a:ln>
                <a:solidFill>
                  <a:srgbClr val="00B050"/>
                </a:solidFill>
                <a:effectLst/>
                <a:uLnTx/>
                <a:uFillTx/>
                <a:latin typeface="Arial" panose="020B0604020202020204"/>
                <a:ea typeface="Arial" panose="020B0604020202020204"/>
                <a:cs typeface="Arial" panose="020B0604020202020204"/>
                <a:sym typeface="Arial" panose="020B0604020202020204"/>
              </a:rPr>
              <a:t>XÁC ĐỊNH NHỮNG TIÊU CHUẨN ĐÁNH GIÁ SẢN PHẨM THAY THẾ</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nvGrpSpPr>
          <p:cNvPr id="2522" name="Google Shape;2522;p347"/>
          <p:cNvGrpSpPr/>
          <p:nvPr/>
        </p:nvGrpSpPr>
        <p:grpSpPr>
          <a:xfrm>
            <a:off x="2501096" y="3012986"/>
            <a:ext cx="6096000" cy="2438400"/>
            <a:chOff x="0" y="0"/>
            <a:chExt cx="6096000" cy="2438400"/>
          </a:xfrm>
        </p:grpSpPr>
        <p:sp>
          <p:nvSpPr>
            <p:cNvPr id="2523" name="Google Shape;2523;p347"/>
            <p:cNvSpPr/>
            <p:nvPr/>
          </p:nvSpPr>
          <p:spPr>
            <a:xfrm>
              <a:off x="0" y="0"/>
              <a:ext cx="6096000" cy="2438400"/>
            </a:xfrm>
            <a:custGeom>
              <a:avLst/>
              <a:gdLst/>
              <a:ahLst/>
              <a:cxnLst/>
              <a:rect l="l" t="t" r="r" b="b"/>
              <a:pathLst>
                <a:path w="120000" h="120000" extrusionOk="0">
                  <a:moveTo>
                    <a:pt x="0" y="50000"/>
                  </a:moveTo>
                  <a:lnTo>
                    <a:pt x="24000" y="0"/>
                  </a:lnTo>
                  <a:lnTo>
                    <a:pt x="24000" y="20000"/>
                  </a:lnTo>
                  <a:lnTo>
                    <a:pt x="60000" y="20000"/>
                  </a:lnTo>
                  <a:lnTo>
                    <a:pt x="60000" y="20000"/>
                  </a:lnTo>
                  <a:cubicBezTo>
                    <a:pt x="62071" y="20000"/>
                    <a:pt x="63750" y="22238"/>
                    <a:pt x="63750" y="25000"/>
                  </a:cubicBezTo>
                  <a:cubicBezTo>
                    <a:pt x="63750" y="27761"/>
                    <a:pt x="62071" y="30000"/>
                    <a:pt x="60000" y="30000"/>
                  </a:cubicBezTo>
                  <a:cubicBezTo>
                    <a:pt x="57929" y="30000"/>
                    <a:pt x="56250" y="32239"/>
                    <a:pt x="56250" y="35000"/>
                  </a:cubicBezTo>
                  <a:cubicBezTo>
                    <a:pt x="56250" y="37762"/>
                    <a:pt x="57929" y="40000"/>
                    <a:pt x="60000" y="40000"/>
                  </a:cubicBezTo>
                  <a:lnTo>
                    <a:pt x="96000" y="40000"/>
                  </a:lnTo>
                  <a:lnTo>
                    <a:pt x="96000" y="20000"/>
                  </a:lnTo>
                  <a:lnTo>
                    <a:pt x="120000" y="70000"/>
                  </a:lnTo>
                  <a:lnTo>
                    <a:pt x="96000" y="120000"/>
                  </a:lnTo>
                  <a:lnTo>
                    <a:pt x="96000" y="100000"/>
                  </a:lnTo>
                  <a:lnTo>
                    <a:pt x="60000" y="100000"/>
                  </a:lnTo>
                  <a:cubicBezTo>
                    <a:pt x="57929" y="100000"/>
                    <a:pt x="56250" y="97762"/>
                    <a:pt x="56250" y="95000"/>
                  </a:cubicBezTo>
                  <a:lnTo>
                    <a:pt x="56250" y="80000"/>
                  </a:lnTo>
                  <a:lnTo>
                    <a:pt x="24000" y="80000"/>
                  </a:lnTo>
                  <a:lnTo>
                    <a:pt x="24000" y="100000"/>
                  </a:lnTo>
                  <a:close/>
                </a:path>
                <a:path w="120000" h="120000" fill="darkenLess" extrusionOk="0">
                  <a:moveTo>
                    <a:pt x="63750" y="25000"/>
                  </a:moveTo>
                  <a:cubicBezTo>
                    <a:pt x="63750" y="27761"/>
                    <a:pt x="62071" y="30000"/>
                    <a:pt x="60000" y="30000"/>
                  </a:cubicBezTo>
                  <a:cubicBezTo>
                    <a:pt x="57929" y="30000"/>
                    <a:pt x="56250" y="32239"/>
                    <a:pt x="56250" y="35000"/>
                  </a:cubicBezTo>
                  <a:cubicBezTo>
                    <a:pt x="56250" y="37762"/>
                    <a:pt x="57929" y="40000"/>
                    <a:pt x="60000" y="40000"/>
                  </a:cubicBezTo>
                  <a:lnTo>
                    <a:pt x="63750" y="40000"/>
                  </a:lnTo>
                  <a:close/>
                </a:path>
                <a:path w="120000" h="120000" fill="none" extrusionOk="0">
                  <a:moveTo>
                    <a:pt x="0" y="50000"/>
                  </a:moveTo>
                  <a:lnTo>
                    <a:pt x="24000" y="0"/>
                  </a:lnTo>
                  <a:lnTo>
                    <a:pt x="24000" y="20000"/>
                  </a:lnTo>
                  <a:lnTo>
                    <a:pt x="60000" y="20000"/>
                  </a:lnTo>
                  <a:lnTo>
                    <a:pt x="60000" y="20000"/>
                  </a:lnTo>
                  <a:cubicBezTo>
                    <a:pt x="62071" y="20000"/>
                    <a:pt x="63750" y="22238"/>
                    <a:pt x="63750" y="25000"/>
                  </a:cubicBezTo>
                  <a:cubicBezTo>
                    <a:pt x="63750" y="27761"/>
                    <a:pt x="62071" y="30000"/>
                    <a:pt x="60000" y="30000"/>
                  </a:cubicBezTo>
                  <a:cubicBezTo>
                    <a:pt x="57929" y="30000"/>
                    <a:pt x="56250" y="32239"/>
                    <a:pt x="56250" y="35000"/>
                  </a:cubicBezTo>
                  <a:cubicBezTo>
                    <a:pt x="56250" y="37762"/>
                    <a:pt x="57929" y="40000"/>
                    <a:pt x="60000" y="40000"/>
                  </a:cubicBezTo>
                  <a:lnTo>
                    <a:pt x="96000" y="40000"/>
                  </a:lnTo>
                  <a:lnTo>
                    <a:pt x="96000" y="20000"/>
                  </a:lnTo>
                  <a:lnTo>
                    <a:pt x="120000" y="70000"/>
                  </a:lnTo>
                  <a:lnTo>
                    <a:pt x="96000" y="120000"/>
                  </a:lnTo>
                  <a:lnTo>
                    <a:pt x="96000" y="100000"/>
                  </a:lnTo>
                  <a:lnTo>
                    <a:pt x="60000" y="100000"/>
                  </a:lnTo>
                  <a:cubicBezTo>
                    <a:pt x="57929" y="100000"/>
                    <a:pt x="56250" y="97762"/>
                    <a:pt x="56250" y="95000"/>
                  </a:cubicBezTo>
                  <a:lnTo>
                    <a:pt x="56250" y="80000"/>
                  </a:lnTo>
                  <a:lnTo>
                    <a:pt x="24000" y="80000"/>
                  </a:lnTo>
                  <a:lnTo>
                    <a:pt x="24000" y="100000"/>
                  </a:lnTo>
                  <a:close/>
                  <a:moveTo>
                    <a:pt x="63750" y="25000"/>
                  </a:moveTo>
                  <a:lnTo>
                    <a:pt x="63750" y="40000"/>
                  </a:lnTo>
                  <a:moveTo>
                    <a:pt x="56250" y="35000"/>
                  </a:moveTo>
                  <a:lnTo>
                    <a:pt x="56250" y="80000"/>
                  </a:lnTo>
                </a:path>
              </a:pathLst>
            </a:custGeom>
            <a:gradFill>
              <a:gsLst>
                <a:gs pos="0">
                  <a:srgbClr val="C7C7C7"/>
                </a:gs>
                <a:gs pos="50000">
                  <a:srgbClr val="BDBDBD"/>
                </a:gs>
                <a:gs pos="100000">
                  <a:srgbClr val="B4B4B4"/>
                </a:gs>
              </a:gsLst>
              <a:lin ang="54000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524" name="Google Shape;2524;p347"/>
            <p:cNvSpPr/>
            <p:nvPr/>
          </p:nvSpPr>
          <p:spPr>
            <a:xfrm>
              <a:off x="237280" y="483774"/>
              <a:ext cx="2560325" cy="1194816"/>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525" name="Google Shape;2525;p347"/>
            <p:cNvSpPr txBox="1"/>
            <p:nvPr/>
          </p:nvSpPr>
          <p:spPr>
            <a:xfrm>
              <a:off x="237280" y="483774"/>
              <a:ext cx="2560325" cy="1194816"/>
            </a:xfrm>
            <a:prstGeom prst="rect">
              <a:avLst/>
            </a:prstGeom>
            <a:noFill/>
            <a:ln>
              <a:noFill/>
            </a:ln>
          </p:spPr>
          <p:txBody>
            <a:bodyPr spcFirstLastPara="1" wrap="square" lIns="0" tIns="85325" rIns="0" bIns="91425" anchor="ctr" anchorCtr="0">
              <a:noAutofit/>
            </a:bodyPr>
            <a:lstStyle/>
            <a:p>
              <a:pPr marL="0" marR="0" lvl="0" indent="0" algn="ctr" defTabSz="914400" rtl="0" eaLnBrk="1" fontAlgn="auto" latinLnBrk="0" hangingPunct="1">
                <a:lnSpc>
                  <a:spcPct val="90000"/>
                </a:lnSpc>
                <a:spcBef>
                  <a:spcPts val="0"/>
                </a:spcBef>
                <a:spcAft>
                  <a:spcPts val="0"/>
                </a:spcAft>
                <a:buClr>
                  <a:srgbClr val="CC0066"/>
                </a:buClr>
                <a:buSzPts val="2400"/>
                <a:buFont typeface="Arial" panose="020B0604020202020204"/>
                <a:buNone/>
                <a:tabLst/>
                <a:defRPr/>
              </a:pPr>
              <a:r>
                <a:rPr kumimoji="0" lang="en-US" sz="2400" b="1" i="0" u="none" strike="noStrike" kern="0" cap="none" spc="0" normalizeH="0" baseline="0" noProof="0">
                  <a:ln>
                    <a:noFill/>
                  </a:ln>
                  <a:solidFill>
                    <a:srgbClr val="CC0066"/>
                  </a:solidFill>
                  <a:effectLst/>
                  <a:uLnTx/>
                  <a:uFillTx/>
                  <a:latin typeface="Arial" panose="020B0604020202020204"/>
                  <a:ea typeface="Arial" panose="020B0604020202020204"/>
                  <a:cs typeface="Arial" panose="020B0604020202020204"/>
                  <a:sym typeface="Arial" panose="020B0604020202020204"/>
                </a:rPr>
                <a:t>CHỨC NĂNG</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0" marR="0" lvl="0" indent="0" algn="ctr" defTabSz="914400" rtl="0" eaLnBrk="1" fontAlgn="auto" latinLnBrk="0" hangingPunct="1">
                <a:lnSpc>
                  <a:spcPct val="90000"/>
                </a:lnSpc>
                <a:spcBef>
                  <a:spcPts val="840"/>
                </a:spcBef>
                <a:spcAft>
                  <a:spcPts val="0"/>
                </a:spcAft>
                <a:buClr>
                  <a:srgbClr val="CC0066"/>
                </a:buClr>
                <a:buSzPts val="2400"/>
                <a:buFont typeface="Arial" panose="020B0604020202020204"/>
                <a:buNone/>
                <a:tabLst/>
                <a:defRPr/>
              </a:pPr>
              <a:r>
                <a:rPr kumimoji="0" lang="en-US" sz="2400" b="1" i="0" u="none" strike="noStrike" kern="0" cap="none" spc="0" normalizeH="0" baseline="0" noProof="0">
                  <a:ln>
                    <a:noFill/>
                  </a:ln>
                  <a:solidFill>
                    <a:srgbClr val="CC0066"/>
                  </a:solidFill>
                  <a:effectLst/>
                  <a:uLnTx/>
                  <a:uFillTx/>
                  <a:latin typeface="Arial" panose="020B0604020202020204"/>
                  <a:ea typeface="Arial" panose="020B0604020202020204"/>
                  <a:cs typeface="Arial" panose="020B0604020202020204"/>
                  <a:sym typeface="Arial" panose="020B0604020202020204"/>
                </a:rPr>
                <a:t>(TIỆN DỤNG)</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526" name="Google Shape;2526;p347"/>
            <p:cNvSpPr/>
            <p:nvPr/>
          </p:nvSpPr>
          <p:spPr>
            <a:xfrm>
              <a:off x="2765182" y="807725"/>
              <a:ext cx="3330817" cy="1194816"/>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527" name="Google Shape;2527;p347"/>
            <p:cNvSpPr txBox="1"/>
            <p:nvPr/>
          </p:nvSpPr>
          <p:spPr>
            <a:xfrm>
              <a:off x="2765182" y="807725"/>
              <a:ext cx="3330817" cy="1194816"/>
            </a:xfrm>
            <a:prstGeom prst="rect">
              <a:avLst/>
            </a:prstGeom>
            <a:noFill/>
            <a:ln>
              <a:noFill/>
            </a:ln>
          </p:spPr>
          <p:txBody>
            <a:bodyPr spcFirstLastPara="1" wrap="square" lIns="0" tIns="85325" rIns="0" bIns="91425" anchor="ctr" anchorCtr="0">
              <a:noAutofit/>
            </a:bodyPr>
            <a:lstStyle/>
            <a:p>
              <a:pPr marL="0" marR="0" lvl="0" indent="0" algn="ctr" defTabSz="914400" rtl="0" eaLnBrk="1" fontAlgn="auto" latinLnBrk="0" hangingPunct="1">
                <a:lnSpc>
                  <a:spcPct val="90000"/>
                </a:lnSpc>
                <a:spcBef>
                  <a:spcPts val="0"/>
                </a:spcBef>
                <a:spcAft>
                  <a:spcPts val="0"/>
                </a:spcAft>
                <a:buClr>
                  <a:srgbClr val="FF0000"/>
                </a:buClr>
                <a:buSzPts val="2400"/>
                <a:buFont typeface="Arial" panose="020B0604020202020204"/>
                <a:buNone/>
                <a:tabLst/>
                <a:defRPr/>
              </a:pPr>
              <a:r>
                <a:rPr kumimoji="0" lang="en-US" sz="2400" b="1" i="0" u="none" strike="noStrike" kern="0" cap="none" spc="0" normalizeH="0" baseline="0" noProof="0">
                  <a:ln>
                    <a:noFill/>
                  </a:ln>
                  <a:solidFill>
                    <a:srgbClr val="FF0000"/>
                  </a:solidFill>
                  <a:effectLst/>
                  <a:uLnTx/>
                  <a:uFillTx/>
                  <a:latin typeface="Arial" panose="020B0604020202020204"/>
                  <a:ea typeface="Arial" panose="020B0604020202020204"/>
                  <a:cs typeface="Arial" panose="020B0604020202020204"/>
                  <a:sym typeface="Arial" panose="020B0604020202020204"/>
                </a:rPr>
                <a:t>TÂM LÝ XH</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0" marR="0" lvl="0" indent="0" algn="ctr" defTabSz="914400" rtl="0" eaLnBrk="1" fontAlgn="auto" latinLnBrk="0" hangingPunct="1">
                <a:lnSpc>
                  <a:spcPct val="90000"/>
                </a:lnSpc>
                <a:spcBef>
                  <a:spcPts val="840"/>
                </a:spcBef>
                <a:spcAft>
                  <a:spcPts val="0"/>
                </a:spcAft>
                <a:buClr>
                  <a:srgbClr val="FF0000"/>
                </a:buClr>
                <a:buSzPts val="2400"/>
                <a:buFont typeface="Arial" panose="020B0604020202020204"/>
                <a:buNone/>
                <a:tabLst/>
                <a:defRPr/>
              </a:pPr>
              <a:r>
                <a:rPr kumimoji="0" lang="en-US" sz="2400" b="1" i="0" u="none" strike="noStrike" kern="0" cap="none" spc="0" normalizeH="0" baseline="0" noProof="0">
                  <a:ln>
                    <a:noFill/>
                  </a:ln>
                  <a:solidFill>
                    <a:srgbClr val="FF0000"/>
                  </a:solidFill>
                  <a:effectLst/>
                  <a:uLnTx/>
                  <a:uFillTx/>
                  <a:latin typeface="Arial" panose="020B0604020202020204"/>
                  <a:ea typeface="Arial" panose="020B0604020202020204"/>
                  <a:cs typeface="Arial" panose="020B0604020202020204"/>
                  <a:sym typeface="Arial" panose="020B0604020202020204"/>
                </a:rPr>
                <a:t>(BIỂU THỊ GIÁ TRỊ)</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sp>
        <p:nvSpPr>
          <p:cNvPr id="2530" name="Google Shape;2530;p347"/>
          <p:cNvSpPr txBox="1">
            <a:spLocks noGrp="1"/>
          </p:cNvSpPr>
          <p:nvPr>
            <p:ph type="title"/>
          </p:nvPr>
        </p:nvSpPr>
        <p:spPr>
          <a:xfrm>
            <a:off x="457200" y="411584"/>
            <a:ext cx="10515600" cy="86179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5</a:t>
            </a:r>
            <a:r>
              <a:rPr lang="en-US" sz="3200" b="1">
                <a:latin typeface="Arial" panose="020B0604020202020204"/>
                <a:ea typeface="Arial" panose="020B0604020202020204"/>
                <a:cs typeface="Arial" panose="020B0604020202020204"/>
                <a:sym typeface="Arial" panose="020B0604020202020204"/>
              </a:rPr>
              <a:t>.3.3. Đánh giá các lựa chọn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21">
                                            <p:txEl>
                                              <p:pRg st="0" end="0"/>
                                            </p:txEl>
                                          </p:spTgt>
                                        </p:tgtEl>
                                        <p:attrNameLst>
                                          <p:attrName>style.visibility</p:attrName>
                                        </p:attrNameLst>
                                      </p:cBhvr>
                                      <p:to>
                                        <p:strVal val="visible"/>
                                      </p:to>
                                    </p:set>
                                    <p:animEffect transition="in" filter="fade">
                                      <p:cBhvr>
                                        <p:cTn id="7" dur="2000"/>
                                        <p:tgtEl>
                                          <p:spTgt spid="25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Shape 2535"/>
        <p:cNvGrpSpPr/>
        <p:nvPr/>
      </p:nvGrpSpPr>
      <p:grpSpPr>
        <a:xfrm>
          <a:off x="0" y="0"/>
          <a:ext cx="0" cy="0"/>
          <a:chOff x="0" y="0"/>
          <a:chExt cx="0" cy="0"/>
        </a:xfrm>
      </p:grpSpPr>
      <p:sp>
        <p:nvSpPr>
          <p:cNvPr id="2536" name="Google Shape;2536;p348"/>
          <p:cNvSpPr txBox="1">
            <a:spLocks noGrp="1"/>
          </p:cNvSpPr>
          <p:nvPr>
            <p:ph type="title"/>
          </p:nvPr>
        </p:nvSpPr>
        <p:spPr>
          <a:xfrm>
            <a:off x="571983" y="307251"/>
            <a:ext cx="10515600" cy="82706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5</a:t>
            </a:r>
            <a:r>
              <a:rPr lang="en-US" sz="3200" b="1">
                <a:latin typeface="Arial" panose="020B0604020202020204"/>
                <a:ea typeface="Arial" panose="020B0604020202020204"/>
                <a:cs typeface="Arial" panose="020B0604020202020204"/>
                <a:sym typeface="Arial" panose="020B0604020202020204"/>
              </a:rPr>
              <a:t>.3.3. Đánh giá</a:t>
            </a:r>
            <a:r>
              <a:rPr lang="vi-VN" sz="3200" b="1">
                <a:latin typeface="Arial" panose="020B0604020202020204"/>
                <a:ea typeface="Arial" panose="020B0604020202020204"/>
                <a:cs typeface="Arial" panose="020B0604020202020204"/>
                <a:sym typeface="Arial" panose="020B0604020202020204"/>
              </a:rPr>
              <a:t>, </a:t>
            </a:r>
            <a:r>
              <a:rPr lang="en-US" sz="3200" b="1">
                <a:latin typeface="Arial" panose="020B0604020202020204"/>
                <a:ea typeface="Arial" panose="020B0604020202020204"/>
                <a:cs typeface="Arial" panose="020B0604020202020204"/>
                <a:sym typeface="Arial" panose="020B0604020202020204"/>
              </a:rPr>
              <a:t>lựa chọn</a:t>
            </a:r>
            <a:endParaRPr sz="3200"/>
          </a:p>
        </p:txBody>
      </p:sp>
      <p:sp>
        <p:nvSpPr>
          <p:cNvPr id="2537" name="Google Shape;2537;p348"/>
          <p:cNvSpPr txBox="1">
            <a:spLocks noGrp="1"/>
          </p:cNvSpPr>
          <p:nvPr>
            <p:ph type="body" idx="1"/>
          </p:nvPr>
        </p:nvSpPr>
        <p:spPr>
          <a:xfrm>
            <a:off x="212202" y="1250066"/>
            <a:ext cx="11767595" cy="5300683"/>
          </a:xfrm>
          <a:prstGeom prst="rect">
            <a:avLst/>
          </a:prstGeom>
          <a:noFill/>
          <a:ln>
            <a:noFill/>
          </a:ln>
        </p:spPr>
        <p:txBody>
          <a:bodyPr spcFirstLastPara="1" wrap="square" lIns="91425" tIns="45700" rIns="91425" bIns="45700" anchor="t" anchorCtr="0">
            <a:normAutofit/>
          </a:bodyPr>
          <a:lstStyle/>
          <a:p>
            <a:pPr marL="228600" lvl="0" indent="-228600" algn="l" rtl="0">
              <a:lnSpc>
                <a:spcPct val="150000"/>
              </a:lnSpc>
              <a:spcBef>
                <a:spcPts val="0"/>
              </a:spcBef>
              <a:spcAft>
                <a:spcPts val="0"/>
              </a:spcAft>
              <a:buClr>
                <a:schemeClr val="dk1"/>
              </a:buClr>
              <a:buSzPts val="2800"/>
              <a:buFont typeface="Noto Sans Symbols"/>
              <a:buChar char="❖"/>
            </a:pPr>
            <a:r>
              <a:rPr lang="en-US">
                <a:latin typeface="Arial" panose="020B0604020202020204"/>
                <a:ea typeface="Arial" panose="020B0604020202020204"/>
                <a:cs typeface="Arial" panose="020B0604020202020204"/>
                <a:sym typeface="Arial" panose="020B0604020202020204"/>
              </a:rPr>
              <a:t>KH có nhiều cách đánh giá để đi đến quyết định mua hàng. Marketer cần chú ý các xu hướng sau đây: </a:t>
            </a:r>
            <a:endParaRPr>
              <a:latin typeface="Arial" panose="020B0604020202020204"/>
              <a:ea typeface="Arial" panose="020B0604020202020204"/>
              <a:cs typeface="Arial" panose="020B0604020202020204"/>
              <a:sym typeface="Arial" panose="020B0604020202020204"/>
            </a:endParaRPr>
          </a:p>
        </p:txBody>
      </p:sp>
      <p:grpSp>
        <p:nvGrpSpPr>
          <p:cNvPr id="2538" name="Google Shape;2538;p348"/>
          <p:cNvGrpSpPr/>
          <p:nvPr/>
        </p:nvGrpSpPr>
        <p:grpSpPr>
          <a:xfrm>
            <a:off x="2453077" y="2721120"/>
            <a:ext cx="6454398" cy="4057650"/>
            <a:chOff x="204694" y="66659"/>
            <a:chExt cx="6454398" cy="4057650"/>
          </a:xfrm>
        </p:grpSpPr>
        <p:sp>
          <p:nvSpPr>
            <p:cNvPr id="2539" name="Google Shape;2539;p348"/>
            <p:cNvSpPr/>
            <p:nvPr/>
          </p:nvSpPr>
          <p:spPr>
            <a:xfrm>
              <a:off x="204694" y="66659"/>
              <a:ext cx="4000500" cy="4057650"/>
            </a:xfrm>
            <a:prstGeom prst="flowChartDecision">
              <a:avLst/>
            </a:prstGeom>
            <a:solidFill>
              <a:srgbClr val="52525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540" name="Google Shape;2540;p348"/>
            <p:cNvSpPr/>
            <p:nvPr/>
          </p:nvSpPr>
          <p:spPr>
            <a:xfrm>
              <a:off x="2906243" y="371475"/>
              <a:ext cx="2971800" cy="812601"/>
            </a:xfrm>
            <a:prstGeom prst="roundRect">
              <a:avLst>
                <a:gd name="adj" fmla="val 16667"/>
              </a:avLst>
            </a:prstGeom>
            <a:solidFill>
              <a:schemeClr val="lt1">
                <a:alpha val="89803"/>
              </a:schemeClr>
            </a:solidFill>
            <a:ln w="9525" cap="flat" cmpd="sng">
              <a:solidFill>
                <a:schemeClr val="accent3"/>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541" name="Google Shape;2541;p348"/>
            <p:cNvSpPr txBox="1"/>
            <p:nvPr/>
          </p:nvSpPr>
          <p:spPr>
            <a:xfrm>
              <a:off x="2945911" y="411143"/>
              <a:ext cx="2892464" cy="733265"/>
            </a:xfrm>
            <a:prstGeom prst="rect">
              <a:avLst/>
            </a:prstGeom>
            <a:noFill/>
            <a:ln>
              <a:noFill/>
            </a:ln>
          </p:spPr>
          <p:txBody>
            <a:bodyPr spcFirstLastPara="1" wrap="square" lIns="76200" tIns="76200" rIns="76200" bIns="76200" anchor="ctr" anchorCtr="0">
              <a:noAutofit/>
            </a:bodyPr>
            <a:lstStyle/>
            <a:p>
              <a:pPr marL="0" marR="0" lvl="0" indent="0" algn="ctr" defTabSz="914400" rtl="0" eaLnBrk="1" fontAlgn="auto" latinLnBrk="0" hangingPunct="1">
                <a:lnSpc>
                  <a:spcPct val="90000"/>
                </a:lnSpc>
                <a:spcBef>
                  <a:spcPts val="0"/>
                </a:spcBef>
                <a:spcAft>
                  <a:spcPts val="0"/>
                </a:spcAft>
                <a:buClr>
                  <a:srgbClr val="FF0000"/>
                </a:buClr>
                <a:buSzPts val="2000"/>
                <a:buFont typeface="Times New Roman" panose="02020603050405020304"/>
                <a:buNone/>
                <a:tabLst/>
                <a:defRPr/>
              </a:pPr>
              <a:r>
                <a:rPr kumimoji="0" lang="en-US" sz="2000" b="1" i="0" u="none" strike="noStrike" kern="0" cap="none" spc="0" normalizeH="0" baseline="0" noProof="0">
                  <a:ln>
                    <a:noFill/>
                  </a:ln>
                  <a:solidFill>
                    <a:srgbClr val="FF0000"/>
                  </a:solidFill>
                  <a:effectLst/>
                  <a:uLnTx/>
                  <a:uFillTx/>
                  <a:latin typeface="+mj-lt"/>
                  <a:ea typeface="Times New Roman" panose="02020603050405020304"/>
                  <a:cs typeface="Times New Roman" panose="02020603050405020304"/>
                  <a:sym typeface="Times New Roman" panose="02020603050405020304"/>
                </a:rPr>
                <a:t>ĐÁNH GIÁ NHỮNG ĐẶC TÍNH CỦA SP</a:t>
              </a:r>
              <a:endParaRPr kumimoji="0" sz="1400" b="0" i="0" u="none" strike="noStrike" kern="0" cap="none" spc="0" normalizeH="0" baseline="0" noProof="0">
                <a:ln>
                  <a:noFill/>
                </a:ln>
                <a:solidFill>
                  <a:srgbClr val="000000"/>
                </a:solidFill>
                <a:effectLst/>
                <a:uLnTx/>
                <a:uFillTx/>
                <a:latin typeface="+mj-lt"/>
                <a:ea typeface="Arial" panose="020B0604020202020204"/>
                <a:cs typeface="Arial" panose="020B0604020202020204"/>
                <a:sym typeface="Arial" panose="020B0604020202020204"/>
              </a:endParaRPr>
            </a:p>
          </p:txBody>
        </p:sp>
        <p:sp>
          <p:nvSpPr>
            <p:cNvPr id="2542" name="Google Shape;2542;p348"/>
            <p:cNvSpPr/>
            <p:nvPr/>
          </p:nvSpPr>
          <p:spPr>
            <a:xfrm>
              <a:off x="3458701" y="1523999"/>
              <a:ext cx="2971800" cy="812601"/>
            </a:xfrm>
            <a:prstGeom prst="roundRect">
              <a:avLst>
                <a:gd name="adj" fmla="val 16667"/>
              </a:avLst>
            </a:prstGeom>
            <a:solidFill>
              <a:schemeClr val="lt1">
                <a:alpha val="89803"/>
              </a:schemeClr>
            </a:solidFill>
            <a:ln w="9525" cap="flat" cmpd="sng">
              <a:solidFill>
                <a:srgbClr val="B97676"/>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543" name="Google Shape;2543;p348"/>
            <p:cNvSpPr txBox="1"/>
            <p:nvPr/>
          </p:nvSpPr>
          <p:spPr>
            <a:xfrm>
              <a:off x="3498369" y="1563667"/>
              <a:ext cx="2892464" cy="733265"/>
            </a:xfrm>
            <a:prstGeom prst="rect">
              <a:avLst/>
            </a:prstGeom>
            <a:noFill/>
            <a:ln>
              <a:noFill/>
            </a:ln>
          </p:spPr>
          <p:txBody>
            <a:bodyPr spcFirstLastPara="1" wrap="square" lIns="76200" tIns="76200" rIns="76200" bIns="76200" anchor="ctr" anchorCtr="0">
              <a:noAutofit/>
            </a:bodyPr>
            <a:lstStyle/>
            <a:p>
              <a:pPr marL="0" marR="0" lvl="0" indent="0" algn="ctr" defTabSz="914400" rtl="0" eaLnBrk="1" fontAlgn="auto" latinLnBrk="0" hangingPunct="1">
                <a:lnSpc>
                  <a:spcPct val="90000"/>
                </a:lnSpc>
                <a:spcBef>
                  <a:spcPts val="0"/>
                </a:spcBef>
                <a:spcAft>
                  <a:spcPts val="0"/>
                </a:spcAft>
                <a:buClr>
                  <a:srgbClr val="FF0000"/>
                </a:buClr>
                <a:buSzPts val="2000"/>
                <a:buFont typeface="Times New Roman" panose="02020603050405020304"/>
                <a:buNone/>
                <a:tabLst/>
                <a:defRPr/>
              </a:pPr>
              <a:r>
                <a:rPr kumimoji="0" lang="en-US" sz="1900" b="1" i="0" u="none" strike="noStrike" kern="0" cap="none" spc="0" normalizeH="0" baseline="0" noProof="0">
                  <a:ln>
                    <a:noFill/>
                  </a:ln>
                  <a:solidFill>
                    <a:srgbClr val="FF0000"/>
                  </a:solidFill>
                  <a:effectLst/>
                  <a:uLnTx/>
                  <a:uFillTx/>
                  <a:latin typeface="+mn-lt"/>
                  <a:ea typeface="Times New Roman" panose="02020603050405020304"/>
                  <a:cs typeface="Times New Roman" panose="02020603050405020304"/>
                  <a:sym typeface="Times New Roman" panose="02020603050405020304"/>
                </a:rPr>
                <a:t>TUNG RA THỊ TRƯỜNG NHỮNG SP CÓ ƯU THẾ</a:t>
              </a:r>
              <a:endParaRPr kumimoji="0" sz="1900" b="0" i="0" u="none" strike="noStrike" kern="0" cap="none" spc="0" normalizeH="0" baseline="0" noProof="0">
                <a:ln>
                  <a:noFill/>
                </a:ln>
                <a:solidFill>
                  <a:srgbClr val="000000"/>
                </a:solidFill>
                <a:effectLst/>
                <a:uLnTx/>
                <a:uFillTx/>
                <a:latin typeface="+mn-lt"/>
                <a:ea typeface="Arial" panose="020B0604020202020204"/>
                <a:cs typeface="Arial" panose="020B0604020202020204"/>
                <a:sym typeface="Arial" panose="020B0604020202020204"/>
              </a:endParaRPr>
            </a:p>
          </p:txBody>
        </p:sp>
        <p:sp>
          <p:nvSpPr>
            <p:cNvPr id="2544" name="Google Shape;2544;p348"/>
            <p:cNvSpPr/>
            <p:nvPr/>
          </p:nvSpPr>
          <p:spPr>
            <a:xfrm>
              <a:off x="3687292" y="2514601"/>
              <a:ext cx="2971800" cy="812601"/>
            </a:xfrm>
            <a:prstGeom prst="roundRect">
              <a:avLst>
                <a:gd name="adj" fmla="val 16667"/>
              </a:avLst>
            </a:prstGeom>
            <a:solidFill>
              <a:schemeClr val="lt1">
                <a:alpha val="89803"/>
              </a:schemeClr>
            </a:solidFill>
            <a:ln w="9525" cap="flat" cmpd="sng">
              <a:solidFill>
                <a:srgbClr val="D83E3E"/>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545" name="Google Shape;2545;p348"/>
            <p:cNvSpPr txBox="1"/>
            <p:nvPr/>
          </p:nvSpPr>
          <p:spPr>
            <a:xfrm>
              <a:off x="3766628" y="2536628"/>
              <a:ext cx="2892464" cy="733265"/>
            </a:xfrm>
            <a:prstGeom prst="rect">
              <a:avLst/>
            </a:prstGeom>
            <a:noFill/>
            <a:ln>
              <a:noFill/>
            </a:ln>
          </p:spPr>
          <p:txBody>
            <a:bodyPr spcFirstLastPara="1" wrap="square" lIns="72375" tIns="72375" rIns="72375" bIns="72375" anchor="ctr" anchorCtr="0">
              <a:noAutofit/>
            </a:bodyPr>
            <a:lstStyle/>
            <a:p>
              <a:pPr marL="0" marR="0" lvl="0" indent="0" algn="ctr" defTabSz="914400" rtl="0" eaLnBrk="1" fontAlgn="auto" latinLnBrk="0" hangingPunct="1">
                <a:lnSpc>
                  <a:spcPct val="90000"/>
                </a:lnSpc>
                <a:spcBef>
                  <a:spcPts val="0"/>
                </a:spcBef>
                <a:spcAft>
                  <a:spcPts val="0"/>
                </a:spcAft>
                <a:buClr>
                  <a:srgbClr val="FF0000"/>
                </a:buClr>
                <a:buSzPts val="1900"/>
                <a:buFont typeface="Times New Roman" panose="02020603050405020304"/>
                <a:buNone/>
                <a:tabLst/>
                <a:defRPr/>
              </a:pPr>
              <a:r>
                <a:rPr kumimoji="0" lang="en-US" sz="1900" b="1" i="0" u="none" strike="noStrike" kern="0" cap="none" spc="0" normalizeH="0" baseline="0" noProof="0">
                  <a:ln>
                    <a:noFill/>
                  </a:ln>
                  <a:solidFill>
                    <a:srgbClr val="FF0000"/>
                  </a:solidFill>
                  <a:effectLst/>
                  <a:uLnTx/>
                  <a:uFillTx/>
                  <a:latin typeface="+mj-lt"/>
                  <a:ea typeface="Times New Roman" panose="02020603050405020304"/>
                  <a:cs typeface="Times New Roman" panose="02020603050405020304"/>
                  <a:sym typeface="Times New Roman" panose="02020603050405020304"/>
                </a:rPr>
                <a:t>SỬ DỤNG NHỮNG THUỘC TÍNH CHỈ DẪN</a:t>
              </a:r>
              <a:endParaRPr kumimoji="0" sz="1400" b="0" i="0" u="none" strike="noStrike" kern="0" cap="none" spc="0" normalizeH="0" baseline="0" noProof="0">
                <a:ln>
                  <a:noFill/>
                </a:ln>
                <a:solidFill>
                  <a:srgbClr val="000000"/>
                </a:solidFill>
                <a:effectLst/>
                <a:uLnTx/>
                <a:uFillTx/>
                <a:latin typeface="+mj-lt"/>
                <a:ea typeface="Arial" panose="020B0604020202020204"/>
                <a:cs typeface="Arial" panose="020B0604020202020204"/>
                <a:sym typeface="Arial" panose="020B0604020202020204"/>
              </a:endParaRPr>
            </a:p>
          </p:txBody>
        </p:sp>
        <p:sp>
          <p:nvSpPr>
            <p:cNvPr id="2546" name="Google Shape;2546;p348"/>
            <p:cNvSpPr/>
            <p:nvPr/>
          </p:nvSpPr>
          <p:spPr>
            <a:xfrm>
              <a:off x="591657" y="1657347"/>
              <a:ext cx="2971800" cy="812601"/>
            </a:xfrm>
            <a:prstGeom prst="rightArrow">
              <a:avLst>
                <a:gd name="adj1" fmla="val 50000"/>
                <a:gd name="adj2" fmla="val 50000"/>
              </a:avLst>
            </a:prstGeom>
            <a:solidFill>
              <a:srgbClr val="F7CAAC">
                <a:alpha val="89803"/>
              </a:srgbClr>
            </a:solidFill>
            <a:ln w="9525" cap="flat" cmpd="sng">
              <a:solidFill>
                <a:srgbClr val="FE0000"/>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547" name="Google Shape;2547;p348"/>
            <p:cNvSpPr txBox="1"/>
            <p:nvPr/>
          </p:nvSpPr>
          <p:spPr>
            <a:xfrm>
              <a:off x="591657" y="1860497"/>
              <a:ext cx="2768650" cy="406301"/>
            </a:xfrm>
            <a:prstGeom prst="rect">
              <a:avLst/>
            </a:prstGeom>
            <a:noFill/>
            <a:ln>
              <a:noFill/>
            </a:ln>
          </p:spPr>
          <p:txBody>
            <a:bodyPr spcFirstLastPara="1" wrap="square" lIns="68575" tIns="68575" rIns="68575" bIns="68575" anchor="ctr" anchorCtr="0">
              <a:noAutofit/>
            </a:bodyPr>
            <a:lstStyle/>
            <a:p>
              <a:pPr marL="0" marR="0" lvl="0" indent="0" algn="ctr" defTabSz="914400" rtl="0" eaLnBrk="1" fontAlgn="auto" latinLnBrk="0" hangingPunct="1">
                <a:lnSpc>
                  <a:spcPct val="90000"/>
                </a:lnSpc>
                <a:spcBef>
                  <a:spcPts val="0"/>
                </a:spcBef>
                <a:spcAft>
                  <a:spcPts val="0"/>
                </a:spcAft>
                <a:buClr>
                  <a:srgbClr val="FF0000"/>
                </a:buClr>
                <a:buSzPts val="1800"/>
                <a:buFont typeface="Calibri" panose="020F0502020204030204"/>
                <a:buNone/>
                <a:tabLst/>
                <a:defRPr/>
              </a:pPr>
              <a:r>
                <a:rPr kumimoji="0" lang="en-US" sz="1800" b="1" i="0" u="none" strike="noStrike" kern="0" cap="none" spc="0" normalizeH="0" baseline="0" noProof="0">
                  <a:ln>
                    <a:noFill/>
                  </a:ln>
                  <a:solidFill>
                    <a:srgbClr val="FF0000"/>
                  </a:solidFill>
                  <a:effectLst/>
                  <a:uLnTx/>
                  <a:uFillTx/>
                  <a:latin typeface="Arial" panose="020B0604020202020204"/>
                  <a:ea typeface="Arial" panose="020B0604020202020204"/>
                  <a:cs typeface="Arial" panose="020B0604020202020204"/>
                  <a:sym typeface="Arial" panose="020B0604020202020204"/>
                </a:rPr>
                <a:t>NHÀ QT MAR  CẦN</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sp>
        <p:nvSpPr>
          <p:cNvPr id="2549" name="Google Shape;2549;p348"/>
          <p:cNvSpPr/>
          <p:nvPr/>
        </p:nvSpPr>
        <p:spPr>
          <a:xfrm>
            <a:off x="508409" y="3589787"/>
            <a:ext cx="1905000" cy="914400"/>
          </a:xfrm>
          <a:prstGeom prst="cloudCallout">
            <a:avLst>
              <a:gd name="adj1" fmla="val -20833"/>
              <a:gd name="adj2" fmla="val 62500"/>
            </a:avLst>
          </a:prstGeom>
          <a:solidFill>
            <a:srgbClr val="F7CAA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2060"/>
              </a:buClr>
              <a:buSzPts val="4000"/>
              <a:buFont typeface="Calibri" panose="020F0502020204030204"/>
              <a:buNone/>
              <a:tabLst/>
              <a:defRPr/>
            </a:pPr>
            <a:r>
              <a:rPr kumimoji="0" lang="en-US" sz="4000" b="1" i="0" u="none" strike="noStrike" kern="0" cap="none" spc="0" normalizeH="0" baseline="0" noProof="0">
                <a:ln>
                  <a:noFill/>
                </a:ln>
                <a:solidFill>
                  <a:srgbClr val="002060"/>
                </a:solidFill>
                <a:effectLst/>
                <a:uLnTx/>
                <a:uFillTx/>
                <a:latin typeface="Arial" panose="020B0604020202020204"/>
                <a:ea typeface="Arial" panose="020B0604020202020204"/>
                <a:cs typeface="Arial" panose="020B0604020202020204"/>
                <a:sym typeface="Arial" panose="020B0604020202020204"/>
              </a:rPr>
              <a:t>???</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Shape 2553"/>
        <p:cNvGrpSpPr/>
        <p:nvPr/>
      </p:nvGrpSpPr>
      <p:grpSpPr>
        <a:xfrm>
          <a:off x="0" y="0"/>
          <a:ext cx="0" cy="0"/>
          <a:chOff x="0" y="0"/>
          <a:chExt cx="0" cy="0"/>
        </a:xfrm>
      </p:grpSpPr>
      <p:sp>
        <p:nvSpPr>
          <p:cNvPr id="2554" name="Google Shape;2554;p349"/>
          <p:cNvSpPr txBox="1">
            <a:spLocks noGrp="1"/>
          </p:cNvSpPr>
          <p:nvPr>
            <p:ph type="title"/>
          </p:nvPr>
        </p:nvSpPr>
        <p:spPr>
          <a:xfrm>
            <a:off x="293227" y="133530"/>
            <a:ext cx="10515600" cy="87732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5</a:t>
            </a:r>
            <a:r>
              <a:rPr lang="en-US" sz="3200" b="1">
                <a:latin typeface="Arial" panose="020B0604020202020204"/>
                <a:ea typeface="Arial" panose="020B0604020202020204"/>
                <a:cs typeface="Arial" panose="020B0604020202020204"/>
                <a:sym typeface="Arial" panose="020B0604020202020204"/>
              </a:rPr>
              <a:t>.3.3. Đánh giá các lựa chọn</a:t>
            </a:r>
            <a:endParaRPr sz="3200"/>
          </a:p>
        </p:txBody>
      </p:sp>
      <p:sp>
        <p:nvSpPr>
          <p:cNvPr id="2555" name="Google Shape;2555;p349"/>
          <p:cNvSpPr txBox="1">
            <a:spLocks noGrp="1"/>
          </p:cNvSpPr>
          <p:nvPr>
            <p:ph type="body" idx="1"/>
          </p:nvPr>
        </p:nvSpPr>
        <p:spPr>
          <a:xfrm>
            <a:off x="141514" y="949124"/>
            <a:ext cx="11453455" cy="5694743"/>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150000"/>
              </a:lnSpc>
              <a:spcBef>
                <a:spcPts val="0"/>
              </a:spcBef>
              <a:spcAft>
                <a:spcPts val="0"/>
              </a:spcAft>
              <a:buClr>
                <a:schemeClr val="dk1"/>
              </a:buClr>
              <a:buSzPct val="100000"/>
              <a:buNone/>
            </a:pPr>
            <a:r>
              <a:rPr lang="en-US" b="1">
                <a:latin typeface="Arial" panose="020B0604020202020204"/>
                <a:ea typeface="Arial" panose="020B0604020202020204"/>
                <a:cs typeface="Arial" panose="020B0604020202020204"/>
                <a:sym typeface="Arial" panose="020B0604020202020204"/>
              </a:rPr>
              <a:t>Nhà marketing cũng cần phải biết được KH đánh giá các nhãn hiệu khác nhau như thế nào với mục đích:</a:t>
            </a:r>
            <a:endParaRPr b="1">
              <a:latin typeface="Arial" panose="020B0604020202020204"/>
              <a:ea typeface="Arial" panose="020B0604020202020204"/>
              <a:cs typeface="Arial" panose="020B0604020202020204"/>
              <a:sym typeface="Arial" panose="020B0604020202020204"/>
            </a:endParaRPr>
          </a:p>
          <a:p>
            <a:pPr marL="457200" lvl="0" indent="-457200" algn="l" rtl="0">
              <a:lnSpc>
                <a:spcPct val="150000"/>
              </a:lnSpc>
              <a:spcBef>
                <a:spcPts val="1000"/>
              </a:spcBef>
              <a:spcAft>
                <a:spcPts val="0"/>
              </a:spcAft>
              <a:buClr>
                <a:schemeClr val="dk1"/>
              </a:buClr>
              <a:buSzPct val="100000"/>
              <a:buFont typeface="Arial" panose="020B0604020202020204"/>
              <a:buChar char="•"/>
            </a:pPr>
            <a:r>
              <a:rPr lang="en-US">
                <a:latin typeface="Arial" panose="020B0604020202020204"/>
                <a:ea typeface="Arial" panose="020B0604020202020204"/>
                <a:cs typeface="Arial" panose="020B0604020202020204"/>
                <a:sym typeface="Arial" panose="020B0604020202020204"/>
              </a:rPr>
              <a:t>Thiết kế lại sản phẩm có những đặc tính mà KH ưa chuộng.</a:t>
            </a:r>
          </a:p>
          <a:p>
            <a:pPr marL="457200" lvl="0" indent="-457200" algn="l" rtl="0">
              <a:lnSpc>
                <a:spcPct val="150000"/>
              </a:lnSpc>
              <a:spcBef>
                <a:spcPts val="1000"/>
              </a:spcBef>
              <a:spcAft>
                <a:spcPts val="0"/>
              </a:spcAft>
              <a:buClr>
                <a:schemeClr val="dk1"/>
              </a:buClr>
              <a:buSzPct val="100000"/>
              <a:buFont typeface="Arial" panose="020B0604020202020204"/>
              <a:buChar char="•"/>
            </a:pPr>
            <a:r>
              <a:rPr lang="en-US">
                <a:latin typeface="Arial" panose="020B0604020202020204"/>
                <a:ea typeface="Arial" panose="020B0604020202020204"/>
                <a:cs typeface="Arial" panose="020B0604020202020204"/>
                <a:sym typeface="Arial" panose="020B0604020202020204"/>
              </a:rPr>
              <a:t>Hoặc thuyết phục người mua quan tâm nhiều hơn đến những đặc tính mà sản phẩm của mình có ưu thế.</a:t>
            </a:r>
          </a:p>
          <a:p>
            <a:pPr marL="457200" lvl="0" indent="-457200" algn="l" rtl="0">
              <a:lnSpc>
                <a:spcPct val="150000"/>
              </a:lnSpc>
              <a:spcBef>
                <a:spcPts val="1000"/>
              </a:spcBef>
              <a:spcAft>
                <a:spcPts val="0"/>
              </a:spcAft>
              <a:buClr>
                <a:schemeClr val="dk1"/>
              </a:buClr>
              <a:buSzPct val="100000"/>
              <a:buFont typeface="Arial" panose="020B0604020202020204"/>
              <a:buChar char="•"/>
            </a:pPr>
            <a:r>
              <a:rPr lang="en-US">
                <a:latin typeface="Arial" panose="020B0604020202020204"/>
                <a:ea typeface="Arial" panose="020B0604020202020204"/>
                <a:cs typeface="Arial" panose="020B0604020202020204"/>
                <a:sym typeface="Arial" panose="020B0604020202020204"/>
              </a:rPr>
              <a:t>Hoặc tìm cách thay đổi những tin tưởng của KH về những đặc tính quan trọng của sản phẩm mà họ đánh giá sai. Ví dụ: Các Marketer thay đổi suy nghĩ của KH là giá cả luôn đi đôi với chất lượng bằng cách chứng minh nhãn hiệu của mình chất lượng rất tốt dù giá không cao.</a:t>
            </a:r>
            <a:endParaRPr>
              <a:latin typeface="Arial" panose="020B0604020202020204"/>
              <a:ea typeface="Arial" panose="020B0604020202020204"/>
              <a:cs typeface="Arial" panose="020B0604020202020204"/>
              <a:sym typeface="Arial" panose="020B0604020202020204"/>
            </a:endParaRPr>
          </a:p>
          <a:p>
            <a:pPr marL="228600" lvl="0" indent="-64135" algn="l" rtl="0">
              <a:lnSpc>
                <a:spcPct val="90000"/>
              </a:lnSpc>
              <a:spcBef>
                <a:spcPts val="1000"/>
              </a:spcBef>
              <a:spcAft>
                <a:spcPts val="0"/>
              </a:spcAft>
              <a:buClr>
                <a:schemeClr val="dk1"/>
              </a:buClr>
              <a:buSzPct val="100000"/>
              <a:buNone/>
            </a:pPr>
            <a:endParaRPr>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Shape 2559"/>
        <p:cNvGrpSpPr/>
        <p:nvPr/>
      </p:nvGrpSpPr>
      <p:grpSpPr>
        <a:xfrm>
          <a:off x="0" y="0"/>
          <a:ext cx="0" cy="0"/>
          <a:chOff x="0" y="0"/>
          <a:chExt cx="0" cy="0"/>
        </a:xfrm>
      </p:grpSpPr>
      <p:grpSp>
        <p:nvGrpSpPr>
          <p:cNvPr id="2560" name="Google Shape;2560;p350"/>
          <p:cNvGrpSpPr/>
          <p:nvPr/>
        </p:nvGrpSpPr>
        <p:grpSpPr>
          <a:xfrm>
            <a:off x="1457578" y="1757680"/>
            <a:ext cx="9478675" cy="4349206"/>
            <a:chOff x="1290" y="0"/>
            <a:chExt cx="9478675" cy="4349206"/>
          </a:xfrm>
        </p:grpSpPr>
        <p:sp>
          <p:nvSpPr>
            <p:cNvPr id="2561" name="Google Shape;2561;p350"/>
            <p:cNvSpPr/>
            <p:nvPr/>
          </p:nvSpPr>
          <p:spPr>
            <a:xfrm>
              <a:off x="1290" y="0"/>
              <a:ext cx="2177357" cy="4349206"/>
            </a:xfrm>
            <a:prstGeom prst="roundRect">
              <a:avLst>
                <a:gd name="adj" fmla="val 10000"/>
              </a:avLst>
            </a:prstGeom>
            <a:solidFill>
              <a:srgbClr val="D5DBE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562" name="Google Shape;2562;p350"/>
            <p:cNvSpPr txBox="1"/>
            <p:nvPr/>
          </p:nvSpPr>
          <p:spPr>
            <a:xfrm>
              <a:off x="73601" y="1079499"/>
              <a:ext cx="2177357" cy="1739682"/>
            </a:xfrm>
            <a:prstGeom prst="rect">
              <a:avLst/>
            </a:prstGeom>
            <a:noFill/>
            <a:ln>
              <a:noFill/>
            </a:ln>
          </p:spPr>
          <p:txBody>
            <a:bodyPr spcFirstLastPara="1" wrap="square" lIns="128000" tIns="128000" rIns="128000" bIns="128000" anchor="ctr" anchorCtr="0">
              <a:noAutofit/>
            </a:bodyPr>
            <a:lstStyle/>
            <a:p>
              <a:pPr marL="0" marR="0" lvl="0" indent="0" algn="ctr" defTabSz="914400" rtl="0" eaLnBrk="1" fontAlgn="auto" latinLnBrk="0" hangingPunct="1">
                <a:lnSpc>
                  <a:spcPct val="150000"/>
                </a:lnSpc>
                <a:spcBef>
                  <a:spcPts val="0"/>
                </a:spcBef>
                <a:spcAft>
                  <a:spcPts val="0"/>
                </a:spcAft>
                <a:buClr>
                  <a:srgbClr val="000000"/>
                </a:buClr>
                <a:buSzPts val="1800"/>
                <a:buFont typeface="Times New Roman" panose="02020603050405020304"/>
                <a:buNone/>
                <a:tabLst/>
                <a:defRPr/>
              </a:pPr>
              <a:r>
                <a:rPr kumimoji="0" lang="en-US" sz="2000" b="1" i="0" u="none" strike="noStrike" kern="0" cap="none" spc="0" normalizeH="0" baseline="0" noProof="0">
                  <a:ln>
                    <a:noFill/>
                  </a:ln>
                  <a:solidFill>
                    <a:srgbClr val="000000"/>
                  </a:solidFill>
                  <a:effectLst/>
                  <a:uLnTx/>
                  <a:uFillTx/>
                  <a:latin typeface="+mj-lt"/>
                  <a:ea typeface="Times New Roman" panose="02020603050405020304"/>
                  <a:cs typeface="Times New Roman" panose="02020603050405020304"/>
                  <a:sym typeface="Times New Roman" panose="02020603050405020304"/>
                </a:rPr>
                <a:t>XÁC ĐỊNH LOẠI TÌNH HUỐNG TÁC ĐỘNG</a:t>
              </a:r>
              <a:endParaRPr kumimoji="0" sz="2000" b="0" i="0" u="none" strike="noStrike" kern="0" cap="none" spc="0" normalizeH="0" baseline="0" noProof="0">
                <a:ln>
                  <a:noFill/>
                </a:ln>
                <a:solidFill>
                  <a:srgbClr val="000000"/>
                </a:solidFill>
                <a:effectLst/>
                <a:uLnTx/>
                <a:uFillTx/>
                <a:latin typeface="+mj-lt"/>
                <a:ea typeface="Arial" panose="020B0604020202020204"/>
                <a:cs typeface="Arial" panose="020B0604020202020204"/>
                <a:sym typeface="Arial" panose="020B0604020202020204"/>
              </a:endParaRPr>
            </a:p>
          </p:txBody>
        </p:sp>
        <p:sp>
          <p:nvSpPr>
            <p:cNvPr id="2564" name="Google Shape;2564;p350"/>
            <p:cNvSpPr/>
            <p:nvPr/>
          </p:nvSpPr>
          <p:spPr>
            <a:xfrm>
              <a:off x="2249455" y="0"/>
              <a:ext cx="2677039" cy="4349206"/>
            </a:xfrm>
            <a:prstGeom prst="roundRect">
              <a:avLst>
                <a:gd name="adj" fmla="val 10000"/>
              </a:avLst>
            </a:prstGeom>
            <a:solidFill>
              <a:srgbClr val="F4B08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565" name="Google Shape;2565;p350"/>
            <p:cNvSpPr txBox="1"/>
            <p:nvPr/>
          </p:nvSpPr>
          <p:spPr>
            <a:xfrm>
              <a:off x="2321766" y="1079499"/>
              <a:ext cx="2677039" cy="1739682"/>
            </a:xfrm>
            <a:prstGeom prst="rect">
              <a:avLst/>
            </a:prstGeom>
            <a:noFill/>
            <a:ln>
              <a:noFill/>
            </a:ln>
          </p:spPr>
          <p:txBody>
            <a:bodyPr spcFirstLastPara="1" wrap="square" lIns="113775" tIns="113775" rIns="113775" bIns="113775" anchor="ctr" anchorCtr="0">
              <a:noAutofit/>
            </a:bodyPr>
            <a:lstStyle/>
            <a:p>
              <a:pPr marL="0" marR="0" lvl="0" indent="0" algn="ctr" defTabSz="914400" rtl="0" eaLnBrk="1" fontAlgn="auto" latinLnBrk="0" hangingPunct="1">
                <a:lnSpc>
                  <a:spcPct val="150000"/>
                </a:lnSpc>
                <a:spcBef>
                  <a:spcPts val="0"/>
                </a:spcBef>
                <a:spcAft>
                  <a:spcPts val="0"/>
                </a:spcAft>
                <a:buClr>
                  <a:srgbClr val="000000"/>
                </a:buClr>
                <a:buSzPts val="1600"/>
                <a:buFont typeface="Times New Roman" panose="02020603050405020304"/>
                <a:buNone/>
                <a:tabLst/>
                <a:defRPr/>
              </a:pPr>
              <a:r>
                <a:rPr kumimoji="0" lang="en-US" sz="2000" b="1" i="0" u="none" strike="noStrike" kern="0" cap="none" spc="0" normalizeH="0" baseline="0" noProof="0">
                  <a:ln>
                    <a:noFill/>
                  </a:ln>
                  <a:solidFill>
                    <a:srgbClr val="000000"/>
                  </a:solidFill>
                  <a:effectLst/>
                  <a:uLnTx/>
                  <a:uFillTx/>
                  <a:latin typeface="+mn-lt"/>
                  <a:ea typeface="Times New Roman" panose="02020603050405020304"/>
                  <a:cs typeface="Times New Roman" panose="02020603050405020304"/>
                  <a:sym typeface="Times New Roman" panose="02020603050405020304"/>
                </a:rPr>
                <a:t>XÁC ĐỊNH LOẠI SP ĐƯỢC MUA NHIỀU NHẤT KHI CÓ TÌNH HUỐNG ĐẶC BIỆT XUẤT HIỆN</a:t>
              </a:r>
              <a:endParaRPr kumimoji="0" sz="2000" b="0" i="0" u="none" strike="noStrike" kern="0" cap="none" spc="0" normalizeH="0" baseline="0" noProof="0">
                <a:ln>
                  <a:noFill/>
                </a:ln>
                <a:solidFill>
                  <a:srgbClr val="000000"/>
                </a:solidFill>
                <a:effectLst/>
                <a:uLnTx/>
                <a:uFillTx/>
                <a:latin typeface="+mn-lt"/>
                <a:ea typeface="Arial" panose="020B0604020202020204"/>
                <a:cs typeface="Arial" panose="020B0604020202020204"/>
                <a:sym typeface="Arial" panose="020B0604020202020204"/>
              </a:endParaRPr>
            </a:p>
          </p:txBody>
        </p:sp>
        <p:sp>
          <p:nvSpPr>
            <p:cNvPr id="2567" name="Google Shape;2567;p350"/>
            <p:cNvSpPr/>
            <p:nvPr/>
          </p:nvSpPr>
          <p:spPr>
            <a:xfrm>
              <a:off x="4998805" y="0"/>
              <a:ext cx="2177357" cy="4349206"/>
            </a:xfrm>
            <a:prstGeom prst="roundRect">
              <a:avLst>
                <a:gd name="adj" fmla="val 10000"/>
              </a:avLst>
            </a:prstGeom>
            <a:solidFill>
              <a:srgbClr val="92D05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568" name="Google Shape;2568;p350"/>
            <p:cNvSpPr txBox="1"/>
            <p:nvPr/>
          </p:nvSpPr>
          <p:spPr>
            <a:xfrm>
              <a:off x="5071116" y="1079499"/>
              <a:ext cx="2177357" cy="1739682"/>
            </a:xfrm>
            <a:prstGeom prst="rect">
              <a:avLst/>
            </a:prstGeom>
            <a:noFill/>
            <a:ln>
              <a:noFill/>
            </a:ln>
          </p:spPr>
          <p:txBody>
            <a:bodyPr spcFirstLastPara="1" wrap="square" lIns="128000" tIns="128000" rIns="128000" bIns="128000" anchor="ctr" anchorCtr="0">
              <a:noAutofit/>
            </a:bodyPr>
            <a:lstStyle/>
            <a:p>
              <a:pPr marL="0" marR="0" lvl="0" indent="0" algn="ctr" defTabSz="914400" rtl="0" eaLnBrk="1" fontAlgn="auto" latinLnBrk="0" hangingPunct="1">
                <a:lnSpc>
                  <a:spcPct val="150000"/>
                </a:lnSpc>
                <a:spcBef>
                  <a:spcPts val="0"/>
                </a:spcBef>
                <a:spcAft>
                  <a:spcPts val="0"/>
                </a:spcAft>
                <a:buClr>
                  <a:srgbClr val="000000"/>
                </a:buClr>
                <a:buSzPts val="1800"/>
                <a:buFont typeface="Times New Roman" panose="02020603050405020304"/>
                <a:buNone/>
                <a:tabLst/>
                <a:defRPr/>
              </a:pPr>
              <a:r>
                <a:rPr kumimoji="0" lang="en-US" sz="2000" b="1" i="0" u="none" strike="noStrike" kern="0" cap="none" spc="0" normalizeH="0" baseline="0" noProof="0">
                  <a:ln>
                    <a:noFill/>
                  </a:ln>
                  <a:solidFill>
                    <a:srgbClr val="000000"/>
                  </a:solidFill>
                  <a:effectLst/>
                  <a:uLnTx/>
                  <a:uFillTx/>
                  <a:latin typeface="+mj-lt"/>
                  <a:ea typeface="Times New Roman" panose="02020603050405020304"/>
                  <a:cs typeface="Times New Roman" panose="02020603050405020304"/>
                  <a:sym typeface="Times New Roman" panose="02020603050405020304"/>
                </a:rPr>
                <a:t>ĐỊNH VỊ DỰA TRÊN TÌNH HUỐNG MUA HÀNG</a:t>
              </a:r>
              <a:endParaRPr kumimoji="0" sz="2000" b="0" i="0" u="none" strike="noStrike" kern="0" cap="none" spc="0" normalizeH="0" baseline="0" noProof="0">
                <a:ln>
                  <a:noFill/>
                </a:ln>
                <a:solidFill>
                  <a:srgbClr val="000000"/>
                </a:solidFill>
                <a:effectLst/>
                <a:uLnTx/>
                <a:uFillTx/>
                <a:latin typeface="+mj-lt"/>
                <a:ea typeface="Arial" panose="020B0604020202020204"/>
                <a:cs typeface="Arial" panose="020B0604020202020204"/>
                <a:sym typeface="Arial" panose="020B0604020202020204"/>
              </a:endParaRPr>
            </a:p>
          </p:txBody>
        </p:sp>
        <p:sp>
          <p:nvSpPr>
            <p:cNvPr id="2570" name="Google Shape;2570;p350"/>
            <p:cNvSpPr/>
            <p:nvPr/>
          </p:nvSpPr>
          <p:spPr>
            <a:xfrm>
              <a:off x="7230297" y="0"/>
              <a:ext cx="2177357" cy="4349206"/>
            </a:xfrm>
            <a:prstGeom prst="roundRect">
              <a:avLst>
                <a:gd name="adj" fmla="val 10000"/>
              </a:avLst>
            </a:prstGeom>
            <a:solidFill>
              <a:srgbClr val="DDEAF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571" name="Google Shape;2571;p350"/>
            <p:cNvSpPr txBox="1"/>
            <p:nvPr/>
          </p:nvSpPr>
          <p:spPr>
            <a:xfrm>
              <a:off x="7302608" y="1079499"/>
              <a:ext cx="2177357" cy="1739682"/>
            </a:xfrm>
            <a:prstGeom prst="rect">
              <a:avLst/>
            </a:prstGeom>
            <a:noFill/>
            <a:ln>
              <a:noFill/>
            </a:ln>
          </p:spPr>
          <p:txBody>
            <a:bodyPr spcFirstLastPara="1" wrap="square" lIns="128000" tIns="128000" rIns="128000" bIns="128000" anchor="ctr" anchorCtr="0">
              <a:noAutofit/>
            </a:bodyPr>
            <a:lstStyle/>
            <a:p>
              <a:pPr marL="0" marR="0" lvl="0" indent="0" algn="ctr" defTabSz="914400" rtl="0" eaLnBrk="1" fontAlgn="auto" latinLnBrk="0" hangingPunct="1">
                <a:lnSpc>
                  <a:spcPct val="150000"/>
                </a:lnSpc>
                <a:spcBef>
                  <a:spcPts val="0"/>
                </a:spcBef>
                <a:spcAft>
                  <a:spcPts val="0"/>
                </a:spcAft>
                <a:buClr>
                  <a:srgbClr val="000000"/>
                </a:buClr>
                <a:buSzPts val="1800"/>
                <a:buFont typeface="Times New Roman" panose="02020603050405020304"/>
                <a:buNone/>
                <a:tabLst/>
                <a:defRPr/>
              </a:pPr>
              <a:r>
                <a:rPr kumimoji="0" lang="en-US" sz="2000" b="1" i="0" u="none" strike="noStrike" kern="0" cap="none" spc="0" normalizeH="0" baseline="0" noProof="0">
                  <a:ln>
                    <a:noFill/>
                  </a:ln>
                  <a:solidFill>
                    <a:srgbClr val="000000"/>
                  </a:solidFill>
                  <a:effectLst/>
                  <a:uLnTx/>
                  <a:uFillTx/>
                  <a:latin typeface="+mn-lt"/>
                  <a:ea typeface="Times New Roman" panose="02020603050405020304"/>
                  <a:cs typeface="Times New Roman" panose="02020603050405020304"/>
                  <a:sym typeface="Times New Roman" panose="02020603050405020304"/>
                </a:rPr>
                <a:t>PHÂN KHÚC THỊ TRƯỜNG DỰA TRÊN TÌNH HUỐNG SỬ DỤNG</a:t>
              </a:r>
              <a:endParaRPr kumimoji="0" sz="2000" b="0" i="0" u="none" strike="noStrike" kern="0" cap="none" spc="0" normalizeH="0" baseline="0" noProof="0">
                <a:ln>
                  <a:noFill/>
                </a:ln>
                <a:solidFill>
                  <a:srgbClr val="000000"/>
                </a:solidFill>
                <a:effectLst/>
                <a:uLnTx/>
                <a:uFillTx/>
                <a:latin typeface="+mn-lt"/>
                <a:ea typeface="Arial" panose="020B0604020202020204"/>
                <a:cs typeface="Arial" panose="020B0604020202020204"/>
                <a:sym typeface="Arial" panose="020B0604020202020204"/>
              </a:endParaRPr>
            </a:p>
          </p:txBody>
        </p:sp>
        <p:sp>
          <p:nvSpPr>
            <p:cNvPr id="2573" name="Google Shape;2573;p350"/>
            <p:cNvSpPr/>
            <p:nvPr/>
          </p:nvSpPr>
          <p:spPr>
            <a:xfrm>
              <a:off x="312172" y="3696825"/>
              <a:ext cx="8655042" cy="652380"/>
            </a:xfrm>
            <a:prstGeom prst="leftRightArrow">
              <a:avLst>
                <a:gd name="adj1" fmla="val 50000"/>
                <a:gd name="adj2" fmla="val 50000"/>
              </a:avLst>
            </a:prstGeom>
            <a:solidFill>
              <a:srgbClr val="66006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sp>
        <p:nvSpPr>
          <p:cNvPr id="2576" name="Google Shape;2576;p350"/>
          <p:cNvSpPr txBox="1">
            <a:spLocks noGrp="1"/>
          </p:cNvSpPr>
          <p:nvPr>
            <p:ph type="title"/>
          </p:nvPr>
        </p:nvSpPr>
        <p:spPr>
          <a:xfrm>
            <a:off x="206829" y="72577"/>
            <a:ext cx="10515600" cy="8074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5</a:t>
            </a:r>
            <a:r>
              <a:rPr lang="en-US" sz="3200" b="1">
                <a:latin typeface="Arial" panose="020B0604020202020204"/>
                <a:ea typeface="Arial" panose="020B0604020202020204"/>
                <a:cs typeface="Arial" panose="020B0604020202020204"/>
                <a:sym typeface="Arial" panose="020B0604020202020204"/>
              </a:rPr>
              <a:t>.3.3. Đánh giá các lựa chọn</a:t>
            </a:r>
            <a:endParaRPr sz="3200"/>
          </a:p>
        </p:txBody>
      </p:sp>
      <p:sp>
        <p:nvSpPr>
          <p:cNvPr id="2577" name="Google Shape;2577;p350"/>
          <p:cNvSpPr/>
          <p:nvPr/>
        </p:nvSpPr>
        <p:spPr>
          <a:xfrm>
            <a:off x="1093509" y="930590"/>
            <a:ext cx="9770433" cy="461665"/>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660066"/>
              </a:buClr>
              <a:buSzPts val="2400"/>
              <a:buFont typeface="Arial" panose="020B0604020202020204"/>
              <a:buNone/>
              <a:tabLst/>
              <a:defRPr/>
            </a:pPr>
            <a:r>
              <a:rPr kumimoji="0" lang="en-US" sz="2400" b="1" i="0" u="none" strike="noStrike" kern="0" cap="none" spc="0" normalizeH="0" baseline="0" noProof="0">
                <a:ln>
                  <a:noFill/>
                </a:ln>
                <a:solidFill>
                  <a:srgbClr val="660066"/>
                </a:solidFill>
                <a:effectLst/>
                <a:uLnTx/>
                <a:uFillTx/>
                <a:latin typeface="Arial" panose="020B0604020202020204"/>
                <a:ea typeface="Arial" panose="020B0604020202020204"/>
                <a:cs typeface="Arial" panose="020B0604020202020204"/>
                <a:sym typeface="Arial" panose="020B0604020202020204"/>
              </a:rPr>
              <a:t>NHỮNG TÁC ĐỘNG TÌNH HUỐNG VÀ CHIẾN LƯỢC MARLETING</a:t>
            </a:r>
            <a:endParaRPr kumimoji="0" sz="2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Shape 2581"/>
        <p:cNvGrpSpPr/>
        <p:nvPr/>
      </p:nvGrpSpPr>
      <p:grpSpPr>
        <a:xfrm>
          <a:off x="0" y="0"/>
          <a:ext cx="0" cy="0"/>
          <a:chOff x="0" y="0"/>
          <a:chExt cx="0" cy="0"/>
        </a:xfrm>
      </p:grpSpPr>
      <p:sp>
        <p:nvSpPr>
          <p:cNvPr id="2582" name="Google Shape;2582;p351"/>
          <p:cNvSpPr txBox="1">
            <a:spLocks noGrp="1"/>
          </p:cNvSpPr>
          <p:nvPr>
            <p:ph type="title"/>
          </p:nvPr>
        </p:nvSpPr>
        <p:spPr>
          <a:xfrm>
            <a:off x="268629" y="175311"/>
            <a:ext cx="10515600" cy="699744"/>
          </a:xfrm>
          <a:prstGeom prst="rect">
            <a:avLst/>
          </a:prstGeom>
          <a:noFill/>
          <a:ln>
            <a:noFill/>
          </a:ln>
        </p:spPr>
        <p:txBody>
          <a:bodyPr spcFirstLastPara="1" wrap="square" lIns="91425" tIns="45700" rIns="91425" bIns="45700" anchor="ctr" anchorCtr="0">
            <a:normAutofit/>
          </a:bodyPr>
          <a:lstStyle/>
          <a:p>
            <a:pPr marL="0" lvl="2" indent="0" algn="l" rtl="0">
              <a:lnSpc>
                <a:spcPct val="100000"/>
              </a:lnSpc>
              <a:spcBef>
                <a:spcPts val="0"/>
              </a:spcBef>
              <a:spcAft>
                <a:spcPts val="0"/>
              </a:spcAft>
              <a:buSzPts val="1400"/>
              <a:buNone/>
            </a:pPr>
            <a:r>
              <a:rPr lang="en-US" sz="3200" b="1"/>
              <a:t>5</a:t>
            </a:r>
            <a:r>
              <a:rPr lang="en-US" sz="3200" b="1">
                <a:latin typeface="Arial" panose="020B0604020202020204"/>
                <a:ea typeface="Arial" panose="020B0604020202020204"/>
                <a:cs typeface="Arial" panose="020B0604020202020204"/>
                <a:sym typeface="Arial" panose="020B0604020202020204"/>
              </a:rPr>
              <a:t>.3.4. Quyết định mua</a:t>
            </a:r>
            <a:endParaRPr sz="3200" b="1">
              <a:latin typeface="Arial" panose="020B0604020202020204"/>
              <a:ea typeface="Arial" panose="020B0604020202020204"/>
              <a:cs typeface="Arial" panose="020B0604020202020204"/>
              <a:sym typeface="Arial" panose="020B0604020202020204"/>
            </a:endParaRPr>
          </a:p>
        </p:txBody>
      </p:sp>
      <p:sp>
        <p:nvSpPr>
          <p:cNvPr id="2583" name="Google Shape;2583;p351"/>
          <p:cNvSpPr txBox="1">
            <a:spLocks noGrp="1"/>
          </p:cNvSpPr>
          <p:nvPr>
            <p:ph type="body" idx="1"/>
          </p:nvPr>
        </p:nvSpPr>
        <p:spPr>
          <a:xfrm>
            <a:off x="0" y="875055"/>
            <a:ext cx="10784229" cy="5668242"/>
          </a:xfrm>
          <a:prstGeom prst="rect">
            <a:avLst/>
          </a:prstGeom>
          <a:noFill/>
          <a:ln>
            <a:noFill/>
          </a:ln>
        </p:spPr>
        <p:txBody>
          <a:bodyPr spcFirstLastPara="1" wrap="square" lIns="91425" tIns="45700" rIns="91425" bIns="45700" anchor="t" anchorCtr="0">
            <a:normAutofit/>
          </a:bodyPr>
          <a:lstStyle/>
          <a:p>
            <a:pPr marL="457200" lvl="0" indent="-457200" algn="just" rtl="0">
              <a:lnSpc>
                <a:spcPct val="90000"/>
              </a:lnSpc>
              <a:spcBef>
                <a:spcPts val="0"/>
              </a:spcBef>
              <a:spcAft>
                <a:spcPts val="0"/>
              </a:spcAft>
              <a:buClr>
                <a:schemeClr val="dk1"/>
              </a:buClr>
              <a:buSzPts val="2800"/>
              <a:buFont typeface="Arial" panose="020B0604020202020204"/>
              <a:buChar char="•"/>
            </a:pPr>
            <a:r>
              <a:rPr lang="en-US">
                <a:latin typeface="Arial" panose="020B0604020202020204"/>
                <a:ea typeface="Arial" panose="020B0604020202020204"/>
                <a:cs typeface="Arial" panose="020B0604020202020204"/>
                <a:sym typeface="Arial" panose="020B0604020202020204"/>
              </a:rPr>
              <a:t>Sau </a:t>
            </a:r>
            <a:r>
              <a:rPr lang="en-US" err="1">
                <a:latin typeface="Arial" panose="020B0604020202020204"/>
                <a:ea typeface="Arial" panose="020B0604020202020204"/>
                <a:cs typeface="Arial" panose="020B0604020202020204"/>
                <a:sym typeface="Arial" panose="020B0604020202020204"/>
              </a:rPr>
              <a:t>khi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đánh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giá</a:t>
            </a:r>
            <a:r>
              <a:rPr lang="en-US">
                <a:latin typeface="Arial" panose="020B0604020202020204"/>
                <a:ea typeface="Arial" panose="020B0604020202020204"/>
                <a:cs typeface="Arial" panose="020B0604020202020204"/>
                <a:sym typeface="Arial" panose="020B0604020202020204"/>
              </a:rPr>
              <a:t>, KH </a:t>
            </a:r>
            <a:r>
              <a:rPr lang="en-US" err="1">
                <a:latin typeface="Arial" panose="020B0604020202020204"/>
                <a:ea typeface="Arial" panose="020B0604020202020204"/>
                <a:cs typeface="Arial" panose="020B0604020202020204"/>
                <a:sym typeface="Arial" panose="020B0604020202020204"/>
              </a:rPr>
              <a:t>hình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thành</a:t>
            </a:r>
            <a:r>
              <a:rPr lang="en-US">
                <a:latin typeface="Arial" panose="020B0604020202020204"/>
                <a:ea typeface="Arial" panose="020B0604020202020204"/>
                <a:cs typeface="Arial" panose="020B0604020202020204"/>
                <a:sym typeface="Arial" panose="020B0604020202020204"/>
              </a:rPr>
              <a:t> ý </a:t>
            </a:r>
            <a:r>
              <a:rPr lang="en-US" err="1">
                <a:latin typeface="Arial" panose="020B0604020202020204"/>
                <a:ea typeface="Arial" panose="020B0604020202020204"/>
                <a:cs typeface="Arial" panose="020B0604020202020204"/>
                <a:sym typeface="Arial" panose="020B0604020202020204"/>
              </a:rPr>
              <a:t>định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mua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quyết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định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mua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hiệu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đã</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lựa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chọn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Nhưng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giữa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quá</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trình</a:t>
            </a:r>
            <a:r>
              <a:rPr lang="en-US">
                <a:latin typeface="Arial" panose="020B0604020202020204"/>
                <a:ea typeface="Arial" panose="020B0604020202020204"/>
                <a:cs typeface="Arial" panose="020B0604020202020204"/>
                <a:sym typeface="Arial" panose="020B0604020202020204"/>
              </a:rPr>
              <a:t> ý </a:t>
            </a:r>
            <a:r>
              <a:rPr lang="en-US" err="1">
                <a:latin typeface="Arial" panose="020B0604020202020204"/>
                <a:ea typeface="Arial" panose="020B0604020202020204"/>
                <a:cs typeface="Arial" panose="020B0604020202020204"/>
                <a:sym typeface="Arial" panose="020B0604020202020204"/>
              </a:rPr>
              <a:t>định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mua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quyết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định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mua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xảy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ra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những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vấn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đề</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sau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làm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thay</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đổi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quyết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định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của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người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mua</a:t>
            </a:r>
            <a:r>
              <a:rPr lang="en-US">
                <a:latin typeface="Arial" panose="020B0604020202020204"/>
                <a:ea typeface="Arial" panose="020B0604020202020204"/>
                <a:cs typeface="Arial" panose="020B0604020202020204"/>
                <a:sym typeface="Arial" panose="020B0604020202020204"/>
              </a:rPr>
              <a:t>.</a:t>
            </a:r>
            <a:endParaRPr>
              <a:latin typeface="Arial" panose="020B0604020202020204"/>
              <a:ea typeface="Arial" panose="020B0604020202020204"/>
              <a:cs typeface="Arial" panose="020B0604020202020204"/>
              <a:sym typeface="Arial" panose="020B0604020202020204"/>
            </a:endParaRPr>
          </a:p>
        </p:txBody>
      </p:sp>
      <p:grpSp>
        <p:nvGrpSpPr>
          <p:cNvPr id="2584" name="Google Shape;2584;p351"/>
          <p:cNvGrpSpPr/>
          <p:nvPr/>
        </p:nvGrpSpPr>
        <p:grpSpPr>
          <a:xfrm>
            <a:off x="1579880" y="2621538"/>
            <a:ext cx="7924800" cy="3730102"/>
            <a:chOff x="0" y="193041"/>
            <a:chExt cx="7924800" cy="3730102"/>
          </a:xfrm>
        </p:grpSpPr>
        <p:sp>
          <p:nvSpPr>
            <p:cNvPr id="2585" name="Google Shape;2585;p351"/>
            <p:cNvSpPr/>
            <p:nvPr/>
          </p:nvSpPr>
          <p:spPr>
            <a:xfrm>
              <a:off x="0" y="193041"/>
              <a:ext cx="7924800" cy="1234440"/>
            </a:xfrm>
            <a:prstGeom prst="rect">
              <a:avLst/>
            </a:prstGeom>
            <a:solidFill>
              <a:srgbClr val="E5317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586" name="Google Shape;2586;p351"/>
            <p:cNvSpPr txBox="1"/>
            <p:nvPr/>
          </p:nvSpPr>
          <p:spPr>
            <a:xfrm>
              <a:off x="0" y="193041"/>
              <a:ext cx="7924800" cy="123444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3200"/>
                <a:buFont typeface="Times New Roman" panose="02020603050405020304"/>
                <a:buNone/>
                <a:tabLst/>
                <a:defRPr/>
              </a:pPr>
              <a:r>
                <a:rPr kumimoji="0" lang="en-US" sz="3200" b="1" i="0" u="none" strike="noStrike" kern="0" cap="none" spc="0" normalizeH="0" baseline="0" noProof="0">
                  <a:ln>
                    <a:noFill/>
                  </a:ln>
                  <a:solidFill>
                    <a:srgbClr val="000000"/>
                  </a:solidFill>
                  <a:effectLst/>
                  <a:uLnTx/>
                  <a:uFillTx/>
                  <a:latin typeface="+mj-lt"/>
                  <a:ea typeface="Times New Roman" panose="02020603050405020304"/>
                  <a:cs typeface="Times New Roman" panose="02020603050405020304"/>
                  <a:sym typeface="Times New Roman" panose="02020603050405020304"/>
                </a:rPr>
                <a:t>NHỮNG VẤN ĐỀ LÀM THAY ĐỔI QUYẾT ĐỊNH CỦA NGƯỜI MUA</a:t>
              </a:r>
              <a:endParaRPr kumimoji="0" sz="3200" b="0" i="0" u="none" strike="noStrike" kern="0" cap="none" spc="0" normalizeH="0" baseline="0" noProof="0">
                <a:ln>
                  <a:noFill/>
                </a:ln>
                <a:solidFill>
                  <a:srgbClr val="000000"/>
                </a:solidFill>
                <a:effectLst/>
                <a:uLnTx/>
                <a:uFillTx/>
                <a:latin typeface="+mj-lt"/>
                <a:ea typeface="Libre Baskerville" panose="02000000000000000000"/>
                <a:cs typeface="Libre Baskerville" panose="02000000000000000000"/>
                <a:sym typeface="Libre Baskerville" panose="02000000000000000000"/>
              </a:endParaRPr>
            </a:p>
          </p:txBody>
        </p:sp>
        <p:sp>
          <p:nvSpPr>
            <p:cNvPr id="2587" name="Google Shape;2587;p351"/>
            <p:cNvSpPr/>
            <p:nvPr/>
          </p:nvSpPr>
          <p:spPr>
            <a:xfrm>
              <a:off x="3" y="1219197"/>
              <a:ext cx="2689324" cy="2592324"/>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588" name="Google Shape;2588;p351"/>
            <p:cNvSpPr txBox="1"/>
            <p:nvPr/>
          </p:nvSpPr>
          <p:spPr>
            <a:xfrm>
              <a:off x="3" y="1219197"/>
              <a:ext cx="2689324" cy="2592324"/>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3200"/>
                <a:buFont typeface="Times New Roman" panose="02020603050405020304"/>
                <a:buNone/>
                <a:tabLst/>
                <a:defRPr/>
              </a:pPr>
              <a:r>
                <a:rPr kumimoji="0" lang="en-US" sz="3200" b="1" i="0" u="none" strike="noStrike" kern="0" cap="none" spc="0" normalizeH="0" baseline="0" noProof="0">
                  <a:ln>
                    <a:noFill/>
                  </a:ln>
                  <a:solidFill>
                    <a:srgbClr val="000000"/>
                  </a:solidFill>
                  <a:effectLst/>
                  <a:uLnTx/>
                  <a:uFillTx/>
                  <a:latin typeface="+mj-lt"/>
                  <a:ea typeface="Times New Roman" panose="02020603050405020304"/>
                  <a:cs typeface="Times New Roman" panose="02020603050405020304"/>
                  <a:sym typeface="Times New Roman" panose="02020603050405020304"/>
                </a:rPr>
                <a:t>QUAN ĐIỂM CỦA NGƯỜI KHÁC</a:t>
              </a:r>
              <a:endParaRPr kumimoji="0" sz="3200" b="1" i="0" u="none" strike="noStrike" kern="0" cap="none" spc="0" normalizeH="0" baseline="0" noProof="0">
                <a:ln>
                  <a:noFill/>
                </a:ln>
                <a:solidFill>
                  <a:srgbClr val="000000"/>
                </a:solidFill>
                <a:effectLst/>
                <a:uLnTx/>
                <a:uFillTx/>
                <a:latin typeface="+mj-lt"/>
                <a:ea typeface="Times New Roman" panose="02020603050405020304"/>
                <a:cs typeface="Times New Roman" panose="02020603050405020304"/>
                <a:sym typeface="Times New Roman" panose="02020603050405020304"/>
              </a:endParaRPr>
            </a:p>
          </p:txBody>
        </p:sp>
        <p:sp>
          <p:nvSpPr>
            <p:cNvPr id="2590" name="Google Shape;2590;p351"/>
            <p:cNvSpPr txBox="1"/>
            <p:nvPr/>
          </p:nvSpPr>
          <p:spPr>
            <a:xfrm>
              <a:off x="2729281" y="1486229"/>
              <a:ext cx="2542594" cy="2436914"/>
            </a:xfrm>
            <a:prstGeom prst="rect">
              <a:avLst/>
            </a:prstGeom>
            <a:noFill/>
            <a:ln>
              <a:noFill/>
            </a:ln>
          </p:spPr>
          <p:txBody>
            <a:bodyPr spcFirstLastPara="1" wrap="square" lIns="137150" tIns="137150" rIns="137150" bIns="13715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3600"/>
                <a:buFont typeface="Times New Roman" panose="02020603050405020304"/>
                <a:buNone/>
                <a:tabLst/>
                <a:defRPr/>
              </a:pPr>
              <a:r>
                <a:rPr kumimoji="0" lang="en-US" sz="3600" b="1" i="0" u="none" strike="noStrike" kern="0" cap="none" spc="0" normalizeH="0" baseline="0" noProof="0">
                  <a:ln>
                    <a:noFill/>
                  </a:ln>
                  <a:solidFill>
                    <a:srgbClr val="0000FF"/>
                  </a:solidFill>
                  <a:effectLst/>
                  <a:uLnTx/>
                  <a:uFillTx/>
                  <a:latin typeface="+mj-lt"/>
                  <a:ea typeface="Times New Roman" panose="02020603050405020304"/>
                  <a:cs typeface="Times New Roman" panose="02020603050405020304"/>
                  <a:sym typeface="Times New Roman" panose="02020603050405020304"/>
                </a:rPr>
                <a:t>HOÀN CẢNH </a:t>
              </a:r>
              <a:endParaRPr kumimoji="0" sz="1400" b="0" i="0" u="none" strike="noStrike" kern="0" cap="none" spc="0" normalizeH="0" baseline="0" noProof="0">
                <a:ln>
                  <a:noFill/>
                </a:ln>
                <a:solidFill>
                  <a:srgbClr val="0000FF"/>
                </a:solidFill>
                <a:effectLst/>
                <a:uLnTx/>
                <a:uFillTx/>
                <a:latin typeface="+mj-lt"/>
                <a:ea typeface="Arial" panose="020B0604020202020204"/>
                <a:cs typeface="Arial" panose="020B0604020202020204"/>
                <a:sym typeface="Arial" panose="020B0604020202020204"/>
              </a:endParaRPr>
            </a:p>
          </p:txBody>
        </p:sp>
        <p:sp>
          <p:nvSpPr>
            <p:cNvPr id="2591" name="Google Shape;2591;p351"/>
            <p:cNvSpPr/>
            <p:nvPr/>
          </p:nvSpPr>
          <p:spPr>
            <a:xfrm>
              <a:off x="5235472" y="1219197"/>
              <a:ext cx="2689324" cy="2592324"/>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592" name="Google Shape;2592;p351"/>
            <p:cNvSpPr txBox="1"/>
            <p:nvPr/>
          </p:nvSpPr>
          <p:spPr>
            <a:xfrm>
              <a:off x="5235472" y="1219197"/>
              <a:ext cx="2689324" cy="2592324"/>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3200"/>
                <a:buFont typeface="Times New Roman" panose="02020603050405020304"/>
                <a:buNone/>
                <a:tabLst/>
                <a:defRPr/>
              </a:pPr>
              <a:r>
                <a:rPr kumimoji="0" lang="en-US" sz="3200" b="1" i="0" u="none" strike="noStrike" kern="0" cap="none" spc="0" normalizeH="0" baseline="0" noProof="0">
                  <a:ln>
                    <a:noFill/>
                  </a:ln>
                  <a:solidFill>
                    <a:srgbClr val="000000"/>
                  </a:solidFill>
                  <a:effectLst/>
                  <a:uLnTx/>
                  <a:uFillTx/>
                  <a:latin typeface="+mj-lt"/>
                  <a:ea typeface="Times New Roman" panose="02020603050405020304"/>
                  <a:cs typeface="Times New Roman" panose="02020603050405020304"/>
                  <a:sym typeface="Times New Roman" panose="02020603050405020304"/>
                </a:rPr>
                <a:t>KẾT QUẢ CỦA HOẠT ĐỘNG MAR</a:t>
              </a:r>
              <a:endParaRPr kumimoji="0" sz="1400" b="0" i="0" u="none" strike="noStrike" kern="0" cap="none" spc="0" normalizeH="0" baseline="0" noProof="0">
                <a:ln>
                  <a:noFill/>
                </a:ln>
                <a:solidFill>
                  <a:srgbClr val="000000"/>
                </a:solidFill>
                <a:effectLst/>
                <a:uLnTx/>
                <a:uFillTx/>
                <a:latin typeface="+mj-lt"/>
                <a:ea typeface="Arial" panose="020B0604020202020204"/>
                <a:cs typeface="Arial" panose="020B0604020202020204"/>
                <a:sym typeface="Arial" panose="020B0604020202020204"/>
              </a:endParaRPr>
            </a:p>
          </p:txBody>
        </p:sp>
        <p:sp>
          <p:nvSpPr>
            <p:cNvPr id="2593" name="Google Shape;2593;p351"/>
            <p:cNvSpPr/>
            <p:nvPr/>
          </p:nvSpPr>
          <p:spPr>
            <a:xfrm>
              <a:off x="0" y="3609472"/>
              <a:ext cx="7924800" cy="288036"/>
            </a:xfrm>
            <a:prstGeom prst="rect">
              <a:avLst/>
            </a:prstGeom>
            <a:solidFill>
              <a:srgbClr val="E5317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Shape 2599"/>
        <p:cNvGrpSpPr/>
        <p:nvPr/>
      </p:nvGrpSpPr>
      <p:grpSpPr>
        <a:xfrm>
          <a:off x="0" y="0"/>
          <a:ext cx="0" cy="0"/>
          <a:chOff x="0" y="0"/>
          <a:chExt cx="0" cy="0"/>
        </a:xfrm>
      </p:grpSpPr>
      <p:sp>
        <p:nvSpPr>
          <p:cNvPr id="2600" name="Google Shape;2600;p352"/>
          <p:cNvSpPr txBox="1">
            <a:spLocks noGrp="1"/>
          </p:cNvSpPr>
          <p:nvPr>
            <p:ph type="title"/>
          </p:nvPr>
        </p:nvSpPr>
        <p:spPr>
          <a:xfrm>
            <a:off x="645160" y="283209"/>
            <a:ext cx="10515600" cy="7524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5</a:t>
            </a:r>
            <a:r>
              <a:rPr lang="en-US" sz="3200" b="1">
                <a:latin typeface="Arial" panose="020B0604020202020204"/>
                <a:ea typeface="Arial" panose="020B0604020202020204"/>
                <a:cs typeface="Arial" panose="020B0604020202020204"/>
                <a:sym typeface="Arial" panose="020B0604020202020204"/>
              </a:rPr>
              <a:t>.3.4 Hành vi sau mua</a:t>
            </a:r>
          </a:p>
        </p:txBody>
      </p:sp>
      <p:grpSp>
        <p:nvGrpSpPr>
          <p:cNvPr id="2601" name="Google Shape;2601;p352"/>
          <p:cNvGrpSpPr/>
          <p:nvPr/>
        </p:nvGrpSpPr>
        <p:grpSpPr>
          <a:xfrm>
            <a:off x="4075411" y="508000"/>
            <a:ext cx="6681489" cy="5563283"/>
            <a:chOff x="1776711" y="0"/>
            <a:chExt cx="5309795" cy="4578445"/>
          </a:xfrm>
        </p:grpSpPr>
        <p:sp>
          <p:nvSpPr>
            <p:cNvPr id="2602" name="Google Shape;2602;p352"/>
            <p:cNvSpPr/>
            <p:nvPr/>
          </p:nvSpPr>
          <p:spPr>
            <a:xfrm>
              <a:off x="3008696" y="0"/>
              <a:ext cx="2663833" cy="2303099"/>
            </a:xfrm>
            <a:prstGeom prst="triangle">
              <a:avLst>
                <a:gd name="adj" fmla="val 50000"/>
              </a:avLst>
            </a:prstGeom>
            <a:solidFill>
              <a:srgbClr val="D5DBE5"/>
            </a:solidFill>
            <a:ln>
              <a:noFill/>
            </a:ln>
            <a:effectLst>
              <a:outerShdw blurRad="39000" dist="25400" dir="5400000" rotWithShape="0">
                <a:srgbClr val="000000">
                  <a:alpha val="37647"/>
                </a:srgbClr>
              </a:outerShdw>
            </a:effectLst>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603" name="Google Shape;2603;p352"/>
            <p:cNvSpPr txBox="1"/>
            <p:nvPr/>
          </p:nvSpPr>
          <p:spPr>
            <a:xfrm>
              <a:off x="3674654" y="1151550"/>
              <a:ext cx="1331917" cy="1151549"/>
            </a:xfrm>
            <a:prstGeom prst="rect">
              <a:avLst/>
            </a:prstGeom>
            <a:noFill/>
            <a:ln>
              <a:noFill/>
            </a:ln>
          </p:spPr>
          <p:txBody>
            <a:bodyPr spcFirstLastPara="1" wrap="square" lIns="68575" tIns="68575" rIns="68575" bIns="6857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800"/>
                <a:buFont typeface="Arial" panose="020B0604020202020204"/>
                <a:buNone/>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Tăng sự mong muốn với SP được chọn</a:t>
              </a:r>
              <a:endParaRPr kumimoji="0"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604" name="Google Shape;2604;p352"/>
            <p:cNvSpPr/>
            <p:nvPr/>
          </p:nvSpPr>
          <p:spPr>
            <a:xfrm>
              <a:off x="1776711" y="2261482"/>
              <a:ext cx="2525071" cy="2303099"/>
            </a:xfrm>
            <a:prstGeom prst="triangle">
              <a:avLst>
                <a:gd name="adj" fmla="val 50000"/>
              </a:avLst>
            </a:prstGeom>
            <a:solidFill>
              <a:srgbClr val="FFF2CC"/>
            </a:solidFill>
            <a:ln>
              <a:noFill/>
            </a:ln>
            <a:effectLst>
              <a:outerShdw blurRad="39000" dist="25400" dir="5400000" rotWithShape="0">
                <a:srgbClr val="000000">
                  <a:alpha val="37647"/>
                </a:srgbClr>
              </a:outerShdw>
            </a:effectLst>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605" name="Google Shape;2605;p352"/>
            <p:cNvSpPr txBox="1"/>
            <p:nvPr/>
          </p:nvSpPr>
          <p:spPr>
            <a:xfrm>
              <a:off x="2407979" y="3413032"/>
              <a:ext cx="1262535" cy="1151549"/>
            </a:xfrm>
            <a:prstGeom prst="rect">
              <a:avLst/>
            </a:prstGeom>
            <a:noFill/>
            <a:ln>
              <a:noFill/>
            </a:ln>
          </p:spPr>
          <p:txBody>
            <a:bodyPr spcFirstLastPara="1" wrap="square" lIns="68575" tIns="68575" rIns="68575" bIns="6857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1800"/>
                <a:buFont typeface="Arial" panose="020B0604020202020204"/>
                <a:buNone/>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Giảm sự mong muốn với SP không được chọn</a:t>
              </a:r>
              <a:endParaRPr kumimoji="0"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606" name="Google Shape;2606;p352"/>
            <p:cNvSpPr/>
            <p:nvPr/>
          </p:nvSpPr>
          <p:spPr>
            <a:xfrm rot="10800000">
              <a:off x="3025359" y="2330851"/>
              <a:ext cx="2563901" cy="2192089"/>
            </a:xfrm>
            <a:prstGeom prst="triangle">
              <a:avLst>
                <a:gd name="adj" fmla="val 50000"/>
              </a:avLst>
            </a:prstGeom>
            <a:solidFill>
              <a:srgbClr val="D8E2F3"/>
            </a:solidFill>
            <a:ln>
              <a:noFill/>
            </a:ln>
            <a:effectLst>
              <a:outerShdw blurRad="39000" dist="25400" dir="5400000" rotWithShape="0">
                <a:srgbClr val="000000">
                  <a:alpha val="37647"/>
                </a:srgbClr>
              </a:outerShdw>
            </a:effectLst>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607" name="Google Shape;2607;p352"/>
            <p:cNvSpPr txBox="1"/>
            <p:nvPr/>
          </p:nvSpPr>
          <p:spPr>
            <a:xfrm>
              <a:off x="3666334" y="2330851"/>
              <a:ext cx="1281951" cy="1096044"/>
            </a:xfrm>
            <a:prstGeom prst="rect">
              <a:avLst/>
            </a:prstGeom>
            <a:noFill/>
            <a:ln>
              <a:noFill/>
            </a:ln>
          </p:spPr>
          <p:txBody>
            <a:bodyPr spcFirstLastPara="1" wrap="square" lIns="99050" tIns="99050" rIns="99050" bIns="99050" anchor="ctr" anchorCtr="0">
              <a:noAutofit/>
            </a:bodyPr>
            <a:lstStyle/>
            <a:p>
              <a:pPr marL="0" marR="0" lvl="0" indent="0" algn="ctr" defTabSz="914400" rtl="0" eaLnBrk="1" fontAlgn="auto" latinLnBrk="0" hangingPunct="1">
                <a:lnSpc>
                  <a:spcPct val="90000"/>
                </a:lnSpc>
                <a:spcBef>
                  <a:spcPts val="0"/>
                </a:spcBef>
                <a:spcAft>
                  <a:spcPts val="0"/>
                </a:spcAft>
                <a:buClr>
                  <a:srgbClr val="FF0000"/>
                </a:buClr>
                <a:buSzPts val="2600"/>
                <a:buFont typeface="Times New Roman" panose="02020603050405020304"/>
                <a:buNone/>
                <a:tabLst/>
                <a:defRPr/>
              </a:pPr>
              <a:r>
                <a:rPr kumimoji="0" lang="en-US" sz="2600" b="1" i="0" u="none" strike="noStrike" kern="0" cap="none" spc="0" normalizeH="0" baseline="0" noProof="0">
                  <a:ln>
                    <a:noFill/>
                  </a:ln>
                  <a:solidFill>
                    <a:srgbClr val="FF0000"/>
                  </a:solidFill>
                  <a:effectLst/>
                  <a:uLnTx/>
                  <a:uFillTx/>
                  <a:latin typeface="Times New Roman" panose="02020603050405020304"/>
                  <a:ea typeface="Times New Roman" panose="02020603050405020304"/>
                  <a:cs typeface="Times New Roman" panose="02020603050405020304"/>
                  <a:sym typeface="Times New Roman" panose="02020603050405020304"/>
                </a:rPr>
                <a:t>THỎA MÃN</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608" name="Google Shape;2608;p352"/>
            <p:cNvSpPr/>
            <p:nvPr/>
          </p:nvSpPr>
          <p:spPr>
            <a:xfrm>
              <a:off x="4283957" y="2275346"/>
              <a:ext cx="2802549" cy="2303099"/>
            </a:xfrm>
            <a:prstGeom prst="triangle">
              <a:avLst>
                <a:gd name="adj" fmla="val 50000"/>
              </a:avLst>
            </a:prstGeom>
            <a:solidFill>
              <a:srgbClr val="E1EFD8"/>
            </a:solidFill>
            <a:ln>
              <a:noFill/>
            </a:ln>
            <a:effectLst>
              <a:outerShdw blurRad="39000" dist="25400" dir="5400000" rotWithShape="0">
                <a:srgbClr val="000000">
                  <a:alpha val="37647"/>
                </a:srgbClr>
              </a:outerShdw>
            </a:effectLst>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609" name="Google Shape;2609;p352"/>
            <p:cNvSpPr txBox="1"/>
            <p:nvPr/>
          </p:nvSpPr>
          <p:spPr>
            <a:xfrm>
              <a:off x="4984594" y="3426896"/>
              <a:ext cx="1401275" cy="1151549"/>
            </a:xfrm>
            <a:prstGeom prst="rect">
              <a:avLst/>
            </a:prstGeom>
            <a:noFill/>
            <a:ln>
              <a:noFill/>
            </a:ln>
          </p:spPr>
          <p:txBody>
            <a:bodyPr spcFirstLastPara="1" wrap="square" lIns="76200" tIns="76200" rIns="76200" bIns="7620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2000"/>
                <a:buFont typeface="Arial" panose="020B0604020202020204"/>
                <a:buNone/>
                <a:tabLst/>
                <a:defRPr/>
              </a:pPr>
              <a:r>
                <a:rPr kumimoji="0" lang="en-US"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Giảm tầm quan trọng của quyết định mua</a:t>
              </a:r>
              <a:endParaRPr kumimoji="0" sz="20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grpSp>
      <p:sp>
        <p:nvSpPr>
          <p:cNvPr id="2610" name="Google Shape;2610;p352"/>
          <p:cNvSpPr txBox="1"/>
          <p:nvPr/>
        </p:nvSpPr>
        <p:spPr>
          <a:xfrm>
            <a:off x="533400" y="2743200"/>
            <a:ext cx="1600200" cy="523875"/>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800"/>
              <a:buFont typeface="Noto Sans Symbols"/>
              <a:buNone/>
              <a:tabLst/>
              <a:defRPr/>
            </a:pPr>
            <a:endParaRPr kumimoji="0" sz="2800" b="0" i="0" u="none" strike="noStrike" kern="0" cap="none" spc="0" normalizeH="0" baseline="0" noProof="0">
              <a:ln>
                <a:noFill/>
              </a:ln>
              <a:solidFill>
                <a:srgbClr val="FF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611" name="Google Shape;2611;p352"/>
          <p:cNvSpPr/>
          <p:nvPr/>
        </p:nvSpPr>
        <p:spPr>
          <a:xfrm>
            <a:off x="1749062" y="1927860"/>
            <a:ext cx="2209800" cy="3733800"/>
          </a:xfrm>
          <a:prstGeom prst="cloud">
            <a:avLst/>
          </a:prstGeom>
          <a:solidFill>
            <a:srgbClr val="CCFF99">
              <a:alpha val="96862"/>
            </a:srgbClr>
          </a:solidFill>
          <a:ln w="48000" cap="flat" cmpd="thickThin">
            <a:solidFill>
              <a:srgbClr val="D419F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2000"/>
              <a:buFont typeface="Times New Roman" panose="02020603050405020304"/>
              <a:buNone/>
              <a:tabLst/>
              <a:defRPr/>
            </a:pPr>
            <a:r>
              <a:rPr kumimoji="0" lang="en-US" sz="2000" b="1" i="0" u="none" strike="noStrike" kern="0" cap="none" spc="0" normalizeH="0" baseline="0" noProof="0">
                <a:ln>
                  <a:noFill/>
                </a:ln>
                <a:solidFill>
                  <a:srgbClr val="000000"/>
                </a:solidFill>
                <a:effectLst/>
                <a:uLnTx/>
                <a:uFillTx/>
                <a:latin typeface="+mj-lt"/>
                <a:ea typeface="Times New Roman" panose="02020603050405020304"/>
                <a:cs typeface="Times New Roman" panose="02020603050405020304"/>
                <a:sym typeface="Times New Roman" panose="02020603050405020304"/>
              </a:rPr>
              <a:t>TÂM LÝ KHÁCH HÀNG SAU KHI MUA</a:t>
            </a:r>
            <a:endParaRPr kumimoji="0" sz="1400" b="0" i="0" u="none" strike="noStrike" kern="0" cap="none" spc="0" normalizeH="0" baseline="0" noProof="0">
              <a:ln>
                <a:noFill/>
              </a:ln>
              <a:solidFill>
                <a:srgbClr val="000000"/>
              </a:solidFill>
              <a:effectLst/>
              <a:uLnTx/>
              <a:uFillTx/>
              <a:latin typeface="+mj-lt"/>
              <a:sym typeface="Arial" panose="020B0604020202020204"/>
            </a:endParaRPr>
          </a:p>
          <a:p>
            <a:pPr marL="0" marR="0" lvl="0" indent="0" algn="ctr" defTabSz="914400" rtl="0" eaLnBrk="1" fontAlgn="auto" latinLnBrk="0" hangingPunct="1">
              <a:lnSpc>
                <a:spcPct val="100000"/>
              </a:lnSpc>
              <a:spcBef>
                <a:spcPts val="0"/>
              </a:spcBef>
              <a:spcAft>
                <a:spcPts val="0"/>
              </a:spcAft>
              <a:buClr>
                <a:srgbClr val="000000"/>
              </a:buClr>
              <a:buSzPts val="1800"/>
              <a:buFont typeface="Calibri" panose="020F0502020204030204"/>
              <a:buNone/>
              <a:tabLst/>
              <a:defRPr/>
            </a:pPr>
            <a:endParaRPr kumimoji="0" sz="1800" b="0" i="0" u="none" strike="noStrike" kern="0" cap="none" spc="0" normalizeH="0" baseline="0" noProof="0">
              <a:ln>
                <a:noFill/>
              </a:ln>
              <a:solidFill>
                <a:srgbClr val="FFFFFF"/>
              </a:solidFill>
              <a:effectLst/>
              <a:uLnTx/>
              <a:uFillTx/>
              <a:latin typeface="Libre Baskerville" panose="02000000000000000000"/>
              <a:ea typeface="Libre Baskerville" panose="02000000000000000000"/>
              <a:cs typeface="Libre Baskerville" panose="02000000000000000000"/>
              <a:sym typeface="Libre Baskerville" panose="0200000000000000000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11"/>
                                        </p:tgtEl>
                                        <p:attrNameLst>
                                          <p:attrName>style.visibility</p:attrName>
                                        </p:attrNameLst>
                                      </p:cBhvr>
                                      <p:to>
                                        <p:strVal val="visible"/>
                                      </p:to>
                                    </p:set>
                                    <p:animEffect transition="in" filter="fade">
                                      <p:cBhvr>
                                        <p:cTn id="7" dur="500"/>
                                        <p:tgtEl>
                                          <p:spTgt spid="2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Shape 2615"/>
        <p:cNvGrpSpPr/>
        <p:nvPr/>
      </p:nvGrpSpPr>
      <p:grpSpPr>
        <a:xfrm>
          <a:off x="0" y="0"/>
          <a:ext cx="0" cy="0"/>
          <a:chOff x="0" y="0"/>
          <a:chExt cx="0" cy="0"/>
        </a:xfrm>
      </p:grpSpPr>
      <p:sp>
        <p:nvSpPr>
          <p:cNvPr id="2616" name="Google Shape;2616;p353"/>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panose="020B0604020202020204"/>
              <a:buNone/>
            </a:pPr>
            <a:r>
              <a:rPr lang="en-US" sz="3200" b="1"/>
              <a:t>5</a:t>
            </a:r>
            <a:r>
              <a:rPr lang="en-US" sz="3200" b="1">
                <a:latin typeface="Arial" panose="020B0604020202020204"/>
                <a:ea typeface="Arial" panose="020B0604020202020204"/>
                <a:cs typeface="Arial" panose="020B0604020202020204"/>
                <a:sym typeface="Arial" panose="020B0604020202020204"/>
              </a:rPr>
              <a:t>.3.4 Hành vi sau mua</a:t>
            </a:r>
          </a:p>
        </p:txBody>
      </p:sp>
      <p:sp>
        <p:nvSpPr>
          <p:cNvPr id="2617" name="Google Shape;2617;p353"/>
          <p:cNvSpPr/>
          <p:nvPr/>
        </p:nvSpPr>
        <p:spPr>
          <a:xfrm>
            <a:off x="424815" y="1676400"/>
            <a:ext cx="2286000" cy="3505200"/>
          </a:xfrm>
          <a:prstGeom prst="cloud">
            <a:avLst/>
          </a:prstGeom>
          <a:solidFill>
            <a:srgbClr val="CCFF99">
              <a:alpha val="96862"/>
            </a:srgbClr>
          </a:solidFill>
          <a:ln w="12700" cap="flat" cmpd="sng">
            <a:solidFill>
              <a:srgbClr val="FFD966"/>
            </a:solidFill>
            <a:prstDash val="solid"/>
            <a:miter lim="800000"/>
            <a:headEnd type="none" w="sm" len="sm"/>
            <a:tailEnd type="none" w="sm" len="sm"/>
          </a:ln>
        </p:spPr>
        <p:txBody>
          <a:bodyPr spcFirstLastPara="1" wrap="square" lIns="91425" tIns="45700" rIns="91425" bIns="45700" anchor="ctr" anchorCtr="0">
            <a:noAutofit/>
          </a:bodyPr>
          <a:lstStyle/>
          <a:p>
            <a:pPr marL="228600" marR="0" lvl="0" indent="-228600" algn="ctr" defTabSz="914400" rtl="0" eaLnBrk="1" fontAlgn="auto" latinLnBrk="0" hangingPunct="1">
              <a:lnSpc>
                <a:spcPct val="90000"/>
              </a:lnSpc>
              <a:spcBef>
                <a:spcPts val="0"/>
              </a:spcBef>
              <a:spcAft>
                <a:spcPts val="0"/>
              </a:spcAft>
              <a:buClr>
                <a:srgbClr val="000000"/>
              </a:buClr>
              <a:buSzPts val="2000"/>
              <a:buFont typeface="Noto Sans Symbols"/>
              <a:buNone/>
              <a:tabLst/>
              <a:defRPr/>
            </a:pPr>
            <a:r>
              <a:rPr kumimoji="0" lang="en-US" sz="2000" b="1" i="0" u="none" strike="noStrike" kern="0" cap="none" spc="0" normalizeH="0" baseline="0" noProof="0">
                <a:ln>
                  <a:noFill/>
                </a:ln>
                <a:solidFill>
                  <a:srgbClr val="000000"/>
                </a:solidFill>
                <a:effectLst/>
                <a:uLnTx/>
                <a:uFillTx/>
                <a:latin typeface="+mj-lt"/>
                <a:ea typeface="Times New Roman" panose="02020603050405020304"/>
                <a:cs typeface="Times New Roman" panose="02020603050405020304"/>
                <a:sym typeface="Times New Roman" panose="02020603050405020304"/>
              </a:rPr>
              <a:t>TÂM LÝ KHÁCH HÀNG SAU KHI MUA</a:t>
            </a:r>
            <a:endParaRPr kumimoji="0" sz="1400" b="0" i="0" u="none" strike="noStrike" kern="0" cap="none" spc="0" normalizeH="0" baseline="0" noProof="0">
              <a:ln>
                <a:noFill/>
              </a:ln>
              <a:solidFill>
                <a:srgbClr val="000000"/>
              </a:solidFill>
              <a:effectLst/>
              <a:uLnTx/>
              <a:uFillTx/>
              <a:latin typeface="+mj-lt"/>
              <a:sym typeface="Arial" panose="020B0604020202020204"/>
            </a:endParaRPr>
          </a:p>
          <a:p>
            <a:pPr marL="228600" marR="0" lvl="0" indent="-228600" algn="ctr" defTabSz="914400" rtl="0" eaLnBrk="1" fontAlgn="auto" latinLnBrk="0" hangingPunct="1">
              <a:lnSpc>
                <a:spcPct val="90000"/>
              </a:lnSpc>
              <a:spcBef>
                <a:spcPts val="1000"/>
              </a:spcBef>
              <a:spcAft>
                <a:spcPts val="0"/>
              </a:spcAft>
              <a:buClr>
                <a:srgbClr val="FFFFFF"/>
              </a:buClr>
              <a:buSzPts val="2800"/>
              <a:buFont typeface="Noto Sans Symbols"/>
              <a:buNone/>
              <a:tabLst/>
              <a:defRPr/>
            </a:pPr>
            <a:endParaRPr kumimoji="0" sz="2800" b="0"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2618" name="Google Shape;2618;p353"/>
          <p:cNvSpPr/>
          <p:nvPr/>
        </p:nvSpPr>
        <p:spPr>
          <a:xfrm>
            <a:off x="4220210" y="2552700"/>
            <a:ext cx="4724400" cy="2590800"/>
          </a:xfrm>
          <a:prstGeom prst="quadArrowCallout">
            <a:avLst>
              <a:gd name="adj1" fmla="val 18515"/>
              <a:gd name="adj2" fmla="val 18515"/>
              <a:gd name="adj3" fmla="val 18515"/>
              <a:gd name="adj4" fmla="val 48123"/>
            </a:avLst>
          </a:prstGeom>
          <a:solidFill>
            <a:srgbClr val="EDEDED"/>
          </a:solidFill>
          <a:ln w="12700" cap="flat" cmpd="sng">
            <a:solidFill>
              <a:srgbClr val="FF66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2800"/>
              <a:buFont typeface="Arial" panose="020B0604020202020204"/>
              <a:buNone/>
              <a:tabLst/>
              <a:defRPr/>
            </a:pPr>
            <a:r>
              <a:rPr kumimoji="0" lang="en-US" sz="2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PHẢN ỨNG KHÔNG HÀI LÒNG</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619" name="Google Shape;2619;p353"/>
          <p:cNvSpPr/>
          <p:nvPr/>
        </p:nvSpPr>
        <p:spPr>
          <a:xfrm>
            <a:off x="8953500" y="3009900"/>
            <a:ext cx="1600200" cy="1676400"/>
          </a:xfrm>
          <a:prstGeom prst="flowChartPreparation">
            <a:avLst/>
          </a:prstGeom>
          <a:solidFill>
            <a:srgbClr val="DDEAF6"/>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THỤ ĐỘNG</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620" name="Google Shape;2620;p353"/>
          <p:cNvSpPr/>
          <p:nvPr/>
        </p:nvSpPr>
        <p:spPr>
          <a:xfrm>
            <a:off x="5515610" y="1046480"/>
            <a:ext cx="2133600" cy="1752600"/>
          </a:xfrm>
          <a:prstGeom prst="star7">
            <a:avLst>
              <a:gd name="adj" fmla="val 32381"/>
              <a:gd name="hf" fmla="val 102572"/>
              <a:gd name="vf" fmla="val 105210"/>
            </a:avLst>
          </a:prstGeom>
          <a:solidFill>
            <a:srgbClr val="F7CAAC"/>
          </a:solidFill>
          <a:ln w="12700" cap="flat" cmpd="sng">
            <a:solidFill>
              <a:srgbClr val="FEE5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Ý KIẾN PHÀN NÀN</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621" name="Google Shape;2621;p353"/>
          <p:cNvSpPr/>
          <p:nvPr/>
        </p:nvSpPr>
        <p:spPr>
          <a:xfrm>
            <a:off x="2725420" y="2799080"/>
            <a:ext cx="1676400" cy="2362200"/>
          </a:xfrm>
          <a:prstGeom prst="star24">
            <a:avLst>
              <a:gd name="adj" fmla="val 37500"/>
            </a:avLst>
          </a:prstGeom>
          <a:solidFill>
            <a:srgbClr val="FFF2C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NỔI GIẬN</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2622" name="Google Shape;2622;p353"/>
          <p:cNvSpPr/>
          <p:nvPr/>
        </p:nvSpPr>
        <p:spPr>
          <a:xfrm>
            <a:off x="5134610" y="4815840"/>
            <a:ext cx="2895600" cy="1752600"/>
          </a:xfrm>
          <a:prstGeom prst="sun">
            <a:avLst>
              <a:gd name="adj" fmla="val 25000"/>
            </a:avLst>
          </a:prstGeom>
          <a:solidFill>
            <a:srgbClr val="FFD966"/>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tabLst/>
              <a:defRPr/>
            </a:pPr>
            <a:r>
              <a:rPr kumimoji="0" lang="en-US" sz="18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HÀNH ĐỘNG</a:t>
            </a:r>
            <a:endParaRPr kumimoji="0" sz="14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17"/>
                                        </p:tgtEl>
                                        <p:attrNameLst>
                                          <p:attrName>style.visibility</p:attrName>
                                        </p:attrNameLst>
                                      </p:cBhvr>
                                      <p:to>
                                        <p:strVal val="visible"/>
                                      </p:to>
                                    </p:set>
                                    <p:animEffect transition="in" filter="fade">
                                      <p:cBhvr>
                                        <p:cTn id="7" dur="500"/>
                                        <p:tgtEl>
                                          <p:spTgt spid="2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89126" y="248868"/>
            <a:ext cx="9118125" cy="1417320"/>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2800" b="1" i="0" u="none" strike="noStrike" kern="0" cap="none" spc="0" normalizeH="0" baseline="0" noProof="0">
                <a:ln>
                  <a:noFill/>
                </a:ln>
                <a:solidFill>
                  <a:srgbClr val="0000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5</a:t>
            </a:r>
            <a:r>
              <a:rPr kumimoji="0" lang="vi-VN" sz="2800" b="1" i="0" u="none" strike="noStrike" kern="0" cap="none" spc="0" normalizeH="0" baseline="0" noProof="0">
                <a:ln>
                  <a:noFill/>
                </a:ln>
                <a:solidFill>
                  <a:srgbClr val="0000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.4. </a:t>
            </a:r>
            <a:r>
              <a:rPr kumimoji="0" lang="en-US" sz="2800" b="1" i="0" u="none" strike="noStrike" kern="0" cap="none" spc="0" normalizeH="0" baseline="0" noProof="0">
                <a:ln>
                  <a:noFill/>
                </a:ln>
                <a:solidFill>
                  <a:srgbClr val="0000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CÁC GIAI ĐOẠN TRONG</a:t>
            </a:r>
            <a:r>
              <a:rPr kumimoji="0" lang="vi-VN" sz="2800" b="1" i="0" u="none" strike="noStrike" kern="0" cap="none" spc="0" normalizeH="0" baseline="0" noProof="0">
                <a:ln>
                  <a:noFill/>
                </a:ln>
                <a:solidFill>
                  <a:srgbClr val="0000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1" i="0" u="none" strike="noStrike" kern="0" cap="none" spc="0" normalizeH="0" baseline="0" noProof="0">
                <a:ln>
                  <a:noFill/>
                </a:ln>
                <a:solidFill>
                  <a:srgbClr val="0000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QU</a:t>
            </a:r>
            <a:r>
              <a:rPr kumimoji="0" lang="vi-VN" sz="2800" b="1" i="0" u="none" strike="noStrike" kern="0" cap="none" spc="0" normalizeH="0" baseline="0" noProof="0">
                <a:ln>
                  <a:noFill/>
                </a:ln>
                <a:solidFill>
                  <a:srgbClr val="0000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Á</a:t>
            </a:r>
            <a:r>
              <a:rPr kumimoji="0" lang="en-US" sz="2800" b="1" i="0" u="none" strike="noStrike" kern="0" cap="none" spc="0" normalizeH="0" baseline="0" noProof="0">
                <a:ln>
                  <a:noFill/>
                </a:ln>
                <a:solidFill>
                  <a:srgbClr val="0000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TRÌNH</a:t>
            </a:r>
            <a:r>
              <a:rPr kumimoji="0" lang="vi-VN" sz="2800" b="1" i="0" u="none" strike="noStrike" kern="0" cap="none" spc="0" normalizeH="0" baseline="0" noProof="0">
                <a:ln>
                  <a:noFill/>
                </a:ln>
                <a:solidFill>
                  <a:srgbClr val="0000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br>
              <a:rPr kumimoji="0" lang="vi-VN" sz="2800" b="1" i="0" u="none" strike="noStrike" kern="0" cap="none" spc="0" normalizeH="0" baseline="0" noProof="0">
                <a:ln>
                  <a:noFill/>
                </a:ln>
                <a:solidFill>
                  <a:srgbClr val="0000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br>
            <a:r>
              <a:rPr kumimoji="0" lang="vi-VN" sz="2800" b="1" i="0" u="none" strike="noStrike" kern="0" cap="none" spc="0" normalizeH="0" baseline="0" noProof="0">
                <a:ln>
                  <a:noFill/>
                </a:ln>
                <a:solidFill>
                  <a:srgbClr val="0000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RA QUYẾT ĐỊNH </a:t>
            </a:r>
            <a:r>
              <a:rPr kumimoji="0" lang="en-US" sz="2800" b="1" i="0" u="none" strike="noStrike" kern="0" cap="none" spc="0" normalizeH="0" baseline="0" noProof="0">
                <a:ln>
                  <a:noFill/>
                </a:ln>
                <a:solidFill>
                  <a:srgbClr val="0000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MUA SẢN PHẨM MỚI</a:t>
            </a:r>
            <a:endParaRPr kumimoji="0" lang="en-US" sz="2800" b="0" i="0" u="none" strike="noStrike" kern="0" cap="none" spc="0" normalizeH="0" baseline="0" noProof="0">
              <a:ln>
                <a:noFill/>
              </a:ln>
              <a:solidFill>
                <a:srgbClr val="0000FF"/>
              </a:solidFill>
              <a:effectLst/>
              <a:uLnTx/>
              <a:uFillTx/>
              <a:latin typeface="Arial" panose="020B0604020202020204"/>
              <a:cs typeface="Arial" panose="020B0604020202020204"/>
              <a:sym typeface="Arial" panose="020B0604020202020204"/>
            </a:endParaRPr>
          </a:p>
        </p:txBody>
      </p:sp>
      <p:sp>
        <p:nvSpPr>
          <p:cNvPr id="19" name="Text 10"/>
          <p:cNvSpPr/>
          <p:nvPr/>
        </p:nvSpPr>
        <p:spPr>
          <a:xfrm>
            <a:off x="589126" y="5471726"/>
            <a:ext cx="10730059" cy="475488"/>
          </a:xfrm>
          <a:prstGeom prst="rect">
            <a:avLst/>
          </a:prstGeom>
          <a:noFill/>
        </p:spPr>
        <p:txBody>
          <a:bodyPr wrap="square" lIns="0" tIns="0" rIns="0" bIns="0" rtlCol="0" anchor="ctr">
            <a:no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Mỗi</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giai</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đoạn</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cần</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một</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đòn</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bẩy</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khác</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nhau</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truyền</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thông</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để</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tạo</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nhận</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biết</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bằng</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chứng</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để</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hỗ</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trợ</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đánh</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giá</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và</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khuyến</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khích</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dùng</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thử</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để</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giảm</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rủi</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ro</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cảm</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nhận</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a:t>
            </a:r>
            <a:endParaRPr kumimoji="0" lang="vi-VN"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endParaRPr>
          </a:p>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lang="en-US" sz="2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1" name="Shape 5"/>
          <p:cNvSpPr/>
          <p:nvPr/>
        </p:nvSpPr>
        <p:spPr>
          <a:xfrm>
            <a:off x="2254892" y="3471421"/>
            <a:ext cx="566928" cy="0"/>
          </a:xfrm>
          <a:prstGeom prst="line">
            <a:avLst/>
          </a:prstGeom>
          <a:noFill/>
          <a:ln w="25400">
            <a:solidFill>
              <a:srgbClr val="CBD5E1"/>
            </a:solidFill>
            <a:prstDash val="solid"/>
            <a:headEnd type="none"/>
            <a:tailEnd type="triangle"/>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3" name="Shape 6"/>
          <p:cNvSpPr/>
          <p:nvPr/>
        </p:nvSpPr>
        <p:spPr>
          <a:xfrm>
            <a:off x="4586612" y="3471421"/>
            <a:ext cx="566928" cy="0"/>
          </a:xfrm>
          <a:prstGeom prst="line">
            <a:avLst/>
          </a:prstGeom>
          <a:noFill/>
          <a:ln w="25400">
            <a:solidFill>
              <a:srgbClr val="CBD5E1"/>
            </a:solidFill>
            <a:prstDash val="solid"/>
            <a:headEnd type="none"/>
            <a:tailEnd type="triangle"/>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5" name="Shape 7"/>
          <p:cNvSpPr/>
          <p:nvPr/>
        </p:nvSpPr>
        <p:spPr>
          <a:xfrm>
            <a:off x="6918332" y="3471421"/>
            <a:ext cx="566928" cy="0"/>
          </a:xfrm>
          <a:prstGeom prst="line">
            <a:avLst/>
          </a:prstGeom>
          <a:noFill/>
          <a:ln w="25400">
            <a:solidFill>
              <a:srgbClr val="CBD5E1"/>
            </a:solidFill>
            <a:prstDash val="solid"/>
            <a:headEnd type="none"/>
            <a:tailEnd type="triangle"/>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7" name="Shape 8"/>
          <p:cNvSpPr/>
          <p:nvPr/>
        </p:nvSpPr>
        <p:spPr>
          <a:xfrm>
            <a:off x="9250052" y="3471421"/>
            <a:ext cx="566928" cy="0"/>
          </a:xfrm>
          <a:prstGeom prst="line">
            <a:avLst/>
          </a:prstGeom>
          <a:noFill/>
          <a:ln w="25400">
            <a:solidFill>
              <a:srgbClr val="CBD5E1"/>
            </a:solidFill>
            <a:prstDash val="solid"/>
            <a:headEnd type="none"/>
            <a:tailEnd type="triangle"/>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9" name="Text 9"/>
          <p:cNvSpPr/>
          <p:nvPr/>
        </p:nvSpPr>
        <p:spPr>
          <a:xfrm>
            <a:off x="1075316" y="2282701"/>
            <a:ext cx="512064" cy="512064"/>
          </a:xfrm>
          <a:prstGeom prst="rect">
            <a:avLst/>
          </a:prstGeom>
          <a:solidFill>
            <a:srgbClr val="0EA5E9"/>
          </a:solidFill>
          <a:ln>
            <a:solidFill>
              <a:srgbClr val="0EA5E9"/>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1" i="0" u="none" strike="noStrike" kern="0" cap="none" spc="0" normalizeH="0" baseline="0" noProof="0">
                <a:ln>
                  <a:noFill/>
                </a:ln>
                <a:solidFill>
                  <a:srgbClr val="FFFF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1</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1" name="Text 10"/>
          <p:cNvSpPr/>
          <p:nvPr/>
        </p:nvSpPr>
        <p:spPr>
          <a:xfrm>
            <a:off x="380372" y="2895349"/>
            <a:ext cx="1965960" cy="347472"/>
          </a:xfrm>
          <a:prstGeom prst="rect">
            <a:avLst/>
          </a:prstGeom>
          <a:noFill/>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600" b="1" i="0" u="none" strike="noStrike" kern="0" cap="none" spc="0" normalizeH="0" baseline="0" noProof="0">
                <a:ln>
                  <a:noFill/>
                </a:ln>
                <a:solidFill>
                  <a:srgbClr val="0EA5E9"/>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BIẾT</a:t>
            </a:r>
            <a:endParaRPr kumimoji="0" lang="en-US" sz="16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3" name="Text 11"/>
          <p:cNvSpPr/>
          <p:nvPr/>
        </p:nvSpPr>
        <p:spPr>
          <a:xfrm>
            <a:off x="380372" y="3379981"/>
            <a:ext cx="1965960" cy="1170432"/>
          </a:xfrm>
          <a:prstGeom prst="rect">
            <a:avLst/>
          </a:prstGeom>
          <a:solidFill>
            <a:srgbClr val="F8FAFC"/>
          </a:solidFill>
          <a:ln>
            <a:solidFill>
              <a:srgbClr val="E2E8F0"/>
            </a:solidFill>
          </a:ln>
        </p:spPr>
        <p:txBody>
          <a:bodyPr wrap="square" lIns="1270" tIns="1270" rIns="1270" bIns="1270" rtlCol="0" anchor="ctr">
            <a:norm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0"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Biết đến sản phẩm mới nhưng thông tin còn ít.</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5" name="Text 12"/>
          <p:cNvSpPr/>
          <p:nvPr/>
        </p:nvSpPr>
        <p:spPr>
          <a:xfrm>
            <a:off x="3407036" y="2282701"/>
            <a:ext cx="512064" cy="512064"/>
          </a:xfrm>
          <a:prstGeom prst="rect">
            <a:avLst/>
          </a:prstGeom>
          <a:solidFill>
            <a:srgbClr val="14B8A6"/>
          </a:solidFill>
          <a:ln>
            <a:solidFill>
              <a:srgbClr val="14B8A6"/>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1" i="0" u="none" strike="noStrike" kern="0" cap="none" spc="0" normalizeH="0" baseline="0" noProof="0">
                <a:ln>
                  <a:noFill/>
                </a:ln>
                <a:solidFill>
                  <a:srgbClr val="FFFF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2</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7" name="Text 13"/>
          <p:cNvSpPr/>
          <p:nvPr/>
        </p:nvSpPr>
        <p:spPr>
          <a:xfrm>
            <a:off x="2712092" y="2895349"/>
            <a:ext cx="1965960" cy="347472"/>
          </a:xfrm>
          <a:prstGeom prst="rect">
            <a:avLst/>
          </a:prstGeom>
          <a:noFill/>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600" b="1" i="0" u="none" strike="noStrike" kern="0" cap="none" spc="0" normalizeH="0" baseline="0" noProof="0">
                <a:ln>
                  <a:noFill/>
                </a:ln>
                <a:solidFill>
                  <a:srgbClr val="14B8A6"/>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ĐỂ Ý</a:t>
            </a:r>
            <a:endParaRPr kumimoji="0" lang="en-US" sz="16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9" name="Text 14"/>
          <p:cNvSpPr/>
          <p:nvPr/>
        </p:nvSpPr>
        <p:spPr>
          <a:xfrm>
            <a:off x="2712092" y="3379981"/>
            <a:ext cx="1965960" cy="1170432"/>
          </a:xfrm>
          <a:prstGeom prst="rect">
            <a:avLst/>
          </a:prstGeom>
          <a:solidFill>
            <a:srgbClr val="F8FAFC"/>
          </a:solidFill>
          <a:ln>
            <a:solidFill>
              <a:srgbClr val="E2E8F0"/>
            </a:solidFill>
          </a:ln>
        </p:spPr>
        <p:txBody>
          <a:bodyPr wrap="square" lIns="1270" tIns="1270" rIns="1270" bIns="1270" rtlCol="0" anchor="ctr">
            <a:norm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0"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Bị thúc đẩy tìm kiếm thêm thông tin.</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1" name="Text 15"/>
          <p:cNvSpPr/>
          <p:nvPr/>
        </p:nvSpPr>
        <p:spPr>
          <a:xfrm>
            <a:off x="5738756" y="2282701"/>
            <a:ext cx="512064" cy="512064"/>
          </a:xfrm>
          <a:prstGeom prst="rect">
            <a:avLst/>
          </a:prstGeom>
          <a:solidFill>
            <a:srgbClr val="22C55E"/>
          </a:solidFill>
          <a:ln>
            <a:solidFill>
              <a:srgbClr val="22C55E"/>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1" i="0" u="none" strike="noStrike" kern="0" cap="none" spc="0" normalizeH="0" baseline="0" noProof="0">
                <a:ln>
                  <a:noFill/>
                </a:ln>
                <a:solidFill>
                  <a:srgbClr val="FFFF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3</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3" name="Text 16"/>
          <p:cNvSpPr/>
          <p:nvPr/>
        </p:nvSpPr>
        <p:spPr>
          <a:xfrm>
            <a:off x="5043812" y="2895349"/>
            <a:ext cx="1965960" cy="347472"/>
          </a:xfrm>
          <a:prstGeom prst="rect">
            <a:avLst/>
          </a:prstGeom>
          <a:noFill/>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600" b="1" i="0" u="none" strike="noStrike" kern="0" cap="none" spc="0" normalizeH="0" baseline="0" noProof="0">
                <a:ln>
                  <a:noFill/>
                </a:ln>
                <a:solidFill>
                  <a:srgbClr val="22C55E"/>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ĐÁNH GIÁ</a:t>
            </a:r>
            <a:endParaRPr kumimoji="0" lang="en-US" sz="16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5" name="Text 17"/>
          <p:cNvSpPr/>
          <p:nvPr/>
        </p:nvSpPr>
        <p:spPr>
          <a:xfrm>
            <a:off x="5043812" y="3379981"/>
            <a:ext cx="1965960" cy="1170432"/>
          </a:xfrm>
          <a:prstGeom prst="rect">
            <a:avLst/>
          </a:prstGeom>
          <a:solidFill>
            <a:srgbClr val="F8FAFC"/>
          </a:solidFill>
          <a:ln>
            <a:solidFill>
              <a:srgbClr val="E2E8F0"/>
            </a:solidFill>
          </a:ln>
        </p:spPr>
        <p:txBody>
          <a:bodyPr wrap="square" lIns="1270" tIns="1270" rIns="1270" bIns="1270" rtlCol="0" anchor="ctr">
            <a:norm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0"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Xem xét có nên dùng thử hay không.</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7" name="Text 18"/>
          <p:cNvSpPr/>
          <p:nvPr/>
        </p:nvSpPr>
        <p:spPr>
          <a:xfrm>
            <a:off x="8070476" y="2282701"/>
            <a:ext cx="512064" cy="512064"/>
          </a:xfrm>
          <a:prstGeom prst="rect">
            <a:avLst/>
          </a:prstGeom>
          <a:solidFill>
            <a:srgbClr val="F59E0B"/>
          </a:solidFill>
          <a:ln>
            <a:solidFill>
              <a:srgbClr val="F59E0B"/>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1" i="0" u="none" strike="noStrike" kern="0" cap="none" spc="0" normalizeH="0" baseline="0" noProof="0">
                <a:ln>
                  <a:noFill/>
                </a:ln>
                <a:solidFill>
                  <a:srgbClr val="FFFF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4</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9" name="Text 19"/>
          <p:cNvSpPr/>
          <p:nvPr/>
        </p:nvSpPr>
        <p:spPr>
          <a:xfrm>
            <a:off x="7375532" y="2895349"/>
            <a:ext cx="1965960" cy="347472"/>
          </a:xfrm>
          <a:prstGeom prst="rect">
            <a:avLst/>
          </a:prstGeom>
          <a:noFill/>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600" b="1" i="0" u="none" strike="noStrike" kern="0" cap="none" spc="0" normalizeH="0" baseline="0" noProof="0">
                <a:ln>
                  <a:noFill/>
                </a:ln>
                <a:solidFill>
                  <a:srgbClr val="F59E0B"/>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DÙNG THỬ</a:t>
            </a:r>
            <a:endParaRPr kumimoji="0" lang="en-US" sz="16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1" name="Text 20"/>
          <p:cNvSpPr/>
          <p:nvPr/>
        </p:nvSpPr>
        <p:spPr>
          <a:xfrm>
            <a:off x="7375532" y="3379981"/>
            <a:ext cx="1965960" cy="1170432"/>
          </a:xfrm>
          <a:prstGeom prst="rect">
            <a:avLst/>
          </a:prstGeom>
          <a:solidFill>
            <a:srgbClr val="F8FAFC"/>
          </a:solidFill>
          <a:ln>
            <a:solidFill>
              <a:srgbClr val="E2E8F0"/>
            </a:solidFill>
          </a:ln>
        </p:spPr>
        <p:txBody>
          <a:bodyPr wrap="square" lIns="1270" tIns="1270" rIns="1270" bIns="1270" rtlCol="0" anchor="ctr">
            <a:norm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0"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Trải nghiệm để ước lượng giá trị đầy đủ hơn.</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3" name="Text 21"/>
          <p:cNvSpPr/>
          <p:nvPr/>
        </p:nvSpPr>
        <p:spPr>
          <a:xfrm>
            <a:off x="10402196" y="2282701"/>
            <a:ext cx="512064" cy="512064"/>
          </a:xfrm>
          <a:prstGeom prst="rect">
            <a:avLst/>
          </a:prstGeom>
          <a:solidFill>
            <a:srgbClr val="FB7185"/>
          </a:solidFill>
          <a:ln>
            <a:solidFill>
              <a:srgbClr val="FB7185"/>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1" i="0" u="none" strike="noStrike" kern="0" cap="none" spc="0" normalizeH="0" baseline="0" noProof="0">
                <a:ln>
                  <a:noFill/>
                </a:ln>
                <a:solidFill>
                  <a:srgbClr val="FFFF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5</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5" name="Text 22"/>
          <p:cNvSpPr/>
          <p:nvPr/>
        </p:nvSpPr>
        <p:spPr>
          <a:xfrm>
            <a:off x="9707252" y="2895349"/>
            <a:ext cx="1965960" cy="347472"/>
          </a:xfrm>
          <a:prstGeom prst="rect">
            <a:avLst/>
          </a:prstGeom>
          <a:noFill/>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600" b="1" i="0" u="none" strike="noStrike" kern="0" cap="none" spc="0" normalizeH="0" baseline="0" noProof="0">
                <a:ln>
                  <a:noFill/>
                </a:ln>
                <a:solidFill>
                  <a:srgbClr val="FB7185"/>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CHẤP NHẬN</a:t>
            </a:r>
            <a:endParaRPr kumimoji="0" lang="en-US" sz="16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7" name="Text 23"/>
          <p:cNvSpPr/>
          <p:nvPr/>
        </p:nvSpPr>
        <p:spPr>
          <a:xfrm>
            <a:off x="9707252" y="3379981"/>
            <a:ext cx="1965960" cy="1170432"/>
          </a:xfrm>
          <a:prstGeom prst="rect">
            <a:avLst/>
          </a:prstGeom>
          <a:solidFill>
            <a:srgbClr val="F8FAFC"/>
          </a:solidFill>
          <a:ln>
            <a:solidFill>
              <a:srgbClr val="E2E8F0"/>
            </a:solidFill>
          </a:ln>
        </p:spPr>
        <p:txBody>
          <a:bodyPr wrap="square" lIns="1270" tIns="1270" rIns="1270" bIns="1270" rtlCol="0" anchor="ctr">
            <a:norm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0"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Quyết định dùng hẳn và thường xuyên.</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0"/>
            <a:ext cx="12191695" cy="109728"/>
          </a:xfrm>
          <a:prstGeom prst="rect">
            <a:avLst/>
          </a:prstGeom>
          <a:solidFill>
            <a:srgbClr val="14B8A6"/>
          </a:solidFill>
          <a:ln w="12700">
            <a:solidFill>
              <a:srgbClr val="14B8A6"/>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 name="Text 3"/>
          <p:cNvSpPr/>
          <p:nvPr/>
        </p:nvSpPr>
        <p:spPr>
          <a:xfrm>
            <a:off x="548640" y="411480"/>
            <a:ext cx="10881360" cy="438912"/>
          </a:xfrm>
          <a:prstGeom prst="rect">
            <a:avLst/>
          </a:prstGeom>
          <a:noFill/>
        </p:spPr>
        <p:txBody>
          <a:bodyPr wrap="square" lIns="0" tIns="0" rIns="0" bIns="0" rtlCol="0" anchor="ctr">
            <a:normAutofit lnSpcReduction="10000"/>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3100" b="1"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Dẫn dắt khách hàng qua từng giai đoạn</a:t>
            </a:r>
            <a:endParaRPr kumimoji="0" lang="en-US" sz="3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6" name="Text 4"/>
          <p:cNvSpPr/>
          <p:nvPr/>
        </p:nvSpPr>
        <p:spPr>
          <a:xfrm>
            <a:off x="548640" y="1161948"/>
            <a:ext cx="9875520" cy="27432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vi-VN"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làm</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 giảm khoảng cách giữa “biết” và “chấp </a:t>
            </a:r>
            <a:r>
              <a:rPr kumimoji="0" lang="en-US" sz="2800" b="0" i="0" u="none" strike="noStrike" kern="0" cap="none" spc="0" normalizeH="0" baseline="0" noProof="0" err="1">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nhận</a:t>
            </a:r>
            <a:r>
              <a:rPr kumimoji="0" lang="en-US"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a:t>
            </a:r>
            <a:r>
              <a:rPr kumimoji="0" lang="vi-VN" sz="2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a:t>
            </a:r>
            <a:endParaRPr kumimoji="0" lang="en-US" sz="2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Text 5"/>
          <p:cNvSpPr/>
          <p:nvPr/>
        </p:nvSpPr>
        <p:spPr>
          <a:xfrm>
            <a:off x="640386" y="2094636"/>
            <a:ext cx="1554480" cy="292608"/>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450" b="1" i="0" u="none" strike="noStrike" kern="0" cap="none" spc="0" normalizeH="0" baseline="0" noProof="0">
                <a:ln>
                  <a:noFill/>
                </a:ln>
                <a:solidFill>
                  <a:srgbClr val="475569"/>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Giai đoạn</a:t>
            </a:r>
            <a:endParaRPr kumimoji="0" lang="en-US" sz="145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8" name="Text 6"/>
          <p:cNvSpPr/>
          <p:nvPr/>
        </p:nvSpPr>
        <p:spPr>
          <a:xfrm>
            <a:off x="2423466" y="2094636"/>
            <a:ext cx="1920240" cy="292608"/>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450" b="1" i="0" u="none" strike="noStrike" kern="0" cap="none" spc="0" normalizeH="0" baseline="0" noProof="0">
                <a:ln>
                  <a:noFill/>
                </a:ln>
                <a:solidFill>
                  <a:srgbClr val="475569"/>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Mục tiêu</a:t>
            </a:r>
            <a:endParaRPr kumimoji="0" lang="en-US" sz="145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9" name="Text 7"/>
          <p:cNvSpPr/>
          <p:nvPr/>
        </p:nvSpPr>
        <p:spPr>
          <a:xfrm>
            <a:off x="4572306" y="2094636"/>
            <a:ext cx="5943600" cy="292608"/>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450" b="1"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Gợi ý triển khai</a:t>
            </a:r>
            <a:endParaRPr kumimoji="0" lang="en-US" sz="145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0" name="Text 8"/>
          <p:cNvSpPr/>
          <p:nvPr/>
        </p:nvSpPr>
        <p:spPr>
          <a:xfrm>
            <a:off x="622098" y="2478684"/>
            <a:ext cx="1417320" cy="347472"/>
          </a:xfrm>
          <a:prstGeom prst="rect">
            <a:avLst/>
          </a:prstGeom>
          <a:solidFill>
            <a:srgbClr val="FFFFFF"/>
          </a:solidFill>
          <a:ln w="15240">
            <a:solidFill>
              <a:srgbClr val="0EA5E9"/>
            </a:solid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1" i="0" u="none" strike="noStrike" kern="0" cap="none" spc="0" normalizeH="0" baseline="0" noProof="0">
                <a:ln>
                  <a:noFill/>
                </a:ln>
                <a:solidFill>
                  <a:srgbClr val="0EA5E9"/>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Biết</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1" name="Text 9"/>
          <p:cNvSpPr/>
          <p:nvPr/>
        </p:nvSpPr>
        <p:spPr>
          <a:xfrm>
            <a:off x="2423466" y="2524404"/>
            <a:ext cx="2011680" cy="310896"/>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1"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Tạo nhận biết</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2" name="Text 10"/>
          <p:cNvSpPr/>
          <p:nvPr/>
        </p:nvSpPr>
        <p:spPr>
          <a:xfrm>
            <a:off x="4572306" y="2496972"/>
            <a:ext cx="6903720" cy="393192"/>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Thông tin rõ: sản phẩm là gì, giải quyết vấn đề gì.</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3" name="Shape 11"/>
          <p:cNvSpPr/>
          <p:nvPr/>
        </p:nvSpPr>
        <p:spPr>
          <a:xfrm>
            <a:off x="640386" y="3045612"/>
            <a:ext cx="10881360" cy="0"/>
          </a:xfrm>
          <a:prstGeom prst="line">
            <a:avLst/>
          </a:prstGeom>
          <a:no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4" name="Text 12"/>
          <p:cNvSpPr/>
          <p:nvPr/>
        </p:nvSpPr>
        <p:spPr>
          <a:xfrm>
            <a:off x="622098" y="3228492"/>
            <a:ext cx="1417320" cy="347472"/>
          </a:xfrm>
          <a:prstGeom prst="rect">
            <a:avLst/>
          </a:prstGeom>
          <a:solidFill>
            <a:srgbClr val="FFFFFF"/>
          </a:solidFill>
          <a:ln w="15240">
            <a:solidFill>
              <a:srgbClr val="14B8A6"/>
            </a:solid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1" i="0" u="none" strike="noStrike" kern="0" cap="none" spc="0" normalizeH="0" baseline="0" noProof="0">
                <a:ln>
                  <a:noFill/>
                </a:ln>
                <a:solidFill>
                  <a:srgbClr val="14B8A6"/>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Để ý</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5" name="Text 13"/>
          <p:cNvSpPr/>
          <p:nvPr/>
        </p:nvSpPr>
        <p:spPr>
          <a:xfrm>
            <a:off x="2423466" y="3274212"/>
            <a:ext cx="2148840" cy="283464"/>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1"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Kích thích tìm hiểu</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6" name="Text 14"/>
          <p:cNvSpPr/>
          <p:nvPr/>
        </p:nvSpPr>
        <p:spPr>
          <a:xfrm>
            <a:off x="4572306" y="3246780"/>
            <a:ext cx="6903720" cy="393192"/>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Nội dung dễ tiếp cận: demo, FAQ, video ngắn, tư vấn.</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7" name="Shape 15"/>
          <p:cNvSpPr/>
          <p:nvPr/>
        </p:nvSpPr>
        <p:spPr>
          <a:xfrm>
            <a:off x="640386" y="3795420"/>
            <a:ext cx="10881360" cy="0"/>
          </a:xfrm>
          <a:prstGeom prst="line">
            <a:avLst/>
          </a:prstGeom>
          <a:no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8" name="Text 16"/>
          <p:cNvSpPr/>
          <p:nvPr/>
        </p:nvSpPr>
        <p:spPr>
          <a:xfrm>
            <a:off x="622098" y="3978300"/>
            <a:ext cx="1417320" cy="347472"/>
          </a:xfrm>
          <a:prstGeom prst="rect">
            <a:avLst/>
          </a:prstGeom>
          <a:solidFill>
            <a:srgbClr val="FFFFFF"/>
          </a:solidFill>
          <a:ln w="15240">
            <a:solidFill>
              <a:srgbClr val="22C55E"/>
            </a:solid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1" i="0" u="none" strike="noStrike" kern="0" cap="none" spc="0" normalizeH="0" baseline="0" noProof="0">
                <a:ln>
                  <a:noFill/>
                </a:ln>
                <a:solidFill>
                  <a:srgbClr val="22C55E"/>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Đánh giá</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9" name="Text 17"/>
          <p:cNvSpPr/>
          <p:nvPr/>
        </p:nvSpPr>
        <p:spPr>
          <a:xfrm>
            <a:off x="2423466" y="4024020"/>
            <a:ext cx="2011680" cy="310896"/>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1"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Tăng niềm tin</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0" name="Text 18"/>
          <p:cNvSpPr/>
          <p:nvPr/>
        </p:nvSpPr>
        <p:spPr>
          <a:xfrm>
            <a:off x="4572306" y="3996588"/>
            <a:ext cx="7220932" cy="3931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Chứng cứ lợi ích: so sánh, đánh giá, bảo chứng, trường hợp sử dụng.</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1" name="Shape 19"/>
          <p:cNvSpPr/>
          <p:nvPr/>
        </p:nvSpPr>
        <p:spPr>
          <a:xfrm>
            <a:off x="640386" y="4545228"/>
            <a:ext cx="10881360" cy="0"/>
          </a:xfrm>
          <a:prstGeom prst="line">
            <a:avLst/>
          </a:prstGeom>
          <a:no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2" name="Text 20"/>
          <p:cNvSpPr/>
          <p:nvPr/>
        </p:nvSpPr>
        <p:spPr>
          <a:xfrm>
            <a:off x="622098" y="4728108"/>
            <a:ext cx="1417320" cy="347472"/>
          </a:xfrm>
          <a:prstGeom prst="rect">
            <a:avLst/>
          </a:prstGeom>
          <a:solidFill>
            <a:srgbClr val="FFFFFF"/>
          </a:solidFill>
          <a:ln w="15240">
            <a:solidFill>
              <a:srgbClr val="F59E0B"/>
            </a:solid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1" i="0" u="none" strike="noStrike" kern="0" cap="none" spc="0" normalizeH="0" baseline="0" noProof="0">
                <a:ln>
                  <a:noFill/>
                </a:ln>
                <a:solidFill>
                  <a:srgbClr val="F59E0B"/>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Dùng thử</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3" name="Text 21"/>
          <p:cNvSpPr/>
          <p:nvPr/>
        </p:nvSpPr>
        <p:spPr>
          <a:xfrm>
            <a:off x="2423466" y="4773828"/>
            <a:ext cx="2011680" cy="310896"/>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1"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Giảm rủi ro</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4" name="Text 22"/>
          <p:cNvSpPr/>
          <p:nvPr/>
        </p:nvSpPr>
        <p:spPr>
          <a:xfrm>
            <a:off x="4572305" y="4746396"/>
            <a:ext cx="7220931" cy="3931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Dùng thử, mẫu thử, gói nhỏ, chính sách đổi trả hoặc hỗ trợ ban đầu.</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5" name="Shape 23"/>
          <p:cNvSpPr/>
          <p:nvPr/>
        </p:nvSpPr>
        <p:spPr>
          <a:xfrm>
            <a:off x="640386" y="5295036"/>
            <a:ext cx="10881360" cy="0"/>
          </a:xfrm>
          <a:prstGeom prst="line">
            <a:avLst/>
          </a:prstGeom>
          <a:no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6" name="Text 24"/>
          <p:cNvSpPr/>
          <p:nvPr/>
        </p:nvSpPr>
        <p:spPr>
          <a:xfrm>
            <a:off x="622098" y="5477916"/>
            <a:ext cx="1417320" cy="347472"/>
          </a:xfrm>
          <a:prstGeom prst="rect">
            <a:avLst/>
          </a:prstGeom>
          <a:solidFill>
            <a:srgbClr val="FFFFFF"/>
          </a:solidFill>
          <a:ln w="15240">
            <a:solidFill>
              <a:srgbClr val="FB7185"/>
            </a:solidFill>
          </a:ln>
        </p:spPr>
        <p:txBody>
          <a:bodyPr wrap="square" lIns="381" tIns="381" rIns="381" bIns="381"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1" i="0" u="none" strike="noStrike" kern="0" cap="none" spc="0" normalizeH="0" baseline="0" noProof="0">
                <a:ln>
                  <a:noFill/>
                </a:ln>
                <a:solidFill>
                  <a:srgbClr val="FB7185"/>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Chấp nhận</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7" name="Text 25"/>
          <p:cNvSpPr/>
          <p:nvPr/>
        </p:nvSpPr>
        <p:spPr>
          <a:xfrm>
            <a:off x="2423466" y="5523636"/>
            <a:ext cx="2011680" cy="310896"/>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1"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Tạo thói quen</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8" name="Text 26"/>
          <p:cNvSpPr/>
          <p:nvPr/>
        </p:nvSpPr>
        <p:spPr>
          <a:xfrm>
            <a:off x="4572305" y="5496204"/>
            <a:ext cx="7619695" cy="3931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Hướng dẫn sau mua, chăm sóc, ưu đãi tái mua và cộng đồng người dùng.</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9" name="Shape 27"/>
          <p:cNvSpPr/>
          <p:nvPr/>
        </p:nvSpPr>
        <p:spPr>
          <a:xfrm>
            <a:off x="640386" y="6044844"/>
            <a:ext cx="10881360" cy="0"/>
          </a:xfrm>
          <a:prstGeom prst="line">
            <a:avLst/>
          </a:prstGeom>
          <a:no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Shape 1"/>
          <p:cNvSpPr/>
          <p:nvPr/>
        </p:nvSpPr>
        <p:spPr>
          <a:xfrm>
            <a:off x="0" y="0"/>
            <a:ext cx="12191695" cy="109728"/>
          </a:xfrm>
          <a:prstGeom prst="rect">
            <a:avLst/>
          </a:prstGeom>
          <a:solidFill>
            <a:srgbClr val="14B8A6"/>
          </a:solidFill>
          <a:ln w="12700">
            <a:solidFill>
              <a:srgbClr val="14B8A6"/>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 name="Text 3"/>
          <p:cNvSpPr/>
          <p:nvPr/>
        </p:nvSpPr>
        <p:spPr>
          <a:xfrm>
            <a:off x="548640" y="411480"/>
            <a:ext cx="10881360" cy="438912"/>
          </a:xfrm>
          <a:prstGeom prst="rect">
            <a:avLst/>
          </a:prstGeom>
          <a:noFill/>
        </p:spPr>
        <p:txBody>
          <a:bodyPr wrap="square" lIns="0" tIns="0" rIns="0" bIns="0" rtlCol="0" anchor="ctr">
            <a:normAutofit lnSpcReduction="10000"/>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3100" b="1"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Nhóm người tiêu dùng theo thời gian chấp nhận</a:t>
            </a:r>
            <a:endParaRPr kumimoji="0" lang="en-US" sz="3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6" name="Text 4"/>
          <p:cNvSpPr/>
          <p:nvPr/>
        </p:nvSpPr>
        <p:spPr>
          <a:xfrm>
            <a:off x="566928" y="896111"/>
            <a:ext cx="10678588" cy="562357"/>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2400" b="0" i="0" u="none" strike="noStrike" kern="0" cap="none" spc="0" normalizeH="0" baseline="0" noProof="0">
                <a:ln>
                  <a:noFill/>
                </a:ln>
                <a:solidFill>
                  <a:srgbClr val="000000"/>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Không phải khách hàng nào cũng chấp nhận sản phẩm mới với cùng tốc độ.</a:t>
            </a:r>
            <a:endParaRPr kumimoji="0" lang="en-US" sz="2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8" name="Text 5"/>
          <p:cNvSpPr/>
          <p:nvPr/>
        </p:nvSpPr>
        <p:spPr>
          <a:xfrm>
            <a:off x="896881" y="5260658"/>
            <a:ext cx="3246120" cy="393192"/>
          </a:xfrm>
          <a:prstGeom prst="rect">
            <a:avLst/>
          </a:prstGeom>
          <a:solidFill>
            <a:srgbClr val="0EA5E9"/>
          </a:solidFill>
          <a:ln>
            <a:solidFill>
              <a:srgbClr val="0EA5E9">
                <a:alpha val="0"/>
              </a:srgbClr>
            </a:solidFill>
          </a:ln>
        </p:spPr>
        <p:txBody>
          <a:bodyPr wrap="square" lIns="1016" tIns="1016" rIns="1016" bIns="1016"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1" i="0" u="none" strike="noStrike" kern="0" cap="none" spc="0" normalizeH="0" baseline="0" noProof="0">
                <a:ln>
                  <a:noFill/>
                </a:ln>
                <a:solidFill>
                  <a:srgbClr val="FFFF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Khách hàng đi trước</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9" name="Text 6"/>
          <p:cNvSpPr/>
          <p:nvPr/>
        </p:nvSpPr>
        <p:spPr>
          <a:xfrm>
            <a:off x="896881" y="5672138"/>
            <a:ext cx="3246120" cy="640080"/>
          </a:xfrm>
          <a:prstGeom prst="rect">
            <a:avLst/>
          </a:prstGeom>
          <a:solidFill>
            <a:srgbClr val="F8FAFC"/>
          </a:solidFill>
          <a:ln>
            <a:solidFill>
              <a:srgbClr val="E2E8F0"/>
            </a:solidFill>
          </a:ln>
        </p:spPr>
        <p:txBody>
          <a:bodyPr wrap="square" lIns="1524" tIns="1524" rIns="1524" bIns="1524" rtlCol="0" anchor="t">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0"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Nhóm cách tân và chấp nhận sớm thường giúp tạo tín hiệu ban đầu cho thị trường.</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0" name="Text 7"/>
          <p:cNvSpPr/>
          <p:nvPr/>
        </p:nvSpPr>
        <p:spPr>
          <a:xfrm>
            <a:off x="4415506" y="5258372"/>
            <a:ext cx="3246120" cy="393192"/>
          </a:xfrm>
          <a:prstGeom prst="rect">
            <a:avLst/>
          </a:prstGeom>
          <a:solidFill>
            <a:srgbClr val="22C55E"/>
          </a:solidFill>
          <a:ln>
            <a:solidFill>
              <a:srgbClr val="22C55E">
                <a:alpha val="0"/>
              </a:srgbClr>
            </a:solidFill>
          </a:ln>
        </p:spPr>
        <p:txBody>
          <a:bodyPr wrap="square" lIns="1016" tIns="1016" rIns="1016" bIns="1016"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1" i="0" u="none" strike="noStrike" kern="0" cap="none" spc="0" normalizeH="0" baseline="0" noProof="0">
                <a:ln>
                  <a:noFill/>
                </a:ln>
                <a:solidFill>
                  <a:srgbClr val="FFFF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Thị trường đại chúng</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1" name="Text 8"/>
          <p:cNvSpPr/>
          <p:nvPr/>
        </p:nvSpPr>
        <p:spPr>
          <a:xfrm>
            <a:off x="4415506" y="5669852"/>
            <a:ext cx="3246120" cy="640080"/>
          </a:xfrm>
          <a:prstGeom prst="rect">
            <a:avLst/>
          </a:prstGeom>
          <a:solidFill>
            <a:srgbClr val="F8FAFC"/>
          </a:solidFill>
          <a:ln>
            <a:solidFill>
              <a:srgbClr val="E2E8F0"/>
            </a:solidFill>
          </a:ln>
        </p:spPr>
        <p:txBody>
          <a:bodyPr wrap="square" lIns="1524" tIns="1524" rIns="1524" bIns="1524" rtlCol="0" anchor="t">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0"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Hai nhóm đa số là phần lớn thị trường; cần bằng chứng và rủi ro thấp hơn.</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2" name="Text 9"/>
          <p:cNvSpPr/>
          <p:nvPr/>
        </p:nvSpPr>
        <p:spPr>
          <a:xfrm>
            <a:off x="7879394" y="5240084"/>
            <a:ext cx="3246120" cy="393192"/>
          </a:xfrm>
          <a:prstGeom prst="rect">
            <a:avLst/>
          </a:prstGeom>
          <a:solidFill>
            <a:srgbClr val="64748B"/>
          </a:solidFill>
          <a:ln>
            <a:solidFill>
              <a:srgbClr val="64748B">
                <a:alpha val="0"/>
              </a:srgbClr>
            </a:solidFill>
          </a:ln>
        </p:spPr>
        <p:txBody>
          <a:bodyPr wrap="square" lIns="1016" tIns="1016" rIns="1016" bIns="1016"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1" i="0" u="none" strike="noStrike" kern="0" cap="none" spc="0" normalizeH="0" baseline="0" noProof="0">
                <a:ln>
                  <a:noFill/>
                </a:ln>
                <a:solidFill>
                  <a:srgbClr val="FFFF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Khách hàng thận trọng</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3" name="Text 10"/>
          <p:cNvSpPr/>
          <p:nvPr/>
        </p:nvSpPr>
        <p:spPr>
          <a:xfrm>
            <a:off x="7879394" y="5651564"/>
            <a:ext cx="3246120" cy="640080"/>
          </a:xfrm>
          <a:prstGeom prst="rect">
            <a:avLst/>
          </a:prstGeom>
          <a:solidFill>
            <a:srgbClr val="F8FAFC"/>
          </a:solidFill>
          <a:ln>
            <a:solidFill>
              <a:srgbClr val="E2E8F0"/>
            </a:solidFill>
          </a:ln>
        </p:spPr>
        <p:txBody>
          <a:bodyPr wrap="square" lIns="1524" tIns="1524" rIns="1524" bIns="1524" rtlCol="0" anchor="t">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1800" b="0"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Nhóm chấp nhận muộn thường cần sự phổ biến, chuẩn mực xã hội hoặc cam kết mạnh.</a:t>
            </a:r>
            <a:endParaRPr kumimoji="0" lang="en-US" sz="1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14" name="Picture 13" descr="Nhóm khách hàng chấp nhận sớm (Early Majority) là gì? Những đặc điểm về nhóm  khách hàng này"/>
          <p:cNvPicPr>
            <a:picLocks noChangeAspect="1"/>
          </p:cNvPicPr>
          <p:nvPr/>
        </p:nvPicPr>
        <p:blipFill>
          <a:blip r:embed="rId3"/>
          <a:srcRect l="14001"/>
          <a:stretch>
            <a:fillRect/>
          </a:stretch>
        </p:blipFill>
        <p:spPr>
          <a:xfrm>
            <a:off x="1907357" y="1421320"/>
            <a:ext cx="8388048" cy="3228975"/>
          </a:xfrm>
          <a:prstGeom prst="rect">
            <a:avLst/>
          </a:prstGeom>
        </p:spPr>
      </p:pic>
      <p:sp>
        <p:nvSpPr>
          <p:cNvPr id="16" name="Text 10"/>
          <p:cNvSpPr/>
          <p:nvPr/>
        </p:nvSpPr>
        <p:spPr>
          <a:xfrm>
            <a:off x="8050334" y="4462272"/>
            <a:ext cx="2245071" cy="480201"/>
          </a:xfrm>
          <a:prstGeom prst="rect">
            <a:avLst/>
          </a:prstGeom>
          <a:solidFill>
            <a:srgbClr val="F8FAFC"/>
          </a:solidFill>
          <a:ln>
            <a:solidFill>
              <a:srgbClr val="E2E8F0"/>
            </a:solidFill>
          </a:ln>
        </p:spPr>
        <p:txBody>
          <a:bodyPr wrap="square" lIns="1524" tIns="1524" rIns="1524" bIns="1524" rtlCol="0" anchor="t">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vi-VN" sz="1800" b="0" i="1"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Nguồn: Lowrey, 1991</a:t>
            </a:r>
            <a:endParaRPr kumimoji="0" lang="en-US" sz="1800" b="0" i="1"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0"/>
            <a:ext cx="12191695" cy="109728"/>
          </a:xfrm>
          <a:prstGeom prst="rect">
            <a:avLst/>
          </a:prstGeom>
          <a:solidFill>
            <a:srgbClr val="14B8A6"/>
          </a:solidFill>
          <a:ln w="12700">
            <a:solidFill>
              <a:srgbClr val="14B8A6"/>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 name="Text 3"/>
          <p:cNvSpPr/>
          <p:nvPr/>
        </p:nvSpPr>
        <p:spPr>
          <a:xfrm>
            <a:off x="542041" y="635508"/>
            <a:ext cx="10881360" cy="438912"/>
          </a:xfrm>
          <a:prstGeom prst="rect">
            <a:avLst/>
          </a:prstGeom>
          <a:noFill/>
        </p:spPr>
        <p:txBody>
          <a:bodyPr wrap="square" lIns="0" tIns="0" rIns="0" bIns="0" rtlCol="0" anchor="ctr">
            <a:normAutofit lnSpcReduction="10000"/>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3100" b="1"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Đặc tính sản phẩm ảnh hưởng đến tốc độ chấp nhận</a:t>
            </a:r>
            <a:endParaRPr kumimoji="0" lang="en-US" sz="3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Text 5"/>
          <p:cNvSpPr/>
          <p:nvPr/>
        </p:nvSpPr>
        <p:spPr>
          <a:xfrm>
            <a:off x="724921" y="1874520"/>
            <a:ext cx="411480" cy="411480"/>
          </a:xfrm>
          <a:prstGeom prst="rect">
            <a:avLst/>
          </a:prstGeom>
          <a:solidFill>
            <a:srgbClr val="0EA5E9"/>
          </a:solidFill>
          <a:ln>
            <a:solidFill>
              <a:srgbClr val="0EA5E9"/>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2000" b="1" i="0" u="none" strike="noStrike" kern="0" cap="none" spc="0" normalizeH="0" baseline="0" noProof="0">
                <a:ln>
                  <a:noFill/>
                </a:ln>
                <a:solidFill>
                  <a:srgbClr val="FFFF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1</a:t>
            </a:r>
            <a:endParaRPr kumimoji="0" lang="en-US" sz="20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8" name="Text 6"/>
          <p:cNvSpPr/>
          <p:nvPr/>
        </p:nvSpPr>
        <p:spPr>
          <a:xfrm>
            <a:off x="1255273" y="1892808"/>
            <a:ext cx="2715768" cy="320040"/>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2000" b="1" i="0" u="none" strike="noStrike" kern="0" cap="none" spc="0" normalizeH="0" baseline="0" noProof="0">
                <a:ln>
                  <a:noFill/>
                </a:ln>
                <a:solidFill>
                  <a:srgbClr val="0EA5E9"/>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Nổi trội</a:t>
            </a:r>
            <a:endParaRPr kumimoji="0" lang="en-US" sz="20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9" name="Text 7"/>
          <p:cNvSpPr/>
          <p:nvPr/>
        </p:nvSpPr>
        <p:spPr>
          <a:xfrm>
            <a:off x="724921" y="2423160"/>
            <a:ext cx="3337560" cy="1005840"/>
          </a:xfrm>
          <a:prstGeom prst="rect">
            <a:avLst/>
          </a:prstGeom>
          <a:solidFill>
            <a:srgbClr val="F8FAFC"/>
          </a:solidFill>
          <a:ln>
            <a:solidFill>
              <a:srgbClr val="E2E8F0"/>
            </a:solidFill>
          </a:ln>
        </p:spPr>
        <p:txBody>
          <a:bodyPr wrap="square" lIns="1524" tIns="1524" rIns="1524" bIns="1524"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2000" b="0"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Lợi ích vượt trội so với sản phẩm hiện có càng rõ thì tốc độ chấp nhận càng nhanh.</a:t>
            </a:r>
            <a:endParaRPr kumimoji="0" lang="en-US" sz="20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0" name="Text 8"/>
          <p:cNvSpPr/>
          <p:nvPr/>
        </p:nvSpPr>
        <p:spPr>
          <a:xfrm>
            <a:off x="4519681" y="1874520"/>
            <a:ext cx="411480" cy="411480"/>
          </a:xfrm>
          <a:prstGeom prst="rect">
            <a:avLst/>
          </a:prstGeom>
          <a:solidFill>
            <a:srgbClr val="14B8A6"/>
          </a:solidFill>
          <a:ln>
            <a:solidFill>
              <a:srgbClr val="14B8A6"/>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2000" b="1" i="0" u="none" strike="noStrike" kern="0" cap="none" spc="0" normalizeH="0" baseline="0" noProof="0">
                <a:ln>
                  <a:noFill/>
                </a:ln>
                <a:solidFill>
                  <a:srgbClr val="FFFF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2</a:t>
            </a:r>
            <a:endParaRPr kumimoji="0" lang="en-US" sz="20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1" name="Text 9"/>
          <p:cNvSpPr/>
          <p:nvPr/>
        </p:nvSpPr>
        <p:spPr>
          <a:xfrm>
            <a:off x="5050033" y="1892808"/>
            <a:ext cx="2715768" cy="320040"/>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2000" b="1" i="0" u="none" strike="noStrike" kern="0" cap="none" spc="0" normalizeH="0" baseline="0" noProof="0">
                <a:ln>
                  <a:noFill/>
                </a:ln>
                <a:solidFill>
                  <a:srgbClr val="14B8A6"/>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Tương hợp</a:t>
            </a:r>
            <a:endParaRPr kumimoji="0" lang="en-US" sz="20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2" name="Text 10"/>
          <p:cNvSpPr/>
          <p:nvPr/>
        </p:nvSpPr>
        <p:spPr>
          <a:xfrm>
            <a:off x="4519681" y="2423160"/>
            <a:ext cx="3337560" cy="1005840"/>
          </a:xfrm>
          <a:prstGeom prst="rect">
            <a:avLst/>
          </a:prstGeom>
          <a:solidFill>
            <a:srgbClr val="F8FAFC"/>
          </a:solidFill>
          <a:ln>
            <a:solidFill>
              <a:srgbClr val="E2E8F0"/>
            </a:solidFill>
          </a:ln>
        </p:spPr>
        <p:txBody>
          <a:bodyPr wrap="square" lIns="1524" tIns="1524" rIns="1524" bIns="1524"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2000" b="0"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Phù hợp với giá trị, niềm tin, thói quen và hành động của người tiêu dùng.</a:t>
            </a:r>
            <a:endParaRPr kumimoji="0" lang="en-US" sz="20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3" name="Text 11"/>
          <p:cNvSpPr/>
          <p:nvPr/>
        </p:nvSpPr>
        <p:spPr>
          <a:xfrm>
            <a:off x="8314441" y="1874520"/>
            <a:ext cx="411480" cy="411480"/>
          </a:xfrm>
          <a:prstGeom prst="rect">
            <a:avLst/>
          </a:prstGeom>
          <a:solidFill>
            <a:srgbClr val="22C55E"/>
          </a:solidFill>
          <a:ln>
            <a:solidFill>
              <a:srgbClr val="22C55E"/>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2000" b="1" i="0" u="none" strike="noStrike" kern="0" cap="none" spc="0" normalizeH="0" baseline="0" noProof="0">
                <a:ln>
                  <a:noFill/>
                </a:ln>
                <a:solidFill>
                  <a:srgbClr val="FFFF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3</a:t>
            </a:r>
            <a:endParaRPr kumimoji="0" lang="en-US" sz="20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4" name="Text 12"/>
          <p:cNvSpPr/>
          <p:nvPr/>
        </p:nvSpPr>
        <p:spPr>
          <a:xfrm>
            <a:off x="8844793" y="1892808"/>
            <a:ext cx="2715768" cy="320040"/>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2000" b="1" i="0" u="none" strike="noStrike" kern="0" cap="none" spc="0" normalizeH="0" baseline="0" noProof="0">
                <a:ln>
                  <a:noFill/>
                </a:ln>
                <a:solidFill>
                  <a:srgbClr val="22C55E"/>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Dễ sử dụng</a:t>
            </a:r>
            <a:endParaRPr kumimoji="0" lang="en-US" sz="20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5" name="Text 13"/>
          <p:cNvSpPr/>
          <p:nvPr/>
        </p:nvSpPr>
        <p:spPr>
          <a:xfrm>
            <a:off x="8314441" y="2423160"/>
            <a:ext cx="3337560" cy="1005840"/>
          </a:xfrm>
          <a:prstGeom prst="rect">
            <a:avLst/>
          </a:prstGeom>
          <a:solidFill>
            <a:srgbClr val="F8FAFC"/>
          </a:solidFill>
          <a:ln>
            <a:solidFill>
              <a:srgbClr val="E2E8F0"/>
            </a:solidFill>
          </a:ln>
        </p:spPr>
        <p:txBody>
          <a:bodyPr wrap="square" lIns="1524" tIns="1524" rIns="1524" bIns="1524"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2000" b="0"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Ít phức tạp, không đòi hỏi nhiều thời gian hoặc kỹ năng để sử dụng.</a:t>
            </a:r>
            <a:endParaRPr kumimoji="0" lang="en-US" sz="20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6" name="Text 14"/>
          <p:cNvSpPr/>
          <p:nvPr/>
        </p:nvSpPr>
        <p:spPr>
          <a:xfrm>
            <a:off x="724921" y="4306824"/>
            <a:ext cx="411480" cy="411480"/>
          </a:xfrm>
          <a:prstGeom prst="rect">
            <a:avLst/>
          </a:prstGeom>
          <a:solidFill>
            <a:srgbClr val="F59E0B"/>
          </a:solidFill>
          <a:ln>
            <a:solidFill>
              <a:srgbClr val="F59E0B"/>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2000" b="1" i="0" u="none" strike="noStrike" kern="0" cap="none" spc="0" normalizeH="0" baseline="0" noProof="0">
                <a:ln>
                  <a:noFill/>
                </a:ln>
                <a:solidFill>
                  <a:srgbClr val="FFFF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4</a:t>
            </a:r>
            <a:endParaRPr kumimoji="0" lang="en-US" sz="20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7" name="Text 15"/>
          <p:cNvSpPr/>
          <p:nvPr/>
        </p:nvSpPr>
        <p:spPr>
          <a:xfrm>
            <a:off x="1255273" y="4325112"/>
            <a:ext cx="4636008" cy="320040"/>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2000" b="1" i="0" u="none" strike="noStrike" kern="0" cap="none" spc="0" normalizeH="0" baseline="0" noProof="0">
                <a:ln>
                  <a:noFill/>
                </a:ln>
                <a:solidFill>
                  <a:srgbClr val="F59E0B"/>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Dễ dùng thử</a:t>
            </a:r>
            <a:endParaRPr kumimoji="0" lang="en-US" sz="20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8" name="Text 16"/>
          <p:cNvSpPr/>
          <p:nvPr/>
        </p:nvSpPr>
        <p:spPr>
          <a:xfrm>
            <a:off x="724921" y="4855464"/>
            <a:ext cx="5257800" cy="1005840"/>
          </a:xfrm>
          <a:prstGeom prst="rect">
            <a:avLst/>
          </a:prstGeom>
          <a:solidFill>
            <a:srgbClr val="F8FAFC"/>
          </a:solidFill>
          <a:ln>
            <a:solidFill>
              <a:srgbClr val="E2E8F0"/>
            </a:solidFill>
          </a:ln>
        </p:spPr>
        <p:txBody>
          <a:bodyPr wrap="square" lIns="1524" tIns="1524" rIns="1524" bIns="1524"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2000" b="0"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Có thể trải nghiệm ở quy mô nhỏ, chi phí thấp, rủi ro thấp trước khi mua.</a:t>
            </a:r>
            <a:endParaRPr kumimoji="0" lang="en-US" sz="20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9" name="Text 17"/>
          <p:cNvSpPr/>
          <p:nvPr/>
        </p:nvSpPr>
        <p:spPr>
          <a:xfrm>
            <a:off x="6348481" y="4306824"/>
            <a:ext cx="411480" cy="411480"/>
          </a:xfrm>
          <a:prstGeom prst="rect">
            <a:avLst/>
          </a:prstGeom>
          <a:solidFill>
            <a:srgbClr val="FB7185"/>
          </a:solidFill>
          <a:ln>
            <a:solidFill>
              <a:srgbClr val="FB7185"/>
            </a:solidFill>
          </a:ln>
        </p:spPr>
        <p:txBody>
          <a:bodyPr wrap="square" lIns="254" tIns="254" rIns="254" bIns="254"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2000" b="1" i="0" u="none" strike="noStrike" kern="0" cap="none" spc="0" normalizeH="0" baseline="0" noProof="0">
                <a:ln>
                  <a:noFill/>
                </a:ln>
                <a:solidFill>
                  <a:srgbClr val="FFFFFF"/>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5</a:t>
            </a:r>
            <a:endParaRPr kumimoji="0" lang="en-US" sz="20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0" name="Text 18"/>
          <p:cNvSpPr/>
          <p:nvPr/>
        </p:nvSpPr>
        <p:spPr>
          <a:xfrm>
            <a:off x="6878833" y="4325112"/>
            <a:ext cx="4636008" cy="320040"/>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2000" b="1" i="0" u="none" strike="noStrike" kern="0" cap="none" spc="0" normalizeH="0" baseline="0" noProof="0">
                <a:ln>
                  <a:noFill/>
                </a:ln>
                <a:solidFill>
                  <a:srgbClr val="FB7185"/>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Dễ quan sát / mô tả</a:t>
            </a:r>
            <a:endParaRPr kumimoji="0" lang="en-US" sz="20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1" name="Text 19"/>
          <p:cNvSpPr/>
          <p:nvPr/>
        </p:nvSpPr>
        <p:spPr>
          <a:xfrm>
            <a:off x="6348481" y="4855464"/>
            <a:ext cx="5257800" cy="1005840"/>
          </a:xfrm>
          <a:prstGeom prst="rect">
            <a:avLst/>
          </a:prstGeom>
          <a:solidFill>
            <a:srgbClr val="F8FAFC"/>
          </a:solidFill>
          <a:ln>
            <a:solidFill>
              <a:srgbClr val="E2E8F0"/>
            </a:solidFill>
          </a:ln>
        </p:spPr>
        <p:txBody>
          <a:bodyPr wrap="square" lIns="1524" tIns="1524" rIns="1524" bIns="1524"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2000" b="0" i="0" u="none" strike="noStrike" kern="0" cap="none" spc="0" normalizeH="0" baseline="0" noProof="0">
                <a:ln>
                  <a:noFill/>
                </a:ln>
                <a:solidFill>
                  <a:srgbClr val="0F172A"/>
                </a:solidFill>
                <a:effectLst/>
                <a:uLnTx/>
                <a:uFillTx/>
                <a:latin typeface="Arial" panose="020B0604020202020204" pitchFamily="34" charset="0"/>
                <a:ea typeface="Arial" panose="020B0604020202020204" pitchFamily="34" charset="-122"/>
                <a:cs typeface="Arial" panose="020B0604020202020204" pitchFamily="34" charset="-120"/>
                <a:sym typeface="Arial" panose="020B0604020202020204"/>
              </a:rPr>
              <a:t>Kết quả sử dụng dễ thấy, dễ kể lại hoặc dễ chứng minh cho người khác.</a:t>
            </a:r>
            <a:endParaRPr kumimoji="0" lang="en-US" sz="20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Shape 2626"/>
        <p:cNvGrpSpPr/>
        <p:nvPr/>
      </p:nvGrpSpPr>
      <p:grpSpPr>
        <a:xfrm>
          <a:off x="0" y="0"/>
          <a:ext cx="0" cy="0"/>
          <a:chOff x="0" y="0"/>
          <a:chExt cx="0" cy="0"/>
        </a:xfrm>
      </p:grpSpPr>
      <p:sp>
        <p:nvSpPr>
          <p:cNvPr id="2627" name="Google Shape;2627;p354"/>
          <p:cNvSpPr txBox="1">
            <a:spLocks noGrp="1"/>
          </p:cNvSpPr>
          <p:nvPr>
            <p:ph type="body" idx="1"/>
          </p:nvPr>
        </p:nvSpPr>
        <p:spPr>
          <a:xfrm>
            <a:off x="528935" y="815667"/>
            <a:ext cx="10719062" cy="5553049"/>
          </a:xfrm>
          <a:prstGeom prst="rect">
            <a:avLst/>
          </a:prstGeom>
          <a:noFill/>
          <a:ln>
            <a:noFill/>
          </a:ln>
        </p:spPr>
        <p:txBody>
          <a:bodyPr spcFirstLastPara="1" wrap="square" lIns="91425" tIns="45700" rIns="91425" bIns="45700" anchor="t" anchorCtr="0">
            <a:normAutofit fontScale="70000" lnSpcReduction="20000"/>
          </a:bodyPr>
          <a:lstStyle/>
          <a:p>
            <a:pPr marL="0" lvl="0" indent="0" algn="ctr" rtl="0">
              <a:lnSpc>
                <a:spcPct val="120000"/>
              </a:lnSpc>
              <a:spcBef>
                <a:spcPts val="0"/>
              </a:spcBef>
              <a:spcAft>
                <a:spcPts val="0"/>
              </a:spcAft>
              <a:buClr>
                <a:schemeClr val="dk1"/>
              </a:buClr>
              <a:buSzPts val="3200"/>
              <a:buNone/>
            </a:pPr>
            <a:r>
              <a:rPr lang="en-US" sz="4000" b="1">
                <a:latin typeface="Arial" panose="020B0604020202020204"/>
                <a:ea typeface="Arial" panose="020B0604020202020204"/>
                <a:cs typeface="Arial" panose="020B0604020202020204"/>
                <a:sym typeface="Arial" panose="020B0604020202020204"/>
              </a:rPr>
              <a:t>CÂU HỎI THẢO LUẬN</a:t>
            </a:r>
          </a:p>
          <a:p>
            <a:pPr marL="0" lvl="0" indent="0" algn="ctr" rtl="0">
              <a:lnSpc>
                <a:spcPct val="120000"/>
              </a:lnSpc>
              <a:spcBef>
                <a:spcPts val="0"/>
              </a:spcBef>
              <a:spcAft>
                <a:spcPts val="0"/>
              </a:spcAft>
              <a:buClr>
                <a:schemeClr val="dk1"/>
              </a:buClr>
              <a:buSzPts val="3200"/>
              <a:buNone/>
            </a:pPr>
            <a:endParaRPr sz="3200">
              <a:latin typeface="Arial" panose="020B0604020202020204"/>
              <a:ea typeface="Arial" panose="020B0604020202020204"/>
              <a:cs typeface="Arial" panose="020B0604020202020204"/>
              <a:sym typeface="Arial" panose="020B0604020202020204"/>
            </a:endParaRPr>
          </a:p>
          <a:p>
            <a:pPr marL="0" lvl="0" indent="0" algn="l" rtl="0">
              <a:lnSpc>
                <a:spcPct val="120000"/>
              </a:lnSpc>
              <a:spcBef>
                <a:spcPts val="0"/>
              </a:spcBef>
              <a:spcAft>
                <a:spcPts val="0"/>
              </a:spcAft>
              <a:buClr>
                <a:schemeClr val="dk1"/>
              </a:buClr>
              <a:buSzPts val="2800"/>
              <a:buNone/>
            </a:pPr>
            <a:r>
              <a:rPr lang="en-US">
                <a:latin typeface="Arial" panose="020B0604020202020204"/>
                <a:ea typeface="Arial" panose="020B0604020202020204"/>
                <a:cs typeface="Arial" panose="020B0604020202020204"/>
                <a:sym typeface="Arial" panose="020B0604020202020204"/>
              </a:rPr>
              <a:t>1. </a:t>
            </a:r>
            <a:r>
              <a:rPr lang="en-US" err="1">
                <a:latin typeface="Arial" panose="020B0604020202020204"/>
                <a:ea typeface="Arial" panose="020B0604020202020204"/>
                <a:cs typeface="Arial" panose="020B0604020202020204"/>
                <a:sym typeface="Arial" panose="020B0604020202020204"/>
              </a:rPr>
              <a:t>Với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những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sản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phẩm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hiếm</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mua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đất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xe</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để</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sử</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dụng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thì</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những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yếu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tố</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nào</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ảnh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hưởng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quan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trọng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quá</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trình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ra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quyết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định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mua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của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khách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hàng</a:t>
            </a:r>
            <a:r>
              <a:rPr lang="en-US">
                <a:latin typeface="Arial" panose="020B0604020202020204"/>
                <a:ea typeface="Arial" panose="020B0604020202020204"/>
                <a:cs typeface="Arial" panose="020B0604020202020204"/>
                <a:sym typeface="Arial" panose="020B0604020202020204"/>
              </a:rPr>
              <a:t>?</a:t>
            </a:r>
            <a:endParaRPr>
              <a:latin typeface="Arial" panose="020B0604020202020204"/>
              <a:ea typeface="Arial" panose="020B0604020202020204"/>
              <a:cs typeface="Arial" panose="020B0604020202020204"/>
              <a:sym typeface="Arial" panose="020B0604020202020204"/>
            </a:endParaRPr>
          </a:p>
          <a:p>
            <a:pPr marL="0" lvl="0" indent="0" algn="l" rtl="0">
              <a:lnSpc>
                <a:spcPct val="120000"/>
              </a:lnSpc>
              <a:spcBef>
                <a:spcPts val="0"/>
              </a:spcBef>
              <a:spcAft>
                <a:spcPts val="0"/>
              </a:spcAft>
              <a:buClr>
                <a:schemeClr val="dk1"/>
              </a:buClr>
              <a:buSzPts val="2800"/>
              <a:buNone/>
            </a:pPr>
            <a:r>
              <a:rPr lang="en-US">
                <a:latin typeface="Arial" panose="020B0604020202020204"/>
                <a:ea typeface="Arial" panose="020B0604020202020204"/>
                <a:cs typeface="Arial" panose="020B0604020202020204"/>
                <a:sym typeface="Arial" panose="020B0604020202020204"/>
              </a:rPr>
              <a:t>2.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yếu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tố</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nào</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quan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trọng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động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hành</a:t>
            </a:r>
            <a:r>
              <a:rPr lang="en-US">
                <a:latin typeface="Arial" panose="020B0604020202020204"/>
                <a:ea typeface="Arial" panose="020B0604020202020204"/>
                <a:cs typeface="Arial" panose="020B0604020202020204"/>
                <a:sym typeface="Arial" panose="020B0604020202020204"/>
              </a:rPr>
              <a:t> vi </a:t>
            </a:r>
            <a:r>
              <a:rPr lang="en-US" err="1">
                <a:latin typeface="Arial" panose="020B0604020202020204"/>
                <a:ea typeface="Arial" panose="020B0604020202020204"/>
                <a:cs typeface="Arial" panose="020B0604020202020204"/>
                <a:sym typeface="Arial" panose="020B0604020202020204"/>
              </a:rPr>
              <a:t>mua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hàng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tiêu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dùng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nhanh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của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giới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trẻ</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hiện</a:t>
            </a:r>
            <a:r>
              <a:rPr lang="en-US">
                <a:latin typeface="Arial" panose="020B0604020202020204"/>
                <a:ea typeface="Arial" panose="020B0604020202020204"/>
                <a:cs typeface="Arial" panose="020B0604020202020204"/>
                <a:sym typeface="Arial" panose="020B0604020202020204"/>
              </a:rPr>
              <a:t> nay?</a:t>
            </a:r>
            <a:endParaRPr>
              <a:latin typeface="Arial" panose="020B0604020202020204"/>
              <a:ea typeface="Arial" panose="020B0604020202020204"/>
              <a:cs typeface="Arial" panose="020B0604020202020204"/>
              <a:sym typeface="Arial" panose="020B0604020202020204"/>
            </a:endParaRPr>
          </a:p>
          <a:p>
            <a:pPr marL="0" lvl="0" indent="0" algn="l" rtl="0">
              <a:lnSpc>
                <a:spcPct val="120000"/>
              </a:lnSpc>
              <a:spcBef>
                <a:spcPts val="0"/>
              </a:spcBef>
              <a:spcAft>
                <a:spcPts val="0"/>
              </a:spcAft>
              <a:buClr>
                <a:schemeClr val="dk1"/>
              </a:buClr>
              <a:buSzPts val="2800"/>
              <a:buNone/>
            </a:pPr>
            <a:r>
              <a:rPr lang="en-US">
                <a:latin typeface="Arial" panose="020B0604020202020204"/>
                <a:ea typeface="Arial" panose="020B0604020202020204"/>
                <a:cs typeface="Arial" panose="020B0604020202020204"/>
                <a:sym typeface="Arial" panose="020B0604020202020204"/>
              </a:rPr>
              <a:t>3.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doanh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nghiệp</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vừa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nhỏ</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ứng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dụng</a:t>
            </a:r>
            <a:r>
              <a:rPr lang="en-US">
                <a:latin typeface="Arial" panose="020B0604020202020204"/>
                <a:ea typeface="Arial" panose="020B0604020202020204"/>
                <a:cs typeface="Arial" panose="020B0604020202020204"/>
                <a:sym typeface="Arial" panose="020B0604020202020204"/>
              </a:rPr>
              <a:t> marketing </a:t>
            </a:r>
            <a:r>
              <a:rPr lang="en-US" err="1">
                <a:latin typeface="Arial" panose="020B0604020202020204"/>
                <a:ea typeface="Arial" panose="020B0604020202020204"/>
                <a:cs typeface="Arial" panose="020B0604020202020204"/>
                <a:sym typeface="Arial" panose="020B0604020202020204"/>
              </a:rPr>
              <a:t>theo</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hành</a:t>
            </a:r>
            <a:r>
              <a:rPr lang="en-US">
                <a:latin typeface="Arial" panose="020B0604020202020204"/>
                <a:ea typeface="Arial" panose="020B0604020202020204"/>
                <a:cs typeface="Arial" panose="020B0604020202020204"/>
                <a:sym typeface="Arial" panose="020B0604020202020204"/>
              </a:rPr>
              <a:t> vi </a:t>
            </a:r>
            <a:r>
              <a:rPr lang="en-US" err="1">
                <a:latin typeface="Arial" panose="020B0604020202020204"/>
                <a:ea typeface="Arial" panose="020B0604020202020204"/>
                <a:cs typeface="Arial" panose="020B0604020202020204"/>
                <a:sym typeface="Arial" panose="020B0604020202020204"/>
              </a:rPr>
              <a:t>mua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cần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lưu</a:t>
            </a:r>
            <a:r>
              <a:rPr lang="en-US">
                <a:latin typeface="Arial" panose="020B0604020202020204"/>
                <a:ea typeface="Arial" panose="020B0604020202020204"/>
                <a:cs typeface="Arial" panose="020B0604020202020204"/>
                <a:sym typeface="Arial" panose="020B0604020202020204"/>
              </a:rPr>
              <a:t> ý </a:t>
            </a:r>
            <a:r>
              <a:rPr lang="en-US" err="1">
                <a:latin typeface="Arial" panose="020B0604020202020204"/>
                <a:ea typeface="Arial" panose="020B0604020202020204"/>
                <a:cs typeface="Arial" panose="020B0604020202020204"/>
                <a:sym typeface="Arial" panose="020B0604020202020204"/>
              </a:rPr>
              <a:t>đến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những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yếu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tố</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gì</a:t>
            </a:r>
            <a:r>
              <a:rPr lang="en-US">
                <a:latin typeface="Arial" panose="020B0604020202020204"/>
                <a:ea typeface="Arial" panose="020B0604020202020204"/>
                <a:cs typeface="Arial" panose="020B0604020202020204"/>
                <a:sym typeface="Arial" panose="020B0604020202020204"/>
              </a:rPr>
              <a:t>?</a:t>
            </a:r>
            <a:endParaRPr>
              <a:latin typeface="Arial" panose="020B0604020202020204"/>
              <a:ea typeface="Arial" panose="020B0604020202020204"/>
              <a:cs typeface="Arial" panose="020B0604020202020204"/>
              <a:sym typeface="Arial" panose="020B0604020202020204"/>
            </a:endParaRPr>
          </a:p>
          <a:p>
            <a:pPr marL="0" lvl="0" indent="0" algn="l" rtl="0">
              <a:lnSpc>
                <a:spcPct val="120000"/>
              </a:lnSpc>
              <a:spcBef>
                <a:spcPts val="0"/>
              </a:spcBef>
              <a:spcAft>
                <a:spcPts val="0"/>
              </a:spcAft>
              <a:buClr>
                <a:schemeClr val="dk1"/>
              </a:buClr>
              <a:buSzPts val="2800"/>
              <a:buNone/>
            </a:pPr>
            <a:r>
              <a:rPr lang="en-US">
                <a:latin typeface="Arial" panose="020B0604020202020204"/>
                <a:ea typeface="Arial" panose="020B0604020202020204"/>
                <a:cs typeface="Arial" panose="020B0604020202020204"/>
                <a:sym typeface="Arial" panose="020B0604020202020204"/>
              </a:rPr>
              <a:t>4. </a:t>
            </a:r>
            <a:r>
              <a:rPr lang="en-US" err="1">
                <a:latin typeface="Arial" panose="020B0604020202020204"/>
                <a:ea typeface="Arial" panose="020B0604020202020204"/>
                <a:cs typeface="Arial" panose="020B0604020202020204"/>
                <a:sym typeface="Arial" panose="020B0604020202020204"/>
              </a:rPr>
              <a:t>Các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yếu</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tố</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ảnh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hưởng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đến</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quyết</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định</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mua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hàng</a:t>
            </a:r>
            <a:r>
              <a:rPr lang="en-US">
                <a:latin typeface="Arial" panose="020B0604020202020204"/>
                <a:ea typeface="Arial" panose="020B0604020202020204"/>
                <a:cs typeface="Arial" panose="020B0604020202020204"/>
                <a:sym typeface="Arial" panose="020B0604020202020204"/>
              </a:rPr>
              <a:t> online </a:t>
            </a:r>
            <a:r>
              <a:rPr lang="en-US" err="1">
                <a:latin typeface="Arial" panose="020B0604020202020204"/>
                <a:ea typeface="Arial" panose="020B0604020202020204"/>
                <a:cs typeface="Arial" panose="020B0604020202020204"/>
                <a:sym typeface="Arial" panose="020B0604020202020204"/>
              </a:rPr>
              <a:t>có</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khác</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gì</a:t>
            </a:r>
            <a:r>
              <a:rPr lang="en-US">
                <a:latin typeface="Arial" panose="020B0604020202020204"/>
                <a:ea typeface="Arial" panose="020B0604020202020204"/>
                <a:cs typeface="Arial" panose="020B0604020202020204"/>
                <a:sym typeface="Arial" panose="020B0604020202020204"/>
              </a:rPr>
              <a:t> so </a:t>
            </a:r>
            <a:r>
              <a:rPr lang="en-US" err="1">
                <a:latin typeface="Arial" panose="020B0604020202020204"/>
                <a:ea typeface="Arial" panose="020B0604020202020204"/>
                <a:cs typeface="Arial" panose="020B0604020202020204"/>
                <a:sym typeface="Arial" panose="020B0604020202020204"/>
              </a:rPr>
              <a:t>với</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mua</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hàng</a:t>
            </a:r>
            <a:r>
              <a:rPr lang="en-US">
                <a:latin typeface="Arial" panose="020B0604020202020204"/>
                <a:ea typeface="Arial" panose="020B0604020202020204"/>
                <a:cs typeface="Arial" panose="020B0604020202020204"/>
                <a:sym typeface="Arial" panose="020B0604020202020204"/>
              </a:rPr>
              <a:t> offline? </a:t>
            </a:r>
            <a:r>
              <a:rPr lang="en-US" err="1">
                <a:latin typeface="Arial" panose="020B0604020202020204"/>
                <a:ea typeface="Arial" panose="020B0604020202020204"/>
                <a:cs typeface="Arial" panose="020B0604020202020204"/>
                <a:sym typeface="Arial" panose="020B0604020202020204"/>
              </a:rPr>
              <a:t>Ứng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dụng</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vào</a:t>
            </a:r>
            <a:r>
              <a:rPr lang="en-US">
                <a:latin typeface="Arial" panose="020B0604020202020204"/>
                <a:ea typeface="Arial" panose="020B0604020202020204"/>
                <a:cs typeface="Arial" panose="020B0604020202020204"/>
                <a:sym typeface="Arial" panose="020B0604020202020204"/>
              </a:rPr>
              <a:t> marketing </a:t>
            </a:r>
            <a:r>
              <a:rPr lang="en-US" err="1">
                <a:latin typeface="Arial" panose="020B0604020202020204"/>
                <a:ea typeface="Arial" panose="020B0604020202020204"/>
                <a:cs typeface="Arial" panose="020B0604020202020204"/>
                <a:sym typeface="Arial" panose="020B0604020202020204"/>
              </a:rPr>
              <a:t>như</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thế</a:t>
            </a:r>
            <a:r>
              <a:rPr lang="en-US">
                <a:latin typeface="Arial" panose="020B0604020202020204"/>
                <a:ea typeface="Arial" panose="020B0604020202020204"/>
                <a:cs typeface="Arial" panose="020B0604020202020204"/>
                <a:sym typeface="Arial" panose="020B0604020202020204"/>
              </a:rPr>
              <a:t> </a:t>
            </a:r>
            <a:r>
              <a:rPr lang="en-US" err="1">
                <a:latin typeface="Arial" panose="020B0604020202020204"/>
                <a:ea typeface="Arial" panose="020B0604020202020204"/>
                <a:cs typeface="Arial" panose="020B0604020202020204"/>
                <a:sym typeface="Arial" panose="020B0604020202020204"/>
              </a:rPr>
              <a:t>nào</a:t>
            </a:r>
            <a:r>
              <a:rPr lang="en-US">
                <a:latin typeface="Arial" panose="020B0604020202020204"/>
                <a:ea typeface="Arial" panose="020B0604020202020204"/>
                <a:cs typeface="Arial" panose="020B0604020202020204"/>
                <a:sym typeface="Arial" panose="020B0604020202020204"/>
              </a:rPr>
              <a:t>?</a:t>
            </a:r>
            <a:endParaRPr lang="vi-VN">
              <a:latin typeface="Arial" panose="020B0604020202020204"/>
              <a:ea typeface="Arial" panose="020B0604020202020204"/>
              <a:cs typeface="Arial" panose="020B0604020202020204"/>
              <a:sym typeface="Arial" panose="020B0604020202020204"/>
            </a:endParaRPr>
          </a:p>
          <a:p>
            <a:pPr marL="0" lvl="0" indent="0" algn="l" rtl="0">
              <a:lnSpc>
                <a:spcPct val="120000"/>
              </a:lnSpc>
              <a:spcBef>
                <a:spcPts val="0"/>
              </a:spcBef>
              <a:spcAft>
                <a:spcPts val="0"/>
              </a:spcAft>
              <a:buClr>
                <a:schemeClr val="dk1"/>
              </a:buClr>
              <a:buSzPts val="2800"/>
              <a:buNone/>
            </a:pPr>
            <a:r>
              <a:rPr lang="en-US"/>
              <a:t>5. </a:t>
            </a:r>
            <a:r>
              <a:rPr lang="en-US" err="1"/>
              <a:t>Tại</a:t>
            </a:r>
            <a:r>
              <a:rPr lang="en-US"/>
              <a:t> </a:t>
            </a:r>
            <a:r>
              <a:rPr lang="en-US" err="1"/>
              <a:t>sao</a:t>
            </a:r>
            <a:r>
              <a:rPr lang="en-US"/>
              <a:t> </a:t>
            </a:r>
            <a:r>
              <a:rPr lang="en-US" err="1"/>
              <a:t>nhóm</a:t>
            </a:r>
            <a:r>
              <a:rPr lang="en-US"/>
              <a:t> </a:t>
            </a:r>
            <a:r>
              <a:rPr lang="en-US" err="1"/>
              <a:t>khách</a:t>
            </a:r>
            <a:r>
              <a:rPr lang="en-US"/>
              <a:t> </a:t>
            </a:r>
            <a:r>
              <a:rPr lang="en-US" err="1"/>
              <a:t>hàng</a:t>
            </a:r>
            <a:r>
              <a:rPr lang="en-US"/>
              <a:t> "</a:t>
            </a:r>
            <a:r>
              <a:rPr lang="en-US" err="1"/>
              <a:t>Những</a:t>
            </a:r>
            <a:r>
              <a:rPr lang="en-US"/>
              <a:t> </a:t>
            </a:r>
            <a:r>
              <a:rPr lang="en-US" err="1"/>
              <a:t>người</a:t>
            </a:r>
            <a:r>
              <a:rPr lang="en-US"/>
              <a:t> </a:t>
            </a:r>
            <a:r>
              <a:rPr lang="en-US" err="1"/>
              <a:t>chọn</a:t>
            </a:r>
            <a:r>
              <a:rPr lang="en-US"/>
              <a:t> </a:t>
            </a:r>
            <a:r>
              <a:rPr lang="en-US" err="1"/>
              <a:t>dùng</a:t>
            </a:r>
            <a:r>
              <a:rPr lang="en-US"/>
              <a:t> </a:t>
            </a:r>
            <a:r>
              <a:rPr lang="en-US" err="1"/>
              <a:t>sớm</a:t>
            </a:r>
            <a:r>
              <a:rPr lang="en-US"/>
              <a:t>" (Early Adopters - </a:t>
            </a:r>
            <a:r>
              <a:rPr lang="en-US" err="1"/>
              <a:t>chiếm</a:t>
            </a:r>
            <a:r>
              <a:rPr lang="en-US"/>
              <a:t> 13.5%) </a:t>
            </a:r>
            <a:r>
              <a:rPr lang="en-US" err="1"/>
              <a:t>lại</a:t>
            </a:r>
            <a:r>
              <a:rPr lang="en-US"/>
              <a:t> </a:t>
            </a:r>
            <a:r>
              <a:rPr lang="en-US" err="1"/>
              <a:t>được</a:t>
            </a:r>
            <a:r>
              <a:rPr lang="en-US"/>
              <a:t> </a:t>
            </a:r>
            <a:r>
              <a:rPr lang="en-US" err="1"/>
              <a:t>các</a:t>
            </a:r>
            <a:r>
              <a:rPr lang="en-US"/>
              <a:t> </a:t>
            </a:r>
            <a:r>
              <a:rPr lang="en-US" err="1"/>
              <a:t>doanh</a:t>
            </a:r>
            <a:r>
              <a:rPr lang="en-US"/>
              <a:t> </a:t>
            </a:r>
            <a:r>
              <a:rPr lang="en-US" err="1"/>
              <a:t>nghiệp</a:t>
            </a:r>
            <a:r>
              <a:rPr lang="en-US"/>
              <a:t> </a:t>
            </a:r>
            <a:r>
              <a:rPr lang="en-US" err="1"/>
              <a:t>đặc</a:t>
            </a:r>
            <a:r>
              <a:rPr lang="en-US"/>
              <a:t> </a:t>
            </a:r>
            <a:r>
              <a:rPr lang="en-US" err="1"/>
              <a:t>biệt</a:t>
            </a:r>
            <a:r>
              <a:rPr lang="en-US"/>
              <a:t> </a:t>
            </a:r>
            <a:r>
              <a:rPr lang="en-US" err="1"/>
              <a:t>coi</a:t>
            </a:r>
            <a:r>
              <a:rPr lang="en-US"/>
              <a:t> </a:t>
            </a:r>
            <a:r>
              <a:rPr lang="en-US" err="1"/>
              <a:t>trọng</a:t>
            </a:r>
            <a:r>
              <a:rPr lang="en-US"/>
              <a:t> </a:t>
            </a:r>
            <a:r>
              <a:rPr lang="en-US" err="1"/>
              <a:t>trong</a:t>
            </a:r>
            <a:r>
              <a:rPr lang="en-US"/>
              <a:t> </a:t>
            </a:r>
            <a:r>
              <a:rPr lang="en-US" err="1"/>
              <a:t>việc</a:t>
            </a:r>
            <a:r>
              <a:rPr lang="en-US"/>
              <a:t> </a:t>
            </a:r>
            <a:r>
              <a:rPr lang="en-US" err="1"/>
              <a:t>định</a:t>
            </a:r>
            <a:r>
              <a:rPr lang="en-US"/>
              <a:t> </a:t>
            </a:r>
            <a:r>
              <a:rPr lang="en-US" err="1"/>
              <a:t>hình</a:t>
            </a:r>
            <a:r>
              <a:rPr lang="en-US"/>
              <a:t> </a:t>
            </a:r>
            <a:r>
              <a:rPr lang="en-US" err="1"/>
              <a:t>chiến</a:t>
            </a:r>
            <a:r>
              <a:rPr lang="en-US"/>
              <a:t> </a:t>
            </a:r>
            <a:r>
              <a:rPr lang="en-US" err="1"/>
              <a:t>lược</a:t>
            </a:r>
            <a:r>
              <a:rPr lang="en-US"/>
              <a:t> </a:t>
            </a:r>
            <a:r>
              <a:rPr lang="en-US" err="1"/>
              <a:t>truyền</a:t>
            </a:r>
            <a:r>
              <a:rPr lang="en-US"/>
              <a:t> </a:t>
            </a:r>
            <a:r>
              <a:rPr lang="en-US" err="1"/>
              <a:t>thông</a:t>
            </a:r>
            <a:r>
              <a:rPr lang="en-US"/>
              <a:t> </a:t>
            </a:r>
            <a:r>
              <a:rPr lang="en-US" err="1"/>
              <a:t>và</a:t>
            </a:r>
            <a:r>
              <a:rPr lang="en-US"/>
              <a:t> </a:t>
            </a:r>
            <a:r>
              <a:rPr lang="en-US" err="1"/>
              <a:t>tạo</a:t>
            </a:r>
            <a:r>
              <a:rPr lang="en-US"/>
              <a:t> </a:t>
            </a:r>
            <a:r>
              <a:rPr lang="en-US" err="1"/>
              <a:t>ảnh</a:t>
            </a:r>
            <a:r>
              <a:rPr lang="en-US"/>
              <a:t> </a:t>
            </a:r>
            <a:r>
              <a:rPr lang="en-US" err="1"/>
              <a:t>hưởng</a:t>
            </a:r>
            <a:r>
              <a:rPr lang="en-US"/>
              <a:t> </a:t>
            </a:r>
            <a:r>
              <a:rPr lang="en-US" err="1"/>
              <a:t>đến</a:t>
            </a:r>
            <a:r>
              <a:rPr lang="en-US"/>
              <a:t> </a:t>
            </a:r>
            <a:r>
              <a:rPr lang="en-US" err="1"/>
              <a:t>các</a:t>
            </a:r>
            <a:r>
              <a:rPr lang="en-US"/>
              <a:t> </a:t>
            </a:r>
            <a:r>
              <a:rPr lang="en-US" err="1"/>
              <a:t>nhóm</a:t>
            </a:r>
            <a:r>
              <a:rPr lang="en-US"/>
              <a:t> </a:t>
            </a:r>
            <a:r>
              <a:rPr lang="en-US" err="1"/>
              <a:t>khách</a:t>
            </a:r>
            <a:r>
              <a:rPr lang="en-US"/>
              <a:t> </a:t>
            </a:r>
            <a:r>
              <a:rPr lang="en-US" err="1"/>
              <a:t>hàng</a:t>
            </a:r>
            <a:r>
              <a:rPr lang="en-US"/>
              <a:t> </a:t>
            </a:r>
            <a:r>
              <a:rPr lang="en-US" err="1"/>
              <a:t>chấp</a:t>
            </a:r>
            <a:r>
              <a:rPr lang="en-US"/>
              <a:t> </a:t>
            </a:r>
            <a:r>
              <a:rPr lang="en-US" err="1"/>
              <a:t>nhận</a:t>
            </a:r>
            <a:r>
              <a:rPr lang="en-US"/>
              <a:t> </a:t>
            </a:r>
            <a:r>
              <a:rPr lang="en-US" err="1"/>
              <a:t>muộn</a:t>
            </a:r>
            <a:r>
              <a:rPr lang="en-US"/>
              <a:t> </a:t>
            </a:r>
            <a:r>
              <a:rPr lang="en-US" err="1"/>
              <a:t>hơn</a:t>
            </a:r>
            <a:r>
              <a:rPr lang="en-US"/>
              <a:t> </a:t>
            </a:r>
            <a:r>
              <a:rPr lang="en-US" err="1"/>
              <a:t>trên</a:t>
            </a:r>
            <a:r>
              <a:rPr lang="en-US"/>
              <a:t> </a:t>
            </a:r>
            <a:r>
              <a:rPr lang="en-US" err="1"/>
              <a:t>thị</a:t>
            </a:r>
            <a:r>
              <a:rPr lang="en-US"/>
              <a:t> </a:t>
            </a:r>
            <a:r>
              <a:rPr lang="en-US" err="1"/>
              <a:t>trường</a:t>
            </a:r>
            <a:r>
              <a:rPr lang="en-US"/>
              <a:t>?</a:t>
            </a:r>
            <a:endParaRPr lang="vi-VN"/>
          </a:p>
          <a:p>
            <a:pPr marL="0" lvl="0" indent="0" algn="l" rtl="0">
              <a:lnSpc>
                <a:spcPct val="120000"/>
              </a:lnSpc>
              <a:spcBef>
                <a:spcPts val="0"/>
              </a:spcBef>
              <a:spcAft>
                <a:spcPts val="0"/>
              </a:spcAft>
              <a:buClr>
                <a:schemeClr val="dk1"/>
              </a:buClr>
              <a:buSzPts val="2800"/>
              <a:buNone/>
            </a:pPr>
            <a:r>
              <a:rPr lang="en-US"/>
              <a:t>6. </a:t>
            </a:r>
            <a:r>
              <a:rPr lang="en-US" err="1"/>
              <a:t>Đối</a:t>
            </a:r>
            <a:r>
              <a:rPr lang="en-US"/>
              <a:t> </a:t>
            </a:r>
            <a:r>
              <a:rPr lang="en-US" err="1"/>
              <a:t>với</a:t>
            </a:r>
            <a:r>
              <a:rPr lang="en-US"/>
              <a:t> </a:t>
            </a:r>
            <a:r>
              <a:rPr lang="en-US" err="1"/>
              <a:t>một</a:t>
            </a:r>
            <a:r>
              <a:rPr lang="en-US"/>
              <a:t> </a:t>
            </a:r>
            <a:r>
              <a:rPr lang="en-US" err="1"/>
              <a:t>sản</a:t>
            </a:r>
            <a:r>
              <a:rPr lang="en-US"/>
              <a:t> </a:t>
            </a:r>
            <a:r>
              <a:rPr lang="en-US" err="1"/>
              <a:t>phẩm</a:t>
            </a:r>
            <a:r>
              <a:rPr lang="en-US"/>
              <a:t> </a:t>
            </a:r>
            <a:r>
              <a:rPr lang="en-US" err="1"/>
              <a:t>công</a:t>
            </a:r>
            <a:r>
              <a:rPr lang="en-US"/>
              <a:t> </a:t>
            </a:r>
            <a:r>
              <a:rPr lang="en-US" err="1"/>
              <a:t>nghệ</a:t>
            </a:r>
            <a:r>
              <a:rPr lang="en-US"/>
              <a:t> </a:t>
            </a:r>
            <a:r>
              <a:rPr lang="en-US" err="1"/>
              <a:t>hoàn</a:t>
            </a:r>
            <a:r>
              <a:rPr lang="en-US"/>
              <a:t> </a:t>
            </a:r>
            <a:r>
              <a:rPr lang="en-US" err="1"/>
              <a:t>toàn</a:t>
            </a:r>
            <a:r>
              <a:rPr lang="en-US"/>
              <a:t> </a:t>
            </a:r>
            <a:r>
              <a:rPr lang="en-US" err="1"/>
              <a:t>mới</a:t>
            </a:r>
            <a:r>
              <a:rPr lang="en-US"/>
              <a:t> (</a:t>
            </a:r>
            <a:r>
              <a:rPr lang="en-US" err="1"/>
              <a:t>ví</a:t>
            </a:r>
            <a:r>
              <a:rPr lang="en-US"/>
              <a:t> </a:t>
            </a:r>
            <a:r>
              <a:rPr lang="en-US" err="1"/>
              <a:t>dụ</a:t>
            </a:r>
            <a:r>
              <a:rPr lang="en-US"/>
              <a:t>: </a:t>
            </a:r>
            <a:r>
              <a:rPr lang="en-US" err="1"/>
              <a:t>kính</a:t>
            </a:r>
            <a:r>
              <a:rPr lang="en-US"/>
              <a:t> </a:t>
            </a:r>
            <a:r>
              <a:rPr lang="en-US" err="1"/>
              <a:t>thực</a:t>
            </a:r>
            <a:r>
              <a:rPr lang="en-US"/>
              <a:t> </a:t>
            </a:r>
            <a:r>
              <a:rPr lang="en-US" err="1"/>
              <a:t>tế</a:t>
            </a:r>
            <a:r>
              <a:rPr lang="en-US"/>
              <a:t> </a:t>
            </a:r>
            <a:r>
              <a:rPr lang="en-US" err="1"/>
              <a:t>ảo</a:t>
            </a:r>
            <a:r>
              <a:rPr lang="en-US"/>
              <a:t> </a:t>
            </a:r>
            <a:r>
              <a:rPr lang="en-US" err="1"/>
              <a:t>hoặc</a:t>
            </a:r>
            <a:r>
              <a:rPr lang="en-US"/>
              <a:t> </a:t>
            </a:r>
            <a:r>
              <a:rPr lang="en-US" err="1"/>
              <a:t>xe</a:t>
            </a:r>
            <a:r>
              <a:rPr lang="en-US"/>
              <a:t> </a:t>
            </a:r>
            <a:r>
              <a:rPr lang="en-US" err="1"/>
              <a:t>điện</a:t>
            </a:r>
            <a:r>
              <a:rPr lang="en-US"/>
              <a:t> </a:t>
            </a:r>
            <a:r>
              <a:rPr lang="en-US" err="1"/>
              <a:t>thông</a:t>
            </a:r>
            <a:r>
              <a:rPr lang="en-US"/>
              <a:t> </a:t>
            </a:r>
            <a:r>
              <a:rPr lang="en-US" err="1"/>
              <a:t>minh</a:t>
            </a:r>
            <a:r>
              <a:rPr lang="en-US"/>
              <a:t>), </a:t>
            </a:r>
            <a:r>
              <a:rPr lang="en-US" err="1"/>
              <a:t>doanh</a:t>
            </a:r>
            <a:r>
              <a:rPr lang="en-US"/>
              <a:t> </a:t>
            </a:r>
            <a:r>
              <a:rPr lang="en-US" err="1"/>
              <a:t>nghiệp</a:t>
            </a:r>
            <a:r>
              <a:rPr lang="en-US"/>
              <a:t> </a:t>
            </a:r>
            <a:r>
              <a:rPr lang="en-US" err="1"/>
              <a:t>nên</a:t>
            </a:r>
            <a:r>
              <a:rPr lang="en-US"/>
              <a:t> </a:t>
            </a:r>
            <a:r>
              <a:rPr lang="en-US" err="1"/>
              <a:t>xây</a:t>
            </a:r>
            <a:r>
              <a:rPr lang="en-US"/>
              <a:t> </a:t>
            </a:r>
            <a:r>
              <a:rPr lang="en-US" err="1"/>
              <a:t>dựng</a:t>
            </a:r>
            <a:r>
              <a:rPr lang="en-US"/>
              <a:t> </a:t>
            </a:r>
            <a:r>
              <a:rPr lang="en-US" err="1"/>
              <a:t>chiến</a:t>
            </a:r>
            <a:r>
              <a:rPr lang="en-US"/>
              <a:t> </a:t>
            </a:r>
            <a:r>
              <a:rPr lang="en-US" err="1"/>
              <a:t>lược</a:t>
            </a:r>
            <a:r>
              <a:rPr lang="en-US"/>
              <a:t> Marketing </a:t>
            </a:r>
            <a:r>
              <a:rPr lang="en-US" err="1"/>
              <a:t>như</a:t>
            </a:r>
            <a:r>
              <a:rPr lang="en-US"/>
              <a:t> </a:t>
            </a:r>
            <a:r>
              <a:rPr lang="en-US" err="1"/>
              <a:t>thế</a:t>
            </a:r>
            <a:r>
              <a:rPr lang="en-US"/>
              <a:t> </a:t>
            </a:r>
            <a:r>
              <a:rPr lang="en-US" err="1"/>
              <a:t>nào</a:t>
            </a:r>
            <a:r>
              <a:rPr lang="en-US"/>
              <a:t> </a:t>
            </a:r>
            <a:r>
              <a:rPr lang="en-US" err="1"/>
              <a:t>để</a:t>
            </a:r>
            <a:r>
              <a:rPr lang="en-US"/>
              <a:t> </a:t>
            </a:r>
            <a:r>
              <a:rPr lang="en-US" err="1"/>
              <a:t>tối</a:t>
            </a:r>
            <a:r>
              <a:rPr lang="en-US"/>
              <a:t> </a:t>
            </a:r>
            <a:r>
              <a:rPr lang="en-US" err="1"/>
              <a:t>ưu</a:t>
            </a:r>
            <a:r>
              <a:rPr lang="en-US"/>
              <a:t> </a:t>
            </a:r>
            <a:r>
              <a:rPr lang="en-US" err="1"/>
              <a:t>hóa</a:t>
            </a:r>
            <a:r>
              <a:rPr lang="en-US"/>
              <a:t> </a:t>
            </a:r>
            <a:r>
              <a:rPr lang="en-US" err="1"/>
              <a:t>hai</a:t>
            </a:r>
            <a:r>
              <a:rPr lang="en-US"/>
              <a:t> </a:t>
            </a:r>
            <a:r>
              <a:rPr lang="en-US" err="1"/>
              <a:t>đặc</a:t>
            </a:r>
            <a:r>
              <a:rPr lang="en-US"/>
              <a:t> </a:t>
            </a:r>
            <a:r>
              <a:rPr lang="en-US" err="1"/>
              <a:t>tính</a:t>
            </a:r>
            <a:r>
              <a:rPr lang="en-US"/>
              <a:t> "</a:t>
            </a:r>
            <a:r>
              <a:rPr lang="en-US" err="1"/>
              <a:t>Dễ</a:t>
            </a:r>
            <a:r>
              <a:rPr lang="en-US"/>
              <a:t> </a:t>
            </a:r>
            <a:r>
              <a:rPr lang="en-US" err="1"/>
              <a:t>dùng</a:t>
            </a:r>
            <a:r>
              <a:rPr lang="en-US"/>
              <a:t> </a:t>
            </a:r>
            <a:r>
              <a:rPr lang="en-US" err="1"/>
              <a:t>thử</a:t>
            </a:r>
            <a:r>
              <a:rPr lang="en-US"/>
              <a:t> ở </a:t>
            </a:r>
            <a:r>
              <a:rPr lang="en-US" err="1"/>
              <a:t>quy</a:t>
            </a:r>
            <a:r>
              <a:rPr lang="en-US"/>
              <a:t> </a:t>
            </a:r>
            <a:r>
              <a:rPr lang="en-US" err="1"/>
              <a:t>mô</a:t>
            </a:r>
            <a:r>
              <a:rPr lang="en-US"/>
              <a:t> </a:t>
            </a:r>
            <a:r>
              <a:rPr lang="en-US" err="1"/>
              <a:t>nhỏ</a:t>
            </a:r>
            <a:r>
              <a:rPr lang="en-US"/>
              <a:t>" </a:t>
            </a:r>
            <a:r>
              <a:rPr lang="en-US" err="1"/>
              <a:t>và</a:t>
            </a:r>
            <a:r>
              <a:rPr lang="en-US"/>
              <a:t> "</a:t>
            </a:r>
            <a:r>
              <a:rPr lang="en-US" err="1"/>
              <a:t>Dễ</a:t>
            </a:r>
            <a:r>
              <a:rPr lang="en-US"/>
              <a:t> </a:t>
            </a:r>
            <a:r>
              <a:rPr lang="en-US" err="1"/>
              <a:t>quan</a:t>
            </a:r>
            <a:r>
              <a:rPr lang="en-US"/>
              <a:t> </a:t>
            </a:r>
            <a:r>
              <a:rPr lang="en-US" err="1"/>
              <a:t>sát</a:t>
            </a:r>
            <a:r>
              <a:rPr lang="en-US"/>
              <a:t> </a:t>
            </a:r>
            <a:r>
              <a:rPr lang="en-US" err="1"/>
              <a:t>hiệu</a:t>
            </a:r>
            <a:r>
              <a:rPr lang="en-US"/>
              <a:t> </a:t>
            </a:r>
            <a:r>
              <a:rPr lang="en-US" err="1"/>
              <a:t>quả</a:t>
            </a:r>
            <a:r>
              <a:rPr lang="en-US"/>
              <a:t> </a:t>
            </a:r>
            <a:r>
              <a:rPr lang="en-US" err="1"/>
              <a:t>sản</a:t>
            </a:r>
            <a:r>
              <a:rPr lang="en-US"/>
              <a:t> </a:t>
            </a:r>
            <a:r>
              <a:rPr lang="en-US" err="1"/>
              <a:t>phẩm</a:t>
            </a:r>
            <a:r>
              <a:rPr lang="en-US"/>
              <a:t>" </a:t>
            </a:r>
            <a:r>
              <a:rPr lang="en-US" err="1"/>
              <a:t>nhằm</a:t>
            </a:r>
            <a:r>
              <a:rPr lang="en-US"/>
              <a:t> </a:t>
            </a:r>
            <a:r>
              <a:rPr lang="en-US" err="1"/>
              <a:t>rút</a:t>
            </a:r>
            <a:r>
              <a:rPr lang="en-US"/>
              <a:t> </a:t>
            </a:r>
            <a:r>
              <a:rPr lang="en-US" err="1"/>
              <a:t>ngắn</a:t>
            </a:r>
            <a:r>
              <a:rPr lang="en-US"/>
              <a:t> </a:t>
            </a:r>
            <a:r>
              <a:rPr lang="en-US" err="1"/>
              <a:t>tiến</a:t>
            </a:r>
            <a:r>
              <a:rPr lang="en-US"/>
              <a:t> </a:t>
            </a:r>
            <a:r>
              <a:rPr lang="en-US" err="1"/>
              <a:t>trình</a:t>
            </a:r>
            <a:r>
              <a:rPr lang="en-US"/>
              <a:t> </a:t>
            </a:r>
            <a:r>
              <a:rPr lang="en-US" err="1"/>
              <a:t>ra</a:t>
            </a:r>
            <a:r>
              <a:rPr lang="en-US"/>
              <a:t> </a:t>
            </a:r>
            <a:r>
              <a:rPr lang="en-US" err="1"/>
              <a:t>quyết</a:t>
            </a:r>
            <a:r>
              <a:rPr lang="en-US"/>
              <a:t> </a:t>
            </a:r>
            <a:r>
              <a:rPr lang="en-US" err="1"/>
              <a:t>định</a:t>
            </a:r>
            <a:r>
              <a:rPr lang="en-US"/>
              <a:t> </a:t>
            </a:r>
            <a:r>
              <a:rPr lang="en-US" err="1"/>
              <a:t>của</a:t>
            </a:r>
            <a:r>
              <a:rPr lang="en-US"/>
              <a:t> </a:t>
            </a:r>
            <a:r>
              <a:rPr lang="en-US" err="1"/>
              <a:t>khách</a:t>
            </a:r>
            <a:r>
              <a:rPr lang="en-US"/>
              <a:t> </a:t>
            </a:r>
            <a:r>
              <a:rPr lang="en-US" err="1"/>
              <a:t>hàng</a:t>
            </a:r>
            <a:r>
              <a:rPr lang="en-US"/>
              <a:t>?</a:t>
            </a:r>
          </a:p>
          <a:p>
            <a:pPr marL="514350" lvl="0" indent="-514350" algn="l" rtl="0">
              <a:lnSpc>
                <a:spcPct val="120000"/>
              </a:lnSpc>
              <a:spcBef>
                <a:spcPts val="0"/>
              </a:spcBef>
              <a:spcAft>
                <a:spcPts val="0"/>
              </a:spcAft>
              <a:buClr>
                <a:schemeClr val="dk1"/>
              </a:buClr>
              <a:buSzPts val="2800"/>
              <a:buFont typeface="Calibri" panose="020F0502020204030204"/>
              <a:buAutoNum type="arabicPeriod"/>
            </a:pPr>
            <a:endParaRPr>
              <a:latin typeface="Arial" panose="020B0604020202020204"/>
              <a:ea typeface="Arial" panose="020B0604020202020204"/>
              <a:cs typeface="Arial" panose="020B0604020202020204"/>
              <a:sym typeface="Arial" panose="020B0604020202020204"/>
            </a:endParaRPr>
          </a:p>
          <a:p>
            <a:pPr marL="228600" lvl="0" indent="-50800" algn="l" rtl="0">
              <a:lnSpc>
                <a:spcPct val="120000"/>
              </a:lnSpc>
              <a:spcBef>
                <a:spcPts val="0"/>
              </a:spcBef>
              <a:spcAft>
                <a:spcPts val="0"/>
              </a:spcAft>
              <a:buClr>
                <a:schemeClr val="dk1"/>
              </a:buClr>
              <a:buSzPts val="2800"/>
              <a:buNone/>
            </a:pPr>
            <a:endParaRPr>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txBox="1">
            <a:spLocks noGrp="1"/>
          </p:cNvSpPr>
          <p:nvPr>
            <p:ph type="ctrTitle"/>
          </p:nvPr>
        </p:nvSpPr>
        <p:spPr>
          <a:xfrm>
            <a:off x="1051902" y="1870676"/>
            <a:ext cx="10333409" cy="3067084"/>
          </a:xfrm>
          <a:prstGeom prst="rect">
            <a:avLst/>
          </a:prstGeom>
          <a:noFill/>
          <a:ln>
            <a:noFill/>
          </a:ln>
        </p:spPr>
        <p:txBody>
          <a:bodyPr spcFirstLastPara="1" wrap="square" lIns="91425" tIns="45700" rIns="91425" bIns="45700" anchor="b" anchorCtr="0">
            <a:noAutofit/>
          </a:bodyPr>
          <a:lstStyle/>
          <a:p>
            <a:pPr marL="0" lvl="0" indent="0" algn="ctr" rtl="0">
              <a:lnSpc>
                <a:spcPts val="5800"/>
              </a:lnSpc>
              <a:spcBef>
                <a:spcPts val="0"/>
              </a:spcBef>
              <a:spcAft>
                <a:spcPts val="0"/>
              </a:spcAft>
              <a:buClr>
                <a:schemeClr val="dk1"/>
              </a:buClr>
              <a:buSzPts val="4800"/>
              <a:buFont typeface="Calibri"/>
              <a:buNone/>
            </a:pPr>
            <a:r>
              <a:rPr lang="en-US" sz="4800" b="1">
                <a:latin typeface="Arial"/>
                <a:ea typeface="Arial"/>
                <a:cs typeface="Arial"/>
                <a:sym typeface="Arial"/>
              </a:rPr>
              <a:t>CHƯƠNG 6</a:t>
            </a:r>
            <a:br>
              <a:rPr lang="en-US" sz="5400" b="1">
                <a:latin typeface="Arial"/>
                <a:ea typeface="Arial"/>
                <a:cs typeface="Arial"/>
                <a:sym typeface="Arial"/>
              </a:rPr>
            </a:br>
            <a:r>
              <a:rPr lang="vi-VN" sz="4800" b="1">
                <a:latin typeface="Arial"/>
                <a:ea typeface="Arial"/>
                <a:cs typeface="Arial"/>
                <a:sym typeface="Arial"/>
              </a:rPr>
              <a:t>CÁC YẾU TỐ ẢNH HƯỞNG ĐẾN HÀNH VI MUA CỦA </a:t>
            </a:r>
            <a:br>
              <a:rPr lang="en-US" sz="4800" b="1">
                <a:latin typeface="Arial"/>
                <a:ea typeface="Arial"/>
                <a:cs typeface="Arial"/>
                <a:sym typeface="Arial"/>
              </a:rPr>
            </a:br>
            <a:r>
              <a:rPr lang="vi-VN" sz="4800" b="1">
                <a:latin typeface="Arial"/>
                <a:ea typeface="Arial"/>
                <a:cs typeface="Arial"/>
                <a:sym typeface="Arial"/>
              </a:rPr>
              <a:t>KHÁCH HÀNG TỔ CHỨC</a:t>
            </a:r>
            <a:endParaRP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title"/>
          </p:nvPr>
        </p:nvSpPr>
        <p:spPr>
          <a:xfrm>
            <a:off x="350520" y="80010"/>
            <a:ext cx="10515600" cy="140953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b="1">
                <a:latin typeface="Arial"/>
                <a:ea typeface="Arial"/>
                <a:cs typeface="Arial"/>
                <a:sym typeface="Arial"/>
              </a:rPr>
              <a:t>MỤC TIÊU CHƯƠNG 6</a:t>
            </a:r>
            <a:endParaRPr/>
          </a:p>
        </p:txBody>
      </p:sp>
      <p:sp>
        <p:nvSpPr>
          <p:cNvPr id="115" name="Google Shape;115;p18"/>
          <p:cNvSpPr txBox="1">
            <a:spLocks noGrp="1"/>
          </p:cNvSpPr>
          <p:nvPr>
            <p:ph type="body" idx="1"/>
          </p:nvPr>
        </p:nvSpPr>
        <p:spPr>
          <a:xfrm>
            <a:off x="350519" y="1360971"/>
            <a:ext cx="11013169" cy="6925511"/>
          </a:xfrm>
          <a:prstGeom prst="rect">
            <a:avLst/>
          </a:prstGeom>
          <a:noFill/>
          <a:ln>
            <a:noFill/>
          </a:ln>
        </p:spPr>
        <p:txBody>
          <a:bodyPr spcFirstLastPara="1" wrap="square" lIns="91425" tIns="45700" rIns="91425" bIns="45700" anchor="t" anchorCtr="0">
            <a:normAutofit/>
          </a:bodyPr>
          <a:lstStyle/>
          <a:p>
            <a:pPr lvl="0" indent="-457200" algn="just">
              <a:buSzPct val="100000"/>
              <a:buFont typeface="Wingdings" panose="05000000000000000000" pitchFamily="2" charset="2"/>
              <a:buChar char="Ø"/>
            </a:pPr>
            <a:r>
              <a:rPr lang="en-US" err="1"/>
              <a:t>Phân</a:t>
            </a:r>
            <a:r>
              <a:rPr lang="en-US"/>
              <a:t> </a:t>
            </a:r>
            <a:r>
              <a:rPr lang="en-US" err="1"/>
              <a:t>biệt</a:t>
            </a:r>
            <a:r>
              <a:rPr lang="en-US"/>
              <a:t> </a:t>
            </a:r>
            <a:r>
              <a:rPr lang="en-US" err="1"/>
              <a:t>khách</a:t>
            </a:r>
            <a:r>
              <a:rPr lang="en-US"/>
              <a:t> </a:t>
            </a:r>
            <a:r>
              <a:rPr lang="en-US" err="1"/>
              <a:t>hàng</a:t>
            </a:r>
            <a:r>
              <a:rPr lang="en-US"/>
              <a:t> </a:t>
            </a:r>
            <a:r>
              <a:rPr lang="en-US" err="1"/>
              <a:t>tổ</a:t>
            </a:r>
            <a:r>
              <a:rPr lang="en-US"/>
              <a:t> </a:t>
            </a:r>
            <a:r>
              <a:rPr lang="en-US" err="1"/>
              <a:t>chức</a:t>
            </a:r>
            <a:r>
              <a:rPr lang="en-US"/>
              <a:t> </a:t>
            </a:r>
            <a:r>
              <a:rPr lang="en-US" err="1"/>
              <a:t>với</a:t>
            </a:r>
            <a:r>
              <a:rPr lang="en-US"/>
              <a:t> </a:t>
            </a:r>
            <a:r>
              <a:rPr lang="en-US" err="1"/>
              <a:t>khách</a:t>
            </a:r>
            <a:r>
              <a:rPr lang="en-US"/>
              <a:t> </a:t>
            </a:r>
            <a:r>
              <a:rPr lang="en-US" err="1"/>
              <a:t>hàng</a:t>
            </a:r>
            <a:r>
              <a:rPr lang="en-US"/>
              <a:t> </a:t>
            </a:r>
            <a:r>
              <a:rPr lang="en-US" err="1"/>
              <a:t>cá</a:t>
            </a:r>
            <a:r>
              <a:rPr lang="en-US"/>
              <a:t> </a:t>
            </a:r>
            <a:r>
              <a:rPr lang="en-US" err="1"/>
              <a:t>nhân</a:t>
            </a:r>
            <a:r>
              <a:rPr lang="en-US"/>
              <a:t> </a:t>
            </a:r>
            <a:r>
              <a:rPr lang="en-US" err="1"/>
              <a:t>và</a:t>
            </a:r>
            <a:r>
              <a:rPr lang="en-US"/>
              <a:t> </a:t>
            </a:r>
            <a:r>
              <a:rPr lang="en-US" err="1"/>
              <a:t>nhận</a:t>
            </a:r>
            <a:r>
              <a:rPr lang="en-US"/>
              <a:t> </a:t>
            </a:r>
            <a:r>
              <a:rPr lang="en-US" err="1"/>
              <a:t>diện</a:t>
            </a:r>
            <a:r>
              <a:rPr lang="en-US"/>
              <a:t> </a:t>
            </a:r>
            <a:r>
              <a:rPr lang="en-US" err="1"/>
              <a:t>các</a:t>
            </a:r>
            <a:r>
              <a:rPr lang="en-US"/>
              <a:t> </a:t>
            </a:r>
            <a:r>
              <a:rPr lang="en-US" err="1"/>
              <a:t>đặc</a:t>
            </a:r>
            <a:r>
              <a:rPr lang="en-US"/>
              <a:t> </a:t>
            </a:r>
            <a:r>
              <a:rPr lang="en-US" err="1"/>
              <a:t>điểm</a:t>
            </a:r>
            <a:r>
              <a:rPr lang="en-US"/>
              <a:t> </a:t>
            </a:r>
            <a:r>
              <a:rPr lang="en-US" err="1"/>
              <a:t>cơ</a:t>
            </a:r>
            <a:r>
              <a:rPr lang="en-US"/>
              <a:t> </a:t>
            </a:r>
            <a:r>
              <a:rPr lang="en-US" err="1"/>
              <a:t>bản</a:t>
            </a:r>
            <a:r>
              <a:rPr lang="en-US"/>
              <a:t> </a:t>
            </a:r>
            <a:r>
              <a:rPr lang="en-US" err="1"/>
              <a:t>của</a:t>
            </a:r>
            <a:r>
              <a:rPr lang="en-US"/>
              <a:t> </a:t>
            </a:r>
            <a:r>
              <a:rPr lang="en-US" err="1"/>
              <a:t>hành</a:t>
            </a:r>
            <a:r>
              <a:rPr lang="en-US"/>
              <a:t> vi </a:t>
            </a:r>
            <a:r>
              <a:rPr lang="en-US" err="1"/>
              <a:t>mua</a:t>
            </a:r>
            <a:r>
              <a:rPr lang="en-US"/>
              <a:t> </a:t>
            </a:r>
            <a:r>
              <a:rPr lang="en-US" err="1"/>
              <a:t>tổ</a:t>
            </a:r>
            <a:r>
              <a:rPr lang="en-US"/>
              <a:t> </a:t>
            </a:r>
            <a:r>
              <a:rPr lang="en-US" err="1"/>
              <a:t>chức</a:t>
            </a:r>
            <a:r>
              <a:rPr lang="en-US"/>
              <a:t>.</a:t>
            </a:r>
          </a:p>
          <a:p>
            <a:pPr lvl="0" indent="-457200" algn="just">
              <a:buSzPct val="100000"/>
              <a:buFont typeface="Wingdings" panose="05000000000000000000" pitchFamily="2" charset="2"/>
              <a:buChar char="Ø"/>
            </a:pPr>
            <a:r>
              <a:rPr lang="en-US" err="1"/>
              <a:t>Mô</a:t>
            </a:r>
            <a:r>
              <a:rPr lang="en-US"/>
              <a:t> </a:t>
            </a:r>
            <a:r>
              <a:rPr lang="en-US" err="1"/>
              <a:t>tả</a:t>
            </a:r>
            <a:r>
              <a:rPr lang="en-US"/>
              <a:t> </a:t>
            </a:r>
            <a:r>
              <a:rPr lang="en-US" err="1"/>
              <a:t>và</a:t>
            </a:r>
            <a:r>
              <a:rPr lang="en-US"/>
              <a:t> </a:t>
            </a:r>
            <a:r>
              <a:rPr lang="en-US" err="1"/>
              <a:t>giải</a:t>
            </a:r>
            <a:r>
              <a:rPr lang="en-US"/>
              <a:t> </a:t>
            </a:r>
            <a:r>
              <a:rPr lang="en-US" err="1"/>
              <a:t>thích</a:t>
            </a:r>
            <a:r>
              <a:rPr lang="en-US"/>
              <a:t> </a:t>
            </a:r>
            <a:r>
              <a:rPr lang="en-US" err="1"/>
              <a:t>mô</a:t>
            </a:r>
            <a:r>
              <a:rPr lang="en-US"/>
              <a:t> </a:t>
            </a:r>
            <a:r>
              <a:rPr lang="en-US" err="1"/>
              <a:t>hình</a:t>
            </a:r>
            <a:r>
              <a:rPr lang="en-US"/>
              <a:t> </a:t>
            </a:r>
            <a:r>
              <a:rPr lang="en-US" err="1"/>
              <a:t>hành</a:t>
            </a:r>
            <a:r>
              <a:rPr lang="en-US"/>
              <a:t> vi </a:t>
            </a:r>
            <a:r>
              <a:rPr lang="en-US" err="1"/>
              <a:t>mua</a:t>
            </a:r>
            <a:r>
              <a:rPr lang="en-US"/>
              <a:t> </a:t>
            </a:r>
            <a:r>
              <a:rPr lang="en-US" err="1"/>
              <a:t>của</a:t>
            </a:r>
            <a:r>
              <a:rPr lang="en-US"/>
              <a:t> </a:t>
            </a:r>
            <a:r>
              <a:rPr lang="en-US" err="1"/>
              <a:t>khách</a:t>
            </a:r>
            <a:r>
              <a:rPr lang="en-US"/>
              <a:t> </a:t>
            </a:r>
            <a:r>
              <a:rPr lang="en-US" err="1"/>
              <a:t>hàng</a:t>
            </a:r>
            <a:r>
              <a:rPr lang="en-US"/>
              <a:t> </a:t>
            </a:r>
            <a:r>
              <a:rPr lang="en-US" err="1"/>
              <a:t>tổ</a:t>
            </a:r>
            <a:r>
              <a:rPr lang="en-US"/>
              <a:t> </a:t>
            </a:r>
            <a:r>
              <a:rPr lang="en-US" err="1"/>
              <a:t>chức</a:t>
            </a:r>
            <a:endParaRPr lang="en-US"/>
          </a:p>
          <a:p>
            <a:pPr lvl="0" indent="-457200" algn="just">
              <a:buSzPct val="100000"/>
              <a:buFont typeface="Wingdings" panose="05000000000000000000" pitchFamily="2" charset="2"/>
              <a:buChar char="Ø"/>
            </a:pPr>
            <a:r>
              <a:rPr lang="en-US" err="1"/>
              <a:t>Phân</a:t>
            </a:r>
            <a:r>
              <a:rPr lang="en-US"/>
              <a:t> </a:t>
            </a:r>
            <a:r>
              <a:rPr lang="en-US" err="1"/>
              <a:t>tích</a:t>
            </a:r>
            <a:r>
              <a:rPr lang="en-US"/>
              <a:t> </a:t>
            </a:r>
            <a:r>
              <a:rPr lang="en-US" err="1"/>
              <a:t>tác</a:t>
            </a:r>
            <a:r>
              <a:rPr lang="en-US"/>
              <a:t> </a:t>
            </a:r>
            <a:r>
              <a:rPr lang="en-US" err="1"/>
              <a:t>động</a:t>
            </a:r>
            <a:r>
              <a:rPr lang="en-US"/>
              <a:t> </a:t>
            </a:r>
            <a:r>
              <a:rPr lang="en-US" err="1"/>
              <a:t>của</a:t>
            </a:r>
            <a:r>
              <a:rPr lang="en-US"/>
              <a:t> </a:t>
            </a:r>
            <a:r>
              <a:rPr lang="en-US" err="1"/>
              <a:t>các</a:t>
            </a:r>
            <a:r>
              <a:rPr lang="en-US"/>
              <a:t> </a:t>
            </a:r>
            <a:r>
              <a:rPr lang="en-US" err="1"/>
              <a:t>nhóm</a:t>
            </a:r>
            <a:r>
              <a:rPr lang="en-US"/>
              <a:t> </a:t>
            </a:r>
            <a:r>
              <a:rPr lang="en-US" err="1"/>
              <a:t>yếu</a:t>
            </a:r>
            <a:r>
              <a:rPr lang="en-US"/>
              <a:t> </a:t>
            </a:r>
            <a:r>
              <a:rPr lang="en-US" err="1"/>
              <a:t>tố</a:t>
            </a:r>
            <a:r>
              <a:rPr lang="en-US"/>
              <a:t> </a:t>
            </a:r>
            <a:r>
              <a:rPr lang="en-US" err="1"/>
              <a:t>đến</a:t>
            </a:r>
            <a:r>
              <a:rPr lang="en-US"/>
              <a:t> </a:t>
            </a:r>
            <a:r>
              <a:rPr lang="en-US" err="1"/>
              <a:t>hành</a:t>
            </a:r>
            <a:r>
              <a:rPr lang="en-US"/>
              <a:t> vi </a:t>
            </a:r>
            <a:r>
              <a:rPr lang="en-US" err="1"/>
              <a:t>mua</a:t>
            </a:r>
            <a:r>
              <a:rPr lang="en-US"/>
              <a:t> </a:t>
            </a:r>
            <a:r>
              <a:rPr lang="en-US" err="1"/>
              <a:t>của</a:t>
            </a:r>
            <a:r>
              <a:rPr lang="en-US"/>
              <a:t> </a:t>
            </a:r>
            <a:r>
              <a:rPr lang="en-US" err="1"/>
              <a:t>khách</a:t>
            </a:r>
            <a:r>
              <a:rPr lang="en-US"/>
              <a:t> </a:t>
            </a:r>
            <a:r>
              <a:rPr lang="en-US" err="1"/>
              <a:t>hàng</a:t>
            </a:r>
            <a:r>
              <a:rPr lang="en-US"/>
              <a:t> </a:t>
            </a:r>
            <a:r>
              <a:rPr lang="en-US" err="1"/>
              <a:t>tổ</a:t>
            </a:r>
            <a:r>
              <a:rPr lang="en-US"/>
              <a:t> </a:t>
            </a:r>
            <a:r>
              <a:rPr lang="en-US" err="1"/>
              <a:t>chức</a:t>
            </a:r>
            <a:endParaRPr lang="en-US"/>
          </a:p>
          <a:p>
            <a:pPr lvl="0" indent="-457200" algn="just">
              <a:buSzPct val="100000"/>
              <a:buFont typeface="Wingdings" panose="05000000000000000000" pitchFamily="2" charset="2"/>
              <a:buChar char="Ø"/>
            </a:pPr>
            <a:r>
              <a:rPr lang="en-US" err="1"/>
              <a:t>Giải</a:t>
            </a:r>
            <a:r>
              <a:rPr lang="en-US"/>
              <a:t> </a:t>
            </a:r>
            <a:r>
              <a:rPr lang="en-US" err="1"/>
              <a:t>thích</a:t>
            </a:r>
            <a:r>
              <a:rPr lang="en-US"/>
              <a:t> </a:t>
            </a:r>
            <a:r>
              <a:rPr lang="en-US" err="1"/>
              <a:t>cách</a:t>
            </a:r>
            <a:r>
              <a:rPr lang="en-US"/>
              <a:t> </a:t>
            </a:r>
            <a:r>
              <a:rPr lang="en-US" err="1"/>
              <a:t>các</a:t>
            </a:r>
            <a:r>
              <a:rPr lang="en-US"/>
              <a:t> </a:t>
            </a:r>
            <a:r>
              <a:rPr lang="en-US" err="1"/>
              <a:t>yếu</a:t>
            </a:r>
            <a:r>
              <a:rPr lang="en-US"/>
              <a:t> </a:t>
            </a:r>
            <a:r>
              <a:rPr lang="en-US" err="1"/>
              <a:t>tố</a:t>
            </a:r>
            <a:r>
              <a:rPr lang="en-US"/>
              <a:t> </a:t>
            </a:r>
            <a:r>
              <a:rPr lang="en-US" err="1"/>
              <a:t>bên</a:t>
            </a:r>
            <a:r>
              <a:rPr lang="en-US"/>
              <a:t> </a:t>
            </a:r>
            <a:r>
              <a:rPr lang="en-US" err="1"/>
              <a:t>ngoài</a:t>
            </a:r>
            <a:r>
              <a:rPr lang="en-US"/>
              <a:t> </a:t>
            </a:r>
            <a:r>
              <a:rPr lang="en-US" err="1"/>
              <a:t>và</a:t>
            </a:r>
            <a:r>
              <a:rPr lang="en-US"/>
              <a:t> </a:t>
            </a:r>
            <a:r>
              <a:rPr lang="en-US" err="1"/>
              <a:t>bên</a:t>
            </a:r>
            <a:r>
              <a:rPr lang="en-US"/>
              <a:t> </a:t>
            </a:r>
            <a:r>
              <a:rPr lang="en-US" err="1"/>
              <a:t>trong</a:t>
            </a:r>
            <a:r>
              <a:rPr lang="en-US"/>
              <a:t> </a:t>
            </a:r>
            <a:r>
              <a:rPr lang="en-US" err="1"/>
              <a:t>tổ</a:t>
            </a:r>
            <a:r>
              <a:rPr lang="en-US"/>
              <a:t> </a:t>
            </a:r>
            <a:r>
              <a:rPr lang="en-US" err="1"/>
              <a:t>chức</a:t>
            </a:r>
            <a:r>
              <a:rPr lang="en-US"/>
              <a:t> </a:t>
            </a:r>
            <a:r>
              <a:rPr lang="en-US" err="1"/>
              <a:t>được</a:t>
            </a:r>
            <a:r>
              <a:rPr lang="en-US"/>
              <a:t> </a:t>
            </a:r>
            <a:r>
              <a:rPr lang="en-US" err="1"/>
              <a:t>chuyển</a:t>
            </a:r>
            <a:r>
              <a:rPr lang="en-US"/>
              <a:t> </a:t>
            </a:r>
            <a:r>
              <a:rPr lang="en-US" err="1"/>
              <a:t>hóa</a:t>
            </a:r>
            <a:r>
              <a:rPr lang="en-US"/>
              <a:t> </a:t>
            </a:r>
            <a:r>
              <a:rPr lang="en-US" err="1"/>
              <a:t>thành</a:t>
            </a:r>
            <a:r>
              <a:rPr lang="en-US"/>
              <a:t> </a:t>
            </a:r>
            <a:r>
              <a:rPr lang="en-US" err="1"/>
              <a:t>các</a:t>
            </a:r>
            <a:r>
              <a:rPr lang="en-US"/>
              <a:t> </a:t>
            </a:r>
            <a:r>
              <a:rPr lang="en-US" err="1"/>
              <a:t>phản</a:t>
            </a:r>
            <a:r>
              <a:rPr lang="en-US"/>
              <a:t> </a:t>
            </a:r>
            <a:r>
              <a:rPr lang="en-US" err="1"/>
              <a:t>ứng</a:t>
            </a:r>
            <a:r>
              <a:rPr lang="en-US"/>
              <a:t> </a:t>
            </a:r>
            <a:r>
              <a:rPr lang="en-US" err="1"/>
              <a:t>mua</a:t>
            </a:r>
            <a:r>
              <a:rPr lang="en-US"/>
              <a:t> </a:t>
            </a:r>
            <a:r>
              <a:rPr lang="en-US" err="1"/>
              <a:t>của</a:t>
            </a:r>
            <a:r>
              <a:rPr lang="en-US"/>
              <a:t> </a:t>
            </a:r>
            <a:r>
              <a:rPr lang="en-US" err="1"/>
              <a:t>khách</a:t>
            </a:r>
            <a:r>
              <a:rPr lang="en-US"/>
              <a:t> </a:t>
            </a:r>
            <a:r>
              <a:rPr lang="en-US" err="1"/>
              <a:t>hàng</a:t>
            </a:r>
            <a:r>
              <a:rPr lang="en-US"/>
              <a:t> </a:t>
            </a:r>
            <a:r>
              <a:rPr lang="en-US" err="1"/>
              <a:t>doanh</a:t>
            </a:r>
            <a:r>
              <a:rPr lang="en-US"/>
              <a:t> </a:t>
            </a:r>
            <a:r>
              <a:rPr lang="en-US" err="1"/>
              <a:t>nghiệp</a:t>
            </a:r>
            <a:endParaRPr lang="en-US"/>
          </a:p>
          <a:p>
            <a:pPr lvl="0" indent="-457200" algn="just">
              <a:buSzPct val="100000"/>
              <a:buFont typeface="Wingdings" panose="05000000000000000000" pitchFamily="2" charset="2"/>
              <a:buChar char="Ø"/>
            </a:pPr>
            <a:r>
              <a:rPr lang="en-US" err="1"/>
              <a:t>Vận</a:t>
            </a:r>
            <a:r>
              <a:rPr lang="en-US"/>
              <a:t> </a:t>
            </a:r>
            <a:r>
              <a:rPr lang="en-US" err="1"/>
              <a:t>dụng</a:t>
            </a:r>
            <a:r>
              <a:rPr lang="en-US"/>
              <a:t> </a:t>
            </a:r>
            <a:r>
              <a:rPr lang="en-US" err="1"/>
              <a:t>mô</a:t>
            </a:r>
            <a:r>
              <a:rPr lang="en-US"/>
              <a:t> </a:t>
            </a:r>
            <a:r>
              <a:rPr lang="en-US" err="1"/>
              <a:t>hình</a:t>
            </a:r>
            <a:r>
              <a:rPr lang="en-US"/>
              <a:t> </a:t>
            </a:r>
            <a:r>
              <a:rPr lang="en-US" err="1"/>
              <a:t>hành</a:t>
            </a:r>
            <a:r>
              <a:rPr lang="en-US"/>
              <a:t> vi </a:t>
            </a:r>
            <a:r>
              <a:rPr lang="en-US" err="1"/>
              <a:t>mua</a:t>
            </a:r>
            <a:r>
              <a:rPr lang="en-US"/>
              <a:t> </a:t>
            </a:r>
            <a:r>
              <a:rPr lang="en-US" err="1"/>
              <a:t>để</a:t>
            </a:r>
            <a:r>
              <a:rPr lang="en-US"/>
              <a:t> </a:t>
            </a:r>
            <a:r>
              <a:rPr lang="en-US" err="1"/>
              <a:t>phân</a:t>
            </a:r>
            <a:r>
              <a:rPr lang="en-US"/>
              <a:t> </a:t>
            </a:r>
            <a:r>
              <a:rPr lang="en-US" err="1"/>
              <a:t>tích</a:t>
            </a:r>
            <a:r>
              <a:rPr lang="en-US"/>
              <a:t> </a:t>
            </a:r>
            <a:r>
              <a:rPr lang="en-US" err="1"/>
              <a:t>một</a:t>
            </a:r>
            <a:r>
              <a:rPr lang="en-US"/>
              <a:t> </a:t>
            </a:r>
            <a:r>
              <a:rPr lang="en-US" err="1"/>
              <a:t>tình</a:t>
            </a:r>
            <a:r>
              <a:rPr lang="en-US"/>
              <a:t> </a:t>
            </a:r>
            <a:r>
              <a:rPr lang="en-US" err="1"/>
              <a:t>huống</a:t>
            </a:r>
            <a:r>
              <a:rPr lang="en-US"/>
              <a:t> </a:t>
            </a:r>
            <a:r>
              <a:rPr lang="en-US" err="1"/>
              <a:t>mua</a:t>
            </a:r>
            <a:r>
              <a:rPr lang="en-US"/>
              <a:t> </a:t>
            </a:r>
            <a:r>
              <a:rPr lang="en-US" err="1"/>
              <a:t>hàng</a:t>
            </a:r>
            <a:r>
              <a:rPr lang="en-US"/>
              <a:t> B2B </a:t>
            </a:r>
            <a:r>
              <a:rPr lang="en-US" err="1"/>
              <a:t>và</a:t>
            </a:r>
            <a:r>
              <a:rPr lang="en-US"/>
              <a:t> </a:t>
            </a:r>
            <a:r>
              <a:rPr lang="en-US" err="1"/>
              <a:t>đề</a:t>
            </a:r>
            <a:r>
              <a:rPr lang="en-US"/>
              <a:t> </a:t>
            </a:r>
            <a:r>
              <a:rPr lang="en-US" err="1"/>
              <a:t>xuất</a:t>
            </a:r>
            <a:r>
              <a:rPr lang="en-US"/>
              <a:t> </a:t>
            </a:r>
            <a:r>
              <a:rPr lang="en-US" err="1"/>
              <a:t>định</a:t>
            </a:r>
            <a:r>
              <a:rPr lang="en-US"/>
              <a:t> </a:t>
            </a:r>
            <a:r>
              <a:rPr lang="en-US" err="1"/>
              <a:t>hướng</a:t>
            </a:r>
            <a:r>
              <a:rPr lang="en-US"/>
              <a:t> marketing </a:t>
            </a:r>
            <a:r>
              <a:rPr lang="en-US" err="1"/>
              <a:t>phù</a:t>
            </a:r>
            <a:r>
              <a:rPr lang="en-US"/>
              <a:t> </a:t>
            </a:r>
            <a:r>
              <a:rPr lang="en-US" err="1"/>
              <a:t>hợp</a:t>
            </a:r>
            <a:endParaRP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b="1">
                <a:latin typeface="Arial"/>
                <a:ea typeface="Arial"/>
                <a:cs typeface="Arial"/>
                <a:sym typeface="Arial"/>
              </a:rPr>
              <a:t>NỘI DUNG CHƯƠNG 6</a:t>
            </a:r>
            <a:endParaRPr/>
          </a:p>
        </p:txBody>
      </p:sp>
      <p:sp>
        <p:nvSpPr>
          <p:cNvPr id="121" name="Google Shape;121;p19"/>
          <p:cNvSpPr txBox="1">
            <a:spLocks noGrp="1"/>
          </p:cNvSpPr>
          <p:nvPr>
            <p:ph type="body" idx="1"/>
          </p:nvPr>
        </p:nvSpPr>
        <p:spPr>
          <a:xfrm>
            <a:off x="838200" y="1540042"/>
            <a:ext cx="10515600" cy="4636921"/>
          </a:xfrm>
          <a:prstGeom prst="rect">
            <a:avLst/>
          </a:prstGeom>
          <a:noFill/>
          <a:ln>
            <a:noFill/>
          </a:ln>
        </p:spPr>
        <p:txBody>
          <a:bodyPr spcFirstLastPara="1" wrap="square" lIns="91425" tIns="45700" rIns="91425" bIns="45700" anchor="t" anchorCtr="0">
            <a:normAutofit/>
          </a:bodyPr>
          <a:lstStyle/>
          <a:p>
            <a:pPr marL="0" lvl="0" indent="0" algn="l" rtl="0">
              <a:lnSpc>
                <a:spcPct val="200000"/>
              </a:lnSpc>
              <a:spcBef>
                <a:spcPts val="1000"/>
              </a:spcBef>
              <a:spcAft>
                <a:spcPts val="0"/>
              </a:spcAft>
              <a:buClr>
                <a:schemeClr val="dk1"/>
              </a:buClr>
              <a:buSzPts val="3600"/>
              <a:buNone/>
            </a:pPr>
            <a:r>
              <a:rPr lang="en-US"/>
              <a:t>6.1 </a:t>
            </a:r>
            <a:r>
              <a:rPr lang="en-US" err="1"/>
              <a:t>Hành</a:t>
            </a:r>
            <a:r>
              <a:rPr lang="en-US"/>
              <a:t> vi </a:t>
            </a:r>
            <a:r>
              <a:rPr lang="en-US" err="1"/>
              <a:t>mua</a:t>
            </a:r>
            <a:r>
              <a:rPr lang="en-US"/>
              <a:t> </a:t>
            </a:r>
            <a:r>
              <a:rPr lang="en-US" err="1"/>
              <a:t>của</a:t>
            </a:r>
            <a:r>
              <a:rPr lang="en-US"/>
              <a:t> </a:t>
            </a:r>
            <a:r>
              <a:rPr lang="en-US" err="1"/>
              <a:t>khách</a:t>
            </a:r>
            <a:r>
              <a:rPr lang="en-US"/>
              <a:t> </a:t>
            </a:r>
            <a:r>
              <a:rPr lang="en-US" err="1"/>
              <a:t>hàng</a:t>
            </a:r>
            <a:r>
              <a:rPr lang="en-US"/>
              <a:t> </a:t>
            </a:r>
            <a:r>
              <a:rPr lang="en-US" err="1"/>
              <a:t>tổ</a:t>
            </a:r>
            <a:r>
              <a:rPr lang="en-US"/>
              <a:t> </a:t>
            </a:r>
            <a:r>
              <a:rPr lang="en-US" err="1"/>
              <a:t>chức</a:t>
            </a:r>
            <a:endParaRPr lang="en-US"/>
          </a:p>
          <a:p>
            <a:pPr marL="0" lvl="0" indent="0" algn="l" rtl="0">
              <a:lnSpc>
                <a:spcPct val="200000"/>
              </a:lnSpc>
              <a:spcBef>
                <a:spcPts val="1000"/>
              </a:spcBef>
              <a:spcAft>
                <a:spcPts val="0"/>
              </a:spcAft>
              <a:buClr>
                <a:schemeClr val="dk1"/>
              </a:buClr>
              <a:buSzPts val="3600"/>
              <a:buNone/>
            </a:pPr>
            <a:r>
              <a:rPr lang="sv-SE"/>
              <a:t>6.2. Mô hình hành vi mua</a:t>
            </a:r>
          </a:p>
          <a:p>
            <a:pPr marL="0" lvl="0" indent="0" algn="l" rtl="0">
              <a:lnSpc>
                <a:spcPct val="200000"/>
              </a:lnSpc>
              <a:spcBef>
                <a:spcPts val="1000"/>
              </a:spcBef>
              <a:spcAft>
                <a:spcPts val="0"/>
              </a:spcAft>
              <a:buClr>
                <a:schemeClr val="dk1"/>
              </a:buClr>
              <a:buSzPts val="3600"/>
              <a:buNone/>
            </a:pPr>
            <a:r>
              <a:rPr lang="vi-VN"/>
              <a:t>6.3. Các nhân tố ảnh hưởng đến hành vi mua </a:t>
            </a:r>
            <a:endParaRPr/>
          </a:p>
        </p:txBody>
      </p:sp>
      <p:pic>
        <p:nvPicPr>
          <p:cNvPr id="122" name="Google Shape;122;p19" descr="Thấu hiểu khách hàng qua thói quen tiêu dùng, tiêu dùng ra sao? | Tạp chí  Kinh tế và Dự báo"/>
          <p:cNvPicPr preferRelativeResize="0"/>
          <p:nvPr/>
        </p:nvPicPr>
        <p:blipFill rotWithShape="1">
          <a:blip r:embed="rId3">
            <a:alphaModFix/>
          </a:blip>
          <a:srcRect/>
          <a:stretch/>
        </p:blipFill>
        <p:spPr>
          <a:xfrm>
            <a:off x="8690009" y="4150594"/>
            <a:ext cx="3215640" cy="1877060"/>
          </a:xfrm>
          <a:prstGeom prst="rect">
            <a:avLst/>
          </a:prstGeom>
          <a:noFill/>
          <a:ln>
            <a:noFill/>
          </a:ln>
        </p:spPr>
      </p:pic>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ctrTitle"/>
          </p:nvPr>
        </p:nvSpPr>
        <p:spPr>
          <a:xfrm>
            <a:off x="808981" y="2765544"/>
            <a:ext cx="11774488" cy="1326912"/>
          </a:xfrm>
          <a:prstGeom prst="rect">
            <a:avLst/>
          </a:prstGeom>
          <a:noFill/>
          <a:ln>
            <a:noFill/>
          </a:ln>
        </p:spPr>
        <p:txBody>
          <a:bodyPr spcFirstLastPara="1" wrap="square" lIns="91425" tIns="45700" rIns="91425" bIns="45700" anchor="b" anchorCtr="0">
            <a:normAutofit/>
          </a:bodyPr>
          <a:lstStyle/>
          <a:p>
            <a:pPr lvl="1"/>
            <a:r>
              <a:rPr lang="en-US" sz="3600" b="1"/>
              <a:t>6.1 HÀNH VI MUA CỦA KHÁCH HÀNG TỔ CHỨC</a:t>
            </a:r>
            <a:br>
              <a:rPr lang="en-US" sz="3600" b="1"/>
            </a:br>
            <a:endParaRPr lang="en-US" sz="3600" b="1"/>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69861-42AD-D8C1-276A-6EC8E6D103FC}"/>
              </a:ext>
            </a:extLst>
          </p:cNvPr>
          <p:cNvSpPr>
            <a:spLocks noGrp="1"/>
          </p:cNvSpPr>
          <p:nvPr>
            <p:ph type="title"/>
          </p:nvPr>
        </p:nvSpPr>
        <p:spPr/>
        <p:txBody>
          <a:bodyPr>
            <a:normAutofit/>
          </a:bodyPr>
          <a:lstStyle/>
          <a:p>
            <a:r>
              <a:rPr lang="en-US" sz="3200" b="1"/>
              <a:t>6.1.1. </a:t>
            </a:r>
            <a:r>
              <a:rPr lang="en-US" sz="3200" b="1" err="1"/>
              <a:t>Khái</a:t>
            </a:r>
            <a:r>
              <a:rPr lang="en-US" sz="3200" b="1"/>
              <a:t> </a:t>
            </a:r>
            <a:r>
              <a:rPr lang="en-US" sz="3200" b="1" err="1"/>
              <a:t>quát</a:t>
            </a:r>
            <a:r>
              <a:rPr lang="en-US" sz="3200" b="1"/>
              <a:t> </a:t>
            </a:r>
            <a:r>
              <a:rPr lang="en-US" sz="3200" b="1" err="1"/>
              <a:t>khách</a:t>
            </a:r>
            <a:r>
              <a:rPr lang="en-US" sz="3200" b="1"/>
              <a:t> </a:t>
            </a:r>
            <a:r>
              <a:rPr lang="en-US" sz="3200" b="1" err="1"/>
              <a:t>hàng</a:t>
            </a:r>
            <a:r>
              <a:rPr lang="en-US" sz="3200" b="1"/>
              <a:t> </a:t>
            </a:r>
            <a:r>
              <a:rPr lang="en-US" sz="3200" b="1" err="1"/>
              <a:t>tổ</a:t>
            </a:r>
            <a:r>
              <a:rPr lang="en-US" sz="3200" b="1"/>
              <a:t> </a:t>
            </a:r>
            <a:r>
              <a:rPr lang="en-US" sz="3200" b="1" err="1"/>
              <a:t>chức</a:t>
            </a:r>
            <a:endParaRPr lang="en-US" sz="3200" b="1"/>
          </a:p>
        </p:txBody>
      </p:sp>
      <p:sp>
        <p:nvSpPr>
          <p:cNvPr id="3" name="Text Placeholder 2">
            <a:extLst>
              <a:ext uri="{FF2B5EF4-FFF2-40B4-BE49-F238E27FC236}">
                <a16:creationId xmlns:a16="http://schemas.microsoft.com/office/drawing/2014/main" id="{2DAF63BF-06E5-F14F-0A16-C906B15A64A8}"/>
              </a:ext>
            </a:extLst>
          </p:cNvPr>
          <p:cNvSpPr>
            <a:spLocks noGrp="1"/>
          </p:cNvSpPr>
          <p:nvPr>
            <p:ph type="body" idx="1"/>
          </p:nvPr>
        </p:nvSpPr>
        <p:spPr>
          <a:xfrm>
            <a:off x="838200" y="1463806"/>
            <a:ext cx="10515600" cy="4486275"/>
          </a:xfrm>
        </p:spPr>
        <p:txBody>
          <a:bodyPr>
            <a:noAutofit/>
          </a:bodyPr>
          <a:lstStyle/>
          <a:p>
            <a:pPr algn="just">
              <a:lnSpc>
                <a:spcPct val="150000"/>
              </a:lnSpc>
            </a:pPr>
            <a:r>
              <a:rPr lang="en-US" b="1">
                <a:latin typeface="+mj-lt"/>
                <a:ea typeface="Calibri" panose="020F0502020204030204" pitchFamily="34" charset="0"/>
                <a:cs typeface="Calibri" panose="020F0502020204030204" pitchFamily="34" charset="0"/>
              </a:rPr>
              <a:t>Định </a:t>
            </a:r>
            <a:r>
              <a:rPr lang="en-US" b="1" err="1">
                <a:latin typeface="+mj-lt"/>
                <a:ea typeface="Calibri" panose="020F0502020204030204" pitchFamily="34" charset="0"/>
                <a:cs typeface="Calibri" panose="020F0502020204030204" pitchFamily="34" charset="0"/>
              </a:rPr>
              <a:t>nghĩa</a:t>
            </a:r>
            <a:r>
              <a:rPr lang="en-US" b="1">
                <a:latin typeface="+mj-lt"/>
                <a:ea typeface="Calibri" panose="020F0502020204030204" pitchFamily="34" charset="0"/>
                <a:cs typeface="Calibri" panose="020F0502020204030204" pitchFamily="34" charset="0"/>
              </a:rPr>
              <a:t>: </a:t>
            </a:r>
          </a:p>
          <a:p>
            <a:pPr marL="114300" indent="0" algn="just">
              <a:lnSpc>
                <a:spcPct val="150000"/>
              </a:lnSpc>
              <a:buNone/>
            </a:pPr>
            <a:r>
              <a:rPr lang="en-US">
                <a:latin typeface="+mj-lt"/>
                <a:ea typeface="Calibri" panose="020F0502020204030204" pitchFamily="34" charset="0"/>
                <a:cs typeface="Calibri" panose="020F0502020204030204" pitchFamily="34" charset="0"/>
              </a:rPr>
              <a:t>Thị </a:t>
            </a:r>
            <a:r>
              <a:rPr lang="en-US" err="1">
                <a:latin typeface="+mj-lt"/>
                <a:ea typeface="Calibri" panose="020F0502020204030204" pitchFamily="34" charset="0"/>
                <a:cs typeface="Calibri" panose="020F0502020204030204" pitchFamily="34" charset="0"/>
              </a:rPr>
              <a:t>trường</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tổ</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chức</a:t>
            </a:r>
            <a:r>
              <a:rPr lang="en-US">
                <a:latin typeface="+mj-lt"/>
                <a:ea typeface="Calibri" panose="020F0502020204030204" pitchFamily="34" charset="0"/>
                <a:cs typeface="Calibri" panose="020F0502020204030204" pitchFamily="34" charset="0"/>
              </a:rPr>
              <a:t> bao </a:t>
            </a:r>
            <a:r>
              <a:rPr lang="en-US" err="1">
                <a:latin typeface="+mj-lt"/>
                <a:ea typeface="Calibri" panose="020F0502020204030204" pitchFamily="34" charset="0"/>
                <a:cs typeface="Calibri" panose="020F0502020204030204" pitchFamily="34" charset="0"/>
              </a:rPr>
              <a:t>gồm</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những</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tổ</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chức</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mua</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hàng</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hoá</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và</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dịch</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vụ</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để</a:t>
            </a:r>
            <a:r>
              <a:rPr lang="en-US">
                <a:latin typeface="+mj-lt"/>
                <a:ea typeface="Calibri" panose="020F0502020204030204" pitchFamily="34" charset="0"/>
                <a:cs typeface="Calibri" panose="020F0502020204030204" pitchFamily="34" charset="0"/>
              </a:rPr>
              <a:t> </a:t>
            </a:r>
            <a:r>
              <a:rPr lang="en-US" b="1" err="1">
                <a:latin typeface="+mj-lt"/>
                <a:ea typeface="Calibri" panose="020F0502020204030204" pitchFamily="34" charset="0"/>
                <a:cs typeface="Calibri" panose="020F0502020204030204" pitchFamily="34" charset="0"/>
              </a:rPr>
              <a:t>dùng</a:t>
            </a:r>
            <a:r>
              <a:rPr lang="en-US" b="1">
                <a:latin typeface="+mj-lt"/>
                <a:ea typeface="Calibri" panose="020F0502020204030204" pitchFamily="34" charset="0"/>
                <a:cs typeface="Calibri" panose="020F0502020204030204" pitchFamily="34" charset="0"/>
              </a:rPr>
              <a:t> </a:t>
            </a:r>
            <a:r>
              <a:rPr lang="en-US" b="1" err="1">
                <a:latin typeface="+mj-lt"/>
                <a:ea typeface="Calibri" panose="020F0502020204030204" pitchFamily="34" charset="0"/>
                <a:cs typeface="Calibri" panose="020F0502020204030204" pitchFamily="34" charset="0"/>
              </a:rPr>
              <a:t>vào</a:t>
            </a:r>
            <a:r>
              <a:rPr lang="en-US" b="1">
                <a:latin typeface="+mj-lt"/>
                <a:ea typeface="Calibri" panose="020F0502020204030204" pitchFamily="34" charset="0"/>
                <a:cs typeface="Calibri" panose="020F0502020204030204" pitchFamily="34" charset="0"/>
              </a:rPr>
              <a:t> </a:t>
            </a:r>
            <a:r>
              <a:rPr lang="en-US" b="1" err="1">
                <a:latin typeface="+mj-lt"/>
                <a:ea typeface="Calibri" panose="020F0502020204030204" pitchFamily="34" charset="0"/>
                <a:cs typeface="Calibri" panose="020F0502020204030204" pitchFamily="34" charset="0"/>
              </a:rPr>
              <a:t>việc</a:t>
            </a:r>
            <a:r>
              <a:rPr lang="en-US" b="1">
                <a:latin typeface="+mj-lt"/>
                <a:ea typeface="Calibri" panose="020F0502020204030204" pitchFamily="34" charset="0"/>
                <a:cs typeface="Calibri" panose="020F0502020204030204" pitchFamily="34" charset="0"/>
              </a:rPr>
              <a:t> </a:t>
            </a:r>
            <a:r>
              <a:rPr lang="en-US" b="1" err="1">
                <a:latin typeface="+mj-lt"/>
                <a:ea typeface="Calibri" panose="020F0502020204030204" pitchFamily="34" charset="0"/>
                <a:cs typeface="Calibri" panose="020F0502020204030204" pitchFamily="34" charset="0"/>
              </a:rPr>
              <a:t>sản</a:t>
            </a:r>
            <a:r>
              <a:rPr lang="en-US" b="1">
                <a:latin typeface="+mj-lt"/>
                <a:ea typeface="Calibri" panose="020F0502020204030204" pitchFamily="34" charset="0"/>
                <a:cs typeface="Calibri" panose="020F0502020204030204" pitchFamily="34" charset="0"/>
              </a:rPr>
              <a:t> </a:t>
            </a:r>
            <a:r>
              <a:rPr lang="en-US" b="1" err="1">
                <a:latin typeface="+mj-lt"/>
                <a:ea typeface="Calibri" panose="020F0502020204030204" pitchFamily="34" charset="0"/>
                <a:cs typeface="Calibri" panose="020F0502020204030204" pitchFamily="34" charset="0"/>
              </a:rPr>
              <a:t>xuất</a:t>
            </a:r>
            <a:r>
              <a:rPr lang="en-US" b="1">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những</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sản</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phẩm</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và</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dịch</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vụ</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khác</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sẽ</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được</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bán</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cho</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thuê</a:t>
            </a:r>
            <a:r>
              <a:rPr lang="en-US">
                <a:latin typeface="+mj-lt"/>
                <a:ea typeface="Calibri" panose="020F0502020204030204" pitchFamily="34" charset="0"/>
                <a:cs typeface="Calibri" panose="020F0502020204030204" pitchFamily="34" charset="0"/>
              </a:rPr>
              <a:t> hay </a:t>
            </a:r>
            <a:r>
              <a:rPr lang="en-US" err="1">
                <a:latin typeface="+mj-lt"/>
                <a:ea typeface="Calibri" panose="020F0502020204030204" pitchFamily="34" charset="0"/>
                <a:cs typeface="Calibri" panose="020F0502020204030204" pitchFamily="34" charset="0"/>
              </a:rPr>
              <a:t>cung</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cấp</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cho</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người</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khác</a:t>
            </a:r>
            <a:r>
              <a:rPr lang="en-US">
                <a:latin typeface="+mj-lt"/>
                <a:ea typeface="Calibri" panose="020F0502020204030204" pitchFamily="34" charset="0"/>
                <a:cs typeface="Calibri" panose="020F0502020204030204" pitchFamily="34" charset="0"/>
              </a:rPr>
              <a:t>; </a:t>
            </a:r>
            <a:r>
              <a:rPr lang="vi-VN">
                <a:latin typeface="+mn-lt"/>
                <a:ea typeface="Calibri" panose="020F0502020204030204" pitchFamily="34" charset="0"/>
                <a:cs typeface="Calibri" panose="020F0502020204030204" pitchFamily="34" charset="0"/>
              </a:rPr>
              <a:t>bao gồm </a:t>
            </a:r>
            <a:r>
              <a:rPr lang="en-US" err="1">
                <a:latin typeface="+mn-lt"/>
                <a:ea typeface="Calibri" panose="020F0502020204030204" pitchFamily="34" charset="0"/>
                <a:cs typeface="Calibri" panose="020F0502020204030204" pitchFamily="34" charset="0"/>
              </a:rPr>
              <a:t>cả</a:t>
            </a:r>
            <a:r>
              <a:rPr lang="en-US">
                <a:latin typeface="+mn-lt"/>
                <a:ea typeface="Calibri" panose="020F0502020204030204" pitchFamily="34" charset="0"/>
                <a:cs typeface="Calibri" panose="020F0502020204030204" pitchFamily="34" charset="0"/>
              </a:rPr>
              <a:t> </a:t>
            </a:r>
            <a:r>
              <a:rPr lang="vi-VN">
                <a:latin typeface="+mn-lt"/>
                <a:ea typeface="Calibri" panose="020F0502020204030204" pitchFamily="34" charset="0"/>
                <a:cs typeface="Calibri" panose="020F0502020204030204" pitchFamily="34" charset="0"/>
              </a:rPr>
              <a:t>hoạt động của các doanh nghiệp bán lẻ và bán buôn – những đơn vị thu mua hàng hóa để bán lại hoặc cho người khác thuê nhằm mục đích kiếm lời.</a:t>
            </a:r>
            <a:endParaRPr lang="en-US">
              <a:latin typeface="+mn-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08861232"/>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9ECE4-08A3-DBC7-7413-2DE66E973E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1D8D3-F9BF-B658-EC08-79628968B693}"/>
              </a:ext>
            </a:extLst>
          </p:cNvPr>
          <p:cNvSpPr>
            <a:spLocks noGrp="1"/>
          </p:cNvSpPr>
          <p:nvPr>
            <p:ph type="title"/>
          </p:nvPr>
        </p:nvSpPr>
        <p:spPr/>
        <p:txBody>
          <a:bodyPr>
            <a:normAutofit/>
          </a:bodyPr>
          <a:lstStyle/>
          <a:p>
            <a:r>
              <a:rPr lang="en-US" sz="3200" b="1"/>
              <a:t>6.1.1. </a:t>
            </a:r>
            <a:r>
              <a:rPr lang="en-US" sz="3200" b="1" err="1"/>
              <a:t>Khái</a:t>
            </a:r>
            <a:r>
              <a:rPr lang="en-US" sz="3200" b="1"/>
              <a:t> </a:t>
            </a:r>
            <a:r>
              <a:rPr lang="en-US" sz="3200" b="1" err="1"/>
              <a:t>quát</a:t>
            </a:r>
            <a:r>
              <a:rPr lang="en-US" sz="3200" b="1"/>
              <a:t> </a:t>
            </a:r>
            <a:r>
              <a:rPr lang="en-US" sz="3200" b="1" err="1"/>
              <a:t>khách</a:t>
            </a:r>
            <a:r>
              <a:rPr lang="en-US" sz="3200" b="1"/>
              <a:t> </a:t>
            </a:r>
            <a:r>
              <a:rPr lang="en-US" sz="3200" b="1" err="1"/>
              <a:t>hàng</a:t>
            </a:r>
            <a:r>
              <a:rPr lang="en-US" sz="3200" b="1"/>
              <a:t> </a:t>
            </a:r>
            <a:r>
              <a:rPr lang="en-US" sz="3200" b="1" err="1"/>
              <a:t>tổ</a:t>
            </a:r>
            <a:r>
              <a:rPr lang="en-US" sz="3200" b="1"/>
              <a:t> </a:t>
            </a:r>
            <a:r>
              <a:rPr lang="en-US" sz="3200" b="1" err="1"/>
              <a:t>chức</a:t>
            </a:r>
            <a:endParaRPr lang="en-US" sz="3200" b="1"/>
          </a:p>
        </p:txBody>
      </p:sp>
      <p:sp>
        <p:nvSpPr>
          <p:cNvPr id="3" name="Text Placeholder 2">
            <a:extLst>
              <a:ext uri="{FF2B5EF4-FFF2-40B4-BE49-F238E27FC236}">
                <a16:creationId xmlns:a16="http://schemas.microsoft.com/office/drawing/2014/main" id="{F03C3B8D-25A2-4C3E-65C0-A405BBB51EE6}"/>
              </a:ext>
            </a:extLst>
          </p:cNvPr>
          <p:cNvSpPr>
            <a:spLocks noGrp="1"/>
          </p:cNvSpPr>
          <p:nvPr>
            <p:ph type="body" idx="1"/>
          </p:nvPr>
        </p:nvSpPr>
        <p:spPr>
          <a:xfrm>
            <a:off x="838200" y="1581293"/>
            <a:ext cx="10515600" cy="4911582"/>
          </a:xfrm>
        </p:spPr>
        <p:txBody>
          <a:bodyPr>
            <a:normAutofit/>
          </a:bodyPr>
          <a:lstStyle/>
          <a:p>
            <a:pPr algn="just">
              <a:lnSpc>
                <a:spcPct val="150000"/>
              </a:lnSpc>
            </a:pPr>
            <a:r>
              <a:rPr lang="en-US" err="1">
                <a:latin typeface="Arial (Headings)"/>
                <a:ea typeface="Calibri" panose="020F0502020204030204" pitchFamily="34" charset="0"/>
                <a:cs typeface="Calibri" panose="020F0502020204030204" pitchFamily="34" charset="0"/>
              </a:rPr>
              <a:t>Phân</a:t>
            </a:r>
            <a:r>
              <a:rPr lang="en-US">
                <a:latin typeface="Arial (Headings)"/>
                <a:ea typeface="Calibri" panose="020F0502020204030204" pitchFamily="34" charset="0"/>
                <a:cs typeface="Calibri" panose="020F0502020204030204" pitchFamily="34" charset="0"/>
              </a:rPr>
              <a:t> </a:t>
            </a:r>
            <a:r>
              <a:rPr lang="en-US" err="1">
                <a:latin typeface="Arial (Headings)"/>
                <a:ea typeface="Calibri" panose="020F0502020204030204" pitchFamily="34" charset="0"/>
                <a:cs typeface="Calibri" panose="020F0502020204030204" pitchFamily="34" charset="0"/>
              </a:rPr>
              <a:t>loại</a:t>
            </a:r>
            <a:r>
              <a:rPr lang="en-US">
                <a:latin typeface="Arial (Headings)"/>
                <a:ea typeface="Calibri" panose="020F0502020204030204" pitchFamily="34" charset="0"/>
                <a:cs typeface="Calibri" panose="020F0502020204030204" pitchFamily="34" charset="0"/>
              </a:rPr>
              <a:t> </a:t>
            </a:r>
            <a:r>
              <a:rPr lang="en-US" err="1">
                <a:latin typeface="Arial (Headings)"/>
                <a:ea typeface="Calibri" panose="020F0502020204030204" pitchFamily="34" charset="0"/>
                <a:cs typeface="Calibri" panose="020F0502020204030204" pitchFamily="34" charset="0"/>
              </a:rPr>
              <a:t>khách</a:t>
            </a:r>
            <a:r>
              <a:rPr lang="en-US">
                <a:latin typeface="Arial (Headings)"/>
                <a:ea typeface="Calibri" panose="020F0502020204030204" pitchFamily="34" charset="0"/>
                <a:cs typeface="Calibri" panose="020F0502020204030204" pitchFamily="34" charset="0"/>
              </a:rPr>
              <a:t> </a:t>
            </a:r>
            <a:r>
              <a:rPr lang="en-US" err="1">
                <a:latin typeface="Arial (Headings)"/>
                <a:ea typeface="Calibri" panose="020F0502020204030204" pitchFamily="34" charset="0"/>
                <a:cs typeface="Calibri" panose="020F0502020204030204" pitchFamily="34" charset="0"/>
              </a:rPr>
              <a:t>hàng</a:t>
            </a:r>
            <a:r>
              <a:rPr lang="en-US">
                <a:latin typeface="Arial (Headings)"/>
                <a:ea typeface="Calibri" panose="020F0502020204030204" pitchFamily="34" charset="0"/>
                <a:cs typeface="Calibri" panose="020F0502020204030204" pitchFamily="34" charset="0"/>
              </a:rPr>
              <a:t> </a:t>
            </a:r>
            <a:r>
              <a:rPr lang="en-US" err="1">
                <a:latin typeface="Arial (Headings)"/>
                <a:ea typeface="Calibri" panose="020F0502020204030204" pitchFamily="34" charset="0"/>
                <a:cs typeface="Calibri" panose="020F0502020204030204" pitchFamily="34" charset="0"/>
              </a:rPr>
              <a:t>tổ</a:t>
            </a:r>
            <a:r>
              <a:rPr lang="en-US">
                <a:latin typeface="Arial (Headings)"/>
                <a:ea typeface="Calibri" panose="020F0502020204030204" pitchFamily="34" charset="0"/>
                <a:cs typeface="Calibri" panose="020F0502020204030204" pitchFamily="34" charset="0"/>
              </a:rPr>
              <a:t> </a:t>
            </a:r>
            <a:r>
              <a:rPr lang="en-US" err="1">
                <a:latin typeface="Arial (Headings)"/>
                <a:ea typeface="Calibri" panose="020F0502020204030204" pitchFamily="34" charset="0"/>
                <a:cs typeface="Calibri" panose="020F0502020204030204" pitchFamily="34" charset="0"/>
              </a:rPr>
              <a:t>chức</a:t>
            </a:r>
            <a:r>
              <a:rPr lang="en-US">
                <a:latin typeface="Arial (Headings)"/>
                <a:ea typeface="Calibri" panose="020F0502020204030204" pitchFamily="34" charset="0"/>
                <a:cs typeface="Calibri" panose="020F0502020204030204" pitchFamily="34" charset="0"/>
              </a:rPr>
              <a:t>:</a:t>
            </a:r>
          </a:p>
          <a:p>
            <a:pPr lvl="1" algn="just">
              <a:lnSpc>
                <a:spcPct val="150000"/>
              </a:lnSpc>
              <a:buFont typeface="Wingdings" panose="05000000000000000000" pitchFamily="2" charset="2"/>
              <a:buChar char="q"/>
            </a:pPr>
            <a:r>
              <a:rPr lang="en-US" sz="2800">
                <a:latin typeface="Arial (Headings)"/>
                <a:ea typeface="Calibri" panose="020F0502020204030204" pitchFamily="34" charset="0"/>
                <a:cs typeface="Calibri" panose="020F0502020204030204" pitchFamily="34" charset="0"/>
              </a:rPr>
              <a:t>Các </a:t>
            </a:r>
            <a:r>
              <a:rPr lang="en-US" sz="2800" err="1">
                <a:latin typeface="Arial (Headings)"/>
                <a:ea typeface="Calibri" panose="020F0502020204030204" pitchFamily="34" charset="0"/>
                <a:cs typeface="Calibri" panose="020F0502020204030204" pitchFamily="34" charset="0"/>
              </a:rPr>
              <a:t>doanh</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nghiệp</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sản</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xuất</a:t>
            </a:r>
            <a:r>
              <a:rPr lang="en-US" sz="2800">
                <a:latin typeface="Arial (Headings)"/>
                <a:ea typeface="Calibri" panose="020F0502020204030204" pitchFamily="34" charset="0"/>
                <a:cs typeface="Calibri" panose="020F0502020204030204" pitchFamily="34" charset="0"/>
              </a:rPr>
              <a:t>:</a:t>
            </a:r>
          </a:p>
          <a:p>
            <a:pPr lvl="2" algn="just">
              <a:lnSpc>
                <a:spcPct val="150000"/>
              </a:lnSpc>
              <a:buFont typeface="Wingdings" panose="05000000000000000000" pitchFamily="2" charset="2"/>
              <a:buChar char="ü"/>
            </a:pPr>
            <a:r>
              <a:rPr lang="en-US" sz="2800" err="1">
                <a:latin typeface="Arial (Headings)"/>
                <a:ea typeface="Calibri" panose="020F0502020204030204" pitchFamily="34" charset="0"/>
                <a:cs typeface="Calibri" panose="020F0502020204030204" pitchFamily="34" charset="0"/>
              </a:rPr>
              <a:t>Nhà</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sản</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xuất</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thiết</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bị</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gốc</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doanh</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nghiệp</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mua</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sản</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phẩm</a:t>
            </a:r>
            <a:r>
              <a:rPr lang="en-US" sz="2800">
                <a:latin typeface="Arial (Headings)"/>
                <a:ea typeface="Calibri" panose="020F0502020204030204" pitchFamily="34" charset="0"/>
                <a:cs typeface="Calibri" panose="020F0502020204030204" pitchFamily="34" charset="0"/>
              </a:rPr>
              <a:t> hay </a:t>
            </a:r>
            <a:r>
              <a:rPr lang="en-US" sz="2800" err="1">
                <a:latin typeface="Arial (Headings)"/>
                <a:ea typeface="Calibri" panose="020F0502020204030204" pitchFamily="34" charset="0"/>
                <a:cs typeface="Calibri" panose="020F0502020204030204" pitchFamily="34" charset="0"/>
              </a:rPr>
              <a:t>dịch</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vụ</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kết</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hợp</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thành</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sản</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phẩm</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của</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mình</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rồi</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bán</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cho</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thị</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trường</a:t>
            </a:r>
            <a:endParaRPr lang="en-US" sz="2800">
              <a:latin typeface="Arial (Headings)"/>
              <a:ea typeface="Calibri" panose="020F0502020204030204" pitchFamily="34" charset="0"/>
              <a:cs typeface="Calibri" panose="020F0502020204030204" pitchFamily="34" charset="0"/>
            </a:endParaRPr>
          </a:p>
          <a:p>
            <a:pPr lvl="2" algn="just">
              <a:lnSpc>
                <a:spcPct val="150000"/>
              </a:lnSpc>
              <a:buFont typeface="Wingdings" panose="05000000000000000000" pitchFamily="2" charset="2"/>
              <a:buChar char="ü"/>
            </a:pPr>
            <a:r>
              <a:rPr lang="en-US" sz="2800" err="1">
                <a:latin typeface="Arial (Headings)"/>
                <a:ea typeface="Calibri" panose="020F0502020204030204" pitchFamily="34" charset="0"/>
                <a:cs typeface="Calibri" panose="020F0502020204030204" pitchFamily="34" charset="0"/>
              </a:rPr>
              <a:t>Người</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sử</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dụng</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mua</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sản</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phẩm</a:t>
            </a:r>
            <a:r>
              <a:rPr lang="en-US" sz="2800">
                <a:latin typeface="Arial (Headings)"/>
                <a:ea typeface="Calibri" panose="020F0502020204030204" pitchFamily="34" charset="0"/>
                <a:cs typeface="Calibri" panose="020F0502020204030204" pitchFamily="34" charset="0"/>
              </a:rPr>
              <a:t> hay </a:t>
            </a:r>
            <a:r>
              <a:rPr lang="en-US" sz="2800" err="1">
                <a:latin typeface="Arial (Headings)"/>
                <a:ea typeface="Calibri" panose="020F0502020204030204" pitchFamily="34" charset="0"/>
                <a:cs typeface="Calibri" panose="020F0502020204030204" pitchFamily="34" charset="0"/>
              </a:rPr>
              <a:t>dịch</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vụ</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về</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để</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sản</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xuất</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sản</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phẩm</a:t>
            </a:r>
            <a:r>
              <a:rPr lang="en-US" sz="2800">
                <a:latin typeface="Arial (Headings)"/>
                <a:ea typeface="Calibri" panose="020F0502020204030204" pitchFamily="34" charset="0"/>
                <a:cs typeface="Calibri" panose="020F0502020204030204" pitchFamily="34" charset="0"/>
              </a:rPr>
              <a:t> hay </a:t>
            </a:r>
            <a:r>
              <a:rPr lang="en-US" sz="2800" err="1">
                <a:latin typeface="Arial (Headings)"/>
                <a:ea typeface="Calibri" panose="020F0502020204030204" pitchFamily="34" charset="0"/>
                <a:cs typeface="Calibri" panose="020F0502020204030204" pitchFamily="34" charset="0"/>
              </a:rPr>
              <a:t>dịch</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vụ</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khác</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của</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mình</a:t>
            </a:r>
            <a:endParaRPr lang="en-US" sz="2400">
              <a:latin typeface="Arial (Headings)"/>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74974123"/>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2E8BD-20BF-CCB7-ECDC-AD658B1C81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E73023-5AF2-6E2C-5143-951A5BE1B9F8}"/>
              </a:ext>
            </a:extLst>
          </p:cNvPr>
          <p:cNvSpPr>
            <a:spLocks noGrp="1"/>
          </p:cNvSpPr>
          <p:nvPr>
            <p:ph type="title"/>
          </p:nvPr>
        </p:nvSpPr>
        <p:spPr/>
        <p:txBody>
          <a:bodyPr>
            <a:normAutofit/>
          </a:bodyPr>
          <a:lstStyle/>
          <a:p>
            <a:r>
              <a:rPr lang="en-US" sz="3200" b="1"/>
              <a:t>6.1.1. </a:t>
            </a:r>
            <a:r>
              <a:rPr lang="en-US" sz="3200" b="1" err="1"/>
              <a:t>Khái</a:t>
            </a:r>
            <a:r>
              <a:rPr lang="en-US" sz="3200" b="1"/>
              <a:t> </a:t>
            </a:r>
            <a:r>
              <a:rPr lang="en-US" sz="3200" b="1" err="1"/>
              <a:t>quát</a:t>
            </a:r>
            <a:r>
              <a:rPr lang="en-US" sz="3200" b="1"/>
              <a:t> </a:t>
            </a:r>
            <a:r>
              <a:rPr lang="en-US" sz="3200" b="1" err="1"/>
              <a:t>khách</a:t>
            </a:r>
            <a:r>
              <a:rPr lang="en-US" sz="3200" b="1"/>
              <a:t> </a:t>
            </a:r>
            <a:r>
              <a:rPr lang="en-US" sz="3200" b="1" err="1"/>
              <a:t>hàng</a:t>
            </a:r>
            <a:r>
              <a:rPr lang="en-US" sz="3200" b="1"/>
              <a:t> </a:t>
            </a:r>
            <a:r>
              <a:rPr lang="en-US" sz="3200" b="1" err="1"/>
              <a:t>tổ</a:t>
            </a:r>
            <a:r>
              <a:rPr lang="en-US" sz="3200" b="1"/>
              <a:t> </a:t>
            </a:r>
            <a:r>
              <a:rPr lang="en-US" sz="3200" b="1" err="1"/>
              <a:t>chức</a:t>
            </a:r>
            <a:endParaRPr lang="en-US" sz="3200" b="1"/>
          </a:p>
        </p:txBody>
      </p:sp>
      <p:sp>
        <p:nvSpPr>
          <p:cNvPr id="3" name="Text Placeholder 2">
            <a:extLst>
              <a:ext uri="{FF2B5EF4-FFF2-40B4-BE49-F238E27FC236}">
                <a16:creationId xmlns:a16="http://schemas.microsoft.com/office/drawing/2014/main" id="{B3B218BA-AF42-4347-8A01-61F66401457A}"/>
              </a:ext>
            </a:extLst>
          </p:cNvPr>
          <p:cNvSpPr>
            <a:spLocks noGrp="1"/>
          </p:cNvSpPr>
          <p:nvPr>
            <p:ph type="body" idx="1"/>
          </p:nvPr>
        </p:nvSpPr>
        <p:spPr>
          <a:xfrm>
            <a:off x="838200" y="1581293"/>
            <a:ext cx="10515600" cy="4911582"/>
          </a:xfrm>
        </p:spPr>
        <p:txBody>
          <a:bodyPr>
            <a:normAutofit/>
          </a:bodyPr>
          <a:lstStyle/>
          <a:p>
            <a:pPr algn="just">
              <a:lnSpc>
                <a:spcPct val="120000"/>
              </a:lnSpc>
            </a:pPr>
            <a:r>
              <a:rPr lang="en-US" err="1">
                <a:latin typeface="Arial (Headings)"/>
                <a:ea typeface="Calibri" panose="020F0502020204030204" pitchFamily="34" charset="0"/>
                <a:cs typeface="Calibri" panose="020F0502020204030204" pitchFamily="34" charset="0"/>
              </a:rPr>
              <a:t>Phân</a:t>
            </a:r>
            <a:r>
              <a:rPr lang="en-US">
                <a:latin typeface="Arial (Headings)"/>
                <a:ea typeface="Calibri" panose="020F0502020204030204" pitchFamily="34" charset="0"/>
                <a:cs typeface="Calibri" panose="020F0502020204030204" pitchFamily="34" charset="0"/>
              </a:rPr>
              <a:t> </a:t>
            </a:r>
            <a:r>
              <a:rPr lang="en-US" err="1">
                <a:latin typeface="Arial (Headings)"/>
                <a:ea typeface="Calibri" panose="020F0502020204030204" pitchFamily="34" charset="0"/>
                <a:cs typeface="Calibri" panose="020F0502020204030204" pitchFamily="34" charset="0"/>
              </a:rPr>
              <a:t>loại</a:t>
            </a:r>
            <a:r>
              <a:rPr lang="en-US">
                <a:latin typeface="Arial (Headings)"/>
                <a:ea typeface="Calibri" panose="020F0502020204030204" pitchFamily="34" charset="0"/>
                <a:cs typeface="Calibri" panose="020F0502020204030204" pitchFamily="34" charset="0"/>
              </a:rPr>
              <a:t> </a:t>
            </a:r>
            <a:r>
              <a:rPr lang="en-US" err="1">
                <a:latin typeface="Arial (Headings)"/>
                <a:ea typeface="Calibri" panose="020F0502020204030204" pitchFamily="34" charset="0"/>
                <a:cs typeface="Calibri" panose="020F0502020204030204" pitchFamily="34" charset="0"/>
              </a:rPr>
              <a:t>khách</a:t>
            </a:r>
            <a:r>
              <a:rPr lang="en-US">
                <a:latin typeface="Arial (Headings)"/>
                <a:ea typeface="Calibri" panose="020F0502020204030204" pitchFamily="34" charset="0"/>
                <a:cs typeface="Calibri" panose="020F0502020204030204" pitchFamily="34" charset="0"/>
              </a:rPr>
              <a:t> </a:t>
            </a:r>
            <a:r>
              <a:rPr lang="en-US" err="1">
                <a:latin typeface="Arial (Headings)"/>
                <a:ea typeface="Calibri" panose="020F0502020204030204" pitchFamily="34" charset="0"/>
                <a:cs typeface="Calibri" panose="020F0502020204030204" pitchFamily="34" charset="0"/>
              </a:rPr>
              <a:t>hàng</a:t>
            </a:r>
            <a:r>
              <a:rPr lang="en-US">
                <a:latin typeface="Arial (Headings)"/>
                <a:ea typeface="Calibri" panose="020F0502020204030204" pitchFamily="34" charset="0"/>
                <a:cs typeface="Calibri" panose="020F0502020204030204" pitchFamily="34" charset="0"/>
              </a:rPr>
              <a:t> </a:t>
            </a:r>
            <a:r>
              <a:rPr lang="en-US" err="1">
                <a:latin typeface="Arial (Headings)"/>
                <a:ea typeface="Calibri" panose="020F0502020204030204" pitchFamily="34" charset="0"/>
                <a:cs typeface="Calibri" panose="020F0502020204030204" pitchFamily="34" charset="0"/>
              </a:rPr>
              <a:t>tổ</a:t>
            </a:r>
            <a:r>
              <a:rPr lang="en-US">
                <a:latin typeface="Arial (Headings)"/>
                <a:ea typeface="Calibri" panose="020F0502020204030204" pitchFamily="34" charset="0"/>
                <a:cs typeface="Calibri" panose="020F0502020204030204" pitchFamily="34" charset="0"/>
              </a:rPr>
              <a:t> </a:t>
            </a:r>
            <a:r>
              <a:rPr lang="en-US" err="1">
                <a:latin typeface="Arial (Headings)"/>
                <a:ea typeface="Calibri" panose="020F0502020204030204" pitchFamily="34" charset="0"/>
                <a:cs typeface="Calibri" panose="020F0502020204030204" pitchFamily="34" charset="0"/>
              </a:rPr>
              <a:t>chức</a:t>
            </a:r>
            <a:r>
              <a:rPr lang="en-US">
                <a:latin typeface="Arial (Headings)"/>
                <a:ea typeface="Calibri" panose="020F0502020204030204" pitchFamily="34" charset="0"/>
                <a:cs typeface="Calibri" panose="020F0502020204030204" pitchFamily="34" charset="0"/>
              </a:rPr>
              <a:t>:</a:t>
            </a:r>
          </a:p>
          <a:p>
            <a:pPr lvl="1" algn="just">
              <a:lnSpc>
                <a:spcPct val="150000"/>
              </a:lnSpc>
              <a:buFont typeface="Wingdings" panose="05000000000000000000" pitchFamily="2" charset="2"/>
              <a:buChar char="q"/>
            </a:pPr>
            <a:r>
              <a:rPr lang="en-US" sz="2800">
                <a:latin typeface="Arial (Headings)"/>
                <a:ea typeface="Calibri" panose="020F0502020204030204" pitchFamily="34" charset="0"/>
                <a:cs typeface="Calibri" panose="020F0502020204030204" pitchFamily="34" charset="0"/>
              </a:rPr>
              <a:t>Các </a:t>
            </a:r>
            <a:r>
              <a:rPr lang="en-US" sz="2800" err="1">
                <a:latin typeface="Arial (Headings)"/>
                <a:ea typeface="Calibri" panose="020F0502020204030204" pitchFamily="34" charset="0"/>
                <a:cs typeface="Calibri" panose="020F0502020204030204" pitchFamily="34" charset="0"/>
              </a:rPr>
              <a:t>tổ</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chức</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thương</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mại</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các</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tổ</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chức</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mua</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hàng</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hóa</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để</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bán</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lại</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hoặc</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cho</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thuê</a:t>
            </a:r>
            <a:r>
              <a:rPr lang="en-US" sz="2800">
                <a:latin typeface="Arial (Headings)"/>
                <a:ea typeface="Calibri" panose="020F0502020204030204" pitchFamily="34" charset="0"/>
                <a:cs typeface="Calibri" panose="020F0502020204030204" pitchFamily="34" charset="0"/>
              </a:rPr>
              <a:t> </a:t>
            </a:r>
            <a:r>
              <a:rPr lang="vi-VN" sz="2800">
                <a:latin typeface="Arial (Headings)"/>
                <a:ea typeface="Calibri" panose="020F0502020204030204" pitchFamily="34" charset="0"/>
                <a:cs typeface="Calibri" panose="020F0502020204030204" pitchFamily="34" charset="0"/>
              </a:rPr>
              <a:t>nhằm mục đích kiếm lời (những người bán sỉ, bán lẻ)</a:t>
            </a:r>
            <a:endParaRPr lang="en-US" sz="2800">
              <a:latin typeface="Arial (Headings)"/>
              <a:ea typeface="Calibri" panose="020F0502020204030204" pitchFamily="34" charset="0"/>
              <a:cs typeface="Calibri" panose="020F0502020204030204" pitchFamily="34" charset="0"/>
            </a:endParaRPr>
          </a:p>
          <a:p>
            <a:pPr lvl="1" algn="just">
              <a:lnSpc>
                <a:spcPct val="150000"/>
              </a:lnSpc>
              <a:buFont typeface="Wingdings" panose="05000000000000000000" pitchFamily="2" charset="2"/>
              <a:buChar char="q"/>
            </a:pPr>
            <a:r>
              <a:rPr lang="en-US" sz="2800">
                <a:latin typeface="Arial (Headings)"/>
                <a:ea typeface="Calibri" panose="020F0502020204030204" pitchFamily="34" charset="0"/>
                <a:cs typeface="Calibri" panose="020F0502020204030204" pitchFamily="34" charset="0"/>
              </a:rPr>
              <a:t>Các </a:t>
            </a:r>
            <a:r>
              <a:rPr lang="en-US" sz="2800" err="1">
                <a:latin typeface="Arial (Headings)"/>
                <a:ea typeface="Calibri" panose="020F0502020204030204" pitchFamily="34" charset="0"/>
                <a:cs typeface="Calibri" panose="020F0502020204030204" pitchFamily="34" charset="0"/>
              </a:rPr>
              <a:t>tổ</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chức</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nhà</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nước</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các</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tổ</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chức</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của</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chính</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phủ</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mua</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hoặc</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thuê</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sản</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phẩm</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và</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dịch</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vụ</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để</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thực</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hiện</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các</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chức</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năng</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chính</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của</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chínH</a:t>
            </a:r>
            <a:r>
              <a:rPr lang="en-US" sz="2800">
                <a:latin typeface="Arial (Headings)"/>
                <a:ea typeface="Calibri" panose="020F0502020204030204" pitchFamily="34" charset="0"/>
                <a:cs typeface="Calibri" panose="020F0502020204030204" pitchFamily="34" charset="0"/>
              </a:rPr>
              <a:t> </a:t>
            </a:r>
            <a:r>
              <a:rPr lang="en-US" sz="2800" err="1">
                <a:latin typeface="Arial (Headings)"/>
                <a:ea typeface="Calibri" panose="020F0502020204030204" pitchFamily="34" charset="0"/>
                <a:cs typeface="Calibri" panose="020F0502020204030204" pitchFamily="34" charset="0"/>
              </a:rPr>
              <a:t>quyền</a:t>
            </a:r>
            <a:endParaRPr lang="en-US" sz="2800">
              <a:latin typeface="Arial (Headings)"/>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34224394"/>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D9BCF-2EEC-4C16-5A1C-22FDA80023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69BA8E-0C54-B2C2-CC13-2051AD403CFB}"/>
              </a:ext>
            </a:extLst>
          </p:cNvPr>
          <p:cNvSpPr>
            <a:spLocks noGrp="1"/>
          </p:cNvSpPr>
          <p:nvPr>
            <p:ph type="title"/>
          </p:nvPr>
        </p:nvSpPr>
        <p:spPr/>
        <p:txBody>
          <a:bodyPr>
            <a:normAutofit/>
          </a:bodyPr>
          <a:lstStyle/>
          <a:p>
            <a:r>
              <a:rPr lang="en-US" sz="3200" b="1"/>
              <a:t>6.1.1. </a:t>
            </a:r>
            <a:r>
              <a:rPr lang="en-US" sz="3200" b="1" err="1"/>
              <a:t>Khái</a:t>
            </a:r>
            <a:r>
              <a:rPr lang="en-US" sz="3200" b="1"/>
              <a:t> </a:t>
            </a:r>
            <a:r>
              <a:rPr lang="en-US" sz="3200" b="1" err="1"/>
              <a:t>quát</a:t>
            </a:r>
            <a:r>
              <a:rPr lang="en-US" sz="3200" b="1"/>
              <a:t> </a:t>
            </a:r>
            <a:r>
              <a:rPr lang="en-US" sz="3200" b="1" err="1"/>
              <a:t>khách</a:t>
            </a:r>
            <a:r>
              <a:rPr lang="en-US" sz="3200" b="1"/>
              <a:t> </a:t>
            </a:r>
            <a:r>
              <a:rPr lang="en-US" sz="3200" b="1" err="1"/>
              <a:t>hàng</a:t>
            </a:r>
            <a:r>
              <a:rPr lang="en-US" sz="3200" b="1"/>
              <a:t> </a:t>
            </a:r>
            <a:r>
              <a:rPr lang="en-US" sz="3200" b="1" err="1"/>
              <a:t>tổ</a:t>
            </a:r>
            <a:r>
              <a:rPr lang="en-US" sz="3200" b="1"/>
              <a:t> </a:t>
            </a:r>
            <a:r>
              <a:rPr lang="en-US" sz="3200" b="1" err="1"/>
              <a:t>chức</a:t>
            </a:r>
            <a:endParaRPr lang="en-US" sz="3200" b="1"/>
          </a:p>
        </p:txBody>
      </p:sp>
      <p:sp>
        <p:nvSpPr>
          <p:cNvPr id="3" name="Text Placeholder 2">
            <a:extLst>
              <a:ext uri="{FF2B5EF4-FFF2-40B4-BE49-F238E27FC236}">
                <a16:creationId xmlns:a16="http://schemas.microsoft.com/office/drawing/2014/main" id="{B184DC16-EE21-38B9-C8AE-354ABE503216}"/>
              </a:ext>
            </a:extLst>
          </p:cNvPr>
          <p:cNvSpPr>
            <a:spLocks noGrp="1"/>
          </p:cNvSpPr>
          <p:nvPr>
            <p:ph type="body" idx="1"/>
          </p:nvPr>
        </p:nvSpPr>
        <p:spPr>
          <a:xfrm>
            <a:off x="838200" y="1581293"/>
            <a:ext cx="10515600" cy="4274075"/>
          </a:xfrm>
        </p:spPr>
        <p:txBody>
          <a:bodyPr>
            <a:normAutofit/>
          </a:bodyPr>
          <a:lstStyle/>
          <a:p>
            <a:pPr algn="just">
              <a:lnSpc>
                <a:spcPct val="100000"/>
              </a:lnSpc>
            </a:pPr>
            <a:r>
              <a:rPr lang="en-US" err="1">
                <a:latin typeface="+mn-lt"/>
                <a:ea typeface="Calibri" panose="020F0502020204030204" pitchFamily="34" charset="0"/>
                <a:cs typeface="Calibri" panose="020F0502020204030204" pitchFamily="34" charset="0"/>
              </a:rPr>
              <a:t>Phân</a:t>
            </a:r>
            <a:r>
              <a:rPr lang="en-US">
                <a:latin typeface="+mn-lt"/>
                <a:ea typeface="Calibri" panose="020F0502020204030204" pitchFamily="34" charset="0"/>
                <a:cs typeface="Calibri" panose="020F0502020204030204" pitchFamily="34" charset="0"/>
              </a:rPr>
              <a:t> </a:t>
            </a:r>
            <a:r>
              <a:rPr lang="en-US" err="1">
                <a:latin typeface="+mn-lt"/>
                <a:ea typeface="Calibri" panose="020F0502020204030204" pitchFamily="34" charset="0"/>
                <a:cs typeface="Calibri" panose="020F0502020204030204" pitchFamily="34" charset="0"/>
              </a:rPr>
              <a:t>loại</a:t>
            </a:r>
            <a:r>
              <a:rPr lang="en-US">
                <a:latin typeface="+mn-lt"/>
                <a:ea typeface="Calibri" panose="020F0502020204030204" pitchFamily="34" charset="0"/>
                <a:cs typeface="Calibri" panose="020F0502020204030204" pitchFamily="34" charset="0"/>
              </a:rPr>
              <a:t> </a:t>
            </a:r>
            <a:r>
              <a:rPr lang="en-US" err="1">
                <a:latin typeface="+mn-lt"/>
                <a:ea typeface="Calibri" panose="020F0502020204030204" pitchFamily="34" charset="0"/>
                <a:cs typeface="Calibri" panose="020F0502020204030204" pitchFamily="34" charset="0"/>
              </a:rPr>
              <a:t>sản</a:t>
            </a:r>
            <a:r>
              <a:rPr lang="en-US">
                <a:latin typeface="+mn-lt"/>
                <a:ea typeface="Calibri" panose="020F0502020204030204" pitchFamily="34" charset="0"/>
                <a:cs typeface="Calibri" panose="020F0502020204030204" pitchFamily="34" charset="0"/>
              </a:rPr>
              <a:t> </a:t>
            </a:r>
            <a:r>
              <a:rPr lang="en-US" err="1">
                <a:latin typeface="+mn-lt"/>
                <a:ea typeface="Calibri" panose="020F0502020204030204" pitchFamily="34" charset="0"/>
                <a:cs typeface="Calibri" panose="020F0502020204030204" pitchFamily="34" charset="0"/>
              </a:rPr>
              <a:t>phẩm</a:t>
            </a:r>
            <a:r>
              <a:rPr lang="en-US">
                <a:latin typeface="+mn-lt"/>
                <a:ea typeface="Calibri" panose="020F0502020204030204" pitchFamily="34" charset="0"/>
                <a:cs typeface="Calibri" panose="020F0502020204030204" pitchFamily="34" charset="0"/>
              </a:rPr>
              <a:t>/</a:t>
            </a:r>
            <a:r>
              <a:rPr lang="en-US" err="1">
                <a:latin typeface="+mn-lt"/>
                <a:ea typeface="Calibri" panose="020F0502020204030204" pitchFamily="34" charset="0"/>
                <a:cs typeface="Calibri" panose="020F0502020204030204" pitchFamily="34" charset="0"/>
              </a:rPr>
              <a:t>dịch</a:t>
            </a:r>
            <a:r>
              <a:rPr lang="en-US">
                <a:latin typeface="+mn-lt"/>
                <a:ea typeface="Calibri" panose="020F0502020204030204" pitchFamily="34" charset="0"/>
                <a:cs typeface="Calibri" panose="020F0502020204030204" pitchFamily="34" charset="0"/>
              </a:rPr>
              <a:t> </a:t>
            </a:r>
            <a:r>
              <a:rPr lang="en-US" err="1">
                <a:latin typeface="+mn-lt"/>
                <a:ea typeface="Calibri" panose="020F0502020204030204" pitchFamily="34" charset="0"/>
                <a:cs typeface="Calibri" panose="020F0502020204030204" pitchFamily="34" charset="0"/>
              </a:rPr>
              <a:t>vụ</a:t>
            </a:r>
            <a:r>
              <a:rPr lang="en-US">
                <a:latin typeface="+mn-lt"/>
                <a:ea typeface="Calibri" panose="020F0502020204030204" pitchFamily="34" charset="0"/>
                <a:cs typeface="Calibri" panose="020F0502020204030204" pitchFamily="34" charset="0"/>
              </a:rPr>
              <a:t>:</a:t>
            </a:r>
            <a:endParaRPr lang="en-US">
              <a:latin typeface="+mn-lt"/>
            </a:endParaRPr>
          </a:p>
          <a:p>
            <a:pPr lvl="1" algn="just">
              <a:lnSpc>
                <a:spcPct val="100000"/>
              </a:lnSpc>
              <a:buFont typeface="Wingdings" panose="05000000000000000000" pitchFamily="2" charset="2"/>
              <a:buChar char="ü"/>
            </a:pPr>
            <a:r>
              <a:rPr lang="en-US" sz="2800" err="1">
                <a:latin typeface="+mn-lt"/>
              </a:rPr>
              <a:t>Thiết</a:t>
            </a:r>
            <a:r>
              <a:rPr lang="en-US" sz="2800">
                <a:latin typeface="+mn-lt"/>
              </a:rPr>
              <a:t> </a:t>
            </a:r>
            <a:r>
              <a:rPr lang="en-US" sz="2800" err="1">
                <a:latin typeface="+mn-lt"/>
              </a:rPr>
              <a:t>bị</a:t>
            </a:r>
            <a:r>
              <a:rPr lang="en-US" sz="2800">
                <a:latin typeface="+mn-lt"/>
              </a:rPr>
              <a:t> </a:t>
            </a:r>
            <a:r>
              <a:rPr lang="en-US" sz="2800" err="1">
                <a:latin typeface="+mn-lt"/>
              </a:rPr>
              <a:t>nặng</a:t>
            </a:r>
            <a:endParaRPr lang="en-US" sz="2800">
              <a:latin typeface="+mn-lt"/>
            </a:endParaRPr>
          </a:p>
          <a:p>
            <a:pPr lvl="1" algn="just">
              <a:lnSpc>
                <a:spcPct val="100000"/>
              </a:lnSpc>
              <a:buFont typeface="Wingdings" panose="05000000000000000000" pitchFamily="2" charset="2"/>
              <a:buChar char="ü"/>
            </a:pPr>
            <a:r>
              <a:rPr lang="en-US" sz="2800" err="1">
                <a:latin typeface="+mn-lt"/>
              </a:rPr>
              <a:t>Thiết</a:t>
            </a:r>
            <a:r>
              <a:rPr lang="en-US" sz="2800">
                <a:latin typeface="+mn-lt"/>
              </a:rPr>
              <a:t> </a:t>
            </a:r>
            <a:r>
              <a:rPr lang="en-US" sz="2800" err="1">
                <a:latin typeface="+mn-lt"/>
              </a:rPr>
              <a:t>bị</a:t>
            </a:r>
            <a:r>
              <a:rPr lang="en-US" sz="2800">
                <a:latin typeface="+mn-lt"/>
              </a:rPr>
              <a:t> </a:t>
            </a:r>
            <a:r>
              <a:rPr lang="en-US" sz="2800" err="1">
                <a:latin typeface="+mn-lt"/>
              </a:rPr>
              <a:t>nhẹ</a:t>
            </a:r>
            <a:endParaRPr lang="en-US" sz="2800">
              <a:latin typeface="+mn-lt"/>
            </a:endParaRPr>
          </a:p>
          <a:p>
            <a:pPr lvl="1" algn="just">
              <a:lnSpc>
                <a:spcPct val="100000"/>
              </a:lnSpc>
              <a:buFont typeface="Wingdings" panose="05000000000000000000" pitchFamily="2" charset="2"/>
              <a:buChar char="ü"/>
            </a:pPr>
            <a:r>
              <a:rPr lang="en-US" sz="2800" err="1">
                <a:latin typeface="+mn-lt"/>
              </a:rPr>
              <a:t>Thiết</a:t>
            </a:r>
            <a:r>
              <a:rPr lang="en-US" sz="2800">
                <a:latin typeface="+mn-lt"/>
              </a:rPr>
              <a:t> </a:t>
            </a:r>
            <a:r>
              <a:rPr lang="en-US" sz="2800" err="1">
                <a:latin typeface="+mn-lt"/>
              </a:rPr>
              <a:t>bị</a:t>
            </a:r>
            <a:r>
              <a:rPr lang="en-US" sz="2800">
                <a:latin typeface="+mn-lt"/>
              </a:rPr>
              <a:t> </a:t>
            </a:r>
            <a:r>
              <a:rPr lang="en-US" sz="2800" err="1">
                <a:latin typeface="+mn-lt"/>
              </a:rPr>
              <a:t>phụ</a:t>
            </a:r>
            <a:r>
              <a:rPr lang="en-US" sz="2800">
                <a:latin typeface="+mn-lt"/>
              </a:rPr>
              <a:t> </a:t>
            </a:r>
            <a:r>
              <a:rPr lang="en-US" sz="2800" err="1">
                <a:latin typeface="+mn-lt"/>
              </a:rPr>
              <a:t>trợ</a:t>
            </a:r>
            <a:endParaRPr lang="en-US" sz="2800">
              <a:latin typeface="+mn-lt"/>
            </a:endParaRPr>
          </a:p>
          <a:p>
            <a:pPr lvl="1" algn="just">
              <a:lnSpc>
                <a:spcPct val="100000"/>
              </a:lnSpc>
              <a:buFont typeface="Wingdings" panose="05000000000000000000" pitchFamily="2" charset="2"/>
              <a:buChar char="ü"/>
            </a:pPr>
            <a:r>
              <a:rPr lang="en-US" sz="2800">
                <a:latin typeface="+mn-lt"/>
              </a:rPr>
              <a:t>Các </a:t>
            </a:r>
            <a:r>
              <a:rPr lang="en-US" sz="2800" err="1">
                <a:latin typeface="+mn-lt"/>
              </a:rPr>
              <a:t>bộ</a:t>
            </a:r>
            <a:r>
              <a:rPr lang="en-US" sz="2800">
                <a:latin typeface="+mn-lt"/>
              </a:rPr>
              <a:t> </a:t>
            </a:r>
            <a:r>
              <a:rPr lang="en-US" sz="2800" err="1">
                <a:latin typeface="+mn-lt"/>
              </a:rPr>
              <a:t>phận</a:t>
            </a:r>
            <a:r>
              <a:rPr lang="en-US" sz="2800">
                <a:latin typeface="+mn-lt"/>
              </a:rPr>
              <a:t> </a:t>
            </a:r>
            <a:r>
              <a:rPr lang="en-US" sz="2800" err="1">
                <a:latin typeface="+mn-lt"/>
              </a:rPr>
              <a:t>cấu</a:t>
            </a:r>
            <a:r>
              <a:rPr lang="en-US" sz="2800">
                <a:latin typeface="+mn-lt"/>
              </a:rPr>
              <a:t> </a:t>
            </a:r>
            <a:r>
              <a:rPr lang="en-US" sz="2800" err="1">
                <a:latin typeface="+mn-lt"/>
              </a:rPr>
              <a:t>thành</a:t>
            </a:r>
            <a:endParaRPr lang="en-US" sz="2800">
              <a:latin typeface="+mn-lt"/>
            </a:endParaRPr>
          </a:p>
          <a:p>
            <a:pPr lvl="1" algn="just">
              <a:lnSpc>
                <a:spcPct val="100000"/>
              </a:lnSpc>
              <a:buFont typeface="Wingdings" panose="05000000000000000000" pitchFamily="2" charset="2"/>
              <a:buChar char="ü"/>
            </a:pPr>
            <a:r>
              <a:rPr lang="en-US" sz="2800" err="1">
                <a:latin typeface="+mn-lt"/>
              </a:rPr>
              <a:t>Vật</a:t>
            </a:r>
            <a:r>
              <a:rPr lang="en-US" sz="2800">
                <a:latin typeface="+mn-lt"/>
              </a:rPr>
              <a:t> </a:t>
            </a:r>
            <a:r>
              <a:rPr lang="en-US" sz="2800" err="1">
                <a:latin typeface="+mn-lt"/>
              </a:rPr>
              <a:t>liệu</a:t>
            </a:r>
            <a:r>
              <a:rPr lang="en-US" sz="2800">
                <a:latin typeface="+mn-lt"/>
              </a:rPr>
              <a:t> </a:t>
            </a:r>
            <a:r>
              <a:rPr lang="en-US" sz="2800" err="1">
                <a:latin typeface="+mn-lt"/>
              </a:rPr>
              <a:t>thô</a:t>
            </a:r>
            <a:endParaRPr lang="en-US" sz="2800">
              <a:latin typeface="+mn-lt"/>
            </a:endParaRPr>
          </a:p>
          <a:p>
            <a:pPr lvl="1" algn="just">
              <a:lnSpc>
                <a:spcPct val="100000"/>
              </a:lnSpc>
              <a:buFont typeface="Wingdings" panose="05000000000000000000" pitchFamily="2" charset="2"/>
              <a:buChar char="ü"/>
            </a:pPr>
            <a:r>
              <a:rPr lang="en-US" sz="2800" err="1">
                <a:latin typeface="+mn-lt"/>
              </a:rPr>
              <a:t>Vật</a:t>
            </a:r>
            <a:r>
              <a:rPr lang="en-US" sz="2800">
                <a:latin typeface="+mn-lt"/>
              </a:rPr>
              <a:t> </a:t>
            </a:r>
            <a:r>
              <a:rPr lang="en-US" sz="2800" err="1">
                <a:latin typeface="+mn-lt"/>
              </a:rPr>
              <a:t>liệu</a:t>
            </a:r>
            <a:r>
              <a:rPr lang="en-US" sz="2800">
                <a:latin typeface="+mn-lt"/>
              </a:rPr>
              <a:t> </a:t>
            </a:r>
            <a:r>
              <a:rPr lang="en-US" sz="2800" err="1">
                <a:latin typeface="+mn-lt"/>
              </a:rPr>
              <a:t>đã</a:t>
            </a:r>
            <a:r>
              <a:rPr lang="en-US" sz="2800">
                <a:latin typeface="+mn-lt"/>
              </a:rPr>
              <a:t> </a:t>
            </a:r>
            <a:r>
              <a:rPr lang="en-US" sz="2800" err="1">
                <a:latin typeface="+mn-lt"/>
              </a:rPr>
              <a:t>chế</a:t>
            </a:r>
            <a:r>
              <a:rPr lang="en-US" sz="2800">
                <a:latin typeface="+mn-lt"/>
              </a:rPr>
              <a:t> </a:t>
            </a:r>
            <a:r>
              <a:rPr lang="en-US" sz="2800" err="1">
                <a:latin typeface="+mn-lt"/>
              </a:rPr>
              <a:t>biến</a:t>
            </a:r>
            <a:endParaRPr lang="en-US" sz="2800">
              <a:latin typeface="+mn-lt"/>
            </a:endParaRPr>
          </a:p>
          <a:p>
            <a:pPr lvl="1" algn="just">
              <a:lnSpc>
                <a:spcPct val="100000"/>
              </a:lnSpc>
              <a:buFont typeface="Wingdings" panose="05000000000000000000" pitchFamily="2" charset="2"/>
              <a:buChar char="ü"/>
            </a:pPr>
            <a:r>
              <a:rPr lang="en-US" sz="2800" err="1">
                <a:latin typeface="+mn-lt"/>
              </a:rPr>
              <a:t>Dịch</a:t>
            </a:r>
            <a:r>
              <a:rPr lang="en-US" sz="2800">
                <a:latin typeface="+mn-lt"/>
              </a:rPr>
              <a:t> </a:t>
            </a:r>
            <a:r>
              <a:rPr lang="en-US" sz="2800" err="1">
                <a:latin typeface="+mn-lt"/>
              </a:rPr>
              <a:t>vụ</a:t>
            </a:r>
            <a:endParaRPr lang="en-US" sz="2800">
              <a:latin typeface="+mn-lt"/>
            </a:endParaRPr>
          </a:p>
          <a:p>
            <a:pPr lvl="1" algn="just">
              <a:lnSpc>
                <a:spcPct val="120000"/>
              </a:lnSpc>
            </a:pPr>
            <a:endParaRPr lang="en-US">
              <a:latin typeface="+mn-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39539702"/>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30990-494D-2588-ABB0-B5C8C150CB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10202-1F2C-CBA0-A5BC-FF0D0C5605D0}"/>
              </a:ext>
            </a:extLst>
          </p:cNvPr>
          <p:cNvSpPr>
            <a:spLocks noGrp="1"/>
          </p:cNvSpPr>
          <p:nvPr>
            <p:ph type="title"/>
          </p:nvPr>
        </p:nvSpPr>
        <p:spPr/>
        <p:txBody>
          <a:bodyPr>
            <a:normAutofit/>
          </a:bodyPr>
          <a:lstStyle/>
          <a:p>
            <a:r>
              <a:rPr lang="en-US" sz="3600" b="1"/>
              <a:t>6.1.2. </a:t>
            </a:r>
            <a:r>
              <a:rPr lang="en-US" sz="3600" b="1" err="1"/>
              <a:t>Hành</a:t>
            </a:r>
            <a:r>
              <a:rPr lang="en-US" sz="3600" b="1"/>
              <a:t> </a:t>
            </a:r>
            <a:r>
              <a:rPr lang="en-US" sz="3600" b="1">
                <a:latin typeface="Calibri" panose="020F0502020204030204" pitchFamily="34" charset="0"/>
                <a:ea typeface="Calibri" panose="020F0502020204030204" pitchFamily="34" charset="0"/>
                <a:cs typeface="Calibri" panose="020F0502020204030204" pitchFamily="34" charset="0"/>
              </a:rPr>
              <a:t>vi </a:t>
            </a:r>
            <a:r>
              <a:rPr lang="en-US" sz="3600" b="1" err="1">
                <a:latin typeface="Calibri" panose="020F0502020204030204" pitchFamily="34" charset="0"/>
                <a:ea typeface="Calibri" panose="020F0502020204030204" pitchFamily="34" charset="0"/>
                <a:cs typeface="Calibri" panose="020F0502020204030204" pitchFamily="34" charset="0"/>
              </a:rPr>
              <a:t>mua</a:t>
            </a:r>
            <a:r>
              <a:rPr lang="en-US" sz="3600" b="1">
                <a:latin typeface="Calibri" panose="020F0502020204030204" pitchFamily="34" charset="0"/>
                <a:ea typeface="Calibri" panose="020F0502020204030204" pitchFamily="34" charset="0"/>
                <a:cs typeface="Calibri" panose="020F0502020204030204" pitchFamily="34" charset="0"/>
              </a:rPr>
              <a:t> </a:t>
            </a:r>
            <a:r>
              <a:rPr lang="en-US" sz="3600" b="1" err="1">
                <a:latin typeface="Calibri" panose="020F0502020204030204" pitchFamily="34" charset="0"/>
                <a:ea typeface="Calibri" panose="020F0502020204030204" pitchFamily="34" charset="0"/>
                <a:cs typeface="Calibri" panose="020F0502020204030204" pitchFamily="34" charset="0"/>
              </a:rPr>
              <a:t>của</a:t>
            </a:r>
            <a:r>
              <a:rPr lang="en-US" sz="3600" b="1">
                <a:latin typeface="Calibri" panose="020F0502020204030204" pitchFamily="34" charset="0"/>
                <a:ea typeface="Calibri" panose="020F0502020204030204" pitchFamily="34" charset="0"/>
                <a:cs typeface="Calibri" panose="020F0502020204030204" pitchFamily="34" charset="0"/>
              </a:rPr>
              <a:t> </a:t>
            </a:r>
            <a:r>
              <a:rPr lang="en-US" sz="3600" b="1" err="1">
                <a:latin typeface="Calibri" panose="020F0502020204030204" pitchFamily="34" charset="0"/>
                <a:ea typeface="Calibri" panose="020F0502020204030204" pitchFamily="34" charset="0"/>
                <a:cs typeface="Calibri" panose="020F0502020204030204" pitchFamily="34" charset="0"/>
              </a:rPr>
              <a:t>khách</a:t>
            </a:r>
            <a:r>
              <a:rPr lang="en-US" sz="3600" b="1">
                <a:latin typeface="Calibri" panose="020F0502020204030204" pitchFamily="34" charset="0"/>
                <a:ea typeface="Calibri" panose="020F0502020204030204" pitchFamily="34" charset="0"/>
                <a:cs typeface="Calibri" panose="020F0502020204030204" pitchFamily="34" charset="0"/>
              </a:rPr>
              <a:t> </a:t>
            </a:r>
            <a:r>
              <a:rPr lang="en-US" sz="3600" b="1" err="1">
                <a:latin typeface="Calibri" panose="020F0502020204030204" pitchFamily="34" charset="0"/>
                <a:ea typeface="Calibri" panose="020F0502020204030204" pitchFamily="34" charset="0"/>
                <a:cs typeface="Calibri" panose="020F0502020204030204" pitchFamily="34" charset="0"/>
              </a:rPr>
              <a:t>hàng</a:t>
            </a:r>
            <a:r>
              <a:rPr lang="en-US" sz="3600" b="1">
                <a:latin typeface="Calibri" panose="020F0502020204030204" pitchFamily="34" charset="0"/>
                <a:ea typeface="Calibri" panose="020F0502020204030204" pitchFamily="34" charset="0"/>
                <a:cs typeface="Calibri" panose="020F0502020204030204" pitchFamily="34" charset="0"/>
              </a:rPr>
              <a:t> </a:t>
            </a:r>
            <a:r>
              <a:rPr lang="en-US" sz="3600" b="1" err="1">
                <a:latin typeface="Calibri" panose="020F0502020204030204" pitchFamily="34" charset="0"/>
                <a:ea typeface="Calibri" panose="020F0502020204030204" pitchFamily="34" charset="0"/>
                <a:cs typeface="Calibri" panose="020F0502020204030204" pitchFamily="34" charset="0"/>
              </a:rPr>
              <a:t>tổ</a:t>
            </a:r>
            <a:r>
              <a:rPr lang="en-US" sz="3600" b="1">
                <a:latin typeface="Calibri" panose="020F0502020204030204" pitchFamily="34" charset="0"/>
                <a:ea typeface="Calibri" panose="020F0502020204030204" pitchFamily="34" charset="0"/>
                <a:cs typeface="Calibri" panose="020F0502020204030204" pitchFamily="34" charset="0"/>
              </a:rPr>
              <a:t> </a:t>
            </a:r>
            <a:r>
              <a:rPr lang="en-US" sz="3600" b="1" err="1">
                <a:latin typeface="Calibri" panose="020F0502020204030204" pitchFamily="34" charset="0"/>
                <a:ea typeface="Calibri" panose="020F0502020204030204" pitchFamily="34" charset="0"/>
                <a:cs typeface="Calibri" panose="020F0502020204030204" pitchFamily="34" charset="0"/>
              </a:rPr>
              <a:t>chức</a:t>
            </a:r>
            <a:br>
              <a:rPr lang="en-US">
                <a:latin typeface="Calibri" panose="020F0502020204030204" pitchFamily="34" charset="0"/>
                <a:ea typeface="Calibri" panose="020F0502020204030204" pitchFamily="34" charset="0"/>
                <a:cs typeface="Calibri" panose="020F0502020204030204" pitchFamily="34" charset="0"/>
              </a:rPr>
            </a:br>
            <a:endParaRPr lang="en-US"/>
          </a:p>
        </p:txBody>
      </p:sp>
      <p:sp>
        <p:nvSpPr>
          <p:cNvPr id="3" name="Text Placeholder 2">
            <a:extLst>
              <a:ext uri="{FF2B5EF4-FFF2-40B4-BE49-F238E27FC236}">
                <a16:creationId xmlns:a16="http://schemas.microsoft.com/office/drawing/2014/main" id="{683EBE3C-B50D-D560-F832-4F794CA2E77F}"/>
              </a:ext>
            </a:extLst>
          </p:cNvPr>
          <p:cNvSpPr>
            <a:spLocks noGrp="1"/>
          </p:cNvSpPr>
          <p:nvPr>
            <p:ph type="body" idx="1"/>
          </p:nvPr>
        </p:nvSpPr>
        <p:spPr>
          <a:xfrm>
            <a:off x="838200" y="1116693"/>
            <a:ext cx="10515600" cy="4351338"/>
          </a:xfrm>
        </p:spPr>
        <p:txBody>
          <a:bodyPr>
            <a:noAutofit/>
          </a:bodyPr>
          <a:lstStyle/>
          <a:p>
            <a:pPr marL="571500" lvl="1" indent="0" algn="just">
              <a:lnSpc>
                <a:spcPct val="200000"/>
              </a:lnSpc>
              <a:buNone/>
            </a:pPr>
            <a:r>
              <a:rPr lang="en-US" sz="2800" err="1">
                <a:latin typeface="+mj-lt"/>
                <a:ea typeface="Calibri" panose="020F0502020204030204" pitchFamily="34" charset="0"/>
                <a:cs typeface="Calibri" panose="020F0502020204030204" pitchFamily="34" charset="0"/>
              </a:rPr>
              <a:t>Đặc</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điểm</a:t>
            </a:r>
            <a:r>
              <a:rPr lang="en-US" sz="2800">
                <a:latin typeface="+mj-lt"/>
                <a:ea typeface="Calibri" panose="020F0502020204030204" pitchFamily="34" charset="0"/>
                <a:cs typeface="Calibri" panose="020F0502020204030204" pitchFamily="34" charset="0"/>
              </a:rPr>
              <a:t>:</a:t>
            </a:r>
          </a:p>
          <a:p>
            <a:pPr lvl="1" algn="just">
              <a:lnSpc>
                <a:spcPct val="150000"/>
              </a:lnSpc>
            </a:pPr>
            <a:r>
              <a:rPr lang="en-US" sz="2800" err="1">
                <a:latin typeface="+mj-lt"/>
                <a:ea typeface="Calibri" panose="020F0502020204030204" pitchFamily="34" charset="0"/>
                <a:cs typeface="Calibri" panose="020F0502020204030204" pitchFamily="34" charset="0"/>
              </a:rPr>
              <a:t>Số</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lượng</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khách</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hàng</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ít</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khối</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lượng</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mua</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nhiều</a:t>
            </a:r>
            <a:endParaRPr lang="en-US" sz="2800">
              <a:latin typeface="+mj-lt"/>
              <a:ea typeface="Calibri" panose="020F0502020204030204" pitchFamily="34" charset="0"/>
              <a:cs typeface="Calibri" panose="020F0502020204030204" pitchFamily="34" charset="0"/>
            </a:endParaRPr>
          </a:p>
          <a:p>
            <a:pPr lvl="1" algn="just">
              <a:lnSpc>
                <a:spcPct val="150000"/>
              </a:lnSpc>
            </a:pPr>
            <a:r>
              <a:rPr lang="en-US" sz="2800" err="1">
                <a:latin typeface="+mj-lt"/>
                <a:ea typeface="Calibri" panose="020F0502020204030204" pitchFamily="34" charset="0"/>
                <a:cs typeface="Calibri" panose="020F0502020204030204" pitchFamily="34" charset="0"/>
              </a:rPr>
              <a:t>Khách</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hàng</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tập</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trung</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nhiều</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theo</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địa</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lý</a:t>
            </a:r>
            <a:endParaRPr lang="en-US" sz="2800">
              <a:latin typeface="+mj-lt"/>
              <a:ea typeface="Calibri" panose="020F0502020204030204" pitchFamily="34" charset="0"/>
              <a:cs typeface="Calibri" panose="020F0502020204030204" pitchFamily="34" charset="0"/>
            </a:endParaRPr>
          </a:p>
          <a:p>
            <a:pPr lvl="1" algn="just">
              <a:lnSpc>
                <a:spcPct val="150000"/>
              </a:lnSpc>
            </a:pPr>
            <a:r>
              <a:rPr lang="en-US" sz="2800">
                <a:latin typeface="+mj-lt"/>
                <a:ea typeface="Calibri" panose="020F0502020204030204" pitchFamily="34" charset="0"/>
                <a:cs typeface="Calibri" panose="020F0502020204030204" pitchFamily="34" charset="0"/>
              </a:rPr>
              <a:t>Trong </a:t>
            </a:r>
            <a:r>
              <a:rPr lang="en-US" sz="2800" err="1">
                <a:latin typeface="+mj-lt"/>
                <a:ea typeface="Calibri" panose="020F0502020204030204" pitchFamily="34" charset="0"/>
                <a:cs typeface="Calibri" panose="020F0502020204030204" pitchFamily="34" charset="0"/>
              </a:rPr>
              <a:t>ngắn</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hạn</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cầu</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ít</a:t>
            </a:r>
            <a:r>
              <a:rPr lang="en-US" sz="2800">
                <a:latin typeface="+mj-lt"/>
                <a:ea typeface="Calibri" panose="020F0502020204030204" pitchFamily="34" charset="0"/>
                <a:cs typeface="Calibri" panose="020F0502020204030204" pitchFamily="34" charset="0"/>
              </a:rPr>
              <a:t> co </a:t>
            </a:r>
            <a:r>
              <a:rPr lang="en-US" sz="2800" err="1">
                <a:latin typeface="+mj-lt"/>
                <a:ea typeface="Calibri" panose="020F0502020204030204" pitchFamily="34" charset="0"/>
                <a:cs typeface="Calibri" panose="020F0502020204030204" pitchFamily="34" charset="0"/>
              </a:rPr>
              <a:t>dãn</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theo</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giá</a:t>
            </a:r>
            <a:endParaRPr lang="en-US" sz="2800">
              <a:latin typeface="+mj-lt"/>
              <a:ea typeface="Calibri" panose="020F0502020204030204" pitchFamily="34" charset="0"/>
              <a:cs typeface="Calibri" panose="020F0502020204030204" pitchFamily="34" charset="0"/>
            </a:endParaRPr>
          </a:p>
          <a:p>
            <a:pPr lvl="1" algn="just">
              <a:lnSpc>
                <a:spcPct val="150000"/>
              </a:lnSpc>
            </a:pPr>
            <a:r>
              <a:rPr lang="en-US" sz="2800">
                <a:latin typeface="+mj-lt"/>
                <a:ea typeface="Calibri" panose="020F0502020204030204" pitchFamily="34" charset="0"/>
                <a:cs typeface="Calibri" panose="020F0502020204030204" pitchFamily="34" charset="0"/>
              </a:rPr>
              <a:t>Nhu </a:t>
            </a:r>
            <a:r>
              <a:rPr lang="en-US" sz="2800" err="1">
                <a:latin typeface="+mj-lt"/>
                <a:ea typeface="Calibri" panose="020F0502020204030204" pitchFamily="34" charset="0"/>
                <a:cs typeface="Calibri" panose="020F0502020204030204" pitchFamily="34" charset="0"/>
              </a:rPr>
              <a:t>cầu</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mua</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hàng</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của</a:t>
            </a:r>
            <a:r>
              <a:rPr lang="en-US" sz="2800">
                <a:latin typeface="+mj-lt"/>
                <a:ea typeface="Calibri" panose="020F0502020204030204" pitchFamily="34" charset="0"/>
                <a:cs typeface="Calibri" panose="020F0502020204030204" pitchFamily="34" charset="0"/>
              </a:rPr>
              <a:t> KH </a:t>
            </a:r>
            <a:r>
              <a:rPr lang="en-US" sz="2800" err="1">
                <a:latin typeface="+mj-lt"/>
                <a:ea typeface="Calibri" panose="020F0502020204030204" pitchFamily="34" charset="0"/>
                <a:cs typeface="Calibri" panose="020F0502020204030204" pitchFamily="34" charset="0"/>
              </a:rPr>
              <a:t>tổ</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chức</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là</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nhu</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cầu</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thứ</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phát</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xuất</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phát</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từ</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nhu</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cầu</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của</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thị</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trường</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người</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tiêu</a:t>
            </a:r>
            <a:r>
              <a:rPr lang="en-US" sz="2800">
                <a:latin typeface="+mj-lt"/>
                <a:ea typeface="Calibri" panose="020F0502020204030204" pitchFamily="34" charset="0"/>
                <a:cs typeface="Calibri" panose="020F0502020204030204" pitchFamily="34" charset="0"/>
              </a:rPr>
              <a:t> </a:t>
            </a:r>
            <a:r>
              <a:rPr lang="en-US" sz="2800" err="1">
                <a:latin typeface="+mj-lt"/>
                <a:ea typeface="Calibri" panose="020F0502020204030204" pitchFamily="34" charset="0"/>
                <a:cs typeface="Calibri" panose="020F0502020204030204" pitchFamily="34" charset="0"/>
              </a:rPr>
              <a:t>dùng</a:t>
            </a:r>
            <a:endParaRPr lang="en-US" sz="2800">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11819155"/>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C0103-97A7-A88B-5108-50103B7A46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05B63-0651-8AE7-2C1A-6D20F7E953A7}"/>
              </a:ext>
            </a:extLst>
          </p:cNvPr>
          <p:cNvSpPr>
            <a:spLocks noGrp="1"/>
          </p:cNvSpPr>
          <p:nvPr>
            <p:ph type="title"/>
          </p:nvPr>
        </p:nvSpPr>
        <p:spPr>
          <a:xfrm>
            <a:off x="276726" y="381167"/>
            <a:ext cx="10515600" cy="1325563"/>
          </a:xfrm>
        </p:spPr>
        <p:txBody>
          <a:bodyPr>
            <a:normAutofit/>
          </a:bodyPr>
          <a:lstStyle/>
          <a:p>
            <a:r>
              <a:rPr lang="en-US" sz="3600" b="1"/>
              <a:t>6.1.2. </a:t>
            </a:r>
            <a:r>
              <a:rPr lang="en-US" sz="3600" b="1" err="1"/>
              <a:t>Hành</a:t>
            </a:r>
            <a:r>
              <a:rPr lang="en-US" sz="3600" b="1"/>
              <a:t> </a:t>
            </a:r>
            <a:r>
              <a:rPr lang="en-US" sz="3600" b="1">
                <a:latin typeface="Calibri" panose="020F0502020204030204" pitchFamily="34" charset="0"/>
                <a:ea typeface="Calibri" panose="020F0502020204030204" pitchFamily="34" charset="0"/>
                <a:cs typeface="Calibri" panose="020F0502020204030204" pitchFamily="34" charset="0"/>
              </a:rPr>
              <a:t>vi </a:t>
            </a:r>
            <a:r>
              <a:rPr lang="en-US" sz="3600" b="1" err="1">
                <a:latin typeface="Calibri" panose="020F0502020204030204" pitchFamily="34" charset="0"/>
                <a:ea typeface="Calibri" panose="020F0502020204030204" pitchFamily="34" charset="0"/>
                <a:cs typeface="Calibri" panose="020F0502020204030204" pitchFamily="34" charset="0"/>
              </a:rPr>
              <a:t>mua</a:t>
            </a:r>
            <a:r>
              <a:rPr lang="en-US" sz="3600" b="1">
                <a:latin typeface="Calibri" panose="020F0502020204030204" pitchFamily="34" charset="0"/>
                <a:ea typeface="Calibri" panose="020F0502020204030204" pitchFamily="34" charset="0"/>
                <a:cs typeface="Calibri" panose="020F0502020204030204" pitchFamily="34" charset="0"/>
              </a:rPr>
              <a:t> </a:t>
            </a:r>
            <a:r>
              <a:rPr lang="en-US" sz="3600" b="1" err="1">
                <a:latin typeface="Calibri" panose="020F0502020204030204" pitchFamily="34" charset="0"/>
                <a:ea typeface="Calibri" panose="020F0502020204030204" pitchFamily="34" charset="0"/>
                <a:cs typeface="Calibri" panose="020F0502020204030204" pitchFamily="34" charset="0"/>
              </a:rPr>
              <a:t>của</a:t>
            </a:r>
            <a:r>
              <a:rPr lang="en-US" sz="3600" b="1">
                <a:latin typeface="Calibri" panose="020F0502020204030204" pitchFamily="34" charset="0"/>
                <a:ea typeface="Calibri" panose="020F0502020204030204" pitchFamily="34" charset="0"/>
                <a:cs typeface="Calibri" panose="020F0502020204030204" pitchFamily="34" charset="0"/>
              </a:rPr>
              <a:t> </a:t>
            </a:r>
            <a:r>
              <a:rPr lang="en-US" sz="3600" b="1" err="1">
                <a:latin typeface="Calibri" panose="020F0502020204030204" pitchFamily="34" charset="0"/>
                <a:ea typeface="Calibri" panose="020F0502020204030204" pitchFamily="34" charset="0"/>
                <a:cs typeface="Calibri" panose="020F0502020204030204" pitchFamily="34" charset="0"/>
              </a:rPr>
              <a:t>khách</a:t>
            </a:r>
            <a:r>
              <a:rPr lang="en-US" sz="3600" b="1">
                <a:latin typeface="Calibri" panose="020F0502020204030204" pitchFamily="34" charset="0"/>
                <a:ea typeface="Calibri" panose="020F0502020204030204" pitchFamily="34" charset="0"/>
                <a:cs typeface="Calibri" panose="020F0502020204030204" pitchFamily="34" charset="0"/>
              </a:rPr>
              <a:t> </a:t>
            </a:r>
            <a:r>
              <a:rPr lang="en-US" sz="3600" b="1" err="1">
                <a:latin typeface="Calibri" panose="020F0502020204030204" pitchFamily="34" charset="0"/>
                <a:ea typeface="Calibri" panose="020F0502020204030204" pitchFamily="34" charset="0"/>
                <a:cs typeface="Calibri" panose="020F0502020204030204" pitchFamily="34" charset="0"/>
              </a:rPr>
              <a:t>hàng</a:t>
            </a:r>
            <a:r>
              <a:rPr lang="en-US" sz="3600" b="1">
                <a:latin typeface="Calibri" panose="020F0502020204030204" pitchFamily="34" charset="0"/>
                <a:ea typeface="Calibri" panose="020F0502020204030204" pitchFamily="34" charset="0"/>
                <a:cs typeface="Calibri" panose="020F0502020204030204" pitchFamily="34" charset="0"/>
              </a:rPr>
              <a:t> </a:t>
            </a:r>
            <a:r>
              <a:rPr lang="en-US" sz="3600" b="1" err="1">
                <a:latin typeface="Calibri" panose="020F0502020204030204" pitchFamily="34" charset="0"/>
                <a:ea typeface="Calibri" panose="020F0502020204030204" pitchFamily="34" charset="0"/>
                <a:cs typeface="Calibri" panose="020F0502020204030204" pitchFamily="34" charset="0"/>
              </a:rPr>
              <a:t>tổ</a:t>
            </a:r>
            <a:r>
              <a:rPr lang="en-US" sz="3600" b="1">
                <a:latin typeface="Calibri" panose="020F0502020204030204" pitchFamily="34" charset="0"/>
                <a:ea typeface="Calibri" panose="020F0502020204030204" pitchFamily="34" charset="0"/>
                <a:cs typeface="Calibri" panose="020F0502020204030204" pitchFamily="34" charset="0"/>
              </a:rPr>
              <a:t> </a:t>
            </a:r>
            <a:r>
              <a:rPr lang="en-US" sz="3600" b="1" err="1">
                <a:latin typeface="Calibri" panose="020F0502020204030204" pitchFamily="34" charset="0"/>
                <a:ea typeface="Calibri" panose="020F0502020204030204" pitchFamily="34" charset="0"/>
                <a:cs typeface="Calibri" panose="020F0502020204030204" pitchFamily="34" charset="0"/>
              </a:rPr>
              <a:t>chức</a:t>
            </a:r>
            <a:br>
              <a:rPr lang="en-US">
                <a:latin typeface="Calibri" panose="020F0502020204030204" pitchFamily="34" charset="0"/>
                <a:ea typeface="Calibri" panose="020F0502020204030204" pitchFamily="34" charset="0"/>
                <a:cs typeface="Calibri" panose="020F0502020204030204" pitchFamily="34" charset="0"/>
              </a:rPr>
            </a:br>
            <a:endParaRPr lang="en-US"/>
          </a:p>
        </p:txBody>
      </p:sp>
      <p:sp>
        <p:nvSpPr>
          <p:cNvPr id="3" name="Text Placeholder 2">
            <a:extLst>
              <a:ext uri="{FF2B5EF4-FFF2-40B4-BE49-F238E27FC236}">
                <a16:creationId xmlns:a16="http://schemas.microsoft.com/office/drawing/2014/main" id="{C826E11B-0AA0-0612-2B8B-58E2A7796675}"/>
              </a:ext>
            </a:extLst>
          </p:cNvPr>
          <p:cNvSpPr>
            <a:spLocks noGrp="1"/>
          </p:cNvSpPr>
          <p:nvPr>
            <p:ph type="body" idx="1"/>
          </p:nvPr>
        </p:nvSpPr>
        <p:spPr>
          <a:xfrm>
            <a:off x="838200" y="1312269"/>
            <a:ext cx="10515600" cy="4864694"/>
          </a:xfrm>
        </p:spPr>
        <p:txBody>
          <a:bodyPr>
            <a:normAutofit fontScale="92500" lnSpcReduction="20000"/>
          </a:bodyPr>
          <a:lstStyle/>
          <a:p>
            <a:pPr marL="114300" indent="0" algn="just">
              <a:lnSpc>
                <a:spcPct val="150000"/>
              </a:lnSpc>
              <a:buNone/>
            </a:pPr>
            <a:r>
              <a:rPr lang="en-US" err="1">
                <a:ea typeface="Calibri" panose="020F0502020204030204" pitchFamily="34" charset="0"/>
                <a:cs typeface="Calibri" panose="020F0502020204030204" pitchFamily="34" charset="0"/>
              </a:rPr>
              <a:t>Đặc</a:t>
            </a:r>
            <a:r>
              <a:rPr lang="en-US">
                <a:ea typeface="Calibri" panose="020F0502020204030204" pitchFamily="34" charset="0"/>
                <a:cs typeface="Calibri" panose="020F0502020204030204" pitchFamily="34" charset="0"/>
              </a:rPr>
              <a:t> </a:t>
            </a:r>
            <a:r>
              <a:rPr lang="en-US" err="1">
                <a:ea typeface="Calibri" panose="020F0502020204030204" pitchFamily="34" charset="0"/>
                <a:cs typeface="Calibri" panose="020F0502020204030204" pitchFamily="34" charset="0"/>
              </a:rPr>
              <a:t>điểm</a:t>
            </a:r>
            <a:r>
              <a:rPr lang="en-US">
                <a:ea typeface="Calibri" panose="020F0502020204030204" pitchFamily="34" charset="0"/>
                <a:cs typeface="Calibri" panose="020F0502020204030204" pitchFamily="34" charset="0"/>
              </a:rPr>
              <a:t>:</a:t>
            </a:r>
            <a:endParaRPr lang="en-US">
              <a:latin typeface="+mj-lt"/>
              <a:ea typeface="Calibri" panose="020F0502020204030204" pitchFamily="34" charset="0"/>
              <a:cs typeface="Calibri" panose="020F0502020204030204" pitchFamily="34" charset="0"/>
            </a:endParaRPr>
          </a:p>
          <a:p>
            <a:pPr algn="just">
              <a:lnSpc>
                <a:spcPct val="150000"/>
              </a:lnSpc>
            </a:pPr>
            <a:r>
              <a:rPr lang="en-US" err="1">
                <a:latin typeface="+mj-lt"/>
                <a:ea typeface="Calibri" panose="020F0502020204030204" pitchFamily="34" charset="0"/>
                <a:cs typeface="Calibri" panose="020F0502020204030204" pitchFamily="34" charset="0"/>
              </a:rPr>
              <a:t>Cách</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thức</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mua</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hàng</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chuyên</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nghiệp</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theo</a:t>
            </a:r>
            <a:r>
              <a:rPr lang="en-US">
                <a:latin typeface="+mj-lt"/>
                <a:ea typeface="Calibri" panose="020F0502020204030204" pitchFamily="34" charset="0"/>
                <a:cs typeface="Calibri" panose="020F0502020204030204" pitchFamily="34" charset="0"/>
              </a:rPr>
              <a:t> qui </a:t>
            </a:r>
            <a:r>
              <a:rPr lang="en-US" err="1">
                <a:latin typeface="+mj-lt"/>
                <a:ea typeface="Calibri" panose="020F0502020204030204" pitchFamily="34" charset="0"/>
                <a:cs typeface="Calibri" panose="020F0502020204030204" pitchFamily="34" charset="0"/>
              </a:rPr>
              <a:t>trình</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thủ</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tục</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định</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sẵn</a:t>
            </a:r>
            <a:endParaRPr lang="en-US">
              <a:latin typeface="+mj-lt"/>
              <a:ea typeface="Calibri" panose="020F0502020204030204" pitchFamily="34" charset="0"/>
              <a:cs typeface="Calibri" panose="020F0502020204030204" pitchFamily="34" charset="0"/>
            </a:endParaRPr>
          </a:p>
          <a:p>
            <a:pPr algn="just">
              <a:lnSpc>
                <a:spcPct val="150000"/>
              </a:lnSpc>
            </a:pPr>
            <a:r>
              <a:rPr lang="en-US" err="1">
                <a:latin typeface="+mj-lt"/>
                <a:ea typeface="Calibri" panose="020F0502020204030204" pitchFamily="34" charset="0"/>
                <a:cs typeface="Calibri" panose="020F0502020204030204" pitchFamily="34" charset="0"/>
              </a:rPr>
              <a:t>Nhiều</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người</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tham</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gia</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vào</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quá</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trình</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ra</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quyết</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định</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mua</a:t>
            </a:r>
            <a:endParaRPr lang="en-US">
              <a:latin typeface="+mj-lt"/>
              <a:ea typeface="Calibri" panose="020F0502020204030204" pitchFamily="34" charset="0"/>
              <a:cs typeface="Calibri" panose="020F0502020204030204" pitchFamily="34" charset="0"/>
            </a:endParaRPr>
          </a:p>
          <a:p>
            <a:pPr algn="just">
              <a:lnSpc>
                <a:spcPct val="150000"/>
              </a:lnSpc>
            </a:pPr>
            <a:r>
              <a:rPr lang="en-US" err="1">
                <a:latin typeface="+mj-lt"/>
                <a:ea typeface="Calibri" panose="020F0502020204030204" pitchFamily="34" charset="0"/>
                <a:cs typeface="Calibri" panose="020F0502020204030204" pitchFamily="34" charset="0"/>
              </a:rPr>
              <a:t>Khách</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hàng</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tổ</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chức</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và</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nhà</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cung</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cấp</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có</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mối</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quan</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hệ</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gắn</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kết</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chặt</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chẽ</a:t>
            </a:r>
            <a:r>
              <a:rPr lang="en-US">
                <a:latin typeface="+mj-lt"/>
                <a:ea typeface="Calibri" panose="020F0502020204030204" pitchFamily="34" charset="0"/>
                <a:cs typeface="Calibri" panose="020F0502020204030204" pitchFamily="34" charset="0"/>
              </a:rPr>
              <a:t>. KH </a:t>
            </a:r>
            <a:r>
              <a:rPr lang="en-US" err="1">
                <a:latin typeface="+mj-lt"/>
                <a:ea typeface="Calibri" panose="020F0502020204030204" pitchFamily="34" charset="0"/>
                <a:cs typeface="Calibri" panose="020F0502020204030204" pitchFamily="34" charset="0"/>
              </a:rPr>
              <a:t>tổ</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chức</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thường</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mua</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trực</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tiếp</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thường</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xuyên</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và</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lặp</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lại</a:t>
            </a:r>
            <a:endParaRPr lang="en-US">
              <a:latin typeface="+mj-lt"/>
              <a:ea typeface="Calibri" panose="020F0502020204030204" pitchFamily="34" charset="0"/>
              <a:cs typeface="Calibri" panose="020F0502020204030204" pitchFamily="34" charset="0"/>
            </a:endParaRPr>
          </a:p>
          <a:p>
            <a:pPr algn="just">
              <a:lnSpc>
                <a:spcPct val="150000"/>
              </a:lnSpc>
            </a:pPr>
            <a:r>
              <a:rPr lang="en-US">
                <a:latin typeface="+mj-lt"/>
                <a:ea typeface="Calibri" panose="020F0502020204030204" pitchFamily="34" charset="0"/>
                <a:cs typeface="Calibri" panose="020F0502020204030204" pitchFamily="34" charset="0"/>
              </a:rPr>
              <a:t>Vai </a:t>
            </a:r>
            <a:r>
              <a:rPr lang="en-US" err="1">
                <a:latin typeface="+mj-lt"/>
                <a:ea typeface="Calibri" panose="020F0502020204030204" pitchFamily="34" charset="0"/>
                <a:cs typeface="Calibri" panose="020F0502020204030204" pitchFamily="34" charset="0"/>
              </a:rPr>
              <a:t>trò</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của</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các</a:t>
            </a:r>
            <a:r>
              <a:rPr lang="en-US">
                <a:latin typeface="+mj-lt"/>
                <a:ea typeface="Calibri" panose="020F0502020204030204" pitchFamily="34" charset="0"/>
                <a:cs typeface="Calibri" panose="020F0502020204030204" pitchFamily="34" charset="0"/>
              </a:rPr>
              <a:t> P: </a:t>
            </a:r>
            <a:r>
              <a:rPr lang="en-US" err="1">
                <a:latin typeface="+mj-lt"/>
                <a:ea typeface="Calibri" panose="020F0502020204030204" pitchFamily="34" charset="0"/>
                <a:cs typeface="Calibri" panose="020F0502020204030204" pitchFamily="34" charset="0"/>
              </a:rPr>
              <a:t>các</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yếu</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tố</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quan</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trọng</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gồm</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Sản</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phẩm</a:t>
            </a:r>
            <a:r>
              <a:rPr lang="en-US">
                <a:latin typeface="+mj-lt"/>
                <a:ea typeface="Calibri" panose="020F0502020204030204" pitchFamily="34" charset="0"/>
                <a:cs typeface="Calibri" panose="020F0502020204030204" pitchFamily="34" charset="0"/>
              </a:rPr>
              <a:t>, Bán </a:t>
            </a:r>
            <a:r>
              <a:rPr lang="en-US" err="1">
                <a:latin typeface="+mj-lt"/>
                <a:ea typeface="Calibri" panose="020F0502020204030204" pitchFamily="34" charset="0"/>
                <a:cs typeface="Calibri" panose="020F0502020204030204" pitchFamily="34" charset="0"/>
              </a:rPr>
              <a:t>hàng</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cá</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nhân</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Phân</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phối</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vật</a:t>
            </a:r>
            <a:r>
              <a:rPr lang="en-US">
                <a:latin typeface="+mj-lt"/>
                <a:ea typeface="Calibri" panose="020F0502020204030204" pitchFamily="34" charset="0"/>
                <a:cs typeface="Calibri" panose="020F0502020204030204" pitchFamily="34" charset="0"/>
              </a:rPr>
              <a:t> </a:t>
            </a:r>
            <a:r>
              <a:rPr lang="en-US" err="1">
                <a:latin typeface="+mj-lt"/>
                <a:ea typeface="Calibri" panose="020F0502020204030204" pitchFamily="34" charset="0"/>
                <a:cs typeface="Calibri" panose="020F0502020204030204" pitchFamily="34" charset="0"/>
              </a:rPr>
              <a:t>chất</a:t>
            </a:r>
            <a:endParaRPr lang="en-US">
              <a:latin typeface="+mj-lt"/>
              <a:ea typeface="Calibri" panose="020F0502020204030204" pitchFamily="34" charset="0"/>
              <a:cs typeface="Calibri" panose="020F0502020204030204" pitchFamily="34" charset="0"/>
            </a:endParaRPr>
          </a:p>
          <a:p>
            <a:pPr algn="just"/>
            <a:endParaRPr lang="en-US">
              <a:latin typeface="+mj-lt"/>
              <a:ea typeface="Calibri" panose="020F0502020204030204" pitchFamily="34" charset="0"/>
              <a:cs typeface="Calibri" panose="020F0502020204030204" pitchFamily="34" charset="0"/>
            </a:endParaRPr>
          </a:p>
          <a:p>
            <a:pPr lvl="1" algn="just">
              <a:lnSpc>
                <a:spcPct val="200000"/>
              </a:lnSpc>
            </a:pPr>
            <a:endParaRPr lang="en-US">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23309702"/>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80675E6D-6F03-C43C-0137-A111552C50A0}"/>
            </a:ext>
          </a:extLst>
        </p:cNvPr>
        <p:cNvGrpSpPr/>
        <p:nvPr/>
      </p:nvGrpSpPr>
      <p:grpSpPr>
        <a:xfrm>
          <a:off x="0" y="0"/>
          <a:ext cx="0" cy="0"/>
          <a:chOff x="0" y="0"/>
          <a:chExt cx="0" cy="0"/>
        </a:xfrm>
      </p:grpSpPr>
      <p:sp>
        <p:nvSpPr>
          <p:cNvPr id="127" name="Google Shape;127;p20">
            <a:extLst>
              <a:ext uri="{FF2B5EF4-FFF2-40B4-BE49-F238E27FC236}">
                <a16:creationId xmlns:a16="http://schemas.microsoft.com/office/drawing/2014/main" id="{874BA9EB-132D-0898-2664-AF78C6CADF44}"/>
              </a:ext>
            </a:extLst>
          </p:cNvPr>
          <p:cNvSpPr txBox="1">
            <a:spLocks noGrp="1"/>
          </p:cNvSpPr>
          <p:nvPr>
            <p:ph type="ctrTitle"/>
          </p:nvPr>
        </p:nvSpPr>
        <p:spPr>
          <a:xfrm>
            <a:off x="1934220" y="2330688"/>
            <a:ext cx="11774488" cy="1326912"/>
          </a:xfrm>
          <a:prstGeom prst="rect">
            <a:avLst/>
          </a:prstGeom>
          <a:noFill/>
          <a:ln>
            <a:noFill/>
          </a:ln>
        </p:spPr>
        <p:txBody>
          <a:bodyPr spcFirstLastPara="1" wrap="square" lIns="91425" tIns="45700" rIns="91425" bIns="45700" anchor="b" anchorCtr="0">
            <a:normAutofit/>
          </a:bodyPr>
          <a:lstStyle/>
          <a:p>
            <a:pPr lvl="0" algn="l">
              <a:spcBef>
                <a:spcPts val="1000"/>
              </a:spcBef>
              <a:buSzPts val="3600"/>
            </a:pPr>
            <a:r>
              <a:rPr lang="sv-SE" sz="4400" b="1"/>
              <a:t>6.2. MÔ HÌNH HÀNH VI MUA</a:t>
            </a:r>
          </a:p>
        </p:txBody>
      </p:sp>
    </p:spTree>
    <p:extLst>
      <p:ext uri="{BB962C8B-B14F-4D97-AF65-F5344CB8AC3E}">
        <p14:creationId xmlns:p14="http://schemas.microsoft.com/office/powerpoint/2010/main" val="2367351715"/>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B625830F-8033-E6AB-CC2D-05D37F16CAB4}"/>
            </a:ext>
          </a:extLst>
        </p:cNvPr>
        <p:cNvGrpSpPr/>
        <p:nvPr/>
      </p:nvGrpSpPr>
      <p:grpSpPr>
        <a:xfrm>
          <a:off x="0" y="0"/>
          <a:ext cx="0" cy="0"/>
          <a:chOff x="0" y="0"/>
          <a:chExt cx="0" cy="0"/>
        </a:xfrm>
      </p:grpSpPr>
      <p:sp>
        <p:nvSpPr>
          <p:cNvPr id="127" name="Google Shape;127;p20">
            <a:extLst>
              <a:ext uri="{FF2B5EF4-FFF2-40B4-BE49-F238E27FC236}">
                <a16:creationId xmlns:a16="http://schemas.microsoft.com/office/drawing/2014/main" id="{E8335FE6-923D-42BC-D1FB-234C354B1703}"/>
              </a:ext>
            </a:extLst>
          </p:cNvPr>
          <p:cNvSpPr txBox="1">
            <a:spLocks noGrp="1"/>
          </p:cNvSpPr>
          <p:nvPr>
            <p:ph type="title"/>
          </p:nvPr>
        </p:nvSpPr>
        <p:spPr>
          <a:xfrm>
            <a:off x="838200" y="365125"/>
            <a:ext cx="10515600" cy="972889"/>
          </a:xfrm>
          <a:prstGeom prst="rect">
            <a:avLst/>
          </a:prstGeom>
          <a:noFill/>
          <a:ln>
            <a:noFill/>
          </a:ln>
        </p:spPr>
        <p:txBody>
          <a:bodyPr spcFirstLastPara="1" wrap="square" lIns="91425" tIns="45700" rIns="91425" bIns="45700" anchor="b" anchorCtr="0">
            <a:normAutofit/>
          </a:bodyPr>
          <a:lstStyle/>
          <a:p>
            <a:pPr lvl="1"/>
            <a:r>
              <a:rPr lang="sv-SE" sz="3200" b="1"/>
              <a:t>6.2. MÔ HÌNH HÀNH VI MUA</a:t>
            </a:r>
            <a:endParaRPr lang="en-US" sz="3200" b="1"/>
          </a:p>
        </p:txBody>
      </p:sp>
      <p:sp>
        <p:nvSpPr>
          <p:cNvPr id="2" name="Text Placeholder 1">
            <a:extLst>
              <a:ext uri="{FF2B5EF4-FFF2-40B4-BE49-F238E27FC236}">
                <a16:creationId xmlns:a16="http://schemas.microsoft.com/office/drawing/2014/main" id="{854BBA5D-5F27-614B-42C9-42111AC39E28}"/>
              </a:ext>
            </a:extLst>
          </p:cNvPr>
          <p:cNvSpPr>
            <a:spLocks noGrp="1"/>
          </p:cNvSpPr>
          <p:nvPr>
            <p:ph type="body" idx="1"/>
          </p:nvPr>
        </p:nvSpPr>
        <p:spPr/>
        <p:txBody>
          <a:bodyPr/>
          <a:lstStyle/>
          <a:p>
            <a:endParaRPr lang="en-US"/>
          </a:p>
        </p:txBody>
      </p:sp>
      <p:pic>
        <p:nvPicPr>
          <p:cNvPr id="6" name="Picture 5">
            <a:extLst>
              <a:ext uri="{FF2B5EF4-FFF2-40B4-BE49-F238E27FC236}">
                <a16:creationId xmlns:a16="http://schemas.microsoft.com/office/drawing/2014/main" id="{C50C6075-27F1-D922-3636-0497C34C4BB1}"/>
              </a:ext>
            </a:extLst>
          </p:cNvPr>
          <p:cNvPicPr>
            <a:picLocks noChangeAspect="1"/>
          </p:cNvPicPr>
          <p:nvPr/>
        </p:nvPicPr>
        <p:blipFill>
          <a:blip r:embed="rId3"/>
          <a:stretch>
            <a:fillRect/>
          </a:stretch>
        </p:blipFill>
        <p:spPr>
          <a:xfrm>
            <a:off x="1168782" y="1723560"/>
            <a:ext cx="9260878" cy="4286234"/>
          </a:xfrm>
          <a:prstGeom prst="rect">
            <a:avLst/>
          </a:prstGeom>
        </p:spPr>
      </p:pic>
    </p:spTree>
    <p:extLst>
      <p:ext uri="{BB962C8B-B14F-4D97-AF65-F5344CB8AC3E}">
        <p14:creationId xmlns:p14="http://schemas.microsoft.com/office/powerpoint/2010/main" val="973767802"/>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2E916-77B5-D2F1-6CC5-15998750E9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E49356-9ECE-4179-8EFA-60DCCBD86ED3}"/>
              </a:ext>
            </a:extLst>
          </p:cNvPr>
          <p:cNvSpPr>
            <a:spLocks noGrp="1"/>
          </p:cNvSpPr>
          <p:nvPr>
            <p:ph type="title"/>
          </p:nvPr>
        </p:nvSpPr>
        <p:spPr/>
        <p:txBody>
          <a:bodyPr>
            <a:normAutofit/>
          </a:bodyPr>
          <a:lstStyle/>
          <a:p>
            <a:r>
              <a:rPr lang="sv-SE" sz="4000" b="1"/>
              <a:t>6.2. MÔ HÌNH HÀNH VI MUA</a:t>
            </a:r>
            <a:endParaRPr lang="en-US" sz="4000" b="1"/>
          </a:p>
        </p:txBody>
      </p:sp>
      <p:sp>
        <p:nvSpPr>
          <p:cNvPr id="3" name="Text Placeholder 2">
            <a:extLst>
              <a:ext uri="{FF2B5EF4-FFF2-40B4-BE49-F238E27FC236}">
                <a16:creationId xmlns:a16="http://schemas.microsoft.com/office/drawing/2014/main" id="{DC7A5EFD-76F0-A261-BEF6-09E467956721}"/>
              </a:ext>
            </a:extLst>
          </p:cNvPr>
          <p:cNvSpPr>
            <a:spLocks noGrp="1"/>
          </p:cNvSpPr>
          <p:nvPr>
            <p:ph type="body" idx="1"/>
          </p:nvPr>
        </p:nvSpPr>
        <p:spPr>
          <a:xfrm>
            <a:off x="838200" y="1560668"/>
            <a:ext cx="10515600" cy="4616295"/>
          </a:xfrm>
        </p:spPr>
        <p:txBody>
          <a:bodyPr>
            <a:normAutofit/>
          </a:bodyPr>
          <a:lstStyle/>
          <a:p>
            <a:pPr algn="just">
              <a:lnSpc>
                <a:spcPct val="160000"/>
              </a:lnSpc>
            </a:pPr>
            <a:r>
              <a:rPr lang="vi-VN">
                <a:latin typeface="+mn-lt"/>
                <a:ea typeface="Calibri" panose="020F0502020204030204" pitchFamily="34" charset="0"/>
                <a:cs typeface="Calibri" panose="020F0502020204030204" pitchFamily="34" charset="0"/>
              </a:rPr>
              <a:t>Trong mô hình này, các tác động tiếp thị và những yếu tố kích thích khác sẽ tác động đến tổ chức mua hàng và tạo ra các phản ứng mua nhất định. </a:t>
            </a:r>
            <a:endParaRPr lang="en-US">
              <a:latin typeface="+mn-lt"/>
              <a:ea typeface="Calibri" panose="020F0502020204030204" pitchFamily="34" charset="0"/>
              <a:cs typeface="Calibri" panose="020F0502020204030204" pitchFamily="34" charset="0"/>
            </a:endParaRPr>
          </a:p>
          <a:p>
            <a:pPr algn="just">
              <a:lnSpc>
                <a:spcPct val="160000"/>
              </a:lnSpc>
            </a:pPr>
            <a:r>
              <a:rPr lang="vi-VN">
                <a:latin typeface="+mn-lt"/>
                <a:ea typeface="Calibri" panose="020F0502020204030204" pitchFamily="34" charset="0"/>
                <a:cs typeface="Calibri" panose="020F0502020204030204" pitchFamily="34" charset="0"/>
              </a:rPr>
              <a:t>Để xây dựng được các chiến lược tiếp thị hiệu quả, người làm tiếp thị cần hiểu rõ những gì diễn ra bên trong tổ chức để chuyển hóa các yếu tố kích thích đó thành hành vi mua hàng.</a:t>
            </a:r>
            <a:endParaRPr lang="en-US">
              <a:latin typeface="+mn-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6433198"/>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BE8DA-D78D-BD40-4233-02BFECE3D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59EA1-0003-86A9-0C48-7388FB0A8AD9}"/>
              </a:ext>
            </a:extLst>
          </p:cNvPr>
          <p:cNvSpPr>
            <a:spLocks noGrp="1"/>
          </p:cNvSpPr>
          <p:nvPr>
            <p:ph type="title"/>
          </p:nvPr>
        </p:nvSpPr>
        <p:spPr/>
        <p:txBody>
          <a:bodyPr>
            <a:normAutofit/>
          </a:bodyPr>
          <a:lstStyle/>
          <a:p>
            <a:r>
              <a:rPr lang="sv-SE" sz="4000" b="1"/>
              <a:t>6.2. MÔ HÌNH HÀNH VI MUA</a:t>
            </a:r>
            <a:endParaRPr lang="en-US" sz="4000" b="1"/>
          </a:p>
        </p:txBody>
      </p:sp>
      <p:sp>
        <p:nvSpPr>
          <p:cNvPr id="3" name="Text Placeholder 2">
            <a:extLst>
              <a:ext uri="{FF2B5EF4-FFF2-40B4-BE49-F238E27FC236}">
                <a16:creationId xmlns:a16="http://schemas.microsoft.com/office/drawing/2014/main" id="{87F9E89F-6A2E-6CFC-9C55-3FB9618BB0C6}"/>
              </a:ext>
            </a:extLst>
          </p:cNvPr>
          <p:cNvSpPr>
            <a:spLocks noGrp="1"/>
          </p:cNvSpPr>
          <p:nvPr>
            <p:ph type="body" idx="1"/>
          </p:nvPr>
        </p:nvSpPr>
        <p:spPr/>
        <p:txBody>
          <a:bodyPr>
            <a:noAutofit/>
          </a:bodyPr>
          <a:lstStyle/>
          <a:p>
            <a:pPr algn="just">
              <a:lnSpc>
                <a:spcPct val="150000"/>
              </a:lnSpc>
            </a:pPr>
            <a:r>
              <a:rPr lang="vi-VN" sz="2600">
                <a:latin typeface="+mn-lt"/>
                <a:ea typeface="Calibri" panose="020F0502020204030204" pitchFamily="34" charset="0"/>
                <a:cs typeface="Calibri" panose="020F0502020204030204" pitchFamily="34" charset="0"/>
              </a:rPr>
              <a:t>Trong một tổ chức, hoạt động mua sắm bao gồm hai thành phần chính: trung tâm mua sắm (bao gồm tất cả những người tham gia vào quyết định mua) và quy trình ra quyết định mua. </a:t>
            </a:r>
            <a:endParaRPr lang="en-US" sz="2600">
              <a:latin typeface="+mn-lt"/>
              <a:ea typeface="Calibri" panose="020F0502020204030204" pitchFamily="34" charset="0"/>
              <a:cs typeface="Calibri" panose="020F0502020204030204" pitchFamily="34" charset="0"/>
            </a:endParaRPr>
          </a:p>
          <a:p>
            <a:pPr algn="just">
              <a:lnSpc>
                <a:spcPct val="150000"/>
              </a:lnSpc>
            </a:pPr>
            <a:r>
              <a:rPr lang="en-US" sz="2600">
                <a:latin typeface="+mn-lt"/>
                <a:ea typeface="Calibri" panose="020F0502020204030204" pitchFamily="34" charset="0"/>
                <a:cs typeface="Calibri" panose="020F0502020204030204" pitchFamily="34" charset="0"/>
              </a:rPr>
              <a:t>T</a:t>
            </a:r>
            <a:r>
              <a:rPr lang="vi-VN" sz="2600">
                <a:latin typeface="+mn-lt"/>
                <a:ea typeface="Calibri" panose="020F0502020204030204" pitchFamily="34" charset="0"/>
                <a:cs typeface="Calibri" panose="020F0502020204030204" pitchFamily="34" charset="0"/>
              </a:rPr>
              <a:t>rung tâm mua sắm và quy trình ra quyết định mua chịu ảnh hưởng bởi các yếu tố nội bộ tổ chức, yếu tố tương tác giữa các cá nhân, yếu tố thuộc về cá nhân, cũng như các yếu tố thuộc môi trường bên ngoài.</a:t>
            </a:r>
            <a:endParaRPr lang="en-US" sz="2600">
              <a:latin typeface="+mn-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31436656"/>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40AF9-C8D8-F46F-767A-5B8F653934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CCD381-B9C2-9896-6246-B746E827DB2F}"/>
              </a:ext>
            </a:extLst>
          </p:cNvPr>
          <p:cNvSpPr>
            <a:spLocks noGrp="1"/>
          </p:cNvSpPr>
          <p:nvPr>
            <p:ph type="title"/>
          </p:nvPr>
        </p:nvSpPr>
        <p:spPr/>
        <p:txBody>
          <a:bodyPr>
            <a:normAutofit/>
          </a:bodyPr>
          <a:lstStyle/>
          <a:p>
            <a:r>
              <a:rPr lang="sv-SE" sz="4000" b="1"/>
              <a:t>6.2. MÔ HÌNH HÀNH VI MUA</a:t>
            </a:r>
            <a:endParaRPr lang="en-US" sz="4000" b="1"/>
          </a:p>
        </p:txBody>
      </p:sp>
      <p:sp>
        <p:nvSpPr>
          <p:cNvPr id="3" name="Text Placeholder 2">
            <a:extLst>
              <a:ext uri="{FF2B5EF4-FFF2-40B4-BE49-F238E27FC236}">
                <a16:creationId xmlns:a16="http://schemas.microsoft.com/office/drawing/2014/main" id="{3900ACB6-BB5A-249D-9687-927EE1FEAAC0}"/>
              </a:ext>
            </a:extLst>
          </p:cNvPr>
          <p:cNvSpPr>
            <a:spLocks noGrp="1"/>
          </p:cNvSpPr>
          <p:nvPr>
            <p:ph type="body" idx="1"/>
          </p:nvPr>
        </p:nvSpPr>
        <p:spPr/>
        <p:txBody>
          <a:bodyPr>
            <a:noAutofit/>
          </a:bodyPr>
          <a:lstStyle/>
          <a:p>
            <a:pPr algn="just">
              <a:lnSpc>
                <a:spcPct val="150000"/>
              </a:lnSpc>
            </a:pPr>
            <a:r>
              <a:rPr lang="vi-VN" sz="2600">
                <a:latin typeface="+mn-lt"/>
                <a:ea typeface="Calibri" panose="020F0502020204030204" pitchFamily="34" charset="0"/>
                <a:cs typeface="Calibri" panose="020F0502020204030204" pitchFamily="34" charset="0"/>
              </a:rPr>
              <a:t>Mô hình </a:t>
            </a:r>
            <a:r>
              <a:rPr lang="en-US" sz="2600" err="1">
                <a:latin typeface="+mn-lt"/>
                <a:ea typeface="Calibri" panose="020F0502020204030204" pitchFamily="34" charset="0"/>
                <a:cs typeface="Calibri" panose="020F0502020204030204" pitchFamily="34" charset="0"/>
              </a:rPr>
              <a:t>hành</a:t>
            </a:r>
            <a:r>
              <a:rPr lang="en-US" sz="2600">
                <a:latin typeface="+mn-lt"/>
                <a:ea typeface="Calibri" panose="020F0502020204030204" pitchFamily="34" charset="0"/>
                <a:cs typeface="Calibri" panose="020F0502020204030204" pitchFamily="34" charset="0"/>
              </a:rPr>
              <a:t> vi </a:t>
            </a:r>
            <a:r>
              <a:rPr lang="en-US" sz="2600" err="1">
                <a:latin typeface="+mn-lt"/>
                <a:ea typeface="Calibri" panose="020F0502020204030204" pitchFamily="34" charset="0"/>
                <a:cs typeface="Calibri" panose="020F0502020204030204" pitchFamily="34" charset="0"/>
              </a:rPr>
              <a:t>mua</a:t>
            </a:r>
            <a:r>
              <a:rPr lang="en-US" sz="2600">
                <a:latin typeface="+mn-lt"/>
                <a:ea typeface="Calibri" panose="020F0502020204030204" pitchFamily="34" charset="0"/>
                <a:cs typeface="Calibri" panose="020F0502020204030204" pitchFamily="34" charset="0"/>
              </a:rPr>
              <a:t> </a:t>
            </a:r>
            <a:r>
              <a:rPr lang="en-US" sz="2600" err="1">
                <a:latin typeface="+mn-lt"/>
                <a:ea typeface="Calibri" panose="020F0502020204030204" pitchFamily="34" charset="0"/>
                <a:cs typeface="Calibri" panose="020F0502020204030204" pitchFamily="34" charset="0"/>
              </a:rPr>
              <a:t>của</a:t>
            </a:r>
            <a:r>
              <a:rPr lang="en-US" sz="2600">
                <a:latin typeface="+mn-lt"/>
                <a:ea typeface="Calibri" panose="020F0502020204030204" pitchFamily="34" charset="0"/>
                <a:cs typeface="Calibri" panose="020F0502020204030204" pitchFamily="34" charset="0"/>
              </a:rPr>
              <a:t> KH </a:t>
            </a:r>
            <a:r>
              <a:rPr lang="en-US" sz="2600" err="1">
                <a:latin typeface="+mn-lt"/>
                <a:ea typeface="Calibri" panose="020F0502020204030204" pitchFamily="34" charset="0"/>
                <a:cs typeface="Calibri" panose="020F0502020204030204" pitchFamily="34" charset="0"/>
              </a:rPr>
              <a:t>tổ</a:t>
            </a:r>
            <a:r>
              <a:rPr lang="en-US" sz="2600">
                <a:latin typeface="+mn-lt"/>
                <a:ea typeface="Calibri" panose="020F0502020204030204" pitchFamily="34" charset="0"/>
                <a:cs typeface="Calibri" panose="020F0502020204030204" pitchFamily="34" charset="0"/>
              </a:rPr>
              <a:t> </a:t>
            </a:r>
            <a:r>
              <a:rPr lang="en-US" sz="2600" err="1">
                <a:latin typeface="+mn-lt"/>
                <a:ea typeface="Calibri" panose="020F0502020204030204" pitchFamily="34" charset="0"/>
                <a:cs typeface="Calibri" panose="020F0502020204030204" pitchFamily="34" charset="0"/>
              </a:rPr>
              <a:t>chức</a:t>
            </a:r>
            <a:r>
              <a:rPr lang="en-US" sz="2600">
                <a:latin typeface="+mn-lt"/>
                <a:ea typeface="Calibri" panose="020F0502020204030204" pitchFamily="34" charset="0"/>
                <a:cs typeface="Calibri" panose="020F0502020204030204" pitchFamily="34" charset="0"/>
              </a:rPr>
              <a:t> </a:t>
            </a:r>
            <a:r>
              <a:rPr lang="vi-VN" sz="2600">
                <a:latin typeface="+mn-lt"/>
                <a:ea typeface="Calibri" panose="020F0502020204030204" pitchFamily="34" charset="0"/>
                <a:cs typeface="Calibri" panose="020F0502020204030204" pitchFamily="34" charset="0"/>
              </a:rPr>
              <a:t>gợi mở bốn câu hỏi về hành vi của khách hàng doanh nghiệp:</a:t>
            </a:r>
            <a:endParaRPr lang="en-US" sz="2600">
              <a:latin typeface="+mn-lt"/>
              <a:ea typeface="Calibri" panose="020F0502020204030204" pitchFamily="34" charset="0"/>
              <a:cs typeface="Calibri" panose="020F0502020204030204" pitchFamily="34" charset="0"/>
            </a:endParaRPr>
          </a:p>
          <a:p>
            <a:pPr lvl="1" algn="just">
              <a:lnSpc>
                <a:spcPct val="150000"/>
              </a:lnSpc>
              <a:buFont typeface="Wingdings" panose="05000000000000000000" pitchFamily="2" charset="2"/>
              <a:buChar char="ü"/>
            </a:pPr>
            <a:r>
              <a:rPr lang="vi-VN" sz="2600">
                <a:latin typeface="+mn-lt"/>
                <a:ea typeface="Calibri" panose="020F0502020204030204" pitchFamily="34" charset="0"/>
                <a:cs typeface="Calibri" panose="020F0502020204030204" pitchFamily="34" charset="0"/>
              </a:rPr>
              <a:t>Khách hàng doanh nghiệp đưa ra những quyết định mua nào?</a:t>
            </a:r>
            <a:endParaRPr lang="en-US" sz="2600">
              <a:latin typeface="+mn-lt"/>
              <a:ea typeface="Calibri" panose="020F0502020204030204" pitchFamily="34" charset="0"/>
              <a:cs typeface="Calibri" panose="020F0502020204030204" pitchFamily="34" charset="0"/>
            </a:endParaRPr>
          </a:p>
          <a:p>
            <a:pPr lvl="1" algn="just">
              <a:lnSpc>
                <a:spcPct val="150000"/>
              </a:lnSpc>
              <a:buFont typeface="Wingdings" panose="05000000000000000000" pitchFamily="2" charset="2"/>
              <a:buChar char="ü"/>
            </a:pPr>
            <a:r>
              <a:rPr lang="vi-VN" sz="2600">
                <a:latin typeface="+mn-lt"/>
                <a:ea typeface="Calibri" panose="020F0502020204030204" pitchFamily="34" charset="0"/>
                <a:cs typeface="Calibri" panose="020F0502020204030204" pitchFamily="34" charset="0"/>
              </a:rPr>
              <a:t>Ai tham gia vào quy trình mua hàng của doanh nghiệp?</a:t>
            </a:r>
            <a:endParaRPr lang="en-US" sz="2600">
              <a:latin typeface="+mn-lt"/>
              <a:ea typeface="Calibri" panose="020F0502020204030204" pitchFamily="34" charset="0"/>
              <a:cs typeface="Calibri" panose="020F0502020204030204" pitchFamily="34" charset="0"/>
            </a:endParaRPr>
          </a:p>
          <a:p>
            <a:pPr lvl="1" algn="just">
              <a:lnSpc>
                <a:spcPct val="150000"/>
              </a:lnSpc>
              <a:buFont typeface="Wingdings" panose="05000000000000000000" pitchFamily="2" charset="2"/>
              <a:buChar char="ü"/>
            </a:pPr>
            <a:r>
              <a:rPr lang="vi-VN" sz="2600">
                <a:latin typeface="+mn-lt"/>
                <a:ea typeface="Calibri" panose="020F0502020204030204" pitchFamily="34" charset="0"/>
                <a:cs typeface="Calibri" panose="020F0502020204030204" pitchFamily="34" charset="0"/>
              </a:rPr>
              <a:t>Những yếu tố nào ảnh hưởng chính đến người mua?</a:t>
            </a:r>
            <a:endParaRPr lang="en-US" sz="2600">
              <a:latin typeface="+mn-lt"/>
              <a:ea typeface="Calibri" panose="020F0502020204030204" pitchFamily="34" charset="0"/>
              <a:cs typeface="Calibri" panose="020F0502020204030204" pitchFamily="34" charset="0"/>
            </a:endParaRPr>
          </a:p>
          <a:p>
            <a:pPr lvl="1" algn="just">
              <a:lnSpc>
                <a:spcPct val="150000"/>
              </a:lnSpc>
              <a:buFont typeface="Wingdings" panose="05000000000000000000" pitchFamily="2" charset="2"/>
              <a:buChar char="ü"/>
            </a:pPr>
            <a:r>
              <a:rPr lang="vi-VN" sz="2600">
                <a:latin typeface="+mn-lt"/>
                <a:ea typeface="Calibri" panose="020F0502020204030204" pitchFamily="34" charset="0"/>
                <a:cs typeface="Calibri" panose="020F0502020204030204" pitchFamily="34" charset="0"/>
              </a:rPr>
              <a:t>Khách hàng doanh nghiệp đưa ra quyết định mua như thế nào?</a:t>
            </a:r>
            <a:endParaRPr lang="en-US" sz="2600">
              <a:latin typeface="+mn-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02067758"/>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BFB33C88-8D15-CE8B-BA36-4D97FFA80DFD}"/>
            </a:ext>
          </a:extLst>
        </p:cNvPr>
        <p:cNvGrpSpPr/>
        <p:nvPr/>
      </p:nvGrpSpPr>
      <p:grpSpPr>
        <a:xfrm>
          <a:off x="0" y="0"/>
          <a:ext cx="0" cy="0"/>
          <a:chOff x="0" y="0"/>
          <a:chExt cx="0" cy="0"/>
        </a:xfrm>
      </p:grpSpPr>
      <p:sp>
        <p:nvSpPr>
          <p:cNvPr id="127" name="Google Shape;127;p20">
            <a:extLst>
              <a:ext uri="{FF2B5EF4-FFF2-40B4-BE49-F238E27FC236}">
                <a16:creationId xmlns:a16="http://schemas.microsoft.com/office/drawing/2014/main" id="{A82FB28D-FB40-E28B-0435-DEFDF459C149}"/>
              </a:ext>
            </a:extLst>
          </p:cNvPr>
          <p:cNvSpPr txBox="1">
            <a:spLocks noGrp="1"/>
          </p:cNvSpPr>
          <p:nvPr>
            <p:ph type="ctrTitle"/>
          </p:nvPr>
        </p:nvSpPr>
        <p:spPr>
          <a:xfrm>
            <a:off x="962526" y="2330687"/>
            <a:ext cx="10216530" cy="1455249"/>
          </a:xfrm>
          <a:prstGeom prst="rect">
            <a:avLst/>
          </a:prstGeom>
          <a:noFill/>
          <a:ln>
            <a:noFill/>
          </a:ln>
        </p:spPr>
        <p:txBody>
          <a:bodyPr spcFirstLastPara="1" wrap="square" lIns="91425" tIns="45700" rIns="91425" bIns="45700" anchor="b" anchorCtr="0">
            <a:normAutofit/>
          </a:bodyPr>
          <a:lstStyle/>
          <a:p>
            <a:pPr lvl="0">
              <a:spcBef>
                <a:spcPts val="1000"/>
              </a:spcBef>
              <a:buSzPts val="3600"/>
            </a:pPr>
            <a:r>
              <a:rPr lang="vi-VN" sz="4400" b="1"/>
              <a:t>6.3. CÁC NHÂN TỐ ẢNH HƯỞNG ĐẾN HÀNH VI MUA </a:t>
            </a:r>
          </a:p>
        </p:txBody>
      </p:sp>
    </p:spTree>
    <p:extLst>
      <p:ext uri="{BB962C8B-B14F-4D97-AF65-F5344CB8AC3E}">
        <p14:creationId xmlns:p14="http://schemas.microsoft.com/office/powerpoint/2010/main" val="876070504"/>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19591-B861-E436-6670-2BA108B9BE27}"/>
              </a:ext>
            </a:extLst>
          </p:cNvPr>
          <p:cNvSpPr>
            <a:spLocks noGrp="1"/>
          </p:cNvSpPr>
          <p:nvPr>
            <p:ph type="title"/>
          </p:nvPr>
        </p:nvSpPr>
        <p:spPr>
          <a:xfrm>
            <a:off x="481263" y="365126"/>
            <a:ext cx="10202779" cy="987881"/>
          </a:xfrm>
        </p:spPr>
        <p:txBody>
          <a:bodyPr>
            <a:normAutofit fontScale="90000"/>
          </a:bodyPr>
          <a:lstStyle/>
          <a:p>
            <a:r>
              <a:rPr lang="vi-VN" sz="4000" b="1"/>
              <a:t>6.3. CÁC NHÂN TỐ ẢNH HƯỞNG ĐẾN HÀNH VI MUA </a:t>
            </a:r>
            <a:endParaRPr lang="en-US" sz="4000" b="1"/>
          </a:p>
        </p:txBody>
      </p:sp>
      <p:sp>
        <p:nvSpPr>
          <p:cNvPr id="3" name="Text Placeholder 2">
            <a:extLst>
              <a:ext uri="{FF2B5EF4-FFF2-40B4-BE49-F238E27FC236}">
                <a16:creationId xmlns:a16="http://schemas.microsoft.com/office/drawing/2014/main" id="{DBBAF4E4-DAAB-4100-D8A8-26A4C774F77C}"/>
              </a:ext>
            </a:extLst>
          </p:cNvPr>
          <p:cNvSpPr>
            <a:spLocks noGrp="1"/>
          </p:cNvSpPr>
          <p:nvPr>
            <p:ph type="body" idx="1"/>
          </p:nvPr>
        </p:nvSpPr>
        <p:spPr/>
        <p:txBody>
          <a:bodyPr/>
          <a:lstStyle/>
          <a:p>
            <a:endParaRPr lang="en-US"/>
          </a:p>
        </p:txBody>
      </p:sp>
      <p:pic>
        <p:nvPicPr>
          <p:cNvPr id="7" name="Picture 6">
            <a:extLst>
              <a:ext uri="{FF2B5EF4-FFF2-40B4-BE49-F238E27FC236}">
                <a16:creationId xmlns:a16="http://schemas.microsoft.com/office/drawing/2014/main" id="{A1CA7917-E911-2151-6221-2A20E5FFE10A}"/>
              </a:ext>
            </a:extLst>
          </p:cNvPr>
          <p:cNvPicPr>
            <a:picLocks noChangeAspect="1"/>
          </p:cNvPicPr>
          <p:nvPr/>
        </p:nvPicPr>
        <p:blipFill>
          <a:blip r:embed="rId2"/>
          <a:stretch>
            <a:fillRect/>
          </a:stretch>
        </p:blipFill>
        <p:spPr>
          <a:xfrm>
            <a:off x="1588169" y="1589316"/>
            <a:ext cx="8756698" cy="4823956"/>
          </a:xfrm>
          <a:prstGeom prst="rect">
            <a:avLst/>
          </a:prstGeom>
        </p:spPr>
      </p:pic>
    </p:spTree>
    <p:extLst>
      <p:ext uri="{BB962C8B-B14F-4D97-AF65-F5344CB8AC3E}">
        <p14:creationId xmlns:p14="http://schemas.microsoft.com/office/powerpoint/2010/main" val="4274790021"/>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CDF89-0799-55CB-E59B-E36EEE0F2E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4E43B2-5E77-C20C-6014-BFF8D1204CBD}"/>
              </a:ext>
            </a:extLst>
          </p:cNvPr>
          <p:cNvSpPr>
            <a:spLocks noGrp="1"/>
          </p:cNvSpPr>
          <p:nvPr>
            <p:ph type="title"/>
          </p:nvPr>
        </p:nvSpPr>
        <p:spPr/>
        <p:txBody>
          <a:bodyPr>
            <a:normAutofit/>
          </a:bodyPr>
          <a:lstStyle/>
          <a:p>
            <a:r>
              <a:rPr lang="vi-VN" sz="3200" b="1"/>
              <a:t>6.3.</a:t>
            </a:r>
            <a:r>
              <a:rPr lang="en-US" sz="3200" b="1"/>
              <a:t>1. Các </a:t>
            </a:r>
            <a:r>
              <a:rPr lang="en-US" sz="3200" b="1" err="1"/>
              <a:t>yếu</a:t>
            </a:r>
            <a:r>
              <a:rPr lang="en-US" sz="3200" b="1"/>
              <a:t> </a:t>
            </a:r>
            <a:r>
              <a:rPr lang="en-US" sz="3200" b="1" err="1"/>
              <a:t>tố</a:t>
            </a:r>
            <a:r>
              <a:rPr lang="en-US" sz="3200" b="1"/>
              <a:t> </a:t>
            </a:r>
            <a:r>
              <a:rPr lang="en-US" sz="3200" b="1" err="1"/>
              <a:t>môi</a:t>
            </a:r>
            <a:r>
              <a:rPr lang="en-US" sz="3200" b="1"/>
              <a:t> </a:t>
            </a:r>
            <a:r>
              <a:rPr lang="en-US" sz="3200" b="1" err="1"/>
              <a:t>trường</a:t>
            </a:r>
            <a:endParaRPr lang="en-US" sz="3200" b="1"/>
          </a:p>
        </p:txBody>
      </p:sp>
      <p:sp>
        <p:nvSpPr>
          <p:cNvPr id="3" name="Text Placeholder 2">
            <a:extLst>
              <a:ext uri="{FF2B5EF4-FFF2-40B4-BE49-F238E27FC236}">
                <a16:creationId xmlns:a16="http://schemas.microsoft.com/office/drawing/2014/main" id="{8B917806-8A2C-7523-EBB2-3EFEBA09FE01}"/>
              </a:ext>
            </a:extLst>
          </p:cNvPr>
          <p:cNvSpPr>
            <a:spLocks noGrp="1"/>
          </p:cNvSpPr>
          <p:nvPr>
            <p:ph type="body" idx="1"/>
          </p:nvPr>
        </p:nvSpPr>
        <p:spPr>
          <a:xfrm>
            <a:off x="838200" y="1505666"/>
            <a:ext cx="10515600" cy="4987209"/>
          </a:xfrm>
        </p:spPr>
        <p:txBody>
          <a:bodyPr>
            <a:normAutofit fontScale="92500" lnSpcReduction="20000"/>
          </a:bodyPr>
          <a:lstStyle/>
          <a:p>
            <a:pPr algn="just">
              <a:lnSpc>
                <a:spcPct val="120000"/>
              </a:lnSpc>
            </a:pPr>
            <a:r>
              <a:rPr lang="vi-VN"/>
              <a:t>Các khách hàng doanh nghiệp chịu ảnh hưởng mạnh mẽ bởi các yếu tố thuộc môi trường kinh tế hiện tại và dự kiến, chẳng hạn như mức độ nhu cầu cơ bản, triển vọng kinh tế và chi phí sử dụng vốn. </a:t>
            </a:r>
            <a:endParaRPr lang="en-US"/>
          </a:p>
          <a:p>
            <a:pPr algn="just">
              <a:lnSpc>
                <a:spcPct val="120000"/>
              </a:lnSpc>
            </a:pPr>
            <a:r>
              <a:rPr lang="vi-VN"/>
              <a:t>Một yếu tố môi trường khác là nguồn cung các loại vật tư, nguyên liệu thiết yếu. </a:t>
            </a:r>
            <a:endParaRPr lang="en-US"/>
          </a:p>
          <a:p>
            <a:pPr algn="just">
              <a:lnSpc>
                <a:spcPct val="120000"/>
              </a:lnSpc>
            </a:pPr>
            <a:r>
              <a:rPr lang="vi-VN"/>
              <a:t>Khách hàng doanh nghiệp cũng chịu tác động từ những diễn biến về công nghệ, chính trị và cạnh tranh trong môi trường kinh doanh. </a:t>
            </a:r>
            <a:endParaRPr lang="en-US"/>
          </a:p>
          <a:p>
            <a:pPr algn="just">
              <a:lnSpc>
                <a:spcPct val="120000"/>
              </a:lnSpc>
            </a:pPr>
            <a:r>
              <a:rPr lang="vi-VN"/>
              <a:t>Cuối cùng, văn hóa và phong tục tập quán có thể ảnh hưởng sâu sắc đến phản ứng của khách hàng doanh nghiệp đối với hành vi và chiến lược của người làm tiếp thị, đặc biệt là trong môi trường tiếp thị quốc tế.</a:t>
            </a:r>
            <a:endParaRPr lang="en-US"/>
          </a:p>
        </p:txBody>
      </p:sp>
    </p:spTree>
    <p:extLst>
      <p:ext uri="{BB962C8B-B14F-4D97-AF65-F5344CB8AC3E}">
        <p14:creationId xmlns:p14="http://schemas.microsoft.com/office/powerpoint/2010/main" val="2746650353"/>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EBE11-B4E8-33D5-F025-7404A5C45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4671EC-E6DA-F92C-D778-AEE4C553ABB8}"/>
              </a:ext>
            </a:extLst>
          </p:cNvPr>
          <p:cNvSpPr>
            <a:spLocks noGrp="1"/>
          </p:cNvSpPr>
          <p:nvPr>
            <p:ph type="title"/>
          </p:nvPr>
        </p:nvSpPr>
        <p:spPr/>
        <p:txBody>
          <a:bodyPr>
            <a:normAutofit/>
          </a:bodyPr>
          <a:lstStyle/>
          <a:p>
            <a:r>
              <a:rPr lang="vi-VN" sz="3200" b="1"/>
              <a:t>6.3.</a:t>
            </a:r>
            <a:r>
              <a:rPr lang="en-US" sz="3200" b="1"/>
              <a:t>2. Các </a:t>
            </a:r>
            <a:r>
              <a:rPr lang="en-US" sz="3200" b="1" err="1"/>
              <a:t>yếu</a:t>
            </a:r>
            <a:r>
              <a:rPr lang="en-US" sz="3200" b="1"/>
              <a:t> </a:t>
            </a:r>
            <a:r>
              <a:rPr lang="en-US" sz="3200" b="1" err="1"/>
              <a:t>tố</a:t>
            </a:r>
            <a:r>
              <a:rPr lang="en-US" sz="3200" b="1"/>
              <a:t> </a:t>
            </a:r>
            <a:r>
              <a:rPr lang="en-US" sz="3200" b="1" err="1"/>
              <a:t>tổ</a:t>
            </a:r>
            <a:r>
              <a:rPr lang="en-US" sz="3200" b="1"/>
              <a:t> </a:t>
            </a:r>
            <a:r>
              <a:rPr lang="en-US" sz="3200" b="1" err="1"/>
              <a:t>chức</a:t>
            </a:r>
            <a:endParaRPr lang="en-US" sz="3200" b="1"/>
          </a:p>
        </p:txBody>
      </p:sp>
      <p:sp>
        <p:nvSpPr>
          <p:cNvPr id="3" name="Text Placeholder 2">
            <a:extLst>
              <a:ext uri="{FF2B5EF4-FFF2-40B4-BE49-F238E27FC236}">
                <a16:creationId xmlns:a16="http://schemas.microsoft.com/office/drawing/2014/main" id="{26A872B3-59AE-8EC0-46A4-54DA1774936D}"/>
              </a:ext>
            </a:extLst>
          </p:cNvPr>
          <p:cNvSpPr>
            <a:spLocks noGrp="1"/>
          </p:cNvSpPr>
          <p:nvPr>
            <p:ph type="body" idx="1"/>
          </p:nvPr>
        </p:nvSpPr>
        <p:spPr>
          <a:xfrm>
            <a:off x="838200" y="1505666"/>
            <a:ext cx="10515600" cy="4671297"/>
          </a:xfrm>
        </p:spPr>
        <p:txBody>
          <a:bodyPr>
            <a:normAutofit/>
          </a:bodyPr>
          <a:lstStyle/>
          <a:p>
            <a:pPr algn="just">
              <a:lnSpc>
                <a:spcPct val="110000"/>
              </a:lnSpc>
            </a:pPr>
            <a:r>
              <a:rPr lang="vi-VN"/>
              <a:t>Mỗi tổ chức mua hàng đều có các mục tiêu, chiến lược, cơ cấu, hệ thống và quy trình riêng; do đó, người làm công tác tiếp thị doanh nghiệp cần phải hiểu rõ những yếu tố này. </a:t>
            </a:r>
            <a:endParaRPr lang="en-US"/>
          </a:p>
          <a:p>
            <a:pPr algn="just">
              <a:lnSpc>
                <a:spcPct val="110000"/>
              </a:lnSpc>
            </a:pPr>
            <a:r>
              <a:rPr lang="vi-VN"/>
              <a:t>Những câu hỏi sau đây thường được đặt ra: </a:t>
            </a:r>
            <a:endParaRPr lang="en-US"/>
          </a:p>
          <a:p>
            <a:pPr lvl="1" algn="just">
              <a:lnSpc>
                <a:spcPct val="110000"/>
              </a:lnSpc>
            </a:pPr>
            <a:r>
              <a:rPr lang="vi-VN" sz="2800">
                <a:latin typeface="+mn-lt"/>
              </a:rPr>
              <a:t>Có bao nhiêu người tham gia vào quyết định mua hàng? </a:t>
            </a:r>
            <a:endParaRPr lang="en-US" sz="2800">
              <a:latin typeface="+mn-lt"/>
            </a:endParaRPr>
          </a:p>
          <a:p>
            <a:pPr lvl="1" algn="just">
              <a:lnSpc>
                <a:spcPct val="110000"/>
              </a:lnSpc>
            </a:pPr>
            <a:r>
              <a:rPr lang="vi-VN" sz="2800">
                <a:latin typeface="+mn-lt"/>
              </a:rPr>
              <a:t>Họ là ai? Các tiêu chí đánh giá của họ là gì? </a:t>
            </a:r>
            <a:endParaRPr lang="en-US" sz="2800">
              <a:latin typeface="+mn-lt"/>
            </a:endParaRPr>
          </a:p>
          <a:p>
            <a:pPr lvl="1" algn="just">
              <a:lnSpc>
                <a:spcPct val="110000"/>
              </a:lnSpc>
            </a:pPr>
            <a:r>
              <a:rPr lang="vi-VN" sz="2800">
                <a:latin typeface="+mn-lt"/>
              </a:rPr>
              <a:t>Công ty có những chính sách và giới hạn nào đối với người mua hàng?</a:t>
            </a:r>
            <a:endParaRPr lang="en-US" sz="2800">
              <a:latin typeface="+mn-lt"/>
            </a:endParaRPr>
          </a:p>
        </p:txBody>
      </p:sp>
    </p:spTree>
    <p:extLst>
      <p:ext uri="{BB962C8B-B14F-4D97-AF65-F5344CB8AC3E}">
        <p14:creationId xmlns:p14="http://schemas.microsoft.com/office/powerpoint/2010/main" val="99065477"/>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F64E-1BF9-0D81-E39C-53EAF554CB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DC7024-719F-0E55-F3C5-722E14472C04}"/>
              </a:ext>
            </a:extLst>
          </p:cNvPr>
          <p:cNvSpPr>
            <a:spLocks noGrp="1"/>
          </p:cNvSpPr>
          <p:nvPr>
            <p:ph type="title"/>
          </p:nvPr>
        </p:nvSpPr>
        <p:spPr/>
        <p:txBody>
          <a:bodyPr>
            <a:normAutofit/>
          </a:bodyPr>
          <a:lstStyle/>
          <a:p>
            <a:r>
              <a:rPr lang="vi-VN" sz="3200" b="1"/>
              <a:t>6.3.</a:t>
            </a:r>
            <a:r>
              <a:rPr lang="en-US" sz="3200" b="1"/>
              <a:t>2. C</a:t>
            </a:r>
            <a:r>
              <a:rPr lang="vi-VN" sz="3200" b="1"/>
              <a:t>ác yếu tố tương tác cá nhân</a:t>
            </a:r>
            <a:endParaRPr lang="en-US" sz="3200" b="1"/>
          </a:p>
        </p:txBody>
      </p:sp>
      <p:sp>
        <p:nvSpPr>
          <p:cNvPr id="3" name="Text Placeholder 2">
            <a:extLst>
              <a:ext uri="{FF2B5EF4-FFF2-40B4-BE49-F238E27FC236}">
                <a16:creationId xmlns:a16="http://schemas.microsoft.com/office/drawing/2014/main" id="{52831ABA-CD96-E208-85DD-F1FE69646939}"/>
              </a:ext>
            </a:extLst>
          </p:cNvPr>
          <p:cNvSpPr>
            <a:spLocks noGrp="1"/>
          </p:cNvSpPr>
          <p:nvPr>
            <p:ph type="body" idx="1"/>
          </p:nvPr>
        </p:nvSpPr>
        <p:spPr>
          <a:xfrm>
            <a:off x="838200" y="1505666"/>
            <a:ext cx="10515600" cy="4671297"/>
          </a:xfrm>
        </p:spPr>
        <p:txBody>
          <a:bodyPr>
            <a:normAutofit lnSpcReduction="10000"/>
          </a:bodyPr>
          <a:lstStyle/>
          <a:p>
            <a:pPr algn="just">
              <a:lnSpc>
                <a:spcPct val="110000"/>
              </a:lnSpc>
            </a:pPr>
            <a:r>
              <a:rPr lang="vi-VN"/>
              <a:t>Trung tâm mua hàng bao gồm nhiều thành phần tham gia có sự tác động lẫn nhau trong quá trình mua hàng của doanh nghiệp.</a:t>
            </a:r>
            <a:endParaRPr lang="en-US"/>
          </a:p>
          <a:p>
            <a:pPr algn="just">
              <a:lnSpc>
                <a:spcPct val="110000"/>
              </a:lnSpc>
            </a:pPr>
            <a:r>
              <a:rPr lang="vi-VN"/>
              <a:t>Các yếu tố về quan hệ cá nhân và động lực nhóm ảnh hưởng đáng kể đến việc ra quyết định</a:t>
            </a:r>
            <a:r>
              <a:rPr lang="en-US"/>
              <a:t>. </a:t>
            </a:r>
            <a:endParaRPr lang="en-US">
              <a:latin typeface="+mn-lt"/>
            </a:endParaRPr>
          </a:p>
          <a:p>
            <a:pPr algn="just">
              <a:lnSpc>
                <a:spcPct val="110000"/>
              </a:lnSpc>
            </a:pPr>
            <a:r>
              <a:rPr lang="en-US" err="1">
                <a:latin typeface="+mn-lt"/>
              </a:rPr>
              <a:t>Những</a:t>
            </a:r>
            <a:r>
              <a:rPr lang="en-US">
                <a:latin typeface="+mn-lt"/>
              </a:rPr>
              <a:t> </a:t>
            </a:r>
            <a:r>
              <a:rPr lang="en-US" err="1">
                <a:latin typeface="+mn-lt"/>
              </a:rPr>
              <a:t>người</a:t>
            </a:r>
            <a:r>
              <a:rPr lang="en-US">
                <a:latin typeface="+mn-lt"/>
              </a:rPr>
              <a:t> </a:t>
            </a:r>
            <a:r>
              <a:rPr lang="en-US" err="1">
                <a:latin typeface="+mn-lt"/>
              </a:rPr>
              <a:t>tham</a:t>
            </a:r>
            <a:r>
              <a:rPr lang="en-US">
                <a:latin typeface="+mn-lt"/>
              </a:rPr>
              <a:t> </a:t>
            </a:r>
            <a:r>
              <a:rPr lang="en-US" err="1">
                <a:latin typeface="+mn-lt"/>
              </a:rPr>
              <a:t>gia</a:t>
            </a:r>
            <a:r>
              <a:rPr lang="en-US">
                <a:latin typeface="+mn-lt"/>
              </a:rPr>
              <a:t> </a:t>
            </a:r>
            <a:r>
              <a:rPr lang="en-US" err="1">
                <a:latin typeface="+mn-lt"/>
              </a:rPr>
              <a:t>vào</a:t>
            </a:r>
            <a:r>
              <a:rPr lang="en-US">
                <a:latin typeface="+mn-lt"/>
              </a:rPr>
              <a:t> </a:t>
            </a:r>
            <a:r>
              <a:rPr lang="en-US" err="1">
                <a:latin typeface="+mn-lt"/>
              </a:rPr>
              <a:t>quá</a:t>
            </a:r>
            <a:r>
              <a:rPr lang="en-US">
                <a:latin typeface="+mn-lt"/>
              </a:rPr>
              <a:t> </a:t>
            </a:r>
            <a:r>
              <a:rPr lang="en-US" err="1">
                <a:latin typeface="+mn-lt"/>
              </a:rPr>
              <a:t>trình</a:t>
            </a:r>
            <a:r>
              <a:rPr lang="en-US">
                <a:latin typeface="+mn-lt"/>
              </a:rPr>
              <a:t> </a:t>
            </a:r>
            <a:r>
              <a:rPr lang="en-US" err="1">
                <a:latin typeface="+mn-lt"/>
              </a:rPr>
              <a:t>mua</a:t>
            </a:r>
            <a:r>
              <a:rPr lang="en-US">
                <a:latin typeface="+mn-lt"/>
              </a:rPr>
              <a:t> </a:t>
            </a:r>
            <a:r>
              <a:rPr lang="en-US" err="1">
                <a:latin typeface="+mn-lt"/>
              </a:rPr>
              <a:t>của</a:t>
            </a:r>
            <a:r>
              <a:rPr lang="en-US">
                <a:latin typeface="+mn-lt"/>
              </a:rPr>
              <a:t> </a:t>
            </a:r>
            <a:r>
              <a:rPr lang="en-US" err="1">
                <a:latin typeface="+mn-lt"/>
              </a:rPr>
              <a:t>doanh</a:t>
            </a:r>
            <a:r>
              <a:rPr lang="en-US">
                <a:latin typeface="+mn-lt"/>
              </a:rPr>
              <a:t> </a:t>
            </a:r>
            <a:r>
              <a:rPr lang="en-US" err="1">
                <a:latin typeface="+mn-lt"/>
              </a:rPr>
              <a:t>nghiệp</a:t>
            </a:r>
            <a:r>
              <a:rPr lang="en-US">
                <a:latin typeface="+mn-lt"/>
              </a:rPr>
              <a:t> </a:t>
            </a:r>
            <a:r>
              <a:rPr lang="en-US" err="1">
                <a:latin typeface="+mn-lt"/>
              </a:rPr>
              <a:t>với</a:t>
            </a:r>
            <a:r>
              <a:rPr lang="en-US">
                <a:latin typeface="+mn-lt"/>
              </a:rPr>
              <a:t> </a:t>
            </a:r>
            <a:r>
              <a:rPr lang="en-US" err="1">
                <a:latin typeface="+mn-lt"/>
              </a:rPr>
              <a:t>chức</a:t>
            </a:r>
            <a:r>
              <a:rPr lang="en-US">
                <a:latin typeface="+mn-lt"/>
              </a:rPr>
              <a:t> </a:t>
            </a:r>
            <a:r>
              <a:rPr lang="en-US" err="1">
                <a:latin typeface="+mn-lt"/>
              </a:rPr>
              <a:t>vụ</a:t>
            </a:r>
            <a:r>
              <a:rPr lang="en-US">
                <a:latin typeface="+mn-lt"/>
              </a:rPr>
              <a:t>, </a:t>
            </a:r>
            <a:r>
              <a:rPr lang="en-US" err="1">
                <a:latin typeface="+mn-lt"/>
              </a:rPr>
              <a:t>thẩm</a:t>
            </a:r>
            <a:r>
              <a:rPr lang="en-US">
                <a:latin typeface="+mn-lt"/>
              </a:rPr>
              <a:t> </a:t>
            </a:r>
            <a:r>
              <a:rPr lang="en-US" err="1">
                <a:latin typeface="+mn-lt"/>
              </a:rPr>
              <a:t>quyền</a:t>
            </a:r>
            <a:r>
              <a:rPr lang="en-US">
                <a:latin typeface="+mn-lt"/>
              </a:rPr>
              <a:t>, </a:t>
            </a:r>
            <a:r>
              <a:rPr lang="en-US" err="1">
                <a:latin typeface="+mn-lt"/>
              </a:rPr>
              <a:t>sự</a:t>
            </a:r>
            <a:r>
              <a:rPr lang="en-US">
                <a:latin typeface="+mn-lt"/>
              </a:rPr>
              <a:t> </a:t>
            </a:r>
            <a:r>
              <a:rPr lang="en-US" err="1">
                <a:latin typeface="+mn-lt"/>
              </a:rPr>
              <a:t>đồng</a:t>
            </a:r>
            <a:r>
              <a:rPr lang="en-US">
                <a:latin typeface="+mn-lt"/>
              </a:rPr>
              <a:t> </a:t>
            </a:r>
            <a:r>
              <a:rPr lang="en-US" err="1">
                <a:latin typeface="+mn-lt"/>
              </a:rPr>
              <a:t>cảm</a:t>
            </a:r>
            <a:r>
              <a:rPr lang="en-US">
                <a:latin typeface="+mn-lt"/>
              </a:rPr>
              <a:t> </a:t>
            </a:r>
            <a:r>
              <a:rPr lang="en-US" err="1">
                <a:latin typeface="+mn-lt"/>
              </a:rPr>
              <a:t>và</a:t>
            </a:r>
            <a:r>
              <a:rPr lang="en-US">
                <a:latin typeface="+mn-lt"/>
              </a:rPr>
              <a:t> </a:t>
            </a:r>
            <a:r>
              <a:rPr lang="en-US" err="1">
                <a:latin typeface="+mn-lt"/>
              </a:rPr>
              <a:t>sức</a:t>
            </a:r>
            <a:r>
              <a:rPr lang="en-US">
                <a:latin typeface="+mn-lt"/>
              </a:rPr>
              <a:t> </a:t>
            </a:r>
            <a:r>
              <a:rPr lang="en-US" err="1">
                <a:latin typeface="+mn-lt"/>
              </a:rPr>
              <a:t>thuyết</a:t>
            </a:r>
            <a:r>
              <a:rPr lang="en-US">
                <a:latin typeface="+mn-lt"/>
              </a:rPr>
              <a:t> </a:t>
            </a:r>
            <a:r>
              <a:rPr lang="en-US" err="1">
                <a:latin typeface="+mn-lt"/>
              </a:rPr>
              <a:t>phục</a:t>
            </a:r>
            <a:r>
              <a:rPr lang="en-US">
                <a:latin typeface="+mn-lt"/>
              </a:rPr>
              <a:t> </a:t>
            </a:r>
            <a:r>
              <a:rPr lang="en-US" err="1">
                <a:latin typeface="+mn-lt"/>
              </a:rPr>
              <a:t>khác</a:t>
            </a:r>
            <a:r>
              <a:rPr lang="en-US">
                <a:latin typeface="+mn-lt"/>
              </a:rPr>
              <a:t> </a:t>
            </a:r>
            <a:r>
              <a:rPr lang="en-US" err="1">
                <a:latin typeface="+mn-lt"/>
              </a:rPr>
              <a:t>nhau</a:t>
            </a:r>
            <a:r>
              <a:rPr lang="en-US">
                <a:latin typeface="+mn-lt"/>
              </a:rPr>
              <a:t>; </a:t>
            </a:r>
            <a:r>
              <a:rPr lang="en-US" err="1">
                <a:latin typeface="+mn-lt"/>
              </a:rPr>
              <a:t>ảnh</a:t>
            </a:r>
            <a:r>
              <a:rPr lang="en-US">
                <a:latin typeface="+mn-lt"/>
              </a:rPr>
              <a:t> </a:t>
            </a:r>
            <a:r>
              <a:rPr lang="en-US" err="1">
                <a:latin typeface="+mn-lt"/>
              </a:rPr>
              <a:t>hưởng</a:t>
            </a:r>
            <a:r>
              <a:rPr lang="en-US">
                <a:latin typeface="+mn-lt"/>
              </a:rPr>
              <a:t> </a:t>
            </a:r>
            <a:r>
              <a:rPr lang="en-US" err="1">
                <a:latin typeface="+mn-lt"/>
              </a:rPr>
              <a:t>đến</a:t>
            </a:r>
            <a:r>
              <a:rPr lang="en-US">
                <a:latin typeface="+mn-lt"/>
              </a:rPr>
              <a:t> </a:t>
            </a:r>
            <a:r>
              <a:rPr lang="en-US" err="1">
                <a:latin typeface="+mn-lt"/>
              </a:rPr>
              <a:t>người</a:t>
            </a:r>
            <a:r>
              <a:rPr lang="en-US">
                <a:latin typeface="+mn-lt"/>
              </a:rPr>
              <a:t> </a:t>
            </a:r>
            <a:r>
              <a:rPr lang="en-US" err="1">
                <a:latin typeface="+mn-lt"/>
              </a:rPr>
              <a:t>khác</a:t>
            </a:r>
            <a:r>
              <a:rPr lang="en-US">
                <a:latin typeface="+mn-lt"/>
              </a:rPr>
              <a:t> </a:t>
            </a:r>
            <a:r>
              <a:rPr lang="en-US" err="1">
                <a:latin typeface="+mn-lt"/>
              </a:rPr>
              <a:t>và</a:t>
            </a:r>
            <a:r>
              <a:rPr lang="en-US">
                <a:latin typeface="+mn-lt"/>
              </a:rPr>
              <a:t> </a:t>
            </a:r>
            <a:r>
              <a:rPr lang="en-US" err="1">
                <a:latin typeface="+mn-lt"/>
              </a:rPr>
              <a:t>chịu</a:t>
            </a:r>
            <a:r>
              <a:rPr lang="en-US">
                <a:latin typeface="+mn-lt"/>
              </a:rPr>
              <a:t> </a:t>
            </a:r>
            <a:r>
              <a:rPr lang="en-US" err="1">
                <a:latin typeface="+mn-lt"/>
              </a:rPr>
              <a:t>sự</a:t>
            </a:r>
            <a:r>
              <a:rPr lang="en-US">
                <a:latin typeface="+mn-lt"/>
              </a:rPr>
              <a:t> </a:t>
            </a:r>
            <a:r>
              <a:rPr lang="en-US" err="1">
                <a:latin typeface="+mn-lt"/>
              </a:rPr>
              <a:t>ảnh</a:t>
            </a:r>
            <a:r>
              <a:rPr lang="en-US">
                <a:latin typeface="+mn-lt"/>
              </a:rPr>
              <a:t> </a:t>
            </a:r>
            <a:r>
              <a:rPr lang="en-US" err="1">
                <a:latin typeface="+mn-lt"/>
              </a:rPr>
              <a:t>hưởng</a:t>
            </a:r>
            <a:r>
              <a:rPr lang="en-US">
                <a:latin typeface="+mn-lt"/>
              </a:rPr>
              <a:t> </a:t>
            </a:r>
            <a:r>
              <a:rPr lang="en-US" err="1">
                <a:latin typeface="+mn-lt"/>
              </a:rPr>
              <a:t>của</a:t>
            </a:r>
            <a:r>
              <a:rPr lang="en-US">
                <a:latin typeface="+mn-lt"/>
              </a:rPr>
              <a:t> </a:t>
            </a:r>
            <a:r>
              <a:rPr lang="en-US" err="1">
                <a:latin typeface="+mn-lt"/>
              </a:rPr>
              <a:t>họ</a:t>
            </a:r>
            <a:endParaRPr lang="en-US"/>
          </a:p>
        </p:txBody>
      </p:sp>
    </p:spTree>
    <p:extLst>
      <p:ext uri="{BB962C8B-B14F-4D97-AF65-F5344CB8AC3E}">
        <p14:creationId xmlns:p14="http://schemas.microsoft.com/office/powerpoint/2010/main" val="3979049300"/>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C2FBB-3759-1477-A5FB-AE41A30A94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2486F-B179-63D8-5F4D-5A298E05B5DB}"/>
              </a:ext>
            </a:extLst>
          </p:cNvPr>
          <p:cNvSpPr>
            <a:spLocks noGrp="1"/>
          </p:cNvSpPr>
          <p:nvPr>
            <p:ph type="title"/>
          </p:nvPr>
        </p:nvSpPr>
        <p:spPr/>
        <p:txBody>
          <a:bodyPr>
            <a:normAutofit/>
          </a:bodyPr>
          <a:lstStyle/>
          <a:p>
            <a:r>
              <a:rPr lang="vi-VN" sz="3200" b="1"/>
              <a:t>6.3.</a:t>
            </a:r>
            <a:r>
              <a:rPr lang="en-US" sz="3200" b="1"/>
              <a:t>2. C</a:t>
            </a:r>
            <a:r>
              <a:rPr lang="vi-VN" sz="3200" b="1"/>
              <a:t>ác yếu tố</a:t>
            </a:r>
            <a:r>
              <a:rPr lang="en-US" sz="3200" b="1"/>
              <a:t> </a:t>
            </a:r>
            <a:r>
              <a:rPr lang="en-US" sz="3200" b="1" err="1"/>
              <a:t>đặc</a:t>
            </a:r>
            <a:r>
              <a:rPr lang="en-US" sz="3200" b="1"/>
              <a:t> </a:t>
            </a:r>
            <a:r>
              <a:rPr lang="en-US" sz="3200" b="1" err="1"/>
              <a:t>điểm</a:t>
            </a:r>
            <a:r>
              <a:rPr lang="en-US" sz="3200" b="1"/>
              <a:t> </a:t>
            </a:r>
            <a:r>
              <a:rPr lang="en-US" sz="3200" b="1" err="1"/>
              <a:t>cá</a:t>
            </a:r>
            <a:r>
              <a:rPr lang="en-US" sz="3200" b="1"/>
              <a:t> </a:t>
            </a:r>
            <a:r>
              <a:rPr lang="en-US" sz="3200" b="1" err="1"/>
              <a:t>nhân</a:t>
            </a:r>
            <a:endParaRPr lang="en-US" sz="3200" b="1"/>
          </a:p>
        </p:txBody>
      </p:sp>
      <p:sp>
        <p:nvSpPr>
          <p:cNvPr id="3" name="Text Placeholder 2">
            <a:extLst>
              <a:ext uri="{FF2B5EF4-FFF2-40B4-BE49-F238E27FC236}">
                <a16:creationId xmlns:a16="http://schemas.microsoft.com/office/drawing/2014/main" id="{3A6F2A91-6273-0633-788C-D5CE4949A811}"/>
              </a:ext>
            </a:extLst>
          </p:cNvPr>
          <p:cNvSpPr>
            <a:spLocks noGrp="1"/>
          </p:cNvSpPr>
          <p:nvPr>
            <p:ph type="body" idx="1"/>
          </p:nvPr>
        </p:nvSpPr>
        <p:spPr>
          <a:xfrm>
            <a:off x="838200" y="1505666"/>
            <a:ext cx="10515600" cy="4671297"/>
          </a:xfrm>
        </p:spPr>
        <p:txBody>
          <a:bodyPr>
            <a:normAutofit fontScale="92500" lnSpcReduction="10000"/>
          </a:bodyPr>
          <a:lstStyle/>
          <a:p>
            <a:pPr algn="just">
              <a:lnSpc>
                <a:spcPct val="110000"/>
              </a:lnSpc>
            </a:pPr>
            <a:r>
              <a:rPr lang="vi-VN"/>
              <a:t>Mỗi cá nhân tham gia vào quy trình ra quyết định mua hàng của doanh nghiệp đều có những động cơ, nhận thức và sở thích riêng biệt.</a:t>
            </a:r>
            <a:endParaRPr lang="en-US"/>
          </a:p>
          <a:p>
            <a:pPr algn="just">
              <a:lnSpc>
                <a:spcPct val="110000"/>
              </a:lnSpc>
            </a:pPr>
            <a:r>
              <a:rPr lang="vi-VN"/>
              <a:t>Các yếu tố cá nhân ảnh hưởng đến những quyết định này bao gồm độ tuổi, thu nhập, trình độ học vấn, đặc điểm nghề nghiệp, tính cách và thái độ đối với rủi ro.</a:t>
            </a:r>
            <a:endParaRPr lang="en-US"/>
          </a:p>
          <a:p>
            <a:pPr algn="just">
              <a:lnSpc>
                <a:spcPct val="110000"/>
              </a:lnSpc>
            </a:pPr>
            <a:r>
              <a:rPr lang="vi-VN"/>
              <a:t>Người mua thể hiện các phong cách mua hàng khác nhau; một số người tiến hành phân tích kỹ lưỡng các đề xuất cạnh tranh, trong khi những người khác lại đàm phán dựa trên trực giác để đạt được các thỏa thuận tốt nhất.</a:t>
            </a:r>
            <a:endParaRPr lang="en-US"/>
          </a:p>
        </p:txBody>
      </p:sp>
    </p:spTree>
    <p:extLst>
      <p:ext uri="{BB962C8B-B14F-4D97-AF65-F5344CB8AC3E}">
        <p14:creationId xmlns:p14="http://schemas.microsoft.com/office/powerpoint/2010/main" val="2130334792"/>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AF2C8-4606-503A-8724-37FE4438DD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9AD68-CD17-B9CF-0914-EC833A2DD938}"/>
              </a:ext>
            </a:extLst>
          </p:cNvPr>
          <p:cNvSpPr>
            <a:spLocks noGrp="1"/>
          </p:cNvSpPr>
          <p:nvPr>
            <p:ph type="title"/>
          </p:nvPr>
        </p:nvSpPr>
        <p:spPr/>
        <p:txBody>
          <a:bodyPr>
            <a:normAutofit/>
          </a:bodyPr>
          <a:lstStyle/>
          <a:p>
            <a:r>
              <a:rPr lang="en-US" sz="4000" b="1" err="1"/>
              <a:t>Câu</a:t>
            </a:r>
            <a:r>
              <a:rPr lang="en-US" sz="4000" b="1"/>
              <a:t> </a:t>
            </a:r>
            <a:r>
              <a:rPr lang="en-US" sz="4000" b="1" err="1"/>
              <a:t>hỏi</a:t>
            </a:r>
            <a:r>
              <a:rPr lang="en-US" sz="4000" b="1"/>
              <a:t> </a:t>
            </a:r>
            <a:r>
              <a:rPr lang="en-US" sz="4000" b="1" err="1"/>
              <a:t>ôn</a:t>
            </a:r>
            <a:r>
              <a:rPr lang="en-US" sz="4000" b="1"/>
              <a:t> </a:t>
            </a:r>
            <a:r>
              <a:rPr lang="en-US" sz="4000" b="1" err="1"/>
              <a:t>tập</a:t>
            </a:r>
            <a:endParaRPr lang="en-US" sz="4000" b="1"/>
          </a:p>
        </p:txBody>
      </p:sp>
      <p:sp>
        <p:nvSpPr>
          <p:cNvPr id="3" name="Text Placeholder 2">
            <a:extLst>
              <a:ext uri="{FF2B5EF4-FFF2-40B4-BE49-F238E27FC236}">
                <a16:creationId xmlns:a16="http://schemas.microsoft.com/office/drawing/2014/main" id="{BEB7249B-B72A-B51D-DD55-7C00E5994740}"/>
              </a:ext>
            </a:extLst>
          </p:cNvPr>
          <p:cNvSpPr>
            <a:spLocks noGrp="1"/>
          </p:cNvSpPr>
          <p:nvPr>
            <p:ph type="body" idx="1"/>
          </p:nvPr>
        </p:nvSpPr>
        <p:spPr>
          <a:xfrm>
            <a:off x="581527" y="1938803"/>
            <a:ext cx="10515600" cy="3916566"/>
          </a:xfrm>
        </p:spPr>
        <p:txBody>
          <a:bodyPr>
            <a:normAutofit/>
          </a:bodyPr>
          <a:lstStyle/>
          <a:p>
            <a:pPr marL="628650" lvl="0" indent="-514350" algn="just">
              <a:buFont typeface="+mj-lt"/>
              <a:buAutoNum type="arabicPeriod"/>
            </a:pPr>
            <a:r>
              <a:rPr lang="en-US" err="1"/>
              <a:t>Khách</a:t>
            </a:r>
            <a:r>
              <a:rPr lang="en-US"/>
              <a:t> </a:t>
            </a:r>
            <a:r>
              <a:rPr lang="en-US" err="1"/>
              <a:t>hàng</a:t>
            </a:r>
            <a:r>
              <a:rPr lang="en-US"/>
              <a:t> </a:t>
            </a:r>
            <a:r>
              <a:rPr lang="en-US" err="1"/>
              <a:t>tổ</a:t>
            </a:r>
            <a:r>
              <a:rPr lang="en-US"/>
              <a:t> </a:t>
            </a:r>
            <a:r>
              <a:rPr lang="en-US" err="1"/>
              <a:t>chức</a:t>
            </a:r>
            <a:r>
              <a:rPr lang="en-US"/>
              <a:t> </a:t>
            </a:r>
            <a:r>
              <a:rPr lang="en-US" err="1"/>
              <a:t>là</a:t>
            </a:r>
            <a:r>
              <a:rPr lang="en-US"/>
              <a:t> </a:t>
            </a:r>
            <a:r>
              <a:rPr lang="en-US" err="1"/>
              <a:t>gì</a:t>
            </a:r>
            <a:r>
              <a:rPr lang="en-US"/>
              <a:t>? </a:t>
            </a:r>
            <a:r>
              <a:rPr lang="en-US" err="1"/>
              <a:t>Khách</a:t>
            </a:r>
            <a:r>
              <a:rPr lang="en-US"/>
              <a:t> </a:t>
            </a:r>
            <a:r>
              <a:rPr lang="en-US" err="1"/>
              <a:t>hàng</a:t>
            </a:r>
            <a:r>
              <a:rPr lang="en-US"/>
              <a:t> </a:t>
            </a:r>
            <a:r>
              <a:rPr lang="en-US" err="1"/>
              <a:t>tổ</a:t>
            </a:r>
            <a:r>
              <a:rPr lang="en-US"/>
              <a:t> </a:t>
            </a:r>
            <a:r>
              <a:rPr lang="en-US" err="1"/>
              <a:t>chức</a:t>
            </a:r>
            <a:r>
              <a:rPr lang="en-US"/>
              <a:t> </a:t>
            </a:r>
            <a:r>
              <a:rPr lang="en-US" err="1"/>
              <a:t>có</a:t>
            </a:r>
            <a:r>
              <a:rPr lang="en-US"/>
              <a:t> </a:t>
            </a:r>
            <a:r>
              <a:rPr lang="en-US" err="1"/>
              <a:t>những</a:t>
            </a:r>
            <a:r>
              <a:rPr lang="en-US"/>
              <a:t> </a:t>
            </a:r>
            <a:r>
              <a:rPr lang="en-US" err="1"/>
              <a:t>nhóm</a:t>
            </a:r>
            <a:r>
              <a:rPr lang="en-US"/>
              <a:t> </a:t>
            </a:r>
            <a:r>
              <a:rPr lang="en-US" err="1"/>
              <a:t>nào</a:t>
            </a:r>
            <a:r>
              <a:rPr lang="en-US"/>
              <a:t>? </a:t>
            </a:r>
          </a:p>
          <a:p>
            <a:pPr marL="628650" lvl="0" indent="-514350" algn="just">
              <a:buFont typeface="+mj-lt"/>
              <a:buAutoNum type="arabicPeriod"/>
            </a:pPr>
            <a:r>
              <a:rPr lang="en-US" err="1"/>
              <a:t>Hành</a:t>
            </a:r>
            <a:r>
              <a:rPr lang="en-US"/>
              <a:t> vi </a:t>
            </a:r>
            <a:r>
              <a:rPr lang="en-US" err="1"/>
              <a:t>mua</a:t>
            </a:r>
            <a:r>
              <a:rPr lang="en-US"/>
              <a:t> </a:t>
            </a:r>
            <a:r>
              <a:rPr lang="en-US" err="1"/>
              <a:t>của</a:t>
            </a:r>
            <a:r>
              <a:rPr lang="en-US"/>
              <a:t> </a:t>
            </a:r>
            <a:r>
              <a:rPr lang="en-US" err="1"/>
              <a:t>khách</a:t>
            </a:r>
            <a:r>
              <a:rPr lang="en-US"/>
              <a:t> </a:t>
            </a:r>
            <a:r>
              <a:rPr lang="en-US" err="1"/>
              <a:t>hàng</a:t>
            </a:r>
            <a:r>
              <a:rPr lang="en-US"/>
              <a:t> </a:t>
            </a:r>
            <a:r>
              <a:rPr lang="en-US" err="1"/>
              <a:t>tổ</a:t>
            </a:r>
            <a:r>
              <a:rPr lang="en-US"/>
              <a:t> </a:t>
            </a:r>
            <a:r>
              <a:rPr lang="en-US" err="1"/>
              <a:t>chức</a:t>
            </a:r>
            <a:r>
              <a:rPr lang="en-US"/>
              <a:t> </a:t>
            </a:r>
            <a:r>
              <a:rPr lang="en-US" err="1"/>
              <a:t>khác</a:t>
            </a:r>
            <a:r>
              <a:rPr lang="en-US"/>
              <a:t> </a:t>
            </a:r>
            <a:r>
              <a:rPr lang="en-US" err="1"/>
              <a:t>gì</a:t>
            </a:r>
            <a:r>
              <a:rPr lang="en-US"/>
              <a:t> so </a:t>
            </a:r>
            <a:r>
              <a:rPr lang="en-US" err="1"/>
              <a:t>với</a:t>
            </a:r>
            <a:r>
              <a:rPr lang="en-US"/>
              <a:t> </a:t>
            </a:r>
            <a:r>
              <a:rPr lang="en-US" err="1"/>
              <a:t>hành</a:t>
            </a:r>
            <a:r>
              <a:rPr lang="en-US"/>
              <a:t> vi </a:t>
            </a:r>
            <a:r>
              <a:rPr lang="en-US" err="1"/>
              <a:t>mua</a:t>
            </a:r>
            <a:r>
              <a:rPr lang="en-US"/>
              <a:t> </a:t>
            </a:r>
            <a:r>
              <a:rPr lang="en-US" err="1"/>
              <a:t>của</a:t>
            </a:r>
            <a:r>
              <a:rPr lang="en-US"/>
              <a:t> </a:t>
            </a:r>
            <a:r>
              <a:rPr lang="en-US" err="1"/>
              <a:t>khách</a:t>
            </a:r>
            <a:r>
              <a:rPr lang="en-US"/>
              <a:t> </a:t>
            </a:r>
            <a:r>
              <a:rPr lang="en-US" err="1"/>
              <a:t>hàng</a:t>
            </a:r>
            <a:r>
              <a:rPr lang="en-US"/>
              <a:t> </a:t>
            </a:r>
            <a:r>
              <a:rPr lang="en-US" err="1"/>
              <a:t>cá</a:t>
            </a:r>
            <a:r>
              <a:rPr lang="en-US"/>
              <a:t> </a:t>
            </a:r>
            <a:r>
              <a:rPr lang="en-US" err="1"/>
              <a:t>nhân</a:t>
            </a:r>
            <a:r>
              <a:rPr lang="en-US"/>
              <a:t>? </a:t>
            </a:r>
          </a:p>
          <a:p>
            <a:pPr marL="628650" lvl="0" indent="-514350" algn="just">
              <a:buFont typeface="+mj-lt"/>
              <a:buAutoNum type="arabicPeriod"/>
            </a:pPr>
            <a:r>
              <a:rPr lang="en-US" err="1"/>
              <a:t>Vì</a:t>
            </a:r>
            <a:r>
              <a:rPr lang="en-US"/>
              <a:t> </a:t>
            </a:r>
            <a:r>
              <a:rPr lang="en-US" err="1"/>
              <a:t>sao</a:t>
            </a:r>
            <a:r>
              <a:rPr lang="en-US"/>
              <a:t> </a:t>
            </a:r>
            <a:r>
              <a:rPr lang="en-US" err="1"/>
              <a:t>nhu</a:t>
            </a:r>
            <a:r>
              <a:rPr lang="en-US"/>
              <a:t> </a:t>
            </a:r>
            <a:r>
              <a:rPr lang="en-US" err="1"/>
              <a:t>cầu</a:t>
            </a:r>
            <a:r>
              <a:rPr lang="en-US"/>
              <a:t> </a:t>
            </a:r>
            <a:r>
              <a:rPr lang="en-US" err="1"/>
              <a:t>của</a:t>
            </a:r>
            <a:r>
              <a:rPr lang="en-US"/>
              <a:t> </a:t>
            </a:r>
            <a:r>
              <a:rPr lang="en-US" err="1"/>
              <a:t>khách</a:t>
            </a:r>
            <a:r>
              <a:rPr lang="en-US"/>
              <a:t> </a:t>
            </a:r>
            <a:r>
              <a:rPr lang="en-US" err="1"/>
              <a:t>hàng</a:t>
            </a:r>
            <a:r>
              <a:rPr lang="en-US"/>
              <a:t> </a:t>
            </a:r>
            <a:r>
              <a:rPr lang="en-US" err="1"/>
              <a:t>tổ</a:t>
            </a:r>
            <a:r>
              <a:rPr lang="en-US"/>
              <a:t> </a:t>
            </a:r>
            <a:r>
              <a:rPr lang="en-US" err="1"/>
              <a:t>chức</a:t>
            </a:r>
            <a:r>
              <a:rPr lang="en-US"/>
              <a:t> </a:t>
            </a:r>
            <a:r>
              <a:rPr lang="en-US" err="1"/>
              <a:t>được</a:t>
            </a:r>
            <a:r>
              <a:rPr lang="en-US"/>
              <a:t> </a:t>
            </a:r>
            <a:r>
              <a:rPr lang="en-US" err="1"/>
              <a:t>xem</a:t>
            </a:r>
            <a:r>
              <a:rPr lang="en-US"/>
              <a:t> </a:t>
            </a:r>
            <a:r>
              <a:rPr lang="en-US" err="1"/>
              <a:t>là</a:t>
            </a:r>
            <a:r>
              <a:rPr lang="en-US"/>
              <a:t> </a:t>
            </a:r>
            <a:r>
              <a:rPr lang="en-US" err="1"/>
              <a:t>nhu</a:t>
            </a:r>
            <a:r>
              <a:rPr lang="en-US"/>
              <a:t> </a:t>
            </a:r>
            <a:r>
              <a:rPr lang="en-US" err="1"/>
              <a:t>cầu</a:t>
            </a:r>
            <a:r>
              <a:rPr lang="en-US"/>
              <a:t> </a:t>
            </a:r>
            <a:r>
              <a:rPr lang="en-US" err="1"/>
              <a:t>thứ</a:t>
            </a:r>
            <a:r>
              <a:rPr lang="en-US"/>
              <a:t> </a:t>
            </a:r>
            <a:r>
              <a:rPr lang="en-US" err="1"/>
              <a:t>phát</a:t>
            </a:r>
            <a:r>
              <a:rPr lang="en-US"/>
              <a:t>? </a:t>
            </a:r>
            <a:r>
              <a:rPr lang="en-US" err="1"/>
              <a:t>Hãy</a:t>
            </a:r>
            <a:r>
              <a:rPr lang="en-US"/>
              <a:t> </a:t>
            </a:r>
            <a:r>
              <a:rPr lang="en-US" err="1"/>
              <a:t>cho</a:t>
            </a:r>
            <a:r>
              <a:rPr lang="en-US"/>
              <a:t> </a:t>
            </a:r>
            <a:r>
              <a:rPr lang="en-US" err="1"/>
              <a:t>ví</a:t>
            </a:r>
            <a:r>
              <a:rPr lang="en-US"/>
              <a:t> </a:t>
            </a:r>
            <a:r>
              <a:rPr lang="en-US" err="1"/>
              <a:t>dụ</a:t>
            </a:r>
            <a:r>
              <a:rPr lang="en-US"/>
              <a:t>. </a:t>
            </a:r>
          </a:p>
          <a:p>
            <a:pPr marL="628650" lvl="0" indent="-514350" algn="just">
              <a:buFont typeface="+mj-lt"/>
              <a:buAutoNum type="arabicPeriod"/>
            </a:pPr>
            <a:r>
              <a:rPr lang="en-US"/>
              <a:t>Trung </a:t>
            </a:r>
            <a:r>
              <a:rPr lang="en-US" err="1"/>
              <a:t>tâm</a:t>
            </a:r>
            <a:r>
              <a:rPr lang="en-US"/>
              <a:t> </a:t>
            </a:r>
            <a:r>
              <a:rPr lang="en-US" err="1"/>
              <a:t>mua</a:t>
            </a:r>
            <a:r>
              <a:rPr lang="en-US"/>
              <a:t> </a:t>
            </a:r>
            <a:r>
              <a:rPr lang="en-US" err="1"/>
              <a:t>là</a:t>
            </a:r>
            <a:r>
              <a:rPr lang="en-US"/>
              <a:t> </a:t>
            </a:r>
            <a:r>
              <a:rPr lang="en-US" err="1"/>
              <a:t>gì</a:t>
            </a:r>
            <a:r>
              <a:rPr lang="en-US"/>
              <a:t>? </a:t>
            </a:r>
            <a:r>
              <a:rPr lang="en-US" err="1"/>
              <a:t>Những</a:t>
            </a:r>
            <a:r>
              <a:rPr lang="en-US"/>
              <a:t> ai </a:t>
            </a:r>
            <a:r>
              <a:rPr lang="en-US" err="1"/>
              <a:t>có</a:t>
            </a:r>
            <a:r>
              <a:rPr lang="en-US"/>
              <a:t> </a:t>
            </a:r>
            <a:r>
              <a:rPr lang="en-US" err="1"/>
              <a:t>thể</a:t>
            </a:r>
            <a:r>
              <a:rPr lang="en-US"/>
              <a:t> </a:t>
            </a:r>
            <a:r>
              <a:rPr lang="en-US" err="1"/>
              <a:t>tham</a:t>
            </a:r>
            <a:r>
              <a:rPr lang="en-US"/>
              <a:t> </a:t>
            </a:r>
            <a:r>
              <a:rPr lang="en-US" err="1"/>
              <a:t>gia</a:t>
            </a:r>
            <a:r>
              <a:rPr lang="en-US"/>
              <a:t> </a:t>
            </a:r>
            <a:r>
              <a:rPr lang="en-US" err="1"/>
              <a:t>vào</a:t>
            </a:r>
            <a:r>
              <a:rPr lang="en-US"/>
              <a:t> </a:t>
            </a:r>
            <a:r>
              <a:rPr lang="en-US" err="1"/>
              <a:t>quá</a:t>
            </a:r>
            <a:r>
              <a:rPr lang="en-US"/>
              <a:t> </a:t>
            </a:r>
            <a:r>
              <a:rPr lang="en-US" err="1"/>
              <a:t>trình</a:t>
            </a:r>
            <a:r>
              <a:rPr lang="en-US"/>
              <a:t> </a:t>
            </a:r>
            <a:r>
              <a:rPr lang="en-US" err="1"/>
              <a:t>ra</a:t>
            </a:r>
            <a:r>
              <a:rPr lang="en-US"/>
              <a:t> </a:t>
            </a:r>
            <a:r>
              <a:rPr lang="en-US" err="1"/>
              <a:t>quyết</a:t>
            </a:r>
            <a:r>
              <a:rPr lang="en-US"/>
              <a:t> </a:t>
            </a:r>
            <a:r>
              <a:rPr lang="en-US" err="1"/>
              <a:t>định</a:t>
            </a:r>
            <a:r>
              <a:rPr lang="en-US"/>
              <a:t> </a:t>
            </a:r>
            <a:r>
              <a:rPr lang="en-US" err="1"/>
              <a:t>mua</a:t>
            </a:r>
            <a:r>
              <a:rPr lang="en-US"/>
              <a:t> </a:t>
            </a:r>
            <a:r>
              <a:rPr lang="en-US" err="1"/>
              <a:t>của</a:t>
            </a:r>
            <a:r>
              <a:rPr lang="en-US"/>
              <a:t> </a:t>
            </a:r>
            <a:r>
              <a:rPr lang="en-US" err="1"/>
              <a:t>tổ</a:t>
            </a:r>
            <a:r>
              <a:rPr lang="en-US"/>
              <a:t> </a:t>
            </a:r>
            <a:r>
              <a:rPr lang="en-US" err="1"/>
              <a:t>chức</a:t>
            </a:r>
            <a:r>
              <a:rPr lang="en-US"/>
              <a:t>?</a:t>
            </a:r>
          </a:p>
        </p:txBody>
      </p:sp>
    </p:spTree>
    <p:extLst>
      <p:ext uri="{BB962C8B-B14F-4D97-AF65-F5344CB8AC3E}">
        <p14:creationId xmlns:p14="http://schemas.microsoft.com/office/powerpoint/2010/main" val="1709224831"/>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E00BA-6F14-2F00-D85F-0BCA2AC73D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E254C-D6C9-A879-9753-5B7E128BEC5A}"/>
              </a:ext>
            </a:extLst>
          </p:cNvPr>
          <p:cNvSpPr>
            <a:spLocks noGrp="1"/>
          </p:cNvSpPr>
          <p:nvPr>
            <p:ph type="title"/>
          </p:nvPr>
        </p:nvSpPr>
        <p:spPr/>
        <p:txBody>
          <a:bodyPr>
            <a:normAutofit/>
          </a:bodyPr>
          <a:lstStyle/>
          <a:p>
            <a:r>
              <a:rPr lang="en-US" sz="4000" b="1" err="1"/>
              <a:t>Câu</a:t>
            </a:r>
            <a:r>
              <a:rPr lang="en-US" sz="4000" b="1"/>
              <a:t> </a:t>
            </a:r>
            <a:r>
              <a:rPr lang="en-US" sz="4000" b="1" err="1"/>
              <a:t>hỏi</a:t>
            </a:r>
            <a:r>
              <a:rPr lang="en-US" sz="4000" b="1"/>
              <a:t> </a:t>
            </a:r>
            <a:r>
              <a:rPr lang="en-US" sz="4000" b="1" err="1"/>
              <a:t>ôn</a:t>
            </a:r>
            <a:r>
              <a:rPr lang="en-US" sz="4000" b="1"/>
              <a:t> </a:t>
            </a:r>
            <a:r>
              <a:rPr lang="en-US" sz="4000" b="1" err="1"/>
              <a:t>tập</a:t>
            </a:r>
            <a:endParaRPr lang="en-US" sz="4000" b="1"/>
          </a:p>
        </p:txBody>
      </p:sp>
      <p:sp>
        <p:nvSpPr>
          <p:cNvPr id="3" name="Text Placeholder 2">
            <a:extLst>
              <a:ext uri="{FF2B5EF4-FFF2-40B4-BE49-F238E27FC236}">
                <a16:creationId xmlns:a16="http://schemas.microsoft.com/office/drawing/2014/main" id="{03B2DCD5-0E14-7BC6-5573-C8D5AA07D5B5}"/>
              </a:ext>
            </a:extLst>
          </p:cNvPr>
          <p:cNvSpPr>
            <a:spLocks noGrp="1"/>
          </p:cNvSpPr>
          <p:nvPr>
            <p:ph type="body" idx="1"/>
          </p:nvPr>
        </p:nvSpPr>
        <p:spPr>
          <a:xfrm>
            <a:off x="838200" y="1505666"/>
            <a:ext cx="10515600" cy="4671297"/>
          </a:xfrm>
        </p:spPr>
        <p:txBody>
          <a:bodyPr>
            <a:normAutofit fontScale="92500" lnSpcReduction="20000"/>
          </a:bodyPr>
          <a:lstStyle/>
          <a:p>
            <a:pPr marL="628650" lvl="0" indent="-514350" algn="just">
              <a:lnSpc>
                <a:spcPct val="110000"/>
              </a:lnSpc>
              <a:buFont typeface="+mj-lt"/>
              <a:buAutoNum type="arabicPeriod" startAt="5"/>
            </a:pPr>
            <a:r>
              <a:rPr lang="en-US" err="1"/>
              <a:t>Trình</a:t>
            </a:r>
            <a:r>
              <a:rPr lang="en-US"/>
              <a:t> </a:t>
            </a:r>
            <a:r>
              <a:rPr lang="en-US" err="1"/>
              <a:t>bày</a:t>
            </a:r>
            <a:r>
              <a:rPr lang="en-US"/>
              <a:t> </a:t>
            </a:r>
            <a:r>
              <a:rPr lang="en-US" err="1"/>
              <a:t>mô</a:t>
            </a:r>
            <a:r>
              <a:rPr lang="en-US"/>
              <a:t> </a:t>
            </a:r>
            <a:r>
              <a:rPr lang="en-US" err="1"/>
              <a:t>hình</a:t>
            </a:r>
            <a:r>
              <a:rPr lang="en-US"/>
              <a:t> </a:t>
            </a:r>
            <a:r>
              <a:rPr lang="en-US" err="1"/>
              <a:t>hành</a:t>
            </a:r>
            <a:r>
              <a:rPr lang="en-US"/>
              <a:t> vi </a:t>
            </a:r>
            <a:r>
              <a:rPr lang="en-US" err="1"/>
              <a:t>mua</a:t>
            </a:r>
            <a:r>
              <a:rPr lang="en-US"/>
              <a:t> </a:t>
            </a:r>
            <a:r>
              <a:rPr lang="en-US" err="1"/>
              <a:t>của</a:t>
            </a:r>
            <a:r>
              <a:rPr lang="en-US"/>
              <a:t> </a:t>
            </a:r>
            <a:r>
              <a:rPr lang="en-US" err="1"/>
              <a:t>khách</a:t>
            </a:r>
            <a:r>
              <a:rPr lang="en-US"/>
              <a:t> </a:t>
            </a:r>
            <a:r>
              <a:rPr lang="en-US" err="1"/>
              <a:t>hàng</a:t>
            </a:r>
            <a:r>
              <a:rPr lang="en-US"/>
              <a:t> </a:t>
            </a:r>
            <a:r>
              <a:rPr lang="en-US" err="1"/>
              <a:t>tổ</a:t>
            </a:r>
            <a:r>
              <a:rPr lang="en-US"/>
              <a:t> </a:t>
            </a:r>
            <a:r>
              <a:rPr lang="en-US" err="1"/>
              <a:t>chức</a:t>
            </a:r>
            <a:r>
              <a:rPr lang="en-US"/>
              <a:t>. Các </a:t>
            </a:r>
            <a:r>
              <a:rPr lang="en-US" err="1"/>
              <a:t>yếu</a:t>
            </a:r>
            <a:r>
              <a:rPr lang="en-US"/>
              <a:t> </a:t>
            </a:r>
            <a:r>
              <a:rPr lang="en-US" err="1"/>
              <a:t>tố</a:t>
            </a:r>
            <a:r>
              <a:rPr lang="en-US"/>
              <a:t> </a:t>
            </a:r>
            <a:r>
              <a:rPr lang="en-US" err="1"/>
              <a:t>nào</a:t>
            </a:r>
            <a:r>
              <a:rPr lang="en-US"/>
              <a:t> </a:t>
            </a:r>
            <a:r>
              <a:rPr lang="en-US" err="1"/>
              <a:t>tác</a:t>
            </a:r>
            <a:r>
              <a:rPr lang="en-US"/>
              <a:t> </a:t>
            </a:r>
            <a:r>
              <a:rPr lang="en-US" err="1"/>
              <a:t>động</a:t>
            </a:r>
            <a:r>
              <a:rPr lang="en-US"/>
              <a:t> </a:t>
            </a:r>
            <a:r>
              <a:rPr lang="en-US" err="1"/>
              <a:t>đến</a:t>
            </a:r>
            <a:r>
              <a:rPr lang="en-US"/>
              <a:t> </a:t>
            </a:r>
            <a:r>
              <a:rPr lang="en-US" err="1"/>
              <a:t>quá</a:t>
            </a:r>
            <a:r>
              <a:rPr lang="en-US"/>
              <a:t> </a:t>
            </a:r>
            <a:r>
              <a:rPr lang="en-US" err="1"/>
              <a:t>trình</a:t>
            </a:r>
            <a:r>
              <a:rPr lang="en-US"/>
              <a:t> </a:t>
            </a:r>
            <a:r>
              <a:rPr lang="en-US" err="1"/>
              <a:t>ra</a:t>
            </a:r>
            <a:r>
              <a:rPr lang="en-US"/>
              <a:t> </a:t>
            </a:r>
            <a:r>
              <a:rPr lang="en-US" err="1"/>
              <a:t>quyết</a:t>
            </a:r>
            <a:r>
              <a:rPr lang="en-US"/>
              <a:t> </a:t>
            </a:r>
            <a:r>
              <a:rPr lang="en-US" err="1"/>
              <a:t>định</a:t>
            </a:r>
            <a:r>
              <a:rPr lang="en-US"/>
              <a:t> </a:t>
            </a:r>
            <a:r>
              <a:rPr lang="en-US" err="1"/>
              <a:t>mua</a:t>
            </a:r>
            <a:r>
              <a:rPr lang="en-US"/>
              <a:t>? </a:t>
            </a:r>
          </a:p>
          <a:p>
            <a:pPr marL="628650" lvl="0" indent="-514350" algn="just">
              <a:lnSpc>
                <a:spcPct val="110000"/>
              </a:lnSpc>
              <a:buFont typeface="+mj-lt"/>
              <a:buAutoNum type="arabicPeriod" startAt="5"/>
            </a:pPr>
            <a:r>
              <a:rPr lang="en-US" err="1"/>
              <a:t>Phân</a:t>
            </a:r>
            <a:r>
              <a:rPr lang="en-US"/>
              <a:t> </a:t>
            </a:r>
            <a:r>
              <a:rPr lang="en-US" err="1"/>
              <a:t>tích</a:t>
            </a:r>
            <a:r>
              <a:rPr lang="en-US"/>
              <a:t> </a:t>
            </a:r>
            <a:r>
              <a:rPr lang="en-US" err="1"/>
              <a:t>sự</a:t>
            </a:r>
            <a:r>
              <a:rPr lang="en-US"/>
              <a:t> </a:t>
            </a:r>
            <a:r>
              <a:rPr lang="en-US" err="1"/>
              <a:t>tác</a:t>
            </a:r>
            <a:r>
              <a:rPr lang="en-US"/>
              <a:t> </a:t>
            </a:r>
            <a:r>
              <a:rPr lang="en-US" err="1"/>
              <a:t>động</a:t>
            </a:r>
            <a:r>
              <a:rPr lang="en-US"/>
              <a:t> </a:t>
            </a:r>
            <a:r>
              <a:rPr lang="en-US" err="1"/>
              <a:t>của</a:t>
            </a:r>
            <a:r>
              <a:rPr lang="en-US"/>
              <a:t> </a:t>
            </a:r>
            <a:r>
              <a:rPr lang="en-US" err="1"/>
              <a:t>yếu</a:t>
            </a:r>
            <a:r>
              <a:rPr lang="en-US"/>
              <a:t> </a:t>
            </a:r>
            <a:r>
              <a:rPr lang="en-US" err="1"/>
              <a:t>tố</a:t>
            </a:r>
            <a:r>
              <a:rPr lang="en-US"/>
              <a:t> </a:t>
            </a:r>
            <a:r>
              <a:rPr lang="en-US" err="1"/>
              <a:t>môi</a:t>
            </a:r>
            <a:r>
              <a:rPr lang="en-US"/>
              <a:t> </a:t>
            </a:r>
            <a:r>
              <a:rPr lang="en-US" err="1"/>
              <a:t>trường</a:t>
            </a:r>
            <a:r>
              <a:rPr lang="en-US"/>
              <a:t> </a:t>
            </a:r>
            <a:r>
              <a:rPr lang="en-US" err="1"/>
              <a:t>đến</a:t>
            </a:r>
            <a:r>
              <a:rPr lang="en-US"/>
              <a:t> </a:t>
            </a:r>
            <a:r>
              <a:rPr lang="en-US" err="1"/>
              <a:t>hành</a:t>
            </a:r>
            <a:r>
              <a:rPr lang="en-US"/>
              <a:t> vi </a:t>
            </a:r>
            <a:r>
              <a:rPr lang="en-US" err="1"/>
              <a:t>mua</a:t>
            </a:r>
            <a:r>
              <a:rPr lang="en-US"/>
              <a:t> </a:t>
            </a:r>
            <a:r>
              <a:rPr lang="en-US" err="1"/>
              <a:t>của</a:t>
            </a:r>
            <a:r>
              <a:rPr lang="en-US"/>
              <a:t> </a:t>
            </a:r>
            <a:r>
              <a:rPr lang="en-US" err="1"/>
              <a:t>khách</a:t>
            </a:r>
            <a:r>
              <a:rPr lang="en-US"/>
              <a:t> </a:t>
            </a:r>
            <a:r>
              <a:rPr lang="en-US" err="1"/>
              <a:t>hàng</a:t>
            </a:r>
            <a:r>
              <a:rPr lang="en-US"/>
              <a:t> </a:t>
            </a:r>
            <a:r>
              <a:rPr lang="en-US" err="1"/>
              <a:t>tổ</a:t>
            </a:r>
            <a:r>
              <a:rPr lang="en-US"/>
              <a:t> </a:t>
            </a:r>
            <a:r>
              <a:rPr lang="en-US" err="1"/>
              <a:t>chức</a:t>
            </a:r>
            <a:r>
              <a:rPr lang="en-US"/>
              <a:t>. </a:t>
            </a:r>
          </a:p>
          <a:p>
            <a:pPr marL="628650" lvl="0" indent="-514350" algn="just">
              <a:lnSpc>
                <a:spcPct val="110000"/>
              </a:lnSpc>
              <a:buFont typeface="+mj-lt"/>
              <a:buAutoNum type="arabicPeriod" startAt="5"/>
            </a:pPr>
            <a:r>
              <a:rPr lang="en-US" err="1"/>
              <a:t>Yếu</a:t>
            </a:r>
            <a:r>
              <a:rPr lang="en-US"/>
              <a:t> </a:t>
            </a:r>
            <a:r>
              <a:rPr lang="en-US" err="1"/>
              <a:t>tố</a:t>
            </a:r>
            <a:r>
              <a:rPr lang="en-US"/>
              <a:t> </a:t>
            </a:r>
            <a:r>
              <a:rPr lang="en-US" err="1"/>
              <a:t>tổ</a:t>
            </a:r>
            <a:r>
              <a:rPr lang="en-US"/>
              <a:t> </a:t>
            </a:r>
            <a:r>
              <a:rPr lang="en-US" err="1"/>
              <a:t>chức</a:t>
            </a:r>
            <a:r>
              <a:rPr lang="en-US"/>
              <a:t> </a:t>
            </a:r>
            <a:r>
              <a:rPr lang="en-US" err="1"/>
              <a:t>ảnh</a:t>
            </a:r>
            <a:r>
              <a:rPr lang="en-US"/>
              <a:t> </a:t>
            </a:r>
            <a:r>
              <a:rPr lang="en-US" err="1"/>
              <a:t>hưởng</a:t>
            </a:r>
            <a:r>
              <a:rPr lang="en-US"/>
              <a:t> </a:t>
            </a:r>
            <a:r>
              <a:rPr lang="en-US" err="1"/>
              <a:t>như</a:t>
            </a:r>
            <a:r>
              <a:rPr lang="en-US"/>
              <a:t> </a:t>
            </a:r>
            <a:r>
              <a:rPr lang="en-US" err="1"/>
              <a:t>thế</a:t>
            </a:r>
            <a:r>
              <a:rPr lang="en-US"/>
              <a:t> </a:t>
            </a:r>
            <a:r>
              <a:rPr lang="en-US" err="1"/>
              <a:t>nào</a:t>
            </a:r>
            <a:r>
              <a:rPr lang="en-US"/>
              <a:t> </a:t>
            </a:r>
            <a:r>
              <a:rPr lang="en-US" err="1"/>
              <a:t>đến</a:t>
            </a:r>
            <a:r>
              <a:rPr lang="en-US"/>
              <a:t> </a:t>
            </a:r>
            <a:r>
              <a:rPr lang="en-US" err="1"/>
              <a:t>quyết</a:t>
            </a:r>
            <a:r>
              <a:rPr lang="en-US"/>
              <a:t> </a:t>
            </a:r>
            <a:r>
              <a:rPr lang="en-US" err="1"/>
              <a:t>định</a:t>
            </a:r>
            <a:r>
              <a:rPr lang="en-US"/>
              <a:t> </a:t>
            </a:r>
            <a:r>
              <a:rPr lang="en-US" err="1"/>
              <a:t>mua</a:t>
            </a:r>
            <a:r>
              <a:rPr lang="en-US"/>
              <a:t>? </a:t>
            </a:r>
            <a:r>
              <a:rPr lang="en-US" err="1"/>
              <a:t>Hãy</a:t>
            </a:r>
            <a:r>
              <a:rPr lang="en-US"/>
              <a:t> </a:t>
            </a:r>
            <a:r>
              <a:rPr lang="en-US" err="1"/>
              <a:t>liên</a:t>
            </a:r>
            <a:r>
              <a:rPr lang="en-US"/>
              <a:t> </a:t>
            </a:r>
            <a:r>
              <a:rPr lang="en-US" err="1"/>
              <a:t>hệ</a:t>
            </a:r>
            <a:r>
              <a:rPr lang="en-US"/>
              <a:t> </a:t>
            </a:r>
            <a:r>
              <a:rPr lang="en-US" err="1"/>
              <a:t>với</a:t>
            </a:r>
            <a:r>
              <a:rPr lang="en-US"/>
              <a:t> </a:t>
            </a:r>
            <a:r>
              <a:rPr lang="en-US" err="1"/>
              <a:t>mục</a:t>
            </a:r>
            <a:r>
              <a:rPr lang="en-US"/>
              <a:t> </a:t>
            </a:r>
            <a:r>
              <a:rPr lang="en-US" err="1"/>
              <a:t>tiêu</a:t>
            </a:r>
            <a:r>
              <a:rPr lang="en-US"/>
              <a:t>, </a:t>
            </a:r>
            <a:r>
              <a:rPr lang="en-US" err="1"/>
              <a:t>chính</a:t>
            </a:r>
            <a:r>
              <a:rPr lang="en-US"/>
              <a:t> </a:t>
            </a:r>
            <a:r>
              <a:rPr lang="en-US" err="1"/>
              <a:t>sách</a:t>
            </a:r>
            <a:r>
              <a:rPr lang="en-US"/>
              <a:t>, </a:t>
            </a:r>
            <a:r>
              <a:rPr lang="en-US" err="1"/>
              <a:t>cơ</a:t>
            </a:r>
            <a:r>
              <a:rPr lang="en-US"/>
              <a:t> </a:t>
            </a:r>
            <a:r>
              <a:rPr lang="en-US" err="1"/>
              <a:t>cấu</a:t>
            </a:r>
            <a:r>
              <a:rPr lang="en-US"/>
              <a:t> </a:t>
            </a:r>
            <a:r>
              <a:rPr lang="en-US" err="1"/>
              <a:t>và</a:t>
            </a:r>
            <a:r>
              <a:rPr lang="en-US"/>
              <a:t> </a:t>
            </a:r>
            <a:r>
              <a:rPr lang="en-US" err="1"/>
              <a:t>quy</a:t>
            </a:r>
            <a:r>
              <a:rPr lang="en-US"/>
              <a:t> </a:t>
            </a:r>
            <a:r>
              <a:rPr lang="en-US" err="1"/>
              <a:t>trình</a:t>
            </a:r>
            <a:r>
              <a:rPr lang="en-US"/>
              <a:t> </a:t>
            </a:r>
            <a:r>
              <a:rPr lang="en-US" err="1"/>
              <a:t>của</a:t>
            </a:r>
            <a:r>
              <a:rPr lang="en-US"/>
              <a:t> </a:t>
            </a:r>
            <a:r>
              <a:rPr lang="en-US" err="1"/>
              <a:t>doanh</a:t>
            </a:r>
            <a:r>
              <a:rPr lang="en-US"/>
              <a:t> </a:t>
            </a:r>
            <a:r>
              <a:rPr lang="en-US" err="1"/>
              <a:t>nghiệp</a:t>
            </a:r>
            <a:r>
              <a:rPr lang="en-US"/>
              <a:t>. </a:t>
            </a:r>
          </a:p>
          <a:p>
            <a:pPr marL="628650" lvl="0" indent="-514350" algn="just">
              <a:lnSpc>
                <a:spcPct val="110000"/>
              </a:lnSpc>
              <a:buFont typeface="+mj-lt"/>
              <a:buAutoNum type="arabicPeriod" startAt="5"/>
            </a:pPr>
            <a:r>
              <a:rPr lang="en-US" err="1"/>
              <a:t>Vì</a:t>
            </a:r>
            <a:r>
              <a:rPr lang="en-US"/>
              <a:t> </a:t>
            </a:r>
            <a:r>
              <a:rPr lang="en-US" err="1"/>
              <a:t>sao</a:t>
            </a:r>
            <a:r>
              <a:rPr lang="en-US"/>
              <a:t> </a:t>
            </a:r>
            <a:r>
              <a:rPr lang="en-US" err="1"/>
              <a:t>quan</a:t>
            </a:r>
            <a:r>
              <a:rPr lang="en-US"/>
              <a:t> </a:t>
            </a:r>
            <a:r>
              <a:rPr lang="en-US" err="1"/>
              <a:t>hệ</a:t>
            </a:r>
            <a:r>
              <a:rPr lang="en-US"/>
              <a:t> </a:t>
            </a:r>
            <a:r>
              <a:rPr lang="en-US" err="1"/>
              <a:t>cá</a:t>
            </a:r>
            <a:r>
              <a:rPr lang="en-US"/>
              <a:t> </a:t>
            </a:r>
            <a:r>
              <a:rPr lang="en-US" err="1"/>
              <a:t>nhân</a:t>
            </a:r>
            <a:r>
              <a:rPr lang="en-US"/>
              <a:t> </a:t>
            </a:r>
            <a:r>
              <a:rPr lang="en-US" err="1"/>
              <a:t>và</a:t>
            </a:r>
            <a:r>
              <a:rPr lang="en-US"/>
              <a:t> </a:t>
            </a:r>
            <a:r>
              <a:rPr lang="en-US" err="1"/>
              <a:t>động</a:t>
            </a:r>
            <a:r>
              <a:rPr lang="en-US"/>
              <a:t> </a:t>
            </a:r>
            <a:r>
              <a:rPr lang="en-US" err="1"/>
              <a:t>lực</a:t>
            </a:r>
            <a:r>
              <a:rPr lang="en-US"/>
              <a:t> </a:t>
            </a:r>
            <a:r>
              <a:rPr lang="en-US" err="1"/>
              <a:t>nhóm</a:t>
            </a:r>
            <a:r>
              <a:rPr lang="en-US"/>
              <a:t> </a:t>
            </a:r>
            <a:r>
              <a:rPr lang="en-US" err="1"/>
              <a:t>có</a:t>
            </a:r>
            <a:r>
              <a:rPr lang="en-US"/>
              <a:t> </a:t>
            </a:r>
            <a:r>
              <a:rPr lang="en-US" err="1"/>
              <a:t>thể</a:t>
            </a:r>
            <a:r>
              <a:rPr lang="en-US"/>
              <a:t> </a:t>
            </a:r>
            <a:r>
              <a:rPr lang="en-US" err="1"/>
              <a:t>làm</a:t>
            </a:r>
            <a:r>
              <a:rPr lang="en-US"/>
              <a:t> </a:t>
            </a:r>
            <a:r>
              <a:rPr lang="en-US" err="1"/>
              <a:t>thay</a:t>
            </a:r>
            <a:r>
              <a:rPr lang="en-US"/>
              <a:t> </a:t>
            </a:r>
            <a:r>
              <a:rPr lang="en-US" err="1"/>
              <a:t>đổi</a:t>
            </a:r>
            <a:r>
              <a:rPr lang="en-US"/>
              <a:t> </a:t>
            </a:r>
            <a:r>
              <a:rPr lang="en-US" err="1"/>
              <a:t>quyết</a:t>
            </a:r>
            <a:r>
              <a:rPr lang="en-US"/>
              <a:t> </a:t>
            </a:r>
            <a:r>
              <a:rPr lang="en-US" err="1"/>
              <a:t>định</a:t>
            </a:r>
            <a:r>
              <a:rPr lang="en-US"/>
              <a:t> </a:t>
            </a:r>
            <a:r>
              <a:rPr lang="en-US" err="1"/>
              <a:t>mua</a:t>
            </a:r>
            <a:r>
              <a:rPr lang="en-US"/>
              <a:t> </a:t>
            </a:r>
            <a:r>
              <a:rPr lang="en-US" err="1"/>
              <a:t>của</a:t>
            </a:r>
            <a:r>
              <a:rPr lang="en-US"/>
              <a:t> </a:t>
            </a:r>
            <a:r>
              <a:rPr lang="en-US" err="1"/>
              <a:t>tổ</a:t>
            </a:r>
            <a:r>
              <a:rPr lang="en-US"/>
              <a:t> </a:t>
            </a:r>
            <a:r>
              <a:rPr lang="en-US" err="1"/>
              <a:t>chức</a:t>
            </a:r>
            <a:r>
              <a:rPr lang="en-US"/>
              <a:t>? </a:t>
            </a:r>
          </a:p>
          <a:p>
            <a:pPr marL="628650" lvl="0" indent="-514350" algn="just">
              <a:lnSpc>
                <a:spcPct val="110000"/>
              </a:lnSpc>
              <a:buFont typeface="+mj-lt"/>
              <a:buAutoNum type="arabicPeriod" startAt="5"/>
            </a:pPr>
            <a:r>
              <a:rPr lang="en-US" err="1"/>
              <a:t>Những</a:t>
            </a:r>
            <a:r>
              <a:rPr lang="en-US"/>
              <a:t> </a:t>
            </a:r>
            <a:r>
              <a:rPr lang="en-US" err="1"/>
              <a:t>đặc</a:t>
            </a:r>
            <a:r>
              <a:rPr lang="en-US"/>
              <a:t> </a:t>
            </a:r>
            <a:r>
              <a:rPr lang="en-US" err="1"/>
              <a:t>điểm</a:t>
            </a:r>
            <a:r>
              <a:rPr lang="en-US"/>
              <a:t> </a:t>
            </a:r>
            <a:r>
              <a:rPr lang="en-US" err="1"/>
              <a:t>cá</a:t>
            </a:r>
            <a:r>
              <a:rPr lang="en-US"/>
              <a:t> </a:t>
            </a:r>
            <a:r>
              <a:rPr lang="en-US" err="1"/>
              <a:t>nhân</a:t>
            </a:r>
            <a:r>
              <a:rPr lang="en-US"/>
              <a:t> </a:t>
            </a:r>
            <a:r>
              <a:rPr lang="en-US" err="1"/>
              <a:t>nào</a:t>
            </a:r>
            <a:r>
              <a:rPr lang="en-US"/>
              <a:t> </a:t>
            </a:r>
            <a:r>
              <a:rPr lang="en-US" err="1"/>
              <a:t>của</a:t>
            </a:r>
            <a:r>
              <a:rPr lang="en-US"/>
              <a:t> </a:t>
            </a:r>
            <a:r>
              <a:rPr lang="en-US" err="1"/>
              <a:t>người</a:t>
            </a:r>
            <a:r>
              <a:rPr lang="en-US"/>
              <a:t> </a:t>
            </a:r>
            <a:r>
              <a:rPr lang="en-US" err="1"/>
              <a:t>tham</a:t>
            </a:r>
            <a:r>
              <a:rPr lang="en-US"/>
              <a:t> </a:t>
            </a:r>
            <a:r>
              <a:rPr lang="en-US" err="1"/>
              <a:t>gia</a:t>
            </a:r>
            <a:r>
              <a:rPr lang="en-US"/>
              <a:t> </a:t>
            </a:r>
            <a:r>
              <a:rPr lang="en-US" err="1"/>
              <a:t>trung</a:t>
            </a:r>
            <a:r>
              <a:rPr lang="en-US"/>
              <a:t> </a:t>
            </a:r>
            <a:r>
              <a:rPr lang="en-US" err="1"/>
              <a:t>tâm</a:t>
            </a:r>
            <a:r>
              <a:rPr lang="en-US"/>
              <a:t> </a:t>
            </a:r>
            <a:r>
              <a:rPr lang="en-US" err="1"/>
              <a:t>mua</a:t>
            </a:r>
            <a:r>
              <a:rPr lang="en-US"/>
              <a:t> </a:t>
            </a:r>
            <a:r>
              <a:rPr lang="en-US" err="1"/>
              <a:t>có</a:t>
            </a:r>
            <a:r>
              <a:rPr lang="en-US"/>
              <a:t> </a:t>
            </a:r>
            <a:r>
              <a:rPr lang="en-US" err="1"/>
              <a:t>thể</a:t>
            </a:r>
            <a:r>
              <a:rPr lang="en-US"/>
              <a:t> </a:t>
            </a:r>
            <a:r>
              <a:rPr lang="en-US" err="1"/>
              <a:t>ảnh</a:t>
            </a:r>
            <a:r>
              <a:rPr lang="en-US"/>
              <a:t> </a:t>
            </a:r>
            <a:r>
              <a:rPr lang="en-US" err="1"/>
              <a:t>hưởng</a:t>
            </a:r>
            <a:r>
              <a:rPr lang="en-US"/>
              <a:t> </a:t>
            </a:r>
            <a:r>
              <a:rPr lang="en-US" err="1"/>
              <a:t>đến</a:t>
            </a:r>
            <a:r>
              <a:rPr lang="en-US"/>
              <a:t> </a:t>
            </a:r>
            <a:r>
              <a:rPr lang="en-US" err="1"/>
              <a:t>quyết</a:t>
            </a:r>
            <a:r>
              <a:rPr lang="en-US"/>
              <a:t> </a:t>
            </a:r>
            <a:r>
              <a:rPr lang="en-US" err="1"/>
              <a:t>định</a:t>
            </a:r>
            <a:r>
              <a:rPr lang="en-US"/>
              <a:t> </a:t>
            </a:r>
            <a:r>
              <a:rPr lang="en-US" err="1"/>
              <a:t>mua</a:t>
            </a:r>
            <a:r>
              <a:rPr lang="en-US"/>
              <a:t>?</a:t>
            </a:r>
          </a:p>
          <a:p>
            <a:pPr marL="114300" indent="0" algn="just">
              <a:lnSpc>
                <a:spcPct val="110000"/>
              </a:lnSpc>
              <a:buNone/>
            </a:pPr>
            <a:endParaRPr lang="en-US"/>
          </a:p>
        </p:txBody>
      </p:sp>
    </p:spTree>
    <p:extLst>
      <p:ext uri="{BB962C8B-B14F-4D97-AF65-F5344CB8AC3E}">
        <p14:creationId xmlns:p14="http://schemas.microsoft.com/office/powerpoint/2010/main" val="3635381063"/>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E5926-B192-A8DB-4CEF-5116FEF304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CC4B7A-1EAE-5562-9320-56B846ABAA2F}"/>
              </a:ext>
            </a:extLst>
          </p:cNvPr>
          <p:cNvSpPr>
            <a:spLocks noGrp="1"/>
          </p:cNvSpPr>
          <p:nvPr>
            <p:ph type="title"/>
          </p:nvPr>
        </p:nvSpPr>
        <p:spPr/>
        <p:txBody>
          <a:bodyPr>
            <a:normAutofit/>
          </a:bodyPr>
          <a:lstStyle/>
          <a:p>
            <a:r>
              <a:rPr lang="en-US" sz="4000" b="1" err="1"/>
              <a:t>Câu</a:t>
            </a:r>
            <a:r>
              <a:rPr lang="en-US" sz="4000" b="1"/>
              <a:t> </a:t>
            </a:r>
            <a:r>
              <a:rPr lang="en-US" sz="4000" b="1" err="1"/>
              <a:t>hỏi</a:t>
            </a:r>
            <a:r>
              <a:rPr lang="en-US" sz="4000" b="1"/>
              <a:t> </a:t>
            </a:r>
            <a:r>
              <a:rPr lang="en-US" sz="4000" b="1" err="1"/>
              <a:t>ôn</a:t>
            </a:r>
            <a:r>
              <a:rPr lang="en-US" sz="4000" b="1"/>
              <a:t> </a:t>
            </a:r>
            <a:r>
              <a:rPr lang="en-US" sz="4000" b="1" err="1"/>
              <a:t>tập</a:t>
            </a:r>
            <a:endParaRPr lang="en-US" sz="4000" b="1"/>
          </a:p>
        </p:txBody>
      </p:sp>
      <p:sp>
        <p:nvSpPr>
          <p:cNvPr id="3" name="Text Placeholder 2">
            <a:extLst>
              <a:ext uri="{FF2B5EF4-FFF2-40B4-BE49-F238E27FC236}">
                <a16:creationId xmlns:a16="http://schemas.microsoft.com/office/drawing/2014/main" id="{06B8142B-BF88-F7CD-20B9-079910C28A41}"/>
              </a:ext>
            </a:extLst>
          </p:cNvPr>
          <p:cNvSpPr>
            <a:spLocks noGrp="1"/>
          </p:cNvSpPr>
          <p:nvPr>
            <p:ph type="body" idx="1"/>
          </p:nvPr>
        </p:nvSpPr>
        <p:spPr>
          <a:xfrm>
            <a:off x="838200" y="1505666"/>
            <a:ext cx="10515600" cy="4671297"/>
          </a:xfrm>
        </p:spPr>
        <p:txBody>
          <a:bodyPr>
            <a:normAutofit lnSpcReduction="10000"/>
          </a:bodyPr>
          <a:lstStyle/>
          <a:p>
            <a:pPr marL="628650" lvl="0" indent="-514350" algn="just">
              <a:lnSpc>
                <a:spcPct val="150000"/>
              </a:lnSpc>
              <a:buFont typeface="+mj-lt"/>
              <a:buAutoNum type="arabicPeriod" startAt="10"/>
            </a:pPr>
            <a:r>
              <a:rPr lang="en-US" b="1" err="1">
                <a:latin typeface="+mj-lt"/>
              </a:rPr>
              <a:t>Tình</a:t>
            </a:r>
            <a:r>
              <a:rPr lang="en-US" b="1">
                <a:latin typeface="+mj-lt"/>
              </a:rPr>
              <a:t> </a:t>
            </a:r>
            <a:r>
              <a:rPr lang="en-US" b="1" err="1">
                <a:latin typeface="+mj-lt"/>
              </a:rPr>
              <a:t>huống</a:t>
            </a:r>
            <a:r>
              <a:rPr lang="en-US" b="1">
                <a:latin typeface="+mj-lt"/>
              </a:rPr>
              <a:t> </a:t>
            </a:r>
            <a:r>
              <a:rPr lang="en-US" b="1" err="1">
                <a:latin typeface="+mj-lt"/>
              </a:rPr>
              <a:t>vận</a:t>
            </a:r>
            <a:r>
              <a:rPr lang="en-US" b="1">
                <a:latin typeface="+mj-lt"/>
              </a:rPr>
              <a:t> </a:t>
            </a:r>
            <a:r>
              <a:rPr lang="en-US" b="1" err="1">
                <a:latin typeface="+mj-lt"/>
              </a:rPr>
              <a:t>dụng</a:t>
            </a:r>
            <a:r>
              <a:rPr lang="en-US" b="1">
                <a:latin typeface="+mj-lt"/>
              </a:rPr>
              <a:t>:</a:t>
            </a:r>
            <a:r>
              <a:rPr lang="en-US">
                <a:latin typeface="+mj-lt"/>
              </a:rPr>
              <a:t> </a:t>
            </a:r>
            <a:r>
              <a:rPr lang="en-US" err="1">
                <a:latin typeface="+mj-lt"/>
              </a:rPr>
              <a:t>Một</a:t>
            </a:r>
            <a:r>
              <a:rPr lang="en-US">
                <a:latin typeface="+mj-lt"/>
              </a:rPr>
              <a:t> </a:t>
            </a:r>
            <a:r>
              <a:rPr lang="en-US" err="1">
                <a:latin typeface="+mj-lt"/>
              </a:rPr>
              <a:t>doanh</a:t>
            </a:r>
            <a:r>
              <a:rPr lang="en-US">
                <a:latin typeface="+mj-lt"/>
              </a:rPr>
              <a:t> </a:t>
            </a:r>
            <a:r>
              <a:rPr lang="en-US" err="1">
                <a:latin typeface="+mj-lt"/>
              </a:rPr>
              <a:t>nghiệp</a:t>
            </a:r>
            <a:r>
              <a:rPr lang="en-US">
                <a:latin typeface="+mj-lt"/>
              </a:rPr>
              <a:t> </a:t>
            </a:r>
            <a:r>
              <a:rPr lang="en-US" err="1">
                <a:latin typeface="+mj-lt"/>
              </a:rPr>
              <a:t>đang</a:t>
            </a:r>
            <a:r>
              <a:rPr lang="en-US">
                <a:latin typeface="+mj-lt"/>
              </a:rPr>
              <a:t> </a:t>
            </a:r>
            <a:r>
              <a:rPr lang="en-US" err="1">
                <a:latin typeface="+mj-lt"/>
              </a:rPr>
              <a:t>lựa</a:t>
            </a:r>
            <a:r>
              <a:rPr lang="en-US">
                <a:latin typeface="+mj-lt"/>
              </a:rPr>
              <a:t> </a:t>
            </a:r>
            <a:r>
              <a:rPr lang="en-US" err="1">
                <a:latin typeface="+mj-lt"/>
              </a:rPr>
              <a:t>chọn</a:t>
            </a:r>
            <a:r>
              <a:rPr lang="en-US">
                <a:latin typeface="+mj-lt"/>
              </a:rPr>
              <a:t> </a:t>
            </a:r>
            <a:r>
              <a:rPr lang="en-US" err="1">
                <a:latin typeface="+mj-lt"/>
              </a:rPr>
              <a:t>nhà</a:t>
            </a:r>
            <a:r>
              <a:rPr lang="en-US">
                <a:latin typeface="+mj-lt"/>
              </a:rPr>
              <a:t> </a:t>
            </a:r>
            <a:r>
              <a:rPr lang="en-US" err="1">
                <a:latin typeface="+mj-lt"/>
              </a:rPr>
              <a:t>cung</a:t>
            </a:r>
            <a:r>
              <a:rPr lang="en-US">
                <a:latin typeface="+mj-lt"/>
              </a:rPr>
              <a:t> </a:t>
            </a:r>
            <a:r>
              <a:rPr lang="en-US" err="1">
                <a:latin typeface="+mj-lt"/>
              </a:rPr>
              <a:t>cấp</a:t>
            </a:r>
            <a:r>
              <a:rPr lang="en-US">
                <a:latin typeface="+mj-lt"/>
              </a:rPr>
              <a:t> </a:t>
            </a:r>
            <a:r>
              <a:rPr lang="en-US" err="1">
                <a:latin typeface="+mj-lt"/>
              </a:rPr>
              <a:t>nguyên</a:t>
            </a:r>
            <a:r>
              <a:rPr lang="en-US">
                <a:latin typeface="+mj-lt"/>
              </a:rPr>
              <a:t> </a:t>
            </a:r>
            <a:r>
              <a:rPr lang="en-US" err="1">
                <a:latin typeface="+mj-lt"/>
              </a:rPr>
              <a:t>vật</a:t>
            </a:r>
            <a:r>
              <a:rPr lang="en-US">
                <a:latin typeface="+mj-lt"/>
              </a:rPr>
              <a:t> </a:t>
            </a:r>
            <a:r>
              <a:rPr lang="en-US" err="1">
                <a:latin typeface="+mj-lt"/>
              </a:rPr>
              <a:t>liệu</a:t>
            </a:r>
            <a:r>
              <a:rPr lang="en-US">
                <a:latin typeface="+mj-lt"/>
              </a:rPr>
              <a:t> </a:t>
            </a:r>
            <a:r>
              <a:rPr lang="en-US" err="1">
                <a:latin typeface="+mj-lt"/>
              </a:rPr>
              <a:t>mới</a:t>
            </a:r>
            <a:r>
              <a:rPr lang="en-US">
                <a:latin typeface="+mj-lt"/>
              </a:rPr>
              <a:t>. </a:t>
            </a:r>
            <a:r>
              <a:rPr lang="en-US" err="1">
                <a:latin typeface="+mj-lt"/>
              </a:rPr>
              <a:t>Hãy</a:t>
            </a:r>
            <a:r>
              <a:rPr lang="en-US">
                <a:latin typeface="+mj-lt"/>
              </a:rPr>
              <a:t> </a:t>
            </a:r>
            <a:r>
              <a:rPr lang="en-US" err="1">
                <a:latin typeface="+mj-lt"/>
              </a:rPr>
              <a:t>sử</a:t>
            </a:r>
            <a:r>
              <a:rPr lang="en-US">
                <a:latin typeface="+mj-lt"/>
              </a:rPr>
              <a:t> </a:t>
            </a:r>
            <a:r>
              <a:rPr lang="en-US" err="1">
                <a:latin typeface="+mj-lt"/>
              </a:rPr>
              <a:t>dụng</a:t>
            </a:r>
            <a:r>
              <a:rPr lang="en-US">
                <a:latin typeface="+mj-lt"/>
              </a:rPr>
              <a:t> </a:t>
            </a:r>
            <a:r>
              <a:rPr lang="en-US" err="1">
                <a:latin typeface="+mj-lt"/>
              </a:rPr>
              <a:t>mô</a:t>
            </a:r>
            <a:r>
              <a:rPr lang="en-US">
                <a:latin typeface="+mj-lt"/>
              </a:rPr>
              <a:t> </a:t>
            </a:r>
            <a:r>
              <a:rPr lang="en-US" err="1">
                <a:latin typeface="+mj-lt"/>
              </a:rPr>
              <a:t>hình</a:t>
            </a:r>
            <a:r>
              <a:rPr lang="en-US">
                <a:latin typeface="+mj-lt"/>
              </a:rPr>
              <a:t> </a:t>
            </a:r>
            <a:r>
              <a:rPr lang="en-US" err="1">
                <a:latin typeface="+mj-lt"/>
              </a:rPr>
              <a:t>hành</a:t>
            </a:r>
            <a:r>
              <a:rPr lang="en-US">
                <a:latin typeface="+mj-lt"/>
              </a:rPr>
              <a:t> vi </a:t>
            </a:r>
            <a:r>
              <a:rPr lang="en-US" err="1">
                <a:latin typeface="+mj-lt"/>
              </a:rPr>
              <a:t>mua</a:t>
            </a:r>
            <a:r>
              <a:rPr lang="en-US">
                <a:latin typeface="+mj-lt"/>
              </a:rPr>
              <a:t> </a:t>
            </a:r>
            <a:r>
              <a:rPr lang="en-US" err="1">
                <a:latin typeface="+mj-lt"/>
              </a:rPr>
              <a:t>của</a:t>
            </a:r>
            <a:r>
              <a:rPr lang="en-US">
                <a:latin typeface="+mj-lt"/>
              </a:rPr>
              <a:t> </a:t>
            </a:r>
            <a:r>
              <a:rPr lang="en-US" err="1">
                <a:latin typeface="+mj-lt"/>
              </a:rPr>
              <a:t>khách</a:t>
            </a:r>
            <a:r>
              <a:rPr lang="en-US">
                <a:latin typeface="+mj-lt"/>
              </a:rPr>
              <a:t> </a:t>
            </a:r>
            <a:r>
              <a:rPr lang="en-US" err="1">
                <a:latin typeface="+mj-lt"/>
              </a:rPr>
              <a:t>hàng</a:t>
            </a:r>
            <a:r>
              <a:rPr lang="en-US">
                <a:latin typeface="+mj-lt"/>
              </a:rPr>
              <a:t> </a:t>
            </a:r>
            <a:r>
              <a:rPr lang="en-US" err="1">
                <a:latin typeface="+mj-lt"/>
              </a:rPr>
              <a:t>tổ</a:t>
            </a:r>
            <a:r>
              <a:rPr lang="en-US">
                <a:latin typeface="+mj-lt"/>
              </a:rPr>
              <a:t> </a:t>
            </a:r>
            <a:r>
              <a:rPr lang="en-US" err="1">
                <a:latin typeface="+mj-lt"/>
              </a:rPr>
              <a:t>chức</a:t>
            </a:r>
            <a:r>
              <a:rPr lang="en-US">
                <a:latin typeface="+mj-lt"/>
              </a:rPr>
              <a:t> </a:t>
            </a:r>
            <a:r>
              <a:rPr lang="en-US" err="1">
                <a:latin typeface="+mj-lt"/>
              </a:rPr>
              <a:t>để</a:t>
            </a:r>
            <a:r>
              <a:rPr lang="en-US">
                <a:latin typeface="+mj-lt"/>
              </a:rPr>
              <a:t> </a:t>
            </a:r>
            <a:r>
              <a:rPr lang="en-US" err="1">
                <a:latin typeface="+mj-lt"/>
              </a:rPr>
              <a:t>xác</a:t>
            </a:r>
            <a:r>
              <a:rPr lang="en-US">
                <a:latin typeface="+mj-lt"/>
              </a:rPr>
              <a:t> </a:t>
            </a:r>
            <a:r>
              <a:rPr lang="en-US" err="1">
                <a:latin typeface="+mj-lt"/>
              </a:rPr>
              <a:t>định</a:t>
            </a:r>
            <a:r>
              <a:rPr lang="en-US">
                <a:latin typeface="+mj-lt"/>
              </a:rPr>
              <a:t>: </a:t>
            </a:r>
          </a:p>
          <a:p>
            <a:pPr lvl="1" algn="just">
              <a:lnSpc>
                <a:spcPct val="150000"/>
              </a:lnSpc>
            </a:pPr>
            <a:r>
              <a:rPr lang="en-US" sz="2800" err="1">
                <a:latin typeface="+mj-lt"/>
              </a:rPr>
              <a:t>Những</a:t>
            </a:r>
            <a:r>
              <a:rPr lang="en-US" sz="2800">
                <a:latin typeface="+mj-lt"/>
              </a:rPr>
              <a:t> </a:t>
            </a:r>
            <a:r>
              <a:rPr lang="en-US" sz="2800" err="1">
                <a:latin typeface="+mj-lt"/>
              </a:rPr>
              <a:t>yếu</a:t>
            </a:r>
            <a:r>
              <a:rPr lang="en-US" sz="2800">
                <a:latin typeface="+mj-lt"/>
              </a:rPr>
              <a:t> </a:t>
            </a:r>
            <a:r>
              <a:rPr lang="en-US" sz="2800" err="1">
                <a:latin typeface="+mj-lt"/>
              </a:rPr>
              <a:t>tố</a:t>
            </a:r>
            <a:r>
              <a:rPr lang="en-US" sz="2800">
                <a:latin typeface="+mj-lt"/>
              </a:rPr>
              <a:t> </a:t>
            </a:r>
            <a:r>
              <a:rPr lang="en-US" sz="2800" err="1">
                <a:latin typeface="+mj-lt"/>
              </a:rPr>
              <a:t>có</a:t>
            </a:r>
            <a:r>
              <a:rPr lang="en-US" sz="2800">
                <a:latin typeface="+mj-lt"/>
              </a:rPr>
              <a:t> </a:t>
            </a:r>
            <a:r>
              <a:rPr lang="en-US" sz="2800" err="1">
                <a:latin typeface="+mj-lt"/>
              </a:rPr>
              <a:t>thể</a:t>
            </a:r>
            <a:r>
              <a:rPr lang="en-US" sz="2800">
                <a:latin typeface="+mj-lt"/>
              </a:rPr>
              <a:t> </a:t>
            </a:r>
            <a:r>
              <a:rPr lang="en-US" sz="2800" err="1">
                <a:latin typeface="+mj-lt"/>
              </a:rPr>
              <a:t>ảnh</a:t>
            </a:r>
            <a:r>
              <a:rPr lang="en-US" sz="2800">
                <a:latin typeface="+mj-lt"/>
              </a:rPr>
              <a:t> </a:t>
            </a:r>
            <a:r>
              <a:rPr lang="en-US" sz="2800" err="1">
                <a:latin typeface="+mj-lt"/>
              </a:rPr>
              <a:t>hưởng</a:t>
            </a:r>
            <a:r>
              <a:rPr lang="en-US" sz="2800">
                <a:latin typeface="+mj-lt"/>
              </a:rPr>
              <a:t> </a:t>
            </a:r>
            <a:r>
              <a:rPr lang="en-US" sz="2800" err="1">
                <a:latin typeface="+mj-lt"/>
              </a:rPr>
              <a:t>đến</a:t>
            </a:r>
            <a:r>
              <a:rPr lang="en-US" sz="2800">
                <a:latin typeface="+mj-lt"/>
              </a:rPr>
              <a:t> </a:t>
            </a:r>
            <a:r>
              <a:rPr lang="en-US" sz="2800" err="1">
                <a:latin typeface="+mj-lt"/>
              </a:rPr>
              <a:t>quyết</a:t>
            </a:r>
            <a:r>
              <a:rPr lang="en-US" sz="2800">
                <a:latin typeface="+mj-lt"/>
              </a:rPr>
              <a:t> </a:t>
            </a:r>
            <a:r>
              <a:rPr lang="en-US" sz="2800" err="1">
                <a:latin typeface="+mj-lt"/>
              </a:rPr>
              <a:t>định</a:t>
            </a:r>
            <a:r>
              <a:rPr lang="en-US" sz="2800">
                <a:latin typeface="+mj-lt"/>
              </a:rPr>
              <a:t>; </a:t>
            </a:r>
          </a:p>
          <a:p>
            <a:pPr lvl="1" algn="just">
              <a:lnSpc>
                <a:spcPct val="150000"/>
              </a:lnSpc>
            </a:pPr>
            <a:r>
              <a:rPr lang="en-US" sz="2800" err="1">
                <a:latin typeface="+mj-lt"/>
              </a:rPr>
              <a:t>Những</a:t>
            </a:r>
            <a:r>
              <a:rPr lang="en-US" sz="2800">
                <a:latin typeface="+mj-lt"/>
              </a:rPr>
              <a:t> </a:t>
            </a:r>
            <a:r>
              <a:rPr lang="en-US" sz="2800" err="1">
                <a:latin typeface="+mj-lt"/>
              </a:rPr>
              <a:t>người</a:t>
            </a:r>
            <a:r>
              <a:rPr lang="en-US" sz="2800">
                <a:latin typeface="+mj-lt"/>
              </a:rPr>
              <a:t> </a:t>
            </a:r>
            <a:r>
              <a:rPr lang="en-US" sz="2800" err="1">
                <a:latin typeface="+mj-lt"/>
              </a:rPr>
              <a:t>có</a:t>
            </a:r>
            <a:r>
              <a:rPr lang="en-US" sz="2800">
                <a:latin typeface="+mj-lt"/>
              </a:rPr>
              <a:t> </a:t>
            </a:r>
            <a:r>
              <a:rPr lang="en-US" sz="2800" err="1">
                <a:latin typeface="+mj-lt"/>
              </a:rPr>
              <a:t>thể</a:t>
            </a:r>
            <a:r>
              <a:rPr lang="en-US" sz="2800">
                <a:latin typeface="+mj-lt"/>
              </a:rPr>
              <a:t> </a:t>
            </a:r>
            <a:r>
              <a:rPr lang="en-US" sz="2800" err="1">
                <a:latin typeface="+mj-lt"/>
              </a:rPr>
              <a:t>tham</a:t>
            </a:r>
            <a:r>
              <a:rPr lang="en-US" sz="2800">
                <a:latin typeface="+mj-lt"/>
              </a:rPr>
              <a:t> </a:t>
            </a:r>
            <a:r>
              <a:rPr lang="en-US" sz="2800" err="1">
                <a:latin typeface="+mj-lt"/>
              </a:rPr>
              <a:t>gia</a:t>
            </a:r>
            <a:r>
              <a:rPr lang="en-US" sz="2800">
                <a:latin typeface="+mj-lt"/>
              </a:rPr>
              <a:t> </a:t>
            </a:r>
            <a:r>
              <a:rPr lang="en-US" sz="2800" err="1">
                <a:latin typeface="+mj-lt"/>
              </a:rPr>
              <a:t>vào</a:t>
            </a:r>
            <a:r>
              <a:rPr lang="en-US" sz="2800">
                <a:latin typeface="+mj-lt"/>
              </a:rPr>
              <a:t> </a:t>
            </a:r>
            <a:r>
              <a:rPr lang="en-US" sz="2800" err="1">
                <a:latin typeface="+mj-lt"/>
              </a:rPr>
              <a:t>trung</a:t>
            </a:r>
            <a:r>
              <a:rPr lang="en-US" sz="2800">
                <a:latin typeface="+mj-lt"/>
              </a:rPr>
              <a:t> </a:t>
            </a:r>
            <a:r>
              <a:rPr lang="en-US" sz="2800" err="1">
                <a:latin typeface="+mj-lt"/>
              </a:rPr>
              <a:t>tâm</a:t>
            </a:r>
            <a:r>
              <a:rPr lang="en-US" sz="2800">
                <a:latin typeface="+mj-lt"/>
              </a:rPr>
              <a:t> </a:t>
            </a:r>
            <a:r>
              <a:rPr lang="en-US" sz="2800" err="1">
                <a:latin typeface="+mj-lt"/>
              </a:rPr>
              <a:t>mua</a:t>
            </a:r>
            <a:r>
              <a:rPr lang="en-US" sz="2800">
                <a:latin typeface="+mj-lt"/>
              </a:rPr>
              <a:t>; </a:t>
            </a:r>
          </a:p>
          <a:p>
            <a:pPr lvl="1" algn="just">
              <a:lnSpc>
                <a:spcPct val="150000"/>
              </a:lnSpc>
            </a:pPr>
            <a:r>
              <a:rPr lang="en-US" sz="2800">
                <a:latin typeface="+mj-lt"/>
              </a:rPr>
              <a:t>Các </a:t>
            </a:r>
            <a:r>
              <a:rPr lang="en-US" sz="2800" err="1">
                <a:latin typeface="+mj-lt"/>
              </a:rPr>
              <a:t>phản</a:t>
            </a:r>
            <a:r>
              <a:rPr lang="en-US" sz="2800">
                <a:latin typeface="+mj-lt"/>
              </a:rPr>
              <a:t> </a:t>
            </a:r>
            <a:r>
              <a:rPr lang="en-US" sz="2800" err="1">
                <a:latin typeface="+mj-lt"/>
              </a:rPr>
              <a:t>ứng</a:t>
            </a:r>
            <a:r>
              <a:rPr lang="en-US" sz="2800">
                <a:latin typeface="+mj-lt"/>
              </a:rPr>
              <a:t> </a:t>
            </a:r>
            <a:r>
              <a:rPr lang="en-US" sz="2800" err="1">
                <a:latin typeface="+mj-lt"/>
              </a:rPr>
              <a:t>mua</a:t>
            </a:r>
            <a:r>
              <a:rPr lang="en-US" sz="2800">
                <a:latin typeface="+mj-lt"/>
              </a:rPr>
              <a:t> </a:t>
            </a:r>
            <a:r>
              <a:rPr lang="en-US" sz="2800" err="1">
                <a:latin typeface="+mj-lt"/>
              </a:rPr>
              <a:t>mà</a:t>
            </a:r>
            <a:r>
              <a:rPr lang="en-US" sz="2800">
                <a:latin typeface="+mj-lt"/>
              </a:rPr>
              <a:t> </a:t>
            </a:r>
            <a:r>
              <a:rPr lang="en-US" sz="2800" err="1">
                <a:latin typeface="+mj-lt"/>
              </a:rPr>
              <a:t>doanh</a:t>
            </a:r>
            <a:r>
              <a:rPr lang="en-US" sz="2800">
                <a:latin typeface="+mj-lt"/>
              </a:rPr>
              <a:t> </a:t>
            </a:r>
            <a:r>
              <a:rPr lang="en-US" sz="2800" err="1">
                <a:latin typeface="+mj-lt"/>
              </a:rPr>
              <a:t>nghiệp</a:t>
            </a:r>
            <a:r>
              <a:rPr lang="en-US" sz="2800">
                <a:latin typeface="+mj-lt"/>
              </a:rPr>
              <a:t> </a:t>
            </a:r>
            <a:r>
              <a:rPr lang="en-US" sz="2800" err="1">
                <a:latin typeface="+mj-lt"/>
              </a:rPr>
              <a:t>có</a:t>
            </a:r>
            <a:r>
              <a:rPr lang="en-US" sz="2800">
                <a:latin typeface="+mj-lt"/>
              </a:rPr>
              <a:t> </a:t>
            </a:r>
            <a:r>
              <a:rPr lang="en-US" sz="2800" err="1">
                <a:latin typeface="+mj-lt"/>
              </a:rPr>
              <a:t>thể</a:t>
            </a:r>
            <a:r>
              <a:rPr lang="en-US" sz="2800">
                <a:latin typeface="+mj-lt"/>
              </a:rPr>
              <a:t> </a:t>
            </a:r>
            <a:r>
              <a:rPr lang="en-US" sz="2800" err="1">
                <a:latin typeface="+mj-lt"/>
              </a:rPr>
              <a:t>đưa</a:t>
            </a:r>
            <a:r>
              <a:rPr lang="en-US" sz="2800">
                <a:latin typeface="+mj-lt"/>
              </a:rPr>
              <a:t> </a:t>
            </a:r>
            <a:r>
              <a:rPr lang="en-US" sz="2800" err="1">
                <a:latin typeface="+mj-lt"/>
              </a:rPr>
              <a:t>ra</a:t>
            </a:r>
            <a:r>
              <a:rPr lang="en-US" sz="2800">
                <a:latin typeface="+mj-lt"/>
              </a:rPr>
              <a:t>; </a:t>
            </a:r>
          </a:p>
          <a:p>
            <a:pPr lvl="1" algn="just">
              <a:lnSpc>
                <a:spcPct val="150000"/>
              </a:lnSpc>
            </a:pPr>
            <a:r>
              <a:rPr lang="en-US" sz="2800" err="1">
                <a:latin typeface="+mj-lt"/>
              </a:rPr>
              <a:t>Hàm</a:t>
            </a:r>
            <a:r>
              <a:rPr lang="en-US" sz="2800">
                <a:latin typeface="+mj-lt"/>
              </a:rPr>
              <a:t> ý marketing </a:t>
            </a:r>
            <a:r>
              <a:rPr lang="en-US" sz="2800" err="1">
                <a:latin typeface="+mj-lt"/>
              </a:rPr>
              <a:t>đối</a:t>
            </a:r>
            <a:r>
              <a:rPr lang="en-US" sz="2800">
                <a:latin typeface="+mj-lt"/>
              </a:rPr>
              <a:t> </a:t>
            </a:r>
            <a:r>
              <a:rPr lang="en-US" sz="2800" err="1">
                <a:latin typeface="+mj-lt"/>
              </a:rPr>
              <a:t>với</a:t>
            </a:r>
            <a:r>
              <a:rPr lang="en-US" sz="2800">
                <a:latin typeface="+mj-lt"/>
              </a:rPr>
              <a:t> </a:t>
            </a:r>
            <a:r>
              <a:rPr lang="en-US" sz="2800" err="1">
                <a:latin typeface="+mj-lt"/>
              </a:rPr>
              <a:t>nhà</a:t>
            </a:r>
            <a:r>
              <a:rPr lang="en-US" sz="2800">
                <a:latin typeface="+mj-lt"/>
              </a:rPr>
              <a:t> </a:t>
            </a:r>
            <a:r>
              <a:rPr lang="en-US" sz="2800" err="1">
                <a:latin typeface="+mj-lt"/>
              </a:rPr>
              <a:t>cung</a:t>
            </a:r>
            <a:r>
              <a:rPr lang="en-US" sz="2800">
                <a:latin typeface="+mj-lt"/>
              </a:rPr>
              <a:t> </a:t>
            </a:r>
            <a:r>
              <a:rPr lang="en-US" sz="2800" err="1">
                <a:latin typeface="+mj-lt"/>
              </a:rPr>
              <a:t>cấp</a:t>
            </a:r>
            <a:r>
              <a:rPr lang="en-US" sz="2800">
                <a:latin typeface="+mj-lt"/>
              </a:rPr>
              <a:t>.</a:t>
            </a:r>
          </a:p>
          <a:p>
            <a:pPr marL="114300" indent="0" algn="just">
              <a:lnSpc>
                <a:spcPct val="110000"/>
              </a:lnSpc>
              <a:buNone/>
            </a:pPr>
            <a:endParaRPr lang="en-US"/>
          </a:p>
        </p:txBody>
      </p:sp>
    </p:spTree>
    <p:extLst>
      <p:ext uri="{BB962C8B-B14F-4D97-AF65-F5344CB8AC3E}">
        <p14:creationId xmlns:p14="http://schemas.microsoft.com/office/powerpoint/2010/main" val="2490576899"/>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Shape 3031"/>
        <p:cNvGrpSpPr/>
        <p:nvPr/>
      </p:nvGrpSpPr>
      <p:grpSpPr>
        <a:xfrm>
          <a:off x="0" y="0"/>
          <a:ext cx="0" cy="0"/>
          <a:chOff x="0" y="0"/>
          <a:chExt cx="0" cy="0"/>
        </a:xfrm>
      </p:grpSpPr>
      <p:sp>
        <p:nvSpPr>
          <p:cNvPr id="3032" name="Google Shape;3032;p387"/>
          <p:cNvSpPr txBox="1">
            <a:spLocks noGrp="1"/>
          </p:cNvSpPr>
          <p:nvPr>
            <p:ph type="ctrTitle"/>
          </p:nvPr>
        </p:nvSpPr>
        <p:spPr>
          <a:xfrm>
            <a:off x="417195" y="2435882"/>
            <a:ext cx="11774805" cy="3387725"/>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SzPts val="6000"/>
              <a:buNone/>
            </a:pPr>
            <a:br>
              <a:rPr lang="en-US" sz="4000" b="1">
                <a:latin typeface="Arial"/>
                <a:ea typeface="Arial"/>
                <a:cs typeface="Arial"/>
                <a:sym typeface="Arial"/>
              </a:rPr>
            </a:br>
            <a:br>
              <a:rPr lang="en-US" sz="4000" b="1">
                <a:latin typeface="Arial"/>
                <a:ea typeface="Arial"/>
                <a:cs typeface="Arial"/>
                <a:sym typeface="Arial"/>
              </a:rPr>
            </a:br>
            <a:r>
              <a:rPr lang="en-US" sz="4800" b="1">
                <a:latin typeface="Arial"/>
                <a:ea typeface="Arial"/>
                <a:cs typeface="Arial"/>
                <a:sym typeface="Arial"/>
              </a:rPr>
              <a:t>CHƯƠNG </a:t>
            </a:r>
            <a:r>
              <a:rPr lang="en-US" sz="4800" b="1"/>
              <a:t>7</a:t>
            </a:r>
            <a:br>
              <a:rPr lang="en-US" sz="4800" b="1">
                <a:latin typeface="Arial"/>
                <a:ea typeface="Arial"/>
                <a:cs typeface="Arial"/>
                <a:sym typeface="Arial"/>
              </a:rPr>
            </a:br>
            <a:r>
              <a:rPr lang="en-US" sz="4800" b="1"/>
              <a:t>QUÁ TRÌNH RA QUYẾT ĐỊNH MUA CỦA</a:t>
            </a:r>
            <a:br>
              <a:rPr lang="en-US" sz="4800" b="1"/>
            </a:br>
            <a:r>
              <a:rPr lang="en-US" sz="4800" b="1"/>
              <a:t>KHÁCH HÀNG TỔ CHỨC</a:t>
            </a:r>
            <a:br>
              <a:rPr lang="en-US" sz="4000" b="1">
                <a:latin typeface="Times New Roman"/>
                <a:ea typeface="Times New Roman"/>
                <a:cs typeface="Times New Roman"/>
                <a:sym typeface="Times New Roman"/>
              </a:rPr>
            </a:br>
            <a:endParaRPr sz="4000" b="1">
              <a:latin typeface="Arial"/>
              <a:ea typeface="Arial"/>
              <a:cs typeface="Arial"/>
              <a:sym typeface="Arial"/>
            </a:endParaRP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Shape 3036"/>
        <p:cNvGrpSpPr/>
        <p:nvPr/>
      </p:nvGrpSpPr>
      <p:grpSpPr>
        <a:xfrm>
          <a:off x="0" y="0"/>
          <a:ext cx="0" cy="0"/>
          <a:chOff x="0" y="0"/>
          <a:chExt cx="0" cy="0"/>
        </a:xfrm>
      </p:grpSpPr>
      <p:sp>
        <p:nvSpPr>
          <p:cNvPr id="3037" name="Google Shape;3037;p388"/>
          <p:cNvSpPr txBox="1">
            <a:spLocks noGrp="1"/>
          </p:cNvSpPr>
          <p:nvPr>
            <p:ph type="title"/>
          </p:nvPr>
        </p:nvSpPr>
        <p:spPr>
          <a:xfrm>
            <a:off x="745490" y="30988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r>
              <a:rPr lang="en-US" sz="3600" b="1">
                <a:latin typeface="Arial"/>
                <a:ea typeface="Arial"/>
                <a:cs typeface="Arial"/>
                <a:sym typeface="Arial"/>
              </a:rPr>
              <a:t>MỤC TIÊU CHƯƠNG </a:t>
            </a:r>
            <a:r>
              <a:rPr lang="en-US" sz="3600" b="1"/>
              <a:t>7</a:t>
            </a:r>
            <a:endParaRPr sz="3600" b="1">
              <a:latin typeface="Arial"/>
              <a:ea typeface="Arial"/>
              <a:cs typeface="Arial"/>
              <a:sym typeface="Arial"/>
            </a:endParaRPr>
          </a:p>
        </p:txBody>
      </p:sp>
      <p:sp>
        <p:nvSpPr>
          <p:cNvPr id="7" name="Rectangle 6">
            <a:extLst>
              <a:ext uri="{FF2B5EF4-FFF2-40B4-BE49-F238E27FC236}">
                <a16:creationId xmlns:a16="http://schemas.microsoft.com/office/drawing/2014/main" id="{014DA687-3B69-7331-206D-9D6B85347A42}"/>
              </a:ext>
            </a:extLst>
          </p:cNvPr>
          <p:cNvSpPr>
            <a:spLocks noChangeArrowheads="1"/>
          </p:cNvSpPr>
          <p:nvPr/>
        </p:nvSpPr>
        <p:spPr bwMode="auto">
          <a:xfrm>
            <a:off x="278130" y="1229064"/>
            <a:ext cx="11450320" cy="5080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indent="-342900" eaLnBrk="0" fontAlgn="base" hangingPunct="0">
              <a:lnSpc>
                <a:spcPct val="130000"/>
              </a:lnSpc>
              <a:spcBef>
                <a:spcPts val="1000"/>
              </a:spcBef>
              <a:buClr>
                <a:schemeClr val="dk1"/>
              </a:buClr>
              <a:buSzPct val="66667"/>
              <a:buFont typeface="Noto Sans Symbols"/>
              <a:buChar char="⮚"/>
            </a:pPr>
            <a:r>
              <a:rPr lang="en-US" altLang="en-US" sz="2800" err="1"/>
              <a:t>Phân</a:t>
            </a:r>
            <a:r>
              <a:rPr lang="en-US" altLang="en-US" sz="2800"/>
              <a:t> </a:t>
            </a:r>
            <a:r>
              <a:rPr lang="en-US" altLang="en-US" sz="2800" err="1"/>
              <a:t>biệt</a:t>
            </a:r>
            <a:r>
              <a:rPr lang="en-US" altLang="en-US" sz="2800"/>
              <a:t> </a:t>
            </a:r>
            <a:r>
              <a:rPr lang="en-US" altLang="en-US" sz="2800" err="1"/>
              <a:t>được</a:t>
            </a:r>
            <a:r>
              <a:rPr lang="en-US" altLang="en-US" sz="2800"/>
              <a:t> </a:t>
            </a:r>
            <a:r>
              <a:rPr lang="en-US" altLang="en-US" sz="2800" err="1"/>
              <a:t>các</a:t>
            </a:r>
            <a:r>
              <a:rPr lang="en-US" altLang="en-US" sz="2800"/>
              <a:t> </a:t>
            </a:r>
            <a:r>
              <a:rPr lang="en-US" altLang="en-US" sz="2800" err="1"/>
              <a:t>hình</a:t>
            </a:r>
            <a:r>
              <a:rPr lang="en-US" altLang="en-US" sz="2800"/>
              <a:t> </a:t>
            </a:r>
            <a:r>
              <a:rPr lang="en-US" altLang="en-US" sz="2800" err="1"/>
              <a:t>thức</a:t>
            </a:r>
            <a:r>
              <a:rPr lang="en-US" altLang="en-US" sz="2800"/>
              <a:t> </a:t>
            </a:r>
            <a:r>
              <a:rPr lang="en-US" altLang="en-US" sz="2800" err="1"/>
              <a:t>mua</a:t>
            </a:r>
            <a:r>
              <a:rPr lang="en-US" altLang="en-US" sz="2800"/>
              <a:t> </a:t>
            </a:r>
            <a:r>
              <a:rPr lang="en-US" altLang="en-US" sz="2800" err="1"/>
              <a:t>hàng</a:t>
            </a:r>
            <a:r>
              <a:rPr lang="en-US" altLang="en-US" sz="2800"/>
              <a:t> </a:t>
            </a:r>
            <a:r>
              <a:rPr lang="en-US" altLang="en-US" sz="2800" err="1"/>
              <a:t>của</a:t>
            </a:r>
            <a:r>
              <a:rPr lang="en-US" altLang="en-US" sz="2800"/>
              <a:t> </a:t>
            </a:r>
            <a:r>
              <a:rPr lang="en-US" altLang="en-US" sz="2800" err="1"/>
              <a:t>khách</a:t>
            </a:r>
            <a:r>
              <a:rPr lang="en-US" altLang="en-US" sz="2800"/>
              <a:t> </a:t>
            </a:r>
            <a:r>
              <a:rPr lang="en-US" altLang="en-US" sz="2800" err="1"/>
              <a:t>hàng</a:t>
            </a:r>
            <a:r>
              <a:rPr lang="en-US" altLang="en-US" sz="2800"/>
              <a:t> </a:t>
            </a:r>
            <a:r>
              <a:rPr lang="en-US" altLang="en-US" sz="2800" err="1"/>
              <a:t>tổ</a:t>
            </a:r>
            <a:r>
              <a:rPr lang="en-US" altLang="en-US" sz="2800"/>
              <a:t> </a:t>
            </a:r>
            <a:r>
              <a:rPr lang="en-US" altLang="en-US" sz="2800" err="1"/>
              <a:t>chức</a:t>
            </a:r>
            <a:r>
              <a:rPr lang="en-US" altLang="en-US" sz="2800"/>
              <a:t>.</a:t>
            </a:r>
          </a:p>
          <a:p>
            <a:pPr marL="457200" indent="-342900" defTabSz="914400" eaLnBrk="0" fontAlgn="base" latinLnBrk="0" hangingPunct="0">
              <a:lnSpc>
                <a:spcPct val="130000"/>
              </a:lnSpc>
              <a:spcBef>
                <a:spcPts val="1000"/>
              </a:spcBef>
              <a:buClr>
                <a:schemeClr val="dk1"/>
              </a:buClr>
              <a:buSzPct val="66667"/>
              <a:buFont typeface="Noto Sans Symbols"/>
              <a:buChar char="⮚"/>
              <a:tabLst/>
            </a:pPr>
            <a:r>
              <a:rPr lang="vi-VN" sz="2800"/>
              <a:t>Trình bày được các giai đoạn trong quá trình ra quyết định mua của tổ chức.</a:t>
            </a:r>
            <a:endParaRPr lang="en-US" sz="2800"/>
          </a:p>
          <a:p>
            <a:pPr marL="457200" indent="-342900" defTabSz="914400" eaLnBrk="0" fontAlgn="base" latinLnBrk="0" hangingPunct="0">
              <a:lnSpc>
                <a:spcPct val="130000"/>
              </a:lnSpc>
              <a:spcBef>
                <a:spcPts val="1000"/>
              </a:spcBef>
              <a:buClr>
                <a:schemeClr val="dk1"/>
              </a:buClr>
              <a:buSzPct val="66667"/>
              <a:buFont typeface="Noto Sans Symbols"/>
              <a:buChar char="⮚"/>
              <a:tabLst/>
            </a:pPr>
            <a:r>
              <a:rPr lang="vi-VN" sz="2800"/>
              <a:t>Phân tích được các yếu tố tác động đến quyết định mua của khách hàng tổ chức.</a:t>
            </a:r>
            <a:endParaRPr lang="en-US" sz="2800"/>
          </a:p>
          <a:p>
            <a:pPr marL="457200" indent="-342900" defTabSz="914400" eaLnBrk="0" fontAlgn="base" latinLnBrk="0" hangingPunct="0">
              <a:lnSpc>
                <a:spcPct val="130000"/>
              </a:lnSpc>
              <a:spcBef>
                <a:spcPts val="1000"/>
              </a:spcBef>
              <a:buClr>
                <a:schemeClr val="dk1"/>
              </a:buClr>
              <a:buSzPct val="66667"/>
              <a:buFont typeface="Noto Sans Symbols"/>
              <a:buChar char="⮚"/>
              <a:tabLst/>
            </a:pPr>
            <a:r>
              <a:rPr lang="en-US" sz="2800" err="1"/>
              <a:t>Vận</a:t>
            </a:r>
            <a:r>
              <a:rPr lang="en-US" sz="2800"/>
              <a:t> </a:t>
            </a:r>
            <a:r>
              <a:rPr lang="en-US" sz="2800" err="1"/>
              <a:t>dụng</a:t>
            </a:r>
            <a:r>
              <a:rPr lang="en-US" sz="2800"/>
              <a:t> </a:t>
            </a:r>
            <a:r>
              <a:rPr lang="en-US" sz="2800" err="1"/>
              <a:t>kiến</a:t>
            </a:r>
            <a:r>
              <a:rPr lang="en-US" sz="2800"/>
              <a:t> </a:t>
            </a:r>
            <a:r>
              <a:rPr lang="en-US" sz="2800" err="1"/>
              <a:t>thức</a:t>
            </a:r>
            <a:r>
              <a:rPr lang="en-US" sz="2800"/>
              <a:t> </a:t>
            </a:r>
            <a:r>
              <a:rPr lang="en-US" sz="2800" err="1"/>
              <a:t>để</a:t>
            </a:r>
            <a:r>
              <a:rPr lang="en-US" sz="2800"/>
              <a:t> </a:t>
            </a:r>
            <a:r>
              <a:rPr lang="en-US" sz="2800" err="1"/>
              <a:t>đề</a:t>
            </a:r>
            <a:r>
              <a:rPr lang="en-US" sz="2800"/>
              <a:t> </a:t>
            </a:r>
            <a:r>
              <a:rPr lang="en-US" sz="2800" err="1"/>
              <a:t>xuất</a:t>
            </a:r>
            <a:r>
              <a:rPr lang="en-US" sz="2800"/>
              <a:t> </a:t>
            </a:r>
            <a:r>
              <a:rPr lang="en-US" sz="2800" err="1"/>
              <a:t>cách</a:t>
            </a:r>
            <a:r>
              <a:rPr lang="en-US" sz="2800"/>
              <a:t> </a:t>
            </a:r>
            <a:r>
              <a:rPr lang="en-US" sz="2800" err="1"/>
              <a:t>tiếp</a:t>
            </a:r>
            <a:r>
              <a:rPr lang="en-US" sz="2800"/>
              <a:t> </a:t>
            </a:r>
            <a:r>
              <a:rPr lang="en-US" sz="2800" err="1"/>
              <a:t>cận</a:t>
            </a:r>
            <a:r>
              <a:rPr lang="en-US" sz="2800"/>
              <a:t> </a:t>
            </a:r>
            <a:r>
              <a:rPr lang="en-US" sz="2800" err="1"/>
              <a:t>khách</a:t>
            </a:r>
            <a:r>
              <a:rPr lang="en-US" sz="2800"/>
              <a:t> </a:t>
            </a:r>
            <a:r>
              <a:rPr lang="en-US" sz="2800" err="1"/>
              <a:t>hàng</a:t>
            </a:r>
            <a:r>
              <a:rPr lang="en-US" sz="2800"/>
              <a:t> </a:t>
            </a:r>
            <a:r>
              <a:rPr lang="en-US" sz="2800" err="1"/>
              <a:t>tổ</a:t>
            </a:r>
            <a:r>
              <a:rPr lang="en-US" sz="2800"/>
              <a:t> </a:t>
            </a:r>
            <a:r>
              <a:rPr lang="en-US" sz="2800" err="1"/>
              <a:t>chức</a:t>
            </a:r>
            <a:r>
              <a:rPr lang="en-US" sz="2800"/>
              <a:t> </a:t>
            </a:r>
            <a:r>
              <a:rPr lang="en-US" sz="2800" err="1"/>
              <a:t>phù</a:t>
            </a:r>
            <a:r>
              <a:rPr lang="en-US" sz="2800"/>
              <a:t> </a:t>
            </a:r>
            <a:r>
              <a:rPr lang="en-US" sz="2800" err="1"/>
              <a:t>hợp</a:t>
            </a:r>
            <a:r>
              <a:rPr lang="en-US" sz="2800"/>
              <a:t> </a:t>
            </a:r>
            <a:r>
              <a:rPr lang="en-US" sz="2800" err="1"/>
              <a:t>với</a:t>
            </a:r>
            <a:r>
              <a:rPr lang="en-US" sz="2800"/>
              <a:t> </a:t>
            </a:r>
            <a:r>
              <a:rPr lang="en-US" sz="2800" err="1"/>
              <a:t>từng</a:t>
            </a:r>
            <a:r>
              <a:rPr lang="en-US" sz="2800"/>
              <a:t> </a:t>
            </a:r>
            <a:r>
              <a:rPr lang="en-US" sz="2800" err="1"/>
              <a:t>hình</a:t>
            </a:r>
            <a:r>
              <a:rPr lang="en-US" sz="2800"/>
              <a:t> </a:t>
            </a:r>
            <a:r>
              <a:rPr lang="en-US" sz="2800" err="1"/>
              <a:t>thức</a:t>
            </a:r>
            <a:r>
              <a:rPr lang="en-US" sz="2800"/>
              <a:t> </a:t>
            </a:r>
            <a:r>
              <a:rPr lang="en-US" sz="2800" err="1"/>
              <a:t>và</a:t>
            </a:r>
            <a:r>
              <a:rPr lang="en-US" sz="2800"/>
              <a:t> </a:t>
            </a:r>
            <a:r>
              <a:rPr lang="en-US" sz="2800" err="1"/>
              <a:t>giai</a:t>
            </a:r>
            <a:r>
              <a:rPr lang="en-US" sz="2800"/>
              <a:t> </a:t>
            </a:r>
            <a:r>
              <a:rPr lang="en-US" sz="2800" err="1"/>
              <a:t>đoạn</a:t>
            </a:r>
            <a:r>
              <a:rPr lang="en-US" sz="2800"/>
              <a:t> </a:t>
            </a:r>
            <a:r>
              <a:rPr lang="vi-VN" sz="2800"/>
              <a:t>ra quyết định mua</a:t>
            </a:r>
            <a:r>
              <a:rPr lang="en-US" sz="2800"/>
              <a:t>.</a:t>
            </a:r>
            <a:endParaRPr lang="en-US" altLang="en-US" sz="2800">
              <a:solidFill>
                <a:schemeClr val="dk1"/>
              </a:solidFill>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Shape 3042"/>
        <p:cNvGrpSpPr/>
        <p:nvPr/>
      </p:nvGrpSpPr>
      <p:grpSpPr>
        <a:xfrm>
          <a:off x="0" y="0"/>
          <a:ext cx="0" cy="0"/>
          <a:chOff x="0" y="0"/>
          <a:chExt cx="0" cy="0"/>
        </a:xfrm>
      </p:grpSpPr>
      <p:sp>
        <p:nvSpPr>
          <p:cNvPr id="3043" name="Google Shape;3043;p389"/>
          <p:cNvSpPr txBox="1">
            <a:spLocks noGrp="1"/>
          </p:cNvSpPr>
          <p:nvPr>
            <p:ph type="title"/>
          </p:nvPr>
        </p:nvSpPr>
        <p:spPr>
          <a:xfrm>
            <a:off x="653415" y="545211"/>
            <a:ext cx="10700385" cy="8991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3600" b="1">
                <a:latin typeface="Arial"/>
                <a:ea typeface="Arial"/>
                <a:cs typeface="Arial"/>
                <a:sym typeface="Arial"/>
              </a:rPr>
              <a:t>NỘI DUNG CHƯƠNG </a:t>
            </a:r>
            <a:r>
              <a:rPr lang="en-US" sz="3600" b="1"/>
              <a:t>7</a:t>
            </a:r>
            <a:endParaRPr sz="3600" b="1">
              <a:latin typeface="Arial"/>
              <a:ea typeface="Arial"/>
              <a:cs typeface="Arial"/>
              <a:sym typeface="Arial"/>
            </a:endParaRPr>
          </a:p>
        </p:txBody>
      </p:sp>
      <p:sp>
        <p:nvSpPr>
          <p:cNvPr id="3044" name="Google Shape;3044;p389"/>
          <p:cNvSpPr txBox="1">
            <a:spLocks noGrp="1"/>
          </p:cNvSpPr>
          <p:nvPr>
            <p:ph type="body" idx="1"/>
          </p:nvPr>
        </p:nvSpPr>
        <p:spPr>
          <a:xfrm>
            <a:off x="653415" y="1605661"/>
            <a:ext cx="10700385" cy="433197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1000"/>
              </a:spcBef>
              <a:spcAft>
                <a:spcPts val="0"/>
              </a:spcAft>
              <a:buSzPts val="1800"/>
              <a:buNone/>
            </a:pPr>
            <a:r>
              <a:rPr lang="en-US"/>
              <a:t>7</a:t>
            </a:r>
            <a:r>
              <a:rPr lang="en-US" b="0">
                <a:latin typeface="Arial"/>
                <a:ea typeface="Arial"/>
                <a:cs typeface="Arial"/>
                <a:sym typeface="Arial"/>
              </a:rPr>
              <a:t>.1. </a:t>
            </a:r>
            <a:r>
              <a:rPr lang="en-US" err="1"/>
              <a:t>Các</a:t>
            </a:r>
            <a:r>
              <a:rPr lang="en-US"/>
              <a:t> </a:t>
            </a:r>
            <a:r>
              <a:rPr lang="en-US" err="1"/>
              <a:t>hình</a:t>
            </a:r>
            <a:r>
              <a:rPr lang="en-US"/>
              <a:t> </a:t>
            </a:r>
            <a:r>
              <a:rPr lang="en-US" err="1"/>
              <a:t>thức</a:t>
            </a:r>
            <a:r>
              <a:rPr lang="en-US"/>
              <a:t> </a:t>
            </a:r>
            <a:r>
              <a:rPr lang="en-US" err="1"/>
              <a:t>mua</a:t>
            </a:r>
            <a:r>
              <a:rPr lang="en-US"/>
              <a:t> </a:t>
            </a:r>
            <a:r>
              <a:rPr lang="en-US" err="1"/>
              <a:t>hàng</a:t>
            </a:r>
            <a:r>
              <a:rPr lang="en-US"/>
              <a:t> </a:t>
            </a:r>
            <a:r>
              <a:rPr lang="en-US" err="1"/>
              <a:t>của</a:t>
            </a:r>
            <a:r>
              <a:rPr lang="en-US"/>
              <a:t> </a:t>
            </a:r>
            <a:r>
              <a:rPr lang="en-US" err="1"/>
              <a:t>k</a:t>
            </a:r>
            <a:r>
              <a:rPr lang="en-US" b="0" err="1">
                <a:latin typeface="Arial"/>
                <a:ea typeface="Arial"/>
                <a:cs typeface="Arial"/>
                <a:sym typeface="Arial"/>
              </a:rPr>
              <a:t>hách</a:t>
            </a:r>
            <a:r>
              <a:rPr lang="en-US" b="0">
                <a:latin typeface="Arial"/>
                <a:ea typeface="Arial"/>
                <a:cs typeface="Arial"/>
                <a:sym typeface="Arial"/>
              </a:rPr>
              <a:t> </a:t>
            </a:r>
            <a:r>
              <a:rPr lang="en-US" b="0" err="1">
                <a:latin typeface="Arial"/>
                <a:ea typeface="Arial"/>
                <a:cs typeface="Arial"/>
                <a:sym typeface="Arial"/>
              </a:rPr>
              <a:t>hàng</a:t>
            </a:r>
            <a:r>
              <a:rPr lang="en-US" b="0">
                <a:latin typeface="Arial"/>
                <a:ea typeface="Arial"/>
                <a:cs typeface="Arial"/>
                <a:sym typeface="Arial"/>
              </a:rPr>
              <a:t> </a:t>
            </a:r>
            <a:r>
              <a:rPr lang="en-US" b="0" err="1">
                <a:latin typeface="Arial"/>
                <a:ea typeface="Arial"/>
                <a:cs typeface="Arial"/>
                <a:sym typeface="Arial"/>
              </a:rPr>
              <a:t>tổ</a:t>
            </a:r>
            <a:r>
              <a:rPr lang="en-US" b="0">
                <a:latin typeface="Arial"/>
                <a:ea typeface="Arial"/>
                <a:cs typeface="Arial"/>
                <a:sym typeface="Arial"/>
              </a:rPr>
              <a:t> </a:t>
            </a:r>
            <a:r>
              <a:rPr lang="en-US" b="0" err="1">
                <a:latin typeface="Arial"/>
                <a:ea typeface="Arial"/>
                <a:cs typeface="Arial"/>
                <a:sym typeface="Arial"/>
              </a:rPr>
              <a:t>chức</a:t>
            </a:r>
            <a:r>
              <a:rPr lang="en-US" b="0">
                <a:latin typeface="Arial"/>
                <a:ea typeface="Arial"/>
                <a:cs typeface="Arial"/>
                <a:sym typeface="Arial"/>
              </a:rPr>
              <a:t> (KHTC)</a:t>
            </a:r>
            <a:endParaRPr b="1">
              <a:latin typeface="Arial"/>
              <a:ea typeface="Arial"/>
              <a:cs typeface="Arial"/>
              <a:sym typeface="Arial"/>
            </a:endParaRPr>
          </a:p>
          <a:p>
            <a:pPr marL="0" marR="0" lvl="0" indent="0" algn="just" rtl="0">
              <a:lnSpc>
                <a:spcPct val="115000"/>
              </a:lnSpc>
              <a:spcBef>
                <a:spcPts val="2000"/>
              </a:spcBef>
              <a:spcAft>
                <a:spcPts val="0"/>
              </a:spcAft>
              <a:buSzPts val="1800"/>
              <a:buNone/>
            </a:pPr>
            <a:r>
              <a:rPr lang="en-US"/>
              <a:t>7</a:t>
            </a:r>
            <a:r>
              <a:rPr lang="en-US" b="0">
                <a:latin typeface="Arial"/>
                <a:ea typeface="Arial"/>
                <a:cs typeface="Arial"/>
                <a:sym typeface="Arial"/>
              </a:rPr>
              <a:t>.2. </a:t>
            </a:r>
            <a:r>
              <a:rPr lang="en-US" err="1"/>
              <a:t>Quá</a:t>
            </a:r>
            <a:r>
              <a:rPr lang="en-US"/>
              <a:t> </a:t>
            </a:r>
            <a:r>
              <a:rPr lang="en-US" err="1"/>
              <a:t>trình</a:t>
            </a:r>
            <a:r>
              <a:rPr lang="en-US"/>
              <a:t> </a:t>
            </a:r>
            <a:r>
              <a:rPr lang="en-US" err="1"/>
              <a:t>quyết</a:t>
            </a:r>
            <a:r>
              <a:rPr lang="en-US"/>
              <a:t> </a:t>
            </a:r>
            <a:r>
              <a:rPr lang="en-US" err="1"/>
              <a:t>định</a:t>
            </a:r>
            <a:r>
              <a:rPr lang="en-US"/>
              <a:t> </a:t>
            </a:r>
            <a:r>
              <a:rPr lang="en-US" err="1"/>
              <a:t>mua</a:t>
            </a:r>
            <a:endParaRPr/>
          </a:p>
          <a:p>
            <a:pPr marL="0" marR="0" lvl="0" indent="0" algn="just" rtl="0">
              <a:lnSpc>
                <a:spcPct val="115000"/>
              </a:lnSpc>
              <a:spcBef>
                <a:spcPts val="2000"/>
              </a:spcBef>
              <a:spcAft>
                <a:spcPts val="0"/>
              </a:spcAft>
              <a:buSzPts val="1800"/>
              <a:buNone/>
            </a:pPr>
            <a:r>
              <a:rPr lang="en-US"/>
              <a:t>7</a:t>
            </a:r>
            <a:r>
              <a:rPr lang="en-US" b="0">
                <a:latin typeface="Arial"/>
                <a:ea typeface="Arial"/>
                <a:cs typeface="Arial"/>
                <a:sym typeface="Arial"/>
              </a:rPr>
              <a:t>.3. </a:t>
            </a:r>
            <a:r>
              <a:rPr lang="en-US" err="1"/>
              <a:t>Những</a:t>
            </a:r>
            <a:r>
              <a:rPr lang="en-US"/>
              <a:t> </a:t>
            </a:r>
            <a:r>
              <a:rPr lang="en-US" err="1"/>
              <a:t>yếu</a:t>
            </a:r>
            <a:r>
              <a:rPr lang="en-US"/>
              <a:t> </a:t>
            </a:r>
            <a:r>
              <a:rPr lang="en-US" err="1"/>
              <a:t>tố</a:t>
            </a:r>
            <a:r>
              <a:rPr lang="en-US"/>
              <a:t> </a:t>
            </a:r>
            <a:r>
              <a:rPr lang="en-US" err="1"/>
              <a:t>tác</a:t>
            </a:r>
            <a:r>
              <a:rPr lang="en-US"/>
              <a:t> </a:t>
            </a:r>
            <a:r>
              <a:rPr lang="en-US" err="1"/>
              <a:t>động</a:t>
            </a:r>
            <a:r>
              <a:rPr lang="en-US"/>
              <a:t> </a:t>
            </a:r>
            <a:r>
              <a:rPr lang="en-US" err="1"/>
              <a:t>quá</a:t>
            </a:r>
            <a:r>
              <a:rPr lang="en-US"/>
              <a:t> </a:t>
            </a:r>
            <a:r>
              <a:rPr lang="en-US" err="1"/>
              <a:t>trình</a:t>
            </a:r>
            <a:r>
              <a:rPr lang="en-US"/>
              <a:t> </a:t>
            </a:r>
            <a:r>
              <a:rPr lang="en-US" err="1"/>
              <a:t>ra</a:t>
            </a:r>
            <a:r>
              <a:rPr lang="en-US"/>
              <a:t> </a:t>
            </a:r>
            <a:r>
              <a:rPr lang="en-US" err="1"/>
              <a:t>quyết</a:t>
            </a:r>
            <a:r>
              <a:rPr lang="en-US"/>
              <a:t> </a:t>
            </a:r>
            <a:r>
              <a:rPr lang="en-US" err="1"/>
              <a:t>định</a:t>
            </a:r>
            <a:r>
              <a:rPr lang="en-US"/>
              <a:t> </a:t>
            </a:r>
            <a:r>
              <a:rPr lang="en-US" err="1"/>
              <a:t>mua</a:t>
            </a:r>
            <a:endParaRPr/>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Shape 3048"/>
        <p:cNvGrpSpPr/>
        <p:nvPr/>
      </p:nvGrpSpPr>
      <p:grpSpPr>
        <a:xfrm>
          <a:off x="0" y="0"/>
          <a:ext cx="0" cy="0"/>
          <a:chOff x="0" y="0"/>
          <a:chExt cx="0" cy="0"/>
        </a:xfrm>
      </p:grpSpPr>
      <p:sp>
        <p:nvSpPr>
          <p:cNvPr id="3049" name="Google Shape;3049;p390"/>
          <p:cNvSpPr txBox="1">
            <a:spLocks noGrp="1"/>
          </p:cNvSpPr>
          <p:nvPr>
            <p:ph type="ctrTitle"/>
          </p:nvPr>
        </p:nvSpPr>
        <p:spPr>
          <a:xfrm>
            <a:off x="1638681" y="4415409"/>
            <a:ext cx="9474835" cy="905510"/>
          </a:xfrm>
          <a:prstGeom prst="rect">
            <a:avLst/>
          </a:prstGeom>
          <a:noFill/>
          <a:ln>
            <a:noFill/>
          </a:ln>
        </p:spPr>
        <p:txBody>
          <a:bodyPr spcFirstLastPara="1" wrap="square" lIns="91425" tIns="45700" rIns="91425" bIns="45700" anchor="b" anchorCtr="0">
            <a:noAutofit/>
          </a:bodyPr>
          <a:lstStyle/>
          <a:p>
            <a:pPr marL="0" lvl="1" indent="0" algn="ctr" rtl="0">
              <a:lnSpc>
                <a:spcPct val="150000"/>
              </a:lnSpc>
              <a:spcBef>
                <a:spcPts val="0"/>
              </a:spcBef>
              <a:spcAft>
                <a:spcPts val="0"/>
              </a:spcAft>
              <a:buSzPts val="1400"/>
              <a:buNone/>
            </a:pPr>
            <a:r>
              <a:rPr lang="en-US" sz="3600" b="1" i="0" u="none" strike="noStrike" cap="none">
                <a:latin typeface="Arial"/>
                <a:ea typeface="Arial"/>
                <a:cs typeface="Arial"/>
                <a:sym typeface="Arial"/>
              </a:rPr>
              <a:t>7.1. </a:t>
            </a:r>
            <a:r>
              <a:rPr lang="en-US" sz="3600" b="1">
                <a:latin typeface="Arial"/>
                <a:ea typeface="Arial"/>
                <a:cs typeface="Arial"/>
                <a:sym typeface="Arial"/>
              </a:rPr>
              <a:t>CÁC HÌNH THỨC MUA HÀNG CỦA KHÁCH HÀNG TỔ CHỨC </a:t>
            </a:r>
            <a:br>
              <a:rPr lang="en-US" sz="3600" b="1">
                <a:latin typeface="Arial"/>
                <a:ea typeface="Arial"/>
                <a:cs typeface="Arial"/>
                <a:sym typeface="Arial"/>
              </a:rPr>
            </a:br>
            <a:endParaRPr sz="3600" b="1" i="0" u="none" strike="noStrike" cap="none">
              <a:latin typeface="Arial"/>
              <a:ea typeface="Arial"/>
              <a:cs typeface="Arial"/>
              <a:sym typeface="Arial"/>
            </a:endParaRP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Shape 3201"/>
        <p:cNvGrpSpPr/>
        <p:nvPr/>
      </p:nvGrpSpPr>
      <p:grpSpPr>
        <a:xfrm>
          <a:off x="0" y="0"/>
          <a:ext cx="0" cy="0"/>
          <a:chOff x="0" y="0"/>
          <a:chExt cx="0" cy="0"/>
        </a:xfrm>
      </p:grpSpPr>
      <p:sp>
        <p:nvSpPr>
          <p:cNvPr id="3202" name="Google Shape;3202;p409"/>
          <p:cNvSpPr txBox="1">
            <a:spLocks noGrp="1"/>
          </p:cNvSpPr>
          <p:nvPr>
            <p:ph type="title"/>
          </p:nvPr>
        </p:nvSpPr>
        <p:spPr>
          <a:xfrm>
            <a:off x="186690" y="-12580"/>
            <a:ext cx="10515600" cy="1325563"/>
          </a:xfrm>
          <a:prstGeom prst="rect">
            <a:avLst/>
          </a:prstGeom>
          <a:noFill/>
          <a:ln>
            <a:noFill/>
          </a:ln>
        </p:spPr>
        <p:txBody>
          <a:bodyPr spcFirstLastPara="1" wrap="square" lIns="91425" tIns="45700" rIns="91425" bIns="45700" anchor="ctr" anchorCtr="0">
            <a:normAutofit/>
          </a:bodyPr>
          <a:lstStyle/>
          <a:p>
            <a:pPr lvl="0" fontAlgn="base">
              <a:spcBef>
                <a:spcPts val="1000"/>
              </a:spcBef>
              <a:spcAft>
                <a:spcPct val="0"/>
              </a:spcAft>
              <a:buClr>
                <a:srgbClr val="000000"/>
              </a:buClr>
              <a:buSzPts val="1800"/>
            </a:pPr>
            <a:r>
              <a:rPr lang="en-US" sz="3000" b="1" kern="1200">
                <a:solidFill>
                  <a:schemeClr val="tx1"/>
                </a:solidFill>
                <a:latin typeface="+mn-lt"/>
                <a:ea typeface="+mn-ea"/>
                <a:cs typeface="+mn-cs"/>
              </a:rPr>
              <a:t>7.1.1. </a:t>
            </a:r>
            <a:r>
              <a:rPr lang="en-US" sz="3000" b="1" kern="1200" err="1">
                <a:solidFill>
                  <a:schemeClr val="tx1"/>
                </a:solidFill>
                <a:latin typeface="+mn-lt"/>
                <a:ea typeface="+mn-ea"/>
                <a:cs typeface="+mn-cs"/>
              </a:rPr>
              <a:t>Các</a:t>
            </a:r>
            <a:r>
              <a:rPr lang="en-US" sz="3000" b="1" kern="1200">
                <a:solidFill>
                  <a:schemeClr val="tx1"/>
                </a:solidFill>
                <a:latin typeface="+mn-lt"/>
                <a:ea typeface="+mn-ea"/>
                <a:cs typeface="+mn-cs"/>
              </a:rPr>
              <a:t> </a:t>
            </a:r>
            <a:r>
              <a:rPr lang="en-US" sz="3000" b="1" kern="1200" err="1">
                <a:solidFill>
                  <a:schemeClr val="tx1"/>
                </a:solidFill>
                <a:latin typeface="+mn-lt"/>
                <a:ea typeface="+mn-ea"/>
                <a:cs typeface="+mn-cs"/>
              </a:rPr>
              <a:t>dạng</a:t>
            </a:r>
            <a:r>
              <a:rPr lang="en-US" sz="3000" b="1" kern="1200">
                <a:solidFill>
                  <a:schemeClr val="tx1"/>
                </a:solidFill>
                <a:latin typeface="+mn-lt"/>
                <a:ea typeface="+mn-ea"/>
                <a:cs typeface="+mn-cs"/>
              </a:rPr>
              <a:t> </a:t>
            </a:r>
            <a:r>
              <a:rPr lang="en-US" sz="3000" b="1" kern="1200" err="1">
                <a:solidFill>
                  <a:schemeClr val="tx1"/>
                </a:solidFill>
                <a:latin typeface="+mn-lt"/>
                <a:ea typeface="+mn-ea"/>
                <a:cs typeface="+mn-cs"/>
              </a:rPr>
              <a:t>hành</a:t>
            </a:r>
            <a:r>
              <a:rPr lang="en-US" sz="3000" b="1" kern="1200">
                <a:solidFill>
                  <a:schemeClr val="tx1"/>
                </a:solidFill>
                <a:latin typeface="+mn-lt"/>
                <a:ea typeface="+mn-ea"/>
                <a:cs typeface="+mn-cs"/>
              </a:rPr>
              <a:t> vi </a:t>
            </a:r>
            <a:r>
              <a:rPr lang="en-US" sz="3000" b="1" kern="1200" err="1">
                <a:solidFill>
                  <a:schemeClr val="tx1"/>
                </a:solidFill>
                <a:latin typeface="+mn-lt"/>
                <a:ea typeface="+mn-ea"/>
                <a:cs typeface="+mn-cs"/>
              </a:rPr>
              <a:t>mua</a:t>
            </a:r>
            <a:r>
              <a:rPr lang="en-US" sz="3000" b="1" kern="1200">
                <a:solidFill>
                  <a:schemeClr val="tx1"/>
                </a:solidFill>
                <a:latin typeface="+mn-lt"/>
                <a:ea typeface="+mn-ea"/>
                <a:cs typeface="+mn-cs"/>
              </a:rPr>
              <a:t> </a:t>
            </a:r>
            <a:r>
              <a:rPr lang="en-US" sz="3000" b="1" kern="1200" err="1">
                <a:solidFill>
                  <a:schemeClr val="tx1"/>
                </a:solidFill>
                <a:latin typeface="+mn-lt"/>
                <a:ea typeface="+mn-ea"/>
                <a:cs typeface="+mn-cs"/>
              </a:rPr>
              <a:t>của</a:t>
            </a:r>
            <a:r>
              <a:rPr lang="en-US" sz="3000" b="1" kern="1200">
                <a:solidFill>
                  <a:schemeClr val="tx1"/>
                </a:solidFill>
                <a:latin typeface="+mn-lt"/>
                <a:ea typeface="+mn-ea"/>
                <a:cs typeface="+mn-cs"/>
              </a:rPr>
              <a:t> </a:t>
            </a:r>
            <a:r>
              <a:rPr lang="en-US" sz="3000" b="1" kern="1200" err="1">
                <a:solidFill>
                  <a:schemeClr val="tx1"/>
                </a:solidFill>
                <a:latin typeface="+mn-lt"/>
                <a:ea typeface="+mn-ea"/>
                <a:cs typeface="+mn-cs"/>
              </a:rPr>
              <a:t>khách</a:t>
            </a:r>
            <a:r>
              <a:rPr lang="en-US" sz="3000" b="1" kern="1200">
                <a:solidFill>
                  <a:schemeClr val="tx1"/>
                </a:solidFill>
                <a:latin typeface="+mn-lt"/>
                <a:ea typeface="+mn-ea"/>
                <a:cs typeface="+mn-cs"/>
              </a:rPr>
              <a:t> </a:t>
            </a:r>
            <a:r>
              <a:rPr lang="en-US" sz="3000" b="1" kern="1200" err="1">
                <a:solidFill>
                  <a:schemeClr val="tx1"/>
                </a:solidFill>
                <a:latin typeface="+mn-lt"/>
                <a:ea typeface="+mn-ea"/>
                <a:cs typeface="+mn-cs"/>
              </a:rPr>
              <a:t>hàng</a:t>
            </a:r>
            <a:r>
              <a:rPr lang="en-US" sz="3000" b="1" kern="1200">
                <a:solidFill>
                  <a:schemeClr val="tx1"/>
                </a:solidFill>
                <a:latin typeface="+mn-lt"/>
                <a:ea typeface="+mn-ea"/>
                <a:cs typeface="+mn-cs"/>
              </a:rPr>
              <a:t> </a:t>
            </a:r>
            <a:r>
              <a:rPr lang="en-US" sz="3000" b="1" kern="1200" err="1">
                <a:solidFill>
                  <a:schemeClr val="tx1"/>
                </a:solidFill>
                <a:latin typeface="+mn-lt"/>
                <a:ea typeface="+mn-ea"/>
                <a:cs typeface="+mn-cs"/>
              </a:rPr>
              <a:t>tổ</a:t>
            </a:r>
            <a:r>
              <a:rPr lang="en-US" sz="3000" b="1" kern="1200">
                <a:solidFill>
                  <a:schemeClr val="tx1"/>
                </a:solidFill>
                <a:latin typeface="+mn-lt"/>
                <a:ea typeface="+mn-ea"/>
                <a:cs typeface="+mn-cs"/>
              </a:rPr>
              <a:t> </a:t>
            </a:r>
            <a:r>
              <a:rPr lang="en-US" sz="3000" b="1" kern="1200" err="1">
                <a:solidFill>
                  <a:schemeClr val="tx1"/>
                </a:solidFill>
                <a:latin typeface="+mn-lt"/>
                <a:ea typeface="+mn-ea"/>
                <a:cs typeface="+mn-cs"/>
              </a:rPr>
              <a:t>chức</a:t>
            </a:r>
            <a:endParaRPr sz="3000" b="1" kern="1200">
              <a:solidFill>
                <a:schemeClr val="tx1"/>
              </a:solidFill>
              <a:latin typeface="+mn-lt"/>
              <a:ea typeface="+mn-ea"/>
              <a:cs typeface="+mn-cs"/>
            </a:endParaRPr>
          </a:p>
        </p:txBody>
      </p:sp>
      <p:grpSp>
        <p:nvGrpSpPr>
          <p:cNvPr id="3203" name="Google Shape;3203;p409"/>
          <p:cNvGrpSpPr/>
          <p:nvPr/>
        </p:nvGrpSpPr>
        <p:grpSpPr>
          <a:xfrm>
            <a:off x="1394460" y="2269063"/>
            <a:ext cx="9498329" cy="3571667"/>
            <a:chOff x="0" y="367305"/>
            <a:chExt cx="6839625" cy="3275954"/>
          </a:xfrm>
        </p:grpSpPr>
        <p:sp>
          <p:nvSpPr>
            <p:cNvPr id="3204" name="Google Shape;3204;p409"/>
            <p:cNvSpPr/>
            <p:nvPr/>
          </p:nvSpPr>
          <p:spPr>
            <a:xfrm>
              <a:off x="0" y="1480269"/>
              <a:ext cx="6839625" cy="1006200"/>
            </a:xfrm>
            <a:prstGeom prst="roundRect">
              <a:avLst>
                <a:gd name="adj" fmla="val 16667"/>
              </a:avLst>
            </a:prstGeom>
            <a:solidFill>
              <a:schemeClr val="accent2"/>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409"/>
            <p:cNvSpPr txBox="1"/>
            <p:nvPr/>
          </p:nvSpPr>
          <p:spPr>
            <a:xfrm>
              <a:off x="49119" y="1529388"/>
              <a:ext cx="6741387" cy="907962"/>
            </a:xfrm>
            <a:prstGeom prst="rect">
              <a:avLst/>
            </a:prstGeom>
            <a:noFill/>
            <a:ln>
              <a:noFill/>
            </a:ln>
          </p:spPr>
          <p:txBody>
            <a:bodyPr spcFirstLastPara="1" wrap="square" lIns="163825" tIns="163825" rIns="163825" bIns="163825" anchor="ctr" anchorCtr="0">
              <a:noAutofit/>
            </a:bodyPr>
            <a:lstStyle/>
            <a:p>
              <a:pPr marL="0" marR="0" lvl="0" indent="0" algn="l" rtl="0">
                <a:lnSpc>
                  <a:spcPct val="90000"/>
                </a:lnSpc>
                <a:spcBef>
                  <a:spcPts val="0"/>
                </a:spcBef>
                <a:spcAft>
                  <a:spcPts val="0"/>
                </a:spcAft>
                <a:buClr>
                  <a:srgbClr val="000000"/>
                </a:buClr>
                <a:buSzPts val="4300"/>
                <a:buFont typeface="Arial"/>
                <a:buNone/>
              </a:pPr>
              <a:r>
                <a:rPr lang="en-US" sz="4300" b="0" i="0" u="none" strike="noStrike" cap="none">
                  <a:solidFill>
                    <a:schemeClr val="lt1"/>
                  </a:solidFill>
                  <a:latin typeface="Arial"/>
                  <a:ea typeface="Arial"/>
                  <a:cs typeface="Arial"/>
                  <a:sym typeface="Arial"/>
                </a:rPr>
                <a:t>Mua </a:t>
              </a:r>
              <a:r>
                <a:rPr lang="en-US" sz="4300" b="0" i="0" u="none" strike="noStrike" cap="none" err="1">
                  <a:solidFill>
                    <a:schemeClr val="lt1"/>
                  </a:solidFill>
                  <a:latin typeface="Arial"/>
                  <a:ea typeface="Arial"/>
                  <a:cs typeface="Arial"/>
                  <a:sym typeface="Arial"/>
                </a:rPr>
                <a:t>lặp</a:t>
              </a:r>
              <a:r>
                <a:rPr lang="en-US" sz="4300" b="0" i="0" u="none" strike="noStrike" cap="none">
                  <a:solidFill>
                    <a:schemeClr val="lt1"/>
                  </a:solidFill>
                  <a:latin typeface="Arial"/>
                  <a:ea typeface="Arial"/>
                  <a:cs typeface="Arial"/>
                  <a:sym typeface="Arial"/>
                </a:rPr>
                <a:t> </a:t>
              </a:r>
              <a:r>
                <a:rPr lang="en-US" sz="4300" b="0" i="0" u="none" strike="noStrike" cap="none" err="1">
                  <a:solidFill>
                    <a:schemeClr val="lt1"/>
                  </a:solidFill>
                  <a:latin typeface="Arial"/>
                  <a:ea typeface="Arial"/>
                  <a:cs typeface="Arial"/>
                  <a:sym typeface="Arial"/>
                </a:rPr>
                <a:t>lại</a:t>
              </a:r>
              <a:r>
                <a:rPr lang="en-US" sz="4300" b="0" i="0" u="none" strike="noStrike" cap="none">
                  <a:solidFill>
                    <a:schemeClr val="lt1"/>
                  </a:solidFill>
                  <a:latin typeface="Arial"/>
                  <a:ea typeface="Arial"/>
                  <a:cs typeface="Arial"/>
                  <a:sym typeface="Arial"/>
                </a:rPr>
                <a:t> </a:t>
              </a:r>
              <a:r>
                <a:rPr lang="en-US" sz="4300" b="0" i="0" u="none" strike="noStrike" cap="none" err="1">
                  <a:solidFill>
                    <a:schemeClr val="lt1"/>
                  </a:solidFill>
                  <a:latin typeface="Arial"/>
                  <a:ea typeface="Arial"/>
                  <a:cs typeface="Arial"/>
                  <a:sym typeface="Arial"/>
                </a:rPr>
                <a:t>không</a:t>
              </a:r>
              <a:r>
                <a:rPr lang="en-US" sz="4300" b="0" i="0" u="none" strike="noStrike" cap="none">
                  <a:solidFill>
                    <a:schemeClr val="lt1"/>
                  </a:solidFill>
                  <a:latin typeface="Arial"/>
                  <a:ea typeface="Arial"/>
                  <a:cs typeface="Arial"/>
                  <a:sym typeface="Arial"/>
                </a:rPr>
                <a:t> </a:t>
              </a:r>
              <a:r>
                <a:rPr lang="en-US" sz="4300" b="0" i="0" u="none" strike="noStrike" cap="none" err="1">
                  <a:solidFill>
                    <a:schemeClr val="lt1"/>
                  </a:solidFill>
                  <a:latin typeface="Arial"/>
                  <a:ea typeface="Arial"/>
                  <a:cs typeface="Arial"/>
                  <a:sym typeface="Arial"/>
                </a:rPr>
                <a:t>thay</a:t>
              </a:r>
              <a:r>
                <a:rPr lang="en-US" sz="4300" b="0" i="0" u="none" strike="noStrike" cap="none">
                  <a:solidFill>
                    <a:schemeClr val="lt1"/>
                  </a:solidFill>
                  <a:latin typeface="Arial"/>
                  <a:ea typeface="Arial"/>
                  <a:cs typeface="Arial"/>
                  <a:sym typeface="Arial"/>
                </a:rPr>
                <a:t> </a:t>
              </a:r>
              <a:r>
                <a:rPr lang="en-US" sz="4300" b="0" i="0" u="none" strike="noStrike" cap="none" err="1">
                  <a:solidFill>
                    <a:schemeClr val="lt1"/>
                  </a:solidFill>
                  <a:latin typeface="Arial"/>
                  <a:ea typeface="Arial"/>
                  <a:cs typeface="Arial"/>
                  <a:sym typeface="Arial"/>
                </a:rPr>
                <a:t>đổi</a:t>
              </a:r>
              <a:endParaRPr sz="4300" b="0" i="0" u="none" strike="noStrike" cap="none">
                <a:solidFill>
                  <a:schemeClr val="lt1"/>
                </a:solidFill>
                <a:latin typeface="Arial"/>
                <a:ea typeface="Arial"/>
                <a:cs typeface="Arial"/>
                <a:sym typeface="Arial"/>
              </a:endParaRPr>
            </a:p>
          </p:txBody>
        </p:sp>
        <p:sp>
          <p:nvSpPr>
            <p:cNvPr id="3206" name="Google Shape;3206;p409"/>
            <p:cNvSpPr/>
            <p:nvPr/>
          </p:nvSpPr>
          <p:spPr>
            <a:xfrm>
              <a:off x="0" y="2637059"/>
              <a:ext cx="6839625" cy="1006200"/>
            </a:xfrm>
            <a:prstGeom prst="roundRect">
              <a:avLst>
                <a:gd name="adj" fmla="val 16667"/>
              </a:avLst>
            </a:prstGeom>
            <a:solidFill>
              <a:srgbClr val="C47F6E"/>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409"/>
            <p:cNvSpPr txBox="1"/>
            <p:nvPr/>
          </p:nvSpPr>
          <p:spPr>
            <a:xfrm>
              <a:off x="49119" y="2686178"/>
              <a:ext cx="6741387" cy="907962"/>
            </a:xfrm>
            <a:prstGeom prst="rect">
              <a:avLst/>
            </a:prstGeom>
            <a:noFill/>
            <a:ln>
              <a:noFill/>
            </a:ln>
          </p:spPr>
          <p:txBody>
            <a:bodyPr spcFirstLastPara="1" wrap="square" lIns="163825" tIns="163825" rIns="163825" bIns="163825" anchor="ctr" anchorCtr="0">
              <a:noAutofit/>
            </a:bodyPr>
            <a:lstStyle/>
            <a:p>
              <a:pPr marL="0" marR="0" lvl="0" indent="0" algn="l" rtl="0">
                <a:lnSpc>
                  <a:spcPct val="90000"/>
                </a:lnSpc>
                <a:spcBef>
                  <a:spcPts val="0"/>
                </a:spcBef>
                <a:spcAft>
                  <a:spcPts val="0"/>
                </a:spcAft>
                <a:buClr>
                  <a:srgbClr val="000000"/>
                </a:buClr>
                <a:buSzPts val="4300"/>
                <a:buFont typeface="Arial"/>
                <a:buNone/>
              </a:pPr>
              <a:r>
                <a:rPr lang="en-US" sz="4300" b="0" i="0" u="none" strike="noStrike" cap="none">
                  <a:solidFill>
                    <a:schemeClr val="lt1"/>
                  </a:solidFill>
                  <a:latin typeface="Arial"/>
                  <a:ea typeface="Arial"/>
                  <a:cs typeface="Arial"/>
                  <a:sym typeface="Arial"/>
                </a:rPr>
                <a:t>Mua lặp lại có điều chỉnh</a:t>
              </a:r>
              <a:endParaRPr sz="4300" b="0" i="0" u="none" strike="noStrike" cap="none">
                <a:solidFill>
                  <a:schemeClr val="lt1"/>
                </a:solidFill>
                <a:latin typeface="Arial"/>
                <a:ea typeface="Arial"/>
                <a:cs typeface="Arial"/>
                <a:sym typeface="Arial"/>
              </a:endParaRPr>
            </a:p>
          </p:txBody>
        </p:sp>
        <p:sp>
          <p:nvSpPr>
            <p:cNvPr id="3208" name="Google Shape;3208;p409"/>
            <p:cNvSpPr/>
            <p:nvPr/>
          </p:nvSpPr>
          <p:spPr>
            <a:xfrm>
              <a:off x="0" y="367305"/>
              <a:ext cx="6839625" cy="1006200"/>
            </a:xfrm>
            <a:prstGeom prst="roundRect">
              <a:avLst>
                <a:gd name="adj" fmla="val 16667"/>
              </a:avLst>
            </a:prstGeom>
            <a:solidFill>
              <a:srgbClr val="A4A4A4"/>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409"/>
            <p:cNvSpPr txBox="1"/>
            <p:nvPr/>
          </p:nvSpPr>
          <p:spPr>
            <a:xfrm>
              <a:off x="49119" y="416424"/>
              <a:ext cx="6741387" cy="907962"/>
            </a:xfrm>
            <a:prstGeom prst="rect">
              <a:avLst/>
            </a:prstGeom>
            <a:noFill/>
            <a:ln>
              <a:noFill/>
            </a:ln>
          </p:spPr>
          <p:txBody>
            <a:bodyPr spcFirstLastPara="1" wrap="square" lIns="163825" tIns="163825" rIns="163825" bIns="163825" anchor="ctr" anchorCtr="0">
              <a:noAutofit/>
            </a:bodyPr>
            <a:lstStyle/>
            <a:p>
              <a:pPr marL="0" marR="0" lvl="0" indent="0" algn="l" rtl="0">
                <a:lnSpc>
                  <a:spcPct val="90000"/>
                </a:lnSpc>
                <a:spcBef>
                  <a:spcPts val="0"/>
                </a:spcBef>
                <a:spcAft>
                  <a:spcPts val="0"/>
                </a:spcAft>
                <a:buClr>
                  <a:srgbClr val="000000"/>
                </a:buClr>
                <a:buSzPts val="4300"/>
                <a:buFont typeface="Arial"/>
                <a:buNone/>
              </a:pPr>
              <a:r>
                <a:rPr lang="en-US" sz="4300" b="0" i="0" u="none" strike="noStrike" cap="none">
                  <a:solidFill>
                    <a:schemeClr val="lt1"/>
                  </a:solidFill>
                  <a:latin typeface="Arial"/>
                  <a:ea typeface="Arial"/>
                  <a:cs typeface="Arial"/>
                  <a:sym typeface="Arial"/>
                </a:rPr>
                <a:t>Mua </a:t>
              </a:r>
              <a:r>
                <a:rPr lang="en-US" sz="4300" b="0" i="0" u="none" strike="noStrike" cap="none" err="1">
                  <a:solidFill>
                    <a:schemeClr val="lt1"/>
                  </a:solidFill>
                  <a:latin typeface="Arial"/>
                  <a:ea typeface="Arial"/>
                  <a:cs typeface="Arial"/>
                  <a:sym typeface="Arial"/>
                </a:rPr>
                <a:t>mới</a:t>
              </a:r>
              <a:r>
                <a:rPr lang="en-US" sz="4300" b="0" i="0" u="none" strike="noStrike" cap="none">
                  <a:solidFill>
                    <a:schemeClr val="lt1"/>
                  </a:solidFill>
                  <a:latin typeface="Arial"/>
                  <a:ea typeface="Arial"/>
                  <a:cs typeface="Arial"/>
                  <a:sym typeface="Arial"/>
                </a:rPr>
                <a:t>/ Mua </a:t>
              </a:r>
              <a:r>
                <a:rPr lang="en-US" sz="4300" b="0" i="0" u="none" strike="noStrike" cap="none" err="1">
                  <a:solidFill>
                    <a:schemeClr val="lt1"/>
                  </a:solidFill>
                  <a:latin typeface="Arial"/>
                  <a:ea typeface="Arial"/>
                  <a:cs typeface="Arial"/>
                  <a:sym typeface="Arial"/>
                </a:rPr>
                <a:t>lần</a:t>
              </a:r>
              <a:r>
                <a:rPr lang="en-US" sz="4300" b="0" i="0" u="none" strike="noStrike" cap="none">
                  <a:solidFill>
                    <a:schemeClr val="lt1"/>
                  </a:solidFill>
                  <a:latin typeface="Arial"/>
                  <a:ea typeface="Arial"/>
                  <a:cs typeface="Arial"/>
                  <a:sym typeface="Arial"/>
                </a:rPr>
                <a:t> </a:t>
              </a:r>
              <a:r>
                <a:rPr lang="en-US" sz="4300" b="0" i="0" u="none" strike="noStrike" cap="none" err="1">
                  <a:solidFill>
                    <a:schemeClr val="lt1"/>
                  </a:solidFill>
                  <a:latin typeface="Arial"/>
                  <a:ea typeface="Arial"/>
                  <a:cs typeface="Arial"/>
                  <a:sym typeface="Arial"/>
                </a:rPr>
                <a:t>đầu</a:t>
              </a:r>
              <a:endParaRPr sz="4300" b="0" i="0" u="none" strike="noStrike" cap="none">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1622218372"/>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Shape 3213"/>
        <p:cNvGrpSpPr/>
        <p:nvPr/>
      </p:nvGrpSpPr>
      <p:grpSpPr>
        <a:xfrm>
          <a:off x="0" y="0"/>
          <a:ext cx="0" cy="0"/>
          <a:chOff x="0" y="0"/>
          <a:chExt cx="0" cy="0"/>
        </a:xfrm>
      </p:grpSpPr>
      <p:sp>
        <p:nvSpPr>
          <p:cNvPr id="3214" name="Google Shape;3214;p4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3200" b="1">
                <a:latin typeface="Arial"/>
                <a:ea typeface="Arial"/>
                <a:cs typeface="Arial"/>
                <a:sym typeface="Arial"/>
              </a:rPr>
              <a:t>Mua mới/Mua lần đầu</a:t>
            </a:r>
            <a:endParaRPr sz="3200" b="1">
              <a:latin typeface="Arial"/>
              <a:ea typeface="Arial"/>
              <a:cs typeface="Arial"/>
              <a:sym typeface="Arial"/>
            </a:endParaRPr>
          </a:p>
        </p:txBody>
      </p:sp>
      <p:sp>
        <p:nvSpPr>
          <p:cNvPr id="3215" name="Google Shape;3215;p4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0" indent="-342900" algn="just" rtl="0">
              <a:lnSpc>
                <a:spcPct val="150000"/>
              </a:lnSpc>
              <a:spcBef>
                <a:spcPts val="560"/>
              </a:spcBef>
              <a:spcAft>
                <a:spcPts val="0"/>
              </a:spcAft>
              <a:buClr>
                <a:srgbClr val="9C007F"/>
              </a:buClr>
              <a:buSzPts val="2660"/>
              <a:buChar char="•"/>
            </a:pPr>
            <a:r>
              <a:rPr lang="en-US" sz="2800">
                <a:solidFill>
                  <a:schemeClr val="dk1"/>
                </a:solidFill>
                <a:latin typeface="Arial"/>
                <a:ea typeface="Arial"/>
                <a:cs typeface="Arial"/>
                <a:sym typeface="Arial"/>
              </a:rPr>
              <a:t>Các tổ chức phải tìm kiếm đa dạng nguồn thông tin.</a:t>
            </a:r>
            <a:endParaRPr sz="2800">
              <a:solidFill>
                <a:schemeClr val="dk1"/>
              </a:solidFill>
              <a:latin typeface="Arial"/>
              <a:ea typeface="Arial"/>
              <a:cs typeface="Arial"/>
              <a:sym typeface="Arial"/>
            </a:endParaRPr>
          </a:p>
          <a:p>
            <a:pPr marL="457200" lvl="0" indent="-342900" algn="just" rtl="0">
              <a:lnSpc>
                <a:spcPct val="150000"/>
              </a:lnSpc>
              <a:spcBef>
                <a:spcPts val="560"/>
              </a:spcBef>
              <a:spcAft>
                <a:spcPts val="0"/>
              </a:spcAft>
              <a:buClr>
                <a:srgbClr val="9C007F"/>
              </a:buClr>
              <a:buSzPts val="2660"/>
              <a:buChar char="•"/>
            </a:pPr>
            <a:r>
              <a:rPr lang="en-US" sz="2800">
                <a:solidFill>
                  <a:schemeClr val="dk1"/>
                </a:solidFill>
                <a:latin typeface="Arial"/>
                <a:ea typeface="Arial"/>
                <a:cs typeface="Arial"/>
                <a:sym typeface="Arial"/>
              </a:rPr>
              <a:t>Nhiều vai trò, vị trí tham gia trong quá trình mua.</a:t>
            </a:r>
            <a:endParaRPr sz="2800">
              <a:solidFill>
                <a:schemeClr val="dk1"/>
              </a:solidFill>
              <a:latin typeface="Arial"/>
              <a:ea typeface="Arial"/>
              <a:cs typeface="Arial"/>
              <a:sym typeface="Arial"/>
            </a:endParaRPr>
          </a:p>
          <a:p>
            <a:pPr marL="457200" lvl="0" indent="-342900" algn="just" rtl="0">
              <a:lnSpc>
                <a:spcPct val="150000"/>
              </a:lnSpc>
              <a:spcBef>
                <a:spcPts val="560"/>
              </a:spcBef>
              <a:spcAft>
                <a:spcPts val="0"/>
              </a:spcAft>
              <a:buClr>
                <a:srgbClr val="9C007F"/>
              </a:buClr>
              <a:buSzPts val="2660"/>
              <a:buChar char="•"/>
            </a:pPr>
            <a:r>
              <a:rPr lang="en-US" sz="2800">
                <a:solidFill>
                  <a:schemeClr val="dk1"/>
                </a:solidFill>
                <a:latin typeface="Arial"/>
                <a:ea typeface="Arial"/>
                <a:cs typeface="Arial"/>
                <a:sym typeface="Arial"/>
              </a:rPr>
              <a:t>Cần nhiều thời gian để ra quyết định.</a:t>
            </a:r>
            <a:endParaRPr/>
          </a:p>
        </p:txBody>
      </p:sp>
    </p:spTree>
    <p:extLst>
      <p:ext uri="{BB962C8B-B14F-4D97-AF65-F5344CB8AC3E}">
        <p14:creationId xmlns:p14="http://schemas.microsoft.com/office/powerpoint/2010/main" val="750985427"/>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Shape 3219"/>
        <p:cNvGrpSpPr/>
        <p:nvPr/>
      </p:nvGrpSpPr>
      <p:grpSpPr>
        <a:xfrm>
          <a:off x="0" y="0"/>
          <a:ext cx="0" cy="0"/>
          <a:chOff x="0" y="0"/>
          <a:chExt cx="0" cy="0"/>
        </a:xfrm>
      </p:grpSpPr>
      <p:sp>
        <p:nvSpPr>
          <p:cNvPr id="3220" name="Google Shape;3220;p4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3200" b="1">
                <a:latin typeface="Arial"/>
                <a:ea typeface="Arial"/>
                <a:cs typeface="Arial"/>
                <a:sym typeface="Arial"/>
              </a:rPr>
              <a:t>Mua lặp lại không thay đổi</a:t>
            </a:r>
            <a:br>
              <a:rPr lang="en-US" sz="3200" b="1">
                <a:latin typeface="Arial"/>
                <a:ea typeface="Arial"/>
                <a:cs typeface="Arial"/>
                <a:sym typeface="Arial"/>
              </a:rPr>
            </a:br>
            <a:r>
              <a:rPr lang="en-US" sz="3200" b="1">
                <a:latin typeface="Arial"/>
                <a:ea typeface="Arial"/>
                <a:cs typeface="Arial"/>
                <a:sym typeface="Arial"/>
              </a:rPr>
              <a:t> </a:t>
            </a:r>
            <a:endParaRPr sz="3200" b="1">
              <a:latin typeface="Arial"/>
              <a:ea typeface="Arial"/>
              <a:cs typeface="Arial"/>
              <a:sym typeface="Arial"/>
            </a:endParaRPr>
          </a:p>
        </p:txBody>
      </p:sp>
      <p:sp>
        <p:nvSpPr>
          <p:cNvPr id="3221" name="Google Shape;3221;p4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457200" lvl="0" indent="-342900" algn="l" rtl="0">
              <a:lnSpc>
                <a:spcPct val="150000"/>
              </a:lnSpc>
              <a:spcBef>
                <a:spcPts val="0"/>
              </a:spcBef>
              <a:spcAft>
                <a:spcPts val="0"/>
              </a:spcAft>
              <a:buSzPts val="1800"/>
              <a:buChar char="•"/>
            </a:pPr>
            <a:r>
              <a:rPr lang="en-US" sz="2800" err="1">
                <a:solidFill>
                  <a:schemeClr val="dk1"/>
                </a:solidFill>
                <a:latin typeface="Arial"/>
                <a:ea typeface="Arial"/>
                <a:cs typeface="Arial"/>
                <a:sym typeface="Arial"/>
              </a:rPr>
              <a:t>Thực</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hiện</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lại</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đơn</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đặt</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hàng</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với</a:t>
            </a:r>
            <a:r>
              <a:rPr lang="en-US" sz="2800">
                <a:solidFill>
                  <a:schemeClr val="dk1"/>
                </a:solidFill>
                <a:latin typeface="Arial"/>
                <a:ea typeface="Arial"/>
                <a:cs typeface="Arial"/>
                <a:sym typeface="Arial"/>
              </a:rPr>
              <a:t> </a:t>
            </a:r>
            <a:r>
              <a:rPr lang="en-US" err="1">
                <a:latin typeface="Arial"/>
                <a:ea typeface="Arial"/>
                <a:cs typeface="Arial"/>
                <a:sym typeface="Arial"/>
              </a:rPr>
              <a:t>nhà</a:t>
            </a:r>
            <a:r>
              <a:rPr lang="en-US">
                <a:latin typeface="Arial"/>
                <a:ea typeface="Arial"/>
                <a:cs typeface="Arial"/>
                <a:sym typeface="Arial"/>
              </a:rPr>
              <a:t> </a:t>
            </a:r>
            <a:r>
              <a:rPr lang="en-US" err="1">
                <a:latin typeface="Arial"/>
                <a:ea typeface="Arial"/>
                <a:cs typeface="Arial"/>
                <a:sym typeface="Arial"/>
              </a:rPr>
              <a:t>cung</a:t>
            </a:r>
            <a:r>
              <a:rPr lang="en-US">
                <a:latin typeface="Arial"/>
                <a:ea typeface="Arial"/>
                <a:cs typeface="Arial"/>
                <a:sym typeface="Arial"/>
              </a:rPr>
              <a:t> </a:t>
            </a:r>
            <a:r>
              <a:rPr lang="en-US" err="1">
                <a:latin typeface="Arial"/>
                <a:ea typeface="Arial"/>
                <a:cs typeface="Arial"/>
                <a:sym typeface="Arial"/>
              </a:rPr>
              <a:t>cấp</a:t>
            </a:r>
            <a:r>
              <a:rPr lang="en-US">
                <a:latin typeface="Arial"/>
                <a:ea typeface="Arial"/>
                <a:cs typeface="Arial"/>
                <a:sym typeface="Arial"/>
              </a:rPr>
              <a:t> </a:t>
            </a:r>
            <a:r>
              <a:rPr lang="en-US" sz="2800" err="1">
                <a:solidFill>
                  <a:schemeClr val="dk1"/>
                </a:solidFill>
                <a:latin typeface="Arial"/>
                <a:ea typeface="Arial"/>
                <a:cs typeface="Arial"/>
                <a:sym typeface="Arial"/>
              </a:rPr>
              <a:t>mà</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không</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có</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sự</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thay</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đổi</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nào</a:t>
            </a:r>
            <a:r>
              <a:rPr lang="en-US" sz="2800">
                <a:solidFill>
                  <a:schemeClr val="dk1"/>
                </a:solidFill>
                <a:latin typeface="Arial"/>
                <a:ea typeface="Arial"/>
                <a:cs typeface="Arial"/>
                <a:sym typeface="Arial"/>
              </a:rPr>
              <a:t> so </a:t>
            </a:r>
            <a:r>
              <a:rPr lang="en-US" sz="2800" err="1">
                <a:solidFill>
                  <a:schemeClr val="dk1"/>
                </a:solidFill>
                <a:latin typeface="Arial"/>
                <a:ea typeface="Arial"/>
                <a:cs typeface="Arial"/>
                <a:sym typeface="Arial"/>
              </a:rPr>
              <a:t>với</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các</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lần</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trước</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về</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điều</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kiện</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cung</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cấp</a:t>
            </a:r>
            <a:r>
              <a:rPr lang="en-US"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a:p>
            <a:pPr marL="457200" lvl="0" indent="-228600" algn="l" rtl="0">
              <a:lnSpc>
                <a:spcPct val="150000"/>
              </a:lnSpc>
              <a:spcBef>
                <a:spcPts val="0"/>
              </a:spcBef>
              <a:spcAft>
                <a:spcPts val="0"/>
              </a:spcAft>
              <a:buSzPts val="1800"/>
              <a:buNone/>
            </a:pPr>
            <a:endParaRPr sz="2800">
              <a:solidFill>
                <a:schemeClr val="dk1"/>
              </a:solidFill>
              <a:latin typeface="Arial"/>
              <a:ea typeface="Arial"/>
              <a:cs typeface="Arial"/>
              <a:sym typeface="Arial"/>
            </a:endParaRPr>
          </a:p>
          <a:p>
            <a:pPr marL="457200" lvl="0" indent="-342900" algn="l" rtl="0">
              <a:lnSpc>
                <a:spcPct val="150000"/>
              </a:lnSpc>
              <a:spcBef>
                <a:spcPts val="0"/>
              </a:spcBef>
              <a:spcAft>
                <a:spcPts val="0"/>
              </a:spcAft>
              <a:buSzPts val="1800"/>
              <a:buChar char="•"/>
            </a:pPr>
            <a:r>
              <a:rPr lang="en-US" err="1">
                <a:latin typeface="Arial"/>
                <a:ea typeface="Arial"/>
                <a:cs typeface="Arial"/>
                <a:sym typeface="Arial"/>
              </a:rPr>
              <a:t>Thường</a:t>
            </a:r>
            <a:r>
              <a:rPr lang="en-US">
                <a:latin typeface="Arial"/>
                <a:ea typeface="Arial"/>
                <a:cs typeface="Arial"/>
                <a:sym typeface="Arial"/>
              </a:rPr>
              <a:t> </a:t>
            </a:r>
            <a:r>
              <a:rPr lang="en-US" err="1">
                <a:latin typeface="Arial"/>
                <a:ea typeface="Arial"/>
                <a:cs typeface="Arial"/>
                <a:sym typeface="Arial"/>
              </a:rPr>
              <a:t>thấy</a:t>
            </a:r>
            <a:r>
              <a:rPr lang="en-US">
                <a:latin typeface="Arial"/>
                <a:ea typeface="Arial"/>
                <a:cs typeface="Arial"/>
                <a:sym typeface="Arial"/>
              </a:rPr>
              <a:t> </a:t>
            </a:r>
            <a:r>
              <a:rPr lang="en-US" err="1">
                <a:latin typeface="Arial"/>
                <a:ea typeface="Arial"/>
                <a:cs typeface="Arial"/>
                <a:sym typeface="Arial"/>
              </a:rPr>
              <a:t>trong</a:t>
            </a:r>
            <a:r>
              <a:rPr lang="en-US">
                <a:latin typeface="Arial"/>
                <a:ea typeface="Arial"/>
                <a:cs typeface="Arial"/>
                <a:sym typeface="Arial"/>
              </a:rPr>
              <a:t> </a:t>
            </a:r>
            <a:r>
              <a:rPr lang="en-US" err="1">
                <a:latin typeface="Arial"/>
                <a:ea typeface="Arial"/>
                <a:cs typeface="Arial"/>
                <a:sym typeface="Arial"/>
              </a:rPr>
              <a:t>các</a:t>
            </a:r>
            <a:r>
              <a:rPr lang="en-US">
                <a:latin typeface="Arial"/>
                <a:ea typeface="Arial"/>
                <a:cs typeface="Arial"/>
                <a:sym typeface="Arial"/>
              </a:rPr>
              <a:t> </a:t>
            </a:r>
            <a:r>
              <a:rPr lang="en-US" err="1">
                <a:latin typeface="Arial"/>
                <a:ea typeface="Arial"/>
                <a:cs typeface="Arial"/>
                <a:sym typeface="Arial"/>
              </a:rPr>
              <a:t>giao</a:t>
            </a:r>
            <a:r>
              <a:rPr lang="en-US">
                <a:latin typeface="Arial"/>
                <a:ea typeface="Arial"/>
                <a:cs typeface="Arial"/>
                <a:sym typeface="Arial"/>
              </a:rPr>
              <a:t> </a:t>
            </a:r>
            <a:r>
              <a:rPr lang="en-US" err="1">
                <a:latin typeface="Arial"/>
                <a:ea typeface="Arial"/>
                <a:cs typeface="Arial"/>
                <a:sym typeface="Arial"/>
              </a:rPr>
              <a:t>dịch</a:t>
            </a:r>
            <a:r>
              <a:rPr lang="en-US">
                <a:latin typeface="Arial"/>
                <a:ea typeface="Arial"/>
                <a:cs typeface="Arial"/>
                <a:sym typeface="Arial"/>
              </a:rPr>
              <a:t> </a:t>
            </a:r>
            <a:r>
              <a:rPr lang="en-US" err="1">
                <a:latin typeface="Arial"/>
                <a:ea typeface="Arial"/>
                <a:cs typeface="Arial"/>
                <a:sym typeface="Arial"/>
              </a:rPr>
              <a:t>ổn</a:t>
            </a:r>
            <a:r>
              <a:rPr lang="en-US">
                <a:latin typeface="Arial"/>
                <a:ea typeface="Arial"/>
                <a:cs typeface="Arial"/>
                <a:sym typeface="Arial"/>
              </a:rPr>
              <a:t> </a:t>
            </a:r>
            <a:r>
              <a:rPr lang="en-US" err="1">
                <a:latin typeface="Arial"/>
                <a:ea typeface="Arial"/>
                <a:cs typeface="Arial"/>
                <a:sym typeface="Arial"/>
              </a:rPr>
              <a:t>định</a:t>
            </a:r>
            <a:r>
              <a:rPr lang="en-US">
                <a:latin typeface="Arial"/>
                <a:ea typeface="Arial"/>
                <a:cs typeface="Arial"/>
                <a:sym typeface="Arial"/>
              </a:rPr>
              <a:t>, </a:t>
            </a:r>
            <a:r>
              <a:rPr lang="en-US" err="1">
                <a:latin typeface="Arial"/>
                <a:ea typeface="Arial"/>
                <a:cs typeface="Arial"/>
                <a:sym typeface="Arial"/>
              </a:rPr>
              <a:t>dài</a:t>
            </a:r>
            <a:r>
              <a:rPr lang="en-US">
                <a:latin typeface="Arial"/>
                <a:ea typeface="Arial"/>
                <a:cs typeface="Arial"/>
                <a:sym typeface="Arial"/>
              </a:rPr>
              <a:t> </a:t>
            </a:r>
            <a:r>
              <a:rPr lang="en-US" err="1">
                <a:latin typeface="Arial"/>
                <a:ea typeface="Arial"/>
                <a:cs typeface="Arial"/>
                <a:sym typeface="Arial"/>
              </a:rPr>
              <a:t>hạn</a:t>
            </a:r>
            <a:r>
              <a:rPr lang="en-US">
                <a:latin typeface="Arial"/>
                <a:ea typeface="Arial"/>
                <a:cs typeface="Arial"/>
                <a:sym typeface="Arial"/>
              </a:rPr>
              <a:t> (</a:t>
            </a:r>
            <a:r>
              <a:rPr lang="en-US" i="1" err="1">
                <a:latin typeface="Arial"/>
                <a:ea typeface="Arial"/>
                <a:cs typeface="Arial"/>
                <a:sym typeface="Arial"/>
              </a:rPr>
              <a:t>mua</a:t>
            </a:r>
            <a:r>
              <a:rPr lang="en-US" i="1">
                <a:latin typeface="Arial"/>
                <a:ea typeface="Arial"/>
                <a:cs typeface="Arial"/>
                <a:sym typeface="Arial"/>
              </a:rPr>
              <a:t> </a:t>
            </a:r>
            <a:r>
              <a:rPr lang="en-US" i="1" err="1">
                <a:latin typeface="Arial"/>
                <a:ea typeface="Arial"/>
                <a:cs typeface="Arial"/>
                <a:sym typeface="Arial"/>
              </a:rPr>
              <a:t>nguyên</a:t>
            </a:r>
            <a:r>
              <a:rPr lang="en-US" i="1">
                <a:latin typeface="Arial"/>
                <a:ea typeface="Arial"/>
                <a:cs typeface="Arial"/>
                <a:sym typeface="Arial"/>
              </a:rPr>
              <a:t> </a:t>
            </a:r>
            <a:r>
              <a:rPr lang="en-US" i="1" err="1">
                <a:latin typeface="Arial"/>
                <a:ea typeface="Arial"/>
                <a:cs typeface="Arial"/>
                <a:sym typeface="Arial"/>
              </a:rPr>
              <a:t>vật</a:t>
            </a:r>
            <a:r>
              <a:rPr lang="en-US" i="1">
                <a:latin typeface="Arial"/>
                <a:ea typeface="Arial"/>
                <a:cs typeface="Arial"/>
                <a:sym typeface="Arial"/>
              </a:rPr>
              <a:t> </a:t>
            </a:r>
            <a:r>
              <a:rPr lang="en-US" i="1" err="1">
                <a:latin typeface="Arial"/>
                <a:ea typeface="Arial"/>
                <a:cs typeface="Arial"/>
                <a:sym typeface="Arial"/>
              </a:rPr>
              <a:t>liệu</a:t>
            </a:r>
            <a:r>
              <a:rPr lang="en-US" i="1">
                <a:latin typeface="Arial"/>
                <a:ea typeface="Arial"/>
                <a:cs typeface="Arial"/>
                <a:sym typeface="Arial"/>
              </a:rPr>
              <a:t>, </a:t>
            </a:r>
            <a:r>
              <a:rPr lang="en-US" i="1" err="1">
                <a:latin typeface="Arial"/>
                <a:ea typeface="Arial"/>
                <a:cs typeface="Arial"/>
                <a:sym typeface="Arial"/>
              </a:rPr>
              <a:t>phụ</a:t>
            </a:r>
            <a:r>
              <a:rPr lang="en-US" i="1">
                <a:latin typeface="Arial"/>
                <a:ea typeface="Arial"/>
                <a:cs typeface="Arial"/>
                <a:sym typeface="Arial"/>
              </a:rPr>
              <a:t> </a:t>
            </a:r>
            <a:r>
              <a:rPr lang="en-US" i="1" err="1">
                <a:latin typeface="Arial"/>
                <a:ea typeface="Arial"/>
                <a:cs typeface="Arial"/>
                <a:sym typeface="Arial"/>
              </a:rPr>
              <a:t>liệu</a:t>
            </a:r>
            <a:r>
              <a:rPr lang="en-US" i="1">
                <a:latin typeface="Arial"/>
                <a:ea typeface="Arial"/>
                <a:cs typeface="Arial"/>
                <a:sym typeface="Arial"/>
              </a:rPr>
              <a:t>,… </a:t>
            </a:r>
            <a:r>
              <a:rPr lang="en-US" i="1" err="1">
                <a:latin typeface="Arial"/>
                <a:ea typeface="Arial"/>
                <a:cs typeface="Arial"/>
                <a:sym typeface="Arial"/>
              </a:rPr>
              <a:t>đầu</a:t>
            </a:r>
            <a:r>
              <a:rPr lang="en-US" i="1">
                <a:latin typeface="Arial"/>
                <a:ea typeface="Arial"/>
                <a:cs typeface="Arial"/>
                <a:sym typeface="Arial"/>
              </a:rPr>
              <a:t> </a:t>
            </a:r>
            <a:r>
              <a:rPr lang="en-US" i="1" err="1">
                <a:latin typeface="Arial"/>
                <a:ea typeface="Arial"/>
                <a:cs typeface="Arial"/>
                <a:sym typeface="Arial"/>
              </a:rPr>
              <a:t>vào</a:t>
            </a:r>
            <a:r>
              <a:rPr lang="en-US" i="1">
                <a:latin typeface="Arial"/>
                <a:ea typeface="Arial"/>
                <a:cs typeface="Arial"/>
                <a:sym typeface="Arial"/>
              </a:rPr>
              <a:t> </a:t>
            </a:r>
            <a:r>
              <a:rPr lang="en-US" i="1" err="1">
                <a:latin typeface="Arial"/>
                <a:ea typeface="Arial"/>
                <a:cs typeface="Arial"/>
                <a:sym typeface="Arial"/>
              </a:rPr>
              <a:t>của</a:t>
            </a:r>
            <a:r>
              <a:rPr lang="en-US" i="1">
                <a:latin typeface="Arial"/>
                <a:ea typeface="Arial"/>
                <a:cs typeface="Arial"/>
                <a:sym typeface="Arial"/>
              </a:rPr>
              <a:t> </a:t>
            </a:r>
            <a:r>
              <a:rPr lang="en-US" i="1" err="1">
                <a:latin typeface="Arial"/>
                <a:ea typeface="Arial"/>
                <a:cs typeface="Arial"/>
                <a:sym typeface="Arial"/>
              </a:rPr>
              <a:t>quá</a:t>
            </a:r>
            <a:r>
              <a:rPr lang="en-US" i="1">
                <a:latin typeface="Arial"/>
                <a:ea typeface="Arial"/>
                <a:cs typeface="Arial"/>
                <a:sym typeface="Arial"/>
              </a:rPr>
              <a:t> </a:t>
            </a:r>
            <a:r>
              <a:rPr lang="en-US" i="1" err="1">
                <a:latin typeface="Arial"/>
                <a:ea typeface="Arial"/>
                <a:cs typeface="Arial"/>
                <a:sym typeface="Arial"/>
              </a:rPr>
              <a:t>trình</a:t>
            </a:r>
            <a:r>
              <a:rPr lang="en-US" i="1">
                <a:latin typeface="Arial"/>
                <a:ea typeface="Arial"/>
                <a:cs typeface="Arial"/>
                <a:sym typeface="Arial"/>
              </a:rPr>
              <a:t> </a:t>
            </a:r>
            <a:r>
              <a:rPr lang="en-US" i="1" err="1">
                <a:latin typeface="Arial"/>
                <a:ea typeface="Arial"/>
                <a:cs typeface="Arial"/>
                <a:sym typeface="Arial"/>
              </a:rPr>
              <a:t>sản</a:t>
            </a:r>
            <a:r>
              <a:rPr lang="en-US" i="1">
                <a:latin typeface="Arial"/>
                <a:ea typeface="Arial"/>
                <a:cs typeface="Arial"/>
                <a:sym typeface="Arial"/>
              </a:rPr>
              <a:t> </a:t>
            </a:r>
            <a:r>
              <a:rPr lang="en-US" i="1" err="1">
                <a:latin typeface="Arial"/>
                <a:ea typeface="Arial"/>
                <a:cs typeface="Arial"/>
                <a:sym typeface="Arial"/>
              </a:rPr>
              <a:t>xuất</a:t>
            </a:r>
            <a:r>
              <a:rPr lang="en-US" i="1">
                <a:latin typeface="Arial"/>
                <a:ea typeface="Arial"/>
                <a:cs typeface="Arial"/>
                <a:sym typeface="Arial"/>
              </a:rPr>
              <a:t>, </a:t>
            </a:r>
            <a:r>
              <a:rPr lang="en-US" i="1" err="1">
                <a:latin typeface="Arial"/>
                <a:ea typeface="Arial"/>
                <a:cs typeface="Arial"/>
                <a:sym typeface="Arial"/>
              </a:rPr>
              <a:t>tiêu</a:t>
            </a:r>
            <a:r>
              <a:rPr lang="en-US" i="1">
                <a:latin typeface="Arial"/>
                <a:ea typeface="Arial"/>
                <a:cs typeface="Arial"/>
                <a:sym typeface="Arial"/>
              </a:rPr>
              <a:t> </a:t>
            </a:r>
            <a:r>
              <a:rPr lang="en-US" i="1" err="1">
                <a:latin typeface="Arial"/>
                <a:ea typeface="Arial"/>
                <a:cs typeface="Arial"/>
                <a:sym typeface="Arial"/>
              </a:rPr>
              <a:t>dùng</a:t>
            </a:r>
            <a:r>
              <a:rPr lang="en-US" i="1">
                <a:latin typeface="Arial"/>
                <a:ea typeface="Arial"/>
                <a:cs typeface="Arial"/>
                <a:sym typeface="Arial"/>
              </a:rPr>
              <a:t> </a:t>
            </a:r>
            <a:r>
              <a:rPr lang="en-US" i="1" err="1">
                <a:latin typeface="Arial"/>
                <a:ea typeface="Arial"/>
                <a:cs typeface="Arial"/>
                <a:sym typeface="Arial"/>
              </a:rPr>
              <a:t>của</a:t>
            </a:r>
            <a:r>
              <a:rPr lang="en-US" i="1">
                <a:latin typeface="Arial"/>
                <a:ea typeface="Arial"/>
                <a:cs typeface="Arial"/>
                <a:sym typeface="Arial"/>
              </a:rPr>
              <a:t> </a:t>
            </a:r>
            <a:r>
              <a:rPr lang="en-US" i="1" err="1">
                <a:latin typeface="Arial"/>
                <a:ea typeface="Arial"/>
                <a:cs typeface="Arial"/>
                <a:sym typeface="Arial"/>
              </a:rPr>
              <a:t>tổ</a:t>
            </a:r>
            <a:r>
              <a:rPr lang="en-US" i="1">
                <a:latin typeface="Arial"/>
                <a:ea typeface="Arial"/>
                <a:cs typeface="Arial"/>
                <a:sym typeface="Arial"/>
              </a:rPr>
              <a:t> </a:t>
            </a:r>
            <a:r>
              <a:rPr lang="en-US" i="1" err="1">
                <a:latin typeface="Arial"/>
                <a:ea typeface="Arial"/>
                <a:cs typeface="Arial"/>
                <a:sym typeface="Arial"/>
              </a:rPr>
              <a:t>chức</a:t>
            </a:r>
            <a:r>
              <a:rPr lang="en-US" i="1">
                <a:latin typeface="Arial"/>
                <a:ea typeface="Arial"/>
                <a:cs typeface="Arial"/>
                <a:sym typeface="Arial"/>
              </a:rPr>
              <a:t> </a:t>
            </a:r>
            <a:r>
              <a:rPr lang="en-US" i="1" err="1">
                <a:latin typeface="Arial"/>
                <a:ea typeface="Arial"/>
                <a:cs typeface="Arial"/>
                <a:sym typeface="Arial"/>
              </a:rPr>
              <a:t>theo</a:t>
            </a:r>
            <a:r>
              <a:rPr lang="en-US" i="1">
                <a:latin typeface="Arial"/>
                <a:ea typeface="Arial"/>
                <a:cs typeface="Arial"/>
                <a:sym typeface="Arial"/>
              </a:rPr>
              <a:t> </a:t>
            </a:r>
            <a:r>
              <a:rPr lang="en-US" i="1" err="1">
                <a:latin typeface="Arial"/>
                <a:ea typeface="Arial"/>
                <a:cs typeface="Arial"/>
                <a:sym typeface="Arial"/>
              </a:rPr>
              <a:t>hợp</a:t>
            </a:r>
            <a:r>
              <a:rPr lang="en-US" i="1">
                <a:latin typeface="Arial"/>
                <a:ea typeface="Arial"/>
                <a:cs typeface="Arial"/>
                <a:sym typeface="Arial"/>
              </a:rPr>
              <a:t> </a:t>
            </a:r>
            <a:r>
              <a:rPr lang="en-US" i="1" err="1">
                <a:latin typeface="Arial"/>
                <a:ea typeface="Arial"/>
                <a:cs typeface="Arial"/>
                <a:sym typeface="Arial"/>
              </a:rPr>
              <a:t>đồng</a:t>
            </a:r>
            <a:r>
              <a:rPr lang="en-US" i="1">
                <a:latin typeface="Arial"/>
                <a:ea typeface="Arial"/>
                <a:cs typeface="Arial"/>
                <a:sym typeface="Arial"/>
              </a:rPr>
              <a:t> </a:t>
            </a:r>
            <a:r>
              <a:rPr lang="en-US" i="1" err="1">
                <a:latin typeface="Arial"/>
                <a:ea typeface="Arial"/>
                <a:cs typeface="Arial"/>
                <a:sym typeface="Arial"/>
              </a:rPr>
              <a:t>cung</a:t>
            </a:r>
            <a:r>
              <a:rPr lang="en-US" i="1">
                <a:latin typeface="Arial"/>
                <a:ea typeface="Arial"/>
                <a:cs typeface="Arial"/>
                <a:sym typeface="Arial"/>
              </a:rPr>
              <a:t> </a:t>
            </a:r>
            <a:r>
              <a:rPr lang="en-US" i="1" err="1">
                <a:latin typeface="Arial"/>
                <a:ea typeface="Arial"/>
                <a:cs typeface="Arial"/>
                <a:sym typeface="Arial"/>
              </a:rPr>
              <a:t>cấp</a:t>
            </a:r>
            <a:r>
              <a:rPr lang="en-US" i="1">
                <a:latin typeface="Arial"/>
                <a:ea typeface="Arial"/>
                <a:cs typeface="Arial"/>
                <a:sym typeface="Arial"/>
              </a:rPr>
              <a:t> </a:t>
            </a:r>
            <a:r>
              <a:rPr lang="en-US" i="1" err="1">
                <a:latin typeface="Arial"/>
                <a:ea typeface="Arial"/>
                <a:cs typeface="Arial"/>
                <a:sym typeface="Arial"/>
              </a:rPr>
              <a:t>dài</a:t>
            </a:r>
            <a:r>
              <a:rPr lang="en-US" i="1">
                <a:latin typeface="Arial"/>
                <a:ea typeface="Arial"/>
                <a:cs typeface="Arial"/>
                <a:sym typeface="Arial"/>
              </a:rPr>
              <a:t> </a:t>
            </a:r>
            <a:r>
              <a:rPr lang="en-US" i="1" err="1">
                <a:latin typeface="Arial"/>
                <a:ea typeface="Arial"/>
                <a:cs typeface="Arial"/>
                <a:sym typeface="Arial"/>
              </a:rPr>
              <a:t>hạn</a:t>
            </a:r>
            <a:r>
              <a:rPr lang="en-US" i="1">
                <a:latin typeface="Arial"/>
                <a:ea typeface="Arial"/>
                <a:cs typeface="Arial"/>
                <a:sym typeface="Arial"/>
              </a:rPr>
              <a:t>; </a:t>
            </a:r>
            <a:r>
              <a:rPr lang="en-US" i="1" err="1">
                <a:latin typeface="Arial"/>
                <a:ea typeface="Arial"/>
                <a:cs typeface="Arial"/>
                <a:sym typeface="Arial"/>
              </a:rPr>
              <a:t>đặt</a:t>
            </a:r>
            <a:r>
              <a:rPr lang="en-US" i="1">
                <a:latin typeface="Arial"/>
                <a:ea typeface="Arial"/>
                <a:cs typeface="Arial"/>
                <a:sym typeface="Arial"/>
              </a:rPr>
              <a:t> </a:t>
            </a:r>
            <a:r>
              <a:rPr lang="en-US" i="1" err="1">
                <a:latin typeface="Arial"/>
                <a:ea typeface="Arial"/>
                <a:cs typeface="Arial"/>
                <a:sym typeface="Arial"/>
              </a:rPr>
              <a:t>hàng</a:t>
            </a:r>
            <a:r>
              <a:rPr lang="en-US" i="1">
                <a:latin typeface="Arial"/>
                <a:ea typeface="Arial"/>
                <a:cs typeface="Arial"/>
                <a:sym typeface="Arial"/>
              </a:rPr>
              <a:t> </a:t>
            </a:r>
            <a:r>
              <a:rPr lang="en-US" i="1" err="1">
                <a:latin typeface="Arial"/>
                <a:ea typeface="Arial"/>
                <a:cs typeface="Arial"/>
                <a:sym typeface="Arial"/>
              </a:rPr>
              <a:t>theo</a:t>
            </a:r>
            <a:r>
              <a:rPr lang="en-US" i="1">
                <a:latin typeface="Arial"/>
                <a:ea typeface="Arial"/>
                <a:cs typeface="Arial"/>
                <a:sym typeface="Arial"/>
              </a:rPr>
              <a:t> </a:t>
            </a:r>
            <a:r>
              <a:rPr lang="en-US" i="1" err="1">
                <a:latin typeface="Arial"/>
                <a:ea typeface="Arial"/>
                <a:cs typeface="Arial"/>
                <a:sym typeface="Arial"/>
              </a:rPr>
              <a:t>hợp</a:t>
            </a:r>
            <a:r>
              <a:rPr lang="en-US" i="1">
                <a:latin typeface="Arial"/>
                <a:ea typeface="Arial"/>
                <a:cs typeface="Arial"/>
                <a:sym typeface="Arial"/>
              </a:rPr>
              <a:t> </a:t>
            </a:r>
            <a:r>
              <a:rPr lang="en-US" i="1" err="1">
                <a:latin typeface="Arial"/>
                <a:ea typeface="Arial"/>
                <a:cs typeface="Arial"/>
                <a:sym typeface="Arial"/>
              </a:rPr>
              <a:t>đồng</a:t>
            </a:r>
            <a:r>
              <a:rPr lang="en-US" i="1">
                <a:latin typeface="Arial"/>
                <a:ea typeface="Arial"/>
                <a:cs typeface="Arial"/>
                <a:sym typeface="Arial"/>
              </a:rPr>
              <a:t> </a:t>
            </a:r>
            <a:r>
              <a:rPr lang="en-US" i="1" err="1">
                <a:latin typeface="Arial"/>
                <a:ea typeface="Arial"/>
                <a:cs typeface="Arial"/>
                <a:sym typeface="Arial"/>
              </a:rPr>
              <a:t>cung</a:t>
            </a:r>
            <a:r>
              <a:rPr lang="en-US" i="1">
                <a:latin typeface="Arial"/>
                <a:ea typeface="Arial"/>
                <a:cs typeface="Arial"/>
                <a:sym typeface="Arial"/>
              </a:rPr>
              <a:t> </a:t>
            </a:r>
            <a:r>
              <a:rPr lang="en-US" i="1" err="1">
                <a:latin typeface="Arial"/>
                <a:ea typeface="Arial"/>
                <a:cs typeface="Arial"/>
                <a:sym typeface="Arial"/>
              </a:rPr>
              <a:t>cấp</a:t>
            </a:r>
            <a:r>
              <a:rPr lang="en-US" i="1">
                <a:latin typeface="Arial"/>
                <a:ea typeface="Arial"/>
                <a:cs typeface="Arial"/>
                <a:sym typeface="Arial"/>
              </a:rPr>
              <a:t> </a:t>
            </a:r>
            <a:r>
              <a:rPr lang="en-US" i="1" err="1">
                <a:latin typeface="Arial"/>
                <a:ea typeface="Arial"/>
                <a:cs typeface="Arial"/>
                <a:sym typeface="Arial"/>
              </a:rPr>
              <a:t>dài</a:t>
            </a:r>
            <a:r>
              <a:rPr lang="en-US" i="1">
                <a:latin typeface="Arial"/>
                <a:ea typeface="Arial"/>
                <a:cs typeface="Arial"/>
                <a:sym typeface="Arial"/>
              </a:rPr>
              <a:t> </a:t>
            </a:r>
            <a:r>
              <a:rPr lang="en-US" i="1" err="1">
                <a:latin typeface="Arial"/>
                <a:ea typeface="Arial"/>
                <a:cs typeface="Arial"/>
                <a:sym typeface="Arial"/>
              </a:rPr>
              <a:t>hạn</a:t>
            </a:r>
            <a:r>
              <a:rPr lang="en-US">
                <a:latin typeface="Arial"/>
                <a:ea typeface="Arial"/>
                <a:cs typeface="Arial"/>
                <a:sym typeface="Arial"/>
              </a:rPr>
              <a:t>) </a:t>
            </a:r>
            <a:endParaRPr sz="2800">
              <a:solidFill>
                <a:schemeClr val="dk1"/>
              </a:solidFill>
              <a:latin typeface="Arial"/>
              <a:ea typeface="Arial"/>
              <a:cs typeface="Arial"/>
              <a:sym typeface="Arial"/>
            </a:endParaRPr>
          </a:p>
          <a:p>
            <a:pPr marL="457200" lvl="0" indent="-228600" algn="l" rtl="0">
              <a:lnSpc>
                <a:spcPct val="150000"/>
              </a:lnSpc>
              <a:spcBef>
                <a:spcPts val="0"/>
              </a:spcBef>
              <a:spcAft>
                <a:spcPts val="0"/>
              </a:spcAft>
              <a:buSzPts val="1800"/>
              <a:buNone/>
            </a:pPr>
            <a:endParaRPr/>
          </a:p>
        </p:txBody>
      </p:sp>
    </p:spTree>
    <p:extLst>
      <p:ext uri="{BB962C8B-B14F-4D97-AF65-F5344CB8AC3E}">
        <p14:creationId xmlns:p14="http://schemas.microsoft.com/office/powerpoint/2010/main" val="3595586351"/>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Shape 3225"/>
        <p:cNvGrpSpPr/>
        <p:nvPr/>
      </p:nvGrpSpPr>
      <p:grpSpPr>
        <a:xfrm>
          <a:off x="0" y="0"/>
          <a:ext cx="0" cy="0"/>
          <a:chOff x="0" y="0"/>
          <a:chExt cx="0" cy="0"/>
        </a:xfrm>
      </p:grpSpPr>
      <p:sp>
        <p:nvSpPr>
          <p:cNvPr id="3226" name="Google Shape;3226;p4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3200" b="1">
                <a:latin typeface="Arial"/>
                <a:ea typeface="Arial"/>
                <a:cs typeface="Arial"/>
                <a:sym typeface="Arial"/>
              </a:rPr>
              <a:t>Mua lặp lại có điều chỉnh</a:t>
            </a:r>
            <a:br>
              <a:rPr lang="en-US" sz="3200" b="1">
                <a:latin typeface="Arial"/>
                <a:ea typeface="Arial"/>
                <a:cs typeface="Arial"/>
                <a:sym typeface="Arial"/>
              </a:rPr>
            </a:br>
            <a:endParaRPr sz="3200" b="1"/>
          </a:p>
        </p:txBody>
      </p:sp>
      <p:sp>
        <p:nvSpPr>
          <p:cNvPr id="3227" name="Google Shape;3227;p4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0" indent="-342900" algn="just" rtl="0">
              <a:lnSpc>
                <a:spcPct val="150000"/>
              </a:lnSpc>
              <a:spcBef>
                <a:spcPts val="476"/>
              </a:spcBef>
              <a:spcAft>
                <a:spcPts val="0"/>
              </a:spcAft>
              <a:buClr>
                <a:srgbClr val="9C007F"/>
              </a:buClr>
              <a:buSzPct val="95000"/>
              <a:buChar char="•"/>
            </a:pPr>
            <a:r>
              <a:rPr lang="en-US" sz="2800" err="1">
                <a:solidFill>
                  <a:schemeClr val="dk1"/>
                </a:solidFill>
                <a:latin typeface="Arial"/>
                <a:ea typeface="Arial"/>
                <a:cs typeface="Arial"/>
                <a:sym typeface="Arial"/>
              </a:rPr>
              <a:t>Khách</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hàng</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có</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thể</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thay</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đổi</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một</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vài</a:t>
            </a:r>
            <a:r>
              <a:rPr lang="en-US" sz="2800">
                <a:solidFill>
                  <a:schemeClr val="dk1"/>
                </a:solidFill>
                <a:latin typeface="Arial"/>
                <a:ea typeface="Arial"/>
                <a:cs typeface="Arial"/>
                <a:sym typeface="Arial"/>
              </a:rPr>
              <a:t> chi </a:t>
            </a:r>
            <a:r>
              <a:rPr lang="en-US" sz="2800" err="1">
                <a:solidFill>
                  <a:schemeClr val="dk1"/>
                </a:solidFill>
                <a:latin typeface="Arial"/>
                <a:ea typeface="Arial"/>
                <a:cs typeface="Arial"/>
                <a:sym typeface="Arial"/>
              </a:rPr>
              <a:t>tiết</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kỹ</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thuật</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của</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sản</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phẩm</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hoặc</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thông</a:t>
            </a:r>
            <a:r>
              <a:rPr lang="en-US" sz="2800">
                <a:solidFill>
                  <a:schemeClr val="dk1"/>
                </a:solidFill>
                <a:latin typeface="Arial"/>
                <a:ea typeface="Arial"/>
                <a:cs typeface="Arial"/>
                <a:sym typeface="Arial"/>
              </a:rPr>
              <a:t> tin </a:t>
            </a:r>
            <a:r>
              <a:rPr lang="en-US" sz="2800" err="1">
                <a:solidFill>
                  <a:schemeClr val="dk1"/>
                </a:solidFill>
                <a:latin typeface="Arial"/>
                <a:ea typeface="Arial"/>
                <a:cs typeface="Arial"/>
                <a:sym typeface="Arial"/>
              </a:rPr>
              <a:t>của</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đơn</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hàng</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như</a:t>
            </a:r>
            <a:r>
              <a:rPr lang="en-US" sz="2800">
                <a:solidFill>
                  <a:schemeClr val="dk1"/>
                </a:solidFill>
                <a:latin typeface="Arial"/>
                <a:ea typeface="Arial"/>
                <a:cs typeface="Arial"/>
                <a:sym typeface="Arial"/>
              </a:rPr>
              <a:t>:</a:t>
            </a:r>
            <a:r>
              <a:rPr lang="en-US">
                <a:latin typeface="Arial"/>
                <a:ea typeface="Arial"/>
                <a:cs typeface="Arial"/>
                <a:sym typeface="Arial"/>
              </a:rPr>
              <a:t> </a:t>
            </a:r>
            <a:r>
              <a:rPr lang="en-US" i="1" err="1">
                <a:latin typeface="Arial"/>
                <a:ea typeface="Arial"/>
                <a:cs typeface="Arial"/>
                <a:sym typeface="Arial"/>
              </a:rPr>
              <a:t>mẫu</a:t>
            </a:r>
            <a:r>
              <a:rPr lang="en-US" i="1">
                <a:latin typeface="Arial"/>
                <a:ea typeface="Arial"/>
                <a:cs typeface="Arial"/>
                <a:sym typeface="Arial"/>
              </a:rPr>
              <a:t> </a:t>
            </a:r>
            <a:r>
              <a:rPr lang="en-US" i="1" err="1">
                <a:latin typeface="Arial"/>
                <a:ea typeface="Arial"/>
                <a:cs typeface="Arial"/>
                <a:sym typeface="Arial"/>
              </a:rPr>
              <a:t>mã</a:t>
            </a:r>
            <a:r>
              <a:rPr lang="en-US" i="1">
                <a:latin typeface="Arial"/>
                <a:ea typeface="Arial"/>
                <a:cs typeface="Arial"/>
                <a:sym typeface="Arial"/>
              </a:rPr>
              <a:t>, </a:t>
            </a:r>
            <a:r>
              <a:rPr lang="en-US" sz="2800" i="1" err="1">
                <a:solidFill>
                  <a:schemeClr val="dk1"/>
                </a:solidFill>
                <a:latin typeface="Arial"/>
                <a:ea typeface="Arial"/>
                <a:cs typeface="Arial"/>
                <a:sym typeface="Arial"/>
              </a:rPr>
              <a:t>giá</a:t>
            </a:r>
            <a:r>
              <a:rPr lang="en-US" sz="2800" i="1">
                <a:solidFill>
                  <a:schemeClr val="dk1"/>
                </a:solidFill>
                <a:latin typeface="Arial"/>
                <a:ea typeface="Arial"/>
                <a:cs typeface="Arial"/>
                <a:sym typeface="Arial"/>
              </a:rPr>
              <a:t> </a:t>
            </a:r>
            <a:r>
              <a:rPr lang="en-US" sz="2800" i="1" err="1">
                <a:solidFill>
                  <a:schemeClr val="dk1"/>
                </a:solidFill>
                <a:latin typeface="Arial"/>
                <a:ea typeface="Arial"/>
                <a:cs typeface="Arial"/>
                <a:sym typeface="Arial"/>
              </a:rPr>
              <a:t>cả</a:t>
            </a:r>
            <a:r>
              <a:rPr lang="en-US" sz="2800" i="1">
                <a:solidFill>
                  <a:schemeClr val="dk1"/>
                </a:solidFill>
                <a:latin typeface="Arial"/>
                <a:ea typeface="Arial"/>
                <a:cs typeface="Arial"/>
                <a:sym typeface="Arial"/>
              </a:rPr>
              <a:t>, </a:t>
            </a:r>
            <a:r>
              <a:rPr lang="en-US" sz="2800" i="1" err="1">
                <a:solidFill>
                  <a:schemeClr val="dk1"/>
                </a:solidFill>
                <a:latin typeface="Arial"/>
                <a:ea typeface="Arial"/>
                <a:cs typeface="Arial"/>
                <a:sym typeface="Arial"/>
              </a:rPr>
              <a:t>khối</a:t>
            </a:r>
            <a:r>
              <a:rPr lang="en-US" sz="2800" i="1">
                <a:solidFill>
                  <a:schemeClr val="dk1"/>
                </a:solidFill>
                <a:latin typeface="Arial"/>
                <a:ea typeface="Arial"/>
                <a:cs typeface="Arial"/>
                <a:sym typeface="Arial"/>
              </a:rPr>
              <a:t> </a:t>
            </a:r>
            <a:r>
              <a:rPr lang="en-US" sz="2800" i="1" err="1">
                <a:solidFill>
                  <a:schemeClr val="dk1"/>
                </a:solidFill>
                <a:latin typeface="Arial"/>
                <a:ea typeface="Arial"/>
                <a:cs typeface="Arial"/>
                <a:sym typeface="Arial"/>
              </a:rPr>
              <a:t>lượng</a:t>
            </a:r>
            <a:r>
              <a:rPr lang="en-US" sz="2800" i="1">
                <a:solidFill>
                  <a:schemeClr val="dk1"/>
                </a:solidFill>
                <a:latin typeface="Arial"/>
                <a:ea typeface="Arial"/>
                <a:cs typeface="Arial"/>
                <a:sym typeface="Arial"/>
              </a:rPr>
              <a:t>, </a:t>
            </a:r>
            <a:r>
              <a:rPr lang="en-US" sz="2800" i="1" err="1">
                <a:solidFill>
                  <a:schemeClr val="dk1"/>
                </a:solidFill>
                <a:latin typeface="Arial"/>
                <a:ea typeface="Arial"/>
                <a:cs typeface="Arial"/>
                <a:sym typeface="Arial"/>
              </a:rPr>
              <a:t>địa</a:t>
            </a:r>
            <a:r>
              <a:rPr lang="en-US" sz="2800" i="1">
                <a:solidFill>
                  <a:schemeClr val="dk1"/>
                </a:solidFill>
                <a:latin typeface="Arial"/>
                <a:ea typeface="Arial"/>
                <a:cs typeface="Arial"/>
                <a:sym typeface="Arial"/>
              </a:rPr>
              <a:t> </a:t>
            </a:r>
            <a:r>
              <a:rPr lang="en-US" sz="2800" i="1" err="1">
                <a:solidFill>
                  <a:schemeClr val="dk1"/>
                </a:solidFill>
                <a:latin typeface="Arial"/>
                <a:ea typeface="Arial"/>
                <a:cs typeface="Arial"/>
                <a:sym typeface="Arial"/>
              </a:rPr>
              <a:t>điểm</a:t>
            </a:r>
            <a:r>
              <a:rPr lang="en-US" sz="2800" i="1">
                <a:solidFill>
                  <a:schemeClr val="dk1"/>
                </a:solidFill>
                <a:latin typeface="Arial"/>
                <a:ea typeface="Arial"/>
                <a:cs typeface="Arial"/>
                <a:sym typeface="Arial"/>
              </a:rPr>
              <a:t>, </a:t>
            </a:r>
            <a:r>
              <a:rPr lang="en-US" sz="2800" i="1" err="1">
                <a:solidFill>
                  <a:schemeClr val="dk1"/>
                </a:solidFill>
                <a:latin typeface="Arial"/>
                <a:ea typeface="Arial"/>
                <a:cs typeface="Arial"/>
                <a:sym typeface="Arial"/>
              </a:rPr>
              <a:t>thời</a:t>
            </a:r>
            <a:r>
              <a:rPr lang="en-US" sz="2800" i="1">
                <a:solidFill>
                  <a:schemeClr val="dk1"/>
                </a:solidFill>
                <a:latin typeface="Arial"/>
                <a:ea typeface="Arial"/>
                <a:cs typeface="Arial"/>
                <a:sym typeface="Arial"/>
              </a:rPr>
              <a:t> </a:t>
            </a:r>
            <a:r>
              <a:rPr lang="en-US" sz="2800" i="1" err="1">
                <a:solidFill>
                  <a:schemeClr val="dk1"/>
                </a:solidFill>
                <a:latin typeface="Arial"/>
                <a:ea typeface="Arial"/>
                <a:cs typeface="Arial"/>
                <a:sym typeface="Arial"/>
              </a:rPr>
              <a:t>gian</a:t>
            </a:r>
            <a:r>
              <a:rPr lang="en-US" sz="2800" i="1">
                <a:solidFill>
                  <a:schemeClr val="dk1"/>
                </a:solidFill>
                <a:latin typeface="Arial"/>
                <a:ea typeface="Arial"/>
                <a:cs typeface="Arial"/>
                <a:sym typeface="Arial"/>
              </a:rPr>
              <a:t> </a:t>
            </a:r>
            <a:r>
              <a:rPr lang="en-US" sz="2800" i="1" err="1">
                <a:solidFill>
                  <a:schemeClr val="dk1"/>
                </a:solidFill>
                <a:latin typeface="Arial"/>
                <a:ea typeface="Arial"/>
                <a:cs typeface="Arial"/>
                <a:sym typeface="Arial"/>
              </a:rPr>
              <a:t>giao</a:t>
            </a:r>
            <a:r>
              <a:rPr lang="en-US" sz="2800" i="1">
                <a:solidFill>
                  <a:schemeClr val="dk1"/>
                </a:solidFill>
                <a:latin typeface="Arial"/>
                <a:ea typeface="Arial"/>
                <a:cs typeface="Arial"/>
                <a:sym typeface="Arial"/>
              </a:rPr>
              <a:t> </a:t>
            </a:r>
            <a:r>
              <a:rPr lang="en-US" sz="2800" i="1" err="1">
                <a:solidFill>
                  <a:schemeClr val="dk1"/>
                </a:solidFill>
                <a:latin typeface="Arial"/>
                <a:ea typeface="Arial"/>
                <a:cs typeface="Arial"/>
                <a:sym typeface="Arial"/>
              </a:rPr>
              <a:t>hàng</a:t>
            </a:r>
            <a:r>
              <a:rPr lang="en-US" sz="2800" i="1">
                <a:solidFill>
                  <a:schemeClr val="dk1"/>
                </a:solidFill>
                <a:latin typeface="Arial"/>
                <a:ea typeface="Arial"/>
                <a:cs typeface="Arial"/>
                <a:sym typeface="Arial"/>
              </a:rPr>
              <a:t>,…</a:t>
            </a:r>
            <a:endParaRPr/>
          </a:p>
          <a:p>
            <a:pPr marL="457200" lvl="0" indent="-342900" algn="just" rtl="0">
              <a:lnSpc>
                <a:spcPct val="150000"/>
              </a:lnSpc>
              <a:spcBef>
                <a:spcPts val="476"/>
              </a:spcBef>
              <a:spcAft>
                <a:spcPts val="0"/>
              </a:spcAft>
              <a:buClr>
                <a:srgbClr val="9C007F"/>
              </a:buClr>
              <a:buSzPct val="95000"/>
              <a:buChar char="•"/>
            </a:pPr>
            <a:r>
              <a:rPr lang="en-US" sz="2800" err="1">
                <a:solidFill>
                  <a:schemeClr val="dk1"/>
                </a:solidFill>
                <a:latin typeface="Arial"/>
                <a:ea typeface="Arial"/>
                <a:cs typeface="Arial"/>
                <a:sym typeface="Arial"/>
              </a:rPr>
              <a:t>Số</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lượng</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người</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tham</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gia</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quyết</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định</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có</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thể</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nhiều</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hơn</a:t>
            </a:r>
            <a:r>
              <a:rPr lang="en-US" sz="2800">
                <a:solidFill>
                  <a:schemeClr val="dk1"/>
                </a:solidFill>
                <a:latin typeface="Arial"/>
                <a:ea typeface="Arial"/>
                <a:cs typeface="Arial"/>
                <a:sym typeface="Arial"/>
              </a:rPr>
              <a:t> so </a:t>
            </a:r>
            <a:r>
              <a:rPr lang="en-US" sz="2800" err="1">
                <a:solidFill>
                  <a:schemeClr val="dk1"/>
                </a:solidFill>
                <a:latin typeface="Arial"/>
                <a:ea typeface="Arial"/>
                <a:cs typeface="Arial"/>
                <a:sym typeface="Arial"/>
              </a:rPr>
              <a:t>với</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mua</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hàng</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lặp</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lại</a:t>
            </a:r>
            <a:r>
              <a:rPr lang="en-US">
                <a:latin typeface="Arial"/>
                <a:ea typeface="Arial"/>
                <a:cs typeface="Arial"/>
                <a:sym typeface="Arial"/>
              </a:rPr>
              <a:t> </a:t>
            </a:r>
            <a:r>
              <a:rPr lang="en-US" err="1">
                <a:latin typeface="Arial"/>
                <a:ea typeface="Arial"/>
                <a:cs typeface="Arial"/>
                <a:sym typeface="Arial"/>
              </a:rPr>
              <a:t>không</a:t>
            </a:r>
            <a:r>
              <a:rPr lang="en-US">
                <a:latin typeface="Arial"/>
                <a:ea typeface="Arial"/>
                <a:cs typeface="Arial"/>
                <a:sym typeface="Arial"/>
              </a:rPr>
              <a:t> </a:t>
            </a:r>
            <a:r>
              <a:rPr lang="en-US" err="1">
                <a:latin typeface="Arial"/>
                <a:ea typeface="Arial"/>
                <a:cs typeface="Arial"/>
                <a:sym typeface="Arial"/>
              </a:rPr>
              <a:t>thay</a:t>
            </a:r>
            <a:r>
              <a:rPr lang="en-US">
                <a:latin typeface="Arial"/>
                <a:ea typeface="Arial"/>
                <a:cs typeface="Arial"/>
                <a:sym typeface="Arial"/>
              </a:rPr>
              <a:t> </a:t>
            </a:r>
            <a:r>
              <a:rPr lang="en-US" err="1">
                <a:latin typeface="Arial"/>
                <a:ea typeface="Arial"/>
                <a:cs typeface="Arial"/>
                <a:sym typeface="Arial"/>
              </a:rPr>
              <a:t>đổi</a:t>
            </a:r>
            <a:r>
              <a:rPr lang="en-US">
                <a:latin typeface="Arial"/>
                <a:ea typeface="Arial"/>
                <a:cs typeface="Arial"/>
                <a:sym typeface="Arial"/>
              </a:rPr>
              <a:t>.</a:t>
            </a:r>
            <a:endParaRPr/>
          </a:p>
          <a:p>
            <a:pPr marL="457200" lvl="0" indent="-342900" algn="just" rtl="0">
              <a:lnSpc>
                <a:spcPct val="150000"/>
              </a:lnSpc>
              <a:spcBef>
                <a:spcPts val="476"/>
              </a:spcBef>
              <a:spcAft>
                <a:spcPts val="0"/>
              </a:spcAft>
              <a:buClr>
                <a:srgbClr val="9C007F"/>
              </a:buClr>
              <a:buSzPct val="95000"/>
              <a:buChar char="•"/>
            </a:pPr>
            <a:r>
              <a:rPr lang="en-US" sz="2800" err="1">
                <a:solidFill>
                  <a:schemeClr val="dk1"/>
                </a:solidFill>
                <a:latin typeface="Arial"/>
                <a:ea typeface="Arial"/>
                <a:cs typeface="Arial"/>
                <a:sym typeface="Arial"/>
              </a:rPr>
              <a:t>Có</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sự</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cạnh</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tranh</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giữa</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các</a:t>
            </a:r>
            <a:r>
              <a:rPr lang="en-US" sz="2800">
                <a:solidFill>
                  <a:schemeClr val="dk1"/>
                </a:solidFill>
                <a:latin typeface="Arial"/>
                <a:ea typeface="Arial"/>
                <a:cs typeface="Arial"/>
                <a:sym typeface="Arial"/>
              </a:rPr>
              <a:t> </a:t>
            </a:r>
            <a:r>
              <a:rPr lang="en-US" err="1">
                <a:latin typeface="Arial"/>
                <a:ea typeface="Arial"/>
                <a:cs typeface="Arial"/>
                <a:sym typeface="Arial"/>
              </a:rPr>
              <a:t>nhà</a:t>
            </a:r>
            <a:r>
              <a:rPr lang="en-US">
                <a:latin typeface="Arial"/>
                <a:ea typeface="Arial"/>
                <a:cs typeface="Arial"/>
                <a:sym typeface="Arial"/>
              </a:rPr>
              <a:t> </a:t>
            </a:r>
            <a:r>
              <a:rPr lang="en-US" sz="2800" err="1">
                <a:solidFill>
                  <a:schemeClr val="dk1"/>
                </a:solidFill>
                <a:latin typeface="Arial"/>
                <a:ea typeface="Arial"/>
                <a:cs typeface="Arial"/>
                <a:sym typeface="Arial"/>
              </a:rPr>
              <a:t>cung</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cấp</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cũ</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và</a:t>
            </a:r>
            <a:r>
              <a:rPr lang="en-US" sz="2800">
                <a:solidFill>
                  <a:schemeClr val="dk1"/>
                </a:solidFill>
                <a:latin typeface="Arial"/>
                <a:ea typeface="Arial"/>
                <a:cs typeface="Arial"/>
                <a:sym typeface="Arial"/>
              </a:rPr>
              <a:t> </a:t>
            </a:r>
            <a:r>
              <a:rPr lang="en-US" sz="2800" err="1">
                <a:solidFill>
                  <a:schemeClr val="dk1"/>
                </a:solidFill>
                <a:latin typeface="Arial"/>
                <a:ea typeface="Arial"/>
                <a:cs typeface="Arial"/>
                <a:sym typeface="Arial"/>
              </a:rPr>
              <a:t>mới</a:t>
            </a:r>
            <a:r>
              <a:rPr lang="en-US" sz="2800">
                <a:solidFill>
                  <a:schemeClr val="dk1"/>
                </a:solidFill>
                <a:latin typeface="Arial"/>
                <a:ea typeface="Arial"/>
                <a:cs typeface="Arial"/>
                <a:sym typeface="Arial"/>
              </a:rPr>
              <a:t>.</a:t>
            </a:r>
            <a:endParaRPr sz="2800">
              <a:latin typeface="Arial"/>
              <a:ea typeface="Arial"/>
              <a:cs typeface="Arial"/>
              <a:sym typeface="Arial"/>
            </a:endParaRPr>
          </a:p>
          <a:p>
            <a:pPr marL="457200" lvl="0" indent="-228600" algn="l" rtl="0">
              <a:lnSpc>
                <a:spcPct val="90000"/>
              </a:lnSpc>
              <a:spcBef>
                <a:spcPts val="1000"/>
              </a:spcBef>
              <a:spcAft>
                <a:spcPts val="0"/>
              </a:spcAft>
              <a:buClr>
                <a:schemeClr val="dk1"/>
              </a:buClr>
              <a:buSzPct val="75630"/>
              <a:buNone/>
            </a:pPr>
            <a:endParaRPr>
              <a:latin typeface="Arial"/>
              <a:ea typeface="Arial"/>
              <a:cs typeface="Arial"/>
              <a:sym typeface="Arial"/>
            </a:endParaRPr>
          </a:p>
        </p:txBody>
      </p:sp>
    </p:spTree>
    <p:extLst>
      <p:ext uri="{BB962C8B-B14F-4D97-AF65-F5344CB8AC3E}">
        <p14:creationId xmlns:p14="http://schemas.microsoft.com/office/powerpoint/2010/main" val="899030036"/>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4" name="Google Shape;3214;p410">
            <a:extLst>
              <a:ext uri="{FF2B5EF4-FFF2-40B4-BE49-F238E27FC236}">
                <a16:creationId xmlns:a16="http://schemas.microsoft.com/office/drawing/2014/main" id="{0296367E-7835-4980-A8E5-BABCDEB6B69F}"/>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p>
            <a:pPr marL="0" lvl="0" indent="0" algn="l">
              <a:lnSpc>
                <a:spcPct val="90000"/>
              </a:lnSpc>
              <a:spcBef>
                <a:spcPts val="0"/>
              </a:spcBef>
              <a:spcAft>
                <a:spcPts val="0"/>
              </a:spcAft>
              <a:buClr>
                <a:schemeClr val="dk1"/>
              </a:buClr>
              <a:buSzPts val="1800"/>
              <a:buNone/>
            </a:pPr>
            <a:r>
              <a:rPr lang="en-US" sz="3200" b="1" kern="1200">
                <a:solidFill>
                  <a:schemeClr val="tx1"/>
                </a:solidFill>
                <a:latin typeface="+mn-lt"/>
                <a:ea typeface="+mn-ea"/>
                <a:cs typeface="+mn-cs"/>
              </a:rPr>
              <a:t>7.1.2 </a:t>
            </a:r>
            <a:r>
              <a:rPr lang="en-US" sz="3200" b="1" kern="1200" err="1">
                <a:solidFill>
                  <a:schemeClr val="tx1"/>
                </a:solidFill>
                <a:latin typeface="+mn-lt"/>
                <a:ea typeface="+mn-ea"/>
                <a:cs typeface="+mn-cs"/>
              </a:rPr>
              <a:t>Hình</a:t>
            </a:r>
            <a:r>
              <a:rPr lang="en-US" sz="3200" b="1" kern="1200">
                <a:solidFill>
                  <a:schemeClr val="tx1"/>
                </a:solidFill>
                <a:latin typeface="+mn-lt"/>
                <a:ea typeface="+mn-ea"/>
                <a:cs typeface="+mn-cs"/>
              </a:rPr>
              <a:t> </a:t>
            </a:r>
            <a:r>
              <a:rPr lang="en-US" sz="3200" b="1" kern="1200" err="1">
                <a:solidFill>
                  <a:schemeClr val="tx1"/>
                </a:solidFill>
                <a:latin typeface="+mn-lt"/>
                <a:ea typeface="+mn-ea"/>
                <a:cs typeface="+mn-cs"/>
              </a:rPr>
              <a:t>thức</a:t>
            </a:r>
            <a:r>
              <a:rPr lang="en-US" sz="3200" b="1" kern="1200">
                <a:solidFill>
                  <a:schemeClr val="tx1"/>
                </a:solidFill>
                <a:latin typeface="+mn-lt"/>
                <a:ea typeface="+mn-ea"/>
                <a:cs typeface="+mn-cs"/>
              </a:rPr>
              <a:t> </a:t>
            </a:r>
            <a:r>
              <a:rPr lang="en-US" sz="3200" b="1" kern="1200" err="1">
                <a:solidFill>
                  <a:schemeClr val="tx1"/>
                </a:solidFill>
                <a:latin typeface="+mn-lt"/>
                <a:ea typeface="+mn-ea"/>
                <a:cs typeface="+mn-cs"/>
              </a:rPr>
              <a:t>mua</a:t>
            </a:r>
            <a:r>
              <a:rPr lang="en-US" sz="3200" b="1" kern="1200">
                <a:solidFill>
                  <a:schemeClr val="tx1"/>
                </a:solidFill>
                <a:latin typeface="+mn-lt"/>
                <a:ea typeface="+mn-ea"/>
                <a:cs typeface="+mn-cs"/>
              </a:rPr>
              <a:t> </a:t>
            </a:r>
            <a:r>
              <a:rPr lang="en-US" sz="3200" b="1" kern="1200" err="1">
                <a:solidFill>
                  <a:schemeClr val="tx1"/>
                </a:solidFill>
                <a:latin typeface="+mn-lt"/>
                <a:ea typeface="+mn-ea"/>
                <a:cs typeface="+mn-cs"/>
              </a:rPr>
              <a:t>của</a:t>
            </a:r>
            <a:r>
              <a:rPr lang="en-US" sz="3200" b="1" kern="1200">
                <a:solidFill>
                  <a:schemeClr val="tx1"/>
                </a:solidFill>
                <a:latin typeface="+mn-lt"/>
                <a:ea typeface="+mn-ea"/>
                <a:cs typeface="+mn-cs"/>
              </a:rPr>
              <a:t> </a:t>
            </a:r>
            <a:r>
              <a:rPr lang="en-US" sz="3200" b="1" kern="1200" err="1">
                <a:solidFill>
                  <a:schemeClr val="tx1"/>
                </a:solidFill>
                <a:latin typeface="+mn-lt"/>
                <a:ea typeface="+mn-ea"/>
                <a:cs typeface="+mn-cs"/>
              </a:rPr>
              <a:t>khách</a:t>
            </a:r>
            <a:r>
              <a:rPr lang="en-US" sz="3200" b="1" kern="1200">
                <a:solidFill>
                  <a:schemeClr val="tx1"/>
                </a:solidFill>
                <a:latin typeface="+mn-lt"/>
                <a:ea typeface="+mn-ea"/>
                <a:cs typeface="+mn-cs"/>
              </a:rPr>
              <a:t> </a:t>
            </a:r>
            <a:r>
              <a:rPr lang="en-US" sz="3200" b="1" kern="1200" err="1">
                <a:solidFill>
                  <a:schemeClr val="tx1"/>
                </a:solidFill>
                <a:latin typeface="+mn-lt"/>
                <a:ea typeface="+mn-ea"/>
                <a:cs typeface="+mn-cs"/>
              </a:rPr>
              <a:t>hàng</a:t>
            </a:r>
            <a:r>
              <a:rPr lang="en-US" sz="3200" b="1" kern="1200">
                <a:solidFill>
                  <a:schemeClr val="tx1"/>
                </a:solidFill>
                <a:latin typeface="+mn-lt"/>
                <a:ea typeface="+mn-ea"/>
                <a:cs typeface="+mn-cs"/>
              </a:rPr>
              <a:t> </a:t>
            </a:r>
            <a:r>
              <a:rPr lang="en-US" sz="3200" b="1" kern="1200" err="1">
                <a:solidFill>
                  <a:schemeClr val="tx1"/>
                </a:solidFill>
                <a:latin typeface="+mn-lt"/>
                <a:ea typeface="+mn-ea"/>
                <a:cs typeface="+mn-cs"/>
              </a:rPr>
              <a:t>tổ</a:t>
            </a:r>
            <a:r>
              <a:rPr lang="en-US" sz="3200" b="1" kern="1200">
                <a:solidFill>
                  <a:schemeClr val="tx1"/>
                </a:solidFill>
                <a:latin typeface="+mn-lt"/>
                <a:ea typeface="+mn-ea"/>
                <a:cs typeface="+mn-cs"/>
              </a:rPr>
              <a:t> </a:t>
            </a:r>
            <a:r>
              <a:rPr lang="en-US" sz="3200" b="1" kern="1200" err="1">
                <a:solidFill>
                  <a:schemeClr val="tx1"/>
                </a:solidFill>
                <a:latin typeface="+mn-lt"/>
                <a:ea typeface="+mn-ea"/>
                <a:cs typeface="+mn-cs"/>
              </a:rPr>
              <a:t>chức</a:t>
            </a:r>
            <a:r>
              <a:rPr lang="en-US" sz="3200" b="1" kern="1200">
                <a:solidFill>
                  <a:schemeClr val="tx1"/>
                </a:solidFill>
                <a:latin typeface="+mn-lt"/>
                <a:ea typeface="+mn-ea"/>
                <a:cs typeface="+mn-cs"/>
              </a:rPr>
              <a:t> </a:t>
            </a:r>
            <a:endParaRPr sz="3200" b="1">
              <a:solidFill>
                <a:schemeClr val="tx1"/>
              </a:solidFill>
              <a:latin typeface="Arial"/>
              <a:ea typeface="Arial"/>
              <a:cs typeface="Arial"/>
            </a:endParaRPr>
          </a:p>
        </p:txBody>
      </p:sp>
      <p:sp>
        <p:nvSpPr>
          <p:cNvPr id="3215" name="tender-card">
            <a:extLst>
              <a:ext uri="{FF2B5EF4-FFF2-40B4-BE49-F238E27FC236}">
                <a16:creationId xmlns:a16="http://schemas.microsoft.com/office/drawing/2014/main" id="{1FB3ED4E-697A-4E46-9C1B-4DDDAA7E27C6}"/>
              </a:ext>
            </a:extLst>
          </p:cNvPr>
          <p:cNvSpPr>
            <a:spLocks noGrp="1"/>
          </p:cNvSpPr>
          <p:nvPr/>
        </p:nvSpPr>
        <p:spPr>
          <a:xfrm>
            <a:off x="1000125" y="2238375"/>
            <a:ext cx="4095750" cy="2095500"/>
          </a:xfrm>
          <a:prstGeom prst="roundRect">
            <a:avLst>
              <a:gd name="adj" fmla="val 5455"/>
            </a:avLst>
          </a:prstGeom>
          <a:solidFill>
            <a:srgbClr val="E8F5FC"/>
          </a:solidFill>
          <a:ln w="13335">
            <a:solidFill>
              <a:srgbClr val="00AEEF"/>
            </a:solidFill>
            <a:prstDash val="solid"/>
          </a:ln>
        </p:spPr>
        <p:txBody>
          <a:bodyPr lIns="152400" tIns="95250" rIns="152400" bIns="95250" anchor="ctr">
            <a:normAutofit/>
          </a:bodyPr>
          <a:lstStyle/>
          <a:p>
            <a:pPr algn="ctr">
              <a:defRPr sz="2025" b="1">
                <a:solidFill>
                  <a:srgbClr val="003B71"/>
                </a:solidFill>
              </a:defRPr>
            </a:pPr>
            <a:r>
              <a:rPr sz="2025" b="1">
                <a:solidFill>
                  <a:srgbClr val="003B71"/>
                </a:solidFill>
              </a:rPr>
              <a:t>ĐẤU THẦU</a:t>
            </a:r>
          </a:p>
          <a:p>
            <a:endParaRPr sz="2025" b="1">
              <a:solidFill>
                <a:srgbClr val="003B71"/>
              </a:solidFill>
            </a:endParaRPr>
          </a:p>
          <a:p>
            <a:pPr algn="ctr">
              <a:defRPr sz="2025" b="1">
                <a:solidFill>
                  <a:srgbClr val="003B71"/>
                </a:solidFill>
              </a:defRPr>
            </a:pPr>
            <a:r>
              <a:rPr sz="2025" b="1">
                <a:solidFill>
                  <a:srgbClr val="003B71"/>
                </a:solidFill>
              </a:rPr>
              <a:t>Cạnh tranh để lựa chọn</a:t>
            </a:r>
          </a:p>
          <a:p>
            <a:pPr algn="ctr">
              <a:defRPr sz="2025" b="1">
                <a:solidFill>
                  <a:srgbClr val="003B71"/>
                </a:solidFill>
              </a:defRPr>
            </a:pPr>
            <a:r>
              <a:rPr sz="2025" b="1">
                <a:solidFill>
                  <a:srgbClr val="003B71"/>
                </a:solidFill>
              </a:rPr>
              <a:t>nhà cung cấp phù hợp</a:t>
            </a:r>
          </a:p>
        </p:txBody>
      </p:sp>
      <p:sp>
        <p:nvSpPr>
          <p:cNvPr id="3216" name="contract-card">
            <a:extLst>
              <a:ext uri="{FF2B5EF4-FFF2-40B4-BE49-F238E27FC236}">
                <a16:creationId xmlns:a16="http://schemas.microsoft.com/office/drawing/2014/main" id="{998C7529-2196-4E2F-AFA6-DE6BE9BD783E}"/>
              </a:ext>
            </a:extLst>
          </p:cNvPr>
          <p:cNvSpPr>
            <a:spLocks noGrp="1"/>
          </p:cNvSpPr>
          <p:nvPr/>
        </p:nvSpPr>
        <p:spPr>
          <a:xfrm>
            <a:off x="7096125" y="2238375"/>
            <a:ext cx="4095750" cy="2095500"/>
          </a:xfrm>
          <a:prstGeom prst="roundRect">
            <a:avLst>
              <a:gd name="adj" fmla="val 5455"/>
            </a:avLst>
          </a:prstGeom>
          <a:solidFill>
            <a:srgbClr val="FFF2E4"/>
          </a:solidFill>
          <a:ln w="13335">
            <a:solidFill>
              <a:srgbClr val="F28C28"/>
            </a:solidFill>
            <a:prstDash val="solid"/>
          </a:ln>
        </p:spPr>
        <p:txBody>
          <a:bodyPr lIns="152400" tIns="95250" rIns="152400" bIns="95250" anchor="ctr">
            <a:normAutofit/>
          </a:bodyPr>
          <a:lstStyle/>
          <a:p>
            <a:pPr algn="ctr">
              <a:defRPr sz="2025" b="1">
                <a:solidFill>
                  <a:srgbClr val="9A4C17"/>
                </a:solidFill>
              </a:defRPr>
            </a:pPr>
            <a:r>
              <a:rPr sz="2025" b="1">
                <a:solidFill>
                  <a:srgbClr val="9A4C17"/>
                </a:solidFill>
              </a:rPr>
              <a:t>HỢP ĐỒNG DÀI HẠN</a:t>
            </a:r>
          </a:p>
          <a:p>
            <a:endParaRPr sz="2025" b="1">
              <a:solidFill>
                <a:srgbClr val="9A4C17"/>
              </a:solidFill>
            </a:endParaRPr>
          </a:p>
          <a:p>
            <a:pPr algn="ctr">
              <a:defRPr sz="2025" b="1">
                <a:solidFill>
                  <a:srgbClr val="9A4C17"/>
                </a:solidFill>
              </a:defRPr>
            </a:pPr>
            <a:r>
              <a:rPr sz="2025" b="1">
                <a:solidFill>
                  <a:srgbClr val="9A4C17"/>
                </a:solidFill>
              </a:rPr>
              <a:t>Ổn định nguồn cung</a:t>
            </a:r>
          </a:p>
          <a:p>
            <a:pPr algn="ctr">
              <a:defRPr sz="2025" b="1">
                <a:solidFill>
                  <a:srgbClr val="9A4C17"/>
                </a:solidFill>
              </a:defRPr>
            </a:pPr>
            <a:r>
              <a:rPr sz="2025" b="1">
                <a:solidFill>
                  <a:srgbClr val="9A4C17"/>
                </a:solidFill>
              </a:rPr>
              <a:t>và hợp tác lâu dài</a:t>
            </a:r>
          </a:p>
        </p:txBody>
      </p:sp>
      <p:sp>
        <p:nvSpPr>
          <p:cNvPr id="3217" name="relationship-arrow">
            <a:extLst>
              <a:ext uri="{FF2B5EF4-FFF2-40B4-BE49-F238E27FC236}">
                <a16:creationId xmlns:a16="http://schemas.microsoft.com/office/drawing/2014/main" id="{116775DE-31B8-4D80-A484-7833D6CCD630}"/>
              </a:ext>
            </a:extLst>
          </p:cNvPr>
          <p:cNvSpPr>
            <a:spLocks noGrp="1"/>
          </p:cNvSpPr>
          <p:nvPr/>
        </p:nvSpPr>
        <p:spPr>
          <a:xfrm>
            <a:off x="5286375" y="2714625"/>
            <a:ext cx="1619250" cy="1047750"/>
          </a:xfrm>
          <a:prstGeom prst="rect">
            <a:avLst/>
          </a:prstGeom>
          <a:noFill/>
          <a:ln w="0">
            <a:noFill/>
            <a:prstDash val="solid"/>
          </a:ln>
        </p:spPr>
        <p:txBody>
          <a:bodyPr lIns="38100" tIns="19050" rIns="38100" bIns="19050" anchor="ctr">
            <a:normAutofit/>
          </a:bodyPr>
          <a:lstStyle/>
          <a:p>
            <a:pPr algn="ctr">
              <a:defRPr sz="4650" b="1">
                <a:solidFill>
                  <a:srgbClr val="0072BC"/>
                </a:solidFill>
              </a:defRPr>
            </a:pPr>
            <a:r>
              <a:rPr sz="4650" b="1">
                <a:solidFill>
                  <a:srgbClr val="0072BC"/>
                </a:solidFill>
              </a:rPr>
              <a:t>⇄</a:t>
            </a:r>
          </a:p>
        </p:txBody>
      </p:sp>
      <p:sp>
        <p:nvSpPr>
          <p:cNvPr id="3218" name="takeaway-band">
            <a:extLst>
              <a:ext uri="{FF2B5EF4-FFF2-40B4-BE49-F238E27FC236}">
                <a16:creationId xmlns:a16="http://schemas.microsoft.com/office/drawing/2014/main" id="{E89D795A-74B1-46FC-B314-B2296F144C55}"/>
              </a:ext>
            </a:extLst>
          </p:cNvPr>
          <p:cNvSpPr>
            <a:spLocks noGrp="1"/>
          </p:cNvSpPr>
          <p:nvPr/>
        </p:nvSpPr>
        <p:spPr>
          <a:xfrm>
            <a:off x="2857500" y="4857750"/>
            <a:ext cx="6477000" cy="781050"/>
          </a:xfrm>
          <a:prstGeom prst="roundRect">
            <a:avLst>
              <a:gd name="adj" fmla="val 14634"/>
            </a:avLst>
          </a:prstGeom>
          <a:solidFill>
            <a:srgbClr val="003B71"/>
          </a:solidFill>
          <a:ln w="13335">
            <a:solidFill>
              <a:srgbClr val="003B71"/>
            </a:solidFill>
            <a:prstDash val="solid"/>
          </a:ln>
        </p:spPr>
        <p:txBody>
          <a:bodyPr lIns="152400" tIns="95250" rIns="152400" bIns="95250" anchor="ctr">
            <a:normAutofit/>
          </a:bodyPr>
          <a:lstStyle/>
          <a:p>
            <a:pPr algn="ctr">
              <a:defRPr sz="1950" b="1">
                <a:solidFill>
                  <a:srgbClr val="FFFFFF"/>
                </a:solidFill>
              </a:defRPr>
            </a:pPr>
            <a:r>
              <a:rPr sz="1950" b="1">
                <a:solidFill>
                  <a:srgbClr val="FFFFFF"/>
                </a:solidFill>
              </a:rPr>
              <a:t>LỰA CHỌN ĐÚNG  →  HỢP TÁC LÂU DÀI</a:t>
            </a:r>
          </a:p>
        </p:txBody>
      </p:sp>
    </p:spTree>
    <p:extLst>
      <p:ext uri="{BB962C8B-B14F-4D97-AF65-F5344CB8AC3E}">
        <p14:creationId xmlns:p14="http://schemas.microsoft.com/office/powerpoint/2010/main" val="2659755339"/>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4" name="Google Shape;3214;p410">
            <a:extLst>
              <a:ext uri="{FF2B5EF4-FFF2-40B4-BE49-F238E27FC236}">
                <a16:creationId xmlns:a16="http://schemas.microsoft.com/office/drawing/2014/main" id="{0296367E-7835-4980-A8E5-BABCDEB6B69F}"/>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p>
            <a:pPr marL="0" lvl="0" indent="0" algn="l">
              <a:lnSpc>
                <a:spcPct val="90000"/>
              </a:lnSpc>
              <a:spcBef>
                <a:spcPts val="0"/>
              </a:spcBef>
              <a:spcAft>
                <a:spcPts val="0"/>
              </a:spcAft>
              <a:buClr>
                <a:schemeClr val="dk1"/>
              </a:buClr>
              <a:buSzPts val="1800"/>
              <a:buNone/>
            </a:pPr>
            <a:r>
              <a:rPr sz="3200" b="1" err="1">
                <a:latin typeface="Arial"/>
                <a:ea typeface="Arial"/>
                <a:cs typeface="Arial"/>
              </a:rPr>
              <a:t>Đấu</a:t>
            </a:r>
            <a:r>
              <a:rPr sz="3200" b="1">
                <a:latin typeface="Arial"/>
                <a:ea typeface="Arial"/>
                <a:cs typeface="Arial"/>
              </a:rPr>
              <a:t> </a:t>
            </a:r>
            <a:r>
              <a:rPr sz="3200" b="1" err="1">
                <a:latin typeface="Arial"/>
                <a:ea typeface="Arial"/>
                <a:cs typeface="Arial"/>
              </a:rPr>
              <a:t>thầu</a:t>
            </a:r>
            <a:r>
              <a:rPr sz="3200" b="1">
                <a:latin typeface="Arial"/>
                <a:ea typeface="Arial"/>
                <a:cs typeface="Arial"/>
              </a:rPr>
              <a:t>: </a:t>
            </a:r>
            <a:r>
              <a:rPr sz="3200" b="1" err="1">
                <a:latin typeface="Arial"/>
                <a:ea typeface="Arial"/>
                <a:cs typeface="Arial"/>
              </a:rPr>
              <a:t>Chọn</a:t>
            </a:r>
            <a:r>
              <a:rPr sz="3200" b="1">
                <a:latin typeface="Arial"/>
                <a:ea typeface="Arial"/>
                <a:cs typeface="Arial"/>
              </a:rPr>
              <a:t> </a:t>
            </a:r>
            <a:r>
              <a:rPr sz="3200" b="1" err="1">
                <a:latin typeface="Arial"/>
                <a:ea typeface="Arial"/>
                <a:cs typeface="Arial"/>
              </a:rPr>
              <a:t>đúng</a:t>
            </a:r>
            <a:r>
              <a:rPr sz="3200" b="1">
                <a:latin typeface="Arial"/>
                <a:ea typeface="Arial"/>
                <a:cs typeface="Arial"/>
              </a:rPr>
              <a:t> </a:t>
            </a:r>
            <a:r>
              <a:rPr sz="3200" b="1" err="1">
                <a:latin typeface="Arial"/>
                <a:ea typeface="Arial"/>
                <a:cs typeface="Arial"/>
              </a:rPr>
              <a:t>nhà</a:t>
            </a:r>
            <a:r>
              <a:rPr sz="3200" b="1">
                <a:latin typeface="Arial"/>
                <a:ea typeface="Arial"/>
                <a:cs typeface="Arial"/>
              </a:rPr>
              <a:t> </a:t>
            </a:r>
            <a:r>
              <a:rPr sz="3200" b="1" err="1">
                <a:latin typeface="Arial"/>
                <a:ea typeface="Arial"/>
                <a:cs typeface="Arial"/>
              </a:rPr>
              <a:t>cung</a:t>
            </a:r>
            <a:r>
              <a:rPr sz="3200" b="1">
                <a:latin typeface="Arial"/>
                <a:ea typeface="Arial"/>
                <a:cs typeface="Arial"/>
              </a:rPr>
              <a:t> </a:t>
            </a:r>
            <a:r>
              <a:rPr sz="3200" b="1" err="1">
                <a:latin typeface="Arial"/>
                <a:ea typeface="Arial"/>
                <a:cs typeface="Arial"/>
              </a:rPr>
              <a:t>cấp</a:t>
            </a:r>
            <a:endParaRPr sz="3200" b="1">
              <a:latin typeface="Arial"/>
              <a:ea typeface="Arial"/>
              <a:cs typeface="Arial"/>
            </a:endParaRPr>
          </a:p>
        </p:txBody>
      </p:sp>
      <p:sp>
        <p:nvSpPr>
          <p:cNvPr id="3215" name="process-line">
            <a:extLst>
              <a:ext uri="{FF2B5EF4-FFF2-40B4-BE49-F238E27FC236}">
                <a16:creationId xmlns:a16="http://schemas.microsoft.com/office/drawing/2014/main" id="{AF3C6A77-75BD-4745-9C45-EA65193B0C03}"/>
              </a:ext>
            </a:extLst>
          </p:cNvPr>
          <p:cNvSpPr>
            <a:spLocks noGrp="1"/>
          </p:cNvSpPr>
          <p:nvPr/>
        </p:nvSpPr>
        <p:spPr>
          <a:xfrm>
            <a:off x="1428750" y="3133725"/>
            <a:ext cx="9334500" cy="76200"/>
          </a:xfrm>
          <a:prstGeom prst="rect">
            <a:avLst/>
          </a:prstGeom>
          <a:solidFill>
            <a:srgbClr val="C9D8E3"/>
          </a:solidFill>
          <a:ln w="0">
            <a:noFill/>
            <a:prstDash val="solid"/>
          </a:ln>
        </p:spPr>
        <p:txBody>
          <a:bodyPr/>
          <a:lstStyle/>
          <a:p>
            <a:endParaRPr lang="en-US"/>
          </a:p>
        </p:txBody>
      </p:sp>
      <p:sp>
        <p:nvSpPr>
          <p:cNvPr id="3216" name="step-1">
            <a:extLst>
              <a:ext uri="{FF2B5EF4-FFF2-40B4-BE49-F238E27FC236}">
                <a16:creationId xmlns:a16="http://schemas.microsoft.com/office/drawing/2014/main" id="{A34D6535-2CB2-40D8-A5B8-FA198B99CBA5}"/>
              </a:ext>
            </a:extLst>
          </p:cNvPr>
          <p:cNvSpPr>
            <a:spLocks noGrp="1"/>
          </p:cNvSpPr>
          <p:nvPr/>
        </p:nvSpPr>
        <p:spPr>
          <a:xfrm>
            <a:off x="1476375" y="2571750"/>
            <a:ext cx="1143000" cy="1143000"/>
          </a:xfrm>
          <a:prstGeom prst="roundRect">
            <a:avLst>
              <a:gd name="adj" fmla="val 50000"/>
            </a:avLst>
          </a:prstGeom>
          <a:solidFill>
            <a:srgbClr val="0072BC"/>
          </a:solidFill>
          <a:ln w="13335">
            <a:solidFill>
              <a:srgbClr val="0072BC"/>
            </a:solidFill>
            <a:prstDash val="solid"/>
          </a:ln>
        </p:spPr>
        <p:txBody>
          <a:bodyPr lIns="152400" tIns="95250" rIns="152400" bIns="95250" anchor="ctr">
            <a:normAutofit/>
          </a:bodyPr>
          <a:lstStyle/>
          <a:p>
            <a:pPr algn="ctr">
              <a:defRPr sz="2850" b="1">
                <a:solidFill>
                  <a:srgbClr val="FFFFFF"/>
                </a:solidFill>
              </a:defRPr>
            </a:pPr>
            <a:r>
              <a:rPr sz="2850" b="1">
                <a:solidFill>
                  <a:srgbClr val="FFFFFF"/>
                </a:solidFill>
              </a:rPr>
              <a:t>1</a:t>
            </a:r>
          </a:p>
        </p:txBody>
      </p:sp>
      <p:sp>
        <p:nvSpPr>
          <p:cNvPr id="3217" name="step-label-1">
            <a:extLst>
              <a:ext uri="{FF2B5EF4-FFF2-40B4-BE49-F238E27FC236}">
                <a16:creationId xmlns:a16="http://schemas.microsoft.com/office/drawing/2014/main" id="{F8D018C8-D7D3-4151-9606-13D9A8E246A2}"/>
              </a:ext>
            </a:extLst>
          </p:cNvPr>
          <p:cNvSpPr>
            <a:spLocks noGrp="1"/>
          </p:cNvSpPr>
          <p:nvPr/>
        </p:nvSpPr>
        <p:spPr>
          <a:xfrm>
            <a:off x="1047750" y="3886200"/>
            <a:ext cx="2000250" cy="514350"/>
          </a:xfrm>
          <a:prstGeom prst="rect">
            <a:avLst/>
          </a:prstGeom>
          <a:noFill/>
          <a:ln w="0">
            <a:noFill/>
            <a:prstDash val="solid"/>
          </a:ln>
        </p:spPr>
        <p:txBody>
          <a:bodyPr lIns="38100" tIns="19050" rIns="38100" bIns="19050" anchor="ctr">
            <a:normAutofit/>
          </a:bodyPr>
          <a:lstStyle/>
          <a:p>
            <a:pPr algn="ctr">
              <a:defRPr sz="1500" b="1">
                <a:solidFill>
                  <a:srgbClr val="263238"/>
                </a:solidFill>
              </a:defRPr>
            </a:pPr>
            <a:r>
              <a:rPr sz="1500" b="1">
                <a:solidFill>
                  <a:srgbClr val="263238"/>
                </a:solidFill>
              </a:rPr>
              <a:t>MỜI THẦU</a:t>
            </a:r>
          </a:p>
        </p:txBody>
      </p:sp>
      <p:sp>
        <p:nvSpPr>
          <p:cNvPr id="3218" name="step-2">
            <a:extLst>
              <a:ext uri="{FF2B5EF4-FFF2-40B4-BE49-F238E27FC236}">
                <a16:creationId xmlns:a16="http://schemas.microsoft.com/office/drawing/2014/main" id="{477781BF-3515-455C-9ED3-36AB9FDC5DB2}"/>
              </a:ext>
            </a:extLst>
          </p:cNvPr>
          <p:cNvSpPr>
            <a:spLocks noGrp="1"/>
          </p:cNvSpPr>
          <p:nvPr/>
        </p:nvSpPr>
        <p:spPr>
          <a:xfrm>
            <a:off x="4000500" y="2571750"/>
            <a:ext cx="1143000" cy="1143000"/>
          </a:xfrm>
          <a:prstGeom prst="roundRect">
            <a:avLst>
              <a:gd name="adj" fmla="val 50000"/>
            </a:avLst>
          </a:prstGeom>
          <a:solidFill>
            <a:srgbClr val="00AEEF"/>
          </a:solidFill>
          <a:ln w="13335">
            <a:solidFill>
              <a:srgbClr val="00AEEF"/>
            </a:solidFill>
            <a:prstDash val="solid"/>
          </a:ln>
        </p:spPr>
        <p:txBody>
          <a:bodyPr lIns="152400" tIns="95250" rIns="152400" bIns="95250" anchor="ctr">
            <a:normAutofit/>
          </a:bodyPr>
          <a:lstStyle/>
          <a:p>
            <a:pPr algn="ctr">
              <a:defRPr sz="2850" b="1">
                <a:solidFill>
                  <a:srgbClr val="FFFFFF"/>
                </a:solidFill>
              </a:defRPr>
            </a:pPr>
            <a:r>
              <a:rPr sz="2850" b="1">
                <a:solidFill>
                  <a:srgbClr val="FFFFFF"/>
                </a:solidFill>
              </a:rPr>
              <a:t>2</a:t>
            </a:r>
          </a:p>
        </p:txBody>
      </p:sp>
      <p:sp>
        <p:nvSpPr>
          <p:cNvPr id="3219" name="step-label-2">
            <a:extLst>
              <a:ext uri="{FF2B5EF4-FFF2-40B4-BE49-F238E27FC236}">
                <a16:creationId xmlns:a16="http://schemas.microsoft.com/office/drawing/2014/main" id="{D65CAC29-2AD7-4CC8-B7CF-5DA378A01F19}"/>
              </a:ext>
            </a:extLst>
          </p:cNvPr>
          <p:cNvSpPr>
            <a:spLocks noGrp="1"/>
          </p:cNvSpPr>
          <p:nvPr/>
        </p:nvSpPr>
        <p:spPr>
          <a:xfrm>
            <a:off x="3571875" y="3886200"/>
            <a:ext cx="2000250" cy="514350"/>
          </a:xfrm>
          <a:prstGeom prst="rect">
            <a:avLst/>
          </a:prstGeom>
          <a:noFill/>
          <a:ln w="0">
            <a:noFill/>
            <a:prstDash val="solid"/>
          </a:ln>
        </p:spPr>
        <p:txBody>
          <a:bodyPr lIns="38100" tIns="19050" rIns="38100" bIns="19050" anchor="ctr">
            <a:normAutofit/>
          </a:bodyPr>
          <a:lstStyle/>
          <a:p>
            <a:pPr algn="ctr">
              <a:defRPr sz="1500" b="1">
                <a:solidFill>
                  <a:srgbClr val="263238"/>
                </a:solidFill>
              </a:defRPr>
            </a:pPr>
            <a:r>
              <a:rPr sz="1500" b="1">
                <a:solidFill>
                  <a:srgbClr val="263238"/>
                </a:solidFill>
              </a:rPr>
              <a:t>NHẬN ĐỀ XUẤT</a:t>
            </a:r>
          </a:p>
        </p:txBody>
      </p:sp>
      <p:sp>
        <p:nvSpPr>
          <p:cNvPr id="3220" name="step-3">
            <a:extLst>
              <a:ext uri="{FF2B5EF4-FFF2-40B4-BE49-F238E27FC236}">
                <a16:creationId xmlns:a16="http://schemas.microsoft.com/office/drawing/2014/main" id="{A484053D-9F40-44CB-8194-A5BB7DDB3274}"/>
              </a:ext>
            </a:extLst>
          </p:cNvPr>
          <p:cNvSpPr>
            <a:spLocks noGrp="1"/>
          </p:cNvSpPr>
          <p:nvPr/>
        </p:nvSpPr>
        <p:spPr>
          <a:xfrm>
            <a:off x="6524625" y="2571750"/>
            <a:ext cx="1143000" cy="1143000"/>
          </a:xfrm>
          <a:prstGeom prst="roundRect">
            <a:avLst>
              <a:gd name="adj" fmla="val 50000"/>
            </a:avLst>
          </a:prstGeom>
          <a:solidFill>
            <a:srgbClr val="F28C28"/>
          </a:solidFill>
          <a:ln w="13335">
            <a:solidFill>
              <a:srgbClr val="F28C28"/>
            </a:solidFill>
            <a:prstDash val="solid"/>
          </a:ln>
        </p:spPr>
        <p:txBody>
          <a:bodyPr lIns="152400" tIns="95250" rIns="152400" bIns="95250" anchor="ctr">
            <a:normAutofit/>
          </a:bodyPr>
          <a:lstStyle/>
          <a:p>
            <a:pPr algn="ctr">
              <a:defRPr sz="2850" b="1">
                <a:solidFill>
                  <a:srgbClr val="FFFFFF"/>
                </a:solidFill>
              </a:defRPr>
            </a:pPr>
            <a:r>
              <a:rPr sz="2850" b="1">
                <a:solidFill>
                  <a:srgbClr val="FFFFFF"/>
                </a:solidFill>
              </a:rPr>
              <a:t>3</a:t>
            </a:r>
          </a:p>
        </p:txBody>
      </p:sp>
      <p:sp>
        <p:nvSpPr>
          <p:cNvPr id="3221" name="step-label-3">
            <a:extLst>
              <a:ext uri="{FF2B5EF4-FFF2-40B4-BE49-F238E27FC236}">
                <a16:creationId xmlns:a16="http://schemas.microsoft.com/office/drawing/2014/main" id="{A7E9466D-FC20-425C-AC38-4520216BCBBC}"/>
              </a:ext>
            </a:extLst>
          </p:cNvPr>
          <p:cNvSpPr>
            <a:spLocks noGrp="1"/>
          </p:cNvSpPr>
          <p:nvPr/>
        </p:nvSpPr>
        <p:spPr>
          <a:xfrm>
            <a:off x="6096000" y="3886200"/>
            <a:ext cx="2000250" cy="514350"/>
          </a:xfrm>
          <a:prstGeom prst="rect">
            <a:avLst/>
          </a:prstGeom>
          <a:noFill/>
          <a:ln w="0">
            <a:noFill/>
            <a:prstDash val="solid"/>
          </a:ln>
        </p:spPr>
        <p:txBody>
          <a:bodyPr lIns="38100" tIns="19050" rIns="38100" bIns="19050" anchor="ctr">
            <a:normAutofit/>
          </a:bodyPr>
          <a:lstStyle/>
          <a:p>
            <a:pPr algn="ctr">
              <a:defRPr sz="1500" b="1">
                <a:solidFill>
                  <a:srgbClr val="263238"/>
                </a:solidFill>
              </a:defRPr>
            </a:pPr>
            <a:r>
              <a:rPr sz="1500" b="1">
                <a:solidFill>
                  <a:srgbClr val="263238"/>
                </a:solidFill>
              </a:rPr>
              <a:t>ĐÁNH GIÁ</a:t>
            </a:r>
          </a:p>
        </p:txBody>
      </p:sp>
      <p:sp>
        <p:nvSpPr>
          <p:cNvPr id="3222" name="step-4">
            <a:extLst>
              <a:ext uri="{FF2B5EF4-FFF2-40B4-BE49-F238E27FC236}">
                <a16:creationId xmlns:a16="http://schemas.microsoft.com/office/drawing/2014/main" id="{59C839A6-3EA3-46BA-AAB5-89E71E4D24B8}"/>
              </a:ext>
            </a:extLst>
          </p:cNvPr>
          <p:cNvSpPr>
            <a:spLocks noGrp="1"/>
          </p:cNvSpPr>
          <p:nvPr/>
        </p:nvSpPr>
        <p:spPr>
          <a:xfrm>
            <a:off x="9048750" y="2571750"/>
            <a:ext cx="1143000" cy="1143000"/>
          </a:xfrm>
          <a:prstGeom prst="roundRect">
            <a:avLst>
              <a:gd name="adj" fmla="val 50000"/>
            </a:avLst>
          </a:prstGeom>
          <a:solidFill>
            <a:srgbClr val="2E8B75"/>
          </a:solidFill>
          <a:ln w="13335">
            <a:solidFill>
              <a:srgbClr val="2E8B75"/>
            </a:solidFill>
            <a:prstDash val="solid"/>
          </a:ln>
        </p:spPr>
        <p:txBody>
          <a:bodyPr lIns="152400" tIns="95250" rIns="152400" bIns="95250" anchor="ctr">
            <a:normAutofit/>
          </a:bodyPr>
          <a:lstStyle/>
          <a:p>
            <a:pPr algn="ctr">
              <a:defRPr sz="2850" b="1">
                <a:solidFill>
                  <a:srgbClr val="FFFFFF"/>
                </a:solidFill>
              </a:defRPr>
            </a:pPr>
            <a:r>
              <a:rPr sz="2850" b="1">
                <a:solidFill>
                  <a:srgbClr val="FFFFFF"/>
                </a:solidFill>
              </a:rPr>
              <a:t>4</a:t>
            </a:r>
          </a:p>
        </p:txBody>
      </p:sp>
      <p:sp>
        <p:nvSpPr>
          <p:cNvPr id="3223" name="step-label-4">
            <a:extLst>
              <a:ext uri="{FF2B5EF4-FFF2-40B4-BE49-F238E27FC236}">
                <a16:creationId xmlns:a16="http://schemas.microsoft.com/office/drawing/2014/main" id="{F46FDC7E-B72E-44C3-94D9-70E71C2378F6}"/>
              </a:ext>
            </a:extLst>
          </p:cNvPr>
          <p:cNvSpPr>
            <a:spLocks noGrp="1"/>
          </p:cNvSpPr>
          <p:nvPr/>
        </p:nvSpPr>
        <p:spPr>
          <a:xfrm>
            <a:off x="8620125" y="3886200"/>
            <a:ext cx="2000250" cy="514350"/>
          </a:xfrm>
          <a:prstGeom prst="rect">
            <a:avLst/>
          </a:prstGeom>
          <a:noFill/>
          <a:ln w="0">
            <a:noFill/>
            <a:prstDash val="solid"/>
          </a:ln>
        </p:spPr>
        <p:txBody>
          <a:bodyPr lIns="38100" tIns="19050" rIns="38100" bIns="19050" anchor="ctr">
            <a:normAutofit/>
          </a:bodyPr>
          <a:lstStyle/>
          <a:p>
            <a:pPr algn="ctr">
              <a:defRPr sz="1500" b="1">
                <a:solidFill>
                  <a:srgbClr val="263238"/>
                </a:solidFill>
              </a:defRPr>
            </a:pPr>
            <a:r>
              <a:rPr sz="1500" b="1">
                <a:solidFill>
                  <a:srgbClr val="263238"/>
                </a:solidFill>
              </a:rPr>
              <a:t>LỰA CHỌN</a:t>
            </a:r>
          </a:p>
        </p:txBody>
      </p:sp>
      <p:sp>
        <p:nvSpPr>
          <p:cNvPr id="3224" name="criteria-band">
            <a:extLst>
              <a:ext uri="{FF2B5EF4-FFF2-40B4-BE49-F238E27FC236}">
                <a16:creationId xmlns:a16="http://schemas.microsoft.com/office/drawing/2014/main" id="{EC110BC6-F62C-4056-AFEB-F25ABA514E48}"/>
              </a:ext>
            </a:extLst>
          </p:cNvPr>
          <p:cNvSpPr>
            <a:spLocks noGrp="1"/>
          </p:cNvSpPr>
          <p:nvPr/>
        </p:nvSpPr>
        <p:spPr>
          <a:xfrm>
            <a:off x="3238500" y="4762500"/>
            <a:ext cx="5715000" cy="666750"/>
          </a:xfrm>
          <a:prstGeom prst="roundRect">
            <a:avLst>
              <a:gd name="adj" fmla="val 17143"/>
            </a:avLst>
          </a:prstGeom>
          <a:solidFill>
            <a:srgbClr val="FFF2E4"/>
          </a:solidFill>
          <a:ln w="13335">
            <a:solidFill>
              <a:srgbClr val="F6C58E"/>
            </a:solidFill>
            <a:prstDash val="solid"/>
          </a:ln>
        </p:spPr>
        <p:txBody>
          <a:bodyPr lIns="152400" tIns="95250" rIns="152400" bIns="95250" anchor="ctr">
            <a:normAutofit/>
          </a:bodyPr>
          <a:lstStyle/>
          <a:p>
            <a:pPr algn="ctr">
              <a:defRPr sz="1575" b="1">
                <a:solidFill>
                  <a:srgbClr val="9A4C17"/>
                </a:solidFill>
              </a:defRPr>
            </a:pPr>
            <a:r>
              <a:rPr sz="1575" b="1">
                <a:solidFill>
                  <a:srgbClr val="9A4C17"/>
                </a:solidFill>
              </a:rPr>
              <a:t>GIÁ  •  CHẤT LƯỢNG  •  NĂNG LỰC  •  TIẾN ĐỘ</a:t>
            </a:r>
          </a:p>
        </p:txBody>
      </p:sp>
      <p:sp>
        <p:nvSpPr>
          <p:cNvPr id="3225" name="tender-takeaway">
            <a:extLst>
              <a:ext uri="{FF2B5EF4-FFF2-40B4-BE49-F238E27FC236}">
                <a16:creationId xmlns:a16="http://schemas.microsoft.com/office/drawing/2014/main" id="{7F8A8429-D924-4486-99F7-F8F95FC29D3E}"/>
              </a:ext>
            </a:extLst>
          </p:cNvPr>
          <p:cNvSpPr>
            <a:spLocks noGrp="1"/>
          </p:cNvSpPr>
          <p:nvPr/>
        </p:nvSpPr>
        <p:spPr>
          <a:xfrm>
            <a:off x="1587931" y="5791200"/>
            <a:ext cx="9175319" cy="514350"/>
          </a:xfrm>
          <a:prstGeom prst="rect">
            <a:avLst/>
          </a:prstGeom>
          <a:noFill/>
          <a:ln w="0">
            <a:noFill/>
            <a:prstDash val="solid"/>
          </a:ln>
        </p:spPr>
        <p:txBody>
          <a:bodyPr lIns="38100" tIns="19050" rIns="38100" bIns="19050" anchor="ctr">
            <a:noAutofit/>
          </a:bodyPr>
          <a:lstStyle/>
          <a:p>
            <a:pPr algn="ctr">
              <a:defRPr sz="1350" b="0">
                <a:solidFill>
                  <a:srgbClr val="607D8B"/>
                </a:solidFill>
              </a:defRPr>
            </a:pPr>
            <a:r>
              <a:rPr sz="2400" b="0">
                <a:solidFill>
                  <a:srgbClr val="607D8B"/>
                </a:solidFill>
              </a:rPr>
              <a:t>Chọn đề xuất tạo giá trị tổng thể tốt nhất — không chỉ giá thấp nhất</a:t>
            </a:r>
          </a:p>
        </p:txBody>
      </p:sp>
    </p:spTree>
    <p:extLst>
      <p:ext uri="{BB962C8B-B14F-4D97-AF65-F5344CB8AC3E}">
        <p14:creationId xmlns:p14="http://schemas.microsoft.com/office/powerpoint/2010/main" val="1541169200"/>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4" name="Google Shape;3214;p410">
            <a:extLst>
              <a:ext uri="{FF2B5EF4-FFF2-40B4-BE49-F238E27FC236}">
                <a16:creationId xmlns:a16="http://schemas.microsoft.com/office/drawing/2014/main" id="{0296367E-7835-4980-A8E5-BABCDEB6B69F}"/>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p>
            <a:pPr marL="0" lvl="0" indent="0" algn="l">
              <a:lnSpc>
                <a:spcPct val="90000"/>
              </a:lnSpc>
              <a:spcBef>
                <a:spcPts val="0"/>
              </a:spcBef>
              <a:spcAft>
                <a:spcPts val="0"/>
              </a:spcAft>
              <a:buClr>
                <a:schemeClr val="dk1"/>
              </a:buClr>
              <a:buSzPts val="1800"/>
              <a:buNone/>
            </a:pPr>
            <a:r>
              <a:rPr sz="3200" b="1" err="1">
                <a:latin typeface="Arial"/>
                <a:ea typeface="Arial"/>
                <a:cs typeface="Arial"/>
              </a:rPr>
              <a:t>Hợp</a:t>
            </a:r>
            <a:r>
              <a:rPr sz="3200" b="1">
                <a:latin typeface="Arial"/>
                <a:ea typeface="Arial"/>
                <a:cs typeface="Arial"/>
              </a:rPr>
              <a:t> </a:t>
            </a:r>
            <a:r>
              <a:rPr sz="3200" b="1" err="1">
                <a:latin typeface="Arial"/>
                <a:ea typeface="Arial"/>
                <a:cs typeface="Arial"/>
              </a:rPr>
              <a:t>đồng</a:t>
            </a:r>
            <a:r>
              <a:rPr sz="3200" b="1">
                <a:latin typeface="Arial"/>
                <a:ea typeface="Arial"/>
                <a:cs typeface="Arial"/>
              </a:rPr>
              <a:t> </a:t>
            </a:r>
            <a:r>
              <a:rPr sz="3200" b="1" err="1">
                <a:latin typeface="Arial"/>
                <a:ea typeface="Arial"/>
                <a:cs typeface="Arial"/>
              </a:rPr>
              <a:t>dài</a:t>
            </a:r>
            <a:r>
              <a:rPr sz="3200" b="1">
                <a:latin typeface="Arial"/>
                <a:ea typeface="Arial"/>
                <a:cs typeface="Arial"/>
              </a:rPr>
              <a:t> </a:t>
            </a:r>
            <a:r>
              <a:rPr sz="3200" b="1" err="1">
                <a:latin typeface="Arial"/>
                <a:ea typeface="Arial"/>
                <a:cs typeface="Arial"/>
              </a:rPr>
              <a:t>hạn</a:t>
            </a:r>
            <a:r>
              <a:rPr sz="3200" b="1">
                <a:latin typeface="Arial"/>
                <a:ea typeface="Arial"/>
                <a:cs typeface="Arial"/>
              </a:rPr>
              <a:t>: </a:t>
            </a:r>
            <a:r>
              <a:rPr sz="3200" b="1" err="1">
                <a:latin typeface="Arial"/>
                <a:ea typeface="Arial"/>
                <a:cs typeface="Arial"/>
              </a:rPr>
              <a:t>Ổn</a:t>
            </a:r>
            <a:r>
              <a:rPr sz="3200" b="1">
                <a:latin typeface="Arial"/>
                <a:ea typeface="Arial"/>
                <a:cs typeface="Arial"/>
              </a:rPr>
              <a:t> </a:t>
            </a:r>
            <a:r>
              <a:rPr sz="3200" b="1" err="1">
                <a:latin typeface="Arial"/>
                <a:ea typeface="Arial"/>
                <a:cs typeface="Arial"/>
              </a:rPr>
              <a:t>định</a:t>
            </a:r>
            <a:r>
              <a:rPr sz="3200" b="1">
                <a:latin typeface="Arial"/>
                <a:ea typeface="Arial"/>
                <a:cs typeface="Arial"/>
              </a:rPr>
              <a:t> </a:t>
            </a:r>
            <a:r>
              <a:rPr sz="3200" b="1" err="1">
                <a:latin typeface="Arial"/>
                <a:ea typeface="Arial"/>
                <a:cs typeface="Arial"/>
              </a:rPr>
              <a:t>và</a:t>
            </a:r>
            <a:r>
              <a:rPr sz="3200" b="1">
                <a:latin typeface="Arial"/>
                <a:ea typeface="Arial"/>
                <a:cs typeface="Arial"/>
              </a:rPr>
              <a:t> </a:t>
            </a:r>
            <a:r>
              <a:rPr sz="3200" b="1" err="1">
                <a:latin typeface="Arial"/>
                <a:ea typeface="Arial"/>
                <a:cs typeface="Arial"/>
              </a:rPr>
              <a:t>hợp</a:t>
            </a:r>
            <a:r>
              <a:rPr sz="3200" b="1">
                <a:latin typeface="Arial"/>
                <a:ea typeface="Arial"/>
                <a:cs typeface="Arial"/>
              </a:rPr>
              <a:t> </a:t>
            </a:r>
            <a:r>
              <a:rPr sz="3200" b="1" err="1">
                <a:latin typeface="Arial"/>
                <a:ea typeface="Arial"/>
                <a:cs typeface="Arial"/>
              </a:rPr>
              <a:t>tác</a:t>
            </a:r>
            <a:endParaRPr sz="3200" b="1">
              <a:latin typeface="Arial"/>
              <a:ea typeface="Arial"/>
              <a:cs typeface="Arial"/>
            </a:endParaRPr>
          </a:p>
        </p:txBody>
      </p:sp>
      <p:sp>
        <p:nvSpPr>
          <p:cNvPr id="3215" name="link-tl">
            <a:extLst>
              <a:ext uri="{FF2B5EF4-FFF2-40B4-BE49-F238E27FC236}">
                <a16:creationId xmlns:a16="http://schemas.microsoft.com/office/drawing/2014/main" id="{8B6F5B45-32D9-49BC-A409-FD36B6F96CD1}"/>
              </a:ext>
            </a:extLst>
          </p:cNvPr>
          <p:cNvSpPr>
            <a:spLocks noGrp="1"/>
          </p:cNvSpPr>
          <p:nvPr/>
        </p:nvSpPr>
        <p:spPr>
          <a:xfrm>
            <a:off x="3524250" y="2857500"/>
            <a:ext cx="2095500" cy="47625"/>
          </a:xfrm>
          <a:prstGeom prst="rect">
            <a:avLst/>
          </a:prstGeom>
          <a:solidFill>
            <a:srgbClr val="B8D6E8"/>
          </a:solidFill>
          <a:ln w="0">
            <a:noFill/>
            <a:prstDash val="solid"/>
          </a:ln>
        </p:spPr>
        <p:txBody>
          <a:bodyPr/>
          <a:lstStyle/>
          <a:p>
            <a:endParaRPr lang="en-US"/>
          </a:p>
        </p:txBody>
      </p:sp>
      <p:sp>
        <p:nvSpPr>
          <p:cNvPr id="3216" name="link-tr">
            <a:extLst>
              <a:ext uri="{FF2B5EF4-FFF2-40B4-BE49-F238E27FC236}">
                <a16:creationId xmlns:a16="http://schemas.microsoft.com/office/drawing/2014/main" id="{AABEA878-4A90-48BF-A93F-5C590454C2AE}"/>
              </a:ext>
            </a:extLst>
          </p:cNvPr>
          <p:cNvSpPr>
            <a:spLocks noGrp="1"/>
          </p:cNvSpPr>
          <p:nvPr/>
        </p:nvSpPr>
        <p:spPr>
          <a:xfrm>
            <a:off x="6572250" y="2857500"/>
            <a:ext cx="2095500" cy="47625"/>
          </a:xfrm>
          <a:prstGeom prst="rect">
            <a:avLst/>
          </a:prstGeom>
          <a:solidFill>
            <a:srgbClr val="B8D6E8"/>
          </a:solidFill>
          <a:ln w="0">
            <a:noFill/>
            <a:prstDash val="solid"/>
          </a:ln>
        </p:spPr>
        <p:txBody>
          <a:bodyPr/>
          <a:lstStyle/>
          <a:p>
            <a:endParaRPr lang="en-US"/>
          </a:p>
        </p:txBody>
      </p:sp>
      <p:sp>
        <p:nvSpPr>
          <p:cNvPr id="3217" name="link-bl">
            <a:extLst>
              <a:ext uri="{FF2B5EF4-FFF2-40B4-BE49-F238E27FC236}">
                <a16:creationId xmlns:a16="http://schemas.microsoft.com/office/drawing/2014/main" id="{795E2BCF-40D2-4A84-BC4F-AE66CE4968D6}"/>
              </a:ext>
            </a:extLst>
          </p:cNvPr>
          <p:cNvSpPr>
            <a:spLocks noGrp="1"/>
          </p:cNvSpPr>
          <p:nvPr/>
        </p:nvSpPr>
        <p:spPr>
          <a:xfrm>
            <a:off x="3524250" y="4619625"/>
            <a:ext cx="2095500" cy="47625"/>
          </a:xfrm>
          <a:prstGeom prst="rect">
            <a:avLst/>
          </a:prstGeom>
          <a:solidFill>
            <a:srgbClr val="B8D6E8"/>
          </a:solidFill>
          <a:ln w="0">
            <a:noFill/>
            <a:prstDash val="solid"/>
          </a:ln>
        </p:spPr>
        <p:txBody>
          <a:bodyPr/>
          <a:lstStyle/>
          <a:p>
            <a:endParaRPr lang="en-US"/>
          </a:p>
        </p:txBody>
      </p:sp>
      <p:sp>
        <p:nvSpPr>
          <p:cNvPr id="3218" name="link-br">
            <a:extLst>
              <a:ext uri="{FF2B5EF4-FFF2-40B4-BE49-F238E27FC236}">
                <a16:creationId xmlns:a16="http://schemas.microsoft.com/office/drawing/2014/main" id="{22E411CC-4095-4A5D-9116-5463CD96594B}"/>
              </a:ext>
            </a:extLst>
          </p:cNvPr>
          <p:cNvSpPr>
            <a:spLocks noGrp="1"/>
          </p:cNvSpPr>
          <p:nvPr/>
        </p:nvSpPr>
        <p:spPr>
          <a:xfrm>
            <a:off x="6572250" y="4619625"/>
            <a:ext cx="2095500" cy="47625"/>
          </a:xfrm>
          <a:prstGeom prst="rect">
            <a:avLst/>
          </a:prstGeom>
          <a:solidFill>
            <a:srgbClr val="B8D6E8"/>
          </a:solidFill>
          <a:ln w="0">
            <a:noFill/>
            <a:prstDash val="solid"/>
          </a:ln>
        </p:spPr>
        <p:txBody>
          <a:bodyPr/>
          <a:lstStyle/>
          <a:p>
            <a:endParaRPr lang="en-US"/>
          </a:p>
        </p:txBody>
      </p:sp>
      <p:sp>
        <p:nvSpPr>
          <p:cNvPr id="3219" name="center-commitment">
            <a:extLst>
              <a:ext uri="{FF2B5EF4-FFF2-40B4-BE49-F238E27FC236}">
                <a16:creationId xmlns:a16="http://schemas.microsoft.com/office/drawing/2014/main" id="{AF300475-FE59-4B43-B6A5-725CED34A7DD}"/>
              </a:ext>
            </a:extLst>
          </p:cNvPr>
          <p:cNvSpPr>
            <a:spLocks noGrp="1"/>
          </p:cNvSpPr>
          <p:nvPr/>
        </p:nvSpPr>
        <p:spPr>
          <a:xfrm>
            <a:off x="4667250" y="3000375"/>
            <a:ext cx="2857500" cy="1524000"/>
          </a:xfrm>
          <a:prstGeom prst="roundRect">
            <a:avLst>
              <a:gd name="adj" fmla="val 50000"/>
            </a:avLst>
          </a:prstGeom>
          <a:solidFill>
            <a:srgbClr val="003B71"/>
          </a:solidFill>
          <a:ln w="13335">
            <a:solidFill>
              <a:srgbClr val="003B71"/>
            </a:solidFill>
            <a:prstDash val="solid"/>
          </a:ln>
        </p:spPr>
        <p:txBody>
          <a:bodyPr lIns="152400" tIns="95250" rIns="152400" bIns="95250" anchor="ctr">
            <a:normAutofit/>
          </a:bodyPr>
          <a:lstStyle/>
          <a:p>
            <a:pPr algn="ctr">
              <a:defRPr sz="2325" b="1">
                <a:solidFill>
                  <a:srgbClr val="FFFFFF"/>
                </a:solidFill>
              </a:defRPr>
            </a:pPr>
            <a:r>
              <a:rPr sz="2325" b="1">
                <a:solidFill>
                  <a:srgbClr val="FFFFFF"/>
                </a:solidFill>
              </a:rPr>
              <a:t>CAM KẾT</a:t>
            </a:r>
          </a:p>
          <a:p>
            <a:pPr algn="ctr">
              <a:defRPr sz="2325" b="1">
                <a:solidFill>
                  <a:srgbClr val="FFFFFF"/>
                </a:solidFill>
              </a:defRPr>
            </a:pPr>
            <a:r>
              <a:rPr sz="2325" b="1">
                <a:solidFill>
                  <a:srgbClr val="FFFFFF"/>
                </a:solidFill>
              </a:rPr>
              <a:t>≥ 1 NĂM</a:t>
            </a:r>
          </a:p>
        </p:txBody>
      </p:sp>
      <p:sp>
        <p:nvSpPr>
          <p:cNvPr id="3220" name="value-stability">
            <a:extLst>
              <a:ext uri="{FF2B5EF4-FFF2-40B4-BE49-F238E27FC236}">
                <a16:creationId xmlns:a16="http://schemas.microsoft.com/office/drawing/2014/main" id="{F2D3B0B5-8ED8-4AD6-A2DB-368CD7B3C87F}"/>
              </a:ext>
            </a:extLst>
          </p:cNvPr>
          <p:cNvSpPr>
            <a:spLocks noGrp="1"/>
          </p:cNvSpPr>
          <p:nvPr/>
        </p:nvSpPr>
        <p:spPr>
          <a:xfrm>
            <a:off x="1047750" y="2190750"/>
            <a:ext cx="2857500" cy="1190625"/>
          </a:xfrm>
          <a:prstGeom prst="roundRect">
            <a:avLst>
              <a:gd name="adj" fmla="val 9600"/>
            </a:avLst>
          </a:prstGeom>
          <a:solidFill>
            <a:srgbClr val="E8F5FC"/>
          </a:solidFill>
          <a:ln w="13335">
            <a:solidFill>
              <a:srgbClr val="00AEEF"/>
            </a:solidFill>
            <a:prstDash val="solid"/>
          </a:ln>
        </p:spPr>
        <p:txBody>
          <a:bodyPr lIns="152400" tIns="95250" rIns="152400" bIns="95250" anchor="ctr">
            <a:normAutofit/>
          </a:bodyPr>
          <a:lstStyle/>
          <a:p>
            <a:pPr algn="ctr">
              <a:defRPr sz="1725" b="1">
                <a:solidFill>
                  <a:srgbClr val="003B71"/>
                </a:solidFill>
              </a:defRPr>
            </a:pPr>
            <a:r>
              <a:rPr sz="1725" b="1">
                <a:solidFill>
                  <a:srgbClr val="003B71"/>
                </a:solidFill>
              </a:rPr>
              <a:t>ỔN ĐỊNH</a:t>
            </a:r>
          </a:p>
          <a:p>
            <a:pPr algn="ctr">
              <a:defRPr sz="1725" b="1">
                <a:solidFill>
                  <a:srgbClr val="003B71"/>
                </a:solidFill>
              </a:defRPr>
            </a:pPr>
            <a:r>
              <a:rPr sz="1725" b="1">
                <a:solidFill>
                  <a:srgbClr val="003B71"/>
                </a:solidFill>
              </a:rPr>
              <a:t>Bảo đảm nguồn cung</a:t>
            </a:r>
          </a:p>
        </p:txBody>
      </p:sp>
      <p:sp>
        <p:nvSpPr>
          <p:cNvPr id="3221" name="value-efficiency">
            <a:extLst>
              <a:ext uri="{FF2B5EF4-FFF2-40B4-BE49-F238E27FC236}">
                <a16:creationId xmlns:a16="http://schemas.microsoft.com/office/drawing/2014/main" id="{AAF07045-25FA-4AE5-87A1-403C387AEAE0}"/>
              </a:ext>
            </a:extLst>
          </p:cNvPr>
          <p:cNvSpPr>
            <a:spLocks noGrp="1"/>
          </p:cNvSpPr>
          <p:nvPr/>
        </p:nvSpPr>
        <p:spPr>
          <a:xfrm>
            <a:off x="8286750" y="2190750"/>
            <a:ext cx="2857500" cy="1190625"/>
          </a:xfrm>
          <a:prstGeom prst="roundRect">
            <a:avLst>
              <a:gd name="adj" fmla="val 9600"/>
            </a:avLst>
          </a:prstGeom>
          <a:solidFill>
            <a:srgbClr val="FFF2E4"/>
          </a:solidFill>
          <a:ln w="13335">
            <a:solidFill>
              <a:srgbClr val="F28C28"/>
            </a:solidFill>
            <a:prstDash val="solid"/>
          </a:ln>
        </p:spPr>
        <p:txBody>
          <a:bodyPr lIns="152400" tIns="95250" rIns="152400" bIns="95250" anchor="ctr">
            <a:normAutofit/>
          </a:bodyPr>
          <a:lstStyle/>
          <a:p>
            <a:pPr algn="ctr">
              <a:defRPr sz="1725" b="1">
                <a:solidFill>
                  <a:srgbClr val="9A4C17"/>
                </a:solidFill>
              </a:defRPr>
            </a:pPr>
            <a:r>
              <a:rPr sz="1725" b="1">
                <a:solidFill>
                  <a:srgbClr val="9A4C17"/>
                </a:solidFill>
              </a:rPr>
              <a:t>HIỆU QUẢ</a:t>
            </a:r>
          </a:p>
          <a:p>
            <a:pPr algn="ctr">
              <a:defRPr sz="1725" b="1">
                <a:solidFill>
                  <a:srgbClr val="9A4C17"/>
                </a:solidFill>
              </a:defRPr>
            </a:pPr>
            <a:r>
              <a:rPr sz="1725" b="1">
                <a:solidFill>
                  <a:srgbClr val="9A4C17"/>
                </a:solidFill>
              </a:rPr>
              <a:t>Giảm chi phí mua lại</a:t>
            </a:r>
          </a:p>
        </p:txBody>
      </p:sp>
      <p:sp>
        <p:nvSpPr>
          <p:cNvPr id="3222" name="value-control">
            <a:extLst>
              <a:ext uri="{FF2B5EF4-FFF2-40B4-BE49-F238E27FC236}">
                <a16:creationId xmlns:a16="http://schemas.microsoft.com/office/drawing/2014/main" id="{E6762B3B-2C6F-4815-961D-242F25839A70}"/>
              </a:ext>
            </a:extLst>
          </p:cNvPr>
          <p:cNvSpPr>
            <a:spLocks noGrp="1"/>
          </p:cNvSpPr>
          <p:nvPr/>
        </p:nvSpPr>
        <p:spPr>
          <a:xfrm>
            <a:off x="1047750" y="4333875"/>
            <a:ext cx="2857500" cy="1190625"/>
          </a:xfrm>
          <a:prstGeom prst="roundRect">
            <a:avLst>
              <a:gd name="adj" fmla="val 9600"/>
            </a:avLst>
          </a:prstGeom>
          <a:solidFill>
            <a:srgbClr val="F3F6F8"/>
          </a:solidFill>
          <a:ln w="13335">
            <a:solidFill>
              <a:srgbClr val="AABBC5"/>
            </a:solidFill>
            <a:prstDash val="solid"/>
          </a:ln>
        </p:spPr>
        <p:txBody>
          <a:bodyPr lIns="152400" tIns="95250" rIns="152400" bIns="95250" anchor="ctr">
            <a:normAutofit/>
          </a:bodyPr>
          <a:lstStyle/>
          <a:p>
            <a:pPr algn="ctr">
              <a:defRPr sz="1725" b="1">
                <a:solidFill>
                  <a:srgbClr val="263238"/>
                </a:solidFill>
              </a:defRPr>
            </a:pPr>
            <a:r>
              <a:rPr sz="1725" b="1">
                <a:solidFill>
                  <a:srgbClr val="263238"/>
                </a:solidFill>
              </a:rPr>
              <a:t>KIỂM SOÁT</a:t>
            </a:r>
          </a:p>
          <a:p>
            <a:pPr algn="ctr">
              <a:defRPr sz="1725" b="1">
                <a:solidFill>
                  <a:srgbClr val="263238"/>
                </a:solidFill>
              </a:defRPr>
            </a:pPr>
            <a:r>
              <a:rPr sz="1725" b="1">
                <a:solidFill>
                  <a:srgbClr val="263238"/>
                </a:solidFill>
              </a:rPr>
              <a:t>Giá • chất lượng • KPI</a:t>
            </a:r>
          </a:p>
        </p:txBody>
      </p:sp>
      <p:sp>
        <p:nvSpPr>
          <p:cNvPr id="3223" name="value-growth">
            <a:extLst>
              <a:ext uri="{FF2B5EF4-FFF2-40B4-BE49-F238E27FC236}">
                <a16:creationId xmlns:a16="http://schemas.microsoft.com/office/drawing/2014/main" id="{DED88BE6-5ADA-4D1F-8347-E89FB403F17E}"/>
              </a:ext>
            </a:extLst>
          </p:cNvPr>
          <p:cNvSpPr>
            <a:spLocks noGrp="1"/>
          </p:cNvSpPr>
          <p:nvPr/>
        </p:nvSpPr>
        <p:spPr>
          <a:xfrm>
            <a:off x="8286750" y="4333875"/>
            <a:ext cx="2857500" cy="1190625"/>
          </a:xfrm>
          <a:prstGeom prst="roundRect">
            <a:avLst>
              <a:gd name="adj" fmla="val 9600"/>
            </a:avLst>
          </a:prstGeom>
          <a:solidFill>
            <a:srgbClr val="E8F5F1"/>
          </a:solidFill>
          <a:ln w="13335">
            <a:solidFill>
              <a:srgbClr val="2E8B75"/>
            </a:solidFill>
            <a:prstDash val="solid"/>
          </a:ln>
        </p:spPr>
        <p:txBody>
          <a:bodyPr lIns="152400" tIns="95250" rIns="152400" bIns="95250" anchor="ctr">
            <a:normAutofit/>
          </a:bodyPr>
          <a:lstStyle/>
          <a:p>
            <a:pPr algn="ctr">
              <a:defRPr sz="1725" b="1">
                <a:solidFill>
                  <a:srgbClr val="2E8B75"/>
                </a:solidFill>
              </a:defRPr>
            </a:pPr>
            <a:r>
              <a:rPr sz="1725" b="1">
                <a:solidFill>
                  <a:srgbClr val="2E8B75"/>
                </a:solidFill>
              </a:rPr>
              <a:t>PHÁT TRIỂN</a:t>
            </a:r>
          </a:p>
          <a:p>
            <a:pPr algn="ctr">
              <a:defRPr sz="1725" b="1">
                <a:solidFill>
                  <a:srgbClr val="2E8B75"/>
                </a:solidFill>
              </a:defRPr>
            </a:pPr>
            <a:r>
              <a:rPr sz="1725" b="1">
                <a:solidFill>
                  <a:srgbClr val="2E8B75"/>
                </a:solidFill>
              </a:rPr>
              <a:t>Hợp tác và đổi mới</a:t>
            </a:r>
          </a:p>
        </p:txBody>
      </p:sp>
      <p:sp>
        <p:nvSpPr>
          <p:cNvPr id="3224" name="tradeoff">
            <a:extLst>
              <a:ext uri="{FF2B5EF4-FFF2-40B4-BE49-F238E27FC236}">
                <a16:creationId xmlns:a16="http://schemas.microsoft.com/office/drawing/2014/main" id="{2D8D9156-E5CA-4FB6-B611-9E3C07BD3B47}"/>
              </a:ext>
            </a:extLst>
          </p:cNvPr>
          <p:cNvSpPr>
            <a:spLocks noGrp="1"/>
          </p:cNvSpPr>
          <p:nvPr/>
        </p:nvSpPr>
        <p:spPr>
          <a:xfrm>
            <a:off x="1497685" y="5619750"/>
            <a:ext cx="9196630" cy="825500"/>
          </a:xfrm>
          <a:prstGeom prst="rect">
            <a:avLst/>
          </a:prstGeom>
          <a:noFill/>
          <a:ln w="0">
            <a:noFill/>
            <a:prstDash val="solid"/>
          </a:ln>
        </p:spPr>
        <p:txBody>
          <a:bodyPr lIns="38100" tIns="19050" rIns="38100" bIns="19050" anchor="ctr">
            <a:noAutofit/>
          </a:bodyPr>
          <a:lstStyle/>
          <a:p>
            <a:pPr algn="ctr">
              <a:defRPr sz="1275" b="0">
                <a:solidFill>
                  <a:srgbClr val="607D8B"/>
                </a:solidFill>
              </a:defRPr>
            </a:pPr>
            <a:r>
              <a:rPr sz="2400" b="0" err="1"/>
              <a:t>Đổi</a:t>
            </a:r>
            <a:r>
              <a:rPr sz="2400" b="0"/>
              <a:t> </a:t>
            </a:r>
            <a:r>
              <a:rPr sz="2400" b="0" err="1"/>
              <a:t>lại</a:t>
            </a:r>
            <a:r>
              <a:rPr sz="2400" b="0"/>
              <a:t>: cam </a:t>
            </a:r>
            <a:r>
              <a:rPr sz="2400" b="0" err="1"/>
              <a:t>kết</a:t>
            </a:r>
            <a:r>
              <a:rPr sz="2400" b="0"/>
              <a:t> </a:t>
            </a:r>
            <a:r>
              <a:rPr sz="2400" b="0" err="1"/>
              <a:t>cao</a:t>
            </a:r>
            <a:r>
              <a:rPr sz="2400" b="0"/>
              <a:t> </a:t>
            </a:r>
            <a:r>
              <a:rPr sz="2400" b="0" err="1"/>
              <a:t>hơn</a:t>
            </a:r>
            <a:r>
              <a:rPr sz="2400" b="0"/>
              <a:t> </a:t>
            </a:r>
            <a:r>
              <a:rPr sz="2400" b="0" err="1"/>
              <a:t>và</a:t>
            </a:r>
            <a:r>
              <a:rPr sz="2400" b="0"/>
              <a:t> </a:t>
            </a:r>
            <a:r>
              <a:rPr sz="2400" b="0" err="1"/>
              <a:t>phụ</a:t>
            </a:r>
            <a:r>
              <a:rPr sz="2400" b="0"/>
              <a:t> </a:t>
            </a:r>
            <a:r>
              <a:rPr sz="2400" b="0" err="1"/>
              <a:t>thuộc</a:t>
            </a:r>
            <a:r>
              <a:rPr sz="2400" b="0"/>
              <a:t> </a:t>
            </a:r>
            <a:r>
              <a:rPr sz="2400" b="0" err="1"/>
              <a:t>nhà</a:t>
            </a:r>
            <a:r>
              <a:rPr sz="2400" b="0"/>
              <a:t> </a:t>
            </a:r>
            <a:r>
              <a:rPr sz="2400" b="0" err="1"/>
              <a:t>cung</a:t>
            </a:r>
            <a:r>
              <a:rPr sz="2400" b="0"/>
              <a:t> </a:t>
            </a:r>
            <a:r>
              <a:rPr sz="2400" b="0" err="1"/>
              <a:t>cấp</a:t>
            </a:r>
            <a:r>
              <a:rPr sz="2400" b="0"/>
              <a:t> </a:t>
            </a:r>
            <a:r>
              <a:rPr sz="2400" b="0" err="1"/>
              <a:t>nhiều</a:t>
            </a:r>
            <a:r>
              <a:rPr sz="2400" b="0"/>
              <a:t> </a:t>
            </a:r>
            <a:r>
              <a:rPr sz="2400" b="0" err="1"/>
              <a:t>hơn</a:t>
            </a:r>
            <a:endParaRPr sz="2400" b="0"/>
          </a:p>
        </p:txBody>
      </p:sp>
    </p:spTree>
    <p:extLst>
      <p:ext uri="{BB962C8B-B14F-4D97-AF65-F5344CB8AC3E}">
        <p14:creationId xmlns:p14="http://schemas.microsoft.com/office/powerpoint/2010/main" val="1145086354"/>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Shape 3083"/>
        <p:cNvGrpSpPr/>
        <p:nvPr/>
      </p:nvGrpSpPr>
      <p:grpSpPr>
        <a:xfrm>
          <a:off x="0" y="0"/>
          <a:ext cx="0" cy="0"/>
          <a:chOff x="0" y="0"/>
          <a:chExt cx="0" cy="0"/>
        </a:xfrm>
      </p:grpSpPr>
      <p:sp>
        <p:nvSpPr>
          <p:cNvPr id="3084" name="Google Shape;3084;p395"/>
          <p:cNvSpPr txBox="1">
            <a:spLocks noGrp="1"/>
          </p:cNvSpPr>
          <p:nvPr>
            <p:ph type="ctrTitle"/>
          </p:nvPr>
        </p:nvSpPr>
        <p:spPr>
          <a:xfrm>
            <a:off x="1730121" y="3429000"/>
            <a:ext cx="9474835" cy="905510"/>
          </a:xfrm>
          <a:prstGeom prst="rect">
            <a:avLst/>
          </a:prstGeom>
          <a:noFill/>
          <a:ln>
            <a:noFill/>
          </a:ln>
        </p:spPr>
        <p:txBody>
          <a:bodyPr spcFirstLastPara="1" wrap="square" lIns="91425" tIns="45700" rIns="91425" bIns="45700" anchor="b" anchorCtr="0">
            <a:noAutofit/>
          </a:bodyPr>
          <a:lstStyle/>
          <a:p>
            <a:pPr marL="0" lvl="1" indent="0" algn="ctr" rtl="0">
              <a:lnSpc>
                <a:spcPct val="150000"/>
              </a:lnSpc>
              <a:spcBef>
                <a:spcPts val="0"/>
              </a:spcBef>
              <a:spcAft>
                <a:spcPts val="0"/>
              </a:spcAft>
              <a:buSzPts val="1400"/>
              <a:buNone/>
            </a:pPr>
            <a:r>
              <a:rPr lang="en-US" sz="3600" b="1"/>
              <a:t>7</a:t>
            </a:r>
            <a:r>
              <a:rPr lang="en-US" sz="3600" b="1" i="0" u="none" strike="noStrike" cap="none">
                <a:latin typeface="Arial"/>
                <a:ea typeface="Arial"/>
                <a:cs typeface="Arial"/>
                <a:sym typeface="Arial"/>
              </a:rPr>
              <a:t>.2. </a:t>
            </a:r>
            <a:r>
              <a:rPr lang="en-US" sz="3600" b="1">
                <a:solidFill>
                  <a:srgbClr val="000000"/>
                </a:solidFill>
                <a:latin typeface="Arial"/>
                <a:ea typeface="Arial"/>
                <a:cs typeface="Arial"/>
                <a:sym typeface="Arial"/>
              </a:rPr>
              <a:t>QUÁ TRÌNH QUYẾT ĐỊNH MUA</a:t>
            </a:r>
            <a:br>
              <a:rPr lang="en-US" sz="3600" b="1">
                <a:solidFill>
                  <a:srgbClr val="000000"/>
                </a:solidFill>
                <a:latin typeface="Arial"/>
                <a:ea typeface="Arial"/>
                <a:cs typeface="Arial"/>
                <a:sym typeface="Arial"/>
              </a:rPr>
            </a:br>
            <a:endParaRPr sz="3600" b="1" i="0" u="none" strike="noStrike" cap="none">
              <a:latin typeface="Arial"/>
              <a:ea typeface="Arial"/>
              <a:cs typeface="Arial"/>
              <a:sym typeface="Arial"/>
            </a:endParaRPr>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Shape 3253"/>
        <p:cNvGrpSpPr/>
        <p:nvPr/>
      </p:nvGrpSpPr>
      <p:grpSpPr>
        <a:xfrm>
          <a:off x="0" y="0"/>
          <a:ext cx="0" cy="0"/>
          <a:chOff x="0" y="0"/>
          <a:chExt cx="0" cy="0"/>
        </a:xfrm>
      </p:grpSpPr>
      <p:sp>
        <p:nvSpPr>
          <p:cNvPr id="3254" name="Google Shape;3254;p4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3200" b="1"/>
              <a:t>7</a:t>
            </a:r>
            <a:r>
              <a:rPr lang="en-US" sz="3200" b="1">
                <a:latin typeface="Arial"/>
                <a:ea typeface="Arial"/>
                <a:cs typeface="Arial"/>
                <a:sym typeface="Arial"/>
              </a:rPr>
              <a:t>.2. Quy </a:t>
            </a:r>
            <a:r>
              <a:rPr lang="en-US" sz="3200" b="1" err="1">
                <a:latin typeface="Arial"/>
                <a:ea typeface="Arial"/>
                <a:cs typeface="Arial"/>
                <a:sym typeface="Arial"/>
              </a:rPr>
              <a:t>trình</a:t>
            </a:r>
            <a:r>
              <a:rPr lang="en-US" sz="3200" b="1">
                <a:latin typeface="Arial"/>
                <a:ea typeface="Arial"/>
                <a:cs typeface="Arial"/>
                <a:sym typeface="Arial"/>
              </a:rPr>
              <a:t> </a:t>
            </a:r>
            <a:r>
              <a:rPr lang="en-US" sz="3200" b="1" err="1">
                <a:latin typeface="Arial"/>
                <a:ea typeface="Arial"/>
                <a:cs typeface="Arial"/>
                <a:sym typeface="Arial"/>
              </a:rPr>
              <a:t>ra</a:t>
            </a:r>
            <a:r>
              <a:rPr lang="en-US" sz="3200" b="1">
                <a:latin typeface="Arial"/>
                <a:ea typeface="Arial"/>
                <a:cs typeface="Arial"/>
                <a:sym typeface="Arial"/>
              </a:rPr>
              <a:t> </a:t>
            </a:r>
            <a:r>
              <a:rPr lang="en-US" sz="3200" b="1" err="1">
                <a:latin typeface="Arial"/>
                <a:ea typeface="Arial"/>
                <a:cs typeface="Arial"/>
                <a:sym typeface="Arial"/>
              </a:rPr>
              <a:t>quyết</a:t>
            </a:r>
            <a:r>
              <a:rPr lang="en-US" sz="3200" b="1">
                <a:latin typeface="Arial"/>
                <a:ea typeface="Arial"/>
                <a:cs typeface="Arial"/>
                <a:sym typeface="Arial"/>
              </a:rPr>
              <a:t> </a:t>
            </a:r>
            <a:r>
              <a:rPr lang="en-US" sz="3200" b="1" err="1">
                <a:latin typeface="Arial"/>
                <a:ea typeface="Arial"/>
                <a:cs typeface="Arial"/>
                <a:sym typeface="Arial"/>
              </a:rPr>
              <a:t>định</a:t>
            </a:r>
            <a:r>
              <a:rPr lang="en-US" sz="3200" b="1">
                <a:latin typeface="Arial"/>
                <a:ea typeface="Arial"/>
                <a:cs typeface="Arial"/>
                <a:sym typeface="Arial"/>
              </a:rPr>
              <a:t> </a:t>
            </a:r>
            <a:r>
              <a:rPr lang="en-US" sz="3200" b="1" err="1">
                <a:latin typeface="Arial"/>
                <a:ea typeface="Arial"/>
                <a:cs typeface="Arial"/>
                <a:sym typeface="Arial"/>
              </a:rPr>
              <a:t>mua</a:t>
            </a:r>
            <a:endParaRPr sz="3200" b="1">
              <a:latin typeface="Arial"/>
              <a:ea typeface="Arial"/>
              <a:cs typeface="Arial"/>
              <a:sym typeface="Arial"/>
            </a:endParaRPr>
          </a:p>
        </p:txBody>
      </p:sp>
      <p:graphicFrame>
        <p:nvGraphicFramePr>
          <p:cNvPr id="2" name="Content Placeholder 2">
            <a:extLst>
              <a:ext uri="{FF2B5EF4-FFF2-40B4-BE49-F238E27FC236}">
                <a16:creationId xmlns:a16="http://schemas.microsoft.com/office/drawing/2014/main" id="{A9137820-8A5D-D8B7-C05D-9DB23E389160}"/>
              </a:ext>
            </a:extLst>
          </p:cNvPr>
          <p:cNvGraphicFramePr>
            <a:graphicFrameLocks/>
          </p:cNvGraphicFramePr>
          <p:nvPr/>
        </p:nvGraphicFramePr>
        <p:xfrm>
          <a:off x="651510" y="1690688"/>
          <a:ext cx="10618470" cy="43924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82245849"/>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Shape 3260"/>
        <p:cNvGrpSpPr/>
        <p:nvPr/>
      </p:nvGrpSpPr>
      <p:grpSpPr>
        <a:xfrm>
          <a:off x="0" y="0"/>
          <a:ext cx="0" cy="0"/>
          <a:chOff x="0" y="0"/>
          <a:chExt cx="0" cy="0"/>
        </a:xfrm>
      </p:grpSpPr>
      <p:sp>
        <p:nvSpPr>
          <p:cNvPr id="3261" name="Google Shape;3261;p4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3200" b="1">
                <a:latin typeface="Arial"/>
                <a:ea typeface="Arial"/>
                <a:cs typeface="Arial"/>
                <a:sym typeface="Arial"/>
              </a:rPr>
              <a:t>7.2 Quy </a:t>
            </a:r>
            <a:r>
              <a:rPr lang="en-US" sz="3200" b="1" err="1">
                <a:latin typeface="Arial"/>
                <a:ea typeface="Arial"/>
                <a:cs typeface="Arial"/>
                <a:sym typeface="Arial"/>
              </a:rPr>
              <a:t>trình</a:t>
            </a:r>
            <a:r>
              <a:rPr lang="en-US" sz="3200" b="1">
                <a:latin typeface="Arial"/>
                <a:ea typeface="Arial"/>
                <a:cs typeface="Arial"/>
                <a:sym typeface="Arial"/>
              </a:rPr>
              <a:t> </a:t>
            </a:r>
            <a:r>
              <a:rPr lang="en-US" sz="3200" b="1" err="1">
                <a:latin typeface="Arial"/>
                <a:ea typeface="Arial"/>
                <a:cs typeface="Arial"/>
                <a:sym typeface="Arial"/>
              </a:rPr>
              <a:t>ra</a:t>
            </a:r>
            <a:r>
              <a:rPr lang="en-US" sz="3200" b="1">
                <a:latin typeface="Arial"/>
                <a:ea typeface="Arial"/>
                <a:cs typeface="Arial"/>
                <a:sym typeface="Arial"/>
              </a:rPr>
              <a:t> </a:t>
            </a:r>
            <a:r>
              <a:rPr lang="en-US" sz="3200" b="1" err="1">
                <a:latin typeface="Arial"/>
                <a:ea typeface="Arial"/>
                <a:cs typeface="Arial"/>
                <a:sym typeface="Arial"/>
              </a:rPr>
              <a:t>quyết</a:t>
            </a:r>
            <a:r>
              <a:rPr lang="en-US" sz="3200" b="1">
                <a:latin typeface="Arial"/>
                <a:ea typeface="Arial"/>
                <a:cs typeface="Arial"/>
                <a:sym typeface="Arial"/>
              </a:rPr>
              <a:t> </a:t>
            </a:r>
            <a:r>
              <a:rPr lang="en-US" sz="3200" b="1" err="1">
                <a:latin typeface="Arial"/>
                <a:ea typeface="Arial"/>
                <a:cs typeface="Arial"/>
                <a:sym typeface="Arial"/>
              </a:rPr>
              <a:t>định</a:t>
            </a:r>
            <a:r>
              <a:rPr lang="en-US" sz="3200" b="1">
                <a:latin typeface="Arial"/>
                <a:ea typeface="Arial"/>
                <a:cs typeface="Arial"/>
                <a:sym typeface="Arial"/>
              </a:rPr>
              <a:t> </a:t>
            </a:r>
            <a:r>
              <a:rPr lang="en-US" sz="3200" b="1" err="1">
                <a:latin typeface="Arial"/>
                <a:ea typeface="Arial"/>
                <a:cs typeface="Arial"/>
                <a:sym typeface="Arial"/>
              </a:rPr>
              <a:t>mua</a:t>
            </a:r>
            <a:r>
              <a:rPr lang="en-US" sz="3200" b="1">
                <a:latin typeface="Arial"/>
                <a:ea typeface="Arial"/>
                <a:cs typeface="Arial"/>
                <a:sym typeface="Arial"/>
              </a:rPr>
              <a:t> (</a:t>
            </a:r>
            <a:r>
              <a:rPr lang="en-US" sz="3200" b="1" err="1">
                <a:latin typeface="Arial"/>
                <a:ea typeface="Arial"/>
                <a:cs typeface="Arial"/>
                <a:sym typeface="Arial"/>
              </a:rPr>
              <a:t>tt</a:t>
            </a:r>
            <a:r>
              <a:rPr lang="en-US" sz="3200" b="1">
                <a:latin typeface="Arial"/>
                <a:ea typeface="Arial"/>
                <a:cs typeface="Arial"/>
                <a:sym typeface="Arial"/>
              </a:rPr>
              <a:t>)</a:t>
            </a:r>
            <a:endParaRPr sz="3200"/>
          </a:p>
        </p:txBody>
      </p:sp>
      <p:sp>
        <p:nvSpPr>
          <p:cNvPr id="3262" name="Google Shape;3262;p415"/>
          <p:cNvSpPr txBox="1">
            <a:spLocks noGrp="1"/>
          </p:cNvSpPr>
          <p:nvPr>
            <p:ph type="body" idx="1"/>
          </p:nvPr>
        </p:nvSpPr>
        <p:spPr>
          <a:xfrm>
            <a:off x="417095" y="1520825"/>
            <a:ext cx="10936705" cy="4972050"/>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90000"/>
              </a:lnSpc>
              <a:spcBef>
                <a:spcPts val="1000"/>
              </a:spcBef>
              <a:spcAft>
                <a:spcPts val="0"/>
              </a:spcAft>
              <a:buClr>
                <a:schemeClr val="dk1"/>
              </a:buClr>
              <a:buSzPts val="1800"/>
              <a:buFont typeface="Arial"/>
              <a:buChar char="•"/>
            </a:pPr>
            <a:r>
              <a:rPr lang="en-US" sz="2300" b="1" i="0" u="none" strike="noStrike" cap="none" err="1">
                <a:solidFill>
                  <a:schemeClr val="dk1"/>
                </a:solidFill>
                <a:latin typeface="Arial"/>
                <a:ea typeface="Arial"/>
                <a:cs typeface="Arial"/>
                <a:sym typeface="Arial"/>
              </a:rPr>
              <a:t>Bước</a:t>
            </a:r>
            <a:r>
              <a:rPr lang="en-US" sz="2300" b="1" i="0" u="none" strike="noStrike" cap="none">
                <a:solidFill>
                  <a:schemeClr val="dk1"/>
                </a:solidFill>
                <a:latin typeface="Arial"/>
                <a:ea typeface="Arial"/>
                <a:cs typeface="Arial"/>
                <a:sym typeface="Arial"/>
              </a:rPr>
              <a:t> 1: </a:t>
            </a:r>
            <a:r>
              <a:rPr lang="en-US" sz="2300" b="1" i="0" u="none" strike="noStrike" cap="none" err="1">
                <a:solidFill>
                  <a:schemeClr val="dk1"/>
                </a:solidFill>
                <a:latin typeface="Arial"/>
                <a:ea typeface="Arial"/>
                <a:cs typeface="Arial"/>
                <a:sym typeface="Arial"/>
              </a:rPr>
              <a:t>Nhận</a:t>
            </a:r>
            <a:r>
              <a:rPr lang="en-US" sz="2300" b="1" i="0" u="none" strike="noStrike" cap="none">
                <a:solidFill>
                  <a:schemeClr val="dk1"/>
                </a:solidFill>
                <a:latin typeface="Arial"/>
                <a:ea typeface="Arial"/>
                <a:cs typeface="Arial"/>
                <a:sym typeface="Arial"/>
              </a:rPr>
              <a:t> </a:t>
            </a:r>
            <a:r>
              <a:rPr lang="en-US" sz="2300" b="1" i="0" u="none" strike="noStrike" cap="none" err="1">
                <a:solidFill>
                  <a:schemeClr val="dk1"/>
                </a:solidFill>
                <a:latin typeface="Arial"/>
                <a:ea typeface="Arial"/>
                <a:cs typeface="Arial"/>
                <a:sym typeface="Arial"/>
              </a:rPr>
              <a:t>thức</a:t>
            </a:r>
            <a:r>
              <a:rPr lang="en-US" sz="2300" b="1" i="0" u="none" strike="noStrike" cap="none">
                <a:solidFill>
                  <a:schemeClr val="dk1"/>
                </a:solidFill>
                <a:latin typeface="Arial"/>
                <a:ea typeface="Arial"/>
                <a:cs typeface="Arial"/>
                <a:sym typeface="Arial"/>
              </a:rPr>
              <a:t> </a:t>
            </a:r>
            <a:r>
              <a:rPr lang="en-US" sz="2300" b="1" i="0" u="none" strike="noStrike" cap="none" err="1">
                <a:solidFill>
                  <a:schemeClr val="dk1"/>
                </a:solidFill>
                <a:latin typeface="Arial"/>
                <a:ea typeface="Arial"/>
                <a:cs typeface="Arial"/>
                <a:sym typeface="Arial"/>
              </a:rPr>
              <a:t>vấn</a:t>
            </a:r>
            <a:r>
              <a:rPr lang="en-US" sz="2300" b="1" i="0" u="none" strike="noStrike" cap="none">
                <a:solidFill>
                  <a:schemeClr val="dk1"/>
                </a:solidFill>
                <a:latin typeface="Arial"/>
                <a:ea typeface="Arial"/>
                <a:cs typeface="Arial"/>
                <a:sym typeface="Arial"/>
              </a:rPr>
              <a:t> </a:t>
            </a:r>
            <a:r>
              <a:rPr lang="en-US" sz="2300" b="1" i="0" u="none" strike="noStrike" cap="none" err="1">
                <a:solidFill>
                  <a:schemeClr val="dk1"/>
                </a:solidFill>
                <a:latin typeface="Arial"/>
                <a:ea typeface="Arial"/>
                <a:cs typeface="Arial"/>
                <a:sym typeface="Arial"/>
              </a:rPr>
              <a:t>đề</a:t>
            </a:r>
            <a:endParaRPr sz="2300" b="1" i="0" u="none" strike="noStrike" cap="none">
              <a:solidFill>
                <a:schemeClr val="dk1"/>
              </a:solidFill>
              <a:latin typeface="Arial"/>
              <a:ea typeface="Arial"/>
              <a:cs typeface="Arial"/>
              <a:sym typeface="Arial"/>
            </a:endParaRPr>
          </a:p>
          <a:p>
            <a:pPr marL="457200" marR="0" lvl="1" indent="0" algn="just" rtl="0">
              <a:lnSpc>
                <a:spcPct val="90000"/>
              </a:lnSpc>
              <a:spcBef>
                <a:spcPts val="500"/>
              </a:spcBef>
              <a:spcAft>
                <a:spcPts val="0"/>
              </a:spcAft>
              <a:buClr>
                <a:schemeClr val="dk1"/>
              </a:buClr>
              <a:buSzPts val="1800"/>
              <a:buFont typeface="Arial"/>
              <a:buNone/>
            </a:pP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Doanh</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nghiệp</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nhận</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thức</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được</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nhu</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cầu</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về</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mua</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sắm</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sản</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phẩm</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công</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nghiệp</a:t>
            </a:r>
            <a:r>
              <a:rPr lang="en-US" sz="2300" b="0" i="0" u="none" strike="noStrike" cap="none">
                <a:solidFill>
                  <a:schemeClr val="dk1"/>
                </a:solidFill>
                <a:latin typeface="Arial"/>
                <a:ea typeface="Arial"/>
                <a:cs typeface="Arial"/>
                <a:sym typeface="Arial"/>
              </a:rPr>
              <a:t>.</a:t>
            </a:r>
            <a:endParaRPr sz="2300" b="0" i="0" u="none" strike="noStrike" cap="none">
              <a:solidFill>
                <a:schemeClr val="dk1"/>
              </a:solidFill>
              <a:latin typeface="Arial"/>
              <a:ea typeface="Arial"/>
              <a:cs typeface="Arial"/>
              <a:sym typeface="Arial"/>
            </a:endParaRPr>
          </a:p>
          <a:p>
            <a:pPr marL="457200" marR="0" lvl="1" indent="0" algn="just" rtl="0">
              <a:lnSpc>
                <a:spcPct val="90000"/>
              </a:lnSpc>
              <a:spcBef>
                <a:spcPts val="500"/>
              </a:spcBef>
              <a:spcAft>
                <a:spcPts val="0"/>
              </a:spcAft>
              <a:buClr>
                <a:schemeClr val="dk1"/>
              </a:buClr>
              <a:buSzPts val="1800"/>
              <a:buFont typeface="Arial"/>
              <a:buNone/>
            </a:pP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Nguyên</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nhân</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nào</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khiến</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doanh</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nghiệp</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phát</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sinh</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nhu</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cầu</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mua</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sắm</a:t>
            </a:r>
            <a:r>
              <a:rPr lang="en-US" sz="2300" b="0" i="0" u="none" strike="noStrike" cap="none">
                <a:solidFill>
                  <a:schemeClr val="dk1"/>
                </a:solidFill>
                <a:latin typeface="Arial"/>
                <a:ea typeface="Arial"/>
                <a:cs typeface="Arial"/>
                <a:sym typeface="Arial"/>
              </a:rPr>
              <a:t>?</a:t>
            </a:r>
            <a:endParaRPr sz="2300" b="0" i="0" u="none" strike="noStrike" cap="none">
              <a:solidFill>
                <a:schemeClr val="dk1"/>
              </a:solidFill>
              <a:latin typeface="Arial"/>
              <a:ea typeface="Arial"/>
              <a:cs typeface="Arial"/>
              <a:sym typeface="Arial"/>
            </a:endParaRPr>
          </a:p>
          <a:p>
            <a:pPr marL="685800" marR="0" lvl="1" indent="-114300" algn="l" rtl="0">
              <a:lnSpc>
                <a:spcPct val="90000"/>
              </a:lnSpc>
              <a:spcBef>
                <a:spcPts val="500"/>
              </a:spcBef>
              <a:spcAft>
                <a:spcPts val="0"/>
              </a:spcAft>
              <a:buClr>
                <a:schemeClr val="dk1"/>
              </a:buClr>
              <a:buSzPts val="1800"/>
              <a:buFont typeface="Arial"/>
              <a:buNone/>
            </a:pPr>
            <a:endParaRPr sz="2300" b="0" i="0" u="none" strike="noStrike" cap="none">
              <a:solidFill>
                <a:srgbClr val="FF0000"/>
              </a:solidFill>
              <a:latin typeface="Arial"/>
              <a:ea typeface="Arial"/>
              <a:cs typeface="Arial"/>
              <a:sym typeface="Arial"/>
            </a:endParaRPr>
          </a:p>
          <a:p>
            <a:pPr marL="228600" lvl="0" indent="-228600" algn="l" rtl="0">
              <a:lnSpc>
                <a:spcPct val="90000"/>
              </a:lnSpc>
              <a:spcBef>
                <a:spcPts val="1000"/>
              </a:spcBef>
              <a:spcAft>
                <a:spcPts val="0"/>
              </a:spcAft>
              <a:buSzPts val="1800"/>
              <a:buFont typeface="Arial"/>
              <a:buChar char="•"/>
            </a:pPr>
            <a:r>
              <a:rPr lang="en-US" sz="2300" b="1" i="0" u="none" strike="noStrike" cap="none" err="1">
                <a:solidFill>
                  <a:schemeClr val="dk1"/>
                </a:solidFill>
                <a:latin typeface="Arial"/>
                <a:ea typeface="Arial"/>
                <a:cs typeface="Arial"/>
                <a:sym typeface="Arial"/>
              </a:rPr>
              <a:t>Bước</a:t>
            </a:r>
            <a:r>
              <a:rPr lang="en-US" sz="2300" b="1" i="0" u="none" strike="noStrike" cap="none">
                <a:solidFill>
                  <a:schemeClr val="dk1"/>
                </a:solidFill>
                <a:latin typeface="Arial"/>
                <a:ea typeface="Arial"/>
                <a:cs typeface="Arial"/>
                <a:sym typeface="Arial"/>
              </a:rPr>
              <a:t> 2: </a:t>
            </a:r>
            <a:r>
              <a:rPr lang="en-US" sz="2300" b="1" i="0" u="none" strike="noStrike" cap="none" err="1">
                <a:solidFill>
                  <a:schemeClr val="dk1"/>
                </a:solidFill>
                <a:latin typeface="Arial"/>
                <a:ea typeface="Arial"/>
                <a:cs typeface="Arial"/>
                <a:sym typeface="Arial"/>
              </a:rPr>
              <a:t>Phác</a:t>
            </a:r>
            <a:r>
              <a:rPr lang="en-US" sz="2300" b="1" i="0" u="none" strike="noStrike" cap="none">
                <a:solidFill>
                  <a:schemeClr val="dk1"/>
                </a:solidFill>
                <a:latin typeface="Arial"/>
                <a:ea typeface="Arial"/>
                <a:cs typeface="Arial"/>
                <a:sym typeface="Arial"/>
              </a:rPr>
              <a:t> </a:t>
            </a:r>
            <a:r>
              <a:rPr lang="en-US" sz="2300" b="1" i="0" u="none" strike="noStrike" cap="none" err="1">
                <a:solidFill>
                  <a:schemeClr val="dk1"/>
                </a:solidFill>
                <a:latin typeface="Arial"/>
                <a:ea typeface="Arial"/>
                <a:cs typeface="Arial"/>
                <a:sym typeface="Arial"/>
              </a:rPr>
              <a:t>họa</a:t>
            </a:r>
            <a:r>
              <a:rPr lang="en-US" sz="2300" b="1" i="0" u="none" strike="noStrike" cap="none">
                <a:solidFill>
                  <a:schemeClr val="dk1"/>
                </a:solidFill>
                <a:latin typeface="Arial"/>
                <a:ea typeface="Arial"/>
                <a:cs typeface="Arial"/>
                <a:sym typeface="Arial"/>
              </a:rPr>
              <a:t> </a:t>
            </a:r>
            <a:r>
              <a:rPr lang="en-US" sz="2300" b="1" i="0" u="none" strike="noStrike" cap="none" err="1">
                <a:solidFill>
                  <a:schemeClr val="dk1"/>
                </a:solidFill>
                <a:latin typeface="Arial"/>
                <a:ea typeface="Arial"/>
                <a:cs typeface="Arial"/>
                <a:sym typeface="Arial"/>
              </a:rPr>
              <a:t>tổng</a:t>
            </a:r>
            <a:r>
              <a:rPr lang="en-US" sz="2300" b="1" i="0" u="none" strike="noStrike" cap="none">
                <a:solidFill>
                  <a:schemeClr val="dk1"/>
                </a:solidFill>
                <a:latin typeface="Arial"/>
                <a:ea typeface="Arial"/>
                <a:cs typeface="Arial"/>
                <a:sym typeface="Arial"/>
              </a:rPr>
              <a:t> </a:t>
            </a:r>
            <a:r>
              <a:rPr lang="en-US" sz="2300" b="1" i="0" u="none" strike="noStrike" cap="none" err="1">
                <a:solidFill>
                  <a:schemeClr val="dk1"/>
                </a:solidFill>
                <a:latin typeface="Arial"/>
                <a:ea typeface="Arial"/>
                <a:cs typeface="Arial"/>
                <a:sym typeface="Arial"/>
              </a:rPr>
              <a:t>quát</a:t>
            </a:r>
            <a:r>
              <a:rPr lang="en-US" sz="2300" b="1" i="0" u="none" strike="noStrike" cap="none">
                <a:solidFill>
                  <a:schemeClr val="dk1"/>
                </a:solidFill>
                <a:latin typeface="Arial"/>
                <a:ea typeface="Arial"/>
                <a:cs typeface="Arial"/>
                <a:sym typeface="Arial"/>
              </a:rPr>
              <a:t> </a:t>
            </a:r>
            <a:r>
              <a:rPr lang="en-US" sz="2300" b="1" i="0" u="none" strike="noStrike" cap="none" err="1">
                <a:solidFill>
                  <a:schemeClr val="dk1"/>
                </a:solidFill>
                <a:latin typeface="Arial"/>
                <a:ea typeface="Arial"/>
                <a:cs typeface="Arial"/>
                <a:sym typeface="Arial"/>
              </a:rPr>
              <a:t>nhu</a:t>
            </a:r>
            <a:r>
              <a:rPr lang="en-US" sz="2300" b="1" i="0" u="none" strike="noStrike" cap="none">
                <a:solidFill>
                  <a:schemeClr val="dk1"/>
                </a:solidFill>
                <a:latin typeface="Arial"/>
                <a:ea typeface="Arial"/>
                <a:cs typeface="Arial"/>
                <a:sym typeface="Arial"/>
              </a:rPr>
              <a:t> </a:t>
            </a:r>
            <a:r>
              <a:rPr lang="en-US" sz="2300" b="1" i="0" u="none" strike="noStrike" cap="none" err="1">
                <a:solidFill>
                  <a:schemeClr val="dk1"/>
                </a:solidFill>
                <a:latin typeface="Arial"/>
                <a:ea typeface="Arial"/>
                <a:cs typeface="Arial"/>
                <a:sym typeface="Arial"/>
              </a:rPr>
              <a:t>cầu</a:t>
            </a:r>
            <a:endParaRPr sz="2300" b="0" i="0" u="none" strike="noStrike" cap="none">
              <a:solidFill>
                <a:schemeClr val="dk1"/>
              </a:solidFill>
              <a:latin typeface="Arial"/>
              <a:ea typeface="Arial"/>
              <a:cs typeface="Arial"/>
              <a:sym typeface="Arial"/>
            </a:endParaRPr>
          </a:p>
          <a:p>
            <a:pPr marL="457200" marR="0" lvl="1" indent="0" algn="just" rtl="0">
              <a:lnSpc>
                <a:spcPct val="150000"/>
              </a:lnSpc>
              <a:spcBef>
                <a:spcPts val="0"/>
              </a:spcBef>
              <a:spcAft>
                <a:spcPts val="0"/>
              </a:spcAft>
              <a:buClr>
                <a:schemeClr val="dk1"/>
              </a:buClr>
              <a:buSzPts val="1800"/>
              <a:buFont typeface="Arial"/>
              <a:buNone/>
            </a:pP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Xác</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định</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những</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đặc</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điểm</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chung</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và</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số</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lượng</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mặt</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hàng</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có</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nhu</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cầu</a:t>
            </a:r>
            <a:r>
              <a:rPr lang="en-US" sz="2300" b="0" i="0" u="none" strike="noStrike" cap="none">
                <a:solidFill>
                  <a:schemeClr val="dk1"/>
                </a:solidFill>
                <a:latin typeface="Arial"/>
                <a:ea typeface="Arial"/>
                <a:cs typeface="Arial"/>
                <a:sym typeface="Arial"/>
              </a:rPr>
              <a:t>.</a:t>
            </a:r>
            <a:endParaRPr sz="2300" b="0" i="0" u="none" strike="noStrike" cap="none">
              <a:solidFill>
                <a:schemeClr val="dk1"/>
              </a:solidFill>
              <a:latin typeface="Arial"/>
              <a:ea typeface="Arial"/>
              <a:cs typeface="Arial"/>
              <a:sym typeface="Arial"/>
            </a:endParaRPr>
          </a:p>
          <a:p>
            <a:pPr marL="685800" marR="0" lvl="1" indent="-228600" algn="just" rtl="0">
              <a:lnSpc>
                <a:spcPct val="90000"/>
              </a:lnSpc>
              <a:spcBef>
                <a:spcPts val="500"/>
              </a:spcBef>
              <a:spcAft>
                <a:spcPts val="0"/>
              </a:spcAft>
              <a:buClr>
                <a:schemeClr val="dk1"/>
              </a:buClr>
              <a:buSzPts val="1800"/>
              <a:buFont typeface="Arial"/>
              <a:buChar char="-"/>
            </a:pPr>
            <a:r>
              <a:rPr lang="en-US" sz="2300" b="0" i="0" u="none" strike="noStrike" cap="none" err="1">
                <a:solidFill>
                  <a:schemeClr val="dk1"/>
                </a:solidFill>
                <a:latin typeface="Arial"/>
                <a:ea typeface="Arial"/>
                <a:cs typeface="Arial"/>
                <a:sym typeface="Arial"/>
              </a:rPr>
              <a:t>Đối</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với</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những</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mặt</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hàng</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phức</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tạp</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cần</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có</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các</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chuyên</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gia</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kỹ</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sư</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người</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sử</a:t>
            </a:r>
            <a:r>
              <a:rPr lang="en-US" sz="2300" b="0" i="0" u="none" strike="noStrike" cap="none">
                <a:solidFill>
                  <a:schemeClr val="dk1"/>
                </a:solidFill>
                <a:latin typeface="Arial"/>
                <a:ea typeface="Arial"/>
                <a:cs typeface="Arial"/>
                <a:sym typeface="Arial"/>
              </a:rPr>
              <a:t> </a:t>
            </a:r>
            <a:endParaRPr sz="2300" b="0" i="0" u="none" strike="noStrike" cap="none">
              <a:solidFill>
                <a:schemeClr val="dk1"/>
              </a:solidFill>
              <a:latin typeface="Arial"/>
              <a:ea typeface="Arial"/>
              <a:cs typeface="Arial"/>
              <a:sym typeface="Arial"/>
            </a:endParaRPr>
          </a:p>
          <a:p>
            <a:pPr marL="457200" marR="0" lvl="1" indent="0" algn="just" rtl="0">
              <a:lnSpc>
                <a:spcPct val="90000"/>
              </a:lnSpc>
              <a:spcBef>
                <a:spcPts val="500"/>
              </a:spcBef>
              <a:spcAft>
                <a:spcPts val="0"/>
              </a:spcAft>
              <a:buClr>
                <a:schemeClr val="dk1"/>
              </a:buClr>
              <a:buSzPts val="1800"/>
              <a:buFont typeface="Arial"/>
              <a:buNone/>
            </a:pP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dụng</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tham</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gia</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xác</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định</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đặc</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điểm</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nhu</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cầu</a:t>
            </a:r>
            <a:r>
              <a:rPr lang="en-US" sz="2300" b="0" i="0" u="none" strike="noStrike" cap="none">
                <a:solidFill>
                  <a:schemeClr val="dk1"/>
                </a:solidFill>
                <a:latin typeface="Arial"/>
                <a:ea typeface="Arial"/>
                <a:cs typeface="Arial"/>
                <a:sym typeface="Arial"/>
              </a:rPr>
              <a:t>.</a:t>
            </a:r>
            <a:endParaRPr sz="2300"/>
          </a:p>
          <a:p>
            <a:pPr marL="685800" marR="0" lvl="1" indent="-228600" algn="just" rtl="0">
              <a:lnSpc>
                <a:spcPct val="90000"/>
              </a:lnSpc>
              <a:spcBef>
                <a:spcPts val="500"/>
              </a:spcBef>
              <a:spcAft>
                <a:spcPts val="0"/>
              </a:spcAft>
              <a:buClr>
                <a:schemeClr val="dk1"/>
              </a:buClr>
              <a:buSzPts val="1800"/>
              <a:buFont typeface="Arial"/>
              <a:buChar char="-"/>
            </a:pPr>
            <a:r>
              <a:rPr lang="en-US" sz="2300" b="0" i="0" u="none" strike="noStrike" cap="none" err="1">
                <a:solidFill>
                  <a:schemeClr val="dk1"/>
                </a:solidFill>
                <a:latin typeface="Arial"/>
                <a:ea typeface="Arial"/>
                <a:cs typeface="Arial"/>
                <a:sym typeface="Arial"/>
              </a:rPr>
              <a:t>Nếu</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công</a:t>
            </a:r>
            <a:r>
              <a:rPr lang="en-US" sz="2300" b="0" i="0" u="none" strike="noStrike" cap="none">
                <a:solidFill>
                  <a:schemeClr val="dk1"/>
                </a:solidFill>
                <a:latin typeface="Arial"/>
                <a:ea typeface="Arial"/>
                <a:cs typeface="Arial"/>
                <a:sym typeface="Arial"/>
              </a:rPr>
              <a:t> ty </a:t>
            </a:r>
            <a:r>
              <a:rPr lang="en-US" sz="2300" b="0" i="0" u="none" strike="noStrike" cap="none" err="1">
                <a:solidFill>
                  <a:schemeClr val="dk1"/>
                </a:solidFill>
                <a:latin typeface="Arial"/>
                <a:ea typeface="Arial"/>
                <a:cs typeface="Arial"/>
                <a:sym typeface="Arial"/>
              </a:rPr>
              <a:t>cung</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ứng</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đưa</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ra</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thiết</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kế</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kỹ</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thuật</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cho</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sản</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phẩm</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đáp</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ứng</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tốt</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nhu</a:t>
            </a:r>
            <a:r>
              <a:rPr lang="en-US" sz="2300" b="0" i="0" u="none" strike="noStrike" cap="none">
                <a:solidFill>
                  <a:schemeClr val="dk1"/>
                </a:solidFill>
                <a:latin typeface="Arial"/>
                <a:ea typeface="Arial"/>
                <a:cs typeface="Arial"/>
                <a:sym typeface="Arial"/>
              </a:rPr>
              <a:t> </a:t>
            </a:r>
            <a:endParaRPr sz="2300" b="0" i="0" u="none" strike="noStrike" cap="none">
              <a:solidFill>
                <a:schemeClr val="dk1"/>
              </a:solidFill>
              <a:latin typeface="Arial"/>
              <a:ea typeface="Arial"/>
              <a:cs typeface="Arial"/>
              <a:sym typeface="Arial"/>
            </a:endParaRPr>
          </a:p>
          <a:p>
            <a:pPr marL="457200" marR="0" lvl="1" indent="0" algn="just" rtl="0">
              <a:lnSpc>
                <a:spcPct val="90000"/>
              </a:lnSpc>
              <a:spcBef>
                <a:spcPts val="500"/>
              </a:spcBef>
              <a:spcAft>
                <a:spcPts val="0"/>
              </a:spcAft>
              <a:buClr>
                <a:schemeClr val="dk1"/>
              </a:buClr>
              <a:buSzPts val="1800"/>
              <a:buFont typeface="Arial"/>
              <a:buNone/>
            </a:pP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cầu</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khách</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hàng</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mong</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muốn</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thì</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thiết</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kế</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này</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sẽ</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trở</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thành</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tiêu</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chuẩn</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để</a:t>
            </a:r>
            <a:r>
              <a:rPr lang="en-US" sz="2300" b="0" i="0" u="none" strike="noStrike" cap="none">
                <a:solidFill>
                  <a:schemeClr val="dk1"/>
                </a:solidFill>
                <a:latin typeface="Arial"/>
                <a:ea typeface="Arial"/>
                <a:cs typeface="Arial"/>
                <a:sym typeface="Arial"/>
              </a:rPr>
              <a:t> KH </a:t>
            </a:r>
            <a:endParaRPr sz="2300"/>
          </a:p>
          <a:p>
            <a:pPr marL="457200" marR="0" lvl="1" indent="0" algn="just" rtl="0">
              <a:lnSpc>
                <a:spcPct val="90000"/>
              </a:lnSpc>
              <a:spcBef>
                <a:spcPts val="500"/>
              </a:spcBef>
              <a:spcAft>
                <a:spcPts val="0"/>
              </a:spcAft>
              <a:buClr>
                <a:schemeClr val="dk1"/>
              </a:buClr>
              <a:buSzPts val="1800"/>
              <a:buFont typeface="Arial"/>
              <a:buNone/>
            </a:pP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tham</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chiếu</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mua</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hàng</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đối</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thủ</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cạnh</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tranh</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sẽ</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gặp</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khó</a:t>
            </a:r>
            <a:r>
              <a:rPr lang="en-US" sz="2300" b="0" i="0" u="none" strike="noStrike" cap="none">
                <a:solidFill>
                  <a:schemeClr val="dk1"/>
                </a:solidFill>
                <a:latin typeface="Arial"/>
                <a:ea typeface="Arial"/>
                <a:cs typeface="Arial"/>
                <a:sym typeface="Arial"/>
              </a:rPr>
              <a:t> </a:t>
            </a:r>
            <a:r>
              <a:rPr lang="en-US" sz="2300" b="0" i="0" u="none" strike="noStrike" cap="none" err="1">
                <a:solidFill>
                  <a:schemeClr val="dk1"/>
                </a:solidFill>
                <a:latin typeface="Arial"/>
                <a:ea typeface="Arial"/>
                <a:cs typeface="Arial"/>
                <a:sym typeface="Arial"/>
              </a:rPr>
              <a:t>khăn</a:t>
            </a:r>
            <a:r>
              <a:rPr lang="en-US" sz="2300" b="0" i="0" u="none" strike="noStrike" cap="none">
                <a:solidFill>
                  <a:schemeClr val="dk1"/>
                </a:solidFill>
                <a:latin typeface="Arial"/>
                <a:ea typeface="Arial"/>
                <a:cs typeface="Arial"/>
                <a:sym typeface="Arial"/>
              </a:rPr>
              <a:t>.</a:t>
            </a:r>
            <a:endParaRPr sz="22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Arial"/>
              <a:buNone/>
            </a:pPr>
            <a:endParaRPr sz="2200" b="0" i="0" u="none" strike="noStrike" cap="none">
              <a:solidFill>
                <a:schemeClr val="dk1"/>
              </a:solidFill>
              <a:latin typeface="Arial"/>
              <a:ea typeface="Arial"/>
              <a:cs typeface="Arial"/>
              <a:sym typeface="Arial"/>
            </a:endParaRPr>
          </a:p>
          <a:p>
            <a:pPr marL="0" marR="0" lvl="0" indent="0" algn="l" rtl="0">
              <a:lnSpc>
                <a:spcPct val="90000"/>
              </a:lnSpc>
              <a:spcBef>
                <a:spcPts val="1000"/>
              </a:spcBef>
              <a:spcAft>
                <a:spcPts val="0"/>
              </a:spcAft>
              <a:buClr>
                <a:schemeClr val="dk1"/>
              </a:buClr>
              <a:buSzPts val="1800"/>
              <a:buFont typeface="Arial"/>
              <a:buNone/>
            </a:pPr>
            <a:endParaRPr sz="2200" b="0" i="0" u="none" strike="noStrike" cap="none">
              <a:solidFill>
                <a:schemeClr val="dk1"/>
              </a:solidFill>
              <a:latin typeface="Arial"/>
              <a:ea typeface="Arial"/>
              <a:cs typeface="Arial"/>
              <a:sym typeface="Arial"/>
            </a:endParaRPr>
          </a:p>
          <a:p>
            <a:pPr marL="0" marR="0" lvl="0" indent="114300" algn="l" rtl="0">
              <a:lnSpc>
                <a:spcPct val="90000"/>
              </a:lnSpc>
              <a:spcBef>
                <a:spcPts val="1000"/>
              </a:spcBef>
              <a:spcAft>
                <a:spcPts val="0"/>
              </a:spcAft>
              <a:buClr>
                <a:schemeClr val="dk1"/>
              </a:buClr>
              <a:buSzPts val="1800"/>
              <a:buFont typeface="Arial"/>
              <a:buNone/>
            </a:pPr>
            <a:endParaRPr sz="2200" b="1" i="0" u="none" strike="noStrike" cap="none">
              <a:solidFill>
                <a:schemeClr val="dk1"/>
              </a:solidFill>
              <a:latin typeface="Arial"/>
              <a:ea typeface="Arial"/>
              <a:cs typeface="Arial"/>
              <a:sym typeface="Arial"/>
            </a:endParaRPr>
          </a:p>
          <a:p>
            <a:pPr marL="228600" lvl="0" indent="-114300" algn="l" rtl="0">
              <a:lnSpc>
                <a:spcPct val="90000"/>
              </a:lnSpc>
              <a:spcBef>
                <a:spcPts val="1000"/>
              </a:spcBef>
              <a:spcAft>
                <a:spcPts val="0"/>
              </a:spcAft>
              <a:buSzPts val="1800"/>
              <a:buFont typeface="Arial"/>
              <a:buNone/>
            </a:pPr>
            <a:endParaRPr sz="2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37282421"/>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Shape 3266"/>
        <p:cNvGrpSpPr/>
        <p:nvPr/>
      </p:nvGrpSpPr>
      <p:grpSpPr>
        <a:xfrm>
          <a:off x="0" y="0"/>
          <a:ext cx="0" cy="0"/>
          <a:chOff x="0" y="0"/>
          <a:chExt cx="0" cy="0"/>
        </a:xfrm>
      </p:grpSpPr>
      <p:sp>
        <p:nvSpPr>
          <p:cNvPr id="3267" name="Google Shape;3267;p4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3200" b="1">
                <a:latin typeface="Arial"/>
                <a:ea typeface="Arial"/>
                <a:cs typeface="Arial"/>
                <a:sym typeface="Arial"/>
              </a:rPr>
              <a:t>7.2 Quy </a:t>
            </a:r>
            <a:r>
              <a:rPr lang="en-US" sz="3200" b="1" err="1">
                <a:latin typeface="Arial"/>
                <a:ea typeface="Arial"/>
                <a:cs typeface="Arial"/>
                <a:sym typeface="Arial"/>
              </a:rPr>
              <a:t>trình</a:t>
            </a:r>
            <a:r>
              <a:rPr lang="en-US" sz="3200" b="1">
                <a:latin typeface="Arial"/>
                <a:ea typeface="Arial"/>
                <a:cs typeface="Arial"/>
                <a:sym typeface="Arial"/>
              </a:rPr>
              <a:t> </a:t>
            </a:r>
            <a:r>
              <a:rPr lang="en-US" sz="3200" b="1" err="1">
                <a:latin typeface="Arial"/>
                <a:ea typeface="Arial"/>
                <a:cs typeface="Arial"/>
                <a:sym typeface="Arial"/>
              </a:rPr>
              <a:t>ra</a:t>
            </a:r>
            <a:r>
              <a:rPr lang="en-US" sz="3200" b="1">
                <a:latin typeface="Arial"/>
                <a:ea typeface="Arial"/>
                <a:cs typeface="Arial"/>
                <a:sym typeface="Arial"/>
              </a:rPr>
              <a:t> </a:t>
            </a:r>
            <a:r>
              <a:rPr lang="en-US" sz="3200" b="1" err="1">
                <a:latin typeface="Arial"/>
                <a:ea typeface="Arial"/>
                <a:cs typeface="Arial"/>
                <a:sym typeface="Arial"/>
              </a:rPr>
              <a:t>quyết</a:t>
            </a:r>
            <a:r>
              <a:rPr lang="en-US" sz="3200" b="1">
                <a:latin typeface="Arial"/>
                <a:ea typeface="Arial"/>
                <a:cs typeface="Arial"/>
                <a:sym typeface="Arial"/>
              </a:rPr>
              <a:t> </a:t>
            </a:r>
            <a:r>
              <a:rPr lang="en-US" sz="3200" b="1" err="1">
                <a:latin typeface="Arial"/>
                <a:ea typeface="Arial"/>
                <a:cs typeface="Arial"/>
                <a:sym typeface="Arial"/>
              </a:rPr>
              <a:t>định</a:t>
            </a:r>
            <a:r>
              <a:rPr lang="en-US" sz="3200" b="1">
                <a:latin typeface="Arial"/>
                <a:ea typeface="Arial"/>
                <a:cs typeface="Arial"/>
                <a:sym typeface="Arial"/>
              </a:rPr>
              <a:t> </a:t>
            </a:r>
            <a:r>
              <a:rPr lang="en-US" sz="3200" b="1" err="1">
                <a:latin typeface="Arial"/>
                <a:ea typeface="Arial"/>
                <a:cs typeface="Arial"/>
                <a:sym typeface="Arial"/>
              </a:rPr>
              <a:t>mua</a:t>
            </a:r>
            <a:r>
              <a:rPr lang="en-US" sz="3200" b="1">
                <a:latin typeface="Arial"/>
                <a:ea typeface="Arial"/>
                <a:cs typeface="Arial"/>
                <a:sym typeface="Arial"/>
              </a:rPr>
              <a:t> (</a:t>
            </a:r>
            <a:r>
              <a:rPr lang="en-US" sz="3200" b="1" err="1">
                <a:latin typeface="Arial"/>
                <a:ea typeface="Arial"/>
                <a:cs typeface="Arial"/>
                <a:sym typeface="Arial"/>
              </a:rPr>
              <a:t>tt</a:t>
            </a:r>
            <a:r>
              <a:rPr lang="en-US" sz="3200" b="1">
                <a:latin typeface="Arial"/>
                <a:ea typeface="Arial"/>
                <a:cs typeface="Arial"/>
                <a:sym typeface="Arial"/>
              </a:rPr>
              <a:t>)</a:t>
            </a:r>
            <a:endParaRPr sz="3200"/>
          </a:p>
        </p:txBody>
      </p:sp>
      <p:sp>
        <p:nvSpPr>
          <p:cNvPr id="3268" name="Google Shape;3268;p416"/>
          <p:cNvSpPr txBox="1">
            <a:spLocks noGrp="1"/>
          </p:cNvSpPr>
          <p:nvPr>
            <p:ph type="body" idx="1"/>
          </p:nvPr>
        </p:nvSpPr>
        <p:spPr>
          <a:xfrm>
            <a:off x="838200" y="1497001"/>
            <a:ext cx="10684616" cy="4351338"/>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1000"/>
              </a:spcBef>
              <a:spcAft>
                <a:spcPts val="0"/>
              </a:spcAft>
              <a:buClr>
                <a:schemeClr val="dk1"/>
              </a:buClr>
              <a:buSzPts val="1800"/>
              <a:buChar char="•"/>
            </a:pPr>
            <a:r>
              <a:rPr lang="en-US" sz="2200" b="1" err="1">
                <a:latin typeface="Arial"/>
                <a:ea typeface="Arial"/>
                <a:cs typeface="Arial"/>
                <a:sym typeface="Arial"/>
              </a:rPr>
              <a:t>Bước</a:t>
            </a:r>
            <a:r>
              <a:rPr lang="en-US" sz="2200" b="1">
                <a:latin typeface="Arial"/>
                <a:ea typeface="Arial"/>
                <a:cs typeface="Arial"/>
                <a:sym typeface="Arial"/>
              </a:rPr>
              <a:t> 3: </a:t>
            </a:r>
            <a:r>
              <a:rPr lang="en-US" sz="2200" b="1" err="1">
                <a:latin typeface="Arial"/>
                <a:ea typeface="Arial"/>
                <a:cs typeface="Arial"/>
                <a:sym typeface="Arial"/>
              </a:rPr>
              <a:t>Xác</a:t>
            </a:r>
            <a:r>
              <a:rPr lang="en-US" sz="2200" b="1">
                <a:latin typeface="Arial"/>
                <a:ea typeface="Arial"/>
                <a:cs typeface="Arial"/>
                <a:sym typeface="Arial"/>
              </a:rPr>
              <a:t> </a:t>
            </a:r>
            <a:r>
              <a:rPr lang="en-US" sz="2200" b="1" err="1">
                <a:latin typeface="Arial"/>
                <a:ea typeface="Arial"/>
                <a:cs typeface="Arial"/>
                <a:sym typeface="Arial"/>
              </a:rPr>
              <a:t>định</a:t>
            </a:r>
            <a:r>
              <a:rPr lang="en-US" sz="2200" b="1">
                <a:latin typeface="Arial"/>
                <a:ea typeface="Arial"/>
                <a:cs typeface="Arial"/>
                <a:sym typeface="Arial"/>
              </a:rPr>
              <a:t> chi </a:t>
            </a:r>
            <a:r>
              <a:rPr lang="en-US" sz="2200" b="1" err="1">
                <a:latin typeface="Arial"/>
                <a:ea typeface="Arial"/>
                <a:cs typeface="Arial"/>
                <a:sym typeface="Arial"/>
              </a:rPr>
              <a:t>tiết</a:t>
            </a:r>
            <a:r>
              <a:rPr lang="en-US" sz="2200" b="1">
                <a:latin typeface="Arial"/>
                <a:ea typeface="Arial"/>
                <a:cs typeface="Arial"/>
                <a:sym typeface="Arial"/>
              </a:rPr>
              <a:t> </a:t>
            </a:r>
            <a:r>
              <a:rPr lang="en-US" sz="2200" b="1" err="1">
                <a:latin typeface="Arial"/>
                <a:ea typeface="Arial"/>
                <a:cs typeface="Arial"/>
                <a:sym typeface="Arial"/>
              </a:rPr>
              <a:t>kỹ</a:t>
            </a:r>
            <a:r>
              <a:rPr lang="en-US" sz="2200" b="1">
                <a:latin typeface="Arial"/>
                <a:ea typeface="Arial"/>
                <a:cs typeface="Arial"/>
                <a:sym typeface="Arial"/>
              </a:rPr>
              <a:t> </a:t>
            </a:r>
            <a:r>
              <a:rPr lang="en-US" sz="2200" b="1" err="1">
                <a:latin typeface="Arial"/>
                <a:ea typeface="Arial"/>
                <a:cs typeface="Arial"/>
                <a:sym typeface="Arial"/>
              </a:rPr>
              <a:t>thuật</a:t>
            </a:r>
            <a:r>
              <a:rPr lang="en-US" sz="2200" b="1">
                <a:latin typeface="Arial"/>
                <a:ea typeface="Arial"/>
                <a:cs typeface="Arial"/>
                <a:sym typeface="Arial"/>
              </a:rPr>
              <a:t> </a:t>
            </a:r>
            <a:r>
              <a:rPr lang="en-US" sz="2200" b="1" err="1">
                <a:latin typeface="Arial"/>
                <a:ea typeface="Arial"/>
                <a:cs typeface="Arial"/>
                <a:sym typeface="Arial"/>
              </a:rPr>
              <a:t>sản</a:t>
            </a:r>
            <a:r>
              <a:rPr lang="en-US" sz="2200" b="1">
                <a:latin typeface="Arial"/>
                <a:ea typeface="Arial"/>
                <a:cs typeface="Arial"/>
                <a:sym typeface="Arial"/>
              </a:rPr>
              <a:t> </a:t>
            </a:r>
            <a:r>
              <a:rPr lang="en-US" sz="2200" b="1" err="1">
                <a:latin typeface="Arial"/>
                <a:ea typeface="Arial"/>
                <a:cs typeface="Arial"/>
                <a:sym typeface="Arial"/>
              </a:rPr>
              <a:t>phẩm</a:t>
            </a:r>
            <a:endParaRPr sz="2200" b="1">
              <a:latin typeface="Arial"/>
              <a:ea typeface="Arial"/>
              <a:cs typeface="Arial"/>
              <a:sym typeface="Arial"/>
            </a:endParaRPr>
          </a:p>
          <a:p>
            <a:pPr marL="914400" lvl="1" indent="-342900" algn="l" rtl="0">
              <a:lnSpc>
                <a:spcPct val="150000"/>
              </a:lnSpc>
              <a:spcBef>
                <a:spcPts val="500"/>
              </a:spcBef>
              <a:spcAft>
                <a:spcPts val="0"/>
              </a:spcAft>
              <a:buSzPts val="1800"/>
              <a:buFont typeface="Arial"/>
              <a:buChar char="-"/>
            </a:pPr>
            <a:r>
              <a:rPr lang="en-US" sz="2200" err="1">
                <a:solidFill>
                  <a:schemeClr val="dk1"/>
                </a:solidFill>
                <a:latin typeface="Arial"/>
                <a:ea typeface="Arial"/>
                <a:cs typeface="Arial"/>
                <a:sym typeface="Arial"/>
              </a:rPr>
              <a:t>Xác</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định</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những</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ưu</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điểm</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về</a:t>
            </a:r>
            <a:r>
              <a:rPr lang="en-US" sz="2200">
                <a:solidFill>
                  <a:schemeClr val="dk1"/>
                </a:solidFill>
                <a:latin typeface="Arial"/>
                <a:ea typeface="Arial"/>
                <a:cs typeface="Arial"/>
                <a:sym typeface="Arial"/>
              </a:rPr>
              <a:t> </a:t>
            </a:r>
            <a:r>
              <a:rPr lang="en-US" sz="2200" b="1" err="1">
                <a:solidFill>
                  <a:srgbClr val="FF0000"/>
                </a:solidFill>
                <a:latin typeface="Arial"/>
                <a:ea typeface="Arial"/>
                <a:cs typeface="Arial"/>
                <a:sym typeface="Arial"/>
              </a:rPr>
              <a:t>tính</a:t>
            </a:r>
            <a:r>
              <a:rPr lang="en-US" sz="2200">
                <a:solidFill>
                  <a:srgbClr val="FF0000"/>
                </a:solidFill>
                <a:latin typeface="Arial"/>
                <a:ea typeface="Arial"/>
                <a:cs typeface="Arial"/>
                <a:sym typeface="Arial"/>
              </a:rPr>
              <a:t> </a:t>
            </a:r>
            <a:r>
              <a:rPr lang="en-US" sz="2200" b="1" err="1">
                <a:solidFill>
                  <a:srgbClr val="FF0000"/>
                </a:solidFill>
                <a:latin typeface="Arial"/>
                <a:ea typeface="Arial"/>
                <a:cs typeface="Arial"/>
                <a:sym typeface="Arial"/>
              </a:rPr>
              <a:t>kỹ</a:t>
            </a:r>
            <a:r>
              <a:rPr lang="en-US" sz="2200" b="1">
                <a:solidFill>
                  <a:srgbClr val="FF0000"/>
                </a:solidFill>
                <a:latin typeface="Arial"/>
                <a:ea typeface="Arial"/>
                <a:cs typeface="Arial"/>
                <a:sym typeface="Arial"/>
              </a:rPr>
              <a:t> </a:t>
            </a:r>
            <a:r>
              <a:rPr lang="en-US" sz="2200" b="1" err="1">
                <a:solidFill>
                  <a:srgbClr val="FF0000"/>
                </a:solidFill>
                <a:latin typeface="Arial"/>
                <a:ea typeface="Arial"/>
                <a:cs typeface="Arial"/>
                <a:sym typeface="Arial"/>
              </a:rPr>
              <a:t>thuật</a:t>
            </a:r>
            <a:r>
              <a:rPr lang="en-US" sz="2200" b="1">
                <a:solidFill>
                  <a:srgbClr val="FF0000"/>
                </a:solidFill>
                <a:latin typeface="Arial"/>
                <a:ea typeface="Arial"/>
                <a:cs typeface="Arial"/>
                <a:sym typeface="Arial"/>
              </a:rPr>
              <a:t> </a:t>
            </a:r>
            <a:r>
              <a:rPr lang="en-US" sz="2200" err="1">
                <a:solidFill>
                  <a:schemeClr val="dk1"/>
                </a:solidFill>
                <a:latin typeface="Arial"/>
                <a:ea typeface="Arial"/>
                <a:cs typeface="Arial"/>
                <a:sym typeface="Arial"/>
              </a:rPr>
              <a:t>và</a:t>
            </a:r>
            <a:r>
              <a:rPr lang="en-US" sz="2200">
                <a:solidFill>
                  <a:schemeClr val="dk1"/>
                </a:solidFill>
                <a:latin typeface="Arial"/>
                <a:ea typeface="Arial"/>
                <a:cs typeface="Arial"/>
                <a:sym typeface="Arial"/>
              </a:rPr>
              <a:t> </a:t>
            </a:r>
            <a:r>
              <a:rPr lang="en-US" sz="2200" b="1" err="1">
                <a:solidFill>
                  <a:srgbClr val="FF0000"/>
                </a:solidFill>
                <a:latin typeface="Arial"/>
                <a:ea typeface="Arial"/>
                <a:cs typeface="Arial"/>
                <a:sym typeface="Arial"/>
              </a:rPr>
              <a:t>tính</a:t>
            </a:r>
            <a:r>
              <a:rPr lang="en-US" sz="2200">
                <a:solidFill>
                  <a:schemeClr val="dk1"/>
                </a:solidFill>
                <a:latin typeface="Arial"/>
                <a:ea typeface="Arial"/>
                <a:cs typeface="Arial"/>
                <a:sym typeface="Arial"/>
              </a:rPr>
              <a:t> </a:t>
            </a:r>
            <a:r>
              <a:rPr lang="en-US" sz="2200" b="1" err="1">
                <a:solidFill>
                  <a:srgbClr val="FF0000"/>
                </a:solidFill>
                <a:latin typeface="Arial"/>
                <a:ea typeface="Arial"/>
                <a:cs typeface="Arial"/>
                <a:sym typeface="Arial"/>
              </a:rPr>
              <a:t>kinh</a:t>
            </a:r>
            <a:r>
              <a:rPr lang="en-US" sz="2200" b="1">
                <a:solidFill>
                  <a:srgbClr val="FF0000"/>
                </a:solidFill>
                <a:latin typeface="Arial"/>
                <a:ea typeface="Arial"/>
                <a:cs typeface="Arial"/>
                <a:sym typeface="Arial"/>
              </a:rPr>
              <a:t> </a:t>
            </a:r>
            <a:r>
              <a:rPr lang="en-US" sz="2200" b="1" err="1">
                <a:solidFill>
                  <a:srgbClr val="FF0000"/>
                </a:solidFill>
                <a:latin typeface="Arial"/>
                <a:ea typeface="Arial"/>
                <a:cs typeface="Arial"/>
                <a:sym typeface="Arial"/>
              </a:rPr>
              <a:t>tế</a:t>
            </a:r>
            <a:r>
              <a:rPr lang="en-US" sz="2200" b="1">
                <a:solidFill>
                  <a:srgbClr val="FF0000"/>
                </a:solidFill>
                <a:latin typeface="Arial"/>
                <a:ea typeface="Arial"/>
                <a:cs typeface="Arial"/>
                <a:sym typeface="Arial"/>
              </a:rPr>
              <a:t> </a:t>
            </a:r>
            <a:r>
              <a:rPr lang="en-US" sz="2200" err="1">
                <a:solidFill>
                  <a:schemeClr val="dk1"/>
                </a:solidFill>
                <a:latin typeface="Arial"/>
                <a:ea typeface="Arial"/>
                <a:cs typeface="Arial"/>
                <a:sym typeface="Arial"/>
              </a:rPr>
              <a:t>của</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mặt</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hàng</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có</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nhu</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cầu</a:t>
            </a:r>
            <a:r>
              <a:rPr lang="en-US" sz="2200">
                <a:solidFill>
                  <a:schemeClr val="dk1"/>
                </a:solidFill>
                <a:latin typeface="Arial"/>
                <a:ea typeface="Arial"/>
                <a:cs typeface="Arial"/>
                <a:sym typeface="Arial"/>
              </a:rPr>
              <a:t>. </a:t>
            </a:r>
            <a:endParaRPr sz="2200">
              <a:solidFill>
                <a:schemeClr val="dk1"/>
              </a:solidFill>
              <a:latin typeface="Arial"/>
              <a:ea typeface="Arial"/>
              <a:cs typeface="Arial"/>
              <a:sym typeface="Arial"/>
            </a:endParaRPr>
          </a:p>
          <a:p>
            <a:pPr marL="914400" lvl="1" indent="-342900" algn="l" rtl="0">
              <a:lnSpc>
                <a:spcPct val="150000"/>
              </a:lnSpc>
              <a:spcBef>
                <a:spcPts val="500"/>
              </a:spcBef>
              <a:spcAft>
                <a:spcPts val="0"/>
              </a:spcAft>
              <a:buSzPts val="1800"/>
              <a:buFont typeface="Arial"/>
              <a:buChar char="-"/>
            </a:pPr>
            <a:r>
              <a:rPr lang="en-US" sz="2200" err="1">
                <a:solidFill>
                  <a:schemeClr val="dk1"/>
                </a:solidFill>
                <a:latin typeface="Arial"/>
                <a:ea typeface="Arial"/>
                <a:cs typeface="Arial"/>
                <a:sym typeface="Arial"/>
              </a:rPr>
              <a:t>Cần</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có</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các</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chuyên</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gia</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kỹ</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sư</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người</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sử</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dụng</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tham</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gia</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xác</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định</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đặc</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tính</a:t>
            </a:r>
            <a:r>
              <a:rPr lang="en-US" sz="2200">
                <a:solidFill>
                  <a:schemeClr val="dk1"/>
                </a:solidFill>
                <a:latin typeface="Arial"/>
                <a:ea typeface="Arial"/>
                <a:cs typeface="Arial"/>
                <a:sym typeface="Arial"/>
              </a:rPr>
              <a:t> (do Ban </a:t>
            </a:r>
            <a:r>
              <a:rPr lang="en-US" sz="2200" err="1">
                <a:solidFill>
                  <a:schemeClr val="dk1"/>
                </a:solidFill>
                <a:latin typeface="Arial"/>
                <a:ea typeface="Arial"/>
                <a:cs typeface="Arial"/>
                <a:sym typeface="Arial"/>
              </a:rPr>
              <a:t>lãnh</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đạo</a:t>
            </a:r>
            <a:r>
              <a:rPr lang="en-US" sz="2200">
                <a:solidFill>
                  <a:schemeClr val="dk1"/>
                </a:solidFill>
                <a:latin typeface="Arial"/>
                <a:ea typeface="Arial"/>
                <a:cs typeface="Arial"/>
                <a:sym typeface="Arial"/>
              </a:rPr>
              <a:t> </a:t>
            </a:r>
            <a:r>
              <a:rPr lang="en-US" sz="2200" err="1">
                <a:latin typeface="Arial"/>
                <a:ea typeface="Arial"/>
                <a:cs typeface="Arial"/>
                <a:sym typeface="Arial"/>
              </a:rPr>
              <a:t>công</a:t>
            </a:r>
            <a:r>
              <a:rPr lang="en-US" sz="2200">
                <a:latin typeface="Arial"/>
                <a:ea typeface="Arial"/>
                <a:cs typeface="Arial"/>
                <a:sym typeface="Arial"/>
              </a:rPr>
              <a:t> ty</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quyết</a:t>
            </a:r>
            <a:r>
              <a:rPr lang="en-US" sz="2200">
                <a:solidFill>
                  <a:schemeClr val="dk1"/>
                </a:solidFill>
                <a:latin typeface="Arial"/>
                <a:ea typeface="Arial"/>
                <a:cs typeface="Arial"/>
                <a:sym typeface="Arial"/>
              </a:rPr>
              <a:t> </a:t>
            </a:r>
            <a:r>
              <a:rPr lang="en-US" sz="2200" err="1">
                <a:solidFill>
                  <a:schemeClr val="dk1"/>
                </a:solidFill>
                <a:latin typeface="Arial"/>
                <a:ea typeface="Arial"/>
                <a:cs typeface="Arial"/>
                <a:sym typeface="Arial"/>
              </a:rPr>
              <a:t>định</a:t>
            </a:r>
            <a:r>
              <a:rPr lang="en-US" sz="2200">
                <a:solidFill>
                  <a:schemeClr val="dk1"/>
                </a:solidFill>
                <a:latin typeface="Arial"/>
                <a:ea typeface="Arial"/>
                <a:cs typeface="Arial"/>
                <a:sym typeface="Arial"/>
              </a:rPr>
              <a:t>)</a:t>
            </a:r>
            <a:endParaRPr sz="2200">
              <a:solidFill>
                <a:schemeClr val="dk1"/>
              </a:solidFill>
              <a:latin typeface="Arial"/>
              <a:ea typeface="Arial"/>
              <a:cs typeface="Arial"/>
              <a:sym typeface="Arial"/>
            </a:endParaRPr>
          </a:p>
          <a:p>
            <a:pPr lvl="0" algn="l" rtl="0">
              <a:lnSpc>
                <a:spcPct val="150000"/>
              </a:lnSpc>
              <a:spcBef>
                <a:spcPts val="1000"/>
              </a:spcBef>
              <a:spcAft>
                <a:spcPts val="0"/>
              </a:spcAft>
              <a:buSzPts val="1800"/>
              <a:buFont typeface="Wingdings" panose="05000000000000000000" pitchFamily="2" charset="2"/>
              <a:buChar char="Ø"/>
            </a:pPr>
            <a:r>
              <a:rPr lang="en-US" sz="2200">
                <a:solidFill>
                  <a:srgbClr val="089236"/>
                </a:solidFill>
                <a:latin typeface="Arial"/>
                <a:ea typeface="Arial"/>
                <a:cs typeface="Arial"/>
                <a:sym typeface="Arial"/>
              </a:rPr>
              <a:t> Marketer </a:t>
            </a:r>
            <a:r>
              <a:rPr lang="en-US" sz="2200" err="1">
                <a:solidFill>
                  <a:srgbClr val="089236"/>
                </a:solidFill>
                <a:latin typeface="Arial"/>
                <a:ea typeface="Arial"/>
                <a:cs typeface="Arial"/>
                <a:sym typeface="Arial"/>
              </a:rPr>
              <a:t>khách</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hàng</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tổ</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chức</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cần</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phải</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nhận</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biết</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những</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giá</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trị</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mà</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khách</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hàng</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tổ</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chức</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tìm</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kiếm</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để</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làm</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căn</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cứ</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xây</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dựng</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chiến</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lược</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định</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vị</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sản</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phẩm</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trên</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thị</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trường</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cần</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có</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sự</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liên</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hệ</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ngay</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từ</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những</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bước</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đầu</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tiên</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để</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kịp</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thời</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tạo</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giá</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trị</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cho</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khách</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hàng</a:t>
            </a:r>
            <a:r>
              <a:rPr lang="en-US" sz="2200">
                <a:solidFill>
                  <a:srgbClr val="089236"/>
                </a:solidFill>
                <a:latin typeface="Arial"/>
                <a:ea typeface="Arial"/>
                <a:cs typeface="Arial"/>
                <a:sym typeface="Arial"/>
              </a:rPr>
              <a:t>.</a:t>
            </a:r>
            <a:endParaRPr sz="2200">
              <a:solidFill>
                <a:srgbClr val="089236"/>
              </a:solidFill>
              <a:latin typeface="Arial"/>
              <a:ea typeface="Arial"/>
              <a:cs typeface="Arial"/>
              <a:sym typeface="Arial"/>
            </a:endParaRPr>
          </a:p>
          <a:p>
            <a:pPr marL="457200" lvl="0" indent="-228600" algn="l" rtl="0">
              <a:lnSpc>
                <a:spcPct val="90000"/>
              </a:lnSpc>
              <a:spcBef>
                <a:spcPts val="1000"/>
              </a:spcBef>
              <a:spcAft>
                <a:spcPts val="0"/>
              </a:spcAft>
              <a:buClr>
                <a:schemeClr val="dk1"/>
              </a:buClr>
              <a:buSzPts val="1800"/>
              <a:buNone/>
            </a:pPr>
            <a:endParaRPr sz="2200"/>
          </a:p>
        </p:txBody>
      </p:sp>
    </p:spTree>
    <p:extLst>
      <p:ext uri="{BB962C8B-B14F-4D97-AF65-F5344CB8AC3E}">
        <p14:creationId xmlns:p14="http://schemas.microsoft.com/office/powerpoint/2010/main" val="1685734923"/>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Shape 3272"/>
        <p:cNvGrpSpPr/>
        <p:nvPr/>
      </p:nvGrpSpPr>
      <p:grpSpPr>
        <a:xfrm>
          <a:off x="0" y="0"/>
          <a:ext cx="0" cy="0"/>
          <a:chOff x="0" y="0"/>
          <a:chExt cx="0" cy="0"/>
        </a:xfrm>
      </p:grpSpPr>
      <p:sp>
        <p:nvSpPr>
          <p:cNvPr id="3273" name="Google Shape;3273;p417"/>
          <p:cNvSpPr txBox="1">
            <a:spLocks noGrp="1"/>
          </p:cNvSpPr>
          <p:nvPr>
            <p:ph type="title"/>
          </p:nvPr>
        </p:nvSpPr>
        <p:spPr>
          <a:xfrm>
            <a:off x="556317" y="-7488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3200" b="1">
                <a:latin typeface="Arial"/>
                <a:ea typeface="Arial"/>
                <a:cs typeface="Arial"/>
                <a:sym typeface="Arial"/>
              </a:rPr>
              <a:t>7.2 Quy </a:t>
            </a:r>
            <a:r>
              <a:rPr lang="en-US" sz="3200" b="1" err="1">
                <a:latin typeface="Arial"/>
                <a:ea typeface="Arial"/>
                <a:cs typeface="Arial"/>
                <a:sym typeface="Arial"/>
              </a:rPr>
              <a:t>trình</a:t>
            </a:r>
            <a:r>
              <a:rPr lang="en-US" sz="3200" b="1">
                <a:latin typeface="Arial"/>
                <a:ea typeface="Arial"/>
                <a:cs typeface="Arial"/>
                <a:sym typeface="Arial"/>
              </a:rPr>
              <a:t> </a:t>
            </a:r>
            <a:r>
              <a:rPr lang="en-US" sz="3200" b="1" err="1">
                <a:latin typeface="Arial"/>
                <a:ea typeface="Arial"/>
                <a:cs typeface="Arial"/>
                <a:sym typeface="Arial"/>
              </a:rPr>
              <a:t>ra</a:t>
            </a:r>
            <a:r>
              <a:rPr lang="en-US" sz="3200" b="1">
                <a:latin typeface="Arial"/>
                <a:ea typeface="Arial"/>
                <a:cs typeface="Arial"/>
                <a:sym typeface="Arial"/>
              </a:rPr>
              <a:t> </a:t>
            </a:r>
            <a:r>
              <a:rPr lang="en-US" sz="3200" b="1" err="1">
                <a:latin typeface="Arial"/>
                <a:ea typeface="Arial"/>
                <a:cs typeface="Arial"/>
                <a:sym typeface="Arial"/>
              </a:rPr>
              <a:t>quyết</a:t>
            </a:r>
            <a:r>
              <a:rPr lang="en-US" sz="3200" b="1">
                <a:latin typeface="Arial"/>
                <a:ea typeface="Arial"/>
                <a:cs typeface="Arial"/>
                <a:sym typeface="Arial"/>
              </a:rPr>
              <a:t> </a:t>
            </a:r>
            <a:r>
              <a:rPr lang="en-US" sz="3200" b="1" err="1">
                <a:latin typeface="Arial"/>
                <a:ea typeface="Arial"/>
                <a:cs typeface="Arial"/>
                <a:sym typeface="Arial"/>
              </a:rPr>
              <a:t>định</a:t>
            </a:r>
            <a:r>
              <a:rPr lang="en-US" sz="3200" b="1">
                <a:latin typeface="Arial"/>
                <a:ea typeface="Arial"/>
                <a:cs typeface="Arial"/>
                <a:sym typeface="Arial"/>
              </a:rPr>
              <a:t> </a:t>
            </a:r>
            <a:r>
              <a:rPr lang="en-US" sz="3200" b="1" err="1">
                <a:latin typeface="Arial"/>
                <a:ea typeface="Arial"/>
                <a:cs typeface="Arial"/>
                <a:sym typeface="Arial"/>
              </a:rPr>
              <a:t>mua</a:t>
            </a:r>
            <a:r>
              <a:rPr lang="en-US" sz="3200" b="1">
                <a:latin typeface="Arial"/>
                <a:ea typeface="Arial"/>
                <a:cs typeface="Arial"/>
                <a:sym typeface="Arial"/>
              </a:rPr>
              <a:t> (</a:t>
            </a:r>
            <a:r>
              <a:rPr lang="en-US" sz="3200" b="1" err="1">
                <a:latin typeface="Arial"/>
                <a:ea typeface="Arial"/>
                <a:cs typeface="Arial"/>
                <a:sym typeface="Arial"/>
              </a:rPr>
              <a:t>tt</a:t>
            </a:r>
            <a:r>
              <a:rPr lang="en-US" sz="3200" b="1">
                <a:latin typeface="Arial"/>
                <a:ea typeface="Arial"/>
                <a:cs typeface="Arial"/>
                <a:sym typeface="Arial"/>
              </a:rPr>
              <a:t>)</a:t>
            </a:r>
            <a:endParaRPr sz="3200"/>
          </a:p>
        </p:txBody>
      </p:sp>
      <p:sp>
        <p:nvSpPr>
          <p:cNvPr id="3274" name="Google Shape;3274;p417"/>
          <p:cNvSpPr txBox="1">
            <a:spLocks noGrp="1"/>
          </p:cNvSpPr>
          <p:nvPr>
            <p:ph type="body" idx="1"/>
          </p:nvPr>
        </p:nvSpPr>
        <p:spPr>
          <a:xfrm>
            <a:off x="688378" y="1438690"/>
            <a:ext cx="10815244" cy="4351338"/>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1000"/>
              </a:spcBef>
              <a:spcAft>
                <a:spcPts val="0"/>
              </a:spcAft>
              <a:buClr>
                <a:schemeClr val="dk1"/>
              </a:buClr>
              <a:buSzPts val="1800"/>
              <a:buChar char="•"/>
            </a:pPr>
            <a:r>
              <a:rPr lang="en-US" sz="2200" b="1" err="1">
                <a:latin typeface="Arial"/>
                <a:ea typeface="Arial"/>
                <a:cs typeface="Arial"/>
                <a:sym typeface="Arial"/>
              </a:rPr>
              <a:t>Bước</a:t>
            </a:r>
            <a:r>
              <a:rPr lang="en-US" sz="2200" b="1">
                <a:latin typeface="Arial"/>
                <a:ea typeface="Arial"/>
                <a:cs typeface="Arial"/>
                <a:sym typeface="Arial"/>
              </a:rPr>
              <a:t> 4: </a:t>
            </a:r>
            <a:r>
              <a:rPr lang="en-US" sz="2200" b="1" err="1">
                <a:latin typeface="Arial"/>
                <a:ea typeface="Arial"/>
                <a:cs typeface="Arial"/>
                <a:sym typeface="Arial"/>
              </a:rPr>
              <a:t>Tìm</a:t>
            </a:r>
            <a:r>
              <a:rPr lang="en-US" sz="2200" b="1">
                <a:latin typeface="Arial"/>
                <a:ea typeface="Arial"/>
                <a:cs typeface="Arial"/>
                <a:sym typeface="Arial"/>
              </a:rPr>
              <a:t> </a:t>
            </a:r>
            <a:r>
              <a:rPr lang="en-US" sz="2200" b="1" err="1">
                <a:latin typeface="Arial"/>
                <a:ea typeface="Arial"/>
                <a:cs typeface="Arial"/>
                <a:sym typeface="Arial"/>
              </a:rPr>
              <a:t>kiếm</a:t>
            </a:r>
            <a:r>
              <a:rPr lang="en-US" sz="2200" b="1">
                <a:latin typeface="Arial"/>
                <a:ea typeface="Arial"/>
                <a:cs typeface="Arial"/>
                <a:sym typeface="Arial"/>
              </a:rPr>
              <a:t> </a:t>
            </a:r>
            <a:r>
              <a:rPr lang="en-US" sz="2200" b="1" err="1">
                <a:latin typeface="Arial"/>
                <a:ea typeface="Arial"/>
                <a:cs typeface="Arial"/>
                <a:sym typeface="Arial"/>
              </a:rPr>
              <a:t>nhà</a:t>
            </a:r>
            <a:r>
              <a:rPr lang="en-US" sz="2200" b="1">
                <a:latin typeface="Arial"/>
                <a:ea typeface="Arial"/>
                <a:cs typeface="Arial"/>
                <a:sym typeface="Arial"/>
              </a:rPr>
              <a:t> </a:t>
            </a:r>
            <a:r>
              <a:rPr lang="en-US" sz="2200" b="1" err="1">
                <a:latin typeface="Arial"/>
                <a:ea typeface="Arial"/>
                <a:cs typeface="Arial"/>
                <a:sym typeface="Arial"/>
              </a:rPr>
              <a:t>cung</a:t>
            </a:r>
            <a:r>
              <a:rPr lang="en-US" sz="2200" b="1">
                <a:latin typeface="Arial"/>
                <a:ea typeface="Arial"/>
                <a:cs typeface="Arial"/>
                <a:sym typeface="Arial"/>
              </a:rPr>
              <a:t> </a:t>
            </a:r>
            <a:r>
              <a:rPr lang="en-US" sz="2200" b="1" err="1">
                <a:latin typeface="Arial"/>
                <a:ea typeface="Arial"/>
                <a:cs typeface="Arial"/>
                <a:sym typeface="Arial"/>
              </a:rPr>
              <a:t>cấp</a:t>
            </a:r>
            <a:endParaRPr sz="2200">
              <a:latin typeface="Arial"/>
              <a:ea typeface="Arial"/>
              <a:cs typeface="Arial"/>
              <a:sym typeface="Arial"/>
            </a:endParaRPr>
          </a:p>
          <a:p>
            <a:pPr marL="914400" lvl="1" indent="-342900" algn="just" rtl="0">
              <a:lnSpc>
                <a:spcPct val="100000"/>
              </a:lnSpc>
              <a:spcBef>
                <a:spcPts val="500"/>
              </a:spcBef>
              <a:spcAft>
                <a:spcPts val="0"/>
              </a:spcAft>
              <a:buSzPts val="1800"/>
              <a:buFont typeface="Arial"/>
              <a:buChar char="-"/>
            </a:pPr>
            <a:r>
              <a:rPr lang="en-US" sz="2200" err="1">
                <a:latin typeface="Arial"/>
                <a:ea typeface="Arial"/>
                <a:cs typeface="Arial"/>
                <a:sym typeface="Arial"/>
              </a:rPr>
              <a:t>Nguồn</a:t>
            </a:r>
            <a:r>
              <a:rPr lang="en-US" sz="2200">
                <a:latin typeface="Arial"/>
                <a:ea typeface="Arial"/>
                <a:cs typeface="Arial"/>
                <a:sym typeface="Arial"/>
              </a:rPr>
              <a:t> </a:t>
            </a:r>
            <a:r>
              <a:rPr lang="en-US" sz="2200" err="1">
                <a:latin typeface="Arial"/>
                <a:ea typeface="Arial"/>
                <a:cs typeface="Arial"/>
                <a:sym typeface="Arial"/>
              </a:rPr>
              <a:t>thông</a:t>
            </a:r>
            <a:r>
              <a:rPr lang="en-US" sz="2200">
                <a:latin typeface="Arial"/>
                <a:ea typeface="Arial"/>
                <a:cs typeface="Arial"/>
                <a:sym typeface="Arial"/>
              </a:rPr>
              <a:t> tin: </a:t>
            </a:r>
            <a:r>
              <a:rPr lang="en-US" sz="2200" err="1">
                <a:latin typeface="Arial"/>
                <a:ea typeface="Arial"/>
                <a:cs typeface="Arial"/>
                <a:sym typeface="Arial"/>
              </a:rPr>
              <a:t>từ</a:t>
            </a:r>
            <a:r>
              <a:rPr lang="en-US" sz="2200">
                <a:latin typeface="Arial"/>
                <a:ea typeface="Arial"/>
                <a:cs typeface="Arial"/>
                <a:sym typeface="Arial"/>
              </a:rPr>
              <a:t> </a:t>
            </a:r>
            <a:r>
              <a:rPr lang="en-US" sz="2200" err="1">
                <a:latin typeface="Arial"/>
                <a:ea typeface="Arial"/>
                <a:cs typeface="Arial"/>
                <a:sym typeface="Arial"/>
              </a:rPr>
              <a:t>ấn</a:t>
            </a:r>
            <a:r>
              <a:rPr lang="en-US" sz="2200">
                <a:latin typeface="Arial"/>
                <a:ea typeface="Arial"/>
                <a:cs typeface="Arial"/>
                <a:sym typeface="Arial"/>
              </a:rPr>
              <a:t> </a:t>
            </a:r>
            <a:r>
              <a:rPr lang="en-US" sz="2200" err="1">
                <a:latin typeface="Arial"/>
                <a:ea typeface="Arial"/>
                <a:cs typeface="Arial"/>
                <a:sym typeface="Arial"/>
              </a:rPr>
              <a:t>phẩm</a:t>
            </a:r>
            <a:r>
              <a:rPr lang="en-US" sz="2200">
                <a:latin typeface="Arial"/>
                <a:ea typeface="Arial"/>
                <a:cs typeface="Arial"/>
                <a:sym typeface="Arial"/>
              </a:rPr>
              <a:t> </a:t>
            </a:r>
            <a:r>
              <a:rPr lang="en-US" sz="2200" err="1">
                <a:latin typeface="Arial"/>
                <a:ea typeface="Arial"/>
                <a:cs typeface="Arial"/>
                <a:sym typeface="Arial"/>
              </a:rPr>
              <a:t>thương</a:t>
            </a:r>
            <a:r>
              <a:rPr lang="en-US" sz="2200">
                <a:latin typeface="Arial"/>
                <a:ea typeface="Arial"/>
                <a:cs typeface="Arial"/>
                <a:sym typeface="Arial"/>
              </a:rPr>
              <a:t> </a:t>
            </a:r>
            <a:r>
              <a:rPr lang="en-US" sz="2200" err="1">
                <a:latin typeface="Arial"/>
                <a:ea typeface="Arial"/>
                <a:cs typeface="Arial"/>
                <a:sym typeface="Arial"/>
              </a:rPr>
              <a:t>mại</a:t>
            </a:r>
            <a:r>
              <a:rPr lang="en-US" sz="2200">
                <a:latin typeface="Arial"/>
                <a:ea typeface="Arial"/>
                <a:cs typeface="Arial"/>
                <a:sym typeface="Arial"/>
              </a:rPr>
              <a:t>, </a:t>
            </a:r>
            <a:r>
              <a:rPr lang="en-US" sz="2200" err="1">
                <a:latin typeface="Arial"/>
                <a:ea typeface="Arial"/>
                <a:cs typeface="Arial"/>
                <a:sym typeface="Arial"/>
              </a:rPr>
              <a:t>hội</a:t>
            </a:r>
            <a:r>
              <a:rPr lang="en-US" sz="2200">
                <a:latin typeface="Arial"/>
                <a:ea typeface="Arial"/>
                <a:cs typeface="Arial"/>
                <a:sym typeface="Arial"/>
              </a:rPr>
              <a:t> </a:t>
            </a:r>
            <a:r>
              <a:rPr lang="en-US" sz="2200" err="1">
                <a:latin typeface="Arial"/>
                <a:ea typeface="Arial"/>
                <a:cs typeface="Arial"/>
                <a:sym typeface="Arial"/>
              </a:rPr>
              <a:t>chợ</a:t>
            </a:r>
            <a:r>
              <a:rPr lang="en-US" sz="2200">
                <a:latin typeface="Arial"/>
                <a:ea typeface="Arial"/>
                <a:cs typeface="Arial"/>
                <a:sym typeface="Arial"/>
              </a:rPr>
              <a:t>, </a:t>
            </a:r>
            <a:r>
              <a:rPr lang="en-US" sz="2200" err="1">
                <a:latin typeface="Arial"/>
                <a:ea typeface="Arial"/>
                <a:cs typeface="Arial"/>
                <a:sym typeface="Arial"/>
              </a:rPr>
              <a:t>triển</a:t>
            </a:r>
            <a:r>
              <a:rPr lang="en-US" sz="2200">
                <a:latin typeface="Arial"/>
                <a:ea typeface="Arial"/>
                <a:cs typeface="Arial"/>
                <a:sym typeface="Arial"/>
              </a:rPr>
              <a:t> </a:t>
            </a:r>
            <a:r>
              <a:rPr lang="en-US" sz="2200" err="1">
                <a:latin typeface="Arial"/>
                <a:ea typeface="Arial"/>
                <a:cs typeface="Arial"/>
                <a:sym typeface="Arial"/>
              </a:rPr>
              <a:t>lãm</a:t>
            </a:r>
            <a:r>
              <a:rPr lang="en-US" sz="2200">
                <a:latin typeface="Arial"/>
                <a:ea typeface="Arial"/>
                <a:cs typeface="Arial"/>
                <a:sym typeface="Arial"/>
              </a:rPr>
              <a:t>, …, </a:t>
            </a:r>
            <a:r>
              <a:rPr lang="en-US" sz="2200" err="1">
                <a:latin typeface="Arial"/>
                <a:ea typeface="Arial"/>
                <a:cs typeface="Arial"/>
                <a:sym typeface="Arial"/>
              </a:rPr>
              <a:t>tìm</a:t>
            </a:r>
            <a:r>
              <a:rPr lang="en-US" sz="2200">
                <a:latin typeface="Arial"/>
                <a:ea typeface="Arial"/>
                <a:cs typeface="Arial"/>
                <a:sym typeface="Arial"/>
              </a:rPr>
              <a:t> </a:t>
            </a:r>
            <a:r>
              <a:rPr lang="en-US" sz="2200" err="1">
                <a:latin typeface="Arial"/>
                <a:ea typeface="Arial"/>
                <a:cs typeface="Arial"/>
                <a:sym typeface="Arial"/>
              </a:rPr>
              <a:t>kiếm</a:t>
            </a:r>
            <a:r>
              <a:rPr lang="en-US" sz="2200">
                <a:latin typeface="Arial"/>
                <a:ea typeface="Arial"/>
                <a:cs typeface="Arial"/>
                <a:sym typeface="Arial"/>
              </a:rPr>
              <a:t> qua  Internet, </a:t>
            </a:r>
            <a:r>
              <a:rPr lang="en-US" sz="2200" err="1">
                <a:latin typeface="Arial"/>
                <a:ea typeface="Arial"/>
                <a:cs typeface="Arial"/>
                <a:sym typeface="Arial"/>
              </a:rPr>
              <a:t>tham</a:t>
            </a:r>
            <a:r>
              <a:rPr lang="en-US" sz="2200">
                <a:latin typeface="Arial"/>
                <a:ea typeface="Arial"/>
                <a:cs typeface="Arial"/>
                <a:sym typeface="Arial"/>
              </a:rPr>
              <a:t> </a:t>
            </a:r>
            <a:r>
              <a:rPr lang="en-US" sz="2200" err="1">
                <a:latin typeface="Arial"/>
                <a:ea typeface="Arial"/>
                <a:cs typeface="Arial"/>
                <a:sym typeface="Arial"/>
              </a:rPr>
              <a:t>khảo</a:t>
            </a:r>
            <a:r>
              <a:rPr lang="en-US" sz="2200">
                <a:latin typeface="Arial"/>
                <a:ea typeface="Arial"/>
                <a:cs typeface="Arial"/>
                <a:sym typeface="Arial"/>
              </a:rPr>
              <a:t> </a:t>
            </a:r>
            <a:r>
              <a:rPr lang="en-US" sz="2200" err="1">
                <a:latin typeface="Arial"/>
                <a:ea typeface="Arial"/>
                <a:cs typeface="Arial"/>
                <a:sym typeface="Arial"/>
              </a:rPr>
              <a:t>các</a:t>
            </a:r>
            <a:r>
              <a:rPr lang="en-US" sz="2200">
                <a:latin typeface="Arial"/>
                <a:ea typeface="Arial"/>
                <a:cs typeface="Arial"/>
                <a:sym typeface="Arial"/>
              </a:rPr>
              <a:t> </a:t>
            </a:r>
            <a:r>
              <a:rPr lang="en-US" sz="2200" err="1">
                <a:latin typeface="Arial"/>
                <a:ea typeface="Arial"/>
                <a:cs typeface="Arial"/>
                <a:sym typeface="Arial"/>
              </a:rPr>
              <a:t>công</a:t>
            </a:r>
            <a:r>
              <a:rPr lang="en-US" sz="2200">
                <a:latin typeface="Arial"/>
                <a:ea typeface="Arial"/>
                <a:cs typeface="Arial"/>
                <a:sym typeface="Arial"/>
              </a:rPr>
              <a:t> ty </a:t>
            </a:r>
            <a:r>
              <a:rPr lang="en-US" sz="2200" err="1">
                <a:latin typeface="Arial"/>
                <a:ea typeface="Arial"/>
                <a:cs typeface="Arial"/>
                <a:sym typeface="Arial"/>
              </a:rPr>
              <a:t>khác</a:t>
            </a:r>
            <a:r>
              <a:rPr lang="en-US" sz="2200">
                <a:latin typeface="Arial"/>
                <a:ea typeface="Arial"/>
                <a:cs typeface="Arial"/>
                <a:sym typeface="Arial"/>
              </a:rPr>
              <a:t>, </a:t>
            </a:r>
            <a:r>
              <a:rPr lang="en-US" sz="2200" err="1">
                <a:latin typeface="Arial"/>
                <a:ea typeface="Arial"/>
                <a:cs typeface="Arial"/>
                <a:sym typeface="Arial"/>
              </a:rPr>
              <a:t>trực</a:t>
            </a:r>
            <a:r>
              <a:rPr lang="en-US" sz="2200">
                <a:latin typeface="Arial"/>
                <a:ea typeface="Arial"/>
                <a:cs typeface="Arial"/>
                <a:sym typeface="Arial"/>
              </a:rPr>
              <a:t> </a:t>
            </a:r>
            <a:r>
              <a:rPr lang="en-US" sz="2200" err="1">
                <a:latin typeface="Arial"/>
                <a:ea typeface="Arial"/>
                <a:cs typeface="Arial"/>
                <a:sym typeface="Arial"/>
              </a:rPr>
              <a:t>tiếp</a:t>
            </a:r>
            <a:r>
              <a:rPr lang="en-US" sz="2200">
                <a:latin typeface="Arial"/>
                <a:ea typeface="Arial"/>
                <a:cs typeface="Arial"/>
                <a:sym typeface="Arial"/>
              </a:rPr>
              <a:t> </a:t>
            </a:r>
            <a:r>
              <a:rPr lang="en-US" sz="2200" err="1">
                <a:latin typeface="Arial"/>
                <a:ea typeface="Arial"/>
                <a:cs typeface="Arial"/>
                <a:sym typeface="Arial"/>
              </a:rPr>
              <a:t>tiếp</a:t>
            </a:r>
            <a:r>
              <a:rPr lang="en-US" sz="2200">
                <a:latin typeface="Arial"/>
                <a:ea typeface="Arial"/>
                <a:cs typeface="Arial"/>
                <a:sym typeface="Arial"/>
              </a:rPr>
              <a:t> </a:t>
            </a:r>
            <a:r>
              <a:rPr lang="en-US" sz="2200" err="1">
                <a:latin typeface="Arial"/>
                <a:ea typeface="Arial"/>
                <a:cs typeface="Arial"/>
                <a:sym typeface="Arial"/>
              </a:rPr>
              <a:t>xúc</a:t>
            </a:r>
            <a:r>
              <a:rPr lang="en-US" sz="2200">
                <a:latin typeface="Arial"/>
                <a:ea typeface="Arial"/>
                <a:cs typeface="Arial"/>
                <a:sym typeface="Arial"/>
              </a:rPr>
              <a:t> </a:t>
            </a:r>
            <a:r>
              <a:rPr lang="en-US" sz="2200" err="1">
                <a:latin typeface="Arial"/>
                <a:ea typeface="Arial"/>
                <a:cs typeface="Arial"/>
                <a:sym typeface="Arial"/>
              </a:rPr>
              <a:t>với</a:t>
            </a:r>
            <a:r>
              <a:rPr lang="en-US" sz="2200">
                <a:latin typeface="Arial"/>
                <a:ea typeface="Arial"/>
                <a:cs typeface="Arial"/>
                <a:sym typeface="Arial"/>
              </a:rPr>
              <a:t> </a:t>
            </a:r>
            <a:r>
              <a:rPr lang="en-US" sz="2200" err="1">
                <a:latin typeface="Arial"/>
                <a:ea typeface="Arial"/>
                <a:cs typeface="Arial"/>
                <a:sym typeface="Arial"/>
              </a:rPr>
              <a:t>nhà</a:t>
            </a:r>
            <a:r>
              <a:rPr lang="en-US" sz="2200">
                <a:latin typeface="Arial"/>
                <a:ea typeface="Arial"/>
                <a:cs typeface="Arial"/>
                <a:sym typeface="Arial"/>
              </a:rPr>
              <a:t> </a:t>
            </a:r>
            <a:r>
              <a:rPr lang="en-US" sz="2200" err="1">
                <a:latin typeface="Arial"/>
                <a:ea typeface="Arial"/>
                <a:cs typeface="Arial"/>
                <a:sym typeface="Arial"/>
              </a:rPr>
              <a:t>cung</a:t>
            </a:r>
            <a:r>
              <a:rPr lang="en-US" sz="2200">
                <a:latin typeface="Arial"/>
                <a:ea typeface="Arial"/>
                <a:cs typeface="Arial"/>
                <a:sym typeface="Arial"/>
              </a:rPr>
              <a:t> </a:t>
            </a:r>
            <a:r>
              <a:rPr lang="en-US" sz="2200" err="1">
                <a:latin typeface="Arial"/>
                <a:ea typeface="Arial"/>
                <a:cs typeface="Arial"/>
                <a:sym typeface="Arial"/>
              </a:rPr>
              <a:t>cấp</a:t>
            </a:r>
            <a:r>
              <a:rPr lang="en-US" sz="2200">
                <a:latin typeface="Arial"/>
                <a:ea typeface="Arial"/>
                <a:cs typeface="Arial"/>
                <a:sym typeface="Arial"/>
              </a:rPr>
              <a:t>, </a:t>
            </a:r>
            <a:r>
              <a:rPr lang="en-US" sz="2200" err="1">
                <a:latin typeface="Arial"/>
                <a:ea typeface="Arial"/>
                <a:cs typeface="Arial"/>
                <a:sym typeface="Arial"/>
              </a:rPr>
              <a:t>từ</a:t>
            </a:r>
            <a:r>
              <a:rPr lang="en-US" sz="2200">
                <a:latin typeface="Arial"/>
                <a:ea typeface="Arial"/>
                <a:cs typeface="Arial"/>
                <a:sym typeface="Arial"/>
              </a:rPr>
              <a:t>  </a:t>
            </a:r>
            <a:r>
              <a:rPr lang="en-US" sz="2200" err="1">
                <a:latin typeface="Arial"/>
                <a:ea typeface="Arial"/>
                <a:cs typeface="Arial"/>
                <a:sym typeface="Arial"/>
              </a:rPr>
              <a:t>thông</a:t>
            </a:r>
            <a:r>
              <a:rPr lang="en-US" sz="2200">
                <a:latin typeface="Arial"/>
                <a:ea typeface="Arial"/>
                <a:cs typeface="Arial"/>
                <a:sym typeface="Arial"/>
              </a:rPr>
              <a:t> tin </a:t>
            </a:r>
            <a:r>
              <a:rPr lang="en-US" sz="2200" err="1">
                <a:latin typeface="Arial"/>
                <a:ea typeface="Arial"/>
                <a:cs typeface="Arial"/>
                <a:sym typeface="Arial"/>
              </a:rPr>
              <a:t>nội</a:t>
            </a:r>
            <a:r>
              <a:rPr lang="en-US" sz="2200">
                <a:latin typeface="Arial"/>
                <a:ea typeface="Arial"/>
                <a:cs typeface="Arial"/>
                <a:sym typeface="Arial"/>
              </a:rPr>
              <a:t> </a:t>
            </a:r>
            <a:r>
              <a:rPr lang="en-US" sz="2200" err="1">
                <a:latin typeface="Arial"/>
                <a:ea typeface="Arial"/>
                <a:cs typeface="Arial"/>
                <a:sym typeface="Arial"/>
              </a:rPr>
              <a:t>bộ</a:t>
            </a:r>
            <a:endParaRPr sz="2200">
              <a:latin typeface="Arial"/>
              <a:ea typeface="Arial"/>
              <a:cs typeface="Arial"/>
              <a:sym typeface="Arial"/>
            </a:endParaRPr>
          </a:p>
          <a:p>
            <a:pPr lvl="0" algn="just" rtl="0">
              <a:lnSpc>
                <a:spcPct val="100000"/>
              </a:lnSpc>
              <a:spcBef>
                <a:spcPts val="1000"/>
              </a:spcBef>
              <a:spcAft>
                <a:spcPts val="0"/>
              </a:spcAft>
              <a:buSzPts val="1800"/>
              <a:buFont typeface="Wingdings" panose="05000000000000000000" pitchFamily="2" charset="2"/>
              <a:buChar char="Ø"/>
            </a:pP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Khách</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hàng</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tổ</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chức</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sẽ</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đánh</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giá</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xếp</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hạng</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các</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nhà</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cung</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cấp</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để</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làm</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căn</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cứ</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lựa</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chọn</a:t>
            </a:r>
            <a:r>
              <a:rPr lang="en-US" sz="2200">
                <a:solidFill>
                  <a:srgbClr val="089236"/>
                </a:solidFill>
                <a:latin typeface="Arial"/>
                <a:ea typeface="Arial"/>
                <a:cs typeface="Arial"/>
                <a:sym typeface="Arial"/>
              </a:rPr>
              <a:t>.</a:t>
            </a:r>
            <a:endParaRPr/>
          </a:p>
          <a:p>
            <a:pPr marL="457200" lvl="0" indent="-342900" algn="just" rtl="0">
              <a:lnSpc>
                <a:spcPct val="100000"/>
              </a:lnSpc>
              <a:spcBef>
                <a:spcPts val="1000"/>
              </a:spcBef>
              <a:spcAft>
                <a:spcPts val="0"/>
              </a:spcAft>
              <a:buSzPts val="1800"/>
              <a:buChar char="•"/>
            </a:pPr>
            <a:r>
              <a:rPr lang="en-US" sz="2200" b="1" err="1">
                <a:latin typeface="Arial"/>
                <a:ea typeface="Arial"/>
                <a:cs typeface="Arial"/>
                <a:sym typeface="Arial"/>
              </a:rPr>
              <a:t>Bước</a:t>
            </a:r>
            <a:r>
              <a:rPr lang="en-US" sz="2200" b="1">
                <a:latin typeface="Arial"/>
                <a:ea typeface="Arial"/>
                <a:cs typeface="Arial"/>
                <a:sym typeface="Arial"/>
              </a:rPr>
              <a:t> 5: </a:t>
            </a:r>
            <a:r>
              <a:rPr lang="en-US" sz="2200" b="1" err="1">
                <a:latin typeface="Arial"/>
                <a:ea typeface="Arial"/>
                <a:cs typeface="Arial"/>
                <a:sym typeface="Arial"/>
              </a:rPr>
              <a:t>Yêu</a:t>
            </a:r>
            <a:r>
              <a:rPr lang="en-US" sz="2200" b="1">
                <a:latin typeface="Arial"/>
                <a:ea typeface="Arial"/>
                <a:cs typeface="Arial"/>
                <a:sym typeface="Arial"/>
              </a:rPr>
              <a:t> </a:t>
            </a:r>
            <a:r>
              <a:rPr lang="en-US" sz="2200" b="1" err="1">
                <a:latin typeface="Arial"/>
                <a:ea typeface="Arial"/>
                <a:cs typeface="Arial"/>
                <a:sym typeface="Arial"/>
              </a:rPr>
              <a:t>cầu</a:t>
            </a:r>
            <a:r>
              <a:rPr lang="en-US" sz="2200" b="1">
                <a:latin typeface="Arial"/>
                <a:ea typeface="Arial"/>
                <a:cs typeface="Arial"/>
                <a:sym typeface="Arial"/>
              </a:rPr>
              <a:t> </a:t>
            </a:r>
            <a:r>
              <a:rPr lang="en-US" sz="2200" b="1" err="1">
                <a:latin typeface="Arial"/>
                <a:ea typeface="Arial"/>
                <a:cs typeface="Arial"/>
                <a:sym typeface="Arial"/>
              </a:rPr>
              <a:t>chào</a:t>
            </a:r>
            <a:r>
              <a:rPr lang="en-US" sz="2200" b="1">
                <a:latin typeface="Arial"/>
                <a:ea typeface="Arial"/>
                <a:cs typeface="Arial"/>
                <a:sym typeface="Arial"/>
              </a:rPr>
              <a:t> </a:t>
            </a:r>
            <a:r>
              <a:rPr lang="en-US" sz="2200" b="1" err="1">
                <a:latin typeface="Arial"/>
                <a:ea typeface="Arial"/>
                <a:cs typeface="Arial"/>
                <a:sym typeface="Arial"/>
              </a:rPr>
              <a:t>hàng</a:t>
            </a:r>
            <a:endParaRPr sz="2200">
              <a:latin typeface="Arial"/>
              <a:ea typeface="Arial"/>
              <a:cs typeface="Arial"/>
              <a:sym typeface="Arial"/>
            </a:endParaRPr>
          </a:p>
          <a:p>
            <a:pPr marL="457200" lvl="0" indent="-41275" algn="just" rtl="0">
              <a:lnSpc>
                <a:spcPct val="100000"/>
              </a:lnSpc>
              <a:spcBef>
                <a:spcPts val="1000"/>
              </a:spcBef>
              <a:spcAft>
                <a:spcPts val="0"/>
              </a:spcAft>
              <a:buSzPts val="1800"/>
              <a:buNone/>
            </a:pPr>
            <a:r>
              <a:rPr lang="en-US" sz="2200">
                <a:latin typeface="Arial"/>
                <a:ea typeface="Arial"/>
                <a:cs typeface="Arial"/>
                <a:sym typeface="Arial"/>
              </a:rPr>
              <a:t>   - </a:t>
            </a:r>
            <a:r>
              <a:rPr lang="en-US" sz="2200" err="1">
                <a:latin typeface="Arial"/>
                <a:ea typeface="Arial"/>
                <a:cs typeface="Arial"/>
                <a:sym typeface="Arial"/>
              </a:rPr>
              <a:t>Các</a:t>
            </a:r>
            <a:r>
              <a:rPr lang="en-US" sz="2200">
                <a:latin typeface="Arial"/>
                <a:ea typeface="Arial"/>
                <a:cs typeface="Arial"/>
                <a:sym typeface="Arial"/>
              </a:rPr>
              <a:t> </a:t>
            </a:r>
            <a:r>
              <a:rPr lang="en-US" sz="2200" err="1">
                <a:latin typeface="Arial"/>
                <a:ea typeface="Arial"/>
                <a:cs typeface="Arial"/>
                <a:sym typeface="Arial"/>
              </a:rPr>
              <a:t>nhà</a:t>
            </a:r>
            <a:r>
              <a:rPr lang="en-US" sz="2200">
                <a:latin typeface="Arial"/>
                <a:ea typeface="Arial"/>
                <a:cs typeface="Arial"/>
                <a:sym typeface="Arial"/>
              </a:rPr>
              <a:t> </a:t>
            </a:r>
            <a:r>
              <a:rPr lang="en-US" sz="2200" err="1">
                <a:latin typeface="Arial"/>
                <a:ea typeface="Arial"/>
                <a:cs typeface="Arial"/>
                <a:sym typeface="Arial"/>
              </a:rPr>
              <a:t>cung</a:t>
            </a:r>
            <a:r>
              <a:rPr lang="en-US" sz="2200">
                <a:latin typeface="Arial"/>
                <a:ea typeface="Arial"/>
                <a:cs typeface="Arial"/>
                <a:sym typeface="Arial"/>
              </a:rPr>
              <a:t> </a:t>
            </a:r>
            <a:r>
              <a:rPr lang="en-US" sz="2200" err="1">
                <a:latin typeface="Arial"/>
                <a:ea typeface="Arial"/>
                <a:cs typeface="Arial"/>
                <a:sym typeface="Arial"/>
              </a:rPr>
              <a:t>ứng</a:t>
            </a:r>
            <a:r>
              <a:rPr lang="en-US" sz="2200">
                <a:latin typeface="Arial"/>
                <a:ea typeface="Arial"/>
                <a:cs typeface="Arial"/>
                <a:sym typeface="Arial"/>
              </a:rPr>
              <a:t> </a:t>
            </a:r>
            <a:r>
              <a:rPr lang="en-US" sz="2200" err="1">
                <a:latin typeface="Arial"/>
                <a:ea typeface="Arial"/>
                <a:cs typeface="Arial"/>
                <a:sym typeface="Arial"/>
              </a:rPr>
              <a:t>đủ</a:t>
            </a:r>
            <a:r>
              <a:rPr lang="en-US" sz="2200">
                <a:latin typeface="Arial"/>
                <a:ea typeface="Arial"/>
                <a:cs typeface="Arial"/>
                <a:sym typeface="Arial"/>
              </a:rPr>
              <a:t> </a:t>
            </a:r>
            <a:r>
              <a:rPr lang="en-US" sz="2200" err="1">
                <a:latin typeface="Arial"/>
                <a:ea typeface="Arial"/>
                <a:cs typeface="Arial"/>
                <a:sym typeface="Arial"/>
              </a:rPr>
              <a:t>tiêu</a:t>
            </a:r>
            <a:r>
              <a:rPr lang="en-US" sz="2200">
                <a:latin typeface="Arial"/>
                <a:ea typeface="Arial"/>
                <a:cs typeface="Arial"/>
                <a:sym typeface="Arial"/>
              </a:rPr>
              <a:t> </a:t>
            </a:r>
            <a:r>
              <a:rPr lang="en-US" sz="2200" err="1">
                <a:latin typeface="Arial"/>
                <a:ea typeface="Arial"/>
                <a:cs typeface="Arial"/>
                <a:sym typeface="Arial"/>
              </a:rPr>
              <a:t>chuẩn</a:t>
            </a:r>
            <a:r>
              <a:rPr lang="en-US" sz="2200">
                <a:latin typeface="Arial"/>
                <a:ea typeface="Arial"/>
                <a:cs typeface="Arial"/>
                <a:sym typeface="Arial"/>
              </a:rPr>
              <a:t> </a:t>
            </a:r>
            <a:r>
              <a:rPr lang="en-US" sz="2200" err="1">
                <a:latin typeface="Arial"/>
                <a:ea typeface="Arial"/>
                <a:cs typeface="Arial"/>
                <a:sym typeface="Arial"/>
              </a:rPr>
              <a:t>sẽ</a:t>
            </a:r>
            <a:r>
              <a:rPr lang="en-US" sz="2200">
                <a:latin typeface="Arial"/>
                <a:ea typeface="Arial"/>
                <a:cs typeface="Arial"/>
                <a:sym typeface="Arial"/>
              </a:rPr>
              <a:t> </a:t>
            </a:r>
            <a:r>
              <a:rPr lang="en-US" sz="2200" err="1">
                <a:latin typeface="Arial"/>
                <a:ea typeface="Arial"/>
                <a:cs typeface="Arial"/>
                <a:sym typeface="Arial"/>
              </a:rPr>
              <a:t>gửi</a:t>
            </a:r>
            <a:r>
              <a:rPr lang="en-US" sz="2200">
                <a:latin typeface="Arial"/>
                <a:ea typeface="Arial"/>
                <a:cs typeface="Arial"/>
                <a:sym typeface="Arial"/>
              </a:rPr>
              <a:t>: Catalogue, </a:t>
            </a:r>
            <a:r>
              <a:rPr lang="en-US" sz="2200" err="1">
                <a:latin typeface="Arial"/>
                <a:ea typeface="Arial"/>
                <a:cs typeface="Arial"/>
                <a:sym typeface="Arial"/>
              </a:rPr>
              <a:t>Bản</a:t>
            </a:r>
            <a:r>
              <a:rPr lang="en-US" sz="2200">
                <a:latin typeface="Arial"/>
                <a:ea typeface="Arial"/>
                <a:cs typeface="Arial"/>
                <a:sym typeface="Arial"/>
              </a:rPr>
              <a:t> </a:t>
            </a:r>
            <a:r>
              <a:rPr lang="en-US" sz="2200" err="1">
                <a:latin typeface="Arial"/>
                <a:ea typeface="Arial"/>
                <a:cs typeface="Arial"/>
                <a:sym typeface="Arial"/>
              </a:rPr>
              <a:t>chào</a:t>
            </a:r>
            <a:r>
              <a:rPr lang="en-US" sz="2200">
                <a:latin typeface="Arial"/>
                <a:ea typeface="Arial"/>
                <a:cs typeface="Arial"/>
                <a:sym typeface="Arial"/>
              </a:rPr>
              <a:t> </a:t>
            </a:r>
            <a:r>
              <a:rPr lang="en-US" sz="2200" err="1">
                <a:latin typeface="Arial"/>
                <a:ea typeface="Arial"/>
                <a:cs typeface="Arial"/>
                <a:sym typeface="Arial"/>
              </a:rPr>
              <a:t>hàng</a:t>
            </a:r>
            <a:r>
              <a:rPr lang="en-US" sz="2200">
                <a:latin typeface="Arial"/>
                <a:ea typeface="Arial"/>
                <a:cs typeface="Arial"/>
                <a:sym typeface="Arial"/>
              </a:rPr>
              <a:t>, </a:t>
            </a:r>
            <a:r>
              <a:rPr lang="en-US" sz="2200" err="1">
                <a:latin typeface="Arial"/>
                <a:ea typeface="Arial"/>
                <a:cs typeface="Arial"/>
                <a:sym typeface="Arial"/>
              </a:rPr>
              <a:t>cử</a:t>
            </a:r>
            <a:r>
              <a:rPr lang="en-US" sz="2200">
                <a:latin typeface="Arial"/>
                <a:ea typeface="Arial"/>
                <a:cs typeface="Arial"/>
                <a:sym typeface="Arial"/>
              </a:rPr>
              <a:t> </a:t>
            </a:r>
            <a:r>
              <a:rPr lang="en-US" sz="2200" err="1">
                <a:latin typeface="Arial"/>
                <a:ea typeface="Arial"/>
                <a:cs typeface="Arial"/>
                <a:sym typeface="Arial"/>
              </a:rPr>
              <a:t>nhân</a:t>
            </a:r>
            <a:r>
              <a:rPr lang="en-US" sz="2200">
                <a:latin typeface="Arial"/>
                <a:ea typeface="Arial"/>
                <a:cs typeface="Arial"/>
                <a:sym typeface="Arial"/>
              </a:rPr>
              <a:t>  </a:t>
            </a:r>
            <a:endParaRPr/>
          </a:p>
          <a:p>
            <a:pPr marL="457200" lvl="0" indent="-41275" algn="just" rtl="0">
              <a:lnSpc>
                <a:spcPct val="100000"/>
              </a:lnSpc>
              <a:spcBef>
                <a:spcPts val="1000"/>
              </a:spcBef>
              <a:spcAft>
                <a:spcPts val="0"/>
              </a:spcAft>
              <a:buSzPts val="1800"/>
              <a:buNone/>
            </a:pPr>
            <a:r>
              <a:rPr lang="en-US" sz="2200">
                <a:latin typeface="Arial"/>
                <a:ea typeface="Arial"/>
                <a:cs typeface="Arial"/>
                <a:sym typeface="Arial"/>
              </a:rPr>
              <a:t>     </a:t>
            </a:r>
            <a:r>
              <a:rPr lang="en-US" sz="2200" err="1">
                <a:latin typeface="Arial"/>
                <a:ea typeface="Arial"/>
                <a:cs typeface="Arial"/>
                <a:sym typeface="Arial"/>
              </a:rPr>
              <a:t>viên</a:t>
            </a:r>
            <a:r>
              <a:rPr lang="en-US" sz="2200">
                <a:latin typeface="Arial"/>
                <a:ea typeface="Arial"/>
                <a:cs typeface="Arial"/>
                <a:sym typeface="Arial"/>
              </a:rPr>
              <a:t> </a:t>
            </a:r>
            <a:r>
              <a:rPr lang="en-US" sz="2200" err="1">
                <a:latin typeface="Arial"/>
                <a:ea typeface="Arial"/>
                <a:cs typeface="Arial"/>
                <a:sym typeface="Arial"/>
              </a:rPr>
              <a:t>tiếp</a:t>
            </a:r>
            <a:r>
              <a:rPr lang="en-US" sz="2200">
                <a:latin typeface="Arial"/>
                <a:ea typeface="Arial"/>
                <a:cs typeface="Arial"/>
                <a:sym typeface="Arial"/>
              </a:rPr>
              <a:t> </a:t>
            </a:r>
            <a:r>
              <a:rPr lang="en-US" sz="2200" err="1">
                <a:latin typeface="Arial"/>
                <a:ea typeface="Arial"/>
                <a:cs typeface="Arial"/>
                <a:sym typeface="Arial"/>
              </a:rPr>
              <a:t>xúc</a:t>
            </a:r>
            <a:r>
              <a:rPr lang="en-US" sz="2200">
                <a:latin typeface="Arial"/>
                <a:ea typeface="Arial"/>
                <a:cs typeface="Arial"/>
                <a:sym typeface="Arial"/>
              </a:rPr>
              <a:t> </a:t>
            </a:r>
            <a:r>
              <a:rPr lang="en-US" sz="2200" err="1">
                <a:latin typeface="Arial"/>
                <a:ea typeface="Arial"/>
                <a:cs typeface="Arial"/>
                <a:sym typeface="Arial"/>
              </a:rPr>
              <a:t>trực</a:t>
            </a:r>
            <a:r>
              <a:rPr lang="en-US" sz="2200">
                <a:latin typeface="Arial"/>
                <a:ea typeface="Arial"/>
                <a:cs typeface="Arial"/>
                <a:sym typeface="Arial"/>
              </a:rPr>
              <a:t> </a:t>
            </a:r>
            <a:r>
              <a:rPr lang="en-US" sz="2200" err="1">
                <a:latin typeface="Arial"/>
                <a:ea typeface="Arial"/>
                <a:cs typeface="Arial"/>
                <a:sym typeface="Arial"/>
              </a:rPr>
              <a:t>tiếp</a:t>
            </a:r>
            <a:endParaRPr sz="2200">
              <a:latin typeface="Arial"/>
              <a:ea typeface="Arial"/>
              <a:cs typeface="Arial"/>
              <a:sym typeface="Arial"/>
            </a:endParaRPr>
          </a:p>
          <a:p>
            <a:pPr lvl="0" algn="just" rtl="0">
              <a:lnSpc>
                <a:spcPct val="100000"/>
              </a:lnSpc>
              <a:spcBef>
                <a:spcPts val="1000"/>
              </a:spcBef>
              <a:spcAft>
                <a:spcPts val="0"/>
              </a:spcAft>
              <a:buSzPts val="1800"/>
              <a:buFont typeface="Wingdings" panose="05000000000000000000" pitchFamily="2" charset="2"/>
              <a:buChar char="Ø"/>
            </a:pP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Nếu</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sp</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có</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giá</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trị</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cao</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kỹ</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thuật</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thiết</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kế</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phức</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tạp</a:t>
            </a:r>
            <a:r>
              <a:rPr lang="en-US" sz="2200">
                <a:solidFill>
                  <a:srgbClr val="089236"/>
                </a:solidFill>
                <a:latin typeface="Arial"/>
                <a:ea typeface="Arial"/>
                <a:cs typeface="Arial"/>
                <a:sym typeface="Arial"/>
              </a:rPr>
              <a:t>,… KH </a:t>
            </a:r>
            <a:r>
              <a:rPr lang="en-US" sz="2200" err="1">
                <a:solidFill>
                  <a:srgbClr val="089236"/>
                </a:solidFill>
                <a:latin typeface="Arial"/>
                <a:ea typeface="Arial"/>
                <a:cs typeface="Arial"/>
                <a:sym typeface="Arial"/>
              </a:rPr>
              <a:t>sẽ</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yêu</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cầu</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từng</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nhà</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cung</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ứng</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gửi</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bản</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chào</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hàng</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một</a:t>
            </a:r>
            <a:r>
              <a:rPr lang="en-US" sz="2200">
                <a:solidFill>
                  <a:srgbClr val="089236"/>
                </a:solidFill>
                <a:latin typeface="Arial"/>
                <a:ea typeface="Arial"/>
                <a:cs typeface="Arial"/>
                <a:sym typeface="Arial"/>
              </a:rPr>
              <a:t> </a:t>
            </a:r>
            <a:r>
              <a:rPr lang="en-US" sz="2200" err="1">
                <a:solidFill>
                  <a:srgbClr val="089236"/>
                </a:solidFill>
                <a:latin typeface="Arial"/>
                <a:ea typeface="Arial"/>
                <a:cs typeface="Arial"/>
                <a:sym typeface="Arial"/>
              </a:rPr>
              <a:t>cách</a:t>
            </a:r>
            <a:r>
              <a:rPr lang="en-US" sz="2200">
                <a:solidFill>
                  <a:srgbClr val="089236"/>
                </a:solidFill>
                <a:latin typeface="Arial"/>
                <a:ea typeface="Arial"/>
                <a:cs typeface="Arial"/>
                <a:sym typeface="Arial"/>
              </a:rPr>
              <a:t> chi </a:t>
            </a:r>
            <a:r>
              <a:rPr lang="en-US" sz="2200" err="1">
                <a:solidFill>
                  <a:srgbClr val="089236"/>
                </a:solidFill>
                <a:latin typeface="Arial"/>
                <a:ea typeface="Arial"/>
                <a:cs typeface="Arial"/>
                <a:sym typeface="Arial"/>
              </a:rPr>
              <a:t>tiết</a:t>
            </a:r>
            <a:endParaRPr sz="2200">
              <a:solidFill>
                <a:srgbClr val="089236"/>
              </a:solidFill>
              <a:latin typeface="Arial"/>
              <a:ea typeface="Arial"/>
              <a:cs typeface="Arial"/>
              <a:sym typeface="Arial"/>
            </a:endParaRPr>
          </a:p>
          <a:p>
            <a:pPr marL="0" lvl="0" indent="0" algn="just" rtl="0">
              <a:lnSpc>
                <a:spcPct val="100000"/>
              </a:lnSpc>
              <a:spcBef>
                <a:spcPts val="1000"/>
              </a:spcBef>
              <a:spcAft>
                <a:spcPts val="0"/>
              </a:spcAft>
              <a:buSzPts val="1800"/>
              <a:buNone/>
            </a:pPr>
            <a:endParaRPr sz="2200">
              <a:solidFill>
                <a:srgbClr val="089236"/>
              </a:solidFill>
            </a:endParaRPr>
          </a:p>
          <a:p>
            <a:pPr marL="457200" lvl="0" indent="-228600" algn="l" rtl="0">
              <a:lnSpc>
                <a:spcPct val="90000"/>
              </a:lnSpc>
              <a:spcBef>
                <a:spcPts val="1000"/>
              </a:spcBef>
              <a:spcAft>
                <a:spcPts val="0"/>
              </a:spcAft>
              <a:buClr>
                <a:schemeClr val="dk1"/>
              </a:buClr>
              <a:buSzPts val="1800"/>
              <a:buNone/>
            </a:pPr>
            <a:endParaRPr sz="2200"/>
          </a:p>
        </p:txBody>
      </p:sp>
    </p:spTree>
    <p:extLst>
      <p:ext uri="{BB962C8B-B14F-4D97-AF65-F5344CB8AC3E}">
        <p14:creationId xmlns:p14="http://schemas.microsoft.com/office/powerpoint/2010/main" val="831203079"/>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Shape 3278"/>
        <p:cNvGrpSpPr/>
        <p:nvPr/>
      </p:nvGrpSpPr>
      <p:grpSpPr>
        <a:xfrm>
          <a:off x="0" y="0"/>
          <a:ext cx="0" cy="0"/>
          <a:chOff x="0" y="0"/>
          <a:chExt cx="0" cy="0"/>
        </a:xfrm>
      </p:grpSpPr>
      <p:sp>
        <p:nvSpPr>
          <p:cNvPr id="3279" name="Google Shape;3279;p418"/>
          <p:cNvSpPr txBox="1">
            <a:spLocks noGrp="1"/>
          </p:cNvSpPr>
          <p:nvPr>
            <p:ph type="title"/>
          </p:nvPr>
        </p:nvSpPr>
        <p:spPr>
          <a:xfrm>
            <a:off x="667512" y="-16426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3200" b="1">
                <a:latin typeface="Arial"/>
                <a:ea typeface="Arial"/>
                <a:cs typeface="Arial"/>
                <a:sym typeface="Arial"/>
              </a:rPr>
              <a:t>7.2 Quy </a:t>
            </a:r>
            <a:r>
              <a:rPr lang="en-US" sz="3200" b="1" err="1">
                <a:latin typeface="Arial"/>
                <a:ea typeface="Arial"/>
                <a:cs typeface="Arial"/>
                <a:sym typeface="Arial"/>
              </a:rPr>
              <a:t>trình</a:t>
            </a:r>
            <a:r>
              <a:rPr lang="en-US" sz="3200" b="1">
                <a:latin typeface="Arial"/>
                <a:ea typeface="Arial"/>
                <a:cs typeface="Arial"/>
                <a:sym typeface="Arial"/>
              </a:rPr>
              <a:t> </a:t>
            </a:r>
            <a:r>
              <a:rPr lang="en-US" sz="3200" b="1" err="1">
                <a:latin typeface="Arial"/>
                <a:ea typeface="Arial"/>
                <a:cs typeface="Arial"/>
                <a:sym typeface="Arial"/>
              </a:rPr>
              <a:t>ra</a:t>
            </a:r>
            <a:r>
              <a:rPr lang="en-US" sz="3200" b="1">
                <a:latin typeface="Arial"/>
                <a:ea typeface="Arial"/>
                <a:cs typeface="Arial"/>
                <a:sym typeface="Arial"/>
              </a:rPr>
              <a:t> </a:t>
            </a:r>
            <a:r>
              <a:rPr lang="en-US" sz="3200" b="1" err="1">
                <a:latin typeface="Arial"/>
                <a:ea typeface="Arial"/>
                <a:cs typeface="Arial"/>
                <a:sym typeface="Arial"/>
              </a:rPr>
              <a:t>quyết</a:t>
            </a:r>
            <a:r>
              <a:rPr lang="en-US" sz="3200" b="1">
                <a:latin typeface="Arial"/>
                <a:ea typeface="Arial"/>
                <a:cs typeface="Arial"/>
                <a:sym typeface="Arial"/>
              </a:rPr>
              <a:t> </a:t>
            </a:r>
            <a:r>
              <a:rPr lang="en-US" sz="3200" b="1" err="1">
                <a:latin typeface="Arial"/>
                <a:ea typeface="Arial"/>
                <a:cs typeface="Arial"/>
                <a:sym typeface="Arial"/>
              </a:rPr>
              <a:t>định</a:t>
            </a:r>
            <a:r>
              <a:rPr lang="en-US" sz="3200" b="1">
                <a:latin typeface="Arial"/>
                <a:ea typeface="Arial"/>
                <a:cs typeface="Arial"/>
                <a:sym typeface="Arial"/>
              </a:rPr>
              <a:t> </a:t>
            </a:r>
            <a:r>
              <a:rPr lang="en-US" sz="3200" b="1" err="1">
                <a:latin typeface="Arial"/>
                <a:ea typeface="Arial"/>
                <a:cs typeface="Arial"/>
                <a:sym typeface="Arial"/>
              </a:rPr>
              <a:t>mua</a:t>
            </a:r>
            <a:r>
              <a:rPr lang="en-US" sz="3200" b="1">
                <a:latin typeface="Arial"/>
                <a:ea typeface="Arial"/>
                <a:cs typeface="Arial"/>
                <a:sym typeface="Arial"/>
              </a:rPr>
              <a:t> (</a:t>
            </a:r>
            <a:r>
              <a:rPr lang="en-US" sz="3200" b="1" err="1">
                <a:latin typeface="Arial"/>
                <a:ea typeface="Arial"/>
                <a:cs typeface="Arial"/>
                <a:sym typeface="Arial"/>
              </a:rPr>
              <a:t>tt</a:t>
            </a:r>
            <a:r>
              <a:rPr lang="en-US" sz="3200" b="1">
                <a:latin typeface="Arial"/>
                <a:ea typeface="Arial"/>
                <a:cs typeface="Arial"/>
                <a:sym typeface="Arial"/>
              </a:rPr>
              <a:t>)</a:t>
            </a:r>
            <a:endParaRPr sz="3200"/>
          </a:p>
        </p:txBody>
      </p:sp>
      <p:sp>
        <p:nvSpPr>
          <p:cNvPr id="3280" name="Google Shape;3280;p418"/>
          <p:cNvSpPr txBox="1">
            <a:spLocks noGrp="1"/>
          </p:cNvSpPr>
          <p:nvPr>
            <p:ph type="body" idx="1"/>
          </p:nvPr>
        </p:nvSpPr>
        <p:spPr>
          <a:xfrm>
            <a:off x="125488" y="1355609"/>
            <a:ext cx="5326621" cy="5035975"/>
          </a:xfrm>
          <a:prstGeom prst="rect">
            <a:avLst/>
          </a:prstGeom>
          <a:noFill/>
          <a:ln>
            <a:noFill/>
          </a:ln>
        </p:spPr>
        <p:txBody>
          <a:bodyPr spcFirstLastPara="1" wrap="square" lIns="91425" tIns="45700" rIns="91425" bIns="45700" anchor="t" anchorCtr="0">
            <a:noAutofit/>
          </a:bodyPr>
          <a:lstStyle/>
          <a:p>
            <a:pPr marL="114300" lvl="0" indent="0" algn="l" rtl="0">
              <a:lnSpc>
                <a:spcPct val="90000"/>
              </a:lnSpc>
              <a:spcBef>
                <a:spcPts val="1000"/>
              </a:spcBef>
              <a:spcAft>
                <a:spcPts val="0"/>
              </a:spcAft>
              <a:buClr>
                <a:schemeClr val="dk1"/>
              </a:buClr>
              <a:buSzPts val="1800"/>
              <a:buNone/>
            </a:pPr>
            <a:r>
              <a:rPr lang="en-US" sz="2200" b="1" err="1">
                <a:latin typeface="Arial"/>
                <a:ea typeface="Arial"/>
                <a:cs typeface="Arial"/>
                <a:sym typeface="Arial"/>
              </a:rPr>
              <a:t>Bước</a:t>
            </a:r>
            <a:r>
              <a:rPr lang="en-US" sz="2200" b="1">
                <a:latin typeface="Arial"/>
                <a:ea typeface="Arial"/>
                <a:cs typeface="Arial"/>
                <a:sym typeface="Arial"/>
              </a:rPr>
              <a:t> 6: </a:t>
            </a:r>
            <a:r>
              <a:rPr lang="en-US" sz="2200" b="1" err="1">
                <a:latin typeface="Arial"/>
                <a:ea typeface="Arial"/>
                <a:cs typeface="Arial"/>
                <a:sym typeface="Arial"/>
              </a:rPr>
              <a:t>Lựa</a:t>
            </a:r>
            <a:r>
              <a:rPr lang="en-US" sz="2200" b="1">
                <a:latin typeface="Arial"/>
                <a:ea typeface="Arial"/>
                <a:cs typeface="Arial"/>
                <a:sym typeface="Arial"/>
              </a:rPr>
              <a:t> </a:t>
            </a:r>
            <a:r>
              <a:rPr lang="en-US" sz="2200" b="1" err="1">
                <a:latin typeface="Arial"/>
                <a:ea typeface="Arial"/>
                <a:cs typeface="Arial"/>
                <a:sym typeface="Arial"/>
              </a:rPr>
              <a:t>chọn</a:t>
            </a:r>
            <a:r>
              <a:rPr lang="en-US" sz="2200" b="1">
                <a:latin typeface="Arial"/>
                <a:ea typeface="Arial"/>
                <a:cs typeface="Arial"/>
                <a:sym typeface="Arial"/>
              </a:rPr>
              <a:t> </a:t>
            </a:r>
            <a:r>
              <a:rPr lang="en-US" sz="2200" b="1" err="1">
                <a:latin typeface="Arial"/>
                <a:ea typeface="Arial"/>
                <a:cs typeface="Arial"/>
                <a:sym typeface="Arial"/>
              </a:rPr>
              <a:t>nhà</a:t>
            </a:r>
            <a:r>
              <a:rPr lang="en-US" sz="2200" b="1">
                <a:latin typeface="Arial"/>
                <a:ea typeface="Arial"/>
                <a:cs typeface="Arial"/>
                <a:sym typeface="Arial"/>
              </a:rPr>
              <a:t> </a:t>
            </a:r>
            <a:r>
              <a:rPr lang="en-US" sz="2200" b="1" err="1">
                <a:latin typeface="Arial"/>
                <a:ea typeface="Arial"/>
                <a:cs typeface="Arial"/>
                <a:sym typeface="Arial"/>
              </a:rPr>
              <a:t>cung</a:t>
            </a:r>
            <a:r>
              <a:rPr lang="en-US" sz="2200" b="1">
                <a:latin typeface="Arial"/>
                <a:ea typeface="Arial"/>
                <a:cs typeface="Arial"/>
                <a:sym typeface="Arial"/>
              </a:rPr>
              <a:t> </a:t>
            </a:r>
            <a:r>
              <a:rPr lang="en-US" sz="2200" b="1" err="1">
                <a:latin typeface="Arial"/>
                <a:ea typeface="Arial"/>
                <a:cs typeface="Arial"/>
                <a:sym typeface="Arial"/>
              </a:rPr>
              <a:t>cấp</a:t>
            </a:r>
            <a:endParaRPr sz="2200">
              <a:latin typeface="Arial"/>
              <a:ea typeface="Arial"/>
              <a:cs typeface="Arial"/>
              <a:sym typeface="Arial"/>
            </a:endParaRPr>
          </a:p>
          <a:p>
            <a:pPr marL="457200" lvl="0" indent="-41275" algn="just" rtl="0">
              <a:lnSpc>
                <a:spcPct val="90000"/>
              </a:lnSpc>
              <a:spcBef>
                <a:spcPts val="1000"/>
              </a:spcBef>
              <a:spcAft>
                <a:spcPts val="0"/>
              </a:spcAft>
              <a:buSzPts val="1800"/>
              <a:buNone/>
            </a:pPr>
            <a:r>
              <a:rPr lang="en-US" sz="2200">
                <a:latin typeface="Arial"/>
                <a:ea typeface="Arial"/>
                <a:cs typeface="Arial"/>
                <a:sym typeface="Arial"/>
              </a:rPr>
              <a:t> </a:t>
            </a:r>
            <a:r>
              <a:rPr lang="en-US" sz="2200" err="1">
                <a:latin typeface="Arial"/>
                <a:ea typeface="Arial"/>
                <a:cs typeface="Arial"/>
                <a:sym typeface="Arial"/>
              </a:rPr>
              <a:t>Các</a:t>
            </a:r>
            <a:r>
              <a:rPr lang="en-US" sz="2200">
                <a:latin typeface="Arial"/>
                <a:ea typeface="Arial"/>
                <a:cs typeface="Arial"/>
                <a:sym typeface="Arial"/>
              </a:rPr>
              <a:t> </a:t>
            </a:r>
            <a:r>
              <a:rPr lang="en-US" sz="2200" err="1">
                <a:latin typeface="Arial"/>
                <a:ea typeface="Arial"/>
                <a:cs typeface="Arial"/>
                <a:sym typeface="Arial"/>
              </a:rPr>
              <a:t>tiêu</a:t>
            </a:r>
            <a:r>
              <a:rPr lang="en-US" sz="2200">
                <a:latin typeface="Arial"/>
                <a:ea typeface="Arial"/>
                <a:cs typeface="Arial"/>
                <a:sym typeface="Arial"/>
              </a:rPr>
              <a:t> </a:t>
            </a:r>
            <a:r>
              <a:rPr lang="en-US" sz="2200" err="1">
                <a:latin typeface="Arial"/>
                <a:ea typeface="Arial"/>
                <a:cs typeface="Arial"/>
                <a:sym typeface="Arial"/>
              </a:rPr>
              <a:t>chuẩn</a:t>
            </a:r>
            <a:r>
              <a:rPr lang="en-US" sz="2200">
                <a:latin typeface="Arial"/>
                <a:ea typeface="Arial"/>
                <a:cs typeface="Arial"/>
                <a:sym typeface="Arial"/>
              </a:rPr>
              <a:t> </a:t>
            </a:r>
            <a:r>
              <a:rPr lang="en-US" sz="2200" err="1">
                <a:latin typeface="Arial"/>
                <a:ea typeface="Arial"/>
                <a:cs typeface="Arial"/>
                <a:sym typeface="Arial"/>
              </a:rPr>
              <a:t>lựa</a:t>
            </a:r>
            <a:r>
              <a:rPr lang="en-US" sz="2200">
                <a:latin typeface="Arial"/>
                <a:ea typeface="Arial"/>
                <a:cs typeface="Arial"/>
                <a:sym typeface="Arial"/>
              </a:rPr>
              <a:t> </a:t>
            </a:r>
            <a:r>
              <a:rPr lang="en-US" sz="2200" err="1">
                <a:latin typeface="Arial"/>
                <a:ea typeface="Arial"/>
                <a:cs typeface="Arial"/>
                <a:sym typeface="Arial"/>
              </a:rPr>
              <a:t>chọn</a:t>
            </a:r>
            <a:r>
              <a:rPr lang="en-US" sz="2200">
                <a:latin typeface="Arial"/>
                <a:ea typeface="Arial"/>
                <a:cs typeface="Arial"/>
                <a:sym typeface="Arial"/>
              </a:rPr>
              <a:t>: </a:t>
            </a:r>
            <a:endParaRPr/>
          </a:p>
          <a:p>
            <a:pPr marL="530225" lvl="0" indent="-342900" algn="just" rtl="0">
              <a:lnSpc>
                <a:spcPct val="90000"/>
              </a:lnSpc>
              <a:spcBef>
                <a:spcPts val="1000"/>
              </a:spcBef>
              <a:spcAft>
                <a:spcPts val="0"/>
              </a:spcAft>
              <a:buSzPts val="1800"/>
              <a:buChar char="•"/>
            </a:pPr>
            <a:r>
              <a:rPr lang="en-US" sz="2200" err="1">
                <a:latin typeface="Arial"/>
                <a:ea typeface="Arial"/>
                <a:cs typeface="Arial"/>
                <a:sym typeface="Arial"/>
              </a:rPr>
              <a:t>Tiêu</a:t>
            </a:r>
            <a:r>
              <a:rPr lang="en-US" sz="2200">
                <a:latin typeface="Arial"/>
                <a:ea typeface="Arial"/>
                <a:cs typeface="Arial"/>
                <a:sym typeface="Arial"/>
              </a:rPr>
              <a:t> </a:t>
            </a:r>
            <a:r>
              <a:rPr lang="en-US" sz="2200" err="1">
                <a:latin typeface="Arial"/>
                <a:ea typeface="Arial"/>
                <a:cs typeface="Arial"/>
                <a:sym typeface="Arial"/>
              </a:rPr>
              <a:t>chuẩn</a:t>
            </a:r>
            <a:r>
              <a:rPr lang="en-US" sz="2200">
                <a:latin typeface="Arial"/>
                <a:ea typeface="Arial"/>
                <a:cs typeface="Arial"/>
                <a:sym typeface="Arial"/>
              </a:rPr>
              <a:t> </a:t>
            </a:r>
            <a:r>
              <a:rPr lang="en-US" sz="2200" err="1">
                <a:latin typeface="Arial"/>
                <a:ea typeface="Arial"/>
                <a:cs typeface="Arial"/>
                <a:sym typeface="Arial"/>
              </a:rPr>
              <a:t>hiệu</a:t>
            </a:r>
            <a:r>
              <a:rPr lang="en-US" sz="2200">
                <a:latin typeface="Arial"/>
                <a:ea typeface="Arial"/>
                <a:cs typeface="Arial"/>
                <a:sym typeface="Arial"/>
              </a:rPr>
              <a:t> </a:t>
            </a:r>
            <a:r>
              <a:rPr lang="en-US" sz="2200" err="1">
                <a:latin typeface="Arial"/>
                <a:ea typeface="Arial"/>
                <a:cs typeface="Arial"/>
                <a:sym typeface="Arial"/>
              </a:rPr>
              <a:t>suất</a:t>
            </a:r>
            <a:r>
              <a:rPr lang="en-US" sz="2200">
                <a:latin typeface="Arial"/>
                <a:ea typeface="Arial"/>
                <a:cs typeface="Arial"/>
                <a:sym typeface="Arial"/>
              </a:rPr>
              <a:t>; </a:t>
            </a:r>
            <a:endParaRPr/>
          </a:p>
          <a:p>
            <a:pPr marL="530225" lvl="0" indent="-342900" algn="just" rtl="0">
              <a:lnSpc>
                <a:spcPct val="90000"/>
              </a:lnSpc>
              <a:spcBef>
                <a:spcPts val="1000"/>
              </a:spcBef>
              <a:spcAft>
                <a:spcPts val="0"/>
              </a:spcAft>
              <a:buSzPts val="1800"/>
              <a:buChar char="•"/>
            </a:pPr>
            <a:r>
              <a:rPr lang="en-US" sz="2200" err="1">
                <a:latin typeface="Arial"/>
                <a:ea typeface="Arial"/>
                <a:cs typeface="Arial"/>
                <a:sym typeface="Arial"/>
              </a:rPr>
              <a:t>Tiêu</a:t>
            </a:r>
            <a:r>
              <a:rPr lang="en-US" sz="2200">
                <a:latin typeface="Arial"/>
                <a:ea typeface="Arial"/>
                <a:cs typeface="Arial"/>
                <a:sym typeface="Arial"/>
              </a:rPr>
              <a:t> </a:t>
            </a:r>
            <a:r>
              <a:rPr lang="en-US" sz="2200" err="1">
                <a:latin typeface="Arial"/>
                <a:ea typeface="Arial"/>
                <a:cs typeface="Arial"/>
                <a:sym typeface="Arial"/>
              </a:rPr>
              <a:t>chuẩn</a:t>
            </a:r>
            <a:r>
              <a:rPr lang="en-US" sz="2200">
                <a:latin typeface="Arial"/>
                <a:ea typeface="Arial"/>
                <a:cs typeface="Arial"/>
                <a:sym typeface="Arial"/>
              </a:rPr>
              <a:t> </a:t>
            </a:r>
            <a:r>
              <a:rPr lang="en-US" sz="2200" err="1">
                <a:latin typeface="Arial"/>
                <a:ea typeface="Arial"/>
                <a:cs typeface="Arial"/>
                <a:sym typeface="Arial"/>
              </a:rPr>
              <a:t>kinh</a:t>
            </a:r>
            <a:r>
              <a:rPr lang="en-US" sz="2200">
                <a:latin typeface="Arial"/>
                <a:ea typeface="Arial"/>
                <a:cs typeface="Arial"/>
                <a:sym typeface="Arial"/>
              </a:rPr>
              <a:t> </a:t>
            </a:r>
            <a:r>
              <a:rPr lang="en-US" sz="2200" err="1">
                <a:latin typeface="Arial"/>
                <a:ea typeface="Arial"/>
                <a:cs typeface="Arial"/>
                <a:sym typeface="Arial"/>
              </a:rPr>
              <a:t>tế</a:t>
            </a:r>
            <a:r>
              <a:rPr lang="en-US" sz="2200">
                <a:latin typeface="Arial"/>
                <a:ea typeface="Arial"/>
                <a:cs typeface="Arial"/>
                <a:sym typeface="Arial"/>
              </a:rPr>
              <a:t> (</a:t>
            </a:r>
            <a:r>
              <a:rPr lang="en-US" sz="2200" err="1">
                <a:latin typeface="Arial"/>
                <a:ea typeface="Arial"/>
                <a:cs typeface="Arial"/>
                <a:sym typeface="Arial"/>
              </a:rPr>
              <a:t>giá</a:t>
            </a:r>
            <a:r>
              <a:rPr lang="en-US" sz="2200">
                <a:latin typeface="Arial"/>
                <a:ea typeface="Arial"/>
                <a:cs typeface="Arial"/>
                <a:sym typeface="Arial"/>
              </a:rPr>
              <a:t> </a:t>
            </a:r>
            <a:r>
              <a:rPr lang="en-US" sz="2200" err="1">
                <a:latin typeface="Arial"/>
                <a:ea typeface="Arial"/>
                <a:cs typeface="Arial"/>
                <a:sym typeface="Arial"/>
              </a:rPr>
              <a:t>cả</a:t>
            </a:r>
            <a:r>
              <a:rPr lang="en-US" sz="2200">
                <a:latin typeface="Arial"/>
                <a:ea typeface="Arial"/>
                <a:cs typeface="Arial"/>
                <a:sym typeface="Arial"/>
              </a:rPr>
              <a:t> </a:t>
            </a:r>
            <a:r>
              <a:rPr lang="en-US" sz="2200" err="1">
                <a:latin typeface="Arial"/>
                <a:ea typeface="Arial"/>
                <a:cs typeface="Arial"/>
                <a:sym typeface="Arial"/>
              </a:rPr>
              <a:t>và</a:t>
            </a:r>
            <a:r>
              <a:rPr lang="en-US" sz="2200">
                <a:latin typeface="Arial"/>
                <a:ea typeface="Arial"/>
                <a:cs typeface="Arial"/>
                <a:sym typeface="Arial"/>
              </a:rPr>
              <a:t> chi    </a:t>
            </a:r>
            <a:r>
              <a:rPr lang="en-US" sz="2200" err="1">
                <a:latin typeface="Arial"/>
                <a:ea typeface="Arial"/>
                <a:cs typeface="Arial"/>
                <a:sym typeface="Arial"/>
              </a:rPr>
              <a:t>phí</a:t>
            </a:r>
            <a:r>
              <a:rPr lang="en-US" sz="2200">
                <a:latin typeface="Arial"/>
                <a:ea typeface="Arial"/>
                <a:cs typeface="Arial"/>
                <a:sym typeface="Arial"/>
              </a:rPr>
              <a:t> </a:t>
            </a:r>
            <a:r>
              <a:rPr lang="en-US" sz="2200" err="1">
                <a:latin typeface="Arial"/>
                <a:ea typeface="Arial"/>
                <a:cs typeface="Arial"/>
                <a:sym typeface="Arial"/>
              </a:rPr>
              <a:t>liên</a:t>
            </a:r>
            <a:r>
              <a:rPr lang="en-US" sz="2200">
                <a:latin typeface="Arial"/>
                <a:ea typeface="Arial"/>
                <a:cs typeface="Arial"/>
                <a:sym typeface="Arial"/>
              </a:rPr>
              <a:t> </a:t>
            </a:r>
            <a:r>
              <a:rPr lang="en-US" sz="2200" err="1">
                <a:latin typeface="Arial"/>
                <a:ea typeface="Arial"/>
                <a:cs typeface="Arial"/>
                <a:sym typeface="Arial"/>
              </a:rPr>
              <a:t>quan</a:t>
            </a:r>
            <a:r>
              <a:rPr lang="en-US" sz="2200">
                <a:latin typeface="Arial"/>
                <a:ea typeface="Arial"/>
                <a:cs typeface="Arial"/>
                <a:sym typeface="Arial"/>
              </a:rPr>
              <a:t>);</a:t>
            </a:r>
            <a:endParaRPr/>
          </a:p>
          <a:p>
            <a:pPr marL="530225" lvl="0" indent="-342900" algn="just" rtl="0">
              <a:lnSpc>
                <a:spcPct val="90000"/>
              </a:lnSpc>
              <a:spcBef>
                <a:spcPts val="1000"/>
              </a:spcBef>
              <a:spcAft>
                <a:spcPts val="0"/>
              </a:spcAft>
              <a:buSzPts val="1800"/>
              <a:buChar char="•"/>
            </a:pPr>
            <a:r>
              <a:rPr lang="en-US" sz="2200" err="1">
                <a:latin typeface="Arial"/>
                <a:ea typeface="Arial"/>
                <a:cs typeface="Arial"/>
                <a:sym typeface="Arial"/>
              </a:rPr>
              <a:t>Tiêu</a:t>
            </a:r>
            <a:r>
              <a:rPr lang="en-US" sz="2200">
                <a:latin typeface="Arial"/>
                <a:ea typeface="Arial"/>
                <a:cs typeface="Arial"/>
                <a:sym typeface="Arial"/>
              </a:rPr>
              <a:t> </a:t>
            </a:r>
            <a:r>
              <a:rPr lang="en-US" sz="2200" err="1">
                <a:latin typeface="Arial"/>
                <a:ea typeface="Arial"/>
                <a:cs typeface="Arial"/>
                <a:sym typeface="Arial"/>
              </a:rPr>
              <a:t>chuẩn</a:t>
            </a:r>
            <a:r>
              <a:rPr lang="en-US" sz="2200">
                <a:latin typeface="Arial"/>
                <a:ea typeface="Arial"/>
                <a:cs typeface="Arial"/>
                <a:sym typeface="Arial"/>
              </a:rPr>
              <a:t> </a:t>
            </a:r>
            <a:r>
              <a:rPr lang="en-US" sz="2200" err="1">
                <a:latin typeface="Arial"/>
                <a:ea typeface="Arial"/>
                <a:cs typeface="Arial"/>
                <a:sym typeface="Arial"/>
              </a:rPr>
              <a:t>thích</a:t>
            </a:r>
            <a:r>
              <a:rPr lang="en-US" sz="2200">
                <a:latin typeface="Arial"/>
                <a:ea typeface="Arial"/>
                <a:cs typeface="Arial"/>
                <a:sym typeface="Arial"/>
              </a:rPr>
              <a:t> </a:t>
            </a:r>
            <a:r>
              <a:rPr lang="en-US" sz="2200" err="1">
                <a:latin typeface="Arial"/>
                <a:ea typeface="Arial"/>
                <a:cs typeface="Arial"/>
                <a:sym typeface="Arial"/>
              </a:rPr>
              <a:t>hợp</a:t>
            </a:r>
            <a:r>
              <a:rPr lang="en-US" sz="2200">
                <a:latin typeface="Arial"/>
                <a:ea typeface="Arial"/>
                <a:cs typeface="Arial"/>
                <a:sym typeface="Arial"/>
              </a:rPr>
              <a:t> (</a:t>
            </a:r>
            <a:r>
              <a:rPr lang="en-US" sz="2200" err="1">
                <a:latin typeface="Arial"/>
                <a:ea typeface="Arial"/>
                <a:cs typeface="Arial"/>
                <a:sym typeface="Arial"/>
              </a:rPr>
              <a:t>mức</a:t>
            </a:r>
            <a:r>
              <a:rPr lang="en-US" sz="2200">
                <a:latin typeface="Arial"/>
                <a:ea typeface="Arial"/>
                <a:cs typeface="Arial"/>
                <a:sym typeface="Arial"/>
              </a:rPr>
              <a:t> </a:t>
            </a:r>
            <a:r>
              <a:rPr lang="en-US" sz="2200" err="1">
                <a:latin typeface="Arial"/>
                <a:ea typeface="Arial"/>
                <a:cs typeface="Arial"/>
                <a:sym typeface="Arial"/>
              </a:rPr>
              <a:t>độ</a:t>
            </a:r>
            <a:r>
              <a:rPr lang="en-US" sz="2200">
                <a:latin typeface="Arial"/>
                <a:ea typeface="Arial"/>
                <a:cs typeface="Arial"/>
                <a:sym typeface="Arial"/>
              </a:rPr>
              <a:t>     </a:t>
            </a:r>
            <a:r>
              <a:rPr lang="en-US" sz="2200" err="1">
                <a:latin typeface="Arial"/>
                <a:ea typeface="Arial"/>
                <a:cs typeface="Arial"/>
                <a:sym typeface="Arial"/>
              </a:rPr>
              <a:t>thuận</a:t>
            </a:r>
            <a:r>
              <a:rPr lang="en-US" sz="2200">
                <a:latin typeface="Arial"/>
                <a:ea typeface="Arial"/>
                <a:cs typeface="Arial"/>
                <a:sym typeface="Arial"/>
              </a:rPr>
              <a:t> </a:t>
            </a:r>
            <a:r>
              <a:rPr lang="en-US" sz="2200" err="1">
                <a:latin typeface="Arial"/>
                <a:ea typeface="Arial"/>
                <a:cs typeface="Arial"/>
                <a:sym typeface="Arial"/>
              </a:rPr>
              <a:t>tiện</a:t>
            </a:r>
            <a:r>
              <a:rPr lang="en-US" sz="2200">
                <a:latin typeface="Arial"/>
                <a:ea typeface="Arial"/>
                <a:cs typeface="Arial"/>
                <a:sym typeface="Arial"/>
              </a:rPr>
              <a:t> </a:t>
            </a:r>
            <a:r>
              <a:rPr lang="en-US" sz="2200" err="1">
                <a:latin typeface="Arial"/>
                <a:ea typeface="Arial"/>
                <a:cs typeface="Arial"/>
                <a:sym typeface="Arial"/>
              </a:rPr>
              <a:t>trong</a:t>
            </a:r>
            <a:r>
              <a:rPr lang="en-US" sz="2200">
                <a:latin typeface="Arial"/>
                <a:ea typeface="Arial"/>
                <a:cs typeface="Arial"/>
                <a:sym typeface="Arial"/>
              </a:rPr>
              <a:t> </a:t>
            </a:r>
            <a:r>
              <a:rPr lang="en-US" sz="2200" err="1">
                <a:latin typeface="Arial"/>
                <a:ea typeface="Arial"/>
                <a:cs typeface="Arial"/>
                <a:sym typeface="Arial"/>
              </a:rPr>
              <a:t>việc</a:t>
            </a:r>
            <a:r>
              <a:rPr lang="en-US" sz="2200">
                <a:latin typeface="Arial"/>
                <a:ea typeface="Arial"/>
                <a:cs typeface="Arial"/>
                <a:sym typeface="Arial"/>
              </a:rPr>
              <a:t> </a:t>
            </a:r>
            <a:r>
              <a:rPr lang="en-US" sz="2200" err="1">
                <a:latin typeface="Arial"/>
                <a:ea typeface="Arial"/>
                <a:cs typeface="Arial"/>
                <a:sym typeface="Arial"/>
              </a:rPr>
              <a:t>mua</a:t>
            </a:r>
            <a:r>
              <a:rPr lang="en-US" sz="2200">
                <a:latin typeface="Arial"/>
                <a:ea typeface="Arial"/>
                <a:cs typeface="Arial"/>
                <a:sym typeface="Arial"/>
              </a:rPr>
              <a:t> </a:t>
            </a:r>
            <a:r>
              <a:rPr lang="en-US" sz="2200" err="1">
                <a:latin typeface="Arial"/>
                <a:ea typeface="Arial"/>
                <a:cs typeface="Arial"/>
                <a:sym typeface="Arial"/>
              </a:rPr>
              <a:t>bán</a:t>
            </a:r>
            <a:r>
              <a:rPr lang="en-US" sz="2200">
                <a:latin typeface="Arial"/>
                <a:ea typeface="Arial"/>
                <a:cs typeface="Arial"/>
                <a:sym typeface="Arial"/>
              </a:rPr>
              <a:t>, </a:t>
            </a:r>
            <a:r>
              <a:rPr lang="en-US" sz="2200" err="1">
                <a:latin typeface="Arial"/>
                <a:ea typeface="Arial"/>
                <a:cs typeface="Arial"/>
                <a:sym typeface="Arial"/>
              </a:rPr>
              <a:t>hợp</a:t>
            </a:r>
            <a:r>
              <a:rPr lang="en-US" sz="2200">
                <a:latin typeface="Arial"/>
                <a:ea typeface="Arial"/>
                <a:cs typeface="Arial"/>
                <a:sym typeface="Arial"/>
              </a:rPr>
              <a:t> </a:t>
            </a:r>
            <a:r>
              <a:rPr lang="en-US" sz="2200" err="1">
                <a:latin typeface="Arial"/>
                <a:ea typeface="Arial"/>
                <a:cs typeface="Arial"/>
                <a:sym typeface="Arial"/>
              </a:rPr>
              <a:t>tác</a:t>
            </a:r>
            <a:r>
              <a:rPr lang="en-US" sz="2200">
                <a:latin typeface="Arial"/>
                <a:ea typeface="Arial"/>
                <a:cs typeface="Arial"/>
                <a:sym typeface="Arial"/>
              </a:rPr>
              <a:t> </a:t>
            </a:r>
            <a:r>
              <a:rPr lang="en-US" sz="2200" err="1">
                <a:latin typeface="Arial"/>
                <a:ea typeface="Arial"/>
                <a:cs typeface="Arial"/>
                <a:sym typeface="Arial"/>
              </a:rPr>
              <a:t>giữa</a:t>
            </a:r>
            <a:r>
              <a:rPr lang="en-US" sz="2200">
                <a:latin typeface="Arial"/>
                <a:ea typeface="Arial"/>
                <a:cs typeface="Arial"/>
                <a:sym typeface="Arial"/>
              </a:rPr>
              <a:t> </a:t>
            </a:r>
            <a:r>
              <a:rPr lang="en-US" sz="2200" err="1">
                <a:latin typeface="Arial"/>
                <a:ea typeface="Arial"/>
                <a:cs typeface="Arial"/>
                <a:sym typeface="Arial"/>
              </a:rPr>
              <a:t>hai</a:t>
            </a:r>
            <a:r>
              <a:rPr lang="en-US" sz="2200">
                <a:latin typeface="Arial"/>
                <a:ea typeface="Arial"/>
                <a:cs typeface="Arial"/>
                <a:sym typeface="Arial"/>
              </a:rPr>
              <a:t> </a:t>
            </a:r>
            <a:r>
              <a:rPr lang="en-US" sz="2200" err="1">
                <a:latin typeface="Arial"/>
                <a:ea typeface="Arial"/>
                <a:cs typeface="Arial"/>
                <a:sym typeface="Arial"/>
              </a:rPr>
              <a:t>bên</a:t>
            </a:r>
            <a:r>
              <a:rPr lang="en-US" sz="2200">
                <a:latin typeface="Arial"/>
                <a:ea typeface="Arial"/>
                <a:cs typeface="Arial"/>
                <a:sym typeface="Arial"/>
              </a:rPr>
              <a:t>); </a:t>
            </a:r>
            <a:endParaRPr/>
          </a:p>
          <a:p>
            <a:pPr marL="530225" lvl="0" indent="-342900" algn="just" rtl="0">
              <a:lnSpc>
                <a:spcPct val="90000"/>
              </a:lnSpc>
              <a:spcBef>
                <a:spcPts val="1000"/>
              </a:spcBef>
              <a:spcAft>
                <a:spcPts val="0"/>
              </a:spcAft>
              <a:buSzPts val="1800"/>
              <a:buChar char="•"/>
            </a:pPr>
            <a:r>
              <a:rPr lang="en-US" sz="2200" err="1">
                <a:latin typeface="Arial"/>
                <a:ea typeface="Arial"/>
                <a:cs typeface="Arial"/>
                <a:sym typeface="Arial"/>
              </a:rPr>
              <a:t>Tiêu</a:t>
            </a:r>
            <a:r>
              <a:rPr lang="en-US" sz="2200">
                <a:latin typeface="Arial"/>
                <a:ea typeface="Arial"/>
                <a:cs typeface="Arial"/>
                <a:sym typeface="Arial"/>
              </a:rPr>
              <a:t> </a:t>
            </a:r>
            <a:r>
              <a:rPr lang="en-US" sz="2200" err="1">
                <a:latin typeface="Arial"/>
                <a:ea typeface="Arial"/>
                <a:cs typeface="Arial"/>
                <a:sym typeface="Arial"/>
              </a:rPr>
              <a:t>chuẩn</a:t>
            </a:r>
            <a:r>
              <a:rPr lang="en-US" sz="2200">
                <a:latin typeface="Arial"/>
                <a:ea typeface="Arial"/>
                <a:cs typeface="Arial"/>
                <a:sym typeface="Arial"/>
              </a:rPr>
              <a:t> </a:t>
            </a:r>
            <a:r>
              <a:rPr lang="en-US" sz="2200" err="1">
                <a:latin typeface="Arial"/>
                <a:ea typeface="Arial"/>
                <a:cs typeface="Arial"/>
                <a:sym typeface="Arial"/>
              </a:rPr>
              <a:t>thích</a:t>
            </a:r>
            <a:r>
              <a:rPr lang="en-US" sz="2200">
                <a:latin typeface="Arial"/>
                <a:ea typeface="Arial"/>
                <a:cs typeface="Arial"/>
                <a:sym typeface="Arial"/>
              </a:rPr>
              <a:t> </a:t>
            </a:r>
            <a:r>
              <a:rPr lang="en-US" sz="2200" err="1">
                <a:latin typeface="Arial"/>
                <a:ea typeface="Arial"/>
                <a:cs typeface="Arial"/>
                <a:sym typeface="Arial"/>
              </a:rPr>
              <a:t>nghi</a:t>
            </a:r>
            <a:r>
              <a:rPr lang="en-US" sz="2200">
                <a:latin typeface="Arial"/>
                <a:ea typeface="Arial"/>
                <a:cs typeface="Arial"/>
                <a:sym typeface="Arial"/>
              </a:rPr>
              <a:t> (</a:t>
            </a:r>
            <a:r>
              <a:rPr lang="en-US" sz="2200" err="1">
                <a:latin typeface="Arial"/>
                <a:ea typeface="Arial"/>
                <a:cs typeface="Arial"/>
                <a:sym typeface="Arial"/>
              </a:rPr>
              <a:t>thích</a:t>
            </a:r>
            <a:r>
              <a:rPr lang="en-US" sz="2200">
                <a:latin typeface="Arial"/>
                <a:ea typeface="Arial"/>
                <a:cs typeface="Arial"/>
                <a:sym typeface="Arial"/>
              </a:rPr>
              <a:t> </a:t>
            </a:r>
            <a:r>
              <a:rPr lang="en-US" sz="2200" err="1">
                <a:latin typeface="Arial"/>
                <a:ea typeface="Arial"/>
                <a:cs typeface="Arial"/>
                <a:sym typeface="Arial"/>
              </a:rPr>
              <a:t>ứng</a:t>
            </a:r>
            <a:r>
              <a:rPr lang="en-US" sz="2200">
                <a:latin typeface="Arial"/>
                <a:ea typeface="Arial"/>
                <a:cs typeface="Arial"/>
                <a:sym typeface="Arial"/>
              </a:rPr>
              <a:t> </a:t>
            </a:r>
            <a:r>
              <a:rPr lang="en-US" sz="2200" err="1">
                <a:latin typeface="Arial"/>
                <a:ea typeface="Arial"/>
                <a:cs typeface="Arial"/>
                <a:sym typeface="Arial"/>
              </a:rPr>
              <a:t>của</a:t>
            </a:r>
            <a:r>
              <a:rPr lang="en-US" sz="2200">
                <a:latin typeface="Arial"/>
                <a:ea typeface="Arial"/>
                <a:cs typeface="Arial"/>
                <a:sym typeface="Arial"/>
              </a:rPr>
              <a:t> </a:t>
            </a:r>
            <a:r>
              <a:rPr lang="en-US" sz="2200" err="1">
                <a:latin typeface="Arial"/>
                <a:ea typeface="Arial"/>
                <a:cs typeface="Arial"/>
                <a:sym typeface="Arial"/>
              </a:rPr>
              <a:t>người</a:t>
            </a:r>
            <a:r>
              <a:rPr lang="en-US" sz="2200">
                <a:latin typeface="Arial"/>
                <a:ea typeface="Arial"/>
                <a:cs typeface="Arial"/>
                <a:sym typeface="Arial"/>
              </a:rPr>
              <a:t> </a:t>
            </a:r>
            <a:r>
              <a:rPr lang="en-US" sz="2200" err="1">
                <a:latin typeface="Arial"/>
                <a:ea typeface="Arial"/>
                <a:cs typeface="Arial"/>
                <a:sym typeface="Arial"/>
              </a:rPr>
              <a:t>cung</a:t>
            </a:r>
            <a:r>
              <a:rPr lang="en-US" sz="2200">
                <a:latin typeface="Arial"/>
                <a:ea typeface="Arial"/>
                <a:cs typeface="Arial"/>
                <a:sym typeface="Arial"/>
              </a:rPr>
              <a:t> </a:t>
            </a:r>
            <a:r>
              <a:rPr lang="en-US" sz="2200" err="1">
                <a:latin typeface="Arial"/>
                <a:ea typeface="Arial"/>
                <a:cs typeface="Arial"/>
                <a:sym typeface="Arial"/>
              </a:rPr>
              <a:t>ứng</a:t>
            </a:r>
            <a:r>
              <a:rPr lang="en-US" sz="2200">
                <a:latin typeface="Arial"/>
                <a:ea typeface="Arial"/>
                <a:cs typeface="Arial"/>
                <a:sym typeface="Arial"/>
              </a:rPr>
              <a:t> </a:t>
            </a:r>
            <a:r>
              <a:rPr lang="en-US" sz="2200" err="1">
                <a:latin typeface="Arial"/>
                <a:ea typeface="Arial"/>
                <a:cs typeface="Arial"/>
                <a:sym typeface="Arial"/>
              </a:rPr>
              <a:t>với</a:t>
            </a:r>
            <a:r>
              <a:rPr lang="en-US" sz="2200">
                <a:latin typeface="Arial"/>
                <a:ea typeface="Arial"/>
                <a:cs typeface="Arial"/>
                <a:sym typeface="Arial"/>
              </a:rPr>
              <a:t> </a:t>
            </a:r>
            <a:r>
              <a:rPr lang="en-US" sz="2200" err="1">
                <a:latin typeface="Arial"/>
                <a:ea typeface="Arial"/>
                <a:cs typeface="Arial"/>
                <a:sym typeface="Arial"/>
              </a:rPr>
              <a:t>những</a:t>
            </a:r>
            <a:r>
              <a:rPr lang="en-US" sz="2200">
                <a:latin typeface="Arial"/>
                <a:ea typeface="Arial"/>
                <a:cs typeface="Arial"/>
                <a:sym typeface="Arial"/>
              </a:rPr>
              <a:t> </a:t>
            </a:r>
            <a:r>
              <a:rPr lang="en-US" sz="2200" err="1">
                <a:latin typeface="Arial"/>
                <a:ea typeface="Arial"/>
                <a:cs typeface="Arial"/>
                <a:sym typeface="Arial"/>
              </a:rPr>
              <a:t>thay</a:t>
            </a:r>
            <a:r>
              <a:rPr lang="en-US" sz="2200">
                <a:latin typeface="Arial"/>
                <a:ea typeface="Arial"/>
                <a:cs typeface="Arial"/>
                <a:sym typeface="Arial"/>
              </a:rPr>
              <a:t> </a:t>
            </a:r>
            <a:r>
              <a:rPr lang="en-US" sz="2200" err="1">
                <a:latin typeface="Arial"/>
                <a:ea typeface="Arial"/>
                <a:cs typeface="Arial"/>
                <a:sym typeface="Arial"/>
              </a:rPr>
              <a:t>đổi</a:t>
            </a:r>
            <a:r>
              <a:rPr lang="en-US" sz="2200">
                <a:latin typeface="Arial"/>
                <a:ea typeface="Arial"/>
                <a:cs typeface="Arial"/>
                <a:sym typeface="Arial"/>
              </a:rPr>
              <a:t> </a:t>
            </a:r>
            <a:r>
              <a:rPr lang="en-US" sz="2200" err="1">
                <a:latin typeface="Arial"/>
                <a:ea typeface="Arial"/>
                <a:cs typeface="Arial"/>
                <a:sym typeface="Arial"/>
              </a:rPr>
              <a:t>về</a:t>
            </a:r>
            <a:r>
              <a:rPr lang="en-US" sz="2200">
                <a:latin typeface="Arial"/>
                <a:ea typeface="Arial"/>
                <a:cs typeface="Arial"/>
                <a:sym typeface="Arial"/>
              </a:rPr>
              <a:t> </a:t>
            </a:r>
            <a:r>
              <a:rPr lang="en-US" sz="2200" err="1">
                <a:latin typeface="Arial"/>
                <a:ea typeface="Arial"/>
                <a:cs typeface="Arial"/>
                <a:sym typeface="Arial"/>
              </a:rPr>
              <a:t>cầu</a:t>
            </a:r>
            <a:r>
              <a:rPr lang="en-US" sz="2200">
                <a:latin typeface="Arial"/>
                <a:ea typeface="Arial"/>
                <a:cs typeface="Arial"/>
                <a:sym typeface="Arial"/>
              </a:rPr>
              <a:t> </a:t>
            </a:r>
            <a:r>
              <a:rPr lang="en-US" sz="2200" err="1">
                <a:latin typeface="Arial"/>
                <a:ea typeface="Arial"/>
                <a:cs typeface="Arial"/>
                <a:sym typeface="Arial"/>
              </a:rPr>
              <a:t>của</a:t>
            </a:r>
            <a:r>
              <a:rPr lang="en-US" sz="2200">
                <a:latin typeface="Arial"/>
                <a:ea typeface="Arial"/>
                <a:cs typeface="Arial"/>
                <a:sym typeface="Arial"/>
              </a:rPr>
              <a:t> </a:t>
            </a:r>
            <a:r>
              <a:rPr lang="en-US" sz="2200" err="1">
                <a:latin typeface="Arial"/>
                <a:ea typeface="Arial"/>
                <a:cs typeface="Arial"/>
                <a:sym typeface="Arial"/>
              </a:rPr>
              <a:t>người</a:t>
            </a:r>
            <a:r>
              <a:rPr lang="en-US" sz="2200">
                <a:latin typeface="Arial"/>
                <a:ea typeface="Arial"/>
                <a:cs typeface="Arial"/>
                <a:sym typeface="Arial"/>
              </a:rPr>
              <a:t> </a:t>
            </a:r>
            <a:r>
              <a:rPr lang="en-US" sz="2200" err="1">
                <a:latin typeface="Arial"/>
                <a:ea typeface="Arial"/>
                <a:cs typeface="Arial"/>
                <a:sym typeface="Arial"/>
              </a:rPr>
              <a:t>mua</a:t>
            </a:r>
            <a:r>
              <a:rPr lang="en-US" sz="2200">
                <a:latin typeface="Arial"/>
                <a:ea typeface="Arial"/>
                <a:cs typeface="Arial"/>
                <a:sym typeface="Arial"/>
              </a:rPr>
              <a:t>); </a:t>
            </a:r>
          </a:p>
          <a:p>
            <a:pPr marL="530225" lvl="0" indent="-342900" algn="just" rtl="0">
              <a:lnSpc>
                <a:spcPct val="90000"/>
              </a:lnSpc>
              <a:spcBef>
                <a:spcPts val="1000"/>
              </a:spcBef>
              <a:spcAft>
                <a:spcPts val="0"/>
              </a:spcAft>
              <a:buSzPts val="1800"/>
              <a:buChar char="•"/>
            </a:pPr>
            <a:r>
              <a:rPr lang="en-US" sz="2200" err="1">
                <a:latin typeface="Arial"/>
                <a:ea typeface="Arial"/>
                <a:cs typeface="Arial"/>
                <a:sym typeface="Arial"/>
              </a:rPr>
              <a:t>Tiêu</a:t>
            </a:r>
            <a:r>
              <a:rPr lang="en-US" sz="2200">
                <a:latin typeface="Arial"/>
                <a:ea typeface="Arial"/>
                <a:cs typeface="Arial"/>
                <a:sym typeface="Arial"/>
              </a:rPr>
              <a:t> </a:t>
            </a:r>
            <a:r>
              <a:rPr lang="en-US" sz="2200" err="1">
                <a:latin typeface="Arial"/>
                <a:ea typeface="Arial"/>
                <a:cs typeface="Arial"/>
                <a:sym typeface="Arial"/>
              </a:rPr>
              <a:t>chuẩn</a:t>
            </a:r>
            <a:r>
              <a:rPr lang="en-US" sz="2200">
                <a:latin typeface="Arial"/>
                <a:ea typeface="Arial"/>
                <a:cs typeface="Arial"/>
                <a:sym typeface="Arial"/>
              </a:rPr>
              <a:t> </a:t>
            </a:r>
            <a:r>
              <a:rPr lang="en-US" sz="2200" err="1">
                <a:latin typeface="Arial"/>
                <a:ea typeface="Arial"/>
                <a:cs typeface="Arial"/>
                <a:sym typeface="Arial"/>
              </a:rPr>
              <a:t>pháp</a:t>
            </a:r>
            <a:r>
              <a:rPr lang="en-US" sz="2200">
                <a:latin typeface="Arial"/>
                <a:ea typeface="Arial"/>
                <a:cs typeface="Arial"/>
                <a:sym typeface="Arial"/>
              </a:rPr>
              <a:t> </a:t>
            </a:r>
            <a:r>
              <a:rPr lang="en-US" sz="2200" err="1">
                <a:latin typeface="Arial"/>
                <a:ea typeface="Arial"/>
                <a:cs typeface="Arial"/>
                <a:sym typeface="Arial"/>
              </a:rPr>
              <a:t>lý</a:t>
            </a:r>
            <a:r>
              <a:rPr lang="en-US" sz="2200">
                <a:latin typeface="Arial"/>
                <a:ea typeface="Arial"/>
                <a:cs typeface="Arial"/>
                <a:sym typeface="Arial"/>
              </a:rPr>
              <a:t> (</a:t>
            </a:r>
            <a:r>
              <a:rPr lang="en-US" sz="2200" err="1">
                <a:latin typeface="Arial"/>
                <a:ea typeface="Arial"/>
                <a:cs typeface="Arial"/>
                <a:sym typeface="Arial"/>
              </a:rPr>
              <a:t>ràng</a:t>
            </a:r>
            <a:r>
              <a:rPr lang="en-US" sz="2200">
                <a:latin typeface="Arial"/>
                <a:ea typeface="Arial"/>
                <a:cs typeface="Arial"/>
                <a:sym typeface="Arial"/>
              </a:rPr>
              <a:t> </a:t>
            </a:r>
            <a:r>
              <a:rPr lang="en-US" sz="2200" err="1">
                <a:latin typeface="Arial"/>
                <a:ea typeface="Arial"/>
                <a:cs typeface="Arial"/>
                <a:sym typeface="Arial"/>
              </a:rPr>
              <a:t>buộc</a:t>
            </a:r>
            <a:r>
              <a:rPr lang="en-US" sz="2200">
                <a:latin typeface="Arial"/>
                <a:ea typeface="Arial"/>
                <a:cs typeface="Arial"/>
                <a:sym typeface="Arial"/>
              </a:rPr>
              <a:t> </a:t>
            </a:r>
            <a:r>
              <a:rPr lang="en-US" sz="2200" err="1">
                <a:latin typeface="Arial"/>
                <a:ea typeface="Arial"/>
                <a:cs typeface="Arial"/>
                <a:sym typeface="Arial"/>
              </a:rPr>
              <a:t>về</a:t>
            </a:r>
            <a:r>
              <a:rPr lang="en-US" sz="2200">
                <a:latin typeface="Arial"/>
                <a:ea typeface="Arial"/>
                <a:cs typeface="Arial"/>
                <a:sym typeface="Arial"/>
              </a:rPr>
              <a:t> </a:t>
            </a:r>
            <a:r>
              <a:rPr lang="en-US" sz="2200" err="1">
                <a:latin typeface="Arial"/>
                <a:ea typeface="Arial"/>
                <a:cs typeface="Arial"/>
                <a:sym typeface="Arial"/>
              </a:rPr>
              <a:t>pháp</a:t>
            </a:r>
            <a:r>
              <a:rPr lang="en-US" sz="2200">
                <a:latin typeface="Arial"/>
                <a:ea typeface="Arial"/>
                <a:cs typeface="Arial"/>
                <a:sym typeface="Arial"/>
              </a:rPr>
              <a:t> </a:t>
            </a:r>
            <a:r>
              <a:rPr lang="en-US" sz="2200" err="1">
                <a:latin typeface="Arial"/>
                <a:ea typeface="Arial"/>
                <a:cs typeface="Arial"/>
                <a:sym typeface="Arial"/>
              </a:rPr>
              <a:t>luật</a:t>
            </a:r>
            <a:r>
              <a:rPr lang="en-US" sz="2200">
                <a:latin typeface="Arial"/>
                <a:ea typeface="Arial"/>
                <a:cs typeface="Arial"/>
                <a:sym typeface="Arial"/>
              </a:rPr>
              <a:t> </a:t>
            </a:r>
            <a:r>
              <a:rPr lang="en-US" sz="2200" err="1">
                <a:latin typeface="Arial"/>
                <a:ea typeface="Arial"/>
                <a:cs typeface="Arial"/>
                <a:sym typeface="Arial"/>
              </a:rPr>
              <a:t>cần</a:t>
            </a:r>
            <a:r>
              <a:rPr lang="en-US" sz="2200">
                <a:latin typeface="Arial"/>
                <a:ea typeface="Arial"/>
                <a:cs typeface="Arial"/>
                <a:sym typeface="Arial"/>
              </a:rPr>
              <a:t> </a:t>
            </a:r>
            <a:r>
              <a:rPr lang="en-US" sz="2200" err="1">
                <a:latin typeface="Arial"/>
                <a:ea typeface="Arial"/>
                <a:cs typeface="Arial"/>
                <a:sym typeface="Arial"/>
              </a:rPr>
              <a:t>được</a:t>
            </a:r>
            <a:r>
              <a:rPr lang="en-US" sz="2200">
                <a:latin typeface="Arial"/>
                <a:ea typeface="Arial"/>
                <a:cs typeface="Arial"/>
                <a:sym typeface="Arial"/>
              </a:rPr>
              <a:t> </a:t>
            </a:r>
            <a:r>
              <a:rPr lang="en-US" sz="2200" err="1">
                <a:latin typeface="Arial"/>
                <a:ea typeface="Arial"/>
                <a:cs typeface="Arial"/>
                <a:sym typeface="Arial"/>
              </a:rPr>
              <a:t>xem</a:t>
            </a:r>
            <a:r>
              <a:rPr lang="en-US" sz="2200">
                <a:latin typeface="Arial"/>
                <a:ea typeface="Arial"/>
                <a:cs typeface="Arial"/>
                <a:sym typeface="Arial"/>
              </a:rPr>
              <a:t> </a:t>
            </a:r>
            <a:r>
              <a:rPr lang="en-US" sz="2200" err="1">
                <a:latin typeface="Arial"/>
                <a:ea typeface="Arial"/>
                <a:cs typeface="Arial"/>
                <a:sym typeface="Arial"/>
              </a:rPr>
              <a:t>xét</a:t>
            </a:r>
            <a:r>
              <a:rPr lang="en-US" sz="2200">
                <a:latin typeface="Arial"/>
                <a:ea typeface="Arial"/>
                <a:cs typeface="Arial"/>
                <a:sym typeface="Arial"/>
              </a:rPr>
              <a:t>)</a:t>
            </a:r>
            <a:endParaRPr sz="2200">
              <a:latin typeface="Arial"/>
              <a:ea typeface="Arial"/>
              <a:cs typeface="Arial"/>
              <a:sym typeface="Arial"/>
            </a:endParaRPr>
          </a:p>
          <a:p>
            <a:pPr marL="457200" lvl="0" indent="-228600" algn="l" rtl="0">
              <a:lnSpc>
                <a:spcPct val="90000"/>
              </a:lnSpc>
              <a:spcBef>
                <a:spcPts val="1000"/>
              </a:spcBef>
              <a:spcAft>
                <a:spcPts val="0"/>
              </a:spcAft>
              <a:buClr>
                <a:schemeClr val="dk1"/>
              </a:buClr>
              <a:buSzPts val="1800"/>
              <a:buNone/>
            </a:pPr>
            <a:endParaRPr sz="2200"/>
          </a:p>
        </p:txBody>
      </p:sp>
      <p:graphicFrame>
        <p:nvGraphicFramePr>
          <p:cNvPr id="3281" name="Google Shape;3281;p418"/>
          <p:cNvGraphicFramePr/>
          <p:nvPr/>
        </p:nvGraphicFramePr>
        <p:xfrm>
          <a:off x="5589270" y="1489641"/>
          <a:ext cx="6139417" cy="5017155"/>
        </p:xfrm>
        <a:graphic>
          <a:graphicData uri="http://schemas.openxmlformats.org/drawingml/2006/table">
            <a:tbl>
              <a:tblPr firstRow="1" bandRow="1">
                <a:noFill/>
              </a:tblPr>
              <a:tblGrid>
                <a:gridCol w="1496168">
                  <a:extLst>
                    <a:ext uri="{9D8B030D-6E8A-4147-A177-3AD203B41FA5}">
                      <a16:colId xmlns:a16="http://schemas.microsoft.com/office/drawing/2014/main" val="20000"/>
                    </a:ext>
                  </a:extLst>
                </a:gridCol>
                <a:gridCol w="769705">
                  <a:extLst>
                    <a:ext uri="{9D8B030D-6E8A-4147-A177-3AD203B41FA5}">
                      <a16:colId xmlns:a16="http://schemas.microsoft.com/office/drawing/2014/main" val="20001"/>
                    </a:ext>
                  </a:extLst>
                </a:gridCol>
                <a:gridCol w="1340894">
                  <a:extLst>
                    <a:ext uri="{9D8B030D-6E8A-4147-A177-3AD203B41FA5}">
                      <a16:colId xmlns:a16="http://schemas.microsoft.com/office/drawing/2014/main" val="20002"/>
                    </a:ext>
                  </a:extLst>
                </a:gridCol>
                <a:gridCol w="1342005">
                  <a:extLst>
                    <a:ext uri="{9D8B030D-6E8A-4147-A177-3AD203B41FA5}">
                      <a16:colId xmlns:a16="http://schemas.microsoft.com/office/drawing/2014/main" val="20003"/>
                    </a:ext>
                  </a:extLst>
                </a:gridCol>
                <a:gridCol w="1190645">
                  <a:extLst>
                    <a:ext uri="{9D8B030D-6E8A-4147-A177-3AD203B41FA5}">
                      <a16:colId xmlns:a16="http://schemas.microsoft.com/office/drawing/2014/main" val="20004"/>
                    </a:ext>
                  </a:extLst>
                </a:gridCol>
              </a:tblGrid>
              <a:tr h="588917">
                <a:tc rowSpan="2">
                  <a:txBody>
                    <a:bodyPr/>
                    <a:lstStyle/>
                    <a:p>
                      <a:pPr marL="462915" marR="0" lvl="0" indent="0" algn="l" rtl="0">
                        <a:lnSpc>
                          <a:spcPct val="100000"/>
                        </a:lnSpc>
                        <a:spcBef>
                          <a:spcPts val="0"/>
                        </a:spcBef>
                        <a:spcAft>
                          <a:spcPts val="0"/>
                        </a:spcAft>
                        <a:buNone/>
                      </a:pPr>
                      <a:endParaRPr sz="2000" b="1" u="none" strike="noStrike" cap="none">
                        <a:latin typeface="Arial"/>
                        <a:ea typeface="Arial"/>
                        <a:cs typeface="Arial"/>
                        <a:sym typeface="Arial"/>
                      </a:endParaRPr>
                    </a:p>
                    <a:p>
                      <a:pPr marL="462915" marR="0" lvl="0" indent="0" algn="l" rtl="0">
                        <a:lnSpc>
                          <a:spcPct val="100000"/>
                        </a:lnSpc>
                        <a:spcBef>
                          <a:spcPts val="80"/>
                        </a:spcBef>
                        <a:spcAft>
                          <a:spcPts val="0"/>
                        </a:spcAft>
                        <a:buNone/>
                      </a:pPr>
                      <a:r>
                        <a:rPr lang="en-US" sz="2000" b="1" u="none" strike="noStrike" cap="none">
                          <a:latin typeface="Arial"/>
                          <a:ea typeface="Arial"/>
                          <a:cs typeface="Arial"/>
                          <a:sym typeface="Arial"/>
                        </a:rPr>
                        <a:t>Các tiêu chuẩn</a:t>
                      </a:r>
                      <a:endParaRPr sz="2000" u="none" strike="noStrike" cap="none">
                        <a:latin typeface="Arial"/>
                        <a:ea typeface="Arial"/>
                        <a:cs typeface="Arial"/>
                        <a:sym typeface="Arial"/>
                      </a:endParaRPr>
                    </a:p>
                  </a:txBody>
                  <a:tcPr marL="0" marR="0" marT="10150" marB="0">
                    <a:lnL w="1905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rowSpan="2">
                  <a:txBody>
                    <a:bodyPr/>
                    <a:lstStyle/>
                    <a:p>
                      <a:pPr marL="11430" marR="0" lvl="0" indent="0" algn="ctr" rtl="0">
                        <a:lnSpc>
                          <a:spcPct val="100000"/>
                        </a:lnSpc>
                        <a:spcBef>
                          <a:spcPts val="0"/>
                        </a:spcBef>
                        <a:spcAft>
                          <a:spcPts val="0"/>
                        </a:spcAft>
                        <a:buNone/>
                      </a:pPr>
                      <a:r>
                        <a:rPr lang="en-US" sz="2000" b="1" u="none" strike="noStrike" cap="none">
                          <a:latin typeface="Arial"/>
                          <a:ea typeface="Arial"/>
                          <a:cs typeface="Arial"/>
                          <a:sym typeface="Arial"/>
                        </a:rPr>
                        <a:t>Trọng</a:t>
                      </a:r>
                      <a:endParaRPr sz="2000" u="none" strike="noStrike" cap="none">
                        <a:latin typeface="Arial"/>
                        <a:ea typeface="Arial"/>
                        <a:cs typeface="Arial"/>
                        <a:sym typeface="Arial"/>
                      </a:endParaRPr>
                    </a:p>
                    <a:p>
                      <a:pPr marL="11430" marR="0" lvl="0" indent="0" algn="ctr" rtl="0">
                        <a:lnSpc>
                          <a:spcPct val="100000"/>
                        </a:lnSpc>
                        <a:spcBef>
                          <a:spcPts val="290"/>
                        </a:spcBef>
                        <a:spcAft>
                          <a:spcPts val="0"/>
                        </a:spcAft>
                        <a:buNone/>
                      </a:pPr>
                      <a:r>
                        <a:rPr lang="en-US" sz="2000" b="1" u="none" strike="noStrike" cap="none">
                          <a:latin typeface="Arial"/>
                          <a:ea typeface="Arial"/>
                          <a:cs typeface="Arial"/>
                          <a:sym typeface="Arial"/>
                        </a:rPr>
                        <a:t>số</a:t>
                      </a:r>
                      <a:endParaRPr sz="2000" u="none" strike="noStrike" cap="none">
                        <a:latin typeface="Arial"/>
                        <a:ea typeface="Arial"/>
                        <a:cs typeface="Arial"/>
                        <a:sym typeface="Arial"/>
                      </a:endParaRPr>
                    </a:p>
                  </a:txBody>
                  <a:tcPr marL="0" marR="0" marT="101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gridSpan="3">
                  <a:txBody>
                    <a:bodyPr/>
                    <a:lstStyle/>
                    <a:p>
                      <a:pPr marL="1146810" marR="0" lvl="0" indent="0" algn="l" rtl="0">
                        <a:lnSpc>
                          <a:spcPct val="100000"/>
                        </a:lnSpc>
                        <a:spcBef>
                          <a:spcPts val="0"/>
                        </a:spcBef>
                        <a:spcAft>
                          <a:spcPts val="0"/>
                        </a:spcAft>
                        <a:buNone/>
                      </a:pPr>
                      <a:r>
                        <a:rPr lang="en-US" sz="2000" b="1" u="none" strike="noStrike" cap="none">
                          <a:latin typeface="Arial"/>
                          <a:ea typeface="Arial"/>
                          <a:cs typeface="Arial"/>
                          <a:sym typeface="Arial"/>
                        </a:rPr>
                        <a:t>Cho điểm các nhà cung cấp (từ 1-5)</a:t>
                      </a:r>
                      <a:endParaRPr sz="2000" u="none" strike="noStrike" cap="none">
                        <a:latin typeface="Arial"/>
                        <a:ea typeface="Arial"/>
                        <a:cs typeface="Arial"/>
                        <a:sym typeface="Arial"/>
                      </a:endParaRPr>
                    </a:p>
                  </a:txBody>
                  <a:tcPr marL="0" marR="0" marT="10150" marB="0">
                    <a:lnL w="1270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vi-VN"/>
                    </a:p>
                  </a:txBody>
                  <a:tcPr/>
                </a:tc>
                <a:tc hMerge="1">
                  <a:txBody>
                    <a:bodyPr/>
                    <a:lstStyle/>
                    <a:p>
                      <a:endParaRPr lang="vi-VN"/>
                    </a:p>
                  </a:txBody>
                  <a:tcPr/>
                </a:tc>
                <a:extLst>
                  <a:ext uri="{0D108BD9-81ED-4DB2-BD59-A6C34878D82A}">
                    <a16:rowId xmlns:a16="http://schemas.microsoft.com/office/drawing/2014/main" val="10000"/>
                  </a:ext>
                </a:extLst>
              </a:tr>
              <a:tr h="890621">
                <a:tc vMerge="1">
                  <a:txBody>
                    <a:bodyPr/>
                    <a:lstStyle/>
                    <a:p>
                      <a:endParaRPr lang="vi-VN"/>
                    </a:p>
                  </a:txBody>
                  <a:tcPr/>
                </a:tc>
                <a:tc vMerge="1">
                  <a:txBody>
                    <a:bodyPr/>
                    <a:lstStyle/>
                    <a:p>
                      <a:endParaRPr lang="vi-VN"/>
                    </a:p>
                  </a:txBody>
                  <a:tcPr/>
                </a:tc>
                <a:tc>
                  <a:txBody>
                    <a:bodyPr/>
                    <a:lstStyle/>
                    <a:p>
                      <a:pPr marL="17145" marR="0" lvl="0" indent="0" algn="ctr" rtl="0">
                        <a:lnSpc>
                          <a:spcPct val="100000"/>
                        </a:lnSpc>
                        <a:spcBef>
                          <a:spcPts val="0"/>
                        </a:spcBef>
                        <a:spcAft>
                          <a:spcPts val="0"/>
                        </a:spcAft>
                        <a:buNone/>
                      </a:pPr>
                      <a:r>
                        <a:rPr lang="en-US" sz="2000" b="1" u="none" strike="noStrike" cap="none">
                          <a:latin typeface="Arial"/>
                          <a:ea typeface="Arial"/>
                          <a:cs typeface="Arial"/>
                          <a:sym typeface="Arial"/>
                        </a:rPr>
                        <a:t>Nhà </a:t>
                      </a:r>
                      <a:endParaRPr sz="2000" b="1" u="none" strike="noStrike" cap="none">
                        <a:latin typeface="Arial"/>
                        <a:ea typeface="Arial"/>
                        <a:cs typeface="Arial"/>
                        <a:sym typeface="Arial"/>
                      </a:endParaRPr>
                    </a:p>
                    <a:p>
                      <a:pPr marL="17145" marR="0" lvl="0" indent="0" algn="ctr" rtl="0">
                        <a:lnSpc>
                          <a:spcPct val="100000"/>
                        </a:lnSpc>
                        <a:spcBef>
                          <a:spcPts val="80"/>
                        </a:spcBef>
                        <a:spcAft>
                          <a:spcPts val="0"/>
                        </a:spcAft>
                        <a:buNone/>
                      </a:pPr>
                      <a:r>
                        <a:rPr lang="en-US" sz="2000" b="1" u="none" strike="noStrike" cap="none">
                          <a:latin typeface="Arial"/>
                          <a:ea typeface="Arial"/>
                          <a:cs typeface="Arial"/>
                          <a:sym typeface="Arial"/>
                        </a:rPr>
                        <a:t>cung cấp A</a:t>
                      </a:r>
                      <a:endParaRPr sz="2000" u="none" strike="noStrike" cap="none">
                        <a:latin typeface="Arial"/>
                        <a:ea typeface="Arial"/>
                        <a:cs typeface="Arial"/>
                        <a:sym typeface="Arial"/>
                      </a:endParaRPr>
                    </a:p>
                  </a:txBody>
                  <a:tcPr marL="0" marR="0" marT="101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0160" marR="0" lvl="0" indent="0" algn="ctr" rtl="0">
                        <a:lnSpc>
                          <a:spcPct val="100000"/>
                        </a:lnSpc>
                        <a:spcBef>
                          <a:spcPts val="0"/>
                        </a:spcBef>
                        <a:spcAft>
                          <a:spcPts val="0"/>
                        </a:spcAft>
                        <a:buNone/>
                      </a:pPr>
                      <a:r>
                        <a:rPr lang="en-US" sz="2000" b="1" u="none" strike="noStrike" cap="none">
                          <a:latin typeface="Arial"/>
                          <a:ea typeface="Arial"/>
                          <a:cs typeface="Arial"/>
                          <a:sym typeface="Arial"/>
                        </a:rPr>
                        <a:t>Nhà </a:t>
                      </a:r>
                      <a:endParaRPr sz="2000" b="1" u="none" strike="noStrike" cap="none">
                        <a:latin typeface="Arial"/>
                        <a:ea typeface="Arial"/>
                        <a:cs typeface="Arial"/>
                        <a:sym typeface="Arial"/>
                      </a:endParaRPr>
                    </a:p>
                    <a:p>
                      <a:pPr marL="10160" marR="0" lvl="0" indent="0" algn="ctr" rtl="0">
                        <a:lnSpc>
                          <a:spcPct val="100000"/>
                        </a:lnSpc>
                        <a:spcBef>
                          <a:spcPts val="80"/>
                        </a:spcBef>
                        <a:spcAft>
                          <a:spcPts val="0"/>
                        </a:spcAft>
                        <a:buNone/>
                      </a:pPr>
                      <a:r>
                        <a:rPr lang="en-US" sz="2000" b="1" u="none" strike="noStrike" cap="none">
                          <a:latin typeface="Arial"/>
                          <a:ea typeface="Arial"/>
                          <a:cs typeface="Arial"/>
                          <a:sym typeface="Arial"/>
                        </a:rPr>
                        <a:t>cung cấp B</a:t>
                      </a:r>
                      <a:endParaRPr sz="2000" u="none" strike="noStrike" cap="none">
                        <a:latin typeface="Arial"/>
                        <a:ea typeface="Arial"/>
                        <a:cs typeface="Arial"/>
                        <a:sym typeface="Arial"/>
                      </a:endParaRPr>
                    </a:p>
                  </a:txBody>
                  <a:tcPr marL="0" marR="0" marT="10150" marB="0">
                    <a:lnL w="1270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0795" marR="0" lvl="0" indent="0" algn="ctr" rtl="0">
                        <a:lnSpc>
                          <a:spcPct val="100000"/>
                        </a:lnSpc>
                        <a:spcBef>
                          <a:spcPts val="0"/>
                        </a:spcBef>
                        <a:spcAft>
                          <a:spcPts val="0"/>
                        </a:spcAft>
                        <a:buNone/>
                      </a:pPr>
                      <a:r>
                        <a:rPr lang="en-US" sz="2000" b="1" u="none" strike="noStrike" cap="none">
                          <a:latin typeface="Arial"/>
                          <a:ea typeface="Arial"/>
                          <a:cs typeface="Arial"/>
                          <a:sym typeface="Arial"/>
                        </a:rPr>
                        <a:t>Nhà cung cấp C</a:t>
                      </a:r>
                      <a:endParaRPr sz="2000" u="none" strike="noStrike" cap="none">
                        <a:latin typeface="Arial"/>
                        <a:ea typeface="Arial"/>
                        <a:cs typeface="Arial"/>
                        <a:sym typeface="Arial"/>
                      </a:endParaRPr>
                    </a:p>
                  </a:txBody>
                  <a:tcPr marL="0" marR="0" marT="1015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88917">
                <a:tc>
                  <a:txBody>
                    <a:bodyPr/>
                    <a:lstStyle/>
                    <a:p>
                      <a:pPr marL="75565" marR="0" lvl="0" indent="0" algn="l" rtl="0">
                        <a:lnSpc>
                          <a:spcPct val="100000"/>
                        </a:lnSpc>
                        <a:spcBef>
                          <a:spcPts val="0"/>
                        </a:spcBef>
                        <a:spcAft>
                          <a:spcPts val="0"/>
                        </a:spcAft>
                        <a:buNone/>
                      </a:pPr>
                      <a:r>
                        <a:rPr lang="en-US" sz="2000" u="none" strike="noStrike" cap="none">
                          <a:latin typeface="Arial"/>
                          <a:ea typeface="Arial"/>
                          <a:cs typeface="Arial"/>
                          <a:sym typeface="Arial"/>
                        </a:rPr>
                        <a:t>Tiêu chuẩn hiệu suất</a:t>
                      </a:r>
                      <a:endParaRPr sz="2000" u="none" strike="noStrike" cap="none">
                        <a:latin typeface="Arial"/>
                        <a:ea typeface="Arial"/>
                        <a:cs typeface="Arial"/>
                        <a:sym typeface="Arial"/>
                      </a:endParaRPr>
                    </a:p>
                  </a:txBody>
                  <a:tcPr marL="0" marR="0" marT="10150" marB="0">
                    <a:lnL w="1905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6985" marR="0" lvl="0" indent="0" algn="ctr" rtl="0">
                        <a:lnSpc>
                          <a:spcPct val="100000"/>
                        </a:lnSpc>
                        <a:spcBef>
                          <a:spcPts val="0"/>
                        </a:spcBef>
                        <a:spcAft>
                          <a:spcPts val="0"/>
                        </a:spcAft>
                        <a:buNone/>
                      </a:pPr>
                      <a:r>
                        <a:rPr lang="en-US" sz="2000" u="none" strike="noStrike" cap="none">
                          <a:latin typeface="Arial"/>
                          <a:ea typeface="Arial"/>
                          <a:cs typeface="Arial"/>
                          <a:sym typeface="Arial"/>
                        </a:rPr>
                        <a:t>(4)</a:t>
                      </a:r>
                      <a:endParaRPr/>
                    </a:p>
                  </a:txBody>
                  <a:tcPr marL="0" marR="0" marT="101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3970" marR="0" lvl="0" indent="0" algn="ctr" rtl="0">
                        <a:lnSpc>
                          <a:spcPct val="100000"/>
                        </a:lnSpc>
                        <a:spcBef>
                          <a:spcPts val="0"/>
                        </a:spcBef>
                        <a:spcAft>
                          <a:spcPts val="0"/>
                        </a:spcAft>
                        <a:buNone/>
                      </a:pPr>
                      <a:r>
                        <a:rPr lang="en-US" sz="2000" u="none" strike="noStrike" cap="none">
                          <a:latin typeface="Arial"/>
                          <a:ea typeface="Arial"/>
                          <a:cs typeface="Arial"/>
                          <a:sym typeface="Arial"/>
                        </a:rPr>
                        <a:t>3</a:t>
                      </a:r>
                      <a:endParaRPr/>
                    </a:p>
                  </a:txBody>
                  <a:tcPr marL="0" marR="0" marT="101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2065" marR="0" lvl="0" indent="0" algn="ctr" rtl="0">
                        <a:lnSpc>
                          <a:spcPct val="100000"/>
                        </a:lnSpc>
                        <a:spcBef>
                          <a:spcPts val="0"/>
                        </a:spcBef>
                        <a:spcAft>
                          <a:spcPts val="0"/>
                        </a:spcAft>
                        <a:buNone/>
                      </a:pPr>
                      <a:r>
                        <a:rPr lang="en-US" sz="2000" u="none" strike="noStrike" cap="none">
                          <a:latin typeface="Arial"/>
                          <a:ea typeface="Arial"/>
                          <a:cs typeface="Arial"/>
                          <a:sym typeface="Arial"/>
                        </a:rPr>
                        <a:t>4</a:t>
                      </a:r>
                      <a:endParaRPr/>
                    </a:p>
                  </a:txBody>
                  <a:tcPr marL="0" marR="0" marT="10150" marB="0">
                    <a:lnL w="1270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0795" marR="0" lvl="0" indent="0" algn="ctr" rtl="0">
                        <a:lnSpc>
                          <a:spcPct val="100000"/>
                        </a:lnSpc>
                        <a:spcBef>
                          <a:spcPts val="0"/>
                        </a:spcBef>
                        <a:spcAft>
                          <a:spcPts val="0"/>
                        </a:spcAft>
                        <a:buNone/>
                      </a:pPr>
                      <a:r>
                        <a:rPr lang="en-US" sz="2000" u="none" strike="noStrike" cap="none">
                          <a:latin typeface="Arial"/>
                          <a:ea typeface="Arial"/>
                          <a:cs typeface="Arial"/>
                          <a:sym typeface="Arial"/>
                        </a:rPr>
                        <a:t>2</a:t>
                      </a:r>
                      <a:endParaRPr/>
                    </a:p>
                  </a:txBody>
                  <a:tcPr marL="0" marR="0" marT="1015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88917">
                <a:tc>
                  <a:txBody>
                    <a:bodyPr/>
                    <a:lstStyle/>
                    <a:p>
                      <a:pPr marL="75565" marR="0" lvl="0" indent="0" algn="l" rtl="0">
                        <a:lnSpc>
                          <a:spcPct val="100000"/>
                        </a:lnSpc>
                        <a:spcBef>
                          <a:spcPts val="0"/>
                        </a:spcBef>
                        <a:spcAft>
                          <a:spcPts val="0"/>
                        </a:spcAft>
                        <a:buNone/>
                      </a:pPr>
                      <a:r>
                        <a:rPr lang="en-US" sz="2000" u="none" strike="noStrike" cap="none">
                          <a:latin typeface="Arial"/>
                          <a:ea typeface="Arial"/>
                          <a:cs typeface="Arial"/>
                          <a:sym typeface="Arial"/>
                        </a:rPr>
                        <a:t>Tiêu chuẩn kinh tế</a:t>
                      </a:r>
                      <a:endParaRPr sz="2000" u="none" strike="noStrike" cap="none">
                        <a:latin typeface="Arial"/>
                        <a:ea typeface="Arial"/>
                        <a:cs typeface="Arial"/>
                        <a:sym typeface="Arial"/>
                      </a:endParaRPr>
                    </a:p>
                  </a:txBody>
                  <a:tcPr marL="0" marR="0" marT="10150" marB="0">
                    <a:lnL w="1905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6985" marR="0" lvl="0" indent="0" algn="ctr" rtl="0">
                        <a:lnSpc>
                          <a:spcPct val="100000"/>
                        </a:lnSpc>
                        <a:spcBef>
                          <a:spcPts val="0"/>
                        </a:spcBef>
                        <a:spcAft>
                          <a:spcPts val="0"/>
                        </a:spcAft>
                        <a:buNone/>
                      </a:pPr>
                      <a:r>
                        <a:rPr lang="en-US" sz="2000" u="none" strike="noStrike" cap="none">
                          <a:latin typeface="Arial"/>
                          <a:ea typeface="Arial"/>
                          <a:cs typeface="Arial"/>
                          <a:sym typeface="Arial"/>
                        </a:rPr>
                        <a:t>(5)</a:t>
                      </a:r>
                      <a:endParaRPr/>
                    </a:p>
                  </a:txBody>
                  <a:tcPr marL="0" marR="0" marT="101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3970" marR="0" lvl="0" indent="0" algn="ctr" rtl="0">
                        <a:lnSpc>
                          <a:spcPct val="100000"/>
                        </a:lnSpc>
                        <a:spcBef>
                          <a:spcPts val="0"/>
                        </a:spcBef>
                        <a:spcAft>
                          <a:spcPts val="0"/>
                        </a:spcAft>
                        <a:buNone/>
                      </a:pPr>
                      <a:r>
                        <a:rPr lang="en-US" sz="2000" u="none" strike="noStrike" cap="none">
                          <a:latin typeface="Arial"/>
                          <a:ea typeface="Arial"/>
                          <a:cs typeface="Arial"/>
                          <a:sym typeface="Arial"/>
                        </a:rPr>
                        <a:t>4</a:t>
                      </a:r>
                      <a:endParaRPr/>
                    </a:p>
                  </a:txBody>
                  <a:tcPr marL="0" marR="0" marT="101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2065" marR="0" lvl="0" indent="0" algn="ctr" rtl="0">
                        <a:lnSpc>
                          <a:spcPct val="100000"/>
                        </a:lnSpc>
                        <a:spcBef>
                          <a:spcPts val="0"/>
                        </a:spcBef>
                        <a:spcAft>
                          <a:spcPts val="0"/>
                        </a:spcAft>
                        <a:buNone/>
                      </a:pPr>
                      <a:r>
                        <a:rPr lang="en-US" sz="2000" u="none" strike="noStrike" cap="none">
                          <a:latin typeface="Arial"/>
                          <a:ea typeface="Arial"/>
                          <a:cs typeface="Arial"/>
                          <a:sym typeface="Arial"/>
                        </a:rPr>
                        <a:t>4</a:t>
                      </a:r>
                      <a:endParaRPr/>
                    </a:p>
                  </a:txBody>
                  <a:tcPr marL="0" marR="0" marT="10150" marB="0">
                    <a:lnL w="1270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0795" marR="0" lvl="0" indent="0" algn="ctr" rtl="0">
                        <a:lnSpc>
                          <a:spcPct val="100000"/>
                        </a:lnSpc>
                        <a:spcBef>
                          <a:spcPts val="0"/>
                        </a:spcBef>
                        <a:spcAft>
                          <a:spcPts val="0"/>
                        </a:spcAft>
                        <a:buNone/>
                      </a:pPr>
                      <a:r>
                        <a:rPr lang="en-US" sz="2000" u="none" strike="noStrike" cap="none">
                          <a:latin typeface="Arial"/>
                          <a:ea typeface="Arial"/>
                          <a:cs typeface="Arial"/>
                          <a:sym typeface="Arial"/>
                        </a:rPr>
                        <a:t>3</a:t>
                      </a:r>
                      <a:endParaRPr/>
                    </a:p>
                  </a:txBody>
                  <a:tcPr marL="0" marR="0" marT="1015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89534">
                <a:tc>
                  <a:txBody>
                    <a:bodyPr/>
                    <a:lstStyle/>
                    <a:p>
                      <a:pPr marL="75565" marR="0" lvl="0" indent="0" algn="l" rtl="0">
                        <a:lnSpc>
                          <a:spcPct val="100000"/>
                        </a:lnSpc>
                        <a:spcBef>
                          <a:spcPts val="0"/>
                        </a:spcBef>
                        <a:spcAft>
                          <a:spcPts val="0"/>
                        </a:spcAft>
                        <a:buNone/>
                      </a:pPr>
                      <a:r>
                        <a:rPr lang="en-US" sz="2000" u="none" strike="noStrike" cap="none">
                          <a:latin typeface="Arial"/>
                          <a:ea typeface="Arial"/>
                          <a:cs typeface="Arial"/>
                          <a:sym typeface="Arial"/>
                        </a:rPr>
                        <a:t>Tiêu chuẩn thích hợp</a:t>
                      </a:r>
                      <a:endParaRPr sz="2000" u="none" strike="noStrike" cap="none">
                        <a:latin typeface="Arial"/>
                        <a:ea typeface="Arial"/>
                        <a:cs typeface="Arial"/>
                        <a:sym typeface="Arial"/>
                      </a:endParaRPr>
                    </a:p>
                  </a:txBody>
                  <a:tcPr marL="0" marR="0" marT="10800" marB="0">
                    <a:lnL w="1905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6985" marR="0" lvl="0" indent="0" algn="ctr" rtl="0">
                        <a:lnSpc>
                          <a:spcPct val="100000"/>
                        </a:lnSpc>
                        <a:spcBef>
                          <a:spcPts val="0"/>
                        </a:spcBef>
                        <a:spcAft>
                          <a:spcPts val="0"/>
                        </a:spcAft>
                        <a:buNone/>
                      </a:pPr>
                      <a:r>
                        <a:rPr lang="en-US" sz="2000" u="none" strike="noStrike" cap="none">
                          <a:latin typeface="Arial"/>
                          <a:ea typeface="Arial"/>
                          <a:cs typeface="Arial"/>
                          <a:sym typeface="Arial"/>
                        </a:rPr>
                        <a:t>(1)</a:t>
                      </a:r>
                      <a:endParaRPr/>
                    </a:p>
                  </a:txBody>
                  <a:tcPr marL="0" marR="0" marT="108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3970" marR="0" lvl="0" indent="0" algn="ctr" rtl="0">
                        <a:lnSpc>
                          <a:spcPct val="100000"/>
                        </a:lnSpc>
                        <a:spcBef>
                          <a:spcPts val="0"/>
                        </a:spcBef>
                        <a:spcAft>
                          <a:spcPts val="0"/>
                        </a:spcAft>
                        <a:buNone/>
                      </a:pPr>
                      <a:r>
                        <a:rPr lang="en-US" sz="2000" u="none" strike="noStrike" cap="none">
                          <a:latin typeface="Arial"/>
                          <a:ea typeface="Arial"/>
                          <a:cs typeface="Arial"/>
                          <a:sym typeface="Arial"/>
                        </a:rPr>
                        <a:t>3</a:t>
                      </a:r>
                      <a:endParaRPr/>
                    </a:p>
                  </a:txBody>
                  <a:tcPr marL="0" marR="0" marT="108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2065" marR="0" lvl="0" indent="0" algn="ctr" rtl="0">
                        <a:lnSpc>
                          <a:spcPct val="100000"/>
                        </a:lnSpc>
                        <a:spcBef>
                          <a:spcPts val="0"/>
                        </a:spcBef>
                        <a:spcAft>
                          <a:spcPts val="0"/>
                        </a:spcAft>
                        <a:buNone/>
                      </a:pPr>
                      <a:r>
                        <a:rPr lang="en-US" sz="2000" u="none" strike="noStrike" cap="none">
                          <a:latin typeface="Arial"/>
                          <a:ea typeface="Arial"/>
                          <a:cs typeface="Arial"/>
                          <a:sym typeface="Arial"/>
                        </a:rPr>
                        <a:t>5</a:t>
                      </a:r>
                      <a:endParaRPr/>
                    </a:p>
                  </a:txBody>
                  <a:tcPr marL="0" marR="0" marT="10800" marB="0">
                    <a:lnL w="1270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0795" marR="0" lvl="0" indent="0" algn="ctr" rtl="0">
                        <a:lnSpc>
                          <a:spcPct val="100000"/>
                        </a:lnSpc>
                        <a:spcBef>
                          <a:spcPts val="0"/>
                        </a:spcBef>
                        <a:spcAft>
                          <a:spcPts val="0"/>
                        </a:spcAft>
                        <a:buNone/>
                      </a:pPr>
                      <a:r>
                        <a:rPr lang="en-US" sz="2000" u="none" strike="noStrike" cap="none">
                          <a:latin typeface="Arial"/>
                          <a:ea typeface="Arial"/>
                          <a:cs typeface="Arial"/>
                          <a:sym typeface="Arial"/>
                        </a:rPr>
                        <a:t>5</a:t>
                      </a:r>
                      <a:endParaRPr/>
                    </a:p>
                  </a:txBody>
                  <a:tcPr marL="0" marR="0" marT="1080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89534">
                <a:tc>
                  <a:txBody>
                    <a:bodyPr/>
                    <a:lstStyle/>
                    <a:p>
                      <a:pPr marL="75565" marR="0" lvl="0" indent="0" algn="l" rtl="0">
                        <a:lnSpc>
                          <a:spcPct val="100000"/>
                        </a:lnSpc>
                        <a:spcBef>
                          <a:spcPts val="0"/>
                        </a:spcBef>
                        <a:spcAft>
                          <a:spcPts val="0"/>
                        </a:spcAft>
                        <a:buNone/>
                      </a:pPr>
                      <a:r>
                        <a:rPr lang="en-US" sz="2000" u="none" strike="noStrike" cap="none">
                          <a:latin typeface="Arial"/>
                          <a:ea typeface="Arial"/>
                          <a:cs typeface="Arial"/>
                          <a:sym typeface="Arial"/>
                        </a:rPr>
                        <a:t>Tiêu chuẩn thích nghi</a:t>
                      </a:r>
                      <a:endParaRPr sz="2000" u="none" strike="noStrike" cap="none">
                        <a:latin typeface="Arial"/>
                        <a:ea typeface="Arial"/>
                        <a:cs typeface="Arial"/>
                        <a:sym typeface="Arial"/>
                      </a:endParaRPr>
                    </a:p>
                  </a:txBody>
                  <a:tcPr marL="0" marR="0" marT="10800" marB="0">
                    <a:lnL w="1905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6985" marR="0" lvl="0" indent="0" algn="ctr" rtl="0">
                        <a:lnSpc>
                          <a:spcPct val="100000"/>
                        </a:lnSpc>
                        <a:spcBef>
                          <a:spcPts val="0"/>
                        </a:spcBef>
                        <a:spcAft>
                          <a:spcPts val="0"/>
                        </a:spcAft>
                        <a:buNone/>
                      </a:pPr>
                      <a:r>
                        <a:rPr lang="en-US" sz="2000" u="none" strike="noStrike" cap="none">
                          <a:latin typeface="Arial"/>
                          <a:ea typeface="Arial"/>
                          <a:cs typeface="Arial"/>
                          <a:sym typeface="Arial"/>
                        </a:rPr>
                        <a:t>(2)</a:t>
                      </a:r>
                      <a:endParaRPr/>
                    </a:p>
                  </a:txBody>
                  <a:tcPr marL="0" marR="0" marT="108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3970" marR="0" lvl="0" indent="0" algn="ctr" rtl="0">
                        <a:lnSpc>
                          <a:spcPct val="100000"/>
                        </a:lnSpc>
                        <a:spcBef>
                          <a:spcPts val="0"/>
                        </a:spcBef>
                        <a:spcAft>
                          <a:spcPts val="0"/>
                        </a:spcAft>
                        <a:buNone/>
                      </a:pPr>
                      <a:r>
                        <a:rPr lang="en-US" sz="2000" u="none" strike="noStrike" cap="none">
                          <a:latin typeface="Arial"/>
                          <a:ea typeface="Arial"/>
                          <a:cs typeface="Arial"/>
                          <a:sym typeface="Arial"/>
                        </a:rPr>
                        <a:t>1</a:t>
                      </a:r>
                      <a:endParaRPr/>
                    </a:p>
                  </a:txBody>
                  <a:tcPr marL="0" marR="0" marT="108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2065" marR="0" lvl="0" indent="0" algn="ctr" rtl="0">
                        <a:lnSpc>
                          <a:spcPct val="100000"/>
                        </a:lnSpc>
                        <a:spcBef>
                          <a:spcPts val="0"/>
                        </a:spcBef>
                        <a:spcAft>
                          <a:spcPts val="0"/>
                        </a:spcAft>
                        <a:buNone/>
                      </a:pPr>
                      <a:r>
                        <a:rPr lang="en-US" sz="2000" u="none" strike="noStrike" cap="none">
                          <a:latin typeface="Arial"/>
                          <a:ea typeface="Arial"/>
                          <a:cs typeface="Arial"/>
                          <a:sym typeface="Arial"/>
                        </a:rPr>
                        <a:t>3</a:t>
                      </a:r>
                      <a:endParaRPr/>
                    </a:p>
                  </a:txBody>
                  <a:tcPr marL="0" marR="0" marT="10800" marB="0">
                    <a:lnL w="1270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0795" marR="0" lvl="0" indent="0" algn="ctr" rtl="0">
                        <a:lnSpc>
                          <a:spcPct val="100000"/>
                        </a:lnSpc>
                        <a:spcBef>
                          <a:spcPts val="0"/>
                        </a:spcBef>
                        <a:spcAft>
                          <a:spcPts val="0"/>
                        </a:spcAft>
                        <a:buNone/>
                      </a:pPr>
                      <a:r>
                        <a:rPr lang="en-US" sz="2000" u="none" strike="noStrike" cap="none">
                          <a:latin typeface="Arial"/>
                          <a:ea typeface="Arial"/>
                          <a:cs typeface="Arial"/>
                          <a:sym typeface="Arial"/>
                        </a:rPr>
                        <a:t>3</a:t>
                      </a:r>
                      <a:endParaRPr/>
                    </a:p>
                  </a:txBody>
                  <a:tcPr marL="0" marR="0" marT="1080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589534">
                <a:tc>
                  <a:txBody>
                    <a:bodyPr/>
                    <a:lstStyle/>
                    <a:p>
                      <a:pPr marL="75565" marR="0" lvl="0" indent="0" algn="l" rtl="0">
                        <a:lnSpc>
                          <a:spcPct val="100000"/>
                        </a:lnSpc>
                        <a:spcBef>
                          <a:spcPts val="0"/>
                        </a:spcBef>
                        <a:spcAft>
                          <a:spcPts val="0"/>
                        </a:spcAft>
                        <a:buNone/>
                      </a:pPr>
                      <a:r>
                        <a:rPr lang="en-US" sz="2000" u="none" strike="noStrike" cap="none">
                          <a:latin typeface="Arial"/>
                          <a:ea typeface="Arial"/>
                          <a:cs typeface="Arial"/>
                          <a:sym typeface="Arial"/>
                        </a:rPr>
                        <a:t>Tiêu chuẩn pháp lý</a:t>
                      </a:r>
                      <a:endParaRPr sz="2000" u="none" strike="noStrike" cap="none">
                        <a:latin typeface="Arial"/>
                        <a:ea typeface="Arial"/>
                        <a:cs typeface="Arial"/>
                        <a:sym typeface="Arial"/>
                      </a:endParaRPr>
                    </a:p>
                  </a:txBody>
                  <a:tcPr marL="0" marR="0" marT="10800" marB="0">
                    <a:lnL w="1905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6985" marR="0" lvl="0" indent="0" algn="ctr" rtl="0">
                        <a:lnSpc>
                          <a:spcPct val="100000"/>
                        </a:lnSpc>
                        <a:spcBef>
                          <a:spcPts val="0"/>
                        </a:spcBef>
                        <a:spcAft>
                          <a:spcPts val="0"/>
                        </a:spcAft>
                        <a:buNone/>
                      </a:pPr>
                      <a:r>
                        <a:rPr lang="en-US" sz="2000" u="none" strike="noStrike" cap="none">
                          <a:latin typeface="Arial"/>
                          <a:ea typeface="Arial"/>
                          <a:cs typeface="Arial"/>
                          <a:sym typeface="Arial"/>
                        </a:rPr>
                        <a:t>(3)</a:t>
                      </a:r>
                      <a:endParaRPr/>
                    </a:p>
                  </a:txBody>
                  <a:tcPr marL="0" marR="0" marT="108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3970" marR="0" lvl="0" indent="0" algn="ctr" rtl="0">
                        <a:lnSpc>
                          <a:spcPct val="100000"/>
                        </a:lnSpc>
                        <a:spcBef>
                          <a:spcPts val="0"/>
                        </a:spcBef>
                        <a:spcAft>
                          <a:spcPts val="0"/>
                        </a:spcAft>
                        <a:buNone/>
                      </a:pPr>
                      <a:r>
                        <a:rPr lang="en-US" sz="2000" u="none" strike="noStrike" cap="none">
                          <a:latin typeface="Arial"/>
                          <a:ea typeface="Arial"/>
                          <a:cs typeface="Arial"/>
                          <a:sym typeface="Arial"/>
                        </a:rPr>
                        <a:t>4</a:t>
                      </a:r>
                      <a:endParaRPr/>
                    </a:p>
                  </a:txBody>
                  <a:tcPr marL="0" marR="0" marT="108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2065" marR="0" lvl="0" indent="0" algn="ctr" rtl="0">
                        <a:lnSpc>
                          <a:spcPct val="100000"/>
                        </a:lnSpc>
                        <a:spcBef>
                          <a:spcPts val="0"/>
                        </a:spcBef>
                        <a:spcAft>
                          <a:spcPts val="0"/>
                        </a:spcAft>
                        <a:buNone/>
                      </a:pPr>
                      <a:r>
                        <a:rPr lang="en-US" sz="2000" u="none" strike="noStrike" cap="none">
                          <a:latin typeface="Arial"/>
                          <a:ea typeface="Arial"/>
                          <a:cs typeface="Arial"/>
                          <a:sym typeface="Arial"/>
                        </a:rPr>
                        <a:t>3</a:t>
                      </a:r>
                      <a:endParaRPr/>
                    </a:p>
                  </a:txBody>
                  <a:tcPr marL="0" marR="0" marT="10800" marB="0">
                    <a:lnL w="1270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0795" marR="0" lvl="0" indent="0" algn="ctr" rtl="0">
                        <a:lnSpc>
                          <a:spcPct val="100000"/>
                        </a:lnSpc>
                        <a:spcBef>
                          <a:spcPts val="0"/>
                        </a:spcBef>
                        <a:spcAft>
                          <a:spcPts val="0"/>
                        </a:spcAft>
                        <a:buNone/>
                      </a:pPr>
                      <a:r>
                        <a:rPr lang="en-US" sz="2000" u="none" strike="noStrike" cap="none">
                          <a:latin typeface="Arial"/>
                          <a:ea typeface="Arial"/>
                          <a:cs typeface="Arial"/>
                          <a:sym typeface="Arial"/>
                        </a:rPr>
                        <a:t>1</a:t>
                      </a:r>
                      <a:endParaRPr/>
                    </a:p>
                  </a:txBody>
                  <a:tcPr marL="0" marR="0" marT="1080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59455">
                <a:tc gridSpan="2">
                  <a:txBody>
                    <a:bodyPr/>
                    <a:lstStyle/>
                    <a:p>
                      <a:pPr marL="75565" marR="0" lvl="0" indent="0" algn="l" rtl="0">
                        <a:lnSpc>
                          <a:spcPct val="100000"/>
                        </a:lnSpc>
                        <a:spcBef>
                          <a:spcPts val="0"/>
                        </a:spcBef>
                        <a:spcAft>
                          <a:spcPts val="0"/>
                        </a:spcAft>
                        <a:buNone/>
                      </a:pPr>
                      <a:r>
                        <a:rPr lang="en-US" sz="2000" b="1" u="none" strike="noStrike" cap="none">
                          <a:latin typeface="Arial"/>
                          <a:ea typeface="Arial"/>
                          <a:cs typeface="Arial"/>
                          <a:sym typeface="Arial"/>
                        </a:rPr>
                        <a:t>Tổng hợp</a:t>
                      </a:r>
                      <a:endParaRPr sz="2000" u="none" strike="noStrike" cap="none">
                        <a:latin typeface="Arial"/>
                        <a:ea typeface="Arial"/>
                        <a:cs typeface="Arial"/>
                        <a:sym typeface="Arial"/>
                      </a:endParaRPr>
                    </a:p>
                  </a:txBody>
                  <a:tcPr marL="0" marR="0" marT="10800" marB="0">
                    <a:lnL w="1905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vi-VN"/>
                    </a:p>
                  </a:txBody>
                  <a:tcPr/>
                </a:tc>
                <a:tc>
                  <a:txBody>
                    <a:bodyPr/>
                    <a:lstStyle/>
                    <a:p>
                      <a:pPr marL="17145" marR="0" lvl="0" indent="0" algn="ctr" rtl="0">
                        <a:lnSpc>
                          <a:spcPct val="100000"/>
                        </a:lnSpc>
                        <a:spcBef>
                          <a:spcPts val="0"/>
                        </a:spcBef>
                        <a:spcAft>
                          <a:spcPts val="0"/>
                        </a:spcAft>
                        <a:buNone/>
                      </a:pPr>
                      <a:r>
                        <a:rPr lang="en-US" sz="2000" b="1" u="none" strike="noStrike" cap="none">
                          <a:latin typeface="Arial"/>
                          <a:ea typeface="Arial"/>
                          <a:cs typeface="Arial"/>
                          <a:sym typeface="Arial"/>
                        </a:rPr>
                        <a:t>49</a:t>
                      </a:r>
                      <a:endParaRPr sz="2000" u="none" strike="noStrike" cap="none">
                        <a:latin typeface="Arial"/>
                        <a:ea typeface="Arial"/>
                        <a:cs typeface="Arial"/>
                        <a:sym typeface="Arial"/>
                      </a:endParaRPr>
                    </a:p>
                  </a:txBody>
                  <a:tcPr marL="0" marR="0" marT="108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5240" marR="0" lvl="0" indent="0" algn="ctr" rtl="0">
                        <a:lnSpc>
                          <a:spcPct val="100000"/>
                        </a:lnSpc>
                        <a:spcBef>
                          <a:spcPts val="0"/>
                        </a:spcBef>
                        <a:spcAft>
                          <a:spcPts val="0"/>
                        </a:spcAft>
                        <a:buNone/>
                      </a:pPr>
                      <a:r>
                        <a:rPr lang="en-US" sz="2000" b="1" u="none" strike="noStrike" cap="none">
                          <a:latin typeface="Arial"/>
                          <a:ea typeface="Arial"/>
                          <a:cs typeface="Arial"/>
                          <a:sym typeface="Arial"/>
                        </a:rPr>
                        <a:t>56</a:t>
                      </a:r>
                      <a:endParaRPr sz="2000" u="none" strike="noStrike" cap="none">
                        <a:latin typeface="Arial"/>
                        <a:ea typeface="Arial"/>
                        <a:cs typeface="Arial"/>
                        <a:sym typeface="Arial"/>
                      </a:endParaRPr>
                    </a:p>
                  </a:txBody>
                  <a:tcPr marL="0" marR="0" marT="10800" marB="0">
                    <a:lnL w="1270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13970" marR="0" lvl="0" indent="0" algn="ctr" rtl="0">
                        <a:lnSpc>
                          <a:spcPct val="100000"/>
                        </a:lnSpc>
                        <a:spcBef>
                          <a:spcPts val="0"/>
                        </a:spcBef>
                        <a:spcAft>
                          <a:spcPts val="0"/>
                        </a:spcAft>
                        <a:buNone/>
                      </a:pPr>
                      <a:r>
                        <a:rPr lang="en-US" sz="2000" b="1" u="none" strike="noStrike" cap="none">
                          <a:latin typeface="Arial"/>
                          <a:ea typeface="Arial"/>
                          <a:cs typeface="Arial"/>
                          <a:sym typeface="Arial"/>
                        </a:rPr>
                        <a:t>37</a:t>
                      </a:r>
                      <a:endParaRPr sz="2000" u="none" strike="noStrike" cap="none">
                        <a:latin typeface="Arial"/>
                        <a:ea typeface="Arial"/>
                        <a:cs typeface="Arial"/>
                        <a:sym typeface="Arial"/>
                      </a:endParaRPr>
                    </a:p>
                  </a:txBody>
                  <a:tcPr marL="0" marR="0" marT="1080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925825955"/>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Shape 3285"/>
        <p:cNvGrpSpPr/>
        <p:nvPr/>
      </p:nvGrpSpPr>
      <p:grpSpPr>
        <a:xfrm>
          <a:off x="0" y="0"/>
          <a:ext cx="0" cy="0"/>
          <a:chOff x="0" y="0"/>
          <a:chExt cx="0" cy="0"/>
        </a:xfrm>
      </p:grpSpPr>
      <p:sp>
        <p:nvSpPr>
          <p:cNvPr id="3286" name="Google Shape;3286;p419"/>
          <p:cNvSpPr txBox="1">
            <a:spLocks noGrp="1"/>
          </p:cNvSpPr>
          <p:nvPr>
            <p:ph type="title"/>
          </p:nvPr>
        </p:nvSpPr>
        <p:spPr>
          <a:xfrm>
            <a:off x="587587" y="-5708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3200" b="1">
                <a:latin typeface="Arial"/>
                <a:ea typeface="Arial"/>
                <a:cs typeface="Arial"/>
                <a:sym typeface="Arial"/>
              </a:rPr>
              <a:t>7.2 Quy </a:t>
            </a:r>
            <a:r>
              <a:rPr lang="en-US" sz="3200" b="1" err="1">
                <a:latin typeface="Arial"/>
                <a:ea typeface="Arial"/>
                <a:cs typeface="Arial"/>
                <a:sym typeface="Arial"/>
              </a:rPr>
              <a:t>trình</a:t>
            </a:r>
            <a:r>
              <a:rPr lang="en-US" sz="3200" b="1">
                <a:latin typeface="Arial"/>
                <a:ea typeface="Arial"/>
                <a:cs typeface="Arial"/>
                <a:sym typeface="Arial"/>
              </a:rPr>
              <a:t> </a:t>
            </a:r>
            <a:r>
              <a:rPr lang="en-US" sz="3200" b="1" err="1">
                <a:latin typeface="Arial"/>
                <a:ea typeface="Arial"/>
                <a:cs typeface="Arial"/>
                <a:sym typeface="Arial"/>
              </a:rPr>
              <a:t>ra</a:t>
            </a:r>
            <a:r>
              <a:rPr lang="en-US" sz="3200" b="1">
                <a:latin typeface="Arial"/>
                <a:ea typeface="Arial"/>
                <a:cs typeface="Arial"/>
                <a:sym typeface="Arial"/>
              </a:rPr>
              <a:t> </a:t>
            </a:r>
            <a:r>
              <a:rPr lang="en-US" sz="3200" b="1" err="1">
                <a:latin typeface="Arial"/>
                <a:ea typeface="Arial"/>
                <a:cs typeface="Arial"/>
                <a:sym typeface="Arial"/>
              </a:rPr>
              <a:t>quyết</a:t>
            </a:r>
            <a:r>
              <a:rPr lang="en-US" sz="3200" b="1">
                <a:latin typeface="Arial"/>
                <a:ea typeface="Arial"/>
                <a:cs typeface="Arial"/>
                <a:sym typeface="Arial"/>
              </a:rPr>
              <a:t> </a:t>
            </a:r>
            <a:r>
              <a:rPr lang="en-US" sz="3200" b="1" err="1">
                <a:latin typeface="Arial"/>
                <a:ea typeface="Arial"/>
                <a:cs typeface="Arial"/>
                <a:sym typeface="Arial"/>
              </a:rPr>
              <a:t>định</a:t>
            </a:r>
            <a:r>
              <a:rPr lang="en-US" sz="3200" b="1">
                <a:latin typeface="Arial"/>
                <a:ea typeface="Arial"/>
                <a:cs typeface="Arial"/>
                <a:sym typeface="Arial"/>
              </a:rPr>
              <a:t> </a:t>
            </a:r>
            <a:r>
              <a:rPr lang="en-US" sz="3200" b="1" err="1">
                <a:latin typeface="Arial"/>
                <a:ea typeface="Arial"/>
                <a:cs typeface="Arial"/>
                <a:sym typeface="Arial"/>
              </a:rPr>
              <a:t>mua</a:t>
            </a:r>
            <a:r>
              <a:rPr lang="en-US" sz="3200" b="1">
                <a:latin typeface="Arial"/>
                <a:ea typeface="Arial"/>
                <a:cs typeface="Arial"/>
                <a:sym typeface="Arial"/>
              </a:rPr>
              <a:t> (</a:t>
            </a:r>
            <a:r>
              <a:rPr lang="en-US" sz="3200" b="1" err="1">
                <a:latin typeface="Arial"/>
                <a:ea typeface="Arial"/>
                <a:cs typeface="Arial"/>
                <a:sym typeface="Arial"/>
              </a:rPr>
              <a:t>tt</a:t>
            </a:r>
            <a:r>
              <a:rPr lang="en-US" sz="3200" b="1">
                <a:latin typeface="Arial"/>
                <a:ea typeface="Arial"/>
                <a:cs typeface="Arial"/>
                <a:sym typeface="Arial"/>
              </a:rPr>
              <a:t>)</a:t>
            </a:r>
            <a:endParaRPr sz="3200"/>
          </a:p>
        </p:txBody>
      </p:sp>
      <p:sp>
        <p:nvSpPr>
          <p:cNvPr id="3287" name="Google Shape;3287;p419"/>
          <p:cNvSpPr txBox="1">
            <a:spLocks noGrp="1"/>
          </p:cNvSpPr>
          <p:nvPr>
            <p:ph type="body" idx="1"/>
          </p:nvPr>
        </p:nvSpPr>
        <p:spPr>
          <a:xfrm>
            <a:off x="380504" y="1498366"/>
            <a:ext cx="10929766" cy="4351338"/>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1000"/>
              </a:spcBef>
              <a:spcAft>
                <a:spcPts val="0"/>
              </a:spcAft>
              <a:buClr>
                <a:schemeClr val="dk1"/>
              </a:buClr>
              <a:buSzPts val="1800"/>
              <a:buChar char="•"/>
            </a:pPr>
            <a:r>
              <a:rPr lang="en-US" sz="2200" b="1" err="1">
                <a:latin typeface="Arial"/>
                <a:ea typeface="Arial"/>
                <a:cs typeface="Arial"/>
                <a:sym typeface="Arial"/>
              </a:rPr>
              <a:t>Bước</a:t>
            </a:r>
            <a:r>
              <a:rPr lang="en-US" sz="2200" b="1">
                <a:latin typeface="Arial"/>
                <a:ea typeface="Arial"/>
                <a:cs typeface="Arial"/>
                <a:sym typeface="Arial"/>
              </a:rPr>
              <a:t> 7: </a:t>
            </a:r>
            <a:r>
              <a:rPr lang="en-US" sz="2200" b="1" err="1">
                <a:latin typeface="Arial"/>
                <a:ea typeface="Arial"/>
                <a:cs typeface="Arial"/>
                <a:sym typeface="Arial"/>
              </a:rPr>
              <a:t>Tiến</a:t>
            </a:r>
            <a:r>
              <a:rPr lang="en-US" sz="2200" b="1">
                <a:latin typeface="Arial"/>
                <a:ea typeface="Arial"/>
                <a:cs typeface="Arial"/>
                <a:sym typeface="Arial"/>
              </a:rPr>
              <a:t> </a:t>
            </a:r>
            <a:r>
              <a:rPr lang="en-US" sz="2200" b="1" err="1">
                <a:latin typeface="Arial"/>
                <a:ea typeface="Arial"/>
                <a:cs typeface="Arial"/>
                <a:sym typeface="Arial"/>
              </a:rPr>
              <a:t>hành</a:t>
            </a:r>
            <a:r>
              <a:rPr lang="en-US" sz="2200" b="1">
                <a:latin typeface="Arial"/>
                <a:ea typeface="Arial"/>
                <a:cs typeface="Arial"/>
                <a:sym typeface="Arial"/>
              </a:rPr>
              <a:t> </a:t>
            </a:r>
            <a:r>
              <a:rPr lang="en-US" sz="2200" b="1" err="1">
                <a:latin typeface="Arial"/>
                <a:ea typeface="Arial"/>
                <a:cs typeface="Arial"/>
                <a:sym typeface="Arial"/>
              </a:rPr>
              <a:t>đặt</a:t>
            </a:r>
            <a:r>
              <a:rPr lang="en-US" sz="2200" b="1">
                <a:latin typeface="Arial"/>
                <a:ea typeface="Arial"/>
                <a:cs typeface="Arial"/>
                <a:sym typeface="Arial"/>
              </a:rPr>
              <a:t> </a:t>
            </a:r>
            <a:r>
              <a:rPr lang="en-US" sz="2200" b="1" err="1">
                <a:latin typeface="Arial"/>
                <a:ea typeface="Arial"/>
                <a:cs typeface="Arial"/>
                <a:sym typeface="Arial"/>
              </a:rPr>
              <a:t>hàng</a:t>
            </a:r>
            <a:endParaRPr sz="2200">
              <a:latin typeface="Arial"/>
              <a:ea typeface="Arial"/>
              <a:cs typeface="Arial"/>
              <a:sym typeface="Arial"/>
            </a:endParaRPr>
          </a:p>
          <a:p>
            <a:pPr marL="914400" lvl="1" indent="-342900" algn="just" rtl="0">
              <a:lnSpc>
                <a:spcPct val="100000"/>
              </a:lnSpc>
              <a:spcBef>
                <a:spcPts val="500"/>
              </a:spcBef>
              <a:spcAft>
                <a:spcPts val="0"/>
              </a:spcAft>
              <a:buSzPts val="1800"/>
              <a:buFont typeface="Arial"/>
              <a:buChar char="-"/>
            </a:pPr>
            <a:r>
              <a:rPr lang="en-US" sz="2200">
                <a:latin typeface="Arial"/>
                <a:ea typeface="Arial"/>
                <a:cs typeface="Arial"/>
                <a:sym typeface="Arial"/>
              </a:rPr>
              <a:t>Hai </a:t>
            </a:r>
            <a:r>
              <a:rPr lang="en-US" sz="2200" err="1">
                <a:latin typeface="Arial"/>
                <a:ea typeface="Arial"/>
                <a:cs typeface="Arial"/>
                <a:sym typeface="Arial"/>
              </a:rPr>
              <a:t>bên</a:t>
            </a:r>
            <a:r>
              <a:rPr lang="en-US" sz="2200">
                <a:latin typeface="Arial"/>
                <a:ea typeface="Arial"/>
                <a:cs typeface="Arial"/>
                <a:sym typeface="Arial"/>
              </a:rPr>
              <a:t> </a:t>
            </a:r>
            <a:r>
              <a:rPr lang="en-US" sz="2200" err="1">
                <a:latin typeface="Arial"/>
                <a:ea typeface="Arial"/>
                <a:cs typeface="Arial"/>
                <a:sym typeface="Arial"/>
              </a:rPr>
              <a:t>cụ</a:t>
            </a:r>
            <a:r>
              <a:rPr lang="en-US" sz="2200">
                <a:latin typeface="Arial"/>
                <a:ea typeface="Arial"/>
                <a:cs typeface="Arial"/>
                <a:sym typeface="Arial"/>
              </a:rPr>
              <a:t> </a:t>
            </a:r>
            <a:r>
              <a:rPr lang="en-US" sz="2200" err="1">
                <a:latin typeface="Arial"/>
                <a:ea typeface="Arial"/>
                <a:cs typeface="Arial"/>
                <a:sym typeface="Arial"/>
              </a:rPr>
              <a:t>thể</a:t>
            </a:r>
            <a:r>
              <a:rPr lang="en-US" sz="2200">
                <a:latin typeface="Arial"/>
                <a:ea typeface="Arial"/>
                <a:cs typeface="Arial"/>
                <a:sym typeface="Arial"/>
              </a:rPr>
              <a:t> </a:t>
            </a:r>
            <a:r>
              <a:rPr lang="en-US" sz="2200" err="1">
                <a:latin typeface="Arial"/>
                <a:ea typeface="Arial"/>
                <a:cs typeface="Arial"/>
                <a:sym typeface="Arial"/>
              </a:rPr>
              <a:t>hóa</a:t>
            </a:r>
            <a:r>
              <a:rPr lang="en-US" sz="2200">
                <a:latin typeface="Arial"/>
                <a:ea typeface="Arial"/>
                <a:cs typeface="Arial"/>
                <a:sym typeface="Arial"/>
              </a:rPr>
              <a:t> </a:t>
            </a:r>
            <a:r>
              <a:rPr lang="en-US" sz="2200" err="1">
                <a:latin typeface="Arial"/>
                <a:ea typeface="Arial"/>
                <a:cs typeface="Arial"/>
                <a:sym typeface="Arial"/>
              </a:rPr>
              <a:t>các</a:t>
            </a:r>
            <a:r>
              <a:rPr lang="en-US" sz="2200">
                <a:latin typeface="Arial"/>
                <a:ea typeface="Arial"/>
                <a:cs typeface="Arial"/>
                <a:sym typeface="Arial"/>
              </a:rPr>
              <a:t> </a:t>
            </a:r>
            <a:r>
              <a:rPr lang="en-US" sz="2200" err="1">
                <a:latin typeface="Arial"/>
                <a:ea typeface="Arial"/>
                <a:cs typeface="Arial"/>
                <a:sym typeface="Arial"/>
              </a:rPr>
              <a:t>điều</a:t>
            </a:r>
            <a:r>
              <a:rPr lang="en-US" sz="2200">
                <a:latin typeface="Arial"/>
                <a:ea typeface="Arial"/>
                <a:cs typeface="Arial"/>
                <a:sym typeface="Arial"/>
              </a:rPr>
              <a:t> </a:t>
            </a:r>
            <a:r>
              <a:rPr lang="en-US" sz="2200" err="1">
                <a:latin typeface="Arial"/>
                <a:ea typeface="Arial"/>
                <a:cs typeface="Arial"/>
                <a:sym typeface="Arial"/>
              </a:rPr>
              <a:t>kiện</a:t>
            </a:r>
            <a:r>
              <a:rPr lang="en-US" sz="2200">
                <a:latin typeface="Arial"/>
                <a:ea typeface="Arial"/>
                <a:cs typeface="Arial"/>
                <a:sym typeface="Arial"/>
              </a:rPr>
              <a:t> </a:t>
            </a:r>
            <a:r>
              <a:rPr lang="en-US" sz="2200" err="1">
                <a:latin typeface="Arial"/>
                <a:ea typeface="Arial"/>
                <a:cs typeface="Arial"/>
                <a:sym typeface="Arial"/>
              </a:rPr>
              <a:t>và</a:t>
            </a:r>
            <a:r>
              <a:rPr lang="en-US" sz="2200">
                <a:latin typeface="Arial"/>
                <a:ea typeface="Arial"/>
                <a:cs typeface="Arial"/>
                <a:sym typeface="Arial"/>
              </a:rPr>
              <a:t> </a:t>
            </a:r>
            <a:r>
              <a:rPr lang="en-US" sz="2200" err="1">
                <a:latin typeface="Arial"/>
                <a:ea typeface="Arial"/>
                <a:cs typeface="Arial"/>
                <a:sym typeface="Arial"/>
              </a:rPr>
              <a:t>yêu</a:t>
            </a:r>
            <a:r>
              <a:rPr lang="en-US" sz="2200">
                <a:latin typeface="Arial"/>
                <a:ea typeface="Arial"/>
                <a:cs typeface="Arial"/>
                <a:sym typeface="Arial"/>
              </a:rPr>
              <a:t> </a:t>
            </a:r>
            <a:r>
              <a:rPr lang="en-US" sz="2200" err="1">
                <a:latin typeface="Arial"/>
                <a:ea typeface="Arial"/>
                <a:cs typeface="Arial"/>
                <a:sym typeface="Arial"/>
              </a:rPr>
              <a:t>cầu</a:t>
            </a:r>
            <a:r>
              <a:rPr lang="en-US" sz="2200">
                <a:latin typeface="Arial"/>
                <a:ea typeface="Arial"/>
                <a:cs typeface="Arial"/>
                <a:sym typeface="Arial"/>
              </a:rPr>
              <a:t> </a:t>
            </a:r>
            <a:r>
              <a:rPr lang="en-US" sz="2200" err="1">
                <a:latin typeface="Arial"/>
                <a:ea typeface="Arial"/>
                <a:cs typeface="Arial"/>
                <a:sym typeface="Arial"/>
              </a:rPr>
              <a:t>liên</a:t>
            </a:r>
            <a:r>
              <a:rPr lang="en-US" sz="2200">
                <a:latin typeface="Arial"/>
                <a:ea typeface="Arial"/>
                <a:cs typeface="Arial"/>
                <a:sym typeface="Arial"/>
              </a:rPr>
              <a:t> </a:t>
            </a:r>
            <a:r>
              <a:rPr lang="en-US" sz="2200" err="1">
                <a:latin typeface="Arial"/>
                <a:ea typeface="Arial"/>
                <a:cs typeface="Arial"/>
                <a:sym typeface="Arial"/>
              </a:rPr>
              <a:t>quan</a:t>
            </a:r>
            <a:r>
              <a:rPr lang="en-US" sz="2200">
                <a:latin typeface="Arial"/>
                <a:ea typeface="Arial"/>
                <a:cs typeface="Arial"/>
                <a:sym typeface="Arial"/>
              </a:rPr>
              <a:t> </a:t>
            </a:r>
            <a:r>
              <a:rPr lang="en-US" sz="2200" err="1">
                <a:latin typeface="Arial"/>
                <a:ea typeface="Arial"/>
                <a:cs typeface="Arial"/>
                <a:sym typeface="Arial"/>
              </a:rPr>
              <a:t>đến</a:t>
            </a:r>
            <a:r>
              <a:rPr lang="en-US" sz="2200">
                <a:latin typeface="Arial"/>
                <a:ea typeface="Arial"/>
                <a:cs typeface="Arial"/>
                <a:sym typeface="Arial"/>
              </a:rPr>
              <a:t> </a:t>
            </a:r>
            <a:r>
              <a:rPr lang="en-US" sz="2200" err="1">
                <a:latin typeface="Arial"/>
                <a:ea typeface="Arial"/>
                <a:cs typeface="Arial"/>
                <a:sym typeface="Arial"/>
              </a:rPr>
              <a:t>việc</a:t>
            </a:r>
            <a:r>
              <a:rPr lang="en-US" sz="2200">
                <a:latin typeface="Arial"/>
                <a:ea typeface="Arial"/>
                <a:cs typeface="Arial"/>
                <a:sym typeface="Arial"/>
              </a:rPr>
              <a:t> </a:t>
            </a:r>
            <a:r>
              <a:rPr lang="en-US" sz="2200" err="1">
                <a:latin typeface="Arial"/>
                <a:ea typeface="Arial"/>
                <a:cs typeface="Arial"/>
                <a:sym typeface="Arial"/>
              </a:rPr>
              <a:t>mua</a:t>
            </a:r>
            <a:r>
              <a:rPr lang="en-US" sz="2200">
                <a:latin typeface="Arial"/>
                <a:ea typeface="Arial"/>
                <a:cs typeface="Arial"/>
                <a:sym typeface="Arial"/>
              </a:rPr>
              <a:t> </a:t>
            </a:r>
            <a:r>
              <a:rPr lang="en-US" sz="2200" err="1">
                <a:latin typeface="Arial"/>
                <a:ea typeface="Arial"/>
                <a:cs typeface="Arial"/>
                <a:sym typeface="Arial"/>
              </a:rPr>
              <a:t>bán</a:t>
            </a:r>
            <a:r>
              <a:rPr lang="en-US" sz="2200">
                <a:latin typeface="Arial"/>
                <a:ea typeface="Arial"/>
                <a:cs typeface="Arial"/>
                <a:sym typeface="Arial"/>
              </a:rPr>
              <a:t> </a:t>
            </a:r>
            <a:r>
              <a:rPr lang="en-US" sz="2200" err="1">
                <a:latin typeface="Arial"/>
                <a:ea typeface="Arial"/>
                <a:cs typeface="Arial"/>
                <a:sym typeface="Arial"/>
              </a:rPr>
              <a:t>như</a:t>
            </a:r>
            <a:r>
              <a:rPr lang="en-US" sz="2200">
                <a:latin typeface="Arial"/>
                <a:ea typeface="Arial"/>
                <a:cs typeface="Arial"/>
                <a:sym typeface="Arial"/>
              </a:rPr>
              <a:t>: </a:t>
            </a:r>
            <a:r>
              <a:rPr lang="en-US" sz="2200" err="1">
                <a:latin typeface="Arial"/>
                <a:ea typeface="Arial"/>
                <a:cs typeface="Arial"/>
                <a:sym typeface="Arial"/>
              </a:rPr>
              <a:t>số</a:t>
            </a:r>
            <a:r>
              <a:rPr lang="en-US" sz="2200">
                <a:latin typeface="Arial"/>
                <a:ea typeface="Arial"/>
                <a:cs typeface="Arial"/>
                <a:sym typeface="Arial"/>
              </a:rPr>
              <a:t> </a:t>
            </a:r>
            <a:r>
              <a:rPr lang="en-US" sz="2200" err="1">
                <a:latin typeface="Arial"/>
                <a:ea typeface="Arial"/>
                <a:cs typeface="Arial"/>
                <a:sym typeface="Arial"/>
              </a:rPr>
              <a:t>lượng</a:t>
            </a:r>
            <a:r>
              <a:rPr lang="en-US" sz="2200">
                <a:latin typeface="Arial"/>
                <a:ea typeface="Arial"/>
                <a:cs typeface="Arial"/>
                <a:sym typeface="Arial"/>
              </a:rPr>
              <a:t>, qui </a:t>
            </a:r>
            <a:r>
              <a:rPr lang="en-US" sz="2200" err="1">
                <a:latin typeface="Arial"/>
                <a:ea typeface="Arial"/>
                <a:cs typeface="Arial"/>
                <a:sym typeface="Arial"/>
              </a:rPr>
              <a:t>cách</a:t>
            </a:r>
            <a:r>
              <a:rPr lang="en-US" sz="2200">
                <a:latin typeface="Arial"/>
                <a:ea typeface="Arial"/>
                <a:cs typeface="Arial"/>
                <a:sym typeface="Arial"/>
              </a:rPr>
              <a:t>, </a:t>
            </a:r>
            <a:r>
              <a:rPr lang="en-US" sz="2200" err="1">
                <a:latin typeface="Arial"/>
                <a:ea typeface="Arial"/>
                <a:cs typeface="Arial"/>
                <a:sym typeface="Arial"/>
              </a:rPr>
              <a:t>chất</a:t>
            </a:r>
            <a:r>
              <a:rPr lang="en-US" sz="2200">
                <a:latin typeface="Arial"/>
                <a:ea typeface="Arial"/>
                <a:cs typeface="Arial"/>
                <a:sym typeface="Arial"/>
              </a:rPr>
              <a:t> </a:t>
            </a:r>
            <a:r>
              <a:rPr lang="en-US" sz="2200" err="1">
                <a:latin typeface="Arial"/>
                <a:ea typeface="Arial"/>
                <a:cs typeface="Arial"/>
                <a:sym typeface="Arial"/>
              </a:rPr>
              <a:t>lượng</a:t>
            </a:r>
            <a:r>
              <a:rPr lang="en-US" sz="2200">
                <a:latin typeface="Arial"/>
                <a:ea typeface="Arial"/>
                <a:cs typeface="Arial"/>
                <a:sym typeface="Arial"/>
              </a:rPr>
              <a:t>, </a:t>
            </a:r>
            <a:r>
              <a:rPr lang="en-US" sz="2200" err="1">
                <a:latin typeface="Arial"/>
                <a:ea typeface="Arial"/>
                <a:cs typeface="Arial"/>
                <a:sym typeface="Arial"/>
              </a:rPr>
              <a:t>giá</a:t>
            </a:r>
            <a:r>
              <a:rPr lang="en-US" sz="2200">
                <a:latin typeface="Arial"/>
                <a:ea typeface="Arial"/>
                <a:cs typeface="Arial"/>
                <a:sym typeface="Arial"/>
              </a:rPr>
              <a:t> </a:t>
            </a:r>
            <a:r>
              <a:rPr lang="en-US" sz="2200" err="1">
                <a:latin typeface="Arial"/>
                <a:ea typeface="Arial"/>
                <a:cs typeface="Arial"/>
                <a:sym typeface="Arial"/>
              </a:rPr>
              <a:t>cả</a:t>
            </a:r>
            <a:r>
              <a:rPr lang="en-US" sz="2200">
                <a:latin typeface="Arial"/>
                <a:ea typeface="Arial"/>
                <a:cs typeface="Arial"/>
                <a:sym typeface="Arial"/>
              </a:rPr>
              <a:t>, </a:t>
            </a:r>
            <a:r>
              <a:rPr lang="en-US" sz="2200" err="1">
                <a:latin typeface="Arial"/>
                <a:ea typeface="Arial"/>
                <a:cs typeface="Arial"/>
                <a:sym typeface="Arial"/>
              </a:rPr>
              <a:t>danh</a:t>
            </a:r>
            <a:r>
              <a:rPr lang="en-US" sz="2200">
                <a:latin typeface="Arial"/>
                <a:ea typeface="Arial"/>
                <a:cs typeface="Arial"/>
                <a:sym typeface="Arial"/>
              </a:rPr>
              <a:t> </a:t>
            </a:r>
            <a:r>
              <a:rPr lang="en-US" sz="2200" err="1">
                <a:latin typeface="Arial"/>
                <a:ea typeface="Arial"/>
                <a:cs typeface="Arial"/>
                <a:sym typeface="Arial"/>
              </a:rPr>
              <a:t>mục</a:t>
            </a:r>
            <a:r>
              <a:rPr lang="en-US" sz="2200">
                <a:latin typeface="Arial"/>
                <a:ea typeface="Arial"/>
                <a:cs typeface="Arial"/>
                <a:sym typeface="Arial"/>
              </a:rPr>
              <a:t> </a:t>
            </a:r>
            <a:r>
              <a:rPr lang="en-US" sz="2200" err="1">
                <a:latin typeface="Arial"/>
                <a:ea typeface="Arial"/>
                <a:cs typeface="Arial"/>
                <a:sym typeface="Arial"/>
              </a:rPr>
              <a:t>hàng</a:t>
            </a:r>
            <a:r>
              <a:rPr lang="en-US" sz="2200">
                <a:latin typeface="Arial"/>
                <a:ea typeface="Arial"/>
                <a:cs typeface="Arial"/>
                <a:sym typeface="Arial"/>
              </a:rPr>
              <a:t>, </a:t>
            </a:r>
            <a:r>
              <a:rPr lang="en-US" sz="2200" err="1">
                <a:latin typeface="Arial"/>
                <a:ea typeface="Arial"/>
                <a:cs typeface="Arial"/>
                <a:sym typeface="Arial"/>
              </a:rPr>
              <a:t>các</a:t>
            </a:r>
            <a:r>
              <a:rPr lang="en-US" sz="2200">
                <a:latin typeface="Arial"/>
                <a:ea typeface="Arial"/>
                <a:cs typeface="Arial"/>
                <a:sym typeface="Arial"/>
              </a:rPr>
              <a:t> DV, </a:t>
            </a:r>
            <a:r>
              <a:rPr lang="en-US" sz="2200" err="1">
                <a:latin typeface="Arial"/>
                <a:ea typeface="Arial"/>
                <a:cs typeface="Arial"/>
                <a:sym typeface="Arial"/>
              </a:rPr>
              <a:t>phương</a:t>
            </a:r>
            <a:r>
              <a:rPr lang="en-US" sz="2200">
                <a:latin typeface="Arial"/>
                <a:ea typeface="Arial"/>
                <a:cs typeface="Arial"/>
                <a:sym typeface="Arial"/>
              </a:rPr>
              <a:t> </a:t>
            </a:r>
            <a:r>
              <a:rPr lang="en-US" sz="2200" err="1">
                <a:latin typeface="Arial"/>
                <a:ea typeface="Arial"/>
                <a:cs typeface="Arial"/>
                <a:sym typeface="Arial"/>
              </a:rPr>
              <a:t>thức</a:t>
            </a:r>
            <a:r>
              <a:rPr lang="en-US" sz="2200">
                <a:latin typeface="Arial"/>
                <a:ea typeface="Arial"/>
                <a:cs typeface="Arial"/>
                <a:sym typeface="Arial"/>
              </a:rPr>
              <a:t> </a:t>
            </a:r>
            <a:r>
              <a:rPr lang="en-US" sz="2200" err="1">
                <a:latin typeface="Arial"/>
                <a:ea typeface="Arial"/>
                <a:cs typeface="Arial"/>
                <a:sym typeface="Arial"/>
              </a:rPr>
              <a:t>thanh</a:t>
            </a:r>
            <a:r>
              <a:rPr lang="en-US" sz="2200">
                <a:latin typeface="Arial"/>
                <a:ea typeface="Arial"/>
                <a:cs typeface="Arial"/>
                <a:sym typeface="Arial"/>
              </a:rPr>
              <a:t> </a:t>
            </a:r>
            <a:r>
              <a:rPr lang="en-US" sz="2200" err="1">
                <a:latin typeface="Arial"/>
                <a:ea typeface="Arial"/>
                <a:cs typeface="Arial"/>
                <a:sym typeface="Arial"/>
              </a:rPr>
              <a:t>toán</a:t>
            </a:r>
            <a:r>
              <a:rPr lang="en-US" sz="2200">
                <a:latin typeface="Arial"/>
                <a:ea typeface="Arial"/>
                <a:cs typeface="Arial"/>
                <a:sym typeface="Arial"/>
              </a:rPr>
              <a:t>, </a:t>
            </a:r>
            <a:r>
              <a:rPr lang="en-US" sz="2200" err="1">
                <a:latin typeface="Arial"/>
                <a:ea typeface="Arial"/>
                <a:cs typeface="Arial"/>
                <a:sym typeface="Arial"/>
              </a:rPr>
              <a:t>giao</a:t>
            </a:r>
            <a:r>
              <a:rPr lang="en-US" sz="2200">
                <a:latin typeface="Arial"/>
                <a:ea typeface="Arial"/>
                <a:cs typeface="Arial"/>
                <a:sym typeface="Arial"/>
              </a:rPr>
              <a:t> </a:t>
            </a:r>
            <a:r>
              <a:rPr lang="en-US" sz="2200" err="1">
                <a:latin typeface="Arial"/>
                <a:ea typeface="Arial"/>
                <a:cs typeface="Arial"/>
                <a:sym typeface="Arial"/>
              </a:rPr>
              <a:t>hàng</a:t>
            </a:r>
            <a:r>
              <a:rPr lang="en-US" sz="2200">
                <a:latin typeface="Arial"/>
                <a:ea typeface="Arial"/>
                <a:cs typeface="Arial"/>
                <a:sym typeface="Arial"/>
              </a:rPr>
              <a:t> </a:t>
            </a:r>
            <a:r>
              <a:rPr lang="en-US" sz="2200" err="1">
                <a:latin typeface="Arial"/>
                <a:ea typeface="Arial"/>
                <a:cs typeface="Arial"/>
                <a:sym typeface="Arial"/>
              </a:rPr>
              <a:t>và</a:t>
            </a:r>
            <a:r>
              <a:rPr lang="en-US" sz="2200">
                <a:latin typeface="Arial"/>
                <a:ea typeface="Arial"/>
                <a:cs typeface="Arial"/>
                <a:sym typeface="Arial"/>
              </a:rPr>
              <a:t> </a:t>
            </a:r>
            <a:r>
              <a:rPr lang="en-US" sz="2200" err="1">
                <a:latin typeface="Arial"/>
                <a:ea typeface="Arial"/>
                <a:cs typeface="Arial"/>
                <a:sym typeface="Arial"/>
              </a:rPr>
              <a:t>những</a:t>
            </a:r>
            <a:r>
              <a:rPr lang="en-US" sz="2200">
                <a:latin typeface="Arial"/>
                <a:ea typeface="Arial"/>
                <a:cs typeface="Arial"/>
                <a:sym typeface="Arial"/>
              </a:rPr>
              <a:t> </a:t>
            </a:r>
            <a:r>
              <a:rPr lang="en-US" sz="2200" err="1">
                <a:latin typeface="Arial"/>
                <a:ea typeface="Arial"/>
                <a:cs typeface="Arial"/>
                <a:sym typeface="Arial"/>
              </a:rPr>
              <a:t>điều</a:t>
            </a:r>
            <a:r>
              <a:rPr lang="en-US" sz="2200">
                <a:latin typeface="Arial"/>
                <a:ea typeface="Arial"/>
                <a:cs typeface="Arial"/>
                <a:sym typeface="Arial"/>
              </a:rPr>
              <a:t> </a:t>
            </a:r>
            <a:r>
              <a:rPr lang="en-US" sz="2200" err="1">
                <a:latin typeface="Arial"/>
                <a:ea typeface="Arial"/>
                <a:cs typeface="Arial"/>
                <a:sym typeface="Arial"/>
              </a:rPr>
              <a:t>kiện</a:t>
            </a:r>
            <a:r>
              <a:rPr lang="en-US" sz="2200">
                <a:latin typeface="Arial"/>
                <a:ea typeface="Arial"/>
                <a:cs typeface="Arial"/>
                <a:sym typeface="Arial"/>
              </a:rPr>
              <a:t> </a:t>
            </a:r>
            <a:r>
              <a:rPr lang="en-US" sz="2200" err="1">
                <a:latin typeface="Arial"/>
                <a:ea typeface="Arial"/>
                <a:cs typeface="Arial"/>
                <a:sym typeface="Arial"/>
              </a:rPr>
              <a:t>ràng</a:t>
            </a:r>
            <a:r>
              <a:rPr lang="en-US" sz="2200">
                <a:latin typeface="Arial"/>
                <a:ea typeface="Arial"/>
                <a:cs typeface="Arial"/>
                <a:sym typeface="Arial"/>
              </a:rPr>
              <a:t> </a:t>
            </a:r>
            <a:r>
              <a:rPr lang="en-US" sz="2200" err="1">
                <a:latin typeface="Arial"/>
                <a:ea typeface="Arial"/>
                <a:cs typeface="Arial"/>
                <a:sym typeface="Arial"/>
              </a:rPr>
              <a:t>buộc</a:t>
            </a:r>
            <a:r>
              <a:rPr lang="en-US" sz="2200">
                <a:latin typeface="Arial"/>
                <a:ea typeface="Arial"/>
                <a:cs typeface="Arial"/>
                <a:sym typeface="Arial"/>
              </a:rPr>
              <a:t> </a:t>
            </a:r>
            <a:r>
              <a:rPr lang="en-US" sz="2200" err="1">
                <a:latin typeface="Arial"/>
                <a:ea typeface="Arial"/>
                <a:cs typeface="Arial"/>
                <a:sym typeface="Arial"/>
              </a:rPr>
              <a:t>hợp</a:t>
            </a:r>
            <a:r>
              <a:rPr lang="en-US" sz="2200">
                <a:latin typeface="Arial"/>
                <a:ea typeface="Arial"/>
                <a:cs typeface="Arial"/>
                <a:sym typeface="Arial"/>
              </a:rPr>
              <a:t> </a:t>
            </a:r>
            <a:r>
              <a:rPr lang="en-US" sz="2200" err="1">
                <a:latin typeface="Arial"/>
                <a:ea typeface="Arial"/>
                <a:cs typeface="Arial"/>
                <a:sym typeface="Arial"/>
              </a:rPr>
              <a:t>đồng</a:t>
            </a:r>
            <a:endParaRPr sz="2200">
              <a:latin typeface="Arial"/>
              <a:ea typeface="Arial"/>
              <a:cs typeface="Arial"/>
              <a:sym typeface="Arial"/>
            </a:endParaRPr>
          </a:p>
          <a:p>
            <a:pPr marL="914400" lvl="1" indent="-342900" algn="just" rtl="0">
              <a:lnSpc>
                <a:spcPct val="100000"/>
              </a:lnSpc>
              <a:spcBef>
                <a:spcPts val="500"/>
              </a:spcBef>
              <a:spcAft>
                <a:spcPts val="0"/>
              </a:spcAft>
              <a:buSzPts val="1800"/>
              <a:buFont typeface="Arial"/>
              <a:buChar char="-"/>
            </a:pPr>
            <a:r>
              <a:rPr lang="en-US" sz="2200" err="1">
                <a:latin typeface="Arial"/>
                <a:ea typeface="Arial"/>
                <a:cs typeface="Arial"/>
                <a:sym typeface="Arial"/>
              </a:rPr>
              <a:t>Người</a:t>
            </a:r>
            <a:r>
              <a:rPr lang="en-US" sz="2200">
                <a:latin typeface="Arial"/>
                <a:ea typeface="Arial"/>
                <a:cs typeface="Arial"/>
                <a:sym typeface="Arial"/>
              </a:rPr>
              <a:t> </a:t>
            </a:r>
            <a:r>
              <a:rPr lang="en-US" sz="2200" err="1">
                <a:latin typeface="Arial"/>
                <a:ea typeface="Arial"/>
                <a:cs typeface="Arial"/>
                <a:sym typeface="Arial"/>
              </a:rPr>
              <a:t>mua</a:t>
            </a:r>
            <a:r>
              <a:rPr lang="en-US" sz="2200">
                <a:latin typeface="Arial"/>
                <a:ea typeface="Arial"/>
                <a:cs typeface="Arial"/>
                <a:sym typeface="Arial"/>
              </a:rPr>
              <a:t> </a:t>
            </a:r>
            <a:r>
              <a:rPr lang="en-US" sz="2200" err="1">
                <a:latin typeface="Arial"/>
                <a:ea typeface="Arial"/>
                <a:cs typeface="Arial"/>
                <a:sym typeface="Arial"/>
              </a:rPr>
              <a:t>quan</a:t>
            </a:r>
            <a:r>
              <a:rPr lang="en-US" sz="2200">
                <a:latin typeface="Arial"/>
                <a:ea typeface="Arial"/>
                <a:cs typeface="Arial"/>
                <a:sym typeface="Arial"/>
              </a:rPr>
              <a:t> </a:t>
            </a:r>
            <a:r>
              <a:rPr lang="en-US" sz="2200" err="1">
                <a:latin typeface="Arial"/>
                <a:ea typeface="Arial"/>
                <a:cs typeface="Arial"/>
                <a:sym typeface="Arial"/>
              </a:rPr>
              <a:t>tâm</a:t>
            </a:r>
            <a:r>
              <a:rPr lang="en-US" sz="2200">
                <a:latin typeface="Arial"/>
                <a:ea typeface="Arial"/>
                <a:cs typeface="Arial"/>
                <a:sym typeface="Arial"/>
              </a:rPr>
              <a:t> </a:t>
            </a:r>
            <a:r>
              <a:rPr lang="en-US" sz="2200" err="1">
                <a:latin typeface="Arial"/>
                <a:ea typeface="Arial"/>
                <a:cs typeface="Arial"/>
                <a:sym typeface="Arial"/>
              </a:rPr>
              <a:t>đến</a:t>
            </a:r>
            <a:r>
              <a:rPr lang="en-US" sz="2200">
                <a:latin typeface="Arial"/>
                <a:ea typeface="Arial"/>
                <a:cs typeface="Arial"/>
                <a:sym typeface="Arial"/>
              </a:rPr>
              <a:t> </a:t>
            </a:r>
            <a:r>
              <a:rPr lang="en-US" sz="2200" err="1">
                <a:latin typeface="Arial"/>
                <a:ea typeface="Arial"/>
                <a:cs typeface="Arial"/>
                <a:sym typeface="Arial"/>
              </a:rPr>
              <a:t>việc</a:t>
            </a:r>
            <a:r>
              <a:rPr lang="en-US" sz="2200">
                <a:latin typeface="Arial"/>
                <a:ea typeface="Arial"/>
                <a:cs typeface="Arial"/>
                <a:sym typeface="Arial"/>
              </a:rPr>
              <a:t> </a:t>
            </a:r>
            <a:r>
              <a:rPr lang="en-US" sz="2200" err="1">
                <a:latin typeface="Arial"/>
                <a:ea typeface="Arial"/>
                <a:cs typeface="Arial"/>
                <a:sym typeface="Arial"/>
              </a:rPr>
              <a:t>ký</a:t>
            </a:r>
            <a:r>
              <a:rPr lang="en-US" sz="2200">
                <a:latin typeface="Arial"/>
                <a:ea typeface="Arial"/>
                <a:cs typeface="Arial"/>
                <a:sym typeface="Arial"/>
              </a:rPr>
              <a:t> </a:t>
            </a:r>
            <a:r>
              <a:rPr lang="en-US" sz="2200" err="1">
                <a:latin typeface="Arial"/>
                <a:ea typeface="Arial"/>
                <a:cs typeface="Arial"/>
                <a:sym typeface="Arial"/>
              </a:rPr>
              <a:t>kết</a:t>
            </a:r>
            <a:r>
              <a:rPr lang="en-US" sz="2200">
                <a:latin typeface="Arial"/>
                <a:ea typeface="Arial"/>
                <a:cs typeface="Arial"/>
                <a:sym typeface="Arial"/>
              </a:rPr>
              <a:t> </a:t>
            </a:r>
            <a:r>
              <a:rPr lang="en-US" sz="2200" err="1">
                <a:latin typeface="Arial"/>
                <a:ea typeface="Arial"/>
                <a:cs typeface="Arial"/>
                <a:sym typeface="Arial"/>
              </a:rPr>
              <a:t>hợp</a:t>
            </a:r>
            <a:r>
              <a:rPr lang="en-US" sz="2200">
                <a:latin typeface="Arial"/>
                <a:ea typeface="Arial"/>
                <a:cs typeface="Arial"/>
                <a:sym typeface="Arial"/>
              </a:rPr>
              <a:t> </a:t>
            </a:r>
            <a:r>
              <a:rPr lang="en-US" sz="2200" err="1">
                <a:latin typeface="Arial"/>
                <a:ea typeface="Arial"/>
                <a:cs typeface="Arial"/>
                <a:sym typeface="Arial"/>
              </a:rPr>
              <a:t>đồng</a:t>
            </a:r>
            <a:r>
              <a:rPr lang="en-US" sz="2200">
                <a:latin typeface="Arial"/>
                <a:ea typeface="Arial"/>
                <a:cs typeface="Arial"/>
                <a:sym typeface="Arial"/>
              </a:rPr>
              <a:t> </a:t>
            </a:r>
            <a:r>
              <a:rPr lang="en-US" sz="2200" err="1">
                <a:latin typeface="Arial"/>
                <a:ea typeface="Arial"/>
                <a:cs typeface="Arial"/>
                <a:sym typeface="Arial"/>
              </a:rPr>
              <a:t>mua</a:t>
            </a:r>
            <a:r>
              <a:rPr lang="en-US" sz="2200">
                <a:latin typeface="Arial"/>
                <a:ea typeface="Arial"/>
                <a:cs typeface="Arial"/>
                <a:sym typeface="Arial"/>
              </a:rPr>
              <a:t> – </a:t>
            </a:r>
            <a:r>
              <a:rPr lang="en-US" sz="2200" err="1">
                <a:latin typeface="Arial"/>
                <a:ea typeface="Arial"/>
                <a:cs typeface="Arial"/>
                <a:sym typeface="Arial"/>
              </a:rPr>
              <a:t>bán</a:t>
            </a:r>
            <a:r>
              <a:rPr lang="en-US" sz="2200">
                <a:latin typeface="Arial"/>
                <a:ea typeface="Arial"/>
                <a:cs typeface="Arial"/>
                <a:sym typeface="Arial"/>
              </a:rPr>
              <a:t> </a:t>
            </a:r>
            <a:r>
              <a:rPr lang="en-US" sz="2200" err="1">
                <a:latin typeface="Arial"/>
                <a:ea typeface="Arial"/>
                <a:cs typeface="Arial"/>
                <a:sym typeface="Arial"/>
              </a:rPr>
              <a:t>dễ</a:t>
            </a:r>
            <a:r>
              <a:rPr lang="en-US" sz="2200">
                <a:latin typeface="Arial"/>
                <a:ea typeface="Arial"/>
                <a:cs typeface="Arial"/>
                <a:sym typeface="Arial"/>
              </a:rPr>
              <a:t> </a:t>
            </a:r>
            <a:r>
              <a:rPr lang="en-US" sz="2200" err="1">
                <a:latin typeface="Arial"/>
                <a:ea typeface="Arial"/>
                <a:cs typeface="Arial"/>
                <a:sym typeface="Arial"/>
              </a:rPr>
              <a:t>dàng</a:t>
            </a:r>
            <a:r>
              <a:rPr lang="en-US" sz="2200">
                <a:latin typeface="Arial"/>
                <a:ea typeface="Arial"/>
                <a:cs typeface="Arial"/>
                <a:sym typeface="Arial"/>
              </a:rPr>
              <a:t> hay </a:t>
            </a:r>
            <a:r>
              <a:rPr lang="en-US" sz="2200" err="1">
                <a:latin typeface="Arial"/>
                <a:ea typeface="Arial"/>
                <a:cs typeface="Arial"/>
                <a:sym typeface="Arial"/>
              </a:rPr>
              <a:t>khó</a:t>
            </a:r>
            <a:r>
              <a:rPr lang="en-US" sz="2200">
                <a:latin typeface="Arial"/>
                <a:ea typeface="Arial"/>
                <a:cs typeface="Arial"/>
                <a:sym typeface="Arial"/>
              </a:rPr>
              <a:t> </a:t>
            </a:r>
            <a:r>
              <a:rPr lang="en-US" sz="2200" err="1">
                <a:latin typeface="Arial"/>
                <a:ea typeface="Arial"/>
                <a:cs typeface="Arial"/>
                <a:sym typeface="Arial"/>
              </a:rPr>
              <a:t>khăn</a:t>
            </a:r>
            <a:r>
              <a:rPr lang="en-US" sz="2200">
                <a:latin typeface="Arial"/>
                <a:ea typeface="Arial"/>
                <a:cs typeface="Arial"/>
                <a:sym typeface="Arial"/>
              </a:rPr>
              <a:t> </a:t>
            </a:r>
            <a:r>
              <a:rPr lang="en-US" sz="2200" err="1">
                <a:latin typeface="Arial"/>
                <a:ea typeface="Arial"/>
                <a:cs typeface="Arial"/>
                <a:sym typeface="Arial"/>
              </a:rPr>
              <a:t>và</a:t>
            </a:r>
            <a:r>
              <a:rPr lang="en-US" sz="2200">
                <a:latin typeface="Arial"/>
                <a:ea typeface="Arial"/>
                <a:cs typeface="Arial"/>
                <a:sym typeface="Arial"/>
              </a:rPr>
              <a:t> </a:t>
            </a:r>
            <a:r>
              <a:rPr lang="en-US" sz="2200" err="1">
                <a:latin typeface="Arial"/>
                <a:ea typeface="Arial"/>
                <a:cs typeface="Arial"/>
                <a:sym typeface="Arial"/>
              </a:rPr>
              <a:t>khả</a:t>
            </a:r>
            <a:r>
              <a:rPr lang="en-US" sz="2200">
                <a:latin typeface="Arial"/>
                <a:ea typeface="Arial"/>
                <a:cs typeface="Arial"/>
                <a:sym typeface="Arial"/>
              </a:rPr>
              <a:t> </a:t>
            </a:r>
            <a:r>
              <a:rPr lang="en-US" sz="2200" err="1">
                <a:latin typeface="Arial"/>
                <a:ea typeface="Arial"/>
                <a:cs typeface="Arial"/>
                <a:sym typeface="Arial"/>
              </a:rPr>
              <a:t>năng</a:t>
            </a:r>
            <a:r>
              <a:rPr lang="en-US" sz="2200">
                <a:latin typeface="Arial"/>
                <a:ea typeface="Arial"/>
                <a:cs typeface="Arial"/>
                <a:sym typeface="Arial"/>
              </a:rPr>
              <a:t> </a:t>
            </a:r>
            <a:r>
              <a:rPr lang="en-US" sz="2200" err="1">
                <a:latin typeface="Arial"/>
                <a:ea typeface="Arial"/>
                <a:cs typeface="Arial"/>
                <a:sym typeface="Arial"/>
              </a:rPr>
              <a:t>đáp</a:t>
            </a:r>
            <a:r>
              <a:rPr lang="en-US" sz="2200">
                <a:latin typeface="Arial"/>
                <a:ea typeface="Arial"/>
                <a:cs typeface="Arial"/>
                <a:sym typeface="Arial"/>
              </a:rPr>
              <a:t> </a:t>
            </a:r>
            <a:r>
              <a:rPr lang="en-US" sz="2200" err="1">
                <a:latin typeface="Arial"/>
                <a:ea typeface="Arial"/>
                <a:cs typeface="Arial"/>
                <a:sym typeface="Arial"/>
              </a:rPr>
              <a:t>ứng</a:t>
            </a:r>
            <a:r>
              <a:rPr lang="en-US" sz="2200">
                <a:latin typeface="Arial"/>
                <a:ea typeface="Arial"/>
                <a:cs typeface="Arial"/>
                <a:sym typeface="Arial"/>
              </a:rPr>
              <a:t> </a:t>
            </a:r>
            <a:r>
              <a:rPr lang="en-US" sz="2200" err="1">
                <a:latin typeface="Arial"/>
                <a:ea typeface="Arial"/>
                <a:cs typeface="Arial"/>
                <a:sym typeface="Arial"/>
              </a:rPr>
              <a:t>của</a:t>
            </a:r>
            <a:r>
              <a:rPr lang="en-US" sz="2200">
                <a:latin typeface="Arial"/>
                <a:ea typeface="Arial"/>
                <a:cs typeface="Arial"/>
                <a:sym typeface="Arial"/>
              </a:rPr>
              <a:t> </a:t>
            </a:r>
            <a:r>
              <a:rPr lang="en-US" sz="2200" err="1">
                <a:latin typeface="Arial"/>
                <a:ea typeface="Arial"/>
                <a:cs typeface="Arial"/>
                <a:sym typeface="Arial"/>
              </a:rPr>
              <a:t>người</a:t>
            </a:r>
            <a:r>
              <a:rPr lang="en-US" sz="2200">
                <a:latin typeface="Arial"/>
                <a:ea typeface="Arial"/>
                <a:cs typeface="Arial"/>
                <a:sym typeface="Arial"/>
              </a:rPr>
              <a:t> </a:t>
            </a:r>
            <a:r>
              <a:rPr lang="en-US" sz="2200" err="1">
                <a:latin typeface="Arial"/>
                <a:ea typeface="Arial"/>
                <a:cs typeface="Arial"/>
                <a:sym typeface="Arial"/>
              </a:rPr>
              <a:t>bán</a:t>
            </a:r>
            <a:r>
              <a:rPr lang="en-US" sz="2200">
                <a:latin typeface="Arial"/>
                <a:ea typeface="Arial"/>
                <a:cs typeface="Arial"/>
                <a:sym typeface="Arial"/>
              </a:rPr>
              <a:t> </a:t>
            </a:r>
            <a:r>
              <a:rPr lang="en-US" sz="2200" err="1">
                <a:latin typeface="Arial"/>
                <a:ea typeface="Arial"/>
                <a:cs typeface="Arial"/>
                <a:sym typeface="Arial"/>
              </a:rPr>
              <a:t>khi</a:t>
            </a:r>
            <a:r>
              <a:rPr lang="en-US" sz="2200">
                <a:latin typeface="Arial"/>
                <a:ea typeface="Arial"/>
                <a:cs typeface="Arial"/>
                <a:sym typeface="Arial"/>
              </a:rPr>
              <a:t> </a:t>
            </a:r>
            <a:r>
              <a:rPr lang="en-US" sz="2200" err="1">
                <a:latin typeface="Arial"/>
                <a:ea typeface="Arial"/>
                <a:cs typeface="Arial"/>
                <a:sym typeface="Arial"/>
              </a:rPr>
              <a:t>người</a:t>
            </a:r>
            <a:r>
              <a:rPr lang="en-US" sz="2200">
                <a:latin typeface="Arial"/>
                <a:ea typeface="Arial"/>
                <a:cs typeface="Arial"/>
                <a:sym typeface="Arial"/>
              </a:rPr>
              <a:t> </a:t>
            </a:r>
            <a:r>
              <a:rPr lang="en-US" sz="2200" err="1">
                <a:latin typeface="Arial"/>
                <a:ea typeface="Arial"/>
                <a:cs typeface="Arial"/>
                <a:sym typeface="Arial"/>
              </a:rPr>
              <a:t>mua</a:t>
            </a:r>
            <a:r>
              <a:rPr lang="en-US" sz="2200">
                <a:latin typeface="Arial"/>
                <a:ea typeface="Arial"/>
                <a:cs typeface="Arial"/>
                <a:sym typeface="Arial"/>
              </a:rPr>
              <a:t> </a:t>
            </a:r>
            <a:r>
              <a:rPr lang="en-US" sz="2200" err="1">
                <a:latin typeface="Arial"/>
                <a:ea typeface="Arial"/>
                <a:cs typeface="Arial"/>
                <a:sym typeface="Arial"/>
              </a:rPr>
              <a:t>điều</a:t>
            </a:r>
            <a:r>
              <a:rPr lang="en-US" sz="2200">
                <a:latin typeface="Arial"/>
                <a:ea typeface="Arial"/>
                <a:cs typeface="Arial"/>
                <a:sym typeface="Arial"/>
              </a:rPr>
              <a:t> </a:t>
            </a:r>
            <a:r>
              <a:rPr lang="en-US" sz="2200" err="1">
                <a:latin typeface="Arial"/>
                <a:ea typeface="Arial"/>
                <a:cs typeface="Arial"/>
                <a:sym typeface="Arial"/>
              </a:rPr>
              <a:t>chỉnh</a:t>
            </a:r>
            <a:r>
              <a:rPr lang="en-US" sz="2200">
                <a:latin typeface="Arial"/>
                <a:ea typeface="Arial"/>
                <a:cs typeface="Arial"/>
                <a:sym typeface="Arial"/>
              </a:rPr>
              <a:t> </a:t>
            </a:r>
            <a:r>
              <a:rPr lang="en-US" sz="2200" err="1">
                <a:latin typeface="Arial"/>
                <a:ea typeface="Arial"/>
                <a:cs typeface="Arial"/>
                <a:sym typeface="Arial"/>
              </a:rPr>
              <a:t>hợp</a:t>
            </a:r>
            <a:r>
              <a:rPr lang="en-US" sz="2200">
                <a:latin typeface="Arial"/>
                <a:ea typeface="Arial"/>
                <a:cs typeface="Arial"/>
                <a:sym typeface="Arial"/>
              </a:rPr>
              <a:t> </a:t>
            </a:r>
            <a:r>
              <a:rPr lang="en-US" sz="2200" err="1">
                <a:latin typeface="Arial"/>
                <a:ea typeface="Arial"/>
                <a:cs typeface="Arial"/>
                <a:sym typeface="Arial"/>
              </a:rPr>
              <a:t>đồng</a:t>
            </a:r>
            <a:r>
              <a:rPr lang="en-US" sz="2200">
                <a:latin typeface="Arial"/>
                <a:ea typeface="Arial"/>
                <a:cs typeface="Arial"/>
                <a:sym typeface="Arial"/>
              </a:rPr>
              <a:t>.</a:t>
            </a:r>
            <a:endParaRPr/>
          </a:p>
          <a:p>
            <a:pPr marL="457200" lvl="0" indent="-342900" algn="just" rtl="0">
              <a:lnSpc>
                <a:spcPct val="100000"/>
              </a:lnSpc>
              <a:spcBef>
                <a:spcPts val="1000"/>
              </a:spcBef>
              <a:spcAft>
                <a:spcPts val="0"/>
              </a:spcAft>
              <a:buSzPts val="1800"/>
              <a:buChar char="•"/>
            </a:pPr>
            <a:r>
              <a:rPr lang="en-US" sz="2200" b="1" err="1">
                <a:latin typeface="Arial"/>
                <a:ea typeface="Arial"/>
                <a:cs typeface="Arial"/>
                <a:sym typeface="Arial"/>
              </a:rPr>
              <a:t>Bước</a:t>
            </a:r>
            <a:r>
              <a:rPr lang="en-US" sz="2200" b="1">
                <a:latin typeface="Arial"/>
                <a:ea typeface="Arial"/>
                <a:cs typeface="Arial"/>
                <a:sym typeface="Arial"/>
              </a:rPr>
              <a:t> 8: </a:t>
            </a:r>
            <a:r>
              <a:rPr lang="en-US" sz="2200" b="1" err="1">
                <a:latin typeface="Arial"/>
                <a:ea typeface="Arial"/>
                <a:cs typeface="Arial"/>
                <a:sym typeface="Arial"/>
              </a:rPr>
              <a:t>Đánh</a:t>
            </a:r>
            <a:r>
              <a:rPr lang="en-US" sz="2200" b="1">
                <a:latin typeface="Arial"/>
                <a:ea typeface="Arial"/>
                <a:cs typeface="Arial"/>
                <a:sym typeface="Arial"/>
              </a:rPr>
              <a:t> </a:t>
            </a:r>
            <a:r>
              <a:rPr lang="en-US" sz="2200" b="1" err="1">
                <a:latin typeface="Arial"/>
                <a:ea typeface="Arial"/>
                <a:cs typeface="Arial"/>
                <a:sym typeface="Arial"/>
              </a:rPr>
              <a:t>giá</a:t>
            </a:r>
            <a:r>
              <a:rPr lang="en-US" sz="2200" b="1">
                <a:latin typeface="Arial"/>
                <a:ea typeface="Arial"/>
                <a:cs typeface="Arial"/>
                <a:sym typeface="Arial"/>
              </a:rPr>
              <a:t> </a:t>
            </a:r>
            <a:r>
              <a:rPr lang="en-US" sz="2200" b="1" err="1">
                <a:latin typeface="Arial"/>
                <a:ea typeface="Arial"/>
                <a:cs typeface="Arial"/>
                <a:sym typeface="Arial"/>
              </a:rPr>
              <a:t>kết</a:t>
            </a:r>
            <a:r>
              <a:rPr lang="en-US" sz="2200" b="1">
                <a:latin typeface="Arial"/>
                <a:ea typeface="Arial"/>
                <a:cs typeface="Arial"/>
                <a:sym typeface="Arial"/>
              </a:rPr>
              <a:t> </a:t>
            </a:r>
            <a:r>
              <a:rPr lang="en-US" sz="2200" b="1" err="1">
                <a:latin typeface="Arial"/>
                <a:ea typeface="Arial"/>
                <a:cs typeface="Arial"/>
                <a:sym typeface="Arial"/>
              </a:rPr>
              <a:t>quả</a:t>
            </a:r>
            <a:endParaRPr sz="2200">
              <a:latin typeface="Arial"/>
              <a:ea typeface="Arial"/>
              <a:cs typeface="Arial"/>
              <a:sym typeface="Arial"/>
            </a:endParaRPr>
          </a:p>
          <a:p>
            <a:pPr marL="914400" lvl="1" indent="-342900" algn="l" rtl="0">
              <a:lnSpc>
                <a:spcPct val="100000"/>
              </a:lnSpc>
              <a:spcBef>
                <a:spcPts val="500"/>
              </a:spcBef>
              <a:spcAft>
                <a:spcPts val="0"/>
              </a:spcAft>
              <a:buSzPts val="1800"/>
              <a:buFont typeface="Arial"/>
              <a:buChar char="-"/>
            </a:pPr>
            <a:r>
              <a:rPr lang="en-US" sz="2200" err="1">
                <a:latin typeface="Arial"/>
                <a:ea typeface="Arial"/>
                <a:cs typeface="Arial"/>
                <a:sym typeface="Arial"/>
              </a:rPr>
              <a:t>Người</a:t>
            </a:r>
            <a:r>
              <a:rPr lang="en-US" sz="2200">
                <a:latin typeface="Arial"/>
                <a:ea typeface="Arial"/>
                <a:cs typeface="Arial"/>
                <a:sym typeface="Arial"/>
              </a:rPr>
              <a:t> </a:t>
            </a:r>
            <a:r>
              <a:rPr lang="en-US" sz="2200" err="1">
                <a:latin typeface="Arial"/>
                <a:ea typeface="Arial"/>
                <a:cs typeface="Arial"/>
                <a:sym typeface="Arial"/>
              </a:rPr>
              <a:t>mua</a:t>
            </a:r>
            <a:r>
              <a:rPr lang="en-US" sz="2200">
                <a:latin typeface="Arial"/>
                <a:ea typeface="Arial"/>
                <a:cs typeface="Arial"/>
                <a:sym typeface="Arial"/>
              </a:rPr>
              <a:t> </a:t>
            </a:r>
            <a:r>
              <a:rPr lang="en-US" sz="2200" err="1">
                <a:latin typeface="Arial"/>
                <a:ea typeface="Arial"/>
                <a:cs typeface="Arial"/>
                <a:sym typeface="Arial"/>
              </a:rPr>
              <a:t>có</a:t>
            </a:r>
            <a:r>
              <a:rPr lang="en-US" sz="2200">
                <a:latin typeface="Arial"/>
                <a:ea typeface="Arial"/>
                <a:cs typeface="Arial"/>
                <a:sym typeface="Arial"/>
              </a:rPr>
              <a:t> </a:t>
            </a:r>
            <a:r>
              <a:rPr lang="en-US" sz="2200" err="1">
                <a:latin typeface="Arial"/>
                <a:ea typeface="Arial"/>
                <a:cs typeface="Arial"/>
                <a:sym typeface="Arial"/>
              </a:rPr>
              <a:t>thể</a:t>
            </a:r>
            <a:r>
              <a:rPr lang="en-US" sz="2200">
                <a:latin typeface="Arial"/>
                <a:ea typeface="Arial"/>
                <a:cs typeface="Arial"/>
                <a:sym typeface="Arial"/>
              </a:rPr>
              <a:t> </a:t>
            </a:r>
            <a:r>
              <a:rPr lang="en-US" sz="2200" err="1">
                <a:latin typeface="Arial"/>
                <a:ea typeface="Arial"/>
                <a:cs typeface="Arial"/>
                <a:sym typeface="Arial"/>
              </a:rPr>
              <a:t>liên</a:t>
            </a:r>
            <a:r>
              <a:rPr lang="en-US" sz="2200">
                <a:latin typeface="Arial"/>
                <a:ea typeface="Arial"/>
                <a:cs typeface="Arial"/>
                <a:sym typeface="Arial"/>
              </a:rPr>
              <a:t> </a:t>
            </a:r>
            <a:r>
              <a:rPr lang="en-US" sz="2200" err="1">
                <a:latin typeface="Arial"/>
                <a:ea typeface="Arial"/>
                <a:cs typeface="Arial"/>
                <a:sym typeface="Arial"/>
              </a:rPr>
              <a:t>hệ</a:t>
            </a:r>
            <a:r>
              <a:rPr lang="en-US" sz="2200">
                <a:latin typeface="Arial"/>
                <a:ea typeface="Arial"/>
                <a:cs typeface="Arial"/>
                <a:sym typeface="Arial"/>
              </a:rPr>
              <a:t> </a:t>
            </a:r>
            <a:r>
              <a:rPr lang="en-US" sz="2200" err="1">
                <a:latin typeface="Arial"/>
                <a:ea typeface="Arial"/>
                <a:cs typeface="Arial"/>
                <a:sym typeface="Arial"/>
              </a:rPr>
              <a:t>với</a:t>
            </a:r>
            <a:r>
              <a:rPr lang="en-US" sz="2200">
                <a:latin typeface="Arial"/>
                <a:ea typeface="Arial"/>
                <a:cs typeface="Arial"/>
                <a:sym typeface="Arial"/>
              </a:rPr>
              <a:t> </a:t>
            </a:r>
            <a:r>
              <a:rPr lang="en-US" sz="2200" err="1">
                <a:latin typeface="Arial"/>
                <a:ea typeface="Arial"/>
                <a:cs typeface="Arial"/>
                <a:sym typeface="Arial"/>
              </a:rPr>
              <a:t>những</a:t>
            </a:r>
            <a:r>
              <a:rPr lang="en-US" sz="2200">
                <a:latin typeface="Arial"/>
                <a:ea typeface="Arial"/>
                <a:cs typeface="Arial"/>
                <a:sym typeface="Arial"/>
              </a:rPr>
              <a:t> </a:t>
            </a:r>
            <a:r>
              <a:rPr lang="en-US" sz="2200" err="1">
                <a:latin typeface="Arial"/>
                <a:ea typeface="Arial"/>
                <a:cs typeface="Arial"/>
                <a:sym typeface="Arial"/>
              </a:rPr>
              <a:t>người</a:t>
            </a:r>
            <a:r>
              <a:rPr lang="en-US" sz="2200">
                <a:latin typeface="Arial"/>
                <a:ea typeface="Arial"/>
                <a:cs typeface="Arial"/>
                <a:sym typeface="Arial"/>
              </a:rPr>
              <a:t> </a:t>
            </a:r>
            <a:r>
              <a:rPr lang="en-US" sz="2200" err="1">
                <a:latin typeface="Arial"/>
                <a:ea typeface="Arial"/>
                <a:cs typeface="Arial"/>
                <a:sym typeface="Arial"/>
              </a:rPr>
              <a:t>dùng</a:t>
            </a:r>
            <a:r>
              <a:rPr lang="en-US" sz="2200">
                <a:latin typeface="Arial"/>
                <a:ea typeface="Arial"/>
                <a:cs typeface="Arial"/>
                <a:sym typeface="Arial"/>
              </a:rPr>
              <a:t> SP/DV </a:t>
            </a:r>
            <a:r>
              <a:rPr lang="en-US" sz="2200" err="1">
                <a:latin typeface="Arial"/>
                <a:ea typeface="Arial"/>
                <a:cs typeface="Arial"/>
                <a:sym typeface="Arial"/>
              </a:rPr>
              <a:t>và</a:t>
            </a:r>
            <a:r>
              <a:rPr lang="en-US" sz="2200">
                <a:latin typeface="Arial"/>
                <a:ea typeface="Arial"/>
                <a:cs typeface="Arial"/>
                <a:sym typeface="Arial"/>
              </a:rPr>
              <a:t> </a:t>
            </a:r>
            <a:r>
              <a:rPr lang="en-US" sz="2200" err="1">
                <a:latin typeface="Arial"/>
                <a:ea typeface="Arial"/>
                <a:cs typeface="Arial"/>
                <a:sym typeface="Arial"/>
              </a:rPr>
              <a:t>lấy</a:t>
            </a:r>
            <a:r>
              <a:rPr lang="en-US" sz="2200">
                <a:latin typeface="Arial"/>
                <a:ea typeface="Arial"/>
                <a:cs typeface="Arial"/>
                <a:sym typeface="Arial"/>
              </a:rPr>
              <a:t> ý </a:t>
            </a:r>
            <a:r>
              <a:rPr lang="en-US" sz="2200" err="1">
                <a:latin typeface="Arial"/>
                <a:ea typeface="Arial"/>
                <a:cs typeface="Arial"/>
                <a:sym typeface="Arial"/>
              </a:rPr>
              <a:t>kiến</a:t>
            </a:r>
            <a:r>
              <a:rPr lang="en-US" sz="2200">
                <a:latin typeface="Arial"/>
                <a:ea typeface="Arial"/>
                <a:cs typeface="Arial"/>
                <a:sym typeface="Arial"/>
              </a:rPr>
              <a:t> </a:t>
            </a:r>
            <a:r>
              <a:rPr lang="en-US" sz="2200" err="1">
                <a:latin typeface="Arial"/>
                <a:ea typeface="Arial"/>
                <a:cs typeface="Arial"/>
                <a:sym typeface="Arial"/>
              </a:rPr>
              <a:t>đánh</a:t>
            </a:r>
            <a:r>
              <a:rPr lang="en-US" sz="2200">
                <a:latin typeface="Arial"/>
                <a:ea typeface="Arial"/>
                <a:cs typeface="Arial"/>
                <a:sym typeface="Arial"/>
              </a:rPr>
              <a:t> </a:t>
            </a:r>
            <a:r>
              <a:rPr lang="en-US" sz="2200" err="1">
                <a:latin typeface="Arial"/>
                <a:ea typeface="Arial"/>
                <a:cs typeface="Arial"/>
                <a:sym typeface="Arial"/>
              </a:rPr>
              <a:t>giá</a:t>
            </a:r>
            <a:endParaRPr sz="2200">
              <a:latin typeface="Arial"/>
              <a:ea typeface="Arial"/>
              <a:cs typeface="Arial"/>
              <a:sym typeface="Arial"/>
            </a:endParaRPr>
          </a:p>
          <a:p>
            <a:pPr marL="914400" lvl="1" indent="-342900" algn="l" rtl="0">
              <a:lnSpc>
                <a:spcPct val="100000"/>
              </a:lnSpc>
              <a:spcBef>
                <a:spcPts val="500"/>
              </a:spcBef>
              <a:spcAft>
                <a:spcPts val="0"/>
              </a:spcAft>
              <a:buSzPts val="1800"/>
              <a:buFont typeface="Arial"/>
              <a:buChar char="-"/>
            </a:pPr>
            <a:r>
              <a:rPr lang="en-US" sz="2200" err="1">
                <a:latin typeface="Arial"/>
                <a:ea typeface="Arial"/>
                <a:cs typeface="Arial"/>
                <a:sym typeface="Arial"/>
              </a:rPr>
              <a:t>Người</a:t>
            </a:r>
            <a:r>
              <a:rPr lang="en-US" sz="2200">
                <a:latin typeface="Arial"/>
                <a:ea typeface="Arial"/>
                <a:cs typeface="Arial"/>
                <a:sym typeface="Arial"/>
              </a:rPr>
              <a:t> </a:t>
            </a:r>
            <a:r>
              <a:rPr lang="en-US" sz="2200" err="1">
                <a:latin typeface="Arial"/>
                <a:ea typeface="Arial"/>
                <a:cs typeface="Arial"/>
                <a:sym typeface="Arial"/>
              </a:rPr>
              <a:t>mua</a:t>
            </a:r>
            <a:r>
              <a:rPr lang="en-US" sz="2200">
                <a:latin typeface="Arial"/>
                <a:ea typeface="Arial"/>
                <a:cs typeface="Arial"/>
                <a:sym typeface="Arial"/>
              </a:rPr>
              <a:t> </a:t>
            </a:r>
            <a:r>
              <a:rPr lang="en-US" sz="2200" err="1">
                <a:latin typeface="Arial"/>
                <a:ea typeface="Arial"/>
                <a:cs typeface="Arial"/>
                <a:sym typeface="Arial"/>
              </a:rPr>
              <a:t>có</a:t>
            </a:r>
            <a:r>
              <a:rPr lang="en-US" sz="2200">
                <a:latin typeface="Arial"/>
                <a:ea typeface="Arial"/>
                <a:cs typeface="Arial"/>
                <a:sym typeface="Arial"/>
              </a:rPr>
              <a:t> </a:t>
            </a:r>
            <a:r>
              <a:rPr lang="en-US" sz="2200" err="1">
                <a:latin typeface="Arial"/>
                <a:ea typeface="Arial"/>
                <a:cs typeface="Arial"/>
                <a:sym typeface="Arial"/>
              </a:rPr>
              <a:t>thể</a:t>
            </a:r>
            <a:r>
              <a:rPr lang="en-US" sz="2200">
                <a:latin typeface="Arial"/>
                <a:ea typeface="Arial"/>
                <a:cs typeface="Arial"/>
                <a:sym typeface="Arial"/>
              </a:rPr>
              <a:t> </a:t>
            </a:r>
            <a:r>
              <a:rPr lang="en-US" sz="2200" err="1">
                <a:latin typeface="Arial"/>
                <a:ea typeface="Arial"/>
                <a:cs typeface="Arial"/>
                <a:sym typeface="Arial"/>
              </a:rPr>
              <a:t>đánh</a:t>
            </a:r>
            <a:r>
              <a:rPr lang="en-US" sz="2200">
                <a:latin typeface="Arial"/>
                <a:ea typeface="Arial"/>
                <a:cs typeface="Arial"/>
                <a:sym typeface="Arial"/>
              </a:rPr>
              <a:t> </a:t>
            </a:r>
            <a:r>
              <a:rPr lang="en-US" sz="2200" err="1">
                <a:latin typeface="Arial"/>
                <a:ea typeface="Arial"/>
                <a:cs typeface="Arial"/>
                <a:sym typeface="Arial"/>
              </a:rPr>
              <a:t>giá</a:t>
            </a:r>
            <a:r>
              <a:rPr lang="en-US" sz="2200">
                <a:latin typeface="Arial"/>
                <a:ea typeface="Arial"/>
                <a:cs typeface="Arial"/>
                <a:sym typeface="Arial"/>
              </a:rPr>
              <a:t> </a:t>
            </a:r>
            <a:r>
              <a:rPr lang="en-US" sz="2200" err="1">
                <a:latin typeface="Arial"/>
                <a:ea typeface="Arial"/>
                <a:cs typeface="Arial"/>
                <a:sym typeface="Arial"/>
              </a:rPr>
              <a:t>người</a:t>
            </a:r>
            <a:r>
              <a:rPr lang="en-US" sz="2200">
                <a:latin typeface="Arial"/>
                <a:ea typeface="Arial"/>
                <a:cs typeface="Arial"/>
                <a:sym typeface="Arial"/>
              </a:rPr>
              <a:t> </a:t>
            </a:r>
            <a:r>
              <a:rPr lang="en-US" sz="2200" err="1">
                <a:latin typeface="Arial"/>
                <a:ea typeface="Arial"/>
                <a:cs typeface="Arial"/>
                <a:sym typeface="Arial"/>
              </a:rPr>
              <a:t>cung</a:t>
            </a:r>
            <a:r>
              <a:rPr lang="en-US" sz="2200">
                <a:latin typeface="Arial"/>
                <a:ea typeface="Arial"/>
                <a:cs typeface="Arial"/>
                <a:sym typeface="Arial"/>
              </a:rPr>
              <a:t> </a:t>
            </a:r>
            <a:r>
              <a:rPr lang="en-US" sz="2200" err="1">
                <a:latin typeface="Arial"/>
                <a:ea typeface="Arial"/>
                <a:cs typeface="Arial"/>
                <a:sym typeface="Arial"/>
              </a:rPr>
              <a:t>ứng</a:t>
            </a:r>
            <a:r>
              <a:rPr lang="en-US" sz="2200">
                <a:latin typeface="Arial"/>
                <a:ea typeface="Arial"/>
                <a:cs typeface="Arial"/>
                <a:sym typeface="Arial"/>
              </a:rPr>
              <a:t> </a:t>
            </a:r>
            <a:r>
              <a:rPr lang="en-US" sz="2200" err="1">
                <a:latin typeface="Arial"/>
                <a:ea typeface="Arial"/>
                <a:cs typeface="Arial"/>
                <a:sym typeface="Arial"/>
              </a:rPr>
              <a:t>theo</a:t>
            </a:r>
            <a:r>
              <a:rPr lang="en-US" sz="2200">
                <a:latin typeface="Arial"/>
                <a:ea typeface="Arial"/>
                <a:cs typeface="Arial"/>
                <a:sym typeface="Arial"/>
              </a:rPr>
              <a:t> </a:t>
            </a:r>
            <a:r>
              <a:rPr lang="en-US" sz="2200" err="1">
                <a:latin typeface="Arial"/>
                <a:ea typeface="Arial"/>
                <a:cs typeface="Arial"/>
                <a:sym typeface="Arial"/>
              </a:rPr>
              <a:t>một</a:t>
            </a:r>
            <a:r>
              <a:rPr lang="en-US" sz="2200">
                <a:latin typeface="Arial"/>
                <a:ea typeface="Arial"/>
                <a:cs typeface="Arial"/>
                <a:sym typeface="Arial"/>
              </a:rPr>
              <a:t> </a:t>
            </a:r>
            <a:r>
              <a:rPr lang="en-US" sz="2200" err="1">
                <a:latin typeface="Arial"/>
                <a:ea typeface="Arial"/>
                <a:cs typeface="Arial"/>
                <a:sym typeface="Arial"/>
              </a:rPr>
              <a:t>số</a:t>
            </a:r>
            <a:r>
              <a:rPr lang="en-US" sz="2200">
                <a:latin typeface="Arial"/>
                <a:ea typeface="Arial"/>
                <a:cs typeface="Arial"/>
                <a:sym typeface="Arial"/>
              </a:rPr>
              <a:t> </a:t>
            </a:r>
            <a:r>
              <a:rPr lang="en-US" sz="2200" err="1">
                <a:latin typeface="Arial"/>
                <a:ea typeface="Arial"/>
                <a:cs typeface="Arial"/>
                <a:sym typeface="Arial"/>
              </a:rPr>
              <a:t>tiêu</a:t>
            </a:r>
            <a:r>
              <a:rPr lang="en-US" sz="2200">
                <a:latin typeface="Arial"/>
                <a:ea typeface="Arial"/>
                <a:cs typeface="Arial"/>
                <a:sym typeface="Arial"/>
              </a:rPr>
              <a:t> </a:t>
            </a:r>
            <a:r>
              <a:rPr lang="en-US" sz="2200" err="1">
                <a:latin typeface="Arial"/>
                <a:ea typeface="Arial"/>
                <a:cs typeface="Arial"/>
                <a:sym typeface="Arial"/>
              </a:rPr>
              <a:t>chuẩn</a:t>
            </a:r>
            <a:r>
              <a:rPr lang="en-US" sz="2200">
                <a:latin typeface="Arial"/>
                <a:ea typeface="Arial"/>
                <a:cs typeface="Arial"/>
                <a:sym typeface="Arial"/>
              </a:rPr>
              <a:t> </a:t>
            </a:r>
            <a:r>
              <a:rPr lang="en-US" sz="2200" err="1">
                <a:latin typeface="Arial"/>
                <a:ea typeface="Arial"/>
                <a:cs typeface="Arial"/>
                <a:sym typeface="Arial"/>
              </a:rPr>
              <a:t>bằng</a:t>
            </a:r>
            <a:r>
              <a:rPr lang="en-US" sz="2200">
                <a:latin typeface="Arial"/>
                <a:ea typeface="Arial"/>
                <a:cs typeface="Arial"/>
                <a:sym typeface="Arial"/>
              </a:rPr>
              <a:t> </a:t>
            </a:r>
            <a:r>
              <a:rPr lang="en-US" sz="2200" err="1">
                <a:latin typeface="Arial"/>
                <a:ea typeface="Arial"/>
                <a:cs typeface="Arial"/>
                <a:sym typeface="Arial"/>
              </a:rPr>
              <a:t>phương</a:t>
            </a:r>
            <a:r>
              <a:rPr lang="en-US" sz="2200">
                <a:latin typeface="Arial"/>
                <a:ea typeface="Arial"/>
                <a:cs typeface="Arial"/>
                <a:sym typeface="Arial"/>
              </a:rPr>
              <a:t> </a:t>
            </a:r>
            <a:r>
              <a:rPr lang="en-US" sz="2200" err="1">
                <a:latin typeface="Arial"/>
                <a:ea typeface="Arial"/>
                <a:cs typeface="Arial"/>
                <a:sym typeface="Arial"/>
              </a:rPr>
              <a:t>pháp</a:t>
            </a:r>
            <a:r>
              <a:rPr lang="en-US" sz="2200">
                <a:latin typeface="Arial"/>
                <a:ea typeface="Arial"/>
                <a:cs typeface="Arial"/>
                <a:sym typeface="Arial"/>
              </a:rPr>
              <a:t> </a:t>
            </a:r>
            <a:r>
              <a:rPr lang="en-US" sz="2200" err="1">
                <a:latin typeface="Arial"/>
                <a:ea typeface="Arial"/>
                <a:cs typeface="Arial"/>
                <a:sym typeface="Arial"/>
              </a:rPr>
              <a:t>cho</a:t>
            </a:r>
            <a:r>
              <a:rPr lang="en-US" sz="2200">
                <a:latin typeface="Arial"/>
                <a:ea typeface="Arial"/>
                <a:cs typeface="Arial"/>
                <a:sym typeface="Arial"/>
              </a:rPr>
              <a:t> </a:t>
            </a:r>
            <a:r>
              <a:rPr lang="en-US" sz="2200" err="1">
                <a:latin typeface="Arial"/>
                <a:ea typeface="Arial"/>
                <a:cs typeface="Arial"/>
                <a:sym typeface="Arial"/>
              </a:rPr>
              <a:t>điểm</a:t>
            </a:r>
            <a:endParaRPr/>
          </a:p>
          <a:p>
            <a:pPr marL="914400" lvl="1" indent="-342900" algn="l" rtl="0">
              <a:lnSpc>
                <a:spcPct val="100000"/>
              </a:lnSpc>
              <a:spcBef>
                <a:spcPts val="500"/>
              </a:spcBef>
              <a:spcAft>
                <a:spcPts val="0"/>
              </a:spcAft>
              <a:buSzPts val="1800"/>
              <a:buFont typeface="Arial"/>
              <a:buChar char="-"/>
            </a:pPr>
            <a:r>
              <a:rPr lang="en-US" sz="2200" err="1">
                <a:latin typeface="Arial"/>
                <a:ea typeface="Arial"/>
                <a:cs typeface="Arial"/>
                <a:sym typeface="Arial"/>
              </a:rPr>
              <a:t>Người</a:t>
            </a:r>
            <a:r>
              <a:rPr lang="en-US" sz="2200">
                <a:latin typeface="Arial"/>
                <a:ea typeface="Arial"/>
                <a:cs typeface="Arial"/>
                <a:sym typeface="Arial"/>
              </a:rPr>
              <a:t> </a:t>
            </a:r>
            <a:r>
              <a:rPr lang="en-US" sz="2200" err="1">
                <a:latin typeface="Arial"/>
                <a:ea typeface="Arial"/>
                <a:cs typeface="Arial"/>
                <a:sym typeface="Arial"/>
              </a:rPr>
              <a:t>mua</a:t>
            </a:r>
            <a:r>
              <a:rPr lang="en-US" sz="2200">
                <a:latin typeface="Arial"/>
                <a:ea typeface="Arial"/>
                <a:cs typeface="Arial"/>
                <a:sym typeface="Arial"/>
              </a:rPr>
              <a:t> </a:t>
            </a:r>
            <a:r>
              <a:rPr lang="en-US" sz="2200" err="1">
                <a:latin typeface="Arial"/>
                <a:ea typeface="Arial"/>
                <a:cs typeface="Arial"/>
                <a:sym typeface="Arial"/>
              </a:rPr>
              <a:t>có</a:t>
            </a:r>
            <a:r>
              <a:rPr lang="en-US" sz="2200">
                <a:latin typeface="Arial"/>
                <a:ea typeface="Arial"/>
                <a:cs typeface="Arial"/>
                <a:sym typeface="Arial"/>
              </a:rPr>
              <a:t> </a:t>
            </a:r>
            <a:r>
              <a:rPr lang="en-US" sz="2200" err="1">
                <a:latin typeface="Arial"/>
                <a:ea typeface="Arial"/>
                <a:cs typeface="Arial"/>
                <a:sym typeface="Arial"/>
              </a:rPr>
              <a:t>thể</a:t>
            </a:r>
            <a:r>
              <a:rPr lang="en-US" sz="2200">
                <a:latin typeface="Arial"/>
                <a:ea typeface="Arial"/>
                <a:cs typeface="Arial"/>
                <a:sym typeface="Arial"/>
              </a:rPr>
              <a:t> </a:t>
            </a:r>
            <a:r>
              <a:rPr lang="en-US" sz="2200" err="1">
                <a:latin typeface="Arial"/>
                <a:ea typeface="Arial"/>
                <a:cs typeface="Arial"/>
                <a:sym typeface="Arial"/>
              </a:rPr>
              <a:t>tính</a:t>
            </a:r>
            <a:r>
              <a:rPr lang="en-US" sz="2200">
                <a:latin typeface="Arial"/>
                <a:ea typeface="Arial"/>
                <a:cs typeface="Arial"/>
                <a:sym typeface="Arial"/>
              </a:rPr>
              <a:t> </a:t>
            </a:r>
            <a:r>
              <a:rPr lang="en-US" sz="2200" err="1">
                <a:latin typeface="Arial"/>
                <a:ea typeface="Arial"/>
                <a:cs typeface="Arial"/>
                <a:sym typeface="Arial"/>
              </a:rPr>
              <a:t>tổng</a:t>
            </a:r>
            <a:r>
              <a:rPr lang="en-US" sz="2200">
                <a:latin typeface="Arial"/>
                <a:ea typeface="Arial"/>
                <a:cs typeface="Arial"/>
                <a:sym typeface="Arial"/>
              </a:rPr>
              <a:t> chi </a:t>
            </a:r>
            <a:r>
              <a:rPr lang="en-US" sz="2200" err="1">
                <a:latin typeface="Arial"/>
                <a:ea typeface="Arial"/>
                <a:cs typeface="Arial"/>
                <a:sym typeface="Arial"/>
              </a:rPr>
              <a:t>phí</a:t>
            </a:r>
            <a:r>
              <a:rPr lang="en-US" sz="2200">
                <a:latin typeface="Arial"/>
                <a:ea typeface="Arial"/>
                <a:cs typeface="Arial"/>
                <a:sym typeface="Arial"/>
              </a:rPr>
              <a:t> </a:t>
            </a:r>
            <a:r>
              <a:rPr lang="en-US" sz="2200" err="1">
                <a:latin typeface="Arial"/>
                <a:ea typeface="Arial"/>
                <a:cs typeface="Arial"/>
                <a:sym typeface="Arial"/>
              </a:rPr>
              <a:t>phát</a:t>
            </a:r>
            <a:r>
              <a:rPr lang="en-US" sz="2200">
                <a:latin typeface="Arial"/>
                <a:ea typeface="Arial"/>
                <a:cs typeface="Arial"/>
                <a:sym typeface="Arial"/>
              </a:rPr>
              <a:t> </a:t>
            </a:r>
            <a:r>
              <a:rPr lang="en-US" sz="2200" err="1">
                <a:latin typeface="Arial"/>
                <a:ea typeface="Arial"/>
                <a:cs typeface="Arial"/>
                <a:sym typeface="Arial"/>
              </a:rPr>
              <a:t>sinh</a:t>
            </a:r>
            <a:r>
              <a:rPr lang="en-US" sz="2200">
                <a:latin typeface="Arial"/>
                <a:ea typeface="Arial"/>
                <a:cs typeface="Arial"/>
                <a:sym typeface="Arial"/>
              </a:rPr>
              <a:t> do </a:t>
            </a:r>
            <a:r>
              <a:rPr lang="en-US" sz="2200" err="1">
                <a:latin typeface="Arial"/>
                <a:ea typeface="Arial"/>
                <a:cs typeface="Arial"/>
                <a:sym typeface="Arial"/>
              </a:rPr>
              <a:t>nhà</a:t>
            </a:r>
            <a:r>
              <a:rPr lang="en-US" sz="2200">
                <a:latin typeface="Arial"/>
                <a:ea typeface="Arial"/>
                <a:cs typeface="Arial"/>
                <a:sym typeface="Arial"/>
              </a:rPr>
              <a:t> </a:t>
            </a:r>
            <a:r>
              <a:rPr lang="en-US" sz="2200" err="1">
                <a:latin typeface="Arial"/>
                <a:ea typeface="Arial"/>
                <a:cs typeface="Arial"/>
                <a:sym typeface="Arial"/>
              </a:rPr>
              <a:t>cung</a:t>
            </a:r>
            <a:r>
              <a:rPr lang="en-US" sz="2200">
                <a:latin typeface="Arial"/>
                <a:ea typeface="Arial"/>
                <a:cs typeface="Arial"/>
                <a:sym typeface="Arial"/>
              </a:rPr>
              <a:t> </a:t>
            </a:r>
            <a:r>
              <a:rPr lang="en-US" sz="2200" err="1">
                <a:latin typeface="Arial"/>
                <a:ea typeface="Arial"/>
                <a:cs typeface="Arial"/>
                <a:sym typeface="Arial"/>
              </a:rPr>
              <a:t>cấp</a:t>
            </a:r>
            <a:r>
              <a:rPr lang="en-US" sz="2200">
                <a:latin typeface="Arial"/>
                <a:ea typeface="Arial"/>
                <a:cs typeface="Arial"/>
                <a:sym typeface="Arial"/>
              </a:rPr>
              <a:t> </a:t>
            </a:r>
            <a:r>
              <a:rPr lang="en-US" sz="2200" err="1">
                <a:latin typeface="Arial"/>
                <a:ea typeface="Arial"/>
                <a:cs typeface="Arial"/>
                <a:sym typeface="Arial"/>
              </a:rPr>
              <a:t>thực</a:t>
            </a:r>
            <a:r>
              <a:rPr lang="en-US" sz="2200">
                <a:latin typeface="Arial"/>
                <a:ea typeface="Arial"/>
                <a:cs typeface="Arial"/>
                <a:sym typeface="Arial"/>
              </a:rPr>
              <a:t> </a:t>
            </a:r>
            <a:r>
              <a:rPr lang="en-US" sz="2200" err="1">
                <a:latin typeface="Arial"/>
                <a:ea typeface="Arial"/>
                <a:cs typeface="Arial"/>
                <a:sym typeface="Arial"/>
              </a:rPr>
              <a:t>hiện</a:t>
            </a:r>
            <a:r>
              <a:rPr lang="en-US" sz="2200">
                <a:latin typeface="Arial"/>
                <a:ea typeface="Arial"/>
                <a:cs typeface="Arial"/>
                <a:sym typeface="Arial"/>
              </a:rPr>
              <a:t> </a:t>
            </a:r>
            <a:r>
              <a:rPr lang="en-US" sz="2200" err="1">
                <a:latin typeface="Arial"/>
                <a:ea typeface="Arial"/>
                <a:cs typeface="Arial"/>
                <a:sym typeface="Arial"/>
              </a:rPr>
              <a:t>đơn</a:t>
            </a:r>
            <a:r>
              <a:rPr lang="en-US" sz="2200">
                <a:latin typeface="Arial"/>
                <a:ea typeface="Arial"/>
                <a:cs typeface="Arial"/>
                <a:sym typeface="Arial"/>
              </a:rPr>
              <a:t> </a:t>
            </a:r>
            <a:r>
              <a:rPr lang="en-US" sz="2200" err="1">
                <a:latin typeface="Arial"/>
                <a:ea typeface="Arial"/>
                <a:cs typeface="Arial"/>
                <a:sym typeface="Arial"/>
              </a:rPr>
              <a:t>hàng</a:t>
            </a:r>
            <a:r>
              <a:rPr lang="en-US" sz="2200">
                <a:latin typeface="Arial"/>
                <a:ea typeface="Arial"/>
                <a:cs typeface="Arial"/>
                <a:sym typeface="Arial"/>
              </a:rPr>
              <a:t> </a:t>
            </a:r>
            <a:r>
              <a:rPr lang="en-US" sz="2200" err="1">
                <a:latin typeface="Arial"/>
                <a:ea typeface="Arial"/>
                <a:cs typeface="Arial"/>
                <a:sym typeface="Arial"/>
              </a:rPr>
              <a:t>sai</a:t>
            </a:r>
            <a:r>
              <a:rPr lang="en-US" sz="2200">
                <a:latin typeface="Arial"/>
                <a:ea typeface="Arial"/>
                <a:cs typeface="Arial"/>
                <a:sym typeface="Arial"/>
              </a:rPr>
              <a:t> </a:t>
            </a:r>
            <a:r>
              <a:rPr lang="en-US" sz="2200" err="1">
                <a:latin typeface="Arial"/>
                <a:ea typeface="Arial"/>
                <a:cs typeface="Arial"/>
                <a:sym typeface="Arial"/>
              </a:rPr>
              <a:t>sót</a:t>
            </a:r>
            <a:r>
              <a:rPr lang="en-US" sz="2200">
                <a:latin typeface="Arial"/>
                <a:ea typeface="Arial"/>
                <a:cs typeface="Arial"/>
                <a:sym typeface="Arial"/>
              </a:rPr>
              <a:t> </a:t>
            </a:r>
            <a:r>
              <a:rPr lang="en-US" sz="2200" err="1">
                <a:latin typeface="Arial"/>
                <a:ea typeface="Arial"/>
                <a:cs typeface="Arial"/>
                <a:sym typeface="Arial"/>
              </a:rPr>
              <a:t>để</a:t>
            </a:r>
            <a:r>
              <a:rPr lang="en-US" sz="2200">
                <a:latin typeface="Arial"/>
                <a:ea typeface="Arial"/>
                <a:cs typeface="Arial"/>
                <a:sym typeface="Arial"/>
              </a:rPr>
              <a:t> </a:t>
            </a:r>
            <a:r>
              <a:rPr lang="en-US" sz="2200" err="1">
                <a:latin typeface="Arial"/>
                <a:ea typeface="Arial"/>
                <a:cs typeface="Arial"/>
                <a:sym typeface="Arial"/>
              </a:rPr>
              <a:t>đề</a:t>
            </a:r>
            <a:r>
              <a:rPr lang="en-US" sz="2200">
                <a:latin typeface="Arial"/>
                <a:ea typeface="Arial"/>
                <a:cs typeface="Arial"/>
                <a:sym typeface="Arial"/>
              </a:rPr>
              <a:t> </a:t>
            </a:r>
            <a:r>
              <a:rPr lang="en-US" sz="2200" err="1">
                <a:latin typeface="Arial"/>
                <a:ea typeface="Arial"/>
                <a:cs typeface="Arial"/>
                <a:sym typeface="Arial"/>
              </a:rPr>
              <a:t>nghị</a:t>
            </a:r>
            <a:r>
              <a:rPr lang="en-US" sz="2200">
                <a:latin typeface="Arial"/>
                <a:ea typeface="Arial"/>
                <a:cs typeface="Arial"/>
                <a:sym typeface="Arial"/>
              </a:rPr>
              <a:t> </a:t>
            </a:r>
            <a:r>
              <a:rPr lang="en-US" sz="2200" err="1">
                <a:latin typeface="Arial"/>
                <a:ea typeface="Arial"/>
                <a:cs typeface="Arial"/>
                <a:sym typeface="Arial"/>
              </a:rPr>
              <a:t>điều</a:t>
            </a:r>
            <a:r>
              <a:rPr lang="en-US" sz="2200">
                <a:latin typeface="Arial"/>
                <a:ea typeface="Arial"/>
                <a:cs typeface="Arial"/>
                <a:sym typeface="Arial"/>
              </a:rPr>
              <a:t> </a:t>
            </a:r>
            <a:r>
              <a:rPr lang="en-US" sz="2200" err="1">
                <a:latin typeface="Arial"/>
                <a:ea typeface="Arial"/>
                <a:cs typeface="Arial"/>
                <a:sym typeface="Arial"/>
              </a:rPr>
              <a:t>chỉnh</a:t>
            </a:r>
            <a:r>
              <a:rPr lang="en-US" sz="2200">
                <a:latin typeface="Arial"/>
                <a:ea typeface="Arial"/>
                <a:cs typeface="Arial"/>
                <a:sym typeface="Arial"/>
              </a:rPr>
              <a:t> </a:t>
            </a:r>
            <a:r>
              <a:rPr lang="en-US" sz="2200" err="1">
                <a:latin typeface="Arial"/>
                <a:ea typeface="Arial"/>
                <a:cs typeface="Arial"/>
                <a:sym typeface="Arial"/>
              </a:rPr>
              <a:t>giá</a:t>
            </a:r>
            <a:r>
              <a:rPr lang="en-US" sz="2200">
                <a:latin typeface="Arial"/>
                <a:ea typeface="Arial"/>
                <a:cs typeface="Arial"/>
                <a:sym typeface="Arial"/>
              </a:rPr>
              <a:t> </a:t>
            </a:r>
            <a:r>
              <a:rPr lang="en-US" sz="2200" err="1">
                <a:latin typeface="Arial"/>
                <a:ea typeface="Arial"/>
                <a:cs typeface="Arial"/>
                <a:sym typeface="Arial"/>
              </a:rPr>
              <a:t>mua</a:t>
            </a:r>
            <a:r>
              <a:rPr lang="en-US" sz="2200">
                <a:latin typeface="Arial"/>
                <a:ea typeface="Arial"/>
                <a:cs typeface="Arial"/>
                <a:sym typeface="Arial"/>
              </a:rPr>
              <a:t>. </a:t>
            </a:r>
            <a:endParaRPr/>
          </a:p>
          <a:p>
            <a:pPr marL="457200" lvl="0" indent="-228600" algn="just" rtl="0">
              <a:lnSpc>
                <a:spcPct val="100000"/>
              </a:lnSpc>
              <a:spcBef>
                <a:spcPts val="1000"/>
              </a:spcBef>
              <a:spcAft>
                <a:spcPts val="0"/>
              </a:spcAft>
              <a:buSzPts val="1800"/>
              <a:buNone/>
            </a:pPr>
            <a:endParaRPr sz="2200">
              <a:latin typeface="Arial"/>
              <a:ea typeface="Arial"/>
              <a:cs typeface="Arial"/>
              <a:sym typeface="Arial"/>
            </a:endParaRPr>
          </a:p>
          <a:p>
            <a:pPr marL="457200" lvl="0" indent="-228600" algn="l" rtl="0">
              <a:lnSpc>
                <a:spcPct val="90000"/>
              </a:lnSpc>
              <a:spcBef>
                <a:spcPts val="1000"/>
              </a:spcBef>
              <a:spcAft>
                <a:spcPts val="0"/>
              </a:spcAft>
              <a:buClr>
                <a:schemeClr val="dk1"/>
              </a:buClr>
              <a:buSzPts val="1800"/>
              <a:buNone/>
            </a:pPr>
            <a:endParaRPr sz="2200">
              <a:latin typeface="Arial"/>
              <a:ea typeface="Arial"/>
              <a:cs typeface="Arial"/>
              <a:sym typeface="Arial"/>
            </a:endParaRPr>
          </a:p>
        </p:txBody>
      </p:sp>
    </p:spTree>
    <p:extLst>
      <p:ext uri="{BB962C8B-B14F-4D97-AF65-F5344CB8AC3E}">
        <p14:creationId xmlns:p14="http://schemas.microsoft.com/office/powerpoint/2010/main" val="3186213871"/>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7DDA30D-FF7C-2AC3-51CB-F18D24E7B33F}"/>
              </a:ext>
            </a:extLst>
          </p:cNvPr>
          <p:cNvPicPr>
            <a:picLocks noChangeAspect="1"/>
          </p:cNvPicPr>
          <p:nvPr/>
        </p:nvPicPr>
        <p:blipFill>
          <a:blip r:embed="rId2"/>
          <a:stretch>
            <a:fillRect/>
          </a:stretch>
        </p:blipFill>
        <p:spPr>
          <a:xfrm>
            <a:off x="2023110" y="1402600"/>
            <a:ext cx="7420856" cy="4803890"/>
          </a:xfrm>
          <a:prstGeom prst="rect">
            <a:avLst/>
          </a:prstGeom>
        </p:spPr>
      </p:pic>
      <p:sp>
        <p:nvSpPr>
          <p:cNvPr id="6" name="Google Shape;3286;p419">
            <a:extLst>
              <a:ext uri="{FF2B5EF4-FFF2-40B4-BE49-F238E27FC236}">
                <a16:creationId xmlns:a16="http://schemas.microsoft.com/office/drawing/2014/main" id="{3CB68702-9FC3-3A28-597E-50F9A9ED5ED1}"/>
              </a:ext>
            </a:extLst>
          </p:cNvPr>
          <p:cNvSpPr txBox="1">
            <a:spLocks noGrp="1"/>
          </p:cNvSpPr>
          <p:nvPr>
            <p:ph type="title"/>
          </p:nvPr>
        </p:nvSpPr>
        <p:spPr>
          <a:xfrm>
            <a:off x="587587" y="-5708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3200" b="1">
                <a:latin typeface="Arial"/>
                <a:ea typeface="Arial"/>
                <a:cs typeface="Arial"/>
                <a:sym typeface="Arial"/>
              </a:rPr>
              <a:t>7.2 Quy </a:t>
            </a:r>
            <a:r>
              <a:rPr lang="en-US" sz="3200" b="1" err="1">
                <a:latin typeface="Arial"/>
                <a:ea typeface="Arial"/>
                <a:cs typeface="Arial"/>
                <a:sym typeface="Arial"/>
              </a:rPr>
              <a:t>trình</a:t>
            </a:r>
            <a:r>
              <a:rPr lang="en-US" sz="3200" b="1">
                <a:latin typeface="Arial"/>
                <a:ea typeface="Arial"/>
                <a:cs typeface="Arial"/>
                <a:sym typeface="Arial"/>
              </a:rPr>
              <a:t> </a:t>
            </a:r>
            <a:r>
              <a:rPr lang="en-US" sz="3200" b="1" err="1">
                <a:latin typeface="Arial"/>
                <a:ea typeface="Arial"/>
                <a:cs typeface="Arial"/>
                <a:sym typeface="Arial"/>
              </a:rPr>
              <a:t>ra</a:t>
            </a:r>
            <a:r>
              <a:rPr lang="en-US" sz="3200" b="1">
                <a:latin typeface="Arial"/>
                <a:ea typeface="Arial"/>
                <a:cs typeface="Arial"/>
                <a:sym typeface="Arial"/>
              </a:rPr>
              <a:t> </a:t>
            </a:r>
            <a:r>
              <a:rPr lang="en-US" sz="3200" b="1" err="1">
                <a:latin typeface="Arial"/>
                <a:ea typeface="Arial"/>
                <a:cs typeface="Arial"/>
                <a:sym typeface="Arial"/>
              </a:rPr>
              <a:t>quyết</a:t>
            </a:r>
            <a:r>
              <a:rPr lang="en-US" sz="3200" b="1">
                <a:latin typeface="Arial"/>
                <a:ea typeface="Arial"/>
                <a:cs typeface="Arial"/>
                <a:sym typeface="Arial"/>
              </a:rPr>
              <a:t> </a:t>
            </a:r>
            <a:r>
              <a:rPr lang="en-US" sz="3200" b="1" err="1">
                <a:latin typeface="Arial"/>
                <a:ea typeface="Arial"/>
                <a:cs typeface="Arial"/>
                <a:sym typeface="Arial"/>
              </a:rPr>
              <a:t>định</a:t>
            </a:r>
            <a:r>
              <a:rPr lang="en-US" sz="3200" b="1">
                <a:latin typeface="Arial"/>
                <a:ea typeface="Arial"/>
                <a:cs typeface="Arial"/>
                <a:sym typeface="Arial"/>
              </a:rPr>
              <a:t> </a:t>
            </a:r>
            <a:r>
              <a:rPr lang="en-US" sz="3200" b="1" err="1">
                <a:latin typeface="Arial"/>
                <a:ea typeface="Arial"/>
                <a:cs typeface="Arial"/>
                <a:sym typeface="Arial"/>
              </a:rPr>
              <a:t>mua</a:t>
            </a:r>
            <a:r>
              <a:rPr lang="en-US" sz="3200" b="1">
                <a:latin typeface="Arial"/>
                <a:ea typeface="Arial"/>
                <a:cs typeface="Arial"/>
                <a:sym typeface="Arial"/>
              </a:rPr>
              <a:t> (</a:t>
            </a:r>
            <a:r>
              <a:rPr lang="en-US" sz="3200" b="1" err="1">
                <a:latin typeface="Arial"/>
                <a:ea typeface="Arial"/>
                <a:cs typeface="Arial"/>
                <a:sym typeface="Arial"/>
              </a:rPr>
              <a:t>tt</a:t>
            </a:r>
            <a:r>
              <a:rPr lang="en-US" sz="3200" b="1">
                <a:latin typeface="Arial"/>
                <a:ea typeface="Arial"/>
                <a:cs typeface="Arial"/>
                <a:sym typeface="Arial"/>
              </a:rPr>
              <a:t>)</a:t>
            </a:r>
            <a:endParaRPr sz="3200"/>
          </a:p>
        </p:txBody>
      </p:sp>
    </p:spTree>
    <p:extLst>
      <p:ext uri="{BB962C8B-B14F-4D97-AF65-F5344CB8AC3E}">
        <p14:creationId xmlns:p14="http://schemas.microsoft.com/office/powerpoint/2010/main" val="3452915828"/>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Shape 3119"/>
        <p:cNvGrpSpPr/>
        <p:nvPr/>
      </p:nvGrpSpPr>
      <p:grpSpPr>
        <a:xfrm>
          <a:off x="0" y="0"/>
          <a:ext cx="0" cy="0"/>
          <a:chOff x="0" y="0"/>
          <a:chExt cx="0" cy="0"/>
        </a:xfrm>
      </p:grpSpPr>
      <p:sp>
        <p:nvSpPr>
          <p:cNvPr id="3120" name="Google Shape;3120;p399"/>
          <p:cNvSpPr txBox="1">
            <a:spLocks noGrp="1"/>
          </p:cNvSpPr>
          <p:nvPr>
            <p:ph type="ctrTitle"/>
          </p:nvPr>
        </p:nvSpPr>
        <p:spPr>
          <a:xfrm>
            <a:off x="1638681" y="4415409"/>
            <a:ext cx="9474835" cy="905510"/>
          </a:xfrm>
          <a:prstGeom prst="rect">
            <a:avLst/>
          </a:prstGeom>
          <a:noFill/>
          <a:ln>
            <a:noFill/>
          </a:ln>
        </p:spPr>
        <p:txBody>
          <a:bodyPr spcFirstLastPara="1" wrap="square" lIns="91425" tIns="45700" rIns="91425" bIns="45700" anchor="b" anchorCtr="0">
            <a:noAutofit/>
          </a:bodyPr>
          <a:lstStyle/>
          <a:p>
            <a:pPr marL="0" lvl="1" indent="0" algn="ctr" rtl="0">
              <a:lnSpc>
                <a:spcPct val="150000"/>
              </a:lnSpc>
              <a:spcBef>
                <a:spcPts val="0"/>
              </a:spcBef>
              <a:spcAft>
                <a:spcPts val="0"/>
              </a:spcAft>
              <a:buSzPts val="1400"/>
              <a:buNone/>
            </a:pPr>
            <a:r>
              <a:rPr lang="en-US" sz="3600" b="1"/>
              <a:t>7</a:t>
            </a:r>
            <a:r>
              <a:rPr lang="en-US" sz="3600" b="1">
                <a:latin typeface="Arial"/>
                <a:ea typeface="Arial"/>
                <a:cs typeface="Arial"/>
                <a:sym typeface="Arial"/>
              </a:rPr>
              <a:t>.3. NHỮNG YẾU TỐ TÁC ĐỘNG QUÁ TRÌNH RA QUYẾT ĐỊNH MUA CỦA </a:t>
            </a:r>
            <a:br>
              <a:rPr lang="en-US" sz="3600" b="1">
                <a:latin typeface="Arial"/>
                <a:ea typeface="Arial"/>
                <a:cs typeface="Arial"/>
                <a:sym typeface="Arial"/>
              </a:rPr>
            </a:br>
            <a:r>
              <a:rPr lang="en-US" sz="3600" b="1">
                <a:latin typeface="Arial"/>
                <a:ea typeface="Arial"/>
                <a:cs typeface="Arial"/>
                <a:sym typeface="Arial"/>
              </a:rPr>
              <a:t>KHÁCH HÀNG TỔ CHỨC</a:t>
            </a:r>
            <a:br>
              <a:rPr lang="en-US" sz="3600" b="1">
                <a:latin typeface="Arial"/>
                <a:ea typeface="Arial"/>
                <a:cs typeface="Arial"/>
                <a:sym typeface="Arial"/>
              </a:rPr>
            </a:br>
            <a:endParaRPr sz="3600" b="1" i="0" u="none" strike="noStrike" cap="none">
              <a:latin typeface="Arial"/>
              <a:ea typeface="Arial"/>
              <a:cs typeface="Arial"/>
              <a:sym typeface="Arial"/>
            </a:endParaRPr>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Shape 3124"/>
        <p:cNvGrpSpPr/>
        <p:nvPr/>
      </p:nvGrpSpPr>
      <p:grpSpPr>
        <a:xfrm>
          <a:off x="0" y="0"/>
          <a:ext cx="0" cy="0"/>
          <a:chOff x="0" y="0"/>
          <a:chExt cx="0" cy="0"/>
        </a:xfrm>
      </p:grpSpPr>
      <p:sp>
        <p:nvSpPr>
          <p:cNvPr id="3125" name="Google Shape;3125;p400"/>
          <p:cNvSpPr txBox="1">
            <a:spLocks noGrp="1"/>
          </p:cNvSpPr>
          <p:nvPr>
            <p:ph type="title"/>
          </p:nvPr>
        </p:nvSpPr>
        <p:spPr>
          <a:xfrm>
            <a:off x="262890" y="365125"/>
            <a:ext cx="10389870" cy="11207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1800"/>
              <a:buNone/>
            </a:pPr>
            <a:r>
              <a:rPr lang="en-US" sz="3200" b="1">
                <a:latin typeface="Arial"/>
                <a:ea typeface="Arial"/>
                <a:cs typeface="Arial"/>
                <a:sym typeface="Arial"/>
              </a:rPr>
              <a:t>7.3 </a:t>
            </a:r>
            <a:r>
              <a:rPr lang="en-US" sz="3200" b="1" err="1">
                <a:latin typeface="Arial"/>
                <a:ea typeface="Arial"/>
                <a:cs typeface="Arial"/>
                <a:sym typeface="Arial"/>
              </a:rPr>
              <a:t>Những</a:t>
            </a:r>
            <a:r>
              <a:rPr lang="en-US" sz="3200" b="1">
                <a:latin typeface="Arial"/>
                <a:ea typeface="Arial"/>
                <a:cs typeface="Arial"/>
                <a:sym typeface="Arial"/>
              </a:rPr>
              <a:t> </a:t>
            </a:r>
            <a:r>
              <a:rPr lang="en-US" sz="3200" b="1" err="1">
                <a:latin typeface="Arial"/>
                <a:ea typeface="Arial"/>
                <a:cs typeface="Arial"/>
                <a:sym typeface="Arial"/>
              </a:rPr>
              <a:t>yếu</a:t>
            </a:r>
            <a:r>
              <a:rPr lang="en-US" sz="3200" b="1">
                <a:latin typeface="Arial"/>
                <a:ea typeface="Arial"/>
                <a:cs typeface="Arial"/>
                <a:sym typeface="Arial"/>
              </a:rPr>
              <a:t> </a:t>
            </a:r>
            <a:r>
              <a:rPr lang="en-US" sz="3200" b="1" err="1">
                <a:latin typeface="Arial"/>
                <a:ea typeface="Arial"/>
                <a:cs typeface="Arial"/>
                <a:sym typeface="Arial"/>
              </a:rPr>
              <a:t>tố</a:t>
            </a:r>
            <a:r>
              <a:rPr lang="en-US" sz="3200" b="1">
                <a:latin typeface="Arial"/>
                <a:ea typeface="Arial"/>
                <a:cs typeface="Arial"/>
                <a:sym typeface="Arial"/>
              </a:rPr>
              <a:t> </a:t>
            </a:r>
            <a:r>
              <a:rPr lang="en-US" sz="3200" b="1" err="1">
                <a:latin typeface="Arial"/>
                <a:ea typeface="Arial"/>
                <a:cs typeface="Arial"/>
                <a:sym typeface="Arial"/>
              </a:rPr>
              <a:t>tác</a:t>
            </a:r>
            <a:r>
              <a:rPr lang="en-US" sz="3200" b="1">
                <a:latin typeface="Arial"/>
                <a:ea typeface="Arial"/>
                <a:cs typeface="Arial"/>
                <a:sym typeface="Arial"/>
              </a:rPr>
              <a:t> </a:t>
            </a:r>
            <a:r>
              <a:rPr lang="en-US" sz="3200" b="1" err="1">
                <a:latin typeface="Arial"/>
                <a:ea typeface="Arial"/>
                <a:cs typeface="Arial"/>
                <a:sym typeface="Arial"/>
              </a:rPr>
              <a:t>động</a:t>
            </a:r>
            <a:r>
              <a:rPr lang="en-US" sz="3200" b="1">
                <a:latin typeface="Arial"/>
                <a:ea typeface="Arial"/>
                <a:cs typeface="Arial"/>
                <a:sym typeface="Arial"/>
              </a:rPr>
              <a:t> </a:t>
            </a:r>
            <a:r>
              <a:rPr lang="en-US" sz="3200" b="1" err="1">
                <a:latin typeface="Arial"/>
                <a:ea typeface="Arial"/>
                <a:cs typeface="Arial"/>
                <a:sym typeface="Arial"/>
              </a:rPr>
              <a:t>quá</a:t>
            </a:r>
            <a:r>
              <a:rPr lang="en-US" sz="3200" b="1">
                <a:latin typeface="Arial"/>
                <a:ea typeface="Arial"/>
                <a:cs typeface="Arial"/>
                <a:sym typeface="Arial"/>
              </a:rPr>
              <a:t> </a:t>
            </a:r>
            <a:r>
              <a:rPr lang="en-US" sz="3200" b="1" err="1">
                <a:latin typeface="Arial"/>
                <a:ea typeface="Arial"/>
                <a:cs typeface="Arial"/>
                <a:sym typeface="Arial"/>
              </a:rPr>
              <a:t>trình</a:t>
            </a:r>
            <a:r>
              <a:rPr lang="en-US" sz="3200" b="1">
                <a:latin typeface="Arial"/>
                <a:ea typeface="Arial"/>
                <a:cs typeface="Arial"/>
                <a:sym typeface="Arial"/>
              </a:rPr>
              <a:t> </a:t>
            </a:r>
            <a:r>
              <a:rPr lang="en-US" sz="3200" b="1" err="1">
                <a:latin typeface="Arial"/>
                <a:ea typeface="Arial"/>
                <a:cs typeface="Arial"/>
                <a:sym typeface="Arial"/>
              </a:rPr>
              <a:t>ra</a:t>
            </a:r>
            <a:r>
              <a:rPr lang="en-US" sz="3200" b="1">
                <a:latin typeface="Arial"/>
                <a:ea typeface="Arial"/>
                <a:cs typeface="Arial"/>
                <a:sym typeface="Arial"/>
              </a:rPr>
              <a:t> </a:t>
            </a:r>
            <a:r>
              <a:rPr lang="en-US" sz="3200" b="1" err="1">
                <a:latin typeface="Arial"/>
                <a:ea typeface="Arial"/>
                <a:cs typeface="Arial"/>
                <a:sym typeface="Arial"/>
              </a:rPr>
              <a:t>quyết</a:t>
            </a:r>
            <a:r>
              <a:rPr lang="en-US" sz="3200" b="1">
                <a:latin typeface="Arial"/>
                <a:ea typeface="Arial"/>
                <a:cs typeface="Arial"/>
                <a:sym typeface="Arial"/>
              </a:rPr>
              <a:t> </a:t>
            </a:r>
            <a:r>
              <a:rPr lang="en-US" sz="3200" b="1" err="1">
                <a:latin typeface="Arial"/>
                <a:ea typeface="Arial"/>
                <a:cs typeface="Arial"/>
                <a:sym typeface="Arial"/>
              </a:rPr>
              <a:t>định</a:t>
            </a:r>
            <a:r>
              <a:rPr lang="en-US" sz="3200" b="1">
                <a:latin typeface="Arial"/>
                <a:ea typeface="Arial"/>
                <a:cs typeface="Arial"/>
                <a:sym typeface="Arial"/>
              </a:rPr>
              <a:t> </a:t>
            </a:r>
            <a:r>
              <a:rPr lang="en-US" sz="3200" b="1" err="1">
                <a:latin typeface="Arial"/>
                <a:ea typeface="Arial"/>
                <a:cs typeface="Arial"/>
                <a:sym typeface="Arial"/>
              </a:rPr>
              <a:t>mua</a:t>
            </a:r>
            <a:r>
              <a:rPr lang="en-US" sz="3200" b="1">
                <a:latin typeface="Arial"/>
                <a:ea typeface="Arial"/>
                <a:cs typeface="Arial"/>
                <a:sym typeface="Arial"/>
              </a:rPr>
              <a:t> </a:t>
            </a:r>
            <a:r>
              <a:rPr lang="en-US" sz="3200" b="1" err="1">
                <a:latin typeface="Arial"/>
                <a:ea typeface="Arial"/>
                <a:cs typeface="Arial"/>
                <a:sym typeface="Arial"/>
              </a:rPr>
              <a:t>của</a:t>
            </a:r>
            <a:r>
              <a:rPr lang="en-US" sz="3200" b="1">
                <a:latin typeface="Arial"/>
                <a:ea typeface="Arial"/>
                <a:cs typeface="Arial"/>
                <a:sym typeface="Arial"/>
              </a:rPr>
              <a:t> </a:t>
            </a:r>
            <a:r>
              <a:rPr lang="en-US" sz="3200" b="1" err="1">
                <a:latin typeface="Arial"/>
                <a:ea typeface="Arial"/>
                <a:cs typeface="Arial"/>
                <a:sym typeface="Arial"/>
              </a:rPr>
              <a:t>khách</a:t>
            </a:r>
            <a:r>
              <a:rPr lang="en-US" sz="3200" b="1">
                <a:latin typeface="Arial"/>
                <a:ea typeface="Arial"/>
                <a:cs typeface="Arial"/>
                <a:sym typeface="Arial"/>
              </a:rPr>
              <a:t> </a:t>
            </a:r>
            <a:r>
              <a:rPr lang="en-US" sz="3200" b="1" err="1">
                <a:latin typeface="Arial"/>
                <a:ea typeface="Arial"/>
                <a:cs typeface="Arial"/>
                <a:sym typeface="Arial"/>
              </a:rPr>
              <a:t>hàng</a:t>
            </a:r>
            <a:r>
              <a:rPr lang="en-US" sz="3200" b="1">
                <a:latin typeface="Arial"/>
                <a:ea typeface="Arial"/>
                <a:cs typeface="Arial"/>
                <a:sym typeface="Arial"/>
              </a:rPr>
              <a:t> </a:t>
            </a:r>
            <a:r>
              <a:rPr lang="en-US" sz="3200" b="1" err="1">
                <a:latin typeface="Arial"/>
                <a:ea typeface="Arial"/>
                <a:cs typeface="Arial"/>
                <a:sym typeface="Arial"/>
              </a:rPr>
              <a:t>tổ</a:t>
            </a:r>
            <a:r>
              <a:rPr lang="en-US" sz="3200" b="1">
                <a:latin typeface="Arial"/>
                <a:ea typeface="Arial"/>
                <a:cs typeface="Arial"/>
                <a:sym typeface="Arial"/>
              </a:rPr>
              <a:t> </a:t>
            </a:r>
            <a:r>
              <a:rPr lang="en-US" sz="3200" b="1" err="1">
                <a:latin typeface="Arial"/>
                <a:ea typeface="Arial"/>
                <a:cs typeface="Arial"/>
                <a:sym typeface="Arial"/>
              </a:rPr>
              <a:t>chức</a:t>
            </a:r>
            <a:br>
              <a:rPr lang="en-US" sz="3200" b="1">
                <a:latin typeface="Arial"/>
                <a:ea typeface="Arial"/>
                <a:cs typeface="Arial"/>
                <a:sym typeface="Arial"/>
              </a:rPr>
            </a:br>
            <a:r>
              <a:rPr lang="en-US" sz="3200" b="1">
                <a:latin typeface="Arial"/>
                <a:ea typeface="Arial"/>
                <a:cs typeface="Arial"/>
                <a:sym typeface="Arial"/>
              </a:rPr>
              <a:t> </a:t>
            </a:r>
            <a:endParaRPr sz="3200" b="1">
              <a:latin typeface="Arial"/>
              <a:ea typeface="Arial"/>
              <a:cs typeface="Arial"/>
              <a:sym typeface="Arial"/>
            </a:endParaRPr>
          </a:p>
        </p:txBody>
      </p:sp>
      <p:sp>
        <p:nvSpPr>
          <p:cNvPr id="4" name="Text Placeholder 3">
            <a:extLst>
              <a:ext uri="{FF2B5EF4-FFF2-40B4-BE49-F238E27FC236}">
                <a16:creationId xmlns:a16="http://schemas.microsoft.com/office/drawing/2014/main" id="{D07DE9DB-8E2D-CAA0-486C-7700E1B27385}"/>
              </a:ext>
            </a:extLst>
          </p:cNvPr>
          <p:cNvSpPr txBox="1">
            <a:spLocks noGrp="1"/>
          </p:cNvSpPr>
          <p:nvPr>
            <p:ph type="body" idx="1"/>
          </p:nvPr>
        </p:nvSpPr>
        <p:spPr>
          <a:xfrm>
            <a:off x="371475" y="1685926"/>
            <a:ext cx="11433810" cy="4182972"/>
          </a:xfrm>
          <a:prstGeom prst="rect">
            <a:avLst/>
          </a:prstGeom>
          <a:noFill/>
        </p:spPr>
        <p:txBody>
          <a:bodyPr wrap="square">
            <a:spAutoFit/>
          </a:bodyPr>
          <a:lstStyle/>
          <a:p>
            <a:pPr marL="457200" indent="-457200">
              <a:lnSpc>
                <a:spcPct val="107000"/>
              </a:lnSpc>
              <a:spcAft>
                <a:spcPts val="800"/>
              </a:spcAft>
              <a:buFont typeface="Wingdings" panose="05000000000000000000" pitchFamily="2" charset="2"/>
              <a:buChar char="§"/>
            </a:pPr>
            <a:r>
              <a:rPr lang="en-US" sz="3200" kern="100" err="1">
                <a:effectLst/>
                <a:latin typeface="+mn-lt"/>
                <a:ea typeface="Aptos" panose="020B0004020202020204" pitchFamily="34" charset="0"/>
                <a:cs typeface="Times New Roman" panose="02020603050405020304" pitchFamily="18" charset="0"/>
              </a:rPr>
              <a:t>Những</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người</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tham</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gia</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vào</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quá</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trình</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mua</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hàng</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của</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các</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tổ</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chức</a:t>
            </a:r>
            <a:endParaRPr lang="en-US" sz="3200" kern="100">
              <a:effectLst/>
              <a:latin typeface="+mn-lt"/>
              <a:ea typeface="Aptos" panose="020B0004020202020204" pitchFamily="34" charset="0"/>
              <a:cs typeface="Times New Roman" panose="02020603050405020304" pitchFamily="18" charset="0"/>
            </a:endParaRPr>
          </a:p>
          <a:p>
            <a:pPr marL="457200" indent="-457200">
              <a:lnSpc>
                <a:spcPct val="107000"/>
              </a:lnSpc>
              <a:spcAft>
                <a:spcPts val="800"/>
              </a:spcAft>
              <a:buFont typeface="Wingdings" panose="05000000000000000000" pitchFamily="2" charset="2"/>
              <a:buChar char="§"/>
            </a:pPr>
            <a:r>
              <a:rPr lang="en-US" sz="3200" kern="100" err="1">
                <a:effectLst/>
                <a:latin typeface="+mn-lt"/>
                <a:ea typeface="Aptos" panose="020B0004020202020204" pitchFamily="34" charset="0"/>
                <a:cs typeface="Times New Roman" panose="02020603050405020304" pitchFamily="18" charset="0"/>
              </a:rPr>
              <a:t>Số</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lượng</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người</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tham</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gia</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mua</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và</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ảnh</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hưởng</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mua</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cơ</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bản</a:t>
            </a:r>
            <a:endParaRPr lang="en-US" sz="3200" kern="100">
              <a:effectLst/>
              <a:latin typeface="+mn-lt"/>
              <a:ea typeface="Aptos" panose="020B0004020202020204" pitchFamily="34" charset="0"/>
              <a:cs typeface="Times New Roman" panose="02020603050405020304" pitchFamily="18" charset="0"/>
            </a:endParaRPr>
          </a:p>
          <a:p>
            <a:pPr marL="457200" indent="-457200">
              <a:lnSpc>
                <a:spcPct val="107000"/>
              </a:lnSpc>
              <a:spcAft>
                <a:spcPts val="800"/>
              </a:spcAft>
              <a:buFont typeface="Wingdings" panose="05000000000000000000" pitchFamily="2" charset="2"/>
              <a:buChar char="§"/>
            </a:pPr>
            <a:r>
              <a:rPr lang="en-US" sz="3200" kern="100">
                <a:effectLst/>
                <a:latin typeface="+mn-lt"/>
                <a:ea typeface="Aptos" panose="020B0004020202020204" pitchFamily="34" charset="0"/>
                <a:cs typeface="Times New Roman" panose="02020603050405020304" pitchFamily="18" charset="0"/>
              </a:rPr>
              <a:t>Trung </a:t>
            </a:r>
            <a:r>
              <a:rPr lang="en-US" sz="3200" kern="100" err="1">
                <a:effectLst/>
                <a:latin typeface="+mn-lt"/>
                <a:ea typeface="Aptos" panose="020B0004020202020204" pitchFamily="34" charset="0"/>
                <a:cs typeface="Times New Roman" panose="02020603050405020304" pitchFamily="18" charset="0"/>
              </a:rPr>
              <a:t>tâm</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mua</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hàng</a:t>
            </a:r>
            <a:endParaRPr lang="en-US" sz="3200" kern="100">
              <a:effectLst/>
              <a:latin typeface="+mn-lt"/>
              <a:ea typeface="Aptos" panose="020B0004020202020204" pitchFamily="34" charset="0"/>
              <a:cs typeface="Times New Roman" panose="02020603050405020304" pitchFamily="18" charset="0"/>
            </a:endParaRPr>
          </a:p>
          <a:p>
            <a:pPr marL="457200" indent="-457200">
              <a:lnSpc>
                <a:spcPct val="107000"/>
              </a:lnSpc>
              <a:spcAft>
                <a:spcPts val="800"/>
              </a:spcAft>
              <a:buFont typeface="Wingdings" panose="05000000000000000000" pitchFamily="2" charset="2"/>
              <a:buChar char="§"/>
            </a:pPr>
            <a:r>
              <a:rPr lang="en-US" sz="3200" kern="100" err="1">
                <a:effectLst/>
                <a:latin typeface="+mn-lt"/>
                <a:ea typeface="Aptos" panose="020B0004020202020204" pitchFamily="34" charset="0"/>
                <a:cs typeface="Times New Roman" panose="02020603050405020304" pitchFamily="18" charset="0"/>
              </a:rPr>
              <a:t>Một</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số</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hoạt</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động</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và</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quyết</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định</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của</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bộ</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phận</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cung</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ứng</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hàng</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hóa</a:t>
            </a:r>
            <a:r>
              <a:rPr lang="en-US" sz="3200" kern="100">
                <a:effectLst/>
                <a:latin typeface="+mn-lt"/>
                <a:ea typeface="Aptos" panose="020B0004020202020204" pitchFamily="34" charset="0"/>
                <a:cs typeface="Times New Roman" panose="02020603050405020304" pitchFamily="18" charset="0"/>
              </a:rPr>
              <a:t>/</a:t>
            </a:r>
            <a:r>
              <a:rPr lang="en-US" sz="3200" kern="100" err="1">
                <a:effectLst/>
                <a:latin typeface="+mn-lt"/>
                <a:ea typeface="Aptos" panose="020B0004020202020204" pitchFamily="34" charset="0"/>
                <a:cs typeface="Times New Roman" panose="02020603050405020304" pitchFamily="18" charset="0"/>
              </a:rPr>
              <a:t>thu</a:t>
            </a:r>
            <a:r>
              <a:rPr lang="en-US" sz="3200" kern="100">
                <a:effectLst/>
                <a:latin typeface="+mn-lt"/>
                <a:ea typeface="Aptos" panose="020B0004020202020204" pitchFamily="34" charset="0"/>
                <a:cs typeface="Times New Roman" panose="02020603050405020304" pitchFamily="18" charset="0"/>
              </a:rPr>
              <a:t> </a:t>
            </a:r>
            <a:r>
              <a:rPr lang="en-US" sz="3200" kern="100" err="1">
                <a:effectLst/>
                <a:latin typeface="+mn-lt"/>
                <a:ea typeface="Aptos" panose="020B0004020202020204" pitchFamily="34" charset="0"/>
                <a:cs typeface="Times New Roman" panose="02020603050405020304" pitchFamily="18" charset="0"/>
              </a:rPr>
              <a:t>mua</a:t>
            </a:r>
            <a:endParaRPr lang="en-US" sz="3200" kern="100">
              <a:effectLst/>
              <a:latin typeface="+mn-lt"/>
              <a:ea typeface="Aptos" panose="020B0004020202020204" pitchFamily="34" charset="0"/>
              <a:cs typeface="Times New Roman" panose="02020603050405020304" pitchFamily="18" charset="0"/>
            </a:endParaRPr>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388620" y="1325880"/>
            <a:ext cx="11452860" cy="508634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r>
              <a:rPr lang="vi-VN" sz="2600"/>
              <a:t>Có </a:t>
            </a:r>
            <a:r>
              <a:rPr lang="en-US" sz="2600" err="1"/>
              <a:t>các</a:t>
            </a:r>
            <a:r>
              <a:rPr lang="vi-VN" sz="2600"/>
              <a:t> </a:t>
            </a:r>
            <a:r>
              <a:rPr lang="en-US" sz="2600" err="1"/>
              <a:t>nhóm</a:t>
            </a:r>
            <a:r>
              <a:rPr lang="vi-VN" sz="2600"/>
              <a:t> </a:t>
            </a:r>
            <a:r>
              <a:rPr lang="en-US" sz="2600"/>
              <a:t>ả</a:t>
            </a:r>
            <a:r>
              <a:rPr lang="vi-VN" sz="2600" err="1"/>
              <a:t>nh</a:t>
            </a:r>
            <a:r>
              <a:rPr lang="vi-VN" sz="2600"/>
              <a:t> hư</a:t>
            </a:r>
            <a:r>
              <a:rPr lang="en-US" sz="2600"/>
              <a:t>ở</a:t>
            </a:r>
            <a:r>
              <a:rPr lang="vi-VN" sz="2600" err="1"/>
              <a:t>ng</a:t>
            </a:r>
            <a:r>
              <a:rPr lang="vi-VN" sz="2600"/>
              <a:t> </a:t>
            </a:r>
            <a:r>
              <a:rPr lang="vi-VN" sz="2600" err="1"/>
              <a:t>chính</a:t>
            </a:r>
            <a:r>
              <a:rPr lang="vi-VN" sz="2600"/>
              <a:t> </a:t>
            </a:r>
            <a:r>
              <a:rPr lang="en-US" sz="2600" err="1"/>
              <a:t>đến</a:t>
            </a:r>
            <a:r>
              <a:rPr lang="en-US" sz="2600"/>
              <a:t> </a:t>
            </a:r>
            <a:r>
              <a:rPr lang="en-US" sz="2600" b="1" kern="1200" err="1">
                <a:solidFill>
                  <a:schemeClr val="tx1"/>
                </a:solidFill>
                <a:latin typeface="+mn-lt"/>
                <a:ea typeface="+mn-ea"/>
                <a:cs typeface="+mn-cs"/>
              </a:rPr>
              <a:t>quá</a:t>
            </a:r>
            <a:r>
              <a:rPr lang="en-US" sz="2600" b="1" kern="1200">
                <a:solidFill>
                  <a:schemeClr val="tx1"/>
                </a:solidFill>
                <a:latin typeface="+mn-lt"/>
                <a:ea typeface="+mn-ea"/>
                <a:cs typeface="+mn-cs"/>
              </a:rPr>
              <a:t> </a:t>
            </a:r>
            <a:r>
              <a:rPr lang="en-US" sz="2600" b="1" kern="1200" err="1">
                <a:solidFill>
                  <a:schemeClr val="tx1"/>
                </a:solidFill>
                <a:latin typeface="+mn-lt"/>
                <a:ea typeface="+mn-ea"/>
                <a:cs typeface="+mn-cs"/>
              </a:rPr>
              <a:t>trình</a:t>
            </a:r>
            <a:r>
              <a:rPr lang="en-US" sz="2600" b="1" kern="1200">
                <a:solidFill>
                  <a:schemeClr val="tx1"/>
                </a:solidFill>
                <a:latin typeface="+mn-lt"/>
                <a:ea typeface="+mn-ea"/>
                <a:cs typeface="+mn-cs"/>
              </a:rPr>
              <a:t> </a:t>
            </a:r>
            <a:r>
              <a:rPr lang="en-US" sz="2600" b="1" kern="1200" err="1">
                <a:solidFill>
                  <a:schemeClr val="tx1"/>
                </a:solidFill>
                <a:latin typeface="+mn-lt"/>
                <a:ea typeface="+mn-ea"/>
                <a:cs typeface="+mn-cs"/>
              </a:rPr>
              <a:t>quyết</a:t>
            </a:r>
            <a:r>
              <a:rPr lang="en-US" sz="2600" b="1" kern="1200">
                <a:solidFill>
                  <a:schemeClr val="tx1"/>
                </a:solidFill>
                <a:latin typeface="+mn-lt"/>
                <a:ea typeface="+mn-ea"/>
                <a:cs typeface="+mn-cs"/>
              </a:rPr>
              <a:t> </a:t>
            </a:r>
            <a:r>
              <a:rPr lang="en-US" sz="2600" err="1">
                <a:latin typeface="+mn-lt"/>
                <a:cs typeface="+mn-cs"/>
              </a:rPr>
              <a:t>định</a:t>
            </a:r>
            <a:r>
              <a:rPr lang="en-US" sz="2600">
                <a:latin typeface="+mn-lt"/>
                <a:cs typeface="+mn-cs"/>
              </a:rPr>
              <a:t> </a:t>
            </a:r>
            <a:r>
              <a:rPr lang="en-US" sz="2600" b="1" kern="1200" err="1">
                <a:solidFill>
                  <a:schemeClr val="tx1"/>
                </a:solidFill>
                <a:latin typeface="+mn-lt"/>
                <a:ea typeface="+mn-ea"/>
                <a:cs typeface="+mn-cs"/>
              </a:rPr>
              <a:t>mua</a:t>
            </a:r>
            <a:r>
              <a:rPr lang="en-US" sz="2600" b="1" kern="1200">
                <a:solidFill>
                  <a:schemeClr val="tx1"/>
                </a:solidFill>
                <a:latin typeface="+mn-lt"/>
                <a:ea typeface="+mn-ea"/>
                <a:cs typeface="+mn-cs"/>
              </a:rPr>
              <a:t> :</a:t>
            </a:r>
          </a:p>
          <a:p>
            <a:pPr marL="639763" lvl="1" indent="-246063" eaLnBrk="0" hangingPunct="0">
              <a:spcBef>
                <a:spcPct val="20000"/>
              </a:spcBef>
              <a:buClr>
                <a:schemeClr val="accent1"/>
              </a:buClr>
              <a:buSzPct val="85000"/>
              <a:buFont typeface="Wingdings 2" pitchFamily="18" charset="2"/>
              <a:buChar char=""/>
            </a:pPr>
            <a:r>
              <a:rPr lang="en-US" sz="2400" err="1"/>
              <a:t>Người</a:t>
            </a:r>
            <a:r>
              <a:rPr lang="vi-VN" sz="2400"/>
              <a:t> </a:t>
            </a:r>
            <a:r>
              <a:rPr lang="vi-VN" sz="2400" err="1"/>
              <a:t>kh</a:t>
            </a:r>
            <a:r>
              <a:rPr lang="en-US" sz="2400"/>
              <a:t>ở</a:t>
            </a:r>
            <a:r>
              <a:rPr lang="vi-VN" sz="2400"/>
              <a:t>i </a:t>
            </a:r>
            <a:r>
              <a:rPr lang="vi-VN" sz="2400" err="1"/>
              <a:t>xư</a:t>
            </a:r>
            <a:r>
              <a:rPr lang="en-US" sz="2400"/>
              <a:t>ớ</a:t>
            </a:r>
            <a:r>
              <a:rPr lang="vi-VN" sz="2400"/>
              <a:t>ng</a:t>
            </a:r>
            <a:endParaRPr lang="en-US" sz="2400"/>
          </a:p>
          <a:p>
            <a:pPr marL="639763" lvl="1" indent="-246063" eaLnBrk="0" hangingPunct="0">
              <a:spcBef>
                <a:spcPct val="20000"/>
              </a:spcBef>
              <a:buClr>
                <a:schemeClr val="accent1"/>
              </a:buClr>
              <a:buSzPct val="85000"/>
              <a:buFont typeface="Wingdings 2" pitchFamily="18" charset="2"/>
              <a:buChar char=""/>
            </a:pPr>
            <a:r>
              <a:rPr lang="en-US" sz="2400" err="1"/>
              <a:t>Người</a:t>
            </a:r>
            <a:r>
              <a:rPr lang="en-US" sz="2400"/>
              <a:t> </a:t>
            </a:r>
            <a:r>
              <a:rPr lang="en-US" sz="2400" err="1"/>
              <a:t>gác</a:t>
            </a:r>
            <a:r>
              <a:rPr lang="en-US" sz="2400"/>
              <a:t> </a:t>
            </a:r>
            <a:r>
              <a:rPr lang="en-US" sz="2400" err="1"/>
              <a:t>cửa</a:t>
            </a:r>
            <a:r>
              <a:rPr lang="vi-VN" sz="2400"/>
              <a:t> </a:t>
            </a:r>
            <a:endParaRPr lang="en-US" sz="2400"/>
          </a:p>
          <a:p>
            <a:pPr marL="639763" lvl="1" indent="-246063" eaLnBrk="0" hangingPunct="0">
              <a:spcBef>
                <a:spcPct val="20000"/>
              </a:spcBef>
              <a:buClr>
                <a:schemeClr val="accent1"/>
              </a:buClr>
              <a:buSzPct val="85000"/>
              <a:buFont typeface="Wingdings 2" pitchFamily="18" charset="2"/>
              <a:buChar char=""/>
            </a:pPr>
            <a:r>
              <a:rPr lang="en-US" sz="2400" b="1" kern="1200" err="1">
                <a:solidFill>
                  <a:schemeClr val="tx1"/>
                </a:solidFill>
                <a:latin typeface="+mn-lt"/>
                <a:ea typeface="+mn-ea"/>
                <a:cs typeface="+mn-cs"/>
              </a:rPr>
              <a:t>Người</a:t>
            </a:r>
            <a:r>
              <a:rPr lang="en-US" sz="2400" b="1" kern="1200">
                <a:solidFill>
                  <a:schemeClr val="tx1"/>
                </a:solidFill>
                <a:latin typeface="+mn-lt"/>
                <a:ea typeface="+mn-ea"/>
                <a:cs typeface="+mn-cs"/>
              </a:rPr>
              <a:t> </a:t>
            </a:r>
            <a:r>
              <a:rPr lang="en-US" sz="2400" b="1" kern="1200" err="1">
                <a:solidFill>
                  <a:schemeClr val="tx1"/>
                </a:solidFill>
                <a:latin typeface="+mn-lt"/>
                <a:ea typeface="+mn-ea"/>
                <a:cs typeface="+mn-cs"/>
              </a:rPr>
              <a:t>sử</a:t>
            </a:r>
            <a:r>
              <a:rPr lang="en-US" sz="2400" b="1" kern="1200">
                <a:solidFill>
                  <a:schemeClr val="tx1"/>
                </a:solidFill>
                <a:latin typeface="+mn-lt"/>
                <a:ea typeface="+mn-ea"/>
                <a:cs typeface="+mn-cs"/>
              </a:rPr>
              <a:t> </a:t>
            </a:r>
            <a:r>
              <a:rPr lang="en-US" sz="2400" b="1" kern="1200" err="1">
                <a:solidFill>
                  <a:schemeClr val="tx1"/>
                </a:solidFill>
                <a:latin typeface="+mn-lt"/>
                <a:ea typeface="+mn-ea"/>
                <a:cs typeface="+mn-cs"/>
              </a:rPr>
              <a:t>dụng</a:t>
            </a:r>
            <a:endParaRPr lang="en-US" sz="2400" b="1" kern="1200">
              <a:solidFill>
                <a:schemeClr val="tx1"/>
              </a:solidFill>
              <a:latin typeface="+mn-lt"/>
              <a:ea typeface="+mn-ea"/>
              <a:cs typeface="+mn-cs"/>
            </a:endParaRPr>
          </a:p>
          <a:p>
            <a:pPr marL="639763" lvl="1" indent="-246063" eaLnBrk="0" fontAlgn="base" hangingPunct="0">
              <a:spcBef>
                <a:spcPct val="20000"/>
              </a:spcBef>
              <a:spcAft>
                <a:spcPct val="0"/>
              </a:spcAft>
              <a:buClr>
                <a:schemeClr val="accent1"/>
              </a:buClr>
              <a:buSzPct val="85000"/>
              <a:buFont typeface="Wingdings 2" pitchFamily="18" charset="2"/>
              <a:buChar char=""/>
              <a:defRPr/>
            </a:pPr>
            <a:r>
              <a:rPr lang="en-US" sz="2400" b="1" kern="1200" err="1">
                <a:solidFill>
                  <a:schemeClr val="tx1"/>
                </a:solidFill>
                <a:latin typeface="+mn-lt"/>
                <a:ea typeface="+mn-ea"/>
                <a:cs typeface="+mn-cs"/>
              </a:rPr>
              <a:t>Người</a:t>
            </a:r>
            <a:r>
              <a:rPr lang="en-US" sz="2400" b="1" kern="1200">
                <a:solidFill>
                  <a:schemeClr val="tx1"/>
                </a:solidFill>
                <a:latin typeface="+mn-lt"/>
                <a:ea typeface="+mn-ea"/>
                <a:cs typeface="+mn-cs"/>
              </a:rPr>
              <a:t> </a:t>
            </a:r>
            <a:r>
              <a:rPr lang="en-US" sz="2400" b="1" kern="1200" err="1">
                <a:solidFill>
                  <a:schemeClr val="tx1"/>
                </a:solidFill>
                <a:latin typeface="+mn-lt"/>
                <a:ea typeface="+mn-ea"/>
                <a:cs typeface="+mn-cs"/>
              </a:rPr>
              <a:t>ảnh</a:t>
            </a:r>
            <a:r>
              <a:rPr lang="en-US" sz="2400" b="1" kern="1200">
                <a:solidFill>
                  <a:schemeClr val="tx1"/>
                </a:solidFill>
                <a:latin typeface="+mn-lt"/>
                <a:ea typeface="+mn-ea"/>
                <a:cs typeface="+mn-cs"/>
              </a:rPr>
              <a:t> </a:t>
            </a:r>
            <a:r>
              <a:rPr lang="en-US" sz="2400" b="1" kern="1200" err="1">
                <a:solidFill>
                  <a:schemeClr val="tx1"/>
                </a:solidFill>
                <a:latin typeface="+mn-lt"/>
                <a:ea typeface="+mn-ea"/>
                <a:cs typeface="+mn-cs"/>
              </a:rPr>
              <a:t>hưởng</a:t>
            </a:r>
            <a:endParaRPr lang="en-US" sz="2400" b="1" kern="1200">
              <a:solidFill>
                <a:schemeClr val="tx1"/>
              </a:solidFill>
              <a:latin typeface="+mn-lt"/>
              <a:ea typeface="+mn-ea"/>
              <a:cs typeface="+mn-cs"/>
            </a:endParaRPr>
          </a:p>
          <a:p>
            <a:pPr marL="639763" lvl="1" indent="-246063" eaLnBrk="0" fontAlgn="base" hangingPunct="0">
              <a:spcBef>
                <a:spcPct val="20000"/>
              </a:spcBef>
              <a:spcAft>
                <a:spcPct val="0"/>
              </a:spcAft>
              <a:buClr>
                <a:schemeClr val="accent1"/>
              </a:buClr>
              <a:buSzPct val="85000"/>
              <a:buFont typeface="Wingdings 2" pitchFamily="18" charset="2"/>
              <a:buChar char=""/>
              <a:defRPr/>
            </a:pPr>
            <a:r>
              <a:rPr lang="en-US" sz="2400" b="1" kern="1200" err="1">
                <a:solidFill>
                  <a:schemeClr val="tx1"/>
                </a:solidFill>
                <a:latin typeface="+mn-lt"/>
                <a:ea typeface="+mn-ea"/>
                <a:cs typeface="+mn-cs"/>
              </a:rPr>
              <a:t>Người</a:t>
            </a:r>
            <a:r>
              <a:rPr lang="en-US" sz="2400" b="1" kern="1200">
                <a:solidFill>
                  <a:schemeClr val="tx1"/>
                </a:solidFill>
                <a:latin typeface="+mn-lt"/>
                <a:ea typeface="+mn-ea"/>
                <a:cs typeface="+mn-cs"/>
              </a:rPr>
              <a:t> </a:t>
            </a:r>
            <a:r>
              <a:rPr lang="en-US" sz="2400" b="1" kern="1200" err="1">
                <a:solidFill>
                  <a:schemeClr val="tx1"/>
                </a:solidFill>
                <a:latin typeface="+mn-lt"/>
                <a:ea typeface="+mn-ea"/>
                <a:cs typeface="+mn-cs"/>
              </a:rPr>
              <a:t>mua</a:t>
            </a:r>
            <a:endParaRPr lang="en-US" sz="2400" b="1" kern="1200">
              <a:solidFill>
                <a:schemeClr val="tx1"/>
              </a:solidFill>
              <a:latin typeface="+mn-lt"/>
              <a:ea typeface="+mn-ea"/>
              <a:cs typeface="+mn-cs"/>
            </a:endParaRPr>
          </a:p>
          <a:p>
            <a:pPr marL="639763" lvl="1" indent="-246063" eaLnBrk="0" hangingPunct="0">
              <a:spcBef>
                <a:spcPct val="20000"/>
              </a:spcBef>
              <a:buClr>
                <a:schemeClr val="accent1"/>
              </a:buClr>
              <a:buSzPct val="85000"/>
              <a:buFont typeface="Wingdings 2" pitchFamily="18" charset="2"/>
              <a:buChar char=""/>
            </a:pPr>
            <a:r>
              <a:rPr lang="en-US" sz="2400" err="1"/>
              <a:t>Người</a:t>
            </a:r>
            <a:r>
              <a:rPr lang="en-US" sz="2400"/>
              <a:t> </a:t>
            </a:r>
            <a:r>
              <a:rPr lang="en-US" sz="2400" err="1"/>
              <a:t>phê</a:t>
            </a:r>
            <a:r>
              <a:rPr lang="en-US" sz="2400"/>
              <a:t> </a:t>
            </a:r>
            <a:r>
              <a:rPr lang="en-US" sz="2400" err="1"/>
              <a:t>duyệt</a:t>
            </a:r>
            <a:endParaRPr lang="en-US" sz="2400"/>
          </a:p>
          <a:p>
            <a:pPr marL="639763" lvl="1" indent="-246063" eaLnBrk="0" hangingPunct="0">
              <a:spcBef>
                <a:spcPct val="20000"/>
              </a:spcBef>
              <a:buClr>
                <a:schemeClr val="accent1"/>
              </a:buClr>
              <a:buSzPct val="85000"/>
              <a:buFont typeface="Wingdings 2" pitchFamily="18" charset="2"/>
              <a:buChar char=""/>
            </a:pPr>
            <a:r>
              <a:rPr lang="en-US" sz="2400" b="1" kern="1200" err="1">
                <a:solidFill>
                  <a:schemeClr val="tx1"/>
                </a:solidFill>
                <a:latin typeface="+mn-lt"/>
                <a:ea typeface="+mn-ea"/>
                <a:cs typeface="+mn-cs"/>
              </a:rPr>
              <a:t>Người</a:t>
            </a:r>
            <a:r>
              <a:rPr lang="en-US" sz="2400" b="1" kern="1200">
                <a:solidFill>
                  <a:schemeClr val="tx1"/>
                </a:solidFill>
                <a:latin typeface="+mn-lt"/>
                <a:ea typeface="+mn-ea"/>
                <a:cs typeface="+mn-cs"/>
              </a:rPr>
              <a:t> </a:t>
            </a:r>
            <a:r>
              <a:rPr lang="en-US" sz="2400" b="1" kern="1200" err="1">
                <a:solidFill>
                  <a:schemeClr val="tx1"/>
                </a:solidFill>
                <a:latin typeface="+mn-lt"/>
                <a:ea typeface="+mn-ea"/>
                <a:cs typeface="+mn-cs"/>
              </a:rPr>
              <a:t>quyết</a:t>
            </a:r>
            <a:r>
              <a:rPr lang="en-US" sz="2400" b="1" kern="1200">
                <a:solidFill>
                  <a:schemeClr val="tx1"/>
                </a:solidFill>
                <a:latin typeface="+mn-lt"/>
                <a:ea typeface="+mn-ea"/>
                <a:cs typeface="+mn-cs"/>
              </a:rPr>
              <a:t> </a:t>
            </a:r>
            <a:r>
              <a:rPr lang="en-US" sz="2400" b="1" kern="1200" err="1">
                <a:solidFill>
                  <a:schemeClr val="tx1"/>
                </a:solidFill>
                <a:latin typeface="+mn-lt"/>
                <a:ea typeface="+mn-ea"/>
                <a:cs typeface="+mn-cs"/>
              </a:rPr>
              <a:t>định</a:t>
            </a:r>
            <a:endParaRPr lang="en-US" sz="2400" b="1" kern="1200">
              <a:solidFill>
                <a:schemeClr val="tx1"/>
              </a:solidFill>
              <a:latin typeface="+mn-lt"/>
              <a:ea typeface="+mn-ea"/>
              <a:cs typeface="+mn-cs"/>
            </a:endParaRPr>
          </a:p>
          <a:p>
            <a:pPr marL="393700" lvl="1" eaLnBrk="0" hangingPunct="0">
              <a:spcBef>
                <a:spcPct val="20000"/>
              </a:spcBef>
              <a:buClr>
                <a:schemeClr val="accent1"/>
              </a:buClr>
              <a:buSzPct val="85000"/>
            </a:pPr>
            <a:endParaRPr lang="en-US" sz="1200" b="1" kern="1200">
              <a:solidFill>
                <a:schemeClr val="tx1"/>
              </a:solidFill>
              <a:latin typeface="+mn-lt"/>
              <a:ea typeface="+mn-ea"/>
              <a:cs typeface="+mn-cs"/>
            </a:endParaRPr>
          </a:p>
          <a:p>
            <a:r>
              <a:rPr lang="en-US" sz="2400" err="1">
                <a:solidFill>
                  <a:srgbClr val="0000FF"/>
                </a:solidFill>
              </a:rPr>
              <a:t>Những</a:t>
            </a:r>
            <a:r>
              <a:rPr lang="en-US" sz="2400">
                <a:solidFill>
                  <a:srgbClr val="0000FF"/>
                </a:solidFill>
              </a:rPr>
              <a:t> </a:t>
            </a:r>
            <a:r>
              <a:rPr lang="en-US" sz="2400" err="1">
                <a:solidFill>
                  <a:srgbClr val="0000FF"/>
                </a:solidFill>
              </a:rPr>
              <a:t>người</a:t>
            </a:r>
            <a:r>
              <a:rPr lang="en-US" sz="2400">
                <a:solidFill>
                  <a:srgbClr val="0000FF"/>
                </a:solidFill>
              </a:rPr>
              <a:t> </a:t>
            </a:r>
            <a:r>
              <a:rPr lang="en-US" sz="2400" err="1">
                <a:solidFill>
                  <a:srgbClr val="0000FF"/>
                </a:solidFill>
              </a:rPr>
              <a:t>ảnh</a:t>
            </a:r>
            <a:r>
              <a:rPr lang="en-US" sz="2400">
                <a:solidFill>
                  <a:srgbClr val="0000FF"/>
                </a:solidFill>
              </a:rPr>
              <a:t> </a:t>
            </a:r>
            <a:r>
              <a:rPr lang="en-US" sz="2400" err="1">
                <a:solidFill>
                  <a:srgbClr val="0000FF"/>
                </a:solidFill>
              </a:rPr>
              <a:t>hưởng</a:t>
            </a:r>
            <a:r>
              <a:rPr lang="en-US" sz="2400">
                <a:solidFill>
                  <a:srgbClr val="0000FF"/>
                </a:solidFill>
              </a:rPr>
              <a:t> </a:t>
            </a:r>
            <a:r>
              <a:rPr lang="vi-VN" sz="2400">
                <a:solidFill>
                  <a:srgbClr val="0000FF"/>
                </a:solidFill>
              </a:rPr>
              <a:t>mua </a:t>
            </a:r>
            <a:r>
              <a:rPr lang="vi-VN" sz="2400" err="1">
                <a:solidFill>
                  <a:srgbClr val="0000FF"/>
                </a:solidFill>
              </a:rPr>
              <a:t>còn</a:t>
            </a:r>
            <a:r>
              <a:rPr lang="vi-VN" sz="2400">
                <a:solidFill>
                  <a:srgbClr val="0000FF"/>
                </a:solidFill>
              </a:rPr>
              <a:t> </a:t>
            </a:r>
            <a:r>
              <a:rPr lang="vi-VN" sz="2400" err="1">
                <a:solidFill>
                  <a:srgbClr val="0000FF"/>
                </a:solidFill>
              </a:rPr>
              <a:t>có</a:t>
            </a:r>
            <a:r>
              <a:rPr lang="vi-VN" sz="2400">
                <a:solidFill>
                  <a:srgbClr val="0000FF"/>
                </a:solidFill>
              </a:rPr>
              <a:t> </a:t>
            </a:r>
            <a:r>
              <a:rPr lang="vi-VN" sz="2400" err="1">
                <a:solidFill>
                  <a:srgbClr val="0000FF"/>
                </a:solidFill>
              </a:rPr>
              <a:t>th</a:t>
            </a:r>
            <a:r>
              <a:rPr lang="en-US" sz="2400">
                <a:solidFill>
                  <a:srgbClr val="0000FF"/>
                </a:solidFill>
              </a:rPr>
              <a:t>ể</a:t>
            </a:r>
            <a:r>
              <a:rPr lang="vi-VN" sz="2400">
                <a:solidFill>
                  <a:srgbClr val="0000FF"/>
                </a:solidFill>
              </a:rPr>
              <a:t> </a:t>
            </a:r>
            <a:r>
              <a:rPr lang="vi-VN" sz="2400" err="1">
                <a:solidFill>
                  <a:srgbClr val="0000FF"/>
                </a:solidFill>
              </a:rPr>
              <a:t>là</a:t>
            </a:r>
            <a:r>
              <a:rPr lang="vi-VN" sz="2400">
                <a:solidFill>
                  <a:srgbClr val="0000FF"/>
                </a:solidFill>
              </a:rPr>
              <a:t> </a:t>
            </a:r>
            <a:r>
              <a:rPr lang="vi-VN" sz="2400" err="1">
                <a:solidFill>
                  <a:srgbClr val="0000FF"/>
                </a:solidFill>
              </a:rPr>
              <a:t>nh</a:t>
            </a:r>
            <a:r>
              <a:rPr lang="en-US" sz="2400">
                <a:solidFill>
                  <a:srgbClr val="0000FF"/>
                </a:solidFill>
              </a:rPr>
              <a:t>ữ</a:t>
            </a:r>
            <a:r>
              <a:rPr lang="vi-VN" sz="2400" err="1">
                <a:solidFill>
                  <a:srgbClr val="0000FF"/>
                </a:solidFill>
              </a:rPr>
              <a:t>ng</a:t>
            </a:r>
            <a:r>
              <a:rPr lang="vi-VN" sz="2400">
                <a:solidFill>
                  <a:srgbClr val="0000FF"/>
                </a:solidFill>
              </a:rPr>
              <a:t> </a:t>
            </a:r>
            <a:r>
              <a:rPr lang="vi-VN" sz="2400" err="1">
                <a:solidFill>
                  <a:srgbClr val="0000FF"/>
                </a:solidFill>
              </a:rPr>
              <a:t>cá</a:t>
            </a:r>
            <a:r>
              <a:rPr lang="vi-VN" sz="2400">
                <a:solidFill>
                  <a:srgbClr val="0000FF"/>
                </a:solidFill>
              </a:rPr>
              <a:t> nhân bên </a:t>
            </a:r>
            <a:r>
              <a:rPr lang="vi-VN" sz="2400" err="1">
                <a:solidFill>
                  <a:srgbClr val="0000FF"/>
                </a:solidFill>
              </a:rPr>
              <a:t>ngoài</a:t>
            </a:r>
            <a:r>
              <a:rPr lang="vi-VN" sz="2400">
                <a:solidFill>
                  <a:srgbClr val="0000FF"/>
                </a:solidFill>
              </a:rPr>
              <a:t> </a:t>
            </a:r>
            <a:r>
              <a:rPr lang="en-US" sz="2400" err="1">
                <a:solidFill>
                  <a:srgbClr val="0000FF"/>
                </a:solidFill>
              </a:rPr>
              <a:t>doanh</a:t>
            </a:r>
            <a:r>
              <a:rPr lang="en-US" sz="2400">
                <a:solidFill>
                  <a:srgbClr val="0000FF"/>
                </a:solidFill>
              </a:rPr>
              <a:t> </a:t>
            </a:r>
            <a:r>
              <a:rPr lang="en-US" sz="2400" err="1">
                <a:solidFill>
                  <a:srgbClr val="0000FF"/>
                </a:solidFill>
              </a:rPr>
              <a:t>nghiệp</a:t>
            </a:r>
            <a:r>
              <a:rPr lang="en-US" sz="2400">
                <a:solidFill>
                  <a:srgbClr val="0000FF"/>
                </a:solidFill>
              </a:rPr>
              <a:t>. </a:t>
            </a:r>
            <a:r>
              <a:rPr lang="en-US" sz="2400" err="1">
                <a:solidFill>
                  <a:srgbClr val="0000FF"/>
                </a:solidFill>
              </a:rPr>
              <a:t>Ví</a:t>
            </a:r>
            <a:r>
              <a:rPr lang="en-US" sz="2400">
                <a:solidFill>
                  <a:srgbClr val="0000FF"/>
                </a:solidFill>
              </a:rPr>
              <a:t> </a:t>
            </a:r>
            <a:r>
              <a:rPr lang="en-US" sz="2400" err="1">
                <a:solidFill>
                  <a:srgbClr val="0000FF"/>
                </a:solidFill>
              </a:rPr>
              <a:t>dụ</a:t>
            </a:r>
            <a:r>
              <a:rPr lang="en-US" sz="2400">
                <a:solidFill>
                  <a:srgbClr val="0000FF"/>
                </a:solidFill>
              </a:rPr>
              <a:t>….???</a:t>
            </a:r>
            <a:endParaRPr lang="en-US" sz="2400" b="1" kern="1200">
              <a:solidFill>
                <a:srgbClr val="0000FF"/>
              </a:solidFill>
              <a:latin typeface="+mn-lt"/>
              <a:ea typeface="+mn-ea"/>
              <a:cs typeface="+mn-cs"/>
            </a:endParaRPr>
          </a:p>
        </p:txBody>
      </p:sp>
      <p:sp>
        <p:nvSpPr>
          <p:cNvPr id="6" name="Content Placeholder 2">
            <a:extLst>
              <a:ext uri="{FF2B5EF4-FFF2-40B4-BE49-F238E27FC236}">
                <a16:creationId xmlns:a16="http://schemas.microsoft.com/office/drawing/2014/main" id="{69E43A74-8BE2-973F-FE05-8124A659F400}"/>
              </a:ext>
            </a:extLst>
          </p:cNvPr>
          <p:cNvSpPr txBox="1">
            <a:spLocks/>
          </p:cNvSpPr>
          <p:nvPr/>
        </p:nvSpPr>
        <p:spPr bwMode="auto">
          <a:xfrm>
            <a:off x="182880" y="445771"/>
            <a:ext cx="10607040" cy="556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600" b="1"/>
              <a:t>7.3.1 </a:t>
            </a:r>
            <a:r>
              <a:rPr lang="en-US" sz="2600" b="1" err="1"/>
              <a:t>Những</a:t>
            </a:r>
            <a:r>
              <a:rPr lang="en-US" sz="2600" b="1"/>
              <a:t> </a:t>
            </a:r>
            <a:r>
              <a:rPr lang="en-US" sz="2600" b="1" err="1"/>
              <a:t>người</a:t>
            </a:r>
            <a:r>
              <a:rPr lang="en-US" sz="2600" b="1"/>
              <a:t> </a:t>
            </a:r>
            <a:r>
              <a:rPr lang="en-US" sz="2600" b="1" err="1"/>
              <a:t>tham</a:t>
            </a:r>
            <a:r>
              <a:rPr lang="en-US" sz="2600" b="1"/>
              <a:t> </a:t>
            </a:r>
            <a:r>
              <a:rPr lang="en-US" sz="2600" b="1" err="1"/>
              <a:t>gia</a:t>
            </a:r>
            <a:r>
              <a:rPr lang="en-US" sz="2600" b="1"/>
              <a:t> </a:t>
            </a:r>
            <a:r>
              <a:rPr lang="en-US" sz="2600" b="1" err="1"/>
              <a:t>vào</a:t>
            </a:r>
            <a:r>
              <a:rPr lang="en-US" sz="2600" b="1"/>
              <a:t> </a:t>
            </a:r>
            <a:r>
              <a:rPr lang="en-US" sz="2600" b="1" err="1"/>
              <a:t>quá</a:t>
            </a:r>
            <a:r>
              <a:rPr lang="en-US" sz="2600" b="1"/>
              <a:t> </a:t>
            </a:r>
            <a:r>
              <a:rPr lang="en-US" sz="2600" b="1" err="1"/>
              <a:t>trình</a:t>
            </a:r>
            <a:r>
              <a:rPr lang="en-US" sz="2600" b="1"/>
              <a:t> </a:t>
            </a:r>
            <a:r>
              <a:rPr lang="en-US" sz="2600" b="1" err="1"/>
              <a:t>mua</a:t>
            </a:r>
            <a:r>
              <a:rPr lang="en-US" sz="2600" b="1"/>
              <a:t> </a:t>
            </a:r>
            <a:r>
              <a:rPr lang="en-US" sz="2600" b="1" err="1"/>
              <a:t>hàng</a:t>
            </a:r>
            <a:r>
              <a:rPr lang="en-US" sz="2600" b="1"/>
              <a:t> </a:t>
            </a:r>
            <a:r>
              <a:rPr lang="en-US" sz="2600" b="1" err="1"/>
              <a:t>của</a:t>
            </a:r>
            <a:r>
              <a:rPr lang="en-US" sz="2600" b="1"/>
              <a:t> </a:t>
            </a:r>
            <a:r>
              <a:rPr lang="en-US" sz="2600" b="1" err="1"/>
              <a:t>tổ</a:t>
            </a:r>
            <a:r>
              <a:rPr lang="en-US" sz="2600" b="1"/>
              <a:t> </a:t>
            </a:r>
            <a:r>
              <a:rPr lang="en-US" sz="2600" b="1" err="1"/>
              <a:t>chức</a:t>
            </a:r>
            <a:endParaRPr lang="en-US" sz="2600"/>
          </a:p>
        </p:txBody>
      </p:sp>
      <p:sp>
        <p:nvSpPr>
          <p:cNvPr id="2" name="TextBox 1">
            <a:extLst>
              <a:ext uri="{FF2B5EF4-FFF2-40B4-BE49-F238E27FC236}">
                <a16:creationId xmlns:a16="http://schemas.microsoft.com/office/drawing/2014/main" id="{4AF6576F-4449-6317-9A01-2EADBFD1BA81}"/>
              </a:ext>
            </a:extLst>
          </p:cNvPr>
          <p:cNvSpPr txBox="1"/>
          <p:nvPr/>
        </p:nvSpPr>
        <p:spPr>
          <a:xfrm>
            <a:off x="4640580" y="2514600"/>
            <a:ext cx="6755129" cy="1441933"/>
          </a:xfrm>
          <a:prstGeom prst="rect">
            <a:avLst/>
          </a:prstGeom>
          <a:solidFill>
            <a:schemeClr val="accent4">
              <a:lumMod val="20000"/>
              <a:lumOff val="80000"/>
            </a:schemeClr>
          </a:solidFill>
        </p:spPr>
        <p:txBody>
          <a:bodyPr wrap="square">
            <a:spAutoFit/>
          </a:bodyPr>
          <a:lstStyle/>
          <a:p>
            <a:pPr algn="ctr">
              <a:lnSpc>
                <a:spcPct val="107000"/>
              </a:lnSpc>
              <a:spcAft>
                <a:spcPts val="800"/>
              </a:spcAft>
            </a:pPr>
            <a:r>
              <a:rPr lang="en-US" sz="2800" b="1" i="1" kern="100">
                <a:solidFill>
                  <a:srgbClr val="0070C0"/>
                </a:solidFill>
                <a:latin typeface="+mn-lt"/>
                <a:ea typeface="Aptos" panose="020B0004020202020204" pitchFamily="34" charset="0"/>
                <a:cs typeface="Times New Roman" panose="02020603050405020304" pitchFamily="18" charset="0"/>
              </a:rPr>
              <a:t>“</a:t>
            </a:r>
            <a:r>
              <a:rPr lang="en-US" sz="2800" b="1" i="1" kern="100" err="1">
                <a:solidFill>
                  <a:srgbClr val="0070C0"/>
                </a:solidFill>
                <a:latin typeface="+mn-lt"/>
                <a:ea typeface="Aptos" panose="020B0004020202020204" pitchFamily="34" charset="0"/>
                <a:cs typeface="Times New Roman" panose="02020603050405020304" pitchFamily="18" charset="0"/>
              </a:rPr>
              <a:t>Thảo</a:t>
            </a:r>
            <a:r>
              <a:rPr lang="en-US" sz="2800" b="1" i="1" kern="100">
                <a:solidFill>
                  <a:srgbClr val="0070C0"/>
                </a:solidFill>
                <a:latin typeface="+mn-lt"/>
                <a:ea typeface="Aptos" panose="020B0004020202020204" pitchFamily="34" charset="0"/>
                <a:cs typeface="Times New Roman" panose="02020603050405020304" pitchFamily="18" charset="0"/>
              </a:rPr>
              <a:t> </a:t>
            </a:r>
            <a:r>
              <a:rPr lang="en-US" sz="2800" b="1" i="1" kern="100" err="1">
                <a:solidFill>
                  <a:srgbClr val="0070C0"/>
                </a:solidFill>
                <a:latin typeface="+mn-lt"/>
                <a:ea typeface="Aptos" panose="020B0004020202020204" pitchFamily="34" charset="0"/>
                <a:cs typeface="Times New Roman" panose="02020603050405020304" pitchFamily="18" charset="0"/>
              </a:rPr>
              <a:t>luận</a:t>
            </a:r>
            <a:r>
              <a:rPr lang="en-US" sz="2800" b="1" i="1" kern="100">
                <a:solidFill>
                  <a:srgbClr val="0070C0"/>
                </a:solidFill>
                <a:latin typeface="+mn-lt"/>
                <a:ea typeface="Aptos" panose="020B0004020202020204" pitchFamily="34" charset="0"/>
                <a:cs typeface="Times New Roman" panose="02020603050405020304" pitchFamily="18" charset="0"/>
              </a:rPr>
              <a:t> </a:t>
            </a:r>
            <a:r>
              <a:rPr lang="en-US" sz="2800" b="1" i="1" kern="100" err="1">
                <a:solidFill>
                  <a:srgbClr val="0070C0"/>
                </a:solidFill>
                <a:latin typeface="+mn-lt"/>
                <a:ea typeface="Aptos" panose="020B0004020202020204" pitchFamily="34" charset="0"/>
                <a:cs typeface="Times New Roman" panose="02020603050405020304" pitchFamily="18" charset="0"/>
              </a:rPr>
              <a:t>nhóm</a:t>
            </a:r>
            <a:r>
              <a:rPr lang="en-US" sz="2800" b="1" i="1" kern="100">
                <a:solidFill>
                  <a:srgbClr val="0070C0"/>
                </a:solidFill>
                <a:latin typeface="+mn-lt"/>
                <a:ea typeface="Aptos" panose="020B0004020202020204" pitchFamily="34" charset="0"/>
                <a:cs typeface="Times New Roman" panose="02020603050405020304" pitchFamily="18" charset="0"/>
              </a:rPr>
              <a:t>: </a:t>
            </a:r>
            <a:r>
              <a:rPr lang="en-US" sz="2800" b="1" i="1" kern="100" err="1">
                <a:solidFill>
                  <a:srgbClr val="0070C0"/>
                </a:solidFill>
                <a:latin typeface="+mn-lt"/>
                <a:ea typeface="Aptos" panose="020B0004020202020204" pitchFamily="34" charset="0"/>
                <a:cs typeface="Times New Roman" panose="02020603050405020304" pitchFamily="18" charset="0"/>
              </a:rPr>
              <a:t>Phân</a:t>
            </a:r>
            <a:r>
              <a:rPr lang="en-US" sz="2800" b="1" i="1" kern="100">
                <a:solidFill>
                  <a:srgbClr val="0070C0"/>
                </a:solidFill>
                <a:latin typeface="+mn-lt"/>
                <a:ea typeface="Aptos" panose="020B0004020202020204" pitchFamily="34" charset="0"/>
                <a:cs typeface="Times New Roman" panose="02020603050405020304" pitchFamily="18" charset="0"/>
              </a:rPr>
              <a:t> </a:t>
            </a:r>
            <a:r>
              <a:rPr lang="en-US" sz="2800" b="1" i="1" kern="100" err="1">
                <a:solidFill>
                  <a:srgbClr val="0070C0"/>
                </a:solidFill>
                <a:latin typeface="+mn-lt"/>
                <a:ea typeface="Aptos" panose="020B0004020202020204" pitchFamily="34" charset="0"/>
                <a:cs typeface="Times New Roman" panose="02020603050405020304" pitchFamily="18" charset="0"/>
              </a:rPr>
              <a:t>biệt</a:t>
            </a:r>
            <a:r>
              <a:rPr lang="en-US" sz="2800" b="1" i="1" kern="100">
                <a:solidFill>
                  <a:srgbClr val="0070C0"/>
                </a:solidFill>
                <a:latin typeface="+mn-lt"/>
                <a:ea typeface="Aptos" panose="020B0004020202020204" pitchFamily="34" charset="0"/>
                <a:cs typeface="Times New Roman" panose="02020603050405020304" pitchFamily="18" charset="0"/>
              </a:rPr>
              <a:t> </a:t>
            </a:r>
            <a:r>
              <a:rPr lang="en-US" sz="2800" b="1" i="1" kern="100" err="1">
                <a:solidFill>
                  <a:srgbClr val="0070C0"/>
                </a:solidFill>
                <a:latin typeface="+mn-lt"/>
                <a:ea typeface="Aptos" panose="020B0004020202020204" pitchFamily="34" charset="0"/>
                <a:cs typeface="Times New Roman" panose="02020603050405020304" pitchFamily="18" charset="0"/>
              </a:rPr>
              <a:t>và</a:t>
            </a:r>
            <a:r>
              <a:rPr lang="en-US" sz="2800" b="1" i="1" kern="100">
                <a:solidFill>
                  <a:srgbClr val="0070C0"/>
                </a:solidFill>
                <a:latin typeface="+mn-lt"/>
                <a:ea typeface="Aptos" panose="020B0004020202020204" pitchFamily="34" charset="0"/>
                <a:cs typeface="Times New Roman" panose="02020603050405020304" pitchFamily="18" charset="0"/>
              </a:rPr>
              <a:t> </a:t>
            </a:r>
            <a:r>
              <a:rPr lang="en-US" sz="2800" b="1" i="1" kern="100" err="1">
                <a:solidFill>
                  <a:srgbClr val="0070C0"/>
                </a:solidFill>
                <a:latin typeface="+mn-lt"/>
                <a:ea typeface="Aptos" panose="020B0004020202020204" pitchFamily="34" charset="0"/>
                <a:cs typeface="Times New Roman" panose="02020603050405020304" pitchFamily="18" charset="0"/>
              </a:rPr>
              <a:t>cho</a:t>
            </a:r>
            <a:r>
              <a:rPr lang="en-US" sz="2800" b="1" i="1" kern="100">
                <a:solidFill>
                  <a:srgbClr val="0070C0"/>
                </a:solidFill>
                <a:latin typeface="+mn-lt"/>
                <a:ea typeface="Aptos" panose="020B0004020202020204" pitchFamily="34" charset="0"/>
                <a:cs typeface="Times New Roman" panose="02020603050405020304" pitchFamily="18" charset="0"/>
              </a:rPr>
              <a:t> </a:t>
            </a:r>
            <a:r>
              <a:rPr lang="en-US" sz="2800" b="1" i="1" kern="100" err="1">
                <a:solidFill>
                  <a:srgbClr val="0070C0"/>
                </a:solidFill>
                <a:latin typeface="+mn-lt"/>
                <a:ea typeface="Aptos" panose="020B0004020202020204" pitchFamily="34" charset="0"/>
                <a:cs typeface="Times New Roman" panose="02020603050405020304" pitchFamily="18" charset="0"/>
              </a:rPr>
              <a:t>ví</a:t>
            </a:r>
            <a:r>
              <a:rPr lang="en-US" sz="2800" b="1" i="1" kern="100">
                <a:solidFill>
                  <a:srgbClr val="0070C0"/>
                </a:solidFill>
                <a:latin typeface="+mn-lt"/>
                <a:ea typeface="Aptos" panose="020B0004020202020204" pitchFamily="34" charset="0"/>
                <a:cs typeface="Times New Roman" panose="02020603050405020304" pitchFamily="18" charset="0"/>
              </a:rPr>
              <a:t> </a:t>
            </a:r>
            <a:r>
              <a:rPr lang="en-US" sz="2800" b="1" i="1" kern="100" err="1">
                <a:solidFill>
                  <a:srgbClr val="0070C0"/>
                </a:solidFill>
                <a:latin typeface="+mn-lt"/>
                <a:ea typeface="Aptos" panose="020B0004020202020204" pitchFamily="34" charset="0"/>
                <a:cs typeface="Times New Roman" panose="02020603050405020304" pitchFamily="18" charset="0"/>
              </a:rPr>
              <a:t>dụ</a:t>
            </a:r>
            <a:r>
              <a:rPr lang="en-US" sz="2800" b="1" i="1" kern="100">
                <a:solidFill>
                  <a:srgbClr val="0070C0"/>
                </a:solidFill>
                <a:latin typeface="+mn-lt"/>
                <a:ea typeface="Aptos" panose="020B0004020202020204" pitchFamily="34" charset="0"/>
                <a:cs typeface="Times New Roman" panose="02020603050405020304" pitchFamily="18" charset="0"/>
              </a:rPr>
              <a:t> </a:t>
            </a:r>
            <a:r>
              <a:rPr lang="en-US" sz="2800" b="1" i="1" kern="100" err="1">
                <a:solidFill>
                  <a:srgbClr val="0070C0"/>
                </a:solidFill>
                <a:latin typeface="+mn-lt"/>
                <a:ea typeface="Aptos" panose="020B0004020202020204" pitchFamily="34" charset="0"/>
                <a:cs typeface="Times New Roman" panose="02020603050405020304" pitchFamily="18" charset="0"/>
              </a:rPr>
              <a:t>những</a:t>
            </a:r>
            <a:r>
              <a:rPr lang="en-US" sz="2800" b="1" i="1" kern="100">
                <a:solidFill>
                  <a:srgbClr val="0070C0"/>
                </a:solidFill>
                <a:latin typeface="+mn-lt"/>
                <a:ea typeface="Aptos" panose="020B0004020202020204" pitchFamily="34" charset="0"/>
                <a:cs typeface="Times New Roman" panose="02020603050405020304" pitchFamily="18" charset="0"/>
              </a:rPr>
              <a:t> </a:t>
            </a:r>
            <a:r>
              <a:rPr lang="en-US" sz="2800" b="1" i="1" kern="100" err="1">
                <a:solidFill>
                  <a:srgbClr val="0070C0"/>
                </a:solidFill>
                <a:latin typeface="+mn-lt"/>
                <a:ea typeface="Aptos" panose="020B0004020202020204" pitchFamily="34" charset="0"/>
                <a:cs typeface="Times New Roman" panose="02020603050405020304" pitchFamily="18" charset="0"/>
              </a:rPr>
              <a:t>nhóm</a:t>
            </a:r>
            <a:r>
              <a:rPr lang="en-US" sz="2800" b="1" i="1" kern="100">
                <a:solidFill>
                  <a:srgbClr val="0070C0"/>
                </a:solidFill>
                <a:latin typeface="+mn-lt"/>
                <a:ea typeface="Aptos" panose="020B0004020202020204" pitchFamily="34" charset="0"/>
                <a:cs typeface="Times New Roman" panose="02020603050405020304" pitchFamily="18" charset="0"/>
              </a:rPr>
              <a:t> </a:t>
            </a:r>
            <a:r>
              <a:rPr lang="en-US" sz="2800" b="1" i="1" kern="100" err="1">
                <a:solidFill>
                  <a:srgbClr val="0070C0"/>
                </a:solidFill>
                <a:latin typeface="+mn-lt"/>
                <a:ea typeface="Aptos" panose="020B0004020202020204" pitchFamily="34" charset="0"/>
                <a:cs typeface="Times New Roman" panose="02020603050405020304" pitchFamily="18" charset="0"/>
              </a:rPr>
              <a:t>người</a:t>
            </a:r>
            <a:r>
              <a:rPr lang="en-US" sz="2800" b="1" i="1" kern="100">
                <a:solidFill>
                  <a:srgbClr val="0070C0"/>
                </a:solidFill>
                <a:latin typeface="+mn-lt"/>
                <a:ea typeface="Aptos" panose="020B0004020202020204" pitchFamily="34" charset="0"/>
                <a:cs typeface="Times New Roman" panose="02020603050405020304" pitchFamily="18" charset="0"/>
              </a:rPr>
              <a:t> </a:t>
            </a:r>
            <a:r>
              <a:rPr lang="en-US" sz="2800" b="1" i="1" kern="100" err="1">
                <a:solidFill>
                  <a:srgbClr val="0070C0"/>
                </a:solidFill>
                <a:latin typeface="+mn-lt"/>
                <a:ea typeface="Aptos" panose="020B0004020202020204" pitchFamily="34" charset="0"/>
                <a:cs typeface="Times New Roman" panose="02020603050405020304" pitchFamily="18" charset="0"/>
              </a:rPr>
              <a:t>ảnh</a:t>
            </a:r>
            <a:r>
              <a:rPr lang="en-US" sz="2800" b="1" i="1" kern="100">
                <a:solidFill>
                  <a:srgbClr val="0070C0"/>
                </a:solidFill>
                <a:latin typeface="+mn-lt"/>
                <a:ea typeface="Aptos" panose="020B0004020202020204" pitchFamily="34" charset="0"/>
                <a:cs typeface="Times New Roman" panose="02020603050405020304" pitchFamily="18" charset="0"/>
              </a:rPr>
              <a:t> </a:t>
            </a:r>
            <a:r>
              <a:rPr lang="en-US" sz="2800" b="1" i="1" kern="100" err="1">
                <a:solidFill>
                  <a:srgbClr val="0070C0"/>
                </a:solidFill>
                <a:latin typeface="+mn-lt"/>
                <a:ea typeface="Aptos" panose="020B0004020202020204" pitchFamily="34" charset="0"/>
                <a:cs typeface="Times New Roman" panose="02020603050405020304" pitchFamily="18" charset="0"/>
              </a:rPr>
              <a:t>hưởng</a:t>
            </a:r>
            <a:r>
              <a:rPr lang="en-US" sz="2800" b="1" i="1" kern="100">
                <a:solidFill>
                  <a:srgbClr val="0070C0"/>
                </a:solidFill>
                <a:latin typeface="+mn-lt"/>
                <a:ea typeface="Aptos" panose="020B0004020202020204" pitchFamily="34" charset="0"/>
                <a:cs typeface="Times New Roman" panose="02020603050405020304" pitchFamily="18" charset="0"/>
              </a:rPr>
              <a:t> </a:t>
            </a:r>
            <a:r>
              <a:rPr lang="en-US" sz="2800" b="1" i="1" kern="100" err="1">
                <a:solidFill>
                  <a:srgbClr val="0070C0"/>
                </a:solidFill>
                <a:latin typeface="+mn-lt"/>
                <a:ea typeface="Aptos" panose="020B0004020202020204" pitchFamily="34" charset="0"/>
                <a:cs typeface="Times New Roman" panose="02020603050405020304" pitchFamily="18" charset="0"/>
              </a:rPr>
              <a:t>quá</a:t>
            </a:r>
            <a:r>
              <a:rPr lang="en-US" sz="2800" b="1" i="1" kern="100">
                <a:solidFill>
                  <a:srgbClr val="0070C0"/>
                </a:solidFill>
                <a:latin typeface="+mn-lt"/>
                <a:ea typeface="Aptos" panose="020B0004020202020204" pitchFamily="34" charset="0"/>
                <a:cs typeface="Times New Roman" panose="02020603050405020304" pitchFamily="18" charset="0"/>
              </a:rPr>
              <a:t> </a:t>
            </a:r>
            <a:r>
              <a:rPr lang="en-US" sz="2800" b="1" i="1" kern="100" err="1">
                <a:solidFill>
                  <a:srgbClr val="0070C0"/>
                </a:solidFill>
                <a:latin typeface="+mn-lt"/>
                <a:ea typeface="Aptos" panose="020B0004020202020204" pitchFamily="34" charset="0"/>
                <a:cs typeface="Times New Roman" panose="02020603050405020304" pitchFamily="18" charset="0"/>
              </a:rPr>
              <a:t>trình</a:t>
            </a:r>
            <a:r>
              <a:rPr lang="en-US" sz="2800" b="1" i="1" kern="100">
                <a:solidFill>
                  <a:srgbClr val="0070C0"/>
                </a:solidFill>
                <a:latin typeface="+mn-lt"/>
                <a:ea typeface="Aptos" panose="020B0004020202020204" pitchFamily="34" charset="0"/>
                <a:cs typeface="Times New Roman" panose="02020603050405020304" pitchFamily="18" charset="0"/>
              </a:rPr>
              <a:t> </a:t>
            </a:r>
            <a:r>
              <a:rPr lang="en-US" sz="2800" b="1" i="1" kern="100" err="1">
                <a:solidFill>
                  <a:srgbClr val="0070C0"/>
                </a:solidFill>
                <a:latin typeface="+mn-lt"/>
                <a:ea typeface="Aptos" panose="020B0004020202020204" pitchFamily="34" charset="0"/>
                <a:cs typeface="Times New Roman" panose="02020603050405020304" pitchFamily="18" charset="0"/>
              </a:rPr>
              <a:t>quyết</a:t>
            </a:r>
            <a:r>
              <a:rPr lang="en-US" sz="2800" b="1" i="1" kern="100">
                <a:solidFill>
                  <a:srgbClr val="0070C0"/>
                </a:solidFill>
                <a:latin typeface="+mn-lt"/>
                <a:ea typeface="Aptos" panose="020B0004020202020204" pitchFamily="34" charset="0"/>
                <a:cs typeface="Times New Roman" panose="02020603050405020304" pitchFamily="18" charset="0"/>
              </a:rPr>
              <a:t> </a:t>
            </a:r>
            <a:r>
              <a:rPr lang="en-US" sz="2800" b="1" i="1" kern="100" err="1">
                <a:solidFill>
                  <a:srgbClr val="0070C0"/>
                </a:solidFill>
                <a:latin typeface="+mn-lt"/>
                <a:ea typeface="Aptos" panose="020B0004020202020204" pitchFamily="34" charset="0"/>
                <a:cs typeface="Times New Roman" panose="02020603050405020304" pitchFamily="18" charset="0"/>
              </a:rPr>
              <a:t>định</a:t>
            </a:r>
            <a:r>
              <a:rPr lang="en-US" sz="2800" b="1" i="1" kern="100">
                <a:solidFill>
                  <a:srgbClr val="0070C0"/>
                </a:solidFill>
                <a:latin typeface="+mn-lt"/>
                <a:ea typeface="Aptos" panose="020B0004020202020204" pitchFamily="34" charset="0"/>
                <a:cs typeface="Times New Roman" panose="02020603050405020304" pitchFamily="18" charset="0"/>
              </a:rPr>
              <a:t> </a:t>
            </a:r>
            <a:r>
              <a:rPr lang="en-US" sz="2800" b="1" i="1" kern="100" err="1">
                <a:solidFill>
                  <a:srgbClr val="0070C0"/>
                </a:solidFill>
                <a:latin typeface="+mn-lt"/>
                <a:ea typeface="Aptos" panose="020B0004020202020204" pitchFamily="34" charset="0"/>
                <a:cs typeface="Times New Roman" panose="02020603050405020304" pitchFamily="18" charset="0"/>
              </a:rPr>
              <a:t>mua</a:t>
            </a:r>
            <a:r>
              <a:rPr lang="en-US" sz="2800" b="1" i="1" kern="100">
                <a:solidFill>
                  <a:srgbClr val="0070C0"/>
                </a:solidFill>
                <a:latin typeface="+mn-lt"/>
                <a:ea typeface="Aptos" panose="020B0004020202020204" pitchFamily="34" charset="0"/>
                <a:cs typeface="Times New Roman" panose="02020603050405020304" pitchFamily="18" charset="0"/>
              </a:rPr>
              <a:t>.”</a:t>
            </a:r>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4" name="Google Shape;3214;p410">
            <a:extLst>
              <a:ext uri="{FF2B5EF4-FFF2-40B4-BE49-F238E27FC236}">
                <a16:creationId xmlns:a16="http://schemas.microsoft.com/office/drawing/2014/main" id="{70945092-58E9-4701-A5E0-D38C5C38AEAE}"/>
              </a:ext>
            </a:extLst>
          </p:cNvPr>
          <p:cNvSpPr>
            <a:spLocks noGrp="1"/>
          </p:cNvSpPr>
          <p:nvPr>
            <p:ph type="title"/>
          </p:nvPr>
        </p:nvSpPr>
        <p:spPr>
          <a:xfrm>
            <a:off x="365760" y="349084"/>
            <a:ext cx="10104120" cy="987424"/>
          </a:xfrm>
          <a:prstGeom prst="rect">
            <a:avLst/>
          </a:prstGeom>
          <a:noFill/>
          <a:ln>
            <a:noFill/>
          </a:ln>
        </p:spPr>
        <p:txBody>
          <a:bodyPr spcFirstLastPara="1" wrap="square" lIns="91425" tIns="45700" rIns="91425" bIns="45700" anchor="ctr">
            <a:normAutofit fontScale="90000"/>
          </a:bodyPr>
          <a:lstStyle/>
          <a:p>
            <a:r>
              <a:rPr lang="en-US" sz="3200" b="1">
                <a:solidFill>
                  <a:schemeClr val="tx1"/>
                </a:solidFill>
              </a:rPr>
              <a:t>7.3.2 </a:t>
            </a:r>
            <a:r>
              <a:rPr lang="en-US" sz="3200" b="1" err="1">
                <a:solidFill>
                  <a:schemeClr val="tx1"/>
                </a:solidFill>
              </a:rPr>
              <a:t>Số</a:t>
            </a:r>
            <a:r>
              <a:rPr lang="en-US" sz="3200" b="1">
                <a:solidFill>
                  <a:schemeClr val="tx1"/>
                </a:solidFill>
              </a:rPr>
              <a:t> </a:t>
            </a:r>
            <a:r>
              <a:rPr lang="en-US" sz="3200" b="1" err="1">
                <a:solidFill>
                  <a:schemeClr val="tx1"/>
                </a:solidFill>
              </a:rPr>
              <a:t>lượng</a:t>
            </a:r>
            <a:r>
              <a:rPr lang="en-US" sz="3200" b="1">
                <a:solidFill>
                  <a:schemeClr val="tx1"/>
                </a:solidFill>
              </a:rPr>
              <a:t> </a:t>
            </a:r>
            <a:r>
              <a:rPr lang="en-US" sz="3200" b="1" err="1">
                <a:solidFill>
                  <a:schemeClr val="tx1"/>
                </a:solidFill>
              </a:rPr>
              <a:t>người</a:t>
            </a:r>
            <a:r>
              <a:rPr lang="en-US" sz="3200" b="1">
                <a:solidFill>
                  <a:schemeClr val="tx1"/>
                </a:solidFill>
              </a:rPr>
              <a:t> </a:t>
            </a:r>
            <a:r>
              <a:rPr lang="en-US" sz="3200" b="1" err="1">
                <a:solidFill>
                  <a:schemeClr val="tx1"/>
                </a:solidFill>
              </a:rPr>
              <a:t>tham</a:t>
            </a:r>
            <a:r>
              <a:rPr lang="en-US" sz="3200" b="1">
                <a:solidFill>
                  <a:schemeClr val="tx1"/>
                </a:solidFill>
              </a:rPr>
              <a:t> </a:t>
            </a:r>
            <a:r>
              <a:rPr lang="en-US" sz="3200" b="1" err="1">
                <a:solidFill>
                  <a:schemeClr val="tx1"/>
                </a:solidFill>
              </a:rPr>
              <a:t>gia</a:t>
            </a:r>
            <a:r>
              <a:rPr lang="en-US" sz="3200" b="1">
                <a:solidFill>
                  <a:schemeClr val="tx1"/>
                </a:solidFill>
              </a:rPr>
              <a:t> </a:t>
            </a:r>
            <a:r>
              <a:rPr lang="en-US" sz="3200" b="1" err="1">
                <a:solidFill>
                  <a:schemeClr val="tx1"/>
                </a:solidFill>
              </a:rPr>
              <a:t>mua</a:t>
            </a:r>
            <a:r>
              <a:rPr lang="en-US" sz="3200" b="1">
                <a:solidFill>
                  <a:schemeClr val="tx1"/>
                </a:solidFill>
              </a:rPr>
              <a:t> </a:t>
            </a:r>
            <a:r>
              <a:rPr lang="en-US" sz="3200" b="1" err="1">
                <a:solidFill>
                  <a:schemeClr val="tx1"/>
                </a:solidFill>
              </a:rPr>
              <a:t>và</a:t>
            </a:r>
            <a:r>
              <a:rPr lang="en-US" sz="3200" b="1">
                <a:solidFill>
                  <a:schemeClr val="tx1"/>
                </a:solidFill>
              </a:rPr>
              <a:t> </a:t>
            </a:r>
            <a:r>
              <a:rPr lang="en-US" sz="3200" b="1" err="1">
                <a:solidFill>
                  <a:schemeClr val="tx1"/>
                </a:solidFill>
              </a:rPr>
              <a:t>ảnh</a:t>
            </a:r>
            <a:r>
              <a:rPr lang="en-US" sz="3200" b="1">
                <a:solidFill>
                  <a:schemeClr val="tx1"/>
                </a:solidFill>
              </a:rPr>
              <a:t> </a:t>
            </a:r>
            <a:r>
              <a:rPr lang="en-US" sz="3200" b="1" err="1">
                <a:solidFill>
                  <a:schemeClr val="tx1"/>
                </a:solidFill>
              </a:rPr>
              <a:t>hưởng</a:t>
            </a:r>
            <a:r>
              <a:rPr lang="en-US" sz="3200" b="1">
                <a:solidFill>
                  <a:schemeClr val="tx1"/>
                </a:solidFill>
              </a:rPr>
              <a:t> </a:t>
            </a:r>
            <a:r>
              <a:rPr lang="en-US" sz="3200" b="1" err="1">
                <a:solidFill>
                  <a:schemeClr val="tx1"/>
                </a:solidFill>
              </a:rPr>
              <a:t>mua</a:t>
            </a:r>
            <a:r>
              <a:rPr lang="en-US" sz="3200" b="1">
                <a:solidFill>
                  <a:schemeClr val="tx1"/>
                </a:solidFill>
              </a:rPr>
              <a:t> </a:t>
            </a:r>
            <a:r>
              <a:rPr lang="en-US" sz="3200" b="1" err="1">
                <a:solidFill>
                  <a:schemeClr val="tx1"/>
                </a:solidFill>
              </a:rPr>
              <a:t>cơ</a:t>
            </a:r>
            <a:r>
              <a:rPr lang="en-US" sz="3200" b="1">
                <a:solidFill>
                  <a:schemeClr val="tx1"/>
                </a:solidFill>
              </a:rPr>
              <a:t> </a:t>
            </a:r>
            <a:r>
              <a:rPr lang="en-US" sz="3200" b="1" err="1">
                <a:solidFill>
                  <a:schemeClr val="tx1"/>
                </a:solidFill>
              </a:rPr>
              <a:t>bản</a:t>
            </a:r>
            <a:br>
              <a:rPr lang="en-US" sz="3200" b="1">
                <a:solidFill>
                  <a:schemeClr val="tx1"/>
                </a:solidFill>
              </a:rPr>
            </a:br>
            <a:endParaRPr sz="3200" b="1">
              <a:solidFill>
                <a:schemeClr val="tx1"/>
              </a:solidFill>
              <a:latin typeface="Arial"/>
              <a:ea typeface="Arial"/>
              <a:cs typeface="Arial"/>
            </a:endParaRPr>
          </a:p>
        </p:txBody>
      </p:sp>
      <p:sp>
        <p:nvSpPr>
          <p:cNvPr id="3215" name="intro">
            <a:extLst>
              <a:ext uri="{FF2B5EF4-FFF2-40B4-BE49-F238E27FC236}">
                <a16:creationId xmlns:a16="http://schemas.microsoft.com/office/drawing/2014/main" id="{9A263248-C04F-44E4-8046-245474CE0518}"/>
              </a:ext>
            </a:extLst>
          </p:cNvPr>
          <p:cNvSpPr>
            <a:spLocks noGrp="1"/>
          </p:cNvSpPr>
          <p:nvPr/>
        </p:nvSpPr>
        <p:spPr>
          <a:xfrm>
            <a:off x="1000125" y="1933575"/>
            <a:ext cx="10191750" cy="342900"/>
          </a:xfrm>
          <a:prstGeom prst="rect">
            <a:avLst/>
          </a:prstGeom>
          <a:noFill/>
          <a:ln w="0">
            <a:noFill/>
            <a:prstDash val="solid"/>
          </a:ln>
        </p:spPr>
        <p:txBody>
          <a:bodyPr lIns="95250" tIns="47625" rIns="95250" bIns="47625" anchor="ctr">
            <a:noAutofit/>
          </a:bodyPr>
          <a:lstStyle/>
          <a:p>
            <a:pPr algn="ctr">
              <a:defRPr sz="1500" b="1">
                <a:solidFill>
                  <a:srgbClr val="607D8B"/>
                </a:solidFill>
              </a:defRPr>
            </a:pPr>
            <a:r>
              <a:rPr sz="2400" b="1">
                <a:solidFill>
                  <a:srgbClr val="607D8B"/>
                </a:solidFill>
              </a:rPr>
              <a:t>Mua càng quan trọng và phức tạp, số người tham gia càng tăng.</a:t>
            </a:r>
          </a:p>
        </p:txBody>
      </p:sp>
      <p:sp>
        <p:nvSpPr>
          <p:cNvPr id="3216" name="arrow-stem">
            <a:extLst>
              <a:ext uri="{FF2B5EF4-FFF2-40B4-BE49-F238E27FC236}">
                <a16:creationId xmlns:a16="http://schemas.microsoft.com/office/drawing/2014/main" id="{C5C2AE94-4361-454E-BCB2-F3385E6AB8C6}"/>
              </a:ext>
            </a:extLst>
          </p:cNvPr>
          <p:cNvSpPr>
            <a:spLocks noGrp="1"/>
          </p:cNvSpPr>
          <p:nvPr/>
        </p:nvSpPr>
        <p:spPr>
          <a:xfrm>
            <a:off x="5638800" y="4857750"/>
            <a:ext cx="914400" cy="428625"/>
          </a:xfrm>
          <a:prstGeom prst="rect">
            <a:avLst/>
          </a:prstGeom>
          <a:solidFill>
            <a:srgbClr val="00AEEF"/>
          </a:solidFill>
          <a:ln w="0">
            <a:noFill/>
            <a:prstDash val="solid"/>
          </a:ln>
        </p:spPr>
        <p:txBody>
          <a:bodyPr/>
          <a:lstStyle/>
          <a:p>
            <a:endParaRPr lang="en-US"/>
          </a:p>
        </p:txBody>
      </p:sp>
      <p:sp>
        <p:nvSpPr>
          <p:cNvPr id="3217" name="arrow-head">
            <a:extLst>
              <a:ext uri="{FF2B5EF4-FFF2-40B4-BE49-F238E27FC236}">
                <a16:creationId xmlns:a16="http://schemas.microsoft.com/office/drawing/2014/main" id="{273102B0-1462-42D2-BE8D-E4B510D20FAF}"/>
              </a:ext>
            </a:extLst>
          </p:cNvPr>
          <p:cNvSpPr>
            <a:spLocks noGrp="1"/>
          </p:cNvSpPr>
          <p:nvPr/>
        </p:nvSpPr>
        <p:spPr>
          <a:xfrm>
            <a:off x="5257800" y="5000625"/>
            <a:ext cx="1676400" cy="781050"/>
          </a:xfrm>
          <a:prstGeom prst="downArrow">
            <a:avLst/>
          </a:prstGeom>
          <a:solidFill>
            <a:srgbClr val="00AEEF"/>
          </a:solidFill>
          <a:ln w="0">
            <a:noFill/>
            <a:prstDash val="solid"/>
          </a:ln>
        </p:spPr>
        <p:txBody>
          <a:bodyPr/>
          <a:lstStyle/>
          <a:p>
            <a:endParaRPr lang="en-US"/>
          </a:p>
        </p:txBody>
      </p:sp>
      <p:sp>
        <p:nvSpPr>
          <p:cNvPr id="3218" name="funnel-1">
            <a:extLst>
              <a:ext uri="{FF2B5EF4-FFF2-40B4-BE49-F238E27FC236}">
                <a16:creationId xmlns:a16="http://schemas.microsoft.com/office/drawing/2014/main" id="{E824356F-4270-4C8F-B07F-019680A3A3A5}"/>
              </a:ext>
            </a:extLst>
          </p:cNvPr>
          <p:cNvSpPr>
            <a:spLocks noGrp="1"/>
          </p:cNvSpPr>
          <p:nvPr/>
        </p:nvSpPr>
        <p:spPr>
          <a:xfrm>
            <a:off x="2714625" y="2457450"/>
            <a:ext cx="6762750" cy="742950"/>
          </a:xfrm>
          <a:prstGeom prst="trapezoid">
            <a:avLst/>
          </a:prstGeom>
          <a:solidFill>
            <a:srgbClr val="003B71"/>
          </a:solidFill>
          <a:ln w="19050">
            <a:solidFill>
              <a:srgbClr val="FFFFFF"/>
            </a:solidFill>
            <a:prstDash val="solid"/>
          </a:ln>
        </p:spPr>
        <p:txBody>
          <a:bodyPr lIns="95250" tIns="47625" rIns="95250" bIns="47625" anchor="ctr">
            <a:normAutofit/>
          </a:bodyPr>
          <a:lstStyle/>
          <a:p>
            <a:pPr algn="ctr">
              <a:defRPr sz="1725" b="1">
                <a:solidFill>
                  <a:srgbClr val="FFFFFF"/>
                </a:solidFill>
              </a:defRPr>
            </a:pPr>
            <a:r>
              <a:rPr sz="1725" b="1">
                <a:solidFill>
                  <a:srgbClr val="FFFFFF"/>
                </a:solidFill>
              </a:rPr>
              <a:t>GIÁ TRỊ MUA</a:t>
            </a:r>
          </a:p>
        </p:txBody>
      </p:sp>
      <p:sp>
        <p:nvSpPr>
          <p:cNvPr id="3219" name="funnel-2">
            <a:extLst>
              <a:ext uri="{FF2B5EF4-FFF2-40B4-BE49-F238E27FC236}">
                <a16:creationId xmlns:a16="http://schemas.microsoft.com/office/drawing/2014/main" id="{78ECCD76-8946-4B49-8ADC-524654C214E7}"/>
              </a:ext>
            </a:extLst>
          </p:cNvPr>
          <p:cNvSpPr>
            <a:spLocks noGrp="1"/>
          </p:cNvSpPr>
          <p:nvPr/>
        </p:nvSpPr>
        <p:spPr>
          <a:xfrm>
            <a:off x="3381375" y="3133725"/>
            <a:ext cx="5429250" cy="742950"/>
          </a:xfrm>
          <a:prstGeom prst="trapezoid">
            <a:avLst/>
          </a:prstGeom>
          <a:solidFill>
            <a:srgbClr val="0072BC"/>
          </a:solidFill>
          <a:ln w="19050">
            <a:solidFill>
              <a:srgbClr val="FFFFFF"/>
            </a:solidFill>
            <a:prstDash val="solid"/>
          </a:ln>
        </p:spPr>
        <p:txBody>
          <a:bodyPr lIns="95250" tIns="47625" rIns="95250" bIns="47625" anchor="ctr">
            <a:normAutofit/>
          </a:bodyPr>
          <a:lstStyle/>
          <a:p>
            <a:pPr algn="ctr">
              <a:defRPr sz="1725" b="1">
                <a:solidFill>
                  <a:srgbClr val="FFFFFF"/>
                </a:solidFill>
              </a:defRPr>
            </a:pPr>
            <a:r>
              <a:rPr sz="1725" b="1">
                <a:solidFill>
                  <a:srgbClr val="FFFFFF"/>
                </a:solidFill>
              </a:rPr>
              <a:t>ĐỘ PHỨC TẠP</a:t>
            </a:r>
          </a:p>
        </p:txBody>
      </p:sp>
      <p:sp>
        <p:nvSpPr>
          <p:cNvPr id="3220" name="funnel-3">
            <a:extLst>
              <a:ext uri="{FF2B5EF4-FFF2-40B4-BE49-F238E27FC236}">
                <a16:creationId xmlns:a16="http://schemas.microsoft.com/office/drawing/2014/main" id="{7C97617D-33FE-4813-9A8B-2D01F3279A00}"/>
              </a:ext>
            </a:extLst>
          </p:cNvPr>
          <p:cNvSpPr>
            <a:spLocks noGrp="1"/>
          </p:cNvSpPr>
          <p:nvPr/>
        </p:nvSpPr>
        <p:spPr>
          <a:xfrm>
            <a:off x="4048125" y="3810000"/>
            <a:ext cx="4095750" cy="742950"/>
          </a:xfrm>
          <a:prstGeom prst="trapezoid">
            <a:avLst/>
          </a:prstGeom>
          <a:solidFill>
            <a:srgbClr val="00AEEF"/>
          </a:solidFill>
          <a:ln w="19050">
            <a:solidFill>
              <a:srgbClr val="FFFFFF"/>
            </a:solidFill>
            <a:prstDash val="solid"/>
          </a:ln>
        </p:spPr>
        <p:txBody>
          <a:bodyPr lIns="95250" tIns="47625" rIns="95250" bIns="47625" anchor="ctr">
            <a:normAutofit/>
          </a:bodyPr>
          <a:lstStyle/>
          <a:p>
            <a:pPr algn="ctr">
              <a:defRPr sz="1725" b="1">
                <a:solidFill>
                  <a:srgbClr val="003B71"/>
                </a:solidFill>
              </a:defRPr>
            </a:pPr>
            <a:r>
              <a:rPr sz="1725" b="1">
                <a:solidFill>
                  <a:srgbClr val="003B71"/>
                </a:solidFill>
              </a:rPr>
              <a:t>MỨC RỦI RO</a:t>
            </a:r>
          </a:p>
        </p:txBody>
      </p:sp>
      <p:sp>
        <p:nvSpPr>
          <p:cNvPr id="3221" name="funnel-4">
            <a:extLst>
              <a:ext uri="{FF2B5EF4-FFF2-40B4-BE49-F238E27FC236}">
                <a16:creationId xmlns:a16="http://schemas.microsoft.com/office/drawing/2014/main" id="{1D1AFAB8-DBA0-41F2-95B8-FF51A6F7C1F7}"/>
              </a:ext>
            </a:extLst>
          </p:cNvPr>
          <p:cNvSpPr>
            <a:spLocks noGrp="1"/>
          </p:cNvSpPr>
          <p:nvPr/>
        </p:nvSpPr>
        <p:spPr>
          <a:xfrm>
            <a:off x="4762500" y="4486275"/>
            <a:ext cx="2667000" cy="647700"/>
          </a:xfrm>
          <a:prstGeom prst="trapezoid">
            <a:avLst/>
          </a:prstGeom>
          <a:solidFill>
            <a:srgbClr val="85D4F2"/>
          </a:solidFill>
          <a:ln w="19050">
            <a:solidFill>
              <a:srgbClr val="FFFFFF"/>
            </a:solidFill>
            <a:prstDash val="solid"/>
          </a:ln>
        </p:spPr>
        <p:txBody>
          <a:bodyPr lIns="95250" tIns="47625" rIns="95250" bIns="47625" anchor="ctr">
            <a:normAutofit/>
          </a:bodyPr>
          <a:lstStyle/>
          <a:p>
            <a:pPr algn="ctr">
              <a:defRPr sz="1425" b="1">
                <a:solidFill>
                  <a:srgbClr val="003B71"/>
                </a:solidFill>
              </a:defRPr>
            </a:pPr>
            <a:r>
              <a:rPr sz="1425" b="1">
                <a:solidFill>
                  <a:srgbClr val="003B71"/>
                </a:solidFill>
              </a:rPr>
              <a:t>SỐ NGƯỜI THAM GIA</a:t>
            </a:r>
          </a:p>
        </p:txBody>
      </p:sp>
      <p:sp>
        <p:nvSpPr>
          <p:cNvPr id="3222" name="q-top-0">
            <a:extLst>
              <a:ext uri="{FF2B5EF4-FFF2-40B4-BE49-F238E27FC236}">
                <a16:creationId xmlns:a16="http://schemas.microsoft.com/office/drawing/2014/main" id="{4C0A0BFF-E536-465C-819E-F08556DC6211}"/>
              </a:ext>
            </a:extLst>
          </p:cNvPr>
          <p:cNvSpPr>
            <a:spLocks noGrp="1"/>
          </p:cNvSpPr>
          <p:nvPr/>
        </p:nvSpPr>
        <p:spPr>
          <a:xfrm>
            <a:off x="1095375" y="5810250"/>
            <a:ext cx="2190750" cy="66675"/>
          </a:xfrm>
          <a:prstGeom prst="rect">
            <a:avLst/>
          </a:prstGeom>
          <a:solidFill>
            <a:srgbClr val="00AEEF"/>
          </a:solidFill>
          <a:ln w="0">
            <a:noFill/>
            <a:prstDash val="solid"/>
          </a:ln>
        </p:spPr>
        <p:txBody>
          <a:bodyPr/>
          <a:lstStyle/>
          <a:p>
            <a:endParaRPr lang="en-US"/>
          </a:p>
        </p:txBody>
      </p:sp>
      <p:sp>
        <p:nvSpPr>
          <p:cNvPr id="3223" name="q-0">
            <a:extLst>
              <a:ext uri="{FF2B5EF4-FFF2-40B4-BE49-F238E27FC236}">
                <a16:creationId xmlns:a16="http://schemas.microsoft.com/office/drawing/2014/main" id="{1AE2E2BB-ECA8-4551-870B-4337726D657C}"/>
              </a:ext>
            </a:extLst>
          </p:cNvPr>
          <p:cNvSpPr>
            <a:spLocks noGrp="1"/>
          </p:cNvSpPr>
          <p:nvPr/>
        </p:nvSpPr>
        <p:spPr>
          <a:xfrm>
            <a:off x="1095375" y="5867400"/>
            <a:ext cx="2190750" cy="361950"/>
          </a:xfrm>
          <a:prstGeom prst="rect">
            <a:avLst/>
          </a:prstGeom>
          <a:noFill/>
          <a:ln w="0">
            <a:noFill/>
            <a:prstDash val="solid"/>
          </a:ln>
        </p:spPr>
        <p:txBody>
          <a:bodyPr lIns="95250" tIns="47625" rIns="95250" bIns="47625" anchor="ctr">
            <a:noAutofit/>
          </a:bodyPr>
          <a:lstStyle/>
          <a:p>
            <a:pPr algn="ctr">
              <a:defRPr sz="1275" b="1">
                <a:solidFill>
                  <a:srgbClr val="263238"/>
                </a:solidFill>
              </a:defRPr>
            </a:pPr>
            <a:r>
              <a:rPr sz="2000" b="1">
                <a:solidFill>
                  <a:srgbClr val="263238"/>
                </a:solidFill>
              </a:rPr>
              <a:t>AI?</a:t>
            </a:r>
          </a:p>
        </p:txBody>
      </p:sp>
      <p:sp>
        <p:nvSpPr>
          <p:cNvPr id="3224" name="q-top-1">
            <a:extLst>
              <a:ext uri="{FF2B5EF4-FFF2-40B4-BE49-F238E27FC236}">
                <a16:creationId xmlns:a16="http://schemas.microsoft.com/office/drawing/2014/main" id="{ACDB021E-38CA-4953-ABC8-BEFC5C7661E5}"/>
              </a:ext>
            </a:extLst>
          </p:cNvPr>
          <p:cNvSpPr>
            <a:spLocks noGrp="1"/>
          </p:cNvSpPr>
          <p:nvPr/>
        </p:nvSpPr>
        <p:spPr>
          <a:xfrm>
            <a:off x="3667125" y="5810250"/>
            <a:ext cx="2190750" cy="66675"/>
          </a:xfrm>
          <a:prstGeom prst="rect">
            <a:avLst/>
          </a:prstGeom>
          <a:solidFill>
            <a:srgbClr val="F28C28"/>
          </a:solidFill>
          <a:ln w="0">
            <a:noFill/>
            <a:prstDash val="solid"/>
          </a:ln>
        </p:spPr>
        <p:txBody>
          <a:bodyPr/>
          <a:lstStyle/>
          <a:p>
            <a:endParaRPr lang="en-US" sz="2000"/>
          </a:p>
        </p:txBody>
      </p:sp>
      <p:sp>
        <p:nvSpPr>
          <p:cNvPr id="3225" name="q-1">
            <a:extLst>
              <a:ext uri="{FF2B5EF4-FFF2-40B4-BE49-F238E27FC236}">
                <a16:creationId xmlns:a16="http://schemas.microsoft.com/office/drawing/2014/main" id="{36F3988B-280F-458D-A1DA-3B2CB4ACF4BC}"/>
              </a:ext>
            </a:extLst>
          </p:cNvPr>
          <p:cNvSpPr>
            <a:spLocks noGrp="1"/>
          </p:cNvSpPr>
          <p:nvPr/>
        </p:nvSpPr>
        <p:spPr>
          <a:xfrm>
            <a:off x="3667125" y="5867400"/>
            <a:ext cx="2190750" cy="361950"/>
          </a:xfrm>
          <a:prstGeom prst="rect">
            <a:avLst/>
          </a:prstGeom>
          <a:noFill/>
          <a:ln w="0">
            <a:noFill/>
            <a:prstDash val="solid"/>
          </a:ln>
        </p:spPr>
        <p:txBody>
          <a:bodyPr lIns="95250" tIns="47625" rIns="95250" bIns="47625" anchor="ctr">
            <a:noAutofit/>
          </a:bodyPr>
          <a:lstStyle/>
          <a:p>
            <a:pPr algn="ctr">
              <a:defRPr sz="1275" b="1">
                <a:solidFill>
                  <a:srgbClr val="263238"/>
                </a:solidFill>
              </a:defRPr>
            </a:pPr>
            <a:r>
              <a:rPr sz="1600" b="1">
                <a:solidFill>
                  <a:srgbClr val="263238"/>
                </a:solidFill>
              </a:rPr>
              <a:t>QUYẾT ĐỊNH NÀO?</a:t>
            </a:r>
          </a:p>
        </p:txBody>
      </p:sp>
      <p:sp>
        <p:nvSpPr>
          <p:cNvPr id="3226" name="q-top-2">
            <a:extLst>
              <a:ext uri="{FF2B5EF4-FFF2-40B4-BE49-F238E27FC236}">
                <a16:creationId xmlns:a16="http://schemas.microsoft.com/office/drawing/2014/main" id="{A8D90D55-CBA4-42E0-8403-C9C0D31D871F}"/>
              </a:ext>
            </a:extLst>
          </p:cNvPr>
          <p:cNvSpPr>
            <a:spLocks noGrp="1"/>
          </p:cNvSpPr>
          <p:nvPr/>
        </p:nvSpPr>
        <p:spPr>
          <a:xfrm>
            <a:off x="6238875" y="5810250"/>
            <a:ext cx="2190750" cy="66675"/>
          </a:xfrm>
          <a:prstGeom prst="rect">
            <a:avLst/>
          </a:prstGeom>
          <a:solidFill>
            <a:srgbClr val="2E8B75"/>
          </a:solidFill>
          <a:ln w="0">
            <a:noFill/>
            <a:prstDash val="solid"/>
          </a:ln>
        </p:spPr>
        <p:txBody>
          <a:bodyPr/>
          <a:lstStyle/>
          <a:p>
            <a:endParaRPr lang="en-US"/>
          </a:p>
        </p:txBody>
      </p:sp>
      <p:sp>
        <p:nvSpPr>
          <p:cNvPr id="3227" name="q-2">
            <a:extLst>
              <a:ext uri="{FF2B5EF4-FFF2-40B4-BE49-F238E27FC236}">
                <a16:creationId xmlns:a16="http://schemas.microsoft.com/office/drawing/2014/main" id="{642BFEE1-3C1C-4859-A737-2882A21119CF}"/>
              </a:ext>
            </a:extLst>
          </p:cNvPr>
          <p:cNvSpPr>
            <a:spLocks noGrp="1"/>
          </p:cNvSpPr>
          <p:nvPr/>
        </p:nvSpPr>
        <p:spPr>
          <a:xfrm>
            <a:off x="6238875" y="5867400"/>
            <a:ext cx="2190750" cy="361950"/>
          </a:xfrm>
          <a:prstGeom prst="rect">
            <a:avLst/>
          </a:prstGeom>
          <a:noFill/>
          <a:ln w="0">
            <a:noFill/>
            <a:prstDash val="solid"/>
          </a:ln>
        </p:spPr>
        <p:txBody>
          <a:bodyPr lIns="95250" tIns="47625" rIns="95250" bIns="47625" anchor="ctr">
            <a:normAutofit/>
          </a:bodyPr>
          <a:lstStyle/>
          <a:p>
            <a:pPr algn="ctr">
              <a:defRPr sz="1275" b="1">
                <a:solidFill>
                  <a:srgbClr val="263238"/>
                </a:solidFill>
              </a:defRPr>
            </a:pPr>
            <a:r>
              <a:rPr sz="1275" b="1">
                <a:solidFill>
                  <a:srgbClr val="263238"/>
                </a:solidFill>
              </a:rPr>
              <a:t>ẢNH HƯỞNG RA SAO?</a:t>
            </a:r>
          </a:p>
        </p:txBody>
      </p:sp>
      <p:sp>
        <p:nvSpPr>
          <p:cNvPr id="3228" name="q-top-3">
            <a:extLst>
              <a:ext uri="{FF2B5EF4-FFF2-40B4-BE49-F238E27FC236}">
                <a16:creationId xmlns:a16="http://schemas.microsoft.com/office/drawing/2014/main" id="{AE1465F0-5DF5-44AA-934A-24ABDA2AC936}"/>
              </a:ext>
            </a:extLst>
          </p:cNvPr>
          <p:cNvSpPr>
            <a:spLocks noGrp="1"/>
          </p:cNvSpPr>
          <p:nvPr/>
        </p:nvSpPr>
        <p:spPr>
          <a:xfrm>
            <a:off x="8810625" y="5810250"/>
            <a:ext cx="2190750" cy="66675"/>
          </a:xfrm>
          <a:prstGeom prst="rect">
            <a:avLst/>
          </a:prstGeom>
          <a:solidFill>
            <a:srgbClr val="003B71"/>
          </a:solidFill>
          <a:ln w="0">
            <a:noFill/>
            <a:prstDash val="solid"/>
          </a:ln>
        </p:spPr>
        <p:txBody>
          <a:bodyPr/>
          <a:lstStyle/>
          <a:p>
            <a:endParaRPr lang="en-US"/>
          </a:p>
        </p:txBody>
      </p:sp>
      <p:sp>
        <p:nvSpPr>
          <p:cNvPr id="3229" name="q-3">
            <a:extLst>
              <a:ext uri="{FF2B5EF4-FFF2-40B4-BE49-F238E27FC236}">
                <a16:creationId xmlns:a16="http://schemas.microsoft.com/office/drawing/2014/main" id="{B5CE4033-7915-48F0-9EA2-5FEF5A353800}"/>
              </a:ext>
            </a:extLst>
          </p:cNvPr>
          <p:cNvSpPr>
            <a:spLocks noGrp="1"/>
          </p:cNvSpPr>
          <p:nvPr/>
        </p:nvSpPr>
        <p:spPr>
          <a:xfrm>
            <a:off x="8810625" y="5867400"/>
            <a:ext cx="2190750" cy="361950"/>
          </a:xfrm>
          <a:prstGeom prst="rect">
            <a:avLst/>
          </a:prstGeom>
          <a:noFill/>
          <a:ln w="0">
            <a:noFill/>
            <a:prstDash val="solid"/>
          </a:ln>
        </p:spPr>
        <p:txBody>
          <a:bodyPr lIns="95250" tIns="47625" rIns="95250" bIns="47625" anchor="ctr">
            <a:noAutofit/>
          </a:bodyPr>
          <a:lstStyle/>
          <a:p>
            <a:pPr algn="ctr">
              <a:defRPr sz="1275" b="1">
                <a:solidFill>
                  <a:srgbClr val="263238"/>
                </a:solidFill>
              </a:defRPr>
            </a:pPr>
            <a:r>
              <a:rPr sz="1800" b="1">
                <a:solidFill>
                  <a:srgbClr val="263238"/>
                </a:solidFill>
              </a:rPr>
              <a:t>TIÊU CHUẨN GÌ?</a:t>
            </a:r>
          </a:p>
        </p:txBody>
      </p:sp>
    </p:spTree>
    <p:extLst>
      <p:ext uri="{BB962C8B-B14F-4D97-AF65-F5344CB8AC3E}">
        <p14:creationId xmlns:p14="http://schemas.microsoft.com/office/powerpoint/2010/main" val="4249361173"/>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4" name="Google Shape;3214;p410">
            <a:extLst>
              <a:ext uri="{FF2B5EF4-FFF2-40B4-BE49-F238E27FC236}">
                <a16:creationId xmlns:a16="http://schemas.microsoft.com/office/drawing/2014/main" id="{70945092-58E9-4701-A5E0-D38C5C38AEAE}"/>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600" b="1" i="0" u="none" strike="noStrike" kern="0" cap="none" spc="0" normalizeH="0" baseline="0" noProof="0">
                <a:ln>
                  <a:noFill/>
                </a:ln>
                <a:solidFill>
                  <a:schemeClr val="tx1"/>
                </a:solidFill>
                <a:effectLst/>
                <a:uLnTx/>
                <a:uFillTx/>
                <a:latin typeface="Arial"/>
                <a:cs typeface="Arial"/>
                <a:sym typeface="Arial"/>
              </a:rPr>
              <a:t>7.3.3 Trung </a:t>
            </a:r>
            <a:r>
              <a:rPr kumimoji="0" lang="en-US" sz="2600" b="1" i="0" u="none" strike="noStrike" kern="0" cap="none" spc="0" normalizeH="0" baseline="0" noProof="0" err="1">
                <a:ln>
                  <a:noFill/>
                </a:ln>
                <a:solidFill>
                  <a:schemeClr val="tx1"/>
                </a:solidFill>
                <a:effectLst/>
                <a:uLnTx/>
                <a:uFillTx/>
                <a:latin typeface="Arial"/>
                <a:cs typeface="Arial"/>
                <a:sym typeface="Arial"/>
              </a:rPr>
              <a:t>tâm</a:t>
            </a:r>
            <a:r>
              <a:rPr kumimoji="0" lang="en-US" sz="2600" b="1" i="0" u="none" strike="noStrike" kern="0" cap="none" spc="0" normalizeH="0" baseline="0" noProof="0">
                <a:ln>
                  <a:noFill/>
                </a:ln>
                <a:solidFill>
                  <a:schemeClr val="tx1"/>
                </a:solidFill>
                <a:effectLst/>
                <a:uLnTx/>
                <a:uFillTx/>
                <a:latin typeface="Arial"/>
                <a:cs typeface="Arial"/>
                <a:sym typeface="Arial"/>
              </a:rPr>
              <a:t> </a:t>
            </a:r>
            <a:r>
              <a:rPr kumimoji="0" lang="en-US" sz="2600" b="1" i="0" u="none" strike="noStrike" kern="0" cap="none" spc="0" normalizeH="0" baseline="0" noProof="0" err="1">
                <a:ln>
                  <a:noFill/>
                </a:ln>
                <a:solidFill>
                  <a:schemeClr val="tx1"/>
                </a:solidFill>
                <a:effectLst/>
                <a:uLnTx/>
                <a:uFillTx/>
                <a:latin typeface="Arial"/>
                <a:cs typeface="Arial"/>
                <a:sym typeface="Arial"/>
              </a:rPr>
              <a:t>mua</a:t>
            </a:r>
            <a:r>
              <a:rPr kumimoji="0" lang="en-US" sz="2600" b="1" i="0" u="none" strike="noStrike" kern="0" cap="none" spc="0" normalizeH="0" baseline="0" noProof="0">
                <a:ln>
                  <a:noFill/>
                </a:ln>
                <a:solidFill>
                  <a:schemeClr val="tx1"/>
                </a:solidFill>
                <a:effectLst/>
                <a:uLnTx/>
                <a:uFillTx/>
                <a:latin typeface="Arial"/>
                <a:cs typeface="Arial"/>
                <a:sym typeface="Arial"/>
              </a:rPr>
              <a:t> </a:t>
            </a:r>
            <a:r>
              <a:rPr kumimoji="0" lang="en-US" sz="2600" b="1" i="0" u="none" strike="noStrike" kern="0" cap="none" spc="0" normalizeH="0" baseline="0" noProof="0" err="1">
                <a:ln>
                  <a:noFill/>
                </a:ln>
                <a:solidFill>
                  <a:schemeClr val="tx1"/>
                </a:solidFill>
                <a:effectLst/>
                <a:uLnTx/>
                <a:uFillTx/>
                <a:latin typeface="Arial"/>
                <a:cs typeface="Arial"/>
                <a:sym typeface="Arial"/>
              </a:rPr>
              <a:t>hàng</a:t>
            </a:r>
            <a:endParaRPr kumimoji="0" lang="en-US" sz="2600" b="1" i="0" u="none" strike="noStrike" kern="0" cap="none" spc="0" normalizeH="0" baseline="0" noProof="0">
              <a:ln>
                <a:noFill/>
              </a:ln>
              <a:solidFill>
                <a:schemeClr val="tx1"/>
              </a:solidFill>
              <a:effectLst/>
              <a:uLnTx/>
              <a:uFillTx/>
              <a:latin typeface="Arial"/>
              <a:cs typeface="Arial"/>
              <a:sym typeface="Arial"/>
            </a:endParaRPr>
          </a:p>
        </p:txBody>
      </p:sp>
      <p:sp>
        <p:nvSpPr>
          <p:cNvPr id="3215" name="definition">
            <a:extLst>
              <a:ext uri="{FF2B5EF4-FFF2-40B4-BE49-F238E27FC236}">
                <a16:creationId xmlns:a16="http://schemas.microsoft.com/office/drawing/2014/main" id="{2128DEC9-7026-4D4B-B187-21E1C629E87F}"/>
              </a:ext>
            </a:extLst>
          </p:cNvPr>
          <p:cNvSpPr>
            <a:spLocks noGrp="1"/>
          </p:cNvSpPr>
          <p:nvPr/>
        </p:nvSpPr>
        <p:spPr>
          <a:xfrm>
            <a:off x="674370" y="1962150"/>
            <a:ext cx="10515600" cy="457200"/>
          </a:xfrm>
          <a:prstGeom prst="rect">
            <a:avLst/>
          </a:prstGeom>
          <a:noFill/>
          <a:ln w="0">
            <a:noFill/>
            <a:prstDash val="solid"/>
          </a:ln>
        </p:spPr>
        <p:txBody>
          <a:bodyPr lIns="95250" tIns="47625" rIns="95250" bIns="47625" anchor="ctr">
            <a:noAutofit/>
          </a:bodyPr>
          <a:lstStyle/>
          <a:p>
            <a:pPr algn="ctr">
              <a:defRPr sz="1425" b="1">
                <a:solidFill>
                  <a:srgbClr val="607D8B"/>
                </a:solidFill>
              </a:defRPr>
            </a:pPr>
            <a:r>
              <a:rPr sz="1800" b="1">
                <a:solidFill>
                  <a:srgbClr val="607D8B"/>
                </a:solidFill>
              </a:rPr>
              <a:t>Trung </a:t>
            </a:r>
            <a:r>
              <a:rPr sz="1800" b="1" err="1">
                <a:solidFill>
                  <a:srgbClr val="607D8B"/>
                </a:solidFill>
              </a:rPr>
              <a:t>tâm</a:t>
            </a:r>
            <a:r>
              <a:rPr sz="1800" b="1">
                <a:solidFill>
                  <a:srgbClr val="607D8B"/>
                </a:solidFill>
              </a:rPr>
              <a:t> </a:t>
            </a:r>
            <a:r>
              <a:rPr sz="1800" b="1" err="1">
                <a:solidFill>
                  <a:srgbClr val="607D8B"/>
                </a:solidFill>
              </a:rPr>
              <a:t>mua</a:t>
            </a:r>
            <a:r>
              <a:rPr sz="1800" b="1">
                <a:solidFill>
                  <a:srgbClr val="607D8B"/>
                </a:solidFill>
              </a:rPr>
              <a:t> = </a:t>
            </a:r>
            <a:r>
              <a:rPr sz="1800" b="1" err="1">
                <a:solidFill>
                  <a:srgbClr val="607D8B"/>
                </a:solidFill>
              </a:rPr>
              <a:t>những</a:t>
            </a:r>
            <a:r>
              <a:rPr sz="1800" b="1">
                <a:solidFill>
                  <a:srgbClr val="607D8B"/>
                </a:solidFill>
              </a:rPr>
              <a:t> </a:t>
            </a:r>
            <a:r>
              <a:rPr sz="1800" b="1" err="1">
                <a:solidFill>
                  <a:srgbClr val="607D8B"/>
                </a:solidFill>
              </a:rPr>
              <a:t>người</a:t>
            </a:r>
            <a:r>
              <a:rPr sz="1800" b="1">
                <a:solidFill>
                  <a:srgbClr val="607D8B"/>
                </a:solidFill>
              </a:rPr>
              <a:t> </a:t>
            </a:r>
            <a:r>
              <a:rPr sz="1800" b="1" err="1">
                <a:solidFill>
                  <a:srgbClr val="607D8B"/>
                </a:solidFill>
              </a:rPr>
              <a:t>cùng</a:t>
            </a:r>
            <a:r>
              <a:rPr sz="1800" b="1">
                <a:solidFill>
                  <a:srgbClr val="607D8B"/>
                </a:solidFill>
              </a:rPr>
              <a:t> </a:t>
            </a:r>
            <a:r>
              <a:rPr sz="1800" b="1" err="1">
                <a:solidFill>
                  <a:srgbClr val="607D8B"/>
                </a:solidFill>
              </a:rPr>
              <a:t>tham</a:t>
            </a:r>
            <a:r>
              <a:rPr sz="1800" b="1">
                <a:solidFill>
                  <a:srgbClr val="607D8B"/>
                </a:solidFill>
              </a:rPr>
              <a:t> </a:t>
            </a:r>
            <a:r>
              <a:rPr sz="1800" b="1" err="1">
                <a:solidFill>
                  <a:srgbClr val="607D8B"/>
                </a:solidFill>
              </a:rPr>
              <a:t>gia</a:t>
            </a:r>
            <a:r>
              <a:rPr sz="1800" b="1">
                <a:solidFill>
                  <a:srgbClr val="607D8B"/>
                </a:solidFill>
              </a:rPr>
              <a:t> </a:t>
            </a:r>
            <a:r>
              <a:rPr sz="1800" b="1" err="1">
                <a:solidFill>
                  <a:srgbClr val="607D8B"/>
                </a:solidFill>
              </a:rPr>
              <a:t>và</a:t>
            </a:r>
            <a:r>
              <a:rPr sz="1800" b="1">
                <a:solidFill>
                  <a:srgbClr val="607D8B"/>
                </a:solidFill>
              </a:rPr>
              <a:t> </a:t>
            </a:r>
            <a:r>
              <a:rPr sz="1800" b="1" err="1">
                <a:solidFill>
                  <a:srgbClr val="607D8B"/>
                </a:solidFill>
              </a:rPr>
              <a:t>cùng</a:t>
            </a:r>
            <a:r>
              <a:rPr sz="1800" b="1">
                <a:solidFill>
                  <a:srgbClr val="607D8B"/>
                </a:solidFill>
              </a:rPr>
              <a:t> </a:t>
            </a:r>
            <a:r>
              <a:rPr sz="1800" b="1" err="1">
                <a:solidFill>
                  <a:srgbClr val="607D8B"/>
                </a:solidFill>
              </a:rPr>
              <a:t>chịu</a:t>
            </a:r>
            <a:r>
              <a:rPr sz="1800" b="1">
                <a:solidFill>
                  <a:srgbClr val="607D8B"/>
                </a:solidFill>
              </a:rPr>
              <a:t> </a:t>
            </a:r>
            <a:r>
              <a:rPr sz="1800" b="1" err="1">
                <a:solidFill>
                  <a:srgbClr val="607D8B"/>
                </a:solidFill>
              </a:rPr>
              <a:t>trách</a:t>
            </a:r>
            <a:r>
              <a:rPr sz="1800" b="1">
                <a:solidFill>
                  <a:srgbClr val="607D8B"/>
                </a:solidFill>
              </a:rPr>
              <a:t> </a:t>
            </a:r>
            <a:r>
              <a:rPr sz="1800" b="1" err="1">
                <a:solidFill>
                  <a:srgbClr val="607D8B"/>
                </a:solidFill>
              </a:rPr>
              <a:t>nhiệm</a:t>
            </a:r>
            <a:r>
              <a:rPr sz="1800" b="1">
                <a:solidFill>
                  <a:srgbClr val="607D8B"/>
                </a:solidFill>
              </a:rPr>
              <a:t> </a:t>
            </a:r>
            <a:r>
              <a:rPr sz="1800" b="1" err="1">
                <a:solidFill>
                  <a:srgbClr val="607D8B"/>
                </a:solidFill>
              </a:rPr>
              <a:t>về</a:t>
            </a:r>
            <a:r>
              <a:rPr sz="1800" b="1">
                <a:solidFill>
                  <a:srgbClr val="607D8B"/>
                </a:solidFill>
              </a:rPr>
              <a:t> </a:t>
            </a:r>
            <a:r>
              <a:rPr sz="1800" b="1" err="1">
                <a:solidFill>
                  <a:srgbClr val="607D8B"/>
                </a:solidFill>
              </a:rPr>
              <a:t>quyết</a:t>
            </a:r>
            <a:r>
              <a:rPr sz="1800" b="1">
                <a:solidFill>
                  <a:srgbClr val="607D8B"/>
                </a:solidFill>
              </a:rPr>
              <a:t> </a:t>
            </a:r>
            <a:r>
              <a:rPr sz="1800" b="1" err="1">
                <a:solidFill>
                  <a:srgbClr val="607D8B"/>
                </a:solidFill>
              </a:rPr>
              <a:t>định</a:t>
            </a:r>
            <a:r>
              <a:rPr sz="1800" b="1">
                <a:solidFill>
                  <a:srgbClr val="607D8B"/>
                </a:solidFill>
              </a:rPr>
              <a:t> </a:t>
            </a:r>
            <a:r>
              <a:rPr sz="1800" b="1" err="1">
                <a:solidFill>
                  <a:srgbClr val="607D8B"/>
                </a:solidFill>
              </a:rPr>
              <a:t>mua</a:t>
            </a:r>
            <a:endParaRPr sz="1800" b="1">
              <a:solidFill>
                <a:srgbClr val="607D8B"/>
              </a:solidFill>
            </a:endParaRPr>
          </a:p>
        </p:txBody>
      </p:sp>
      <p:sp>
        <p:nvSpPr>
          <p:cNvPr id="3216" name="foundation">
            <a:extLst>
              <a:ext uri="{FF2B5EF4-FFF2-40B4-BE49-F238E27FC236}">
                <a16:creationId xmlns:a16="http://schemas.microsoft.com/office/drawing/2014/main" id="{C887E334-5B18-40B6-B926-6804803F7B22}"/>
              </a:ext>
            </a:extLst>
          </p:cNvPr>
          <p:cNvSpPr>
            <a:spLocks noGrp="1"/>
          </p:cNvSpPr>
          <p:nvPr/>
        </p:nvSpPr>
        <p:spPr>
          <a:xfrm>
            <a:off x="1476375" y="5486400"/>
            <a:ext cx="9239250" cy="209550"/>
          </a:xfrm>
          <a:prstGeom prst="rect">
            <a:avLst/>
          </a:prstGeom>
          <a:solidFill>
            <a:srgbClr val="003B71"/>
          </a:solidFill>
          <a:ln w="0">
            <a:noFill/>
            <a:prstDash val="solid"/>
          </a:ln>
        </p:spPr>
        <p:txBody>
          <a:bodyPr/>
          <a:lstStyle/>
          <a:p>
            <a:endParaRPr lang="en-US"/>
          </a:p>
        </p:txBody>
      </p:sp>
      <p:sp>
        <p:nvSpPr>
          <p:cNvPr id="3217" name="pillar-0">
            <a:extLst>
              <a:ext uri="{FF2B5EF4-FFF2-40B4-BE49-F238E27FC236}">
                <a16:creationId xmlns:a16="http://schemas.microsoft.com/office/drawing/2014/main" id="{540FF11A-5205-4E06-86C5-71E551416672}"/>
              </a:ext>
            </a:extLst>
          </p:cNvPr>
          <p:cNvSpPr>
            <a:spLocks noGrp="1"/>
          </p:cNvSpPr>
          <p:nvPr/>
        </p:nvSpPr>
        <p:spPr>
          <a:xfrm>
            <a:off x="1809750" y="3333750"/>
            <a:ext cx="1524000" cy="2152650"/>
          </a:xfrm>
          <a:prstGeom prst="rect">
            <a:avLst/>
          </a:prstGeom>
          <a:solidFill>
            <a:srgbClr val="F4F8FA"/>
          </a:solidFill>
          <a:ln w="19050">
            <a:solidFill>
              <a:srgbClr val="00AEEF"/>
            </a:solidFill>
            <a:prstDash val="solid"/>
          </a:ln>
        </p:spPr>
        <p:txBody>
          <a:bodyPr/>
          <a:lstStyle/>
          <a:p>
            <a:endParaRPr lang="en-US"/>
          </a:p>
        </p:txBody>
      </p:sp>
      <p:sp>
        <p:nvSpPr>
          <p:cNvPr id="3218" name="role-icon-0">
            <a:extLst>
              <a:ext uri="{FF2B5EF4-FFF2-40B4-BE49-F238E27FC236}">
                <a16:creationId xmlns:a16="http://schemas.microsoft.com/office/drawing/2014/main" id="{624FCA1C-24CE-44EE-9D9D-4F654DD232E7}"/>
              </a:ext>
            </a:extLst>
          </p:cNvPr>
          <p:cNvSpPr>
            <a:spLocks noGrp="1"/>
          </p:cNvSpPr>
          <p:nvPr/>
        </p:nvSpPr>
        <p:spPr>
          <a:xfrm>
            <a:off x="2257425" y="3524250"/>
            <a:ext cx="628650" cy="628650"/>
          </a:xfrm>
          <a:prstGeom prst="ellipse">
            <a:avLst/>
          </a:prstGeom>
          <a:solidFill>
            <a:srgbClr val="00AEEF"/>
          </a:solidFill>
          <a:ln w="0">
            <a:noFill/>
            <a:prstDash val="solid"/>
          </a:ln>
        </p:spPr>
        <p:txBody>
          <a:bodyPr lIns="95250" tIns="47625" rIns="95250" bIns="47625" anchor="ctr">
            <a:normAutofit/>
          </a:bodyPr>
          <a:lstStyle/>
          <a:p>
            <a:pPr algn="ctr">
              <a:defRPr sz="2025" b="1">
                <a:solidFill>
                  <a:srgbClr val="FFFFFF"/>
                </a:solidFill>
              </a:defRPr>
            </a:pPr>
            <a:r>
              <a:rPr sz="2025" b="1">
                <a:solidFill>
                  <a:srgbClr val="FFFFFF"/>
                </a:solidFill>
              </a:rPr>
              <a:t>1</a:t>
            </a:r>
          </a:p>
        </p:txBody>
      </p:sp>
      <p:sp>
        <p:nvSpPr>
          <p:cNvPr id="3219" name="role-head-0">
            <a:extLst>
              <a:ext uri="{FF2B5EF4-FFF2-40B4-BE49-F238E27FC236}">
                <a16:creationId xmlns:a16="http://schemas.microsoft.com/office/drawing/2014/main" id="{B5CBC34D-E2C8-4C51-BA27-47BEBEA29F8F}"/>
              </a:ext>
            </a:extLst>
          </p:cNvPr>
          <p:cNvSpPr>
            <a:spLocks noGrp="1"/>
          </p:cNvSpPr>
          <p:nvPr/>
        </p:nvSpPr>
        <p:spPr>
          <a:xfrm>
            <a:off x="1885950" y="4257675"/>
            <a:ext cx="1371600" cy="476250"/>
          </a:xfrm>
          <a:prstGeom prst="rect">
            <a:avLst/>
          </a:prstGeom>
          <a:noFill/>
          <a:ln w="0">
            <a:noFill/>
            <a:prstDash val="solid"/>
          </a:ln>
        </p:spPr>
        <p:txBody>
          <a:bodyPr lIns="95250" tIns="47625" rIns="95250" bIns="47625" anchor="ctr">
            <a:normAutofit fontScale="98039"/>
          </a:bodyPr>
          <a:lstStyle/>
          <a:p>
            <a:pPr algn="ctr">
              <a:defRPr sz="1275" b="1">
                <a:solidFill>
                  <a:srgbClr val="003B71"/>
                </a:solidFill>
              </a:defRPr>
            </a:pPr>
            <a:r>
              <a:rPr sz="1275" b="1">
                <a:solidFill>
                  <a:srgbClr val="003B71"/>
                </a:solidFill>
              </a:rPr>
              <a:t>NGƯỜI SỬ DỤNG</a:t>
            </a:r>
          </a:p>
        </p:txBody>
      </p:sp>
      <p:sp>
        <p:nvSpPr>
          <p:cNvPr id="3220" name="role-job-0">
            <a:extLst>
              <a:ext uri="{FF2B5EF4-FFF2-40B4-BE49-F238E27FC236}">
                <a16:creationId xmlns:a16="http://schemas.microsoft.com/office/drawing/2014/main" id="{59C612DB-09CF-48E2-AED9-CFCB60A8E3E4}"/>
              </a:ext>
            </a:extLst>
          </p:cNvPr>
          <p:cNvSpPr>
            <a:spLocks noGrp="1"/>
          </p:cNvSpPr>
          <p:nvPr/>
        </p:nvSpPr>
        <p:spPr>
          <a:xfrm>
            <a:off x="1905000" y="4762500"/>
            <a:ext cx="1333500" cy="514350"/>
          </a:xfrm>
          <a:prstGeom prst="rect">
            <a:avLst/>
          </a:prstGeom>
          <a:noFill/>
          <a:ln w="0">
            <a:noFill/>
            <a:prstDash val="solid"/>
          </a:ln>
        </p:spPr>
        <p:txBody>
          <a:bodyPr lIns="95250" tIns="47625" rIns="95250" bIns="47625" anchor="ctr">
            <a:normAutofit/>
          </a:bodyPr>
          <a:lstStyle/>
          <a:p>
            <a:pPr algn="ctr">
              <a:defRPr sz="1125" b="0">
                <a:solidFill>
                  <a:srgbClr val="263238"/>
                </a:solidFill>
              </a:defRPr>
            </a:pPr>
            <a:r>
              <a:rPr sz="1125" b="0">
                <a:solidFill>
                  <a:srgbClr val="263238"/>
                </a:solidFill>
              </a:rPr>
              <a:t>Xác định nhu cầu</a:t>
            </a:r>
          </a:p>
        </p:txBody>
      </p:sp>
      <p:sp>
        <p:nvSpPr>
          <p:cNvPr id="3221" name="pillar-1">
            <a:extLst>
              <a:ext uri="{FF2B5EF4-FFF2-40B4-BE49-F238E27FC236}">
                <a16:creationId xmlns:a16="http://schemas.microsoft.com/office/drawing/2014/main" id="{F455AC1F-BE20-4646-B2EC-186F6222247E}"/>
              </a:ext>
            </a:extLst>
          </p:cNvPr>
          <p:cNvSpPr>
            <a:spLocks noGrp="1"/>
          </p:cNvSpPr>
          <p:nvPr/>
        </p:nvSpPr>
        <p:spPr>
          <a:xfrm>
            <a:off x="4000500" y="3333750"/>
            <a:ext cx="1524000" cy="2152650"/>
          </a:xfrm>
          <a:prstGeom prst="rect">
            <a:avLst/>
          </a:prstGeom>
          <a:solidFill>
            <a:srgbClr val="F4F8FA"/>
          </a:solidFill>
          <a:ln w="19050">
            <a:solidFill>
              <a:srgbClr val="F28C28"/>
            </a:solidFill>
            <a:prstDash val="solid"/>
          </a:ln>
        </p:spPr>
        <p:txBody>
          <a:bodyPr/>
          <a:lstStyle/>
          <a:p>
            <a:endParaRPr lang="en-US"/>
          </a:p>
        </p:txBody>
      </p:sp>
      <p:sp>
        <p:nvSpPr>
          <p:cNvPr id="3222" name="role-icon-1">
            <a:extLst>
              <a:ext uri="{FF2B5EF4-FFF2-40B4-BE49-F238E27FC236}">
                <a16:creationId xmlns:a16="http://schemas.microsoft.com/office/drawing/2014/main" id="{F04AEDB7-D34F-45E8-BDFF-C36655CE21D4}"/>
              </a:ext>
            </a:extLst>
          </p:cNvPr>
          <p:cNvSpPr>
            <a:spLocks noGrp="1"/>
          </p:cNvSpPr>
          <p:nvPr/>
        </p:nvSpPr>
        <p:spPr>
          <a:xfrm>
            <a:off x="4448175" y="3524250"/>
            <a:ext cx="628650" cy="628650"/>
          </a:xfrm>
          <a:prstGeom prst="ellipse">
            <a:avLst/>
          </a:prstGeom>
          <a:solidFill>
            <a:srgbClr val="F28C28"/>
          </a:solidFill>
          <a:ln w="0">
            <a:noFill/>
            <a:prstDash val="solid"/>
          </a:ln>
        </p:spPr>
        <p:txBody>
          <a:bodyPr lIns="95250" tIns="47625" rIns="95250" bIns="47625" anchor="ctr">
            <a:normAutofit/>
          </a:bodyPr>
          <a:lstStyle/>
          <a:p>
            <a:pPr algn="ctr">
              <a:defRPr sz="2025" b="1">
                <a:solidFill>
                  <a:srgbClr val="FFFFFF"/>
                </a:solidFill>
              </a:defRPr>
            </a:pPr>
            <a:r>
              <a:rPr sz="2025" b="1">
                <a:solidFill>
                  <a:srgbClr val="FFFFFF"/>
                </a:solidFill>
              </a:rPr>
              <a:t>2</a:t>
            </a:r>
          </a:p>
        </p:txBody>
      </p:sp>
      <p:sp>
        <p:nvSpPr>
          <p:cNvPr id="3223" name="role-head-1">
            <a:extLst>
              <a:ext uri="{FF2B5EF4-FFF2-40B4-BE49-F238E27FC236}">
                <a16:creationId xmlns:a16="http://schemas.microsoft.com/office/drawing/2014/main" id="{B3A86BB0-B899-43C7-A364-9BDF38B74317}"/>
              </a:ext>
            </a:extLst>
          </p:cNvPr>
          <p:cNvSpPr>
            <a:spLocks noGrp="1"/>
          </p:cNvSpPr>
          <p:nvPr/>
        </p:nvSpPr>
        <p:spPr>
          <a:xfrm>
            <a:off x="4076700" y="4257675"/>
            <a:ext cx="1371600" cy="476250"/>
          </a:xfrm>
          <a:prstGeom prst="rect">
            <a:avLst/>
          </a:prstGeom>
          <a:noFill/>
          <a:ln w="0">
            <a:noFill/>
            <a:prstDash val="solid"/>
          </a:ln>
        </p:spPr>
        <p:txBody>
          <a:bodyPr lIns="95250" tIns="47625" rIns="95250" bIns="47625" anchor="ctr">
            <a:normAutofit fontScale="98039"/>
          </a:bodyPr>
          <a:lstStyle/>
          <a:p>
            <a:pPr algn="ctr">
              <a:defRPr sz="1275" b="1">
                <a:solidFill>
                  <a:srgbClr val="003B71"/>
                </a:solidFill>
              </a:defRPr>
            </a:pPr>
            <a:r>
              <a:rPr sz="1275" b="1">
                <a:solidFill>
                  <a:srgbClr val="003B71"/>
                </a:solidFill>
              </a:rPr>
              <a:t>NGƯỜI ẢNH HƯỞNG</a:t>
            </a:r>
          </a:p>
        </p:txBody>
      </p:sp>
      <p:sp>
        <p:nvSpPr>
          <p:cNvPr id="3224" name="role-job-1">
            <a:extLst>
              <a:ext uri="{FF2B5EF4-FFF2-40B4-BE49-F238E27FC236}">
                <a16:creationId xmlns:a16="http://schemas.microsoft.com/office/drawing/2014/main" id="{2801AF0A-91A4-4575-A4C9-BA6C521F6D17}"/>
              </a:ext>
            </a:extLst>
          </p:cNvPr>
          <p:cNvSpPr>
            <a:spLocks noGrp="1"/>
          </p:cNvSpPr>
          <p:nvPr/>
        </p:nvSpPr>
        <p:spPr>
          <a:xfrm>
            <a:off x="4095750" y="4762500"/>
            <a:ext cx="1333500" cy="514350"/>
          </a:xfrm>
          <a:prstGeom prst="rect">
            <a:avLst/>
          </a:prstGeom>
          <a:noFill/>
          <a:ln w="0">
            <a:noFill/>
            <a:prstDash val="solid"/>
          </a:ln>
        </p:spPr>
        <p:txBody>
          <a:bodyPr lIns="95250" tIns="47625" rIns="95250" bIns="47625" anchor="ctr">
            <a:normAutofit/>
          </a:bodyPr>
          <a:lstStyle/>
          <a:p>
            <a:pPr algn="ctr">
              <a:defRPr sz="1125" b="0">
                <a:solidFill>
                  <a:srgbClr val="263238"/>
                </a:solidFill>
              </a:defRPr>
            </a:pPr>
            <a:r>
              <a:rPr sz="1125" b="0">
                <a:solidFill>
                  <a:srgbClr val="263238"/>
                </a:solidFill>
              </a:rPr>
              <a:t>Định hình tiêu chuẩn</a:t>
            </a:r>
          </a:p>
        </p:txBody>
      </p:sp>
      <p:sp>
        <p:nvSpPr>
          <p:cNvPr id="3225" name="pillar-2">
            <a:extLst>
              <a:ext uri="{FF2B5EF4-FFF2-40B4-BE49-F238E27FC236}">
                <a16:creationId xmlns:a16="http://schemas.microsoft.com/office/drawing/2014/main" id="{2D8D618F-DADE-44A5-9A42-B5EF21DFD29E}"/>
              </a:ext>
            </a:extLst>
          </p:cNvPr>
          <p:cNvSpPr>
            <a:spLocks noGrp="1"/>
          </p:cNvSpPr>
          <p:nvPr/>
        </p:nvSpPr>
        <p:spPr>
          <a:xfrm>
            <a:off x="6191250" y="3333750"/>
            <a:ext cx="1524000" cy="2152650"/>
          </a:xfrm>
          <a:prstGeom prst="rect">
            <a:avLst/>
          </a:prstGeom>
          <a:solidFill>
            <a:srgbClr val="F4F8FA"/>
          </a:solidFill>
          <a:ln w="19050">
            <a:solidFill>
              <a:srgbClr val="2E8B75"/>
            </a:solidFill>
            <a:prstDash val="solid"/>
          </a:ln>
        </p:spPr>
        <p:txBody>
          <a:bodyPr/>
          <a:lstStyle/>
          <a:p>
            <a:endParaRPr lang="en-US"/>
          </a:p>
        </p:txBody>
      </p:sp>
      <p:sp>
        <p:nvSpPr>
          <p:cNvPr id="3226" name="role-icon-2">
            <a:extLst>
              <a:ext uri="{FF2B5EF4-FFF2-40B4-BE49-F238E27FC236}">
                <a16:creationId xmlns:a16="http://schemas.microsoft.com/office/drawing/2014/main" id="{542C806D-A442-4B80-A8C1-99130A9B0360}"/>
              </a:ext>
            </a:extLst>
          </p:cNvPr>
          <p:cNvSpPr>
            <a:spLocks noGrp="1"/>
          </p:cNvSpPr>
          <p:nvPr/>
        </p:nvSpPr>
        <p:spPr>
          <a:xfrm>
            <a:off x="6638925" y="3524250"/>
            <a:ext cx="628650" cy="628650"/>
          </a:xfrm>
          <a:prstGeom prst="ellipse">
            <a:avLst/>
          </a:prstGeom>
          <a:solidFill>
            <a:srgbClr val="2E8B75"/>
          </a:solidFill>
          <a:ln w="0">
            <a:noFill/>
            <a:prstDash val="solid"/>
          </a:ln>
        </p:spPr>
        <p:txBody>
          <a:bodyPr lIns="95250" tIns="47625" rIns="95250" bIns="47625" anchor="ctr">
            <a:normAutofit/>
          </a:bodyPr>
          <a:lstStyle/>
          <a:p>
            <a:pPr algn="ctr">
              <a:defRPr sz="2025" b="1">
                <a:solidFill>
                  <a:srgbClr val="FFFFFF"/>
                </a:solidFill>
              </a:defRPr>
            </a:pPr>
            <a:r>
              <a:rPr sz="2025" b="1">
                <a:solidFill>
                  <a:srgbClr val="FFFFFF"/>
                </a:solidFill>
              </a:rPr>
              <a:t>3</a:t>
            </a:r>
          </a:p>
        </p:txBody>
      </p:sp>
      <p:sp>
        <p:nvSpPr>
          <p:cNvPr id="3227" name="role-head-2">
            <a:extLst>
              <a:ext uri="{FF2B5EF4-FFF2-40B4-BE49-F238E27FC236}">
                <a16:creationId xmlns:a16="http://schemas.microsoft.com/office/drawing/2014/main" id="{6E01A3F5-6E56-4917-A03C-FC9B77B7AE4F}"/>
              </a:ext>
            </a:extLst>
          </p:cNvPr>
          <p:cNvSpPr>
            <a:spLocks noGrp="1"/>
          </p:cNvSpPr>
          <p:nvPr/>
        </p:nvSpPr>
        <p:spPr>
          <a:xfrm>
            <a:off x="6267450" y="4257675"/>
            <a:ext cx="1371600" cy="476250"/>
          </a:xfrm>
          <a:prstGeom prst="rect">
            <a:avLst/>
          </a:prstGeom>
          <a:noFill/>
          <a:ln w="0">
            <a:noFill/>
            <a:prstDash val="solid"/>
          </a:ln>
        </p:spPr>
        <p:txBody>
          <a:bodyPr lIns="95250" tIns="47625" rIns="95250" bIns="47625" anchor="ctr">
            <a:normAutofit/>
          </a:bodyPr>
          <a:lstStyle/>
          <a:p>
            <a:pPr algn="ctr">
              <a:defRPr sz="1275" b="1">
                <a:solidFill>
                  <a:srgbClr val="003B71"/>
                </a:solidFill>
              </a:defRPr>
            </a:pPr>
            <a:r>
              <a:rPr sz="1275" b="1">
                <a:solidFill>
                  <a:srgbClr val="003B71"/>
                </a:solidFill>
              </a:rPr>
              <a:t>NGƯỜI MUA</a:t>
            </a:r>
          </a:p>
        </p:txBody>
      </p:sp>
      <p:sp>
        <p:nvSpPr>
          <p:cNvPr id="3228" name="role-job-2">
            <a:extLst>
              <a:ext uri="{FF2B5EF4-FFF2-40B4-BE49-F238E27FC236}">
                <a16:creationId xmlns:a16="http://schemas.microsoft.com/office/drawing/2014/main" id="{DE05859E-1A89-433E-9E3D-7BB8CBBB976C}"/>
              </a:ext>
            </a:extLst>
          </p:cNvPr>
          <p:cNvSpPr>
            <a:spLocks noGrp="1"/>
          </p:cNvSpPr>
          <p:nvPr/>
        </p:nvSpPr>
        <p:spPr>
          <a:xfrm>
            <a:off x="6286500" y="4762500"/>
            <a:ext cx="1333500" cy="514350"/>
          </a:xfrm>
          <a:prstGeom prst="rect">
            <a:avLst/>
          </a:prstGeom>
          <a:noFill/>
          <a:ln w="0">
            <a:noFill/>
            <a:prstDash val="solid"/>
          </a:ln>
        </p:spPr>
        <p:txBody>
          <a:bodyPr lIns="95250" tIns="47625" rIns="95250" bIns="47625" anchor="ctr">
            <a:normAutofit/>
          </a:bodyPr>
          <a:lstStyle/>
          <a:p>
            <a:pPr algn="ctr">
              <a:defRPr sz="1125" b="0">
                <a:solidFill>
                  <a:srgbClr val="263238"/>
                </a:solidFill>
              </a:defRPr>
            </a:pPr>
            <a:r>
              <a:rPr sz="1125" b="0">
                <a:solidFill>
                  <a:srgbClr val="263238"/>
                </a:solidFill>
              </a:rPr>
              <a:t>Thương lượng • giao dịch</a:t>
            </a:r>
          </a:p>
        </p:txBody>
      </p:sp>
      <p:sp>
        <p:nvSpPr>
          <p:cNvPr id="3229" name="pillar-3">
            <a:extLst>
              <a:ext uri="{FF2B5EF4-FFF2-40B4-BE49-F238E27FC236}">
                <a16:creationId xmlns:a16="http://schemas.microsoft.com/office/drawing/2014/main" id="{A29A5817-B7F7-4879-9A22-18FC1E88685D}"/>
              </a:ext>
            </a:extLst>
          </p:cNvPr>
          <p:cNvSpPr>
            <a:spLocks noGrp="1"/>
          </p:cNvSpPr>
          <p:nvPr/>
        </p:nvSpPr>
        <p:spPr>
          <a:xfrm>
            <a:off x="8382000" y="3333750"/>
            <a:ext cx="1524000" cy="2152650"/>
          </a:xfrm>
          <a:prstGeom prst="rect">
            <a:avLst/>
          </a:prstGeom>
          <a:solidFill>
            <a:srgbClr val="F4F8FA"/>
          </a:solidFill>
          <a:ln w="19050">
            <a:solidFill>
              <a:srgbClr val="0072BC"/>
            </a:solidFill>
            <a:prstDash val="solid"/>
          </a:ln>
        </p:spPr>
        <p:txBody>
          <a:bodyPr/>
          <a:lstStyle/>
          <a:p>
            <a:endParaRPr lang="en-US"/>
          </a:p>
        </p:txBody>
      </p:sp>
      <p:sp>
        <p:nvSpPr>
          <p:cNvPr id="3230" name="role-icon-3">
            <a:extLst>
              <a:ext uri="{FF2B5EF4-FFF2-40B4-BE49-F238E27FC236}">
                <a16:creationId xmlns:a16="http://schemas.microsoft.com/office/drawing/2014/main" id="{65BD89EC-5CA5-4550-BDCD-CFB35C28DCF8}"/>
              </a:ext>
            </a:extLst>
          </p:cNvPr>
          <p:cNvSpPr>
            <a:spLocks noGrp="1"/>
          </p:cNvSpPr>
          <p:nvPr/>
        </p:nvSpPr>
        <p:spPr>
          <a:xfrm>
            <a:off x="8829675" y="3524250"/>
            <a:ext cx="628650" cy="628650"/>
          </a:xfrm>
          <a:prstGeom prst="ellipse">
            <a:avLst/>
          </a:prstGeom>
          <a:solidFill>
            <a:srgbClr val="0072BC"/>
          </a:solidFill>
          <a:ln w="0">
            <a:noFill/>
            <a:prstDash val="solid"/>
          </a:ln>
        </p:spPr>
        <p:txBody>
          <a:bodyPr lIns="95250" tIns="47625" rIns="95250" bIns="47625" anchor="ctr">
            <a:normAutofit/>
          </a:bodyPr>
          <a:lstStyle/>
          <a:p>
            <a:pPr algn="ctr">
              <a:defRPr sz="2025" b="1">
                <a:solidFill>
                  <a:srgbClr val="FFFFFF"/>
                </a:solidFill>
              </a:defRPr>
            </a:pPr>
            <a:r>
              <a:rPr sz="2025" b="1">
                <a:solidFill>
                  <a:srgbClr val="FFFFFF"/>
                </a:solidFill>
              </a:rPr>
              <a:t>4</a:t>
            </a:r>
          </a:p>
        </p:txBody>
      </p:sp>
      <p:sp>
        <p:nvSpPr>
          <p:cNvPr id="3231" name="role-head-3">
            <a:extLst>
              <a:ext uri="{FF2B5EF4-FFF2-40B4-BE49-F238E27FC236}">
                <a16:creationId xmlns:a16="http://schemas.microsoft.com/office/drawing/2014/main" id="{8EE52234-F25C-475E-961A-BF970D90B00A}"/>
              </a:ext>
            </a:extLst>
          </p:cNvPr>
          <p:cNvSpPr>
            <a:spLocks noGrp="1"/>
          </p:cNvSpPr>
          <p:nvPr/>
        </p:nvSpPr>
        <p:spPr>
          <a:xfrm>
            <a:off x="8458200" y="4257675"/>
            <a:ext cx="1371600" cy="476250"/>
          </a:xfrm>
          <a:prstGeom prst="rect">
            <a:avLst/>
          </a:prstGeom>
          <a:noFill/>
          <a:ln w="0">
            <a:noFill/>
            <a:prstDash val="solid"/>
          </a:ln>
        </p:spPr>
        <p:txBody>
          <a:bodyPr lIns="95250" tIns="47625" rIns="95250" bIns="47625" anchor="ctr">
            <a:normAutofit fontScale="98039"/>
          </a:bodyPr>
          <a:lstStyle/>
          <a:p>
            <a:pPr algn="ctr">
              <a:defRPr sz="1275" b="1">
                <a:solidFill>
                  <a:srgbClr val="003B71"/>
                </a:solidFill>
              </a:defRPr>
            </a:pPr>
            <a:r>
              <a:rPr sz="1275" b="1">
                <a:solidFill>
                  <a:srgbClr val="003B71"/>
                </a:solidFill>
              </a:rPr>
              <a:t>NGƯỜI QUYẾT ĐỊNH</a:t>
            </a:r>
          </a:p>
        </p:txBody>
      </p:sp>
      <p:sp>
        <p:nvSpPr>
          <p:cNvPr id="3232" name="role-job-3">
            <a:extLst>
              <a:ext uri="{FF2B5EF4-FFF2-40B4-BE49-F238E27FC236}">
                <a16:creationId xmlns:a16="http://schemas.microsoft.com/office/drawing/2014/main" id="{84128A73-F7CA-41FF-8B62-A01DF5923545}"/>
              </a:ext>
            </a:extLst>
          </p:cNvPr>
          <p:cNvSpPr>
            <a:spLocks noGrp="1"/>
          </p:cNvSpPr>
          <p:nvPr/>
        </p:nvSpPr>
        <p:spPr>
          <a:xfrm>
            <a:off x="8477250" y="4762500"/>
            <a:ext cx="1333500" cy="514350"/>
          </a:xfrm>
          <a:prstGeom prst="rect">
            <a:avLst/>
          </a:prstGeom>
          <a:noFill/>
          <a:ln w="0">
            <a:noFill/>
            <a:prstDash val="solid"/>
          </a:ln>
        </p:spPr>
        <p:txBody>
          <a:bodyPr lIns="95250" tIns="47625" rIns="95250" bIns="47625" anchor="ctr">
            <a:normAutofit/>
          </a:bodyPr>
          <a:lstStyle/>
          <a:p>
            <a:pPr algn="ctr">
              <a:defRPr sz="1125" b="0">
                <a:solidFill>
                  <a:srgbClr val="263238"/>
                </a:solidFill>
              </a:defRPr>
            </a:pPr>
            <a:r>
              <a:rPr sz="1125" b="0">
                <a:solidFill>
                  <a:srgbClr val="263238"/>
                </a:solidFill>
              </a:rPr>
              <a:t>Lựa chọn • phê duyệt</a:t>
            </a:r>
          </a:p>
        </p:txBody>
      </p:sp>
      <p:sp>
        <p:nvSpPr>
          <p:cNvPr id="3233" name="bridge-left">
            <a:extLst>
              <a:ext uri="{FF2B5EF4-FFF2-40B4-BE49-F238E27FC236}">
                <a16:creationId xmlns:a16="http://schemas.microsoft.com/office/drawing/2014/main" id="{F3DF285E-61DC-4F5B-964A-FE174E988439}"/>
              </a:ext>
            </a:extLst>
          </p:cNvPr>
          <p:cNvSpPr>
            <a:spLocks noGrp="1"/>
          </p:cNvSpPr>
          <p:nvPr/>
        </p:nvSpPr>
        <p:spPr>
          <a:xfrm>
            <a:off x="1285875" y="2619375"/>
            <a:ext cx="1428750" cy="590550"/>
          </a:xfrm>
          <a:prstGeom prst="chevron">
            <a:avLst/>
          </a:prstGeom>
          <a:solidFill>
            <a:srgbClr val="003B71"/>
          </a:solidFill>
          <a:ln w="0">
            <a:noFill/>
            <a:prstDash val="solid"/>
          </a:ln>
        </p:spPr>
        <p:txBody>
          <a:bodyPr/>
          <a:lstStyle/>
          <a:p>
            <a:endParaRPr lang="en-US"/>
          </a:p>
        </p:txBody>
      </p:sp>
      <p:sp>
        <p:nvSpPr>
          <p:cNvPr id="3234" name="bridge-deck">
            <a:extLst>
              <a:ext uri="{FF2B5EF4-FFF2-40B4-BE49-F238E27FC236}">
                <a16:creationId xmlns:a16="http://schemas.microsoft.com/office/drawing/2014/main" id="{F390F797-4BD2-4862-AACA-1809DADBC424}"/>
              </a:ext>
            </a:extLst>
          </p:cNvPr>
          <p:cNvSpPr>
            <a:spLocks noGrp="1"/>
          </p:cNvSpPr>
          <p:nvPr/>
        </p:nvSpPr>
        <p:spPr>
          <a:xfrm>
            <a:off x="2333625" y="2619375"/>
            <a:ext cx="7524750" cy="590550"/>
          </a:xfrm>
          <a:prstGeom prst="rect">
            <a:avLst/>
          </a:prstGeom>
          <a:solidFill>
            <a:srgbClr val="003B71"/>
          </a:solidFill>
          <a:ln w="0">
            <a:noFill/>
            <a:prstDash val="solid"/>
          </a:ln>
        </p:spPr>
        <p:txBody>
          <a:bodyPr/>
          <a:lstStyle/>
          <a:p>
            <a:endParaRPr lang="en-US"/>
          </a:p>
        </p:txBody>
      </p:sp>
      <p:sp>
        <p:nvSpPr>
          <p:cNvPr id="3235" name="bridge-right">
            <a:extLst>
              <a:ext uri="{FF2B5EF4-FFF2-40B4-BE49-F238E27FC236}">
                <a16:creationId xmlns:a16="http://schemas.microsoft.com/office/drawing/2014/main" id="{F78482D4-2806-4B3C-938F-09ECBFDB7B04}"/>
              </a:ext>
            </a:extLst>
          </p:cNvPr>
          <p:cNvSpPr>
            <a:spLocks noGrp="1"/>
          </p:cNvSpPr>
          <p:nvPr/>
        </p:nvSpPr>
        <p:spPr>
          <a:xfrm>
            <a:off x="9477375" y="2619375"/>
            <a:ext cx="1428750" cy="590550"/>
          </a:xfrm>
          <a:prstGeom prst="chevron">
            <a:avLst/>
          </a:prstGeom>
          <a:solidFill>
            <a:srgbClr val="003B71"/>
          </a:solidFill>
          <a:ln w="0">
            <a:noFill/>
            <a:prstDash val="solid"/>
          </a:ln>
        </p:spPr>
        <p:txBody>
          <a:bodyPr/>
          <a:lstStyle/>
          <a:p>
            <a:endParaRPr lang="en-US"/>
          </a:p>
        </p:txBody>
      </p:sp>
      <p:sp>
        <p:nvSpPr>
          <p:cNvPr id="3236" name="decision-label">
            <a:extLst>
              <a:ext uri="{FF2B5EF4-FFF2-40B4-BE49-F238E27FC236}">
                <a16:creationId xmlns:a16="http://schemas.microsoft.com/office/drawing/2014/main" id="{10D476F5-5D21-456B-9655-D769C529E218}"/>
              </a:ext>
            </a:extLst>
          </p:cNvPr>
          <p:cNvSpPr>
            <a:spLocks noGrp="1"/>
          </p:cNvSpPr>
          <p:nvPr/>
        </p:nvSpPr>
        <p:spPr>
          <a:xfrm>
            <a:off x="2571750" y="2705100"/>
            <a:ext cx="7048500" cy="409575"/>
          </a:xfrm>
          <a:prstGeom prst="rect">
            <a:avLst/>
          </a:prstGeom>
          <a:noFill/>
          <a:ln w="0">
            <a:noFill/>
            <a:prstDash val="solid"/>
          </a:ln>
        </p:spPr>
        <p:txBody>
          <a:bodyPr lIns="95250" tIns="47625" rIns="95250" bIns="47625" anchor="ctr">
            <a:normAutofit/>
          </a:bodyPr>
          <a:lstStyle/>
          <a:p>
            <a:pPr algn="ctr">
              <a:defRPr sz="1875" b="1">
                <a:solidFill>
                  <a:srgbClr val="FFFFFF"/>
                </a:solidFill>
              </a:defRPr>
            </a:pPr>
            <a:r>
              <a:rPr sz="1875" b="1">
                <a:solidFill>
                  <a:srgbClr val="FFFFFF"/>
                </a:solidFill>
              </a:rPr>
              <a:t>QUYẾT ĐỊNH MUA CỦA TỔ CHỨC</a:t>
            </a:r>
          </a:p>
        </p:txBody>
      </p:sp>
      <p:sp>
        <p:nvSpPr>
          <p:cNvPr id="3237" name="base-label">
            <a:extLst>
              <a:ext uri="{FF2B5EF4-FFF2-40B4-BE49-F238E27FC236}">
                <a16:creationId xmlns:a16="http://schemas.microsoft.com/office/drawing/2014/main" id="{4B9E1927-DC65-496F-899C-CC796715553D}"/>
              </a:ext>
            </a:extLst>
          </p:cNvPr>
          <p:cNvSpPr>
            <a:spLocks noGrp="1"/>
          </p:cNvSpPr>
          <p:nvPr/>
        </p:nvSpPr>
        <p:spPr>
          <a:xfrm>
            <a:off x="2091690" y="5743575"/>
            <a:ext cx="7242810" cy="666750"/>
          </a:xfrm>
          <a:prstGeom prst="rect">
            <a:avLst/>
          </a:prstGeom>
          <a:noFill/>
          <a:ln w="0">
            <a:noFill/>
            <a:prstDash val="solid"/>
          </a:ln>
        </p:spPr>
        <p:txBody>
          <a:bodyPr lIns="95250" tIns="47625" rIns="95250" bIns="47625" anchor="ctr">
            <a:noAutofit/>
          </a:bodyPr>
          <a:lstStyle/>
          <a:p>
            <a:pPr algn="ctr">
              <a:defRPr sz="1275" b="1">
                <a:solidFill>
                  <a:srgbClr val="003B71"/>
                </a:solidFill>
              </a:defRPr>
            </a:pPr>
            <a:r>
              <a:rPr sz="2400" b="1">
                <a:solidFill>
                  <a:srgbClr val="003B71"/>
                </a:solidFill>
              </a:rPr>
              <a:t>MỤC TIÊU CHUNG  •  TRÁCH NHIỆM CHUNG</a:t>
            </a:r>
          </a:p>
        </p:txBody>
      </p:sp>
    </p:spTree>
    <p:extLst>
      <p:ext uri="{BB962C8B-B14F-4D97-AF65-F5344CB8AC3E}">
        <p14:creationId xmlns:p14="http://schemas.microsoft.com/office/powerpoint/2010/main" val="1220661284"/>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8E0B1F14-2557-56D9-9A3F-F1838DB82D94}"/>
              </a:ext>
            </a:extLst>
          </p:cNvPr>
          <p:cNvGraphicFramePr/>
          <p:nvPr/>
        </p:nvGraphicFramePr>
        <p:xfrm>
          <a:off x="1017857" y="1855471"/>
          <a:ext cx="10115973" cy="36880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ontent Placeholder 2">
            <a:extLst>
              <a:ext uri="{FF2B5EF4-FFF2-40B4-BE49-F238E27FC236}">
                <a16:creationId xmlns:a16="http://schemas.microsoft.com/office/drawing/2014/main" id="{CBBD5BF1-7C70-5D59-48B9-2329459D08E0}"/>
              </a:ext>
            </a:extLst>
          </p:cNvPr>
          <p:cNvSpPr txBox="1">
            <a:spLocks/>
          </p:cNvSpPr>
          <p:nvPr/>
        </p:nvSpPr>
        <p:spPr bwMode="auto">
          <a:xfrm>
            <a:off x="274320" y="456233"/>
            <a:ext cx="10115973" cy="766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600" b="1"/>
              <a:t>7.3.4 </a:t>
            </a:r>
            <a:r>
              <a:rPr lang="en-US" sz="2600" b="1" err="1"/>
              <a:t>Các</a:t>
            </a:r>
            <a:r>
              <a:rPr lang="en-US" sz="2600" b="1"/>
              <a:t> </a:t>
            </a:r>
            <a:r>
              <a:rPr lang="en-US" sz="2600" b="1" err="1"/>
              <a:t>hoạt</a:t>
            </a:r>
            <a:r>
              <a:rPr lang="en-US" sz="2600" b="1"/>
              <a:t> </a:t>
            </a:r>
            <a:r>
              <a:rPr lang="en-US" sz="2600" b="1" err="1"/>
              <a:t>động</a:t>
            </a:r>
            <a:r>
              <a:rPr lang="en-US" sz="2600" b="1"/>
              <a:t> </a:t>
            </a:r>
            <a:r>
              <a:rPr lang="en-US" sz="2600" b="1" err="1"/>
              <a:t>và</a:t>
            </a:r>
            <a:r>
              <a:rPr lang="en-US" sz="2600" b="1"/>
              <a:t> </a:t>
            </a:r>
            <a:r>
              <a:rPr lang="en-US" sz="2600" b="1" err="1"/>
              <a:t>quyết</a:t>
            </a:r>
            <a:r>
              <a:rPr lang="en-US" sz="2600" b="1"/>
              <a:t> </a:t>
            </a:r>
            <a:r>
              <a:rPr lang="en-US" sz="2600" b="1" err="1"/>
              <a:t>định</a:t>
            </a:r>
            <a:r>
              <a:rPr lang="en-US" sz="2600" b="1"/>
              <a:t> </a:t>
            </a:r>
            <a:r>
              <a:rPr lang="en-US" sz="2600" b="1" err="1"/>
              <a:t>của</a:t>
            </a:r>
            <a:r>
              <a:rPr lang="en-US" sz="2600" b="1"/>
              <a:t> </a:t>
            </a:r>
            <a:r>
              <a:rPr lang="en-US" sz="2600" b="1" err="1"/>
              <a:t>bộ</a:t>
            </a:r>
            <a:r>
              <a:rPr lang="en-US" sz="2600" b="1"/>
              <a:t> </a:t>
            </a:r>
            <a:r>
              <a:rPr lang="en-US" sz="2600" b="1" err="1"/>
              <a:t>phận</a:t>
            </a:r>
            <a:r>
              <a:rPr lang="en-US" sz="2600" b="1"/>
              <a:t> </a:t>
            </a:r>
            <a:r>
              <a:rPr lang="en-US" sz="2600" b="1" err="1"/>
              <a:t>cung</a:t>
            </a:r>
            <a:r>
              <a:rPr lang="en-US" sz="2600" b="1"/>
              <a:t> </a:t>
            </a:r>
            <a:r>
              <a:rPr lang="en-US" sz="2600" b="1" err="1"/>
              <a:t>ứng</a:t>
            </a:r>
            <a:r>
              <a:rPr lang="en-US" sz="2600" b="1"/>
              <a:t> </a:t>
            </a:r>
            <a:r>
              <a:rPr lang="en-US" sz="2600" b="1" err="1"/>
              <a:t>hàng</a:t>
            </a:r>
            <a:r>
              <a:rPr lang="en-US" sz="2600" b="1"/>
              <a:t> </a:t>
            </a:r>
            <a:r>
              <a:rPr lang="en-US" sz="2600" b="1" err="1"/>
              <a:t>hóa</a:t>
            </a:r>
            <a:r>
              <a:rPr lang="en-US" sz="2600" b="1"/>
              <a:t>/ </a:t>
            </a:r>
            <a:r>
              <a:rPr lang="en-US" sz="2600" b="1" err="1"/>
              <a:t>thu</a:t>
            </a:r>
            <a:r>
              <a:rPr lang="en-US" sz="2600" b="1"/>
              <a:t> </a:t>
            </a:r>
            <a:r>
              <a:rPr lang="en-US" sz="2600" b="1" err="1"/>
              <a:t>mua</a:t>
            </a:r>
            <a:endParaRPr lang="en-US" sz="2600" b="1"/>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CD94196-7336-4C18-8D1A-6F0D0959519C}"/>
              </a:ext>
            </a:extLst>
          </p:cNvPr>
          <p:cNvSpPr>
            <a:spLocks noGrp="1"/>
          </p:cNvSpPr>
          <p:nvPr>
            <p:ph type="sldNum" idx="12"/>
          </p:nvPr>
        </p:nvSpPr>
        <p:spPr/>
        <p:txBody>
          <a:bodyPr/>
          <a:lstStyle/>
          <a:p>
            <a:pPr>
              <a:buNone/>
            </a:pPr>
            <a:fld id="{CEF37D3B-0AE3-4360-AE2D-60E05024EC75}" type="slidenum">
              <a:t>296</a:t>
            </a:fld>
            <a:endParaRPr/>
          </a:p>
        </p:txBody>
      </p:sp>
      <p:sp>
        <p:nvSpPr>
          <p:cNvPr id="5" name="Rectangle 3">
            <a:extLst>
              <a:ext uri="{FF2B5EF4-FFF2-40B4-BE49-F238E27FC236}">
                <a16:creationId xmlns:a16="http://schemas.microsoft.com/office/drawing/2014/main" id="{09F19ACA-23B1-4121-B8DC-5C63A47DAF92}"/>
              </a:ext>
            </a:extLst>
          </p:cNvPr>
          <p:cNvSpPr>
            <a:spLocks noGrp="1"/>
          </p:cNvSpPr>
          <p:nvPr/>
        </p:nvSpPr>
        <p:spPr>
          <a:xfrm>
            <a:off x="578346" y="1620865"/>
            <a:ext cx="3505200" cy="3881034"/>
          </a:xfrm>
          <a:prstGeom prst="rect">
            <a:avLst/>
          </a:prstGeom>
          <a:noFill/>
          <a:ln w="28575">
            <a:solidFill>
              <a:srgbClr val="0000FF"/>
            </a:solidFill>
          </a:ln>
        </p:spPr>
        <p:txBody>
          <a:bodyPr vert="horz" wrap="square" lIns="91440" tIns="45720" rIns="91440" bIns="45720" anchor="t"/>
          <a:lstStyle/>
          <a:p>
            <a:pPr marL="0" lvl="1" algn="just">
              <a:spcBef>
                <a:spcPct val="20000"/>
              </a:spcBef>
              <a:buClr>
                <a:schemeClr val="accent1"/>
              </a:buClr>
              <a:buSzPct val="85000"/>
            </a:pPr>
            <a:endParaRPr lang="en-US" sz="2400"/>
          </a:p>
          <a:p>
            <a:pPr marL="0" lvl="1" algn="just">
              <a:spcBef>
                <a:spcPct val="20000"/>
              </a:spcBef>
              <a:buClr>
                <a:schemeClr val="accent1"/>
              </a:buClr>
              <a:buSzPct val="85000"/>
            </a:pPr>
            <a:r>
              <a:rPr sz="2400" b="1"/>
              <a:t>TIÊU CHÍ ĐÁNH GIÁ</a:t>
            </a:r>
          </a:p>
          <a:p>
            <a:pPr marL="246063" lvl="1" indent="-246063" algn="just">
              <a:spcBef>
                <a:spcPct val="20000"/>
              </a:spcBef>
              <a:buClr>
                <a:schemeClr val="accent1"/>
              </a:buClr>
              <a:buSzPct val="85000"/>
              <a:buFont typeface="Wingdings 2"/>
              <a:buChar char=""/>
            </a:pPr>
            <a:endParaRPr sz="2400"/>
          </a:p>
          <a:p>
            <a:pPr marL="246063" lvl="1" indent="-246063" algn="just">
              <a:spcBef>
                <a:spcPct val="20000"/>
              </a:spcBef>
              <a:buClr>
                <a:schemeClr val="accent1"/>
              </a:buClr>
              <a:buSzPct val="85000"/>
              <a:buFont typeface="Wingdings 2"/>
              <a:buChar char=""/>
            </a:pPr>
            <a:r>
              <a:rPr sz="2400" err="1"/>
              <a:t>Chất</a:t>
            </a:r>
            <a:r>
              <a:rPr sz="2400"/>
              <a:t> </a:t>
            </a:r>
            <a:r>
              <a:rPr sz="2400" err="1"/>
              <a:t>lượng</a:t>
            </a:r>
            <a:r>
              <a:rPr sz="2400"/>
              <a:t> </a:t>
            </a:r>
            <a:r>
              <a:rPr sz="2400" err="1"/>
              <a:t>sản</a:t>
            </a:r>
            <a:r>
              <a:rPr sz="2400"/>
              <a:t> </a:t>
            </a:r>
            <a:r>
              <a:rPr sz="2400" err="1"/>
              <a:t>phẩm</a:t>
            </a:r>
            <a:endParaRPr sz="2400"/>
          </a:p>
          <a:p>
            <a:pPr marL="246063" lvl="1" indent="-246063" algn="just">
              <a:spcBef>
                <a:spcPct val="20000"/>
              </a:spcBef>
              <a:buClr>
                <a:schemeClr val="accent1"/>
              </a:buClr>
              <a:buSzPct val="85000"/>
              <a:buFont typeface="Wingdings 2"/>
              <a:buChar char=""/>
            </a:pPr>
            <a:r>
              <a:rPr sz="2400" err="1"/>
              <a:t>Năng</a:t>
            </a:r>
            <a:r>
              <a:rPr sz="2400"/>
              <a:t> </a:t>
            </a:r>
            <a:r>
              <a:rPr sz="2400" err="1"/>
              <a:t>lực</a:t>
            </a:r>
            <a:r>
              <a:rPr sz="2400"/>
              <a:t> </a:t>
            </a:r>
            <a:r>
              <a:rPr sz="2400" err="1"/>
              <a:t>sản</a:t>
            </a:r>
            <a:r>
              <a:rPr sz="2400"/>
              <a:t> </a:t>
            </a:r>
            <a:r>
              <a:rPr sz="2400" err="1"/>
              <a:t>xuất</a:t>
            </a:r>
            <a:endParaRPr sz="2400"/>
          </a:p>
          <a:p>
            <a:pPr marL="246063" lvl="1" indent="-246063" algn="just">
              <a:spcBef>
                <a:spcPct val="20000"/>
              </a:spcBef>
              <a:buClr>
                <a:schemeClr val="accent1"/>
              </a:buClr>
              <a:buSzPct val="85000"/>
              <a:buFont typeface="Wingdings 2"/>
              <a:buChar char=""/>
            </a:pPr>
            <a:r>
              <a:rPr sz="2400" err="1"/>
              <a:t>Giá</a:t>
            </a:r>
            <a:r>
              <a:rPr sz="2400"/>
              <a:t> </a:t>
            </a:r>
            <a:r>
              <a:rPr sz="2400" err="1"/>
              <a:t>và</a:t>
            </a:r>
            <a:r>
              <a:rPr sz="2400"/>
              <a:t> </a:t>
            </a:r>
            <a:r>
              <a:rPr sz="2400" err="1"/>
              <a:t>thanh</a:t>
            </a:r>
            <a:r>
              <a:rPr sz="2400"/>
              <a:t> </a:t>
            </a:r>
            <a:r>
              <a:rPr sz="2400" err="1"/>
              <a:t>toán</a:t>
            </a:r>
            <a:endParaRPr sz="2400"/>
          </a:p>
          <a:p>
            <a:pPr marL="246063" lvl="1" indent="-246063" algn="just">
              <a:spcBef>
                <a:spcPct val="20000"/>
              </a:spcBef>
              <a:buClr>
                <a:schemeClr val="accent1"/>
              </a:buClr>
              <a:buSzPct val="85000"/>
              <a:buFont typeface="Wingdings 2"/>
              <a:buChar char=""/>
            </a:pPr>
            <a:r>
              <a:rPr sz="2400"/>
              <a:t>Giao </a:t>
            </a:r>
            <a:r>
              <a:rPr sz="2400" err="1"/>
              <a:t>hàng</a:t>
            </a:r>
            <a:r>
              <a:rPr sz="2400"/>
              <a:t> </a:t>
            </a:r>
            <a:r>
              <a:rPr sz="2400" err="1"/>
              <a:t>đúng</a:t>
            </a:r>
            <a:r>
              <a:rPr sz="2400"/>
              <a:t> </a:t>
            </a:r>
            <a:r>
              <a:rPr sz="2400" err="1"/>
              <a:t>hạn</a:t>
            </a:r>
            <a:endParaRPr sz="2400"/>
          </a:p>
          <a:p>
            <a:pPr marL="246063" lvl="1" indent="-246063" algn="just">
              <a:spcBef>
                <a:spcPct val="20000"/>
              </a:spcBef>
              <a:buClr>
                <a:schemeClr val="accent1"/>
              </a:buClr>
              <a:buSzPct val="85000"/>
              <a:buFont typeface="Wingdings 2"/>
              <a:buChar char=""/>
            </a:pPr>
            <a:r>
              <a:rPr sz="2400" err="1"/>
              <a:t>Dịch</a:t>
            </a:r>
            <a:r>
              <a:rPr sz="2400"/>
              <a:t> </a:t>
            </a:r>
            <a:r>
              <a:rPr sz="2400" err="1"/>
              <a:t>vụ</a:t>
            </a:r>
            <a:r>
              <a:rPr sz="2400"/>
              <a:t> </a:t>
            </a:r>
            <a:r>
              <a:rPr sz="2400" err="1"/>
              <a:t>và</a:t>
            </a:r>
            <a:r>
              <a:rPr sz="2400"/>
              <a:t> </a:t>
            </a:r>
            <a:r>
              <a:rPr sz="2400" err="1"/>
              <a:t>hỗ</a:t>
            </a:r>
            <a:r>
              <a:rPr sz="2400"/>
              <a:t> </a:t>
            </a:r>
            <a:r>
              <a:rPr sz="2400" err="1"/>
              <a:t>trợ</a:t>
            </a:r>
            <a:r>
              <a:rPr sz="2400"/>
              <a:t> </a:t>
            </a:r>
            <a:r>
              <a:rPr sz="2400" err="1"/>
              <a:t>kỹ</a:t>
            </a:r>
            <a:r>
              <a:rPr sz="2400"/>
              <a:t> </a:t>
            </a:r>
            <a:r>
              <a:rPr sz="2400" err="1"/>
              <a:t>thuật</a:t>
            </a:r>
            <a:endParaRPr sz="2400"/>
          </a:p>
        </p:txBody>
      </p:sp>
      <p:sp>
        <p:nvSpPr>
          <p:cNvPr id="6" name="Rectangle 3">
            <a:extLst>
              <a:ext uri="{FF2B5EF4-FFF2-40B4-BE49-F238E27FC236}">
                <a16:creationId xmlns:a16="http://schemas.microsoft.com/office/drawing/2014/main" id="{31330ECE-2D47-48F1-A504-71EDDCE86E25}"/>
              </a:ext>
            </a:extLst>
          </p:cNvPr>
          <p:cNvSpPr>
            <a:spLocks noGrp="1"/>
          </p:cNvSpPr>
          <p:nvPr/>
        </p:nvSpPr>
        <p:spPr>
          <a:xfrm>
            <a:off x="4607064" y="1620865"/>
            <a:ext cx="7006590" cy="3881034"/>
          </a:xfrm>
          <a:prstGeom prst="rect">
            <a:avLst/>
          </a:prstGeom>
          <a:noFill/>
          <a:ln w="28575">
            <a:solidFill>
              <a:srgbClr val="0000FF"/>
            </a:solidFill>
          </a:ln>
        </p:spPr>
        <p:txBody>
          <a:bodyPr vert="horz" wrap="square" lIns="91440" tIns="45720" rIns="91440" bIns="45720" anchor="t"/>
          <a:lstStyle/>
          <a:p>
            <a:pPr lvl="1">
              <a:lnSpc>
                <a:spcPct val="90000"/>
              </a:lnSpc>
              <a:spcBef>
                <a:spcPct val="20000"/>
              </a:spcBef>
              <a:buClr>
                <a:schemeClr val="accent1"/>
              </a:buClr>
              <a:buSzPct val="85000"/>
              <a:buNone/>
            </a:pPr>
            <a:endParaRPr lang="en-US" sz="2400">
              <a:solidFill>
                <a:srgbClr val="C00000"/>
              </a:solidFill>
            </a:endParaRPr>
          </a:p>
          <a:p>
            <a:pPr lvl="1">
              <a:lnSpc>
                <a:spcPct val="90000"/>
              </a:lnSpc>
              <a:spcBef>
                <a:spcPct val="20000"/>
              </a:spcBef>
              <a:buClr>
                <a:schemeClr val="accent1"/>
              </a:buClr>
              <a:buSzPct val="85000"/>
              <a:buNone/>
            </a:pPr>
            <a:r>
              <a:rPr sz="2400" b="1">
                <a:solidFill>
                  <a:srgbClr val="C00000"/>
                </a:solidFill>
              </a:rPr>
              <a:t>QUYẾT ĐỊNH HỢP TÁC</a:t>
            </a:r>
          </a:p>
          <a:p>
            <a:pPr marL="246063" lvl="1" indent="-246063">
              <a:lnSpc>
                <a:spcPct val="90000"/>
              </a:lnSpc>
              <a:spcBef>
                <a:spcPct val="20000"/>
              </a:spcBef>
              <a:buClr>
                <a:schemeClr val="accent1"/>
              </a:buClr>
              <a:buSzPct val="85000"/>
              <a:buFontTx/>
              <a:buChar char="-"/>
            </a:pPr>
            <a:endParaRPr sz="2400">
              <a:solidFill>
                <a:srgbClr val="C00000"/>
              </a:solidFill>
            </a:endParaRPr>
          </a:p>
          <a:p>
            <a:pPr marL="246063" lvl="1" indent="-246063">
              <a:lnSpc>
                <a:spcPct val="90000"/>
              </a:lnSpc>
              <a:spcBef>
                <a:spcPct val="20000"/>
              </a:spcBef>
              <a:buClr>
                <a:schemeClr val="accent1"/>
              </a:buClr>
              <a:buSzPct val="85000"/>
              <a:buFontTx/>
              <a:buChar char="-"/>
            </a:pPr>
            <a:r>
              <a:rPr sz="2400">
                <a:solidFill>
                  <a:srgbClr val="C00000"/>
                </a:solidFill>
              </a:rPr>
              <a:t>So </a:t>
            </a:r>
            <a:r>
              <a:rPr sz="2400" err="1">
                <a:solidFill>
                  <a:srgbClr val="C00000"/>
                </a:solidFill>
              </a:rPr>
              <a:t>sánh</a:t>
            </a:r>
            <a:r>
              <a:rPr sz="2400">
                <a:solidFill>
                  <a:srgbClr val="C00000"/>
                </a:solidFill>
              </a:rPr>
              <a:t> </a:t>
            </a:r>
            <a:r>
              <a:rPr sz="2400" err="1">
                <a:solidFill>
                  <a:srgbClr val="C00000"/>
                </a:solidFill>
              </a:rPr>
              <a:t>điểm</a:t>
            </a:r>
            <a:r>
              <a:rPr sz="2400">
                <a:solidFill>
                  <a:srgbClr val="C00000"/>
                </a:solidFill>
              </a:rPr>
              <a:t> </a:t>
            </a:r>
            <a:r>
              <a:rPr sz="2400" err="1">
                <a:solidFill>
                  <a:srgbClr val="C00000"/>
                </a:solidFill>
              </a:rPr>
              <a:t>mạnh</a:t>
            </a:r>
            <a:r>
              <a:rPr sz="2400">
                <a:solidFill>
                  <a:srgbClr val="C00000"/>
                </a:solidFill>
              </a:rPr>
              <a:t> – </a:t>
            </a:r>
            <a:r>
              <a:rPr sz="2400" err="1">
                <a:solidFill>
                  <a:srgbClr val="C00000"/>
                </a:solidFill>
              </a:rPr>
              <a:t>điểm</a:t>
            </a:r>
            <a:r>
              <a:rPr sz="2400">
                <a:solidFill>
                  <a:srgbClr val="C00000"/>
                </a:solidFill>
              </a:rPr>
              <a:t> </a:t>
            </a:r>
            <a:r>
              <a:rPr sz="2400" err="1">
                <a:solidFill>
                  <a:srgbClr val="C00000"/>
                </a:solidFill>
              </a:rPr>
              <a:t>yếu</a:t>
            </a:r>
            <a:endParaRPr sz="2400">
              <a:solidFill>
                <a:srgbClr val="C00000"/>
              </a:solidFill>
            </a:endParaRPr>
          </a:p>
          <a:p>
            <a:pPr marL="246063" lvl="1" indent="-246063">
              <a:lnSpc>
                <a:spcPct val="90000"/>
              </a:lnSpc>
              <a:spcBef>
                <a:spcPct val="20000"/>
              </a:spcBef>
              <a:buClr>
                <a:schemeClr val="accent1"/>
              </a:buClr>
              <a:buSzPct val="85000"/>
              <a:buFontTx/>
              <a:buChar char="-"/>
            </a:pPr>
            <a:endParaRPr sz="2400">
              <a:solidFill>
                <a:srgbClr val="C00000"/>
              </a:solidFill>
            </a:endParaRPr>
          </a:p>
          <a:p>
            <a:pPr marL="246063" lvl="1" indent="-246063">
              <a:lnSpc>
                <a:spcPct val="90000"/>
              </a:lnSpc>
              <a:spcBef>
                <a:spcPct val="20000"/>
              </a:spcBef>
              <a:buClr>
                <a:schemeClr val="accent1"/>
              </a:buClr>
              <a:buSzPct val="85000"/>
              <a:buFontTx/>
              <a:buChar char="-"/>
            </a:pPr>
            <a:r>
              <a:rPr sz="2400" err="1">
                <a:solidFill>
                  <a:srgbClr val="C00000"/>
                </a:solidFill>
              </a:rPr>
              <a:t>Lựa</a:t>
            </a:r>
            <a:r>
              <a:rPr sz="2400">
                <a:solidFill>
                  <a:srgbClr val="C00000"/>
                </a:solidFill>
              </a:rPr>
              <a:t> </a:t>
            </a:r>
            <a:r>
              <a:rPr sz="2400" err="1">
                <a:solidFill>
                  <a:srgbClr val="C00000"/>
                </a:solidFill>
              </a:rPr>
              <a:t>chọn</a:t>
            </a:r>
            <a:r>
              <a:rPr sz="2400">
                <a:solidFill>
                  <a:srgbClr val="C00000"/>
                </a:solidFill>
              </a:rPr>
              <a:t> </a:t>
            </a:r>
            <a:r>
              <a:rPr sz="2400" err="1">
                <a:solidFill>
                  <a:srgbClr val="C00000"/>
                </a:solidFill>
              </a:rPr>
              <a:t>nhà</a:t>
            </a:r>
            <a:r>
              <a:rPr sz="2400">
                <a:solidFill>
                  <a:srgbClr val="C00000"/>
                </a:solidFill>
              </a:rPr>
              <a:t> </a:t>
            </a:r>
            <a:r>
              <a:rPr sz="2400" err="1">
                <a:solidFill>
                  <a:srgbClr val="C00000"/>
                </a:solidFill>
              </a:rPr>
              <a:t>cung</a:t>
            </a:r>
            <a:r>
              <a:rPr sz="2400">
                <a:solidFill>
                  <a:srgbClr val="C00000"/>
                </a:solidFill>
              </a:rPr>
              <a:t> </a:t>
            </a:r>
            <a:r>
              <a:rPr sz="2400" err="1">
                <a:solidFill>
                  <a:srgbClr val="C00000"/>
                </a:solidFill>
              </a:rPr>
              <a:t>cấp</a:t>
            </a:r>
            <a:r>
              <a:rPr sz="2400">
                <a:solidFill>
                  <a:srgbClr val="C00000"/>
                </a:solidFill>
              </a:rPr>
              <a:t> </a:t>
            </a:r>
            <a:r>
              <a:rPr sz="2400" err="1">
                <a:solidFill>
                  <a:srgbClr val="C00000"/>
                </a:solidFill>
              </a:rPr>
              <a:t>phù</a:t>
            </a:r>
            <a:r>
              <a:rPr sz="2400">
                <a:solidFill>
                  <a:srgbClr val="C00000"/>
                </a:solidFill>
              </a:rPr>
              <a:t> </a:t>
            </a:r>
            <a:r>
              <a:rPr sz="2400" err="1">
                <a:solidFill>
                  <a:srgbClr val="C00000"/>
                </a:solidFill>
              </a:rPr>
              <a:t>hợp</a:t>
            </a:r>
            <a:endParaRPr sz="2400">
              <a:solidFill>
                <a:srgbClr val="C00000"/>
              </a:solidFill>
            </a:endParaRPr>
          </a:p>
          <a:p>
            <a:pPr marL="246063" lvl="1" indent="-246063">
              <a:lnSpc>
                <a:spcPct val="90000"/>
              </a:lnSpc>
              <a:spcBef>
                <a:spcPct val="20000"/>
              </a:spcBef>
              <a:buClr>
                <a:schemeClr val="accent1"/>
              </a:buClr>
              <a:buSzPct val="85000"/>
              <a:buFontTx/>
              <a:buChar char="-"/>
            </a:pPr>
            <a:endParaRPr sz="2400" kern="1200">
              <a:solidFill>
                <a:srgbClr val="C00000"/>
              </a:solidFill>
              <a:latin typeface="+mn-lt"/>
              <a:ea typeface="+mn-lt"/>
              <a:cs typeface="+mn-lt"/>
            </a:endParaRPr>
          </a:p>
          <a:p>
            <a:pPr marL="246063" lvl="1" indent="-246063">
              <a:lnSpc>
                <a:spcPct val="90000"/>
              </a:lnSpc>
              <a:spcBef>
                <a:spcPct val="20000"/>
              </a:spcBef>
              <a:buClr>
                <a:schemeClr val="accent1"/>
              </a:buClr>
              <a:buSzPct val="85000"/>
              <a:buFontTx/>
              <a:buChar char="-"/>
            </a:pPr>
            <a:r>
              <a:rPr sz="2400">
                <a:solidFill>
                  <a:srgbClr val="C00000"/>
                </a:solidFill>
              </a:rPr>
              <a:t>Duy </a:t>
            </a:r>
            <a:r>
              <a:rPr sz="2400" err="1">
                <a:solidFill>
                  <a:srgbClr val="C00000"/>
                </a:solidFill>
              </a:rPr>
              <a:t>trì</a:t>
            </a:r>
            <a:r>
              <a:rPr sz="2400">
                <a:solidFill>
                  <a:srgbClr val="C00000"/>
                </a:solidFill>
              </a:rPr>
              <a:t> </a:t>
            </a:r>
            <a:r>
              <a:rPr sz="2400" err="1">
                <a:solidFill>
                  <a:srgbClr val="C00000"/>
                </a:solidFill>
              </a:rPr>
              <a:t>hoặc</a:t>
            </a:r>
            <a:r>
              <a:rPr sz="2400">
                <a:solidFill>
                  <a:srgbClr val="C00000"/>
                </a:solidFill>
              </a:rPr>
              <a:t> </a:t>
            </a:r>
            <a:r>
              <a:rPr sz="2400" err="1">
                <a:solidFill>
                  <a:srgbClr val="C00000"/>
                </a:solidFill>
              </a:rPr>
              <a:t>thay</a:t>
            </a:r>
            <a:r>
              <a:rPr sz="2400">
                <a:solidFill>
                  <a:srgbClr val="C00000"/>
                </a:solidFill>
              </a:rPr>
              <a:t> </a:t>
            </a:r>
            <a:r>
              <a:rPr sz="2400" err="1">
                <a:solidFill>
                  <a:srgbClr val="C00000"/>
                </a:solidFill>
              </a:rPr>
              <a:t>thế</a:t>
            </a:r>
            <a:r>
              <a:rPr sz="2400">
                <a:solidFill>
                  <a:srgbClr val="C00000"/>
                </a:solidFill>
              </a:rPr>
              <a:t> </a:t>
            </a:r>
            <a:r>
              <a:rPr sz="2400" err="1">
                <a:solidFill>
                  <a:srgbClr val="C00000"/>
                </a:solidFill>
              </a:rPr>
              <a:t>nhà</a:t>
            </a:r>
            <a:r>
              <a:rPr sz="2400">
                <a:solidFill>
                  <a:srgbClr val="C00000"/>
                </a:solidFill>
              </a:rPr>
              <a:t> </a:t>
            </a:r>
            <a:r>
              <a:rPr sz="2400" err="1">
                <a:solidFill>
                  <a:srgbClr val="C00000"/>
                </a:solidFill>
              </a:rPr>
              <a:t>cung</a:t>
            </a:r>
            <a:r>
              <a:rPr sz="2400">
                <a:solidFill>
                  <a:srgbClr val="C00000"/>
                </a:solidFill>
              </a:rPr>
              <a:t> </a:t>
            </a:r>
            <a:r>
              <a:rPr sz="2400" err="1">
                <a:solidFill>
                  <a:srgbClr val="C00000"/>
                </a:solidFill>
              </a:rPr>
              <a:t>cấp</a:t>
            </a:r>
            <a:endParaRPr sz="2400" kern="1200">
              <a:solidFill>
                <a:srgbClr val="C00000"/>
              </a:solidFill>
              <a:latin typeface="+mn-lt"/>
              <a:ea typeface="+mn-lt"/>
              <a:cs typeface="+mn-lt"/>
            </a:endParaRPr>
          </a:p>
        </p:txBody>
      </p:sp>
      <p:sp>
        <p:nvSpPr>
          <p:cNvPr id="7" name="Right Arrow 6">
            <a:extLst>
              <a:ext uri="{FF2B5EF4-FFF2-40B4-BE49-F238E27FC236}">
                <a16:creationId xmlns:a16="http://schemas.microsoft.com/office/drawing/2014/main" id="{A1CC904C-B9A1-45D1-A13F-537D81A4B031}"/>
              </a:ext>
            </a:extLst>
          </p:cNvPr>
          <p:cNvSpPr>
            <a:spLocks noGrp="1"/>
          </p:cNvSpPr>
          <p:nvPr/>
        </p:nvSpPr>
        <p:spPr>
          <a:xfrm>
            <a:off x="4144248" y="3314700"/>
            <a:ext cx="381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Content Placeholder 2">
            <a:extLst>
              <a:ext uri="{FF2B5EF4-FFF2-40B4-BE49-F238E27FC236}">
                <a16:creationId xmlns:a16="http://schemas.microsoft.com/office/drawing/2014/main" id="{544833F4-7A64-1597-A5E2-5881038A4263}"/>
              </a:ext>
            </a:extLst>
          </p:cNvPr>
          <p:cNvSpPr>
            <a:spLocks noGrp="1"/>
          </p:cNvSpPr>
          <p:nvPr/>
        </p:nvSpPr>
        <p:spPr>
          <a:xfrm>
            <a:off x="262890" y="364210"/>
            <a:ext cx="10207506" cy="721640"/>
          </a:xfrm>
          <a:prstGeom prst="rect">
            <a:avLst/>
          </a:prstGeom>
          <a:noFill/>
          <a:ln>
            <a:noFill/>
          </a:ln>
        </p:spPr>
        <p:txBody>
          <a:bodyPr vert="horz" wrap="square" lIns="91440" tIns="45720" rIns="91440" bIns="45720" anchor="t"/>
          <a:lstStyle>
            <a:lvl1pPr marL="228600" indent="-228600" algn="l">
              <a:lnSpc>
                <a:spcPct val="90000"/>
              </a:lnSpc>
              <a:spcBef>
                <a:spcPts val="1000"/>
              </a:spcBef>
              <a:spcAft>
                <a:spcPct val="0"/>
              </a:spcAft>
              <a:buFont typeface="Arial"/>
              <a:buChar char="•"/>
              <a:defRPr sz="2800" kern="1200">
                <a:solidFill>
                  <a:schemeClr val="tx1"/>
                </a:solidFill>
                <a:latin typeface="+mn-lt"/>
                <a:ea typeface="+mn-lt"/>
                <a:cs typeface="+mn-lt"/>
              </a:defRPr>
            </a:lvl1pPr>
            <a:lvl2pPr marL="685800" indent="-228600" algn="l">
              <a:lnSpc>
                <a:spcPct val="90000"/>
              </a:lnSpc>
              <a:spcBef>
                <a:spcPts val="500"/>
              </a:spcBef>
              <a:spcAft>
                <a:spcPct val="0"/>
              </a:spcAft>
              <a:buFont typeface="Arial"/>
              <a:buChar char="•"/>
              <a:defRPr sz="2400" kern="1200">
                <a:solidFill>
                  <a:schemeClr val="tx1"/>
                </a:solidFill>
                <a:latin typeface="+mn-lt"/>
                <a:ea typeface="+mn-lt"/>
                <a:cs typeface="+mn-lt"/>
              </a:defRPr>
            </a:lvl2pPr>
            <a:lvl3pPr marL="1143000" indent="-228600" algn="l">
              <a:lnSpc>
                <a:spcPct val="90000"/>
              </a:lnSpc>
              <a:spcBef>
                <a:spcPts val="500"/>
              </a:spcBef>
              <a:spcAft>
                <a:spcPct val="0"/>
              </a:spcAft>
              <a:buFont typeface="Arial"/>
              <a:buChar char="•"/>
              <a:defRPr sz="2000" kern="1200">
                <a:solidFill>
                  <a:schemeClr val="tx1"/>
                </a:solidFill>
                <a:latin typeface="+mn-lt"/>
                <a:ea typeface="+mn-lt"/>
                <a:cs typeface="+mn-lt"/>
              </a:defRPr>
            </a:lvl3pPr>
            <a:lvl4pPr marL="1600200" indent="-228600" algn="l">
              <a:lnSpc>
                <a:spcPct val="90000"/>
              </a:lnSpc>
              <a:spcBef>
                <a:spcPts val="500"/>
              </a:spcBef>
              <a:spcAft>
                <a:spcPct val="0"/>
              </a:spcAft>
              <a:buFont typeface="Arial"/>
              <a:buChar char="•"/>
              <a:defRPr kern="1200">
                <a:solidFill>
                  <a:schemeClr val="tx1"/>
                </a:solidFill>
                <a:latin typeface="+mn-lt"/>
                <a:ea typeface="+mn-lt"/>
                <a:cs typeface="+mn-lt"/>
              </a:defRPr>
            </a:lvl4pPr>
            <a:lvl5pPr marL="2057400" indent="-228600" algn="l">
              <a:lnSpc>
                <a:spcPct val="90000"/>
              </a:lnSpc>
              <a:spcBef>
                <a:spcPts val="500"/>
              </a:spcBef>
              <a:spcAft>
                <a:spcPct val="0"/>
              </a:spcAft>
              <a:buFont typeface="Arial"/>
              <a:buChar char="•"/>
              <a:defRPr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pPr>
            <a:r>
              <a:rPr sz="2600" b="1"/>
              <a:t>7.</a:t>
            </a:r>
            <a:r>
              <a:rPr lang="en-US" sz="2600" b="1"/>
              <a:t>3</a:t>
            </a:r>
            <a:r>
              <a:rPr sz="2600" b="1"/>
              <a:t>.4.1. </a:t>
            </a:r>
            <a:r>
              <a:rPr lang="en-US" sz="2600" b="1" err="1"/>
              <a:t>Phân</a:t>
            </a:r>
            <a:r>
              <a:rPr lang="en-US" sz="2600" b="1"/>
              <a:t> </a:t>
            </a:r>
            <a:r>
              <a:rPr lang="en-US" sz="2600" b="1" err="1"/>
              <a:t>tích</a:t>
            </a:r>
            <a:r>
              <a:rPr lang="en-US" sz="2600" b="1"/>
              <a:t> </a:t>
            </a:r>
            <a:r>
              <a:rPr lang="en-US" sz="2600" b="1" err="1"/>
              <a:t>người</a:t>
            </a:r>
            <a:r>
              <a:rPr lang="en-US" sz="2600" b="1"/>
              <a:t> </a:t>
            </a:r>
            <a:r>
              <a:rPr lang="en-US" sz="2600" b="1" err="1"/>
              <a:t>bán</a:t>
            </a:r>
            <a:endParaRPr sz="2600" b="1"/>
          </a:p>
        </p:txBody>
      </p:sp>
    </p:spTree>
    <p:extLst>
      <p:ext uri="{BB962C8B-B14F-4D97-AF65-F5344CB8AC3E}">
        <p14:creationId xmlns:p14="http://schemas.microsoft.com/office/powerpoint/2010/main" val="306396841"/>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27C8321A-E68A-4179-A435-321132FD0FBB}"/>
              </a:ext>
            </a:extLst>
          </p:cNvPr>
          <p:cNvSpPr>
            <a:spLocks noGrp="1"/>
          </p:cNvSpPr>
          <p:nvPr/>
        </p:nvSpPr>
        <p:spPr>
          <a:xfrm>
            <a:off x="388620" y="1325880"/>
            <a:ext cx="11452860" cy="5086349"/>
          </a:xfrm>
          <a:prstGeom prst="rect">
            <a:avLst/>
          </a:prstGeom>
          <a:noFill/>
          <a:ln w="9525">
            <a:noFill/>
          </a:ln>
        </p:spPr>
        <p:txBody>
          <a:bodyPr vert="horz" wrap="square" lIns="91440" tIns="45720" rIns="91440" bIns="45720" anchor="t"/>
          <a:lstStyle/>
          <a:p>
            <a:r>
              <a:rPr sz="2600"/>
              <a:t>BỐN LỚP GIÁ TRỊ CẦN ĐÁNH GIÁ</a:t>
            </a:r>
          </a:p>
          <a:p>
            <a:pPr marL="393700" lvl="1">
              <a:spcBef>
                <a:spcPct val="20000"/>
              </a:spcBef>
              <a:buClr>
                <a:schemeClr val="accent1"/>
              </a:buClr>
              <a:buSzPct val="85000"/>
            </a:pPr>
            <a:endParaRPr lang="en-US" sz="2400"/>
          </a:p>
          <a:p>
            <a:pPr marL="393700" lvl="1">
              <a:spcBef>
                <a:spcPct val="20000"/>
              </a:spcBef>
              <a:buClr>
                <a:schemeClr val="accent1"/>
              </a:buClr>
              <a:buSzPct val="85000"/>
            </a:pPr>
            <a:endParaRPr sz="2400"/>
          </a:p>
          <a:p>
            <a:pPr marL="639763" lvl="1" indent="-246063">
              <a:spcBef>
                <a:spcPct val="20000"/>
              </a:spcBef>
              <a:buClr>
                <a:schemeClr val="accent1"/>
              </a:buClr>
              <a:buSzPct val="85000"/>
              <a:buFont typeface="Wingdings 2"/>
              <a:buChar char=""/>
            </a:pPr>
            <a:r>
              <a:rPr sz="2400"/>
              <a:t>1. </a:t>
            </a:r>
            <a:r>
              <a:rPr sz="2400" err="1"/>
              <a:t>Phù</a:t>
            </a:r>
            <a:r>
              <a:rPr sz="2400"/>
              <a:t> </a:t>
            </a:r>
            <a:r>
              <a:rPr sz="2400" err="1"/>
              <a:t>hợp</a:t>
            </a:r>
            <a:r>
              <a:rPr sz="2400"/>
              <a:t> </a:t>
            </a:r>
            <a:r>
              <a:rPr sz="2400" err="1"/>
              <a:t>nhu</a:t>
            </a:r>
            <a:r>
              <a:rPr sz="2400"/>
              <a:t> </a:t>
            </a:r>
            <a:r>
              <a:rPr sz="2400" err="1"/>
              <a:t>cầu</a:t>
            </a:r>
            <a:endParaRPr sz="2400"/>
          </a:p>
          <a:p>
            <a:pPr marL="639763" lvl="1" indent="-246063">
              <a:spcBef>
                <a:spcPct val="20000"/>
              </a:spcBef>
              <a:buClr>
                <a:schemeClr val="accent1"/>
              </a:buClr>
              <a:buSzPct val="85000"/>
              <a:buFont typeface="Wingdings 2"/>
              <a:buChar char=""/>
            </a:pPr>
            <a:r>
              <a:rPr sz="2400" b="1">
                <a:solidFill>
                  <a:schemeClr val="tx1"/>
                </a:solidFill>
                <a:latin typeface="+mn-lt"/>
                <a:ea typeface="+mn-lt"/>
                <a:cs typeface="+mn-lt"/>
              </a:rPr>
              <a:t>2. </a:t>
            </a:r>
            <a:r>
              <a:rPr sz="2400" b="1" err="1">
                <a:solidFill>
                  <a:schemeClr val="tx1"/>
                </a:solidFill>
                <a:latin typeface="+mn-lt"/>
                <a:ea typeface="+mn-lt"/>
                <a:cs typeface="+mn-lt"/>
              </a:rPr>
              <a:t>Lợi</a:t>
            </a:r>
            <a:r>
              <a:rPr sz="2400" b="1">
                <a:solidFill>
                  <a:schemeClr val="tx1"/>
                </a:solidFill>
                <a:latin typeface="+mn-lt"/>
                <a:ea typeface="+mn-lt"/>
                <a:cs typeface="+mn-lt"/>
              </a:rPr>
              <a:t> </a:t>
            </a:r>
            <a:r>
              <a:rPr sz="2400" b="1" err="1">
                <a:solidFill>
                  <a:schemeClr val="tx1"/>
                </a:solidFill>
                <a:latin typeface="+mn-lt"/>
                <a:ea typeface="+mn-lt"/>
                <a:cs typeface="+mn-lt"/>
              </a:rPr>
              <a:t>ích</a:t>
            </a:r>
            <a:r>
              <a:rPr sz="2400" b="1">
                <a:solidFill>
                  <a:schemeClr val="tx1"/>
                </a:solidFill>
                <a:latin typeface="+mn-lt"/>
                <a:ea typeface="+mn-lt"/>
                <a:cs typeface="+mn-lt"/>
              </a:rPr>
              <a:t> / </a:t>
            </a:r>
            <a:r>
              <a:rPr sz="2400" b="1" err="1">
                <a:solidFill>
                  <a:schemeClr val="tx1"/>
                </a:solidFill>
                <a:latin typeface="+mn-lt"/>
                <a:ea typeface="+mn-lt"/>
                <a:cs typeface="+mn-lt"/>
              </a:rPr>
              <a:t>tổng</a:t>
            </a:r>
            <a:r>
              <a:rPr sz="2400" b="1">
                <a:solidFill>
                  <a:schemeClr val="tx1"/>
                </a:solidFill>
                <a:latin typeface="+mn-lt"/>
                <a:ea typeface="+mn-lt"/>
                <a:cs typeface="+mn-lt"/>
              </a:rPr>
              <a:t> chi </a:t>
            </a:r>
            <a:r>
              <a:rPr sz="2400" b="1" err="1">
                <a:solidFill>
                  <a:schemeClr val="tx1"/>
                </a:solidFill>
                <a:latin typeface="+mn-lt"/>
                <a:ea typeface="+mn-lt"/>
                <a:cs typeface="+mn-lt"/>
              </a:rPr>
              <a:t>phí</a:t>
            </a:r>
            <a:endParaRPr sz="2400" b="1" kern="1200">
              <a:solidFill>
                <a:schemeClr val="tx1"/>
              </a:solidFill>
              <a:latin typeface="+mn-lt"/>
              <a:ea typeface="+mn-lt"/>
              <a:cs typeface="+mn-lt"/>
            </a:endParaRPr>
          </a:p>
          <a:p>
            <a:pPr marL="639763" lvl="1" indent="-246063">
              <a:spcBef>
                <a:spcPct val="20000"/>
              </a:spcBef>
              <a:spcAft>
                <a:spcPct val="0"/>
              </a:spcAft>
              <a:buClr>
                <a:schemeClr val="accent1"/>
              </a:buClr>
              <a:buSzPct val="85000"/>
              <a:buFont typeface="Wingdings 2"/>
              <a:buChar char=""/>
            </a:pPr>
            <a:r>
              <a:rPr sz="2400" b="1">
                <a:solidFill>
                  <a:schemeClr val="tx1"/>
                </a:solidFill>
                <a:latin typeface="+mn-lt"/>
                <a:ea typeface="+mn-lt"/>
                <a:cs typeface="+mn-lt"/>
              </a:rPr>
              <a:t>3. </a:t>
            </a:r>
            <a:r>
              <a:rPr sz="2400" b="1" err="1">
                <a:solidFill>
                  <a:schemeClr val="tx1"/>
                </a:solidFill>
                <a:latin typeface="+mn-lt"/>
                <a:ea typeface="+mn-lt"/>
                <a:cs typeface="+mn-lt"/>
              </a:rPr>
              <a:t>Tự</a:t>
            </a:r>
            <a:r>
              <a:rPr sz="2400" b="1">
                <a:solidFill>
                  <a:schemeClr val="tx1"/>
                </a:solidFill>
                <a:latin typeface="+mn-lt"/>
                <a:ea typeface="+mn-lt"/>
                <a:cs typeface="+mn-lt"/>
              </a:rPr>
              <a:t> </a:t>
            </a:r>
            <a:r>
              <a:rPr sz="2400" b="1" err="1">
                <a:solidFill>
                  <a:schemeClr val="tx1"/>
                </a:solidFill>
                <a:latin typeface="+mn-lt"/>
                <a:ea typeface="+mn-lt"/>
                <a:cs typeface="+mn-lt"/>
              </a:rPr>
              <a:t>làm</a:t>
            </a:r>
            <a:r>
              <a:rPr sz="2400" b="1">
                <a:solidFill>
                  <a:schemeClr val="tx1"/>
                </a:solidFill>
                <a:latin typeface="+mn-lt"/>
                <a:ea typeface="+mn-lt"/>
                <a:cs typeface="+mn-lt"/>
              </a:rPr>
              <a:t> hay </a:t>
            </a:r>
            <a:r>
              <a:rPr sz="2400" b="1" err="1">
                <a:solidFill>
                  <a:schemeClr val="tx1"/>
                </a:solidFill>
                <a:latin typeface="+mn-lt"/>
                <a:ea typeface="+mn-lt"/>
                <a:cs typeface="+mn-lt"/>
              </a:rPr>
              <a:t>mua</a:t>
            </a:r>
            <a:r>
              <a:rPr sz="2400" b="1">
                <a:solidFill>
                  <a:schemeClr val="tx1"/>
                </a:solidFill>
                <a:latin typeface="+mn-lt"/>
                <a:ea typeface="+mn-lt"/>
                <a:cs typeface="+mn-lt"/>
              </a:rPr>
              <a:t> </a:t>
            </a:r>
            <a:r>
              <a:rPr sz="2400" b="1" err="1">
                <a:solidFill>
                  <a:schemeClr val="tx1"/>
                </a:solidFill>
                <a:latin typeface="+mn-lt"/>
                <a:ea typeface="+mn-lt"/>
                <a:cs typeface="+mn-lt"/>
              </a:rPr>
              <a:t>ngoài</a:t>
            </a:r>
            <a:endParaRPr sz="2400" b="1" kern="1200">
              <a:solidFill>
                <a:schemeClr val="tx1"/>
              </a:solidFill>
              <a:latin typeface="+mn-lt"/>
              <a:ea typeface="+mn-lt"/>
              <a:cs typeface="+mn-lt"/>
            </a:endParaRPr>
          </a:p>
          <a:p>
            <a:pPr marL="639763" lvl="1" indent="-246063">
              <a:spcBef>
                <a:spcPct val="20000"/>
              </a:spcBef>
              <a:spcAft>
                <a:spcPct val="0"/>
              </a:spcAft>
              <a:buClr>
                <a:schemeClr val="accent1"/>
              </a:buClr>
              <a:buSzPct val="85000"/>
              <a:buFont typeface="Wingdings 2"/>
              <a:buChar char=""/>
            </a:pPr>
            <a:r>
              <a:rPr sz="2400" b="1">
                <a:solidFill>
                  <a:schemeClr val="tx1"/>
                </a:solidFill>
                <a:latin typeface="+mn-lt"/>
                <a:ea typeface="+mn-lt"/>
                <a:cs typeface="+mn-lt"/>
              </a:rPr>
              <a:t>4. </a:t>
            </a:r>
            <a:r>
              <a:rPr sz="2400" b="1" err="1">
                <a:solidFill>
                  <a:schemeClr val="tx1"/>
                </a:solidFill>
                <a:latin typeface="+mn-lt"/>
                <a:ea typeface="+mn-lt"/>
                <a:cs typeface="+mn-lt"/>
              </a:rPr>
              <a:t>Hiệu</a:t>
            </a:r>
            <a:r>
              <a:rPr sz="2400" b="1">
                <a:solidFill>
                  <a:schemeClr val="tx1"/>
                </a:solidFill>
                <a:latin typeface="+mn-lt"/>
                <a:ea typeface="+mn-lt"/>
                <a:cs typeface="+mn-lt"/>
              </a:rPr>
              <a:t> </a:t>
            </a:r>
            <a:r>
              <a:rPr sz="2400" b="1" err="1">
                <a:solidFill>
                  <a:schemeClr val="tx1"/>
                </a:solidFill>
                <a:latin typeface="+mn-lt"/>
                <a:ea typeface="+mn-lt"/>
                <a:cs typeface="+mn-lt"/>
              </a:rPr>
              <a:t>quả</a:t>
            </a:r>
            <a:r>
              <a:rPr sz="2400" b="1">
                <a:solidFill>
                  <a:schemeClr val="tx1"/>
                </a:solidFill>
                <a:latin typeface="+mn-lt"/>
                <a:ea typeface="+mn-lt"/>
                <a:cs typeface="+mn-lt"/>
              </a:rPr>
              <a:t> </a:t>
            </a:r>
            <a:r>
              <a:rPr sz="2400" b="1" err="1">
                <a:solidFill>
                  <a:schemeClr val="tx1"/>
                </a:solidFill>
                <a:latin typeface="+mn-lt"/>
                <a:ea typeface="+mn-lt"/>
                <a:cs typeface="+mn-lt"/>
              </a:rPr>
              <a:t>đầu</a:t>
            </a:r>
            <a:r>
              <a:rPr sz="2400" b="1">
                <a:solidFill>
                  <a:schemeClr val="tx1"/>
                </a:solidFill>
                <a:latin typeface="+mn-lt"/>
                <a:ea typeface="+mn-lt"/>
                <a:cs typeface="+mn-lt"/>
              </a:rPr>
              <a:t> </a:t>
            </a:r>
            <a:r>
              <a:rPr sz="2400" b="1" err="1">
                <a:solidFill>
                  <a:schemeClr val="tx1"/>
                </a:solidFill>
                <a:latin typeface="+mn-lt"/>
                <a:ea typeface="+mn-lt"/>
                <a:cs typeface="+mn-lt"/>
              </a:rPr>
              <a:t>tư</a:t>
            </a:r>
            <a:endParaRPr sz="2400" b="1" kern="1200">
              <a:solidFill>
                <a:schemeClr val="tx1"/>
              </a:solidFill>
              <a:latin typeface="+mn-lt"/>
              <a:ea typeface="+mn-lt"/>
              <a:cs typeface="+mn-lt"/>
            </a:endParaRPr>
          </a:p>
        </p:txBody>
      </p:sp>
      <p:sp>
        <p:nvSpPr>
          <p:cNvPr id="6" name="Content Placeholder 2">
            <a:extLst>
              <a:ext uri="{FF2B5EF4-FFF2-40B4-BE49-F238E27FC236}">
                <a16:creationId xmlns:a16="http://schemas.microsoft.com/office/drawing/2014/main" id="{69E43A74-8BE2-973F-FE05-8124A659F400}"/>
              </a:ext>
            </a:extLst>
          </p:cNvPr>
          <p:cNvSpPr>
            <a:spLocks noGrp="1"/>
          </p:cNvSpPr>
          <p:nvPr/>
        </p:nvSpPr>
        <p:spPr>
          <a:xfrm>
            <a:off x="182880" y="445771"/>
            <a:ext cx="10607040" cy="556816"/>
          </a:xfrm>
          <a:prstGeom prst="rect">
            <a:avLst/>
          </a:prstGeom>
          <a:noFill/>
          <a:ln>
            <a:noFill/>
          </a:ln>
        </p:spPr>
        <p:txBody>
          <a:bodyPr vert="horz" wrap="square" lIns="91440" tIns="45720" rIns="91440" bIns="45720" anchor="t"/>
          <a:lstStyle>
            <a:lvl1pPr marL="228600" indent="-228600" algn="l">
              <a:lnSpc>
                <a:spcPct val="90000"/>
              </a:lnSpc>
              <a:spcBef>
                <a:spcPts val="1000"/>
              </a:spcBef>
              <a:spcAft>
                <a:spcPct val="0"/>
              </a:spcAft>
              <a:buFont typeface="Arial"/>
              <a:buChar char="•"/>
              <a:defRPr sz="2800" kern="1200">
                <a:solidFill>
                  <a:schemeClr val="tx1"/>
                </a:solidFill>
                <a:latin typeface="+mn-lt"/>
                <a:ea typeface="+mn-lt"/>
                <a:cs typeface="+mn-lt"/>
              </a:defRPr>
            </a:lvl1pPr>
            <a:lvl2pPr marL="685800" indent="-228600" algn="l">
              <a:lnSpc>
                <a:spcPct val="90000"/>
              </a:lnSpc>
              <a:spcBef>
                <a:spcPts val="500"/>
              </a:spcBef>
              <a:spcAft>
                <a:spcPct val="0"/>
              </a:spcAft>
              <a:buFont typeface="Arial"/>
              <a:buChar char="•"/>
              <a:defRPr sz="2400" kern="1200">
                <a:solidFill>
                  <a:schemeClr val="tx1"/>
                </a:solidFill>
                <a:latin typeface="+mn-lt"/>
                <a:ea typeface="+mn-lt"/>
                <a:cs typeface="+mn-lt"/>
              </a:defRPr>
            </a:lvl2pPr>
            <a:lvl3pPr marL="1143000" indent="-228600" algn="l">
              <a:lnSpc>
                <a:spcPct val="90000"/>
              </a:lnSpc>
              <a:spcBef>
                <a:spcPts val="500"/>
              </a:spcBef>
              <a:spcAft>
                <a:spcPct val="0"/>
              </a:spcAft>
              <a:buFont typeface="Arial"/>
              <a:buChar char="•"/>
              <a:defRPr sz="2000" kern="1200">
                <a:solidFill>
                  <a:schemeClr val="tx1"/>
                </a:solidFill>
                <a:latin typeface="+mn-lt"/>
                <a:ea typeface="+mn-lt"/>
                <a:cs typeface="+mn-lt"/>
              </a:defRPr>
            </a:lvl3pPr>
            <a:lvl4pPr marL="1600200" indent="-228600" algn="l">
              <a:lnSpc>
                <a:spcPct val="90000"/>
              </a:lnSpc>
              <a:spcBef>
                <a:spcPts val="500"/>
              </a:spcBef>
              <a:spcAft>
                <a:spcPct val="0"/>
              </a:spcAft>
              <a:buFont typeface="Arial"/>
              <a:buChar char="•"/>
              <a:defRPr kern="1200">
                <a:solidFill>
                  <a:schemeClr val="tx1"/>
                </a:solidFill>
                <a:latin typeface="+mn-lt"/>
                <a:ea typeface="+mn-lt"/>
                <a:cs typeface="+mn-lt"/>
              </a:defRPr>
            </a:lvl4pPr>
            <a:lvl5pPr marL="2057400" indent="-228600" algn="l">
              <a:lnSpc>
                <a:spcPct val="90000"/>
              </a:lnSpc>
              <a:spcBef>
                <a:spcPts val="500"/>
              </a:spcBef>
              <a:spcAft>
                <a:spcPct val="0"/>
              </a:spcAft>
              <a:buFont typeface="Arial"/>
              <a:buChar char="•"/>
              <a:defRPr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pPr>
            <a:r>
              <a:rPr sz="2600" b="1"/>
              <a:t>7.</a:t>
            </a:r>
            <a:r>
              <a:rPr lang="en-US" sz="2600" b="1"/>
              <a:t>3</a:t>
            </a:r>
            <a:r>
              <a:rPr sz="2600" b="1"/>
              <a:t>.4.2. </a:t>
            </a:r>
            <a:r>
              <a:rPr sz="2600" b="1" err="1"/>
              <a:t>Phân</a:t>
            </a:r>
            <a:r>
              <a:rPr sz="2600" b="1"/>
              <a:t> </a:t>
            </a:r>
            <a:r>
              <a:rPr sz="2600" b="1" err="1"/>
              <a:t>tích</a:t>
            </a:r>
            <a:r>
              <a:rPr sz="2600" b="1"/>
              <a:t> </a:t>
            </a:r>
            <a:r>
              <a:rPr sz="2600" b="1" err="1"/>
              <a:t>giá</a:t>
            </a:r>
            <a:r>
              <a:rPr sz="2600" b="1"/>
              <a:t> </a:t>
            </a:r>
            <a:r>
              <a:rPr sz="2600" b="1" err="1"/>
              <a:t>trị</a:t>
            </a:r>
            <a:endParaRPr sz="2600"/>
          </a:p>
        </p:txBody>
      </p:sp>
      <p:sp>
        <p:nvSpPr>
          <p:cNvPr id="2" name="TextBox 1">
            <a:extLst>
              <a:ext uri="{FF2B5EF4-FFF2-40B4-BE49-F238E27FC236}">
                <a16:creationId xmlns:a16="http://schemas.microsoft.com/office/drawing/2014/main" id="{4AF6576F-4449-6317-9A01-2EADBFD1BA81}"/>
              </a:ext>
            </a:extLst>
          </p:cNvPr>
          <p:cNvSpPr>
            <a:spLocks noGrp="1"/>
          </p:cNvSpPr>
          <p:nvPr/>
        </p:nvSpPr>
        <p:spPr>
          <a:xfrm>
            <a:off x="5166360" y="2514600"/>
            <a:ext cx="6412230" cy="2777490"/>
          </a:xfrm>
          <a:prstGeom prst="rect">
            <a:avLst/>
          </a:prstGeom>
          <a:solidFill>
            <a:schemeClr val="accent4">
              <a:lumMod val="20000"/>
              <a:lumOff val="80000"/>
            </a:schemeClr>
          </a:solidFill>
        </p:spPr>
        <p:txBody>
          <a:bodyPr wrap="square">
            <a:spAutoFit/>
          </a:bodyPr>
          <a:lstStyle/>
          <a:p>
            <a:pPr algn="ctr">
              <a:lnSpc>
                <a:spcPct val="107000"/>
              </a:lnSpc>
              <a:spcAft>
                <a:spcPts val="800"/>
              </a:spcAft>
              <a:buNone/>
            </a:pPr>
            <a:r>
              <a:rPr lang="en-US" sz="2800" b="1" i="1">
                <a:solidFill>
                  <a:srgbClr val="0070C0"/>
                </a:solidFill>
                <a:latin typeface="+mn-lt"/>
                <a:ea typeface="+mn-lt"/>
                <a:cs typeface="+mn-lt"/>
              </a:rPr>
              <a:t>GIÁ TRỊ MUA</a:t>
            </a:r>
          </a:p>
          <a:p>
            <a:pPr algn="ctr">
              <a:lnSpc>
                <a:spcPct val="107000"/>
              </a:lnSpc>
              <a:spcAft>
                <a:spcPts val="800"/>
              </a:spcAft>
              <a:buNone/>
            </a:pPr>
            <a:r>
              <a:rPr lang="en-US" sz="2800" b="1" i="1">
                <a:solidFill>
                  <a:srgbClr val="0070C0"/>
                </a:solidFill>
                <a:latin typeface="+mn-lt"/>
                <a:ea typeface="+mn-lt"/>
                <a:cs typeface="+mn-lt"/>
              </a:rPr>
              <a:t>=</a:t>
            </a:r>
          </a:p>
          <a:p>
            <a:pPr algn="ctr">
              <a:lnSpc>
                <a:spcPct val="107000"/>
              </a:lnSpc>
              <a:spcAft>
                <a:spcPts val="800"/>
              </a:spcAft>
              <a:buNone/>
            </a:pPr>
            <a:r>
              <a:rPr sz="2800" b="1" i="1">
                <a:solidFill>
                  <a:srgbClr val="0070C0"/>
                </a:solidFill>
                <a:latin typeface="+mn-lt"/>
                <a:ea typeface="+mn-lt"/>
                <a:cs typeface="+mn-lt"/>
              </a:rPr>
              <a:t>LỢI ÍCH NHẬN ĐƯỢC</a:t>
            </a:r>
          </a:p>
          <a:p>
            <a:pPr algn="ctr">
              <a:lnSpc>
                <a:spcPct val="107000"/>
              </a:lnSpc>
              <a:spcAft>
                <a:spcPts val="800"/>
              </a:spcAft>
              <a:buNone/>
            </a:pPr>
            <a:r>
              <a:rPr lang="en-US" sz="2800" b="1" i="1">
                <a:solidFill>
                  <a:srgbClr val="0070C0"/>
                </a:solidFill>
                <a:latin typeface="+mn-lt"/>
                <a:ea typeface="+mn-lt"/>
                <a:cs typeface="+mn-lt"/>
              </a:rPr>
              <a:t>──────────────</a:t>
            </a:r>
          </a:p>
          <a:p>
            <a:pPr algn="ctr">
              <a:lnSpc>
                <a:spcPct val="107000"/>
              </a:lnSpc>
              <a:spcAft>
                <a:spcPts val="800"/>
              </a:spcAft>
              <a:buNone/>
            </a:pPr>
            <a:r>
              <a:rPr sz="2800" b="1" i="1">
                <a:solidFill>
                  <a:srgbClr val="0070C0"/>
                </a:solidFill>
                <a:latin typeface="+mn-lt"/>
                <a:ea typeface="+mn-lt"/>
                <a:cs typeface="+mn-lt"/>
              </a:rPr>
              <a:t>TỔNG CHI PHÍ</a:t>
            </a:r>
          </a:p>
        </p:txBody>
      </p:sp>
    </p:spTree>
    <p:extLst>
      <p:ext uri="{BB962C8B-B14F-4D97-AF65-F5344CB8AC3E}">
        <p14:creationId xmlns:p14="http://schemas.microsoft.com/office/powerpoint/2010/main" val="1254448103"/>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CD94196-7336-4C18-8D1A-6F0D0959519C}"/>
              </a:ext>
            </a:extLst>
          </p:cNvPr>
          <p:cNvSpPr>
            <a:spLocks noGrp="1"/>
          </p:cNvSpPr>
          <p:nvPr>
            <p:ph type="sldNum" idx="12"/>
          </p:nvPr>
        </p:nvSpPr>
        <p:spPr/>
        <p:txBody>
          <a:bodyPr/>
          <a:lstStyle/>
          <a:p>
            <a:pPr>
              <a:buNone/>
            </a:pPr>
            <a:fld id="{CEF37D3B-0AE3-4360-AE2D-60E05024EC75}" type="slidenum">
              <a:t>298</a:t>
            </a:fld>
            <a:endParaRPr/>
          </a:p>
        </p:txBody>
      </p:sp>
      <p:sp>
        <p:nvSpPr>
          <p:cNvPr id="5" name="Rectangle 3">
            <a:extLst>
              <a:ext uri="{FF2B5EF4-FFF2-40B4-BE49-F238E27FC236}">
                <a16:creationId xmlns:a16="http://schemas.microsoft.com/office/drawing/2014/main" id="{09F19ACA-23B1-4121-B8DC-5C63A47DAF92}"/>
              </a:ext>
            </a:extLst>
          </p:cNvPr>
          <p:cNvSpPr>
            <a:spLocks noGrp="1"/>
          </p:cNvSpPr>
          <p:nvPr/>
        </p:nvSpPr>
        <p:spPr>
          <a:xfrm>
            <a:off x="578346" y="1620864"/>
            <a:ext cx="3565902" cy="4425605"/>
          </a:xfrm>
          <a:prstGeom prst="rect">
            <a:avLst/>
          </a:prstGeom>
          <a:noFill/>
          <a:ln w="28575">
            <a:solidFill>
              <a:srgbClr val="0000FF"/>
            </a:solidFill>
          </a:ln>
        </p:spPr>
        <p:txBody>
          <a:bodyPr vert="horz" wrap="square" lIns="91440" tIns="45720" rIns="91440" bIns="45720" anchor="t"/>
          <a:lstStyle/>
          <a:p>
            <a:pPr marL="0" lvl="1" algn="just">
              <a:spcBef>
                <a:spcPct val="20000"/>
              </a:spcBef>
              <a:buClr>
                <a:schemeClr val="accent1"/>
              </a:buClr>
              <a:buSzPct val="85000"/>
            </a:pPr>
            <a:endParaRPr lang="en-US" sz="2400"/>
          </a:p>
          <a:p>
            <a:pPr marL="0" lvl="1" algn="just">
              <a:spcBef>
                <a:spcPct val="20000"/>
              </a:spcBef>
              <a:buClr>
                <a:schemeClr val="accent1"/>
              </a:buClr>
              <a:buSzPct val="85000"/>
            </a:pPr>
            <a:r>
              <a:rPr sz="2400" b="1"/>
              <a:t>TỰ SẢN XUẤT</a:t>
            </a:r>
          </a:p>
          <a:p>
            <a:pPr marL="246063" lvl="1" indent="-246063" algn="just">
              <a:spcBef>
                <a:spcPct val="20000"/>
              </a:spcBef>
              <a:buClr>
                <a:schemeClr val="accent1"/>
              </a:buClr>
              <a:buSzPct val="85000"/>
              <a:buFont typeface="Wingdings 2"/>
              <a:buChar char=""/>
            </a:pPr>
            <a:endParaRPr sz="2400"/>
          </a:p>
          <a:p>
            <a:pPr marL="246063" lvl="1" indent="-246063" algn="just">
              <a:spcBef>
                <a:spcPct val="20000"/>
              </a:spcBef>
              <a:buClr>
                <a:schemeClr val="accent1"/>
              </a:buClr>
              <a:buSzPct val="85000"/>
              <a:buFont typeface="Wingdings 2"/>
              <a:buChar char=""/>
            </a:pPr>
            <a:r>
              <a:rPr sz="2400" err="1"/>
              <a:t>Chủ</a:t>
            </a:r>
            <a:r>
              <a:rPr sz="2400"/>
              <a:t> </a:t>
            </a:r>
            <a:r>
              <a:rPr sz="2400" err="1"/>
              <a:t>động</a:t>
            </a:r>
            <a:r>
              <a:rPr sz="2400"/>
              <a:t> </a:t>
            </a:r>
            <a:r>
              <a:rPr sz="2400" err="1"/>
              <a:t>chất</a:t>
            </a:r>
            <a:r>
              <a:rPr sz="2400"/>
              <a:t> </a:t>
            </a:r>
            <a:r>
              <a:rPr sz="2400" err="1"/>
              <a:t>lượng</a:t>
            </a:r>
            <a:endParaRPr sz="2400"/>
          </a:p>
          <a:p>
            <a:pPr marL="246063" lvl="1" indent="-246063" algn="just">
              <a:spcBef>
                <a:spcPct val="20000"/>
              </a:spcBef>
              <a:buClr>
                <a:schemeClr val="accent1"/>
              </a:buClr>
              <a:buSzPct val="85000"/>
              <a:buFont typeface="Wingdings 2"/>
              <a:buChar char=""/>
            </a:pPr>
            <a:r>
              <a:rPr sz="2400" err="1"/>
              <a:t>Kiểm</a:t>
            </a:r>
            <a:r>
              <a:rPr sz="2400"/>
              <a:t> </a:t>
            </a:r>
            <a:r>
              <a:rPr sz="2400" err="1"/>
              <a:t>soát</a:t>
            </a:r>
            <a:r>
              <a:rPr sz="2400"/>
              <a:t> </a:t>
            </a:r>
            <a:r>
              <a:rPr sz="2400" err="1"/>
              <a:t>công</a:t>
            </a:r>
            <a:r>
              <a:rPr sz="2400"/>
              <a:t> </a:t>
            </a:r>
            <a:r>
              <a:rPr sz="2400" err="1"/>
              <a:t>nghệ</a:t>
            </a:r>
            <a:endParaRPr sz="2400"/>
          </a:p>
          <a:p>
            <a:pPr marL="246063" lvl="1" indent="-246063" algn="just">
              <a:spcBef>
                <a:spcPct val="20000"/>
              </a:spcBef>
              <a:buClr>
                <a:schemeClr val="accent1"/>
              </a:buClr>
              <a:buSzPct val="85000"/>
              <a:buFont typeface="Wingdings 2"/>
              <a:buChar char=""/>
            </a:pPr>
            <a:r>
              <a:rPr sz="2400" err="1"/>
              <a:t>Tăng</a:t>
            </a:r>
            <a:r>
              <a:rPr sz="2400"/>
              <a:t> </a:t>
            </a:r>
            <a:r>
              <a:rPr sz="2400" err="1"/>
              <a:t>bảo</a:t>
            </a:r>
            <a:r>
              <a:rPr sz="2400"/>
              <a:t> </a:t>
            </a:r>
            <a:r>
              <a:rPr sz="2400" err="1"/>
              <a:t>mật</a:t>
            </a:r>
            <a:endParaRPr sz="2400"/>
          </a:p>
          <a:p>
            <a:pPr marL="246063" lvl="1" indent="-246063" algn="just">
              <a:spcBef>
                <a:spcPct val="20000"/>
              </a:spcBef>
              <a:buClr>
                <a:schemeClr val="accent1"/>
              </a:buClr>
              <a:buSzPct val="85000"/>
              <a:buFont typeface="Wingdings 2"/>
              <a:buChar char=""/>
            </a:pPr>
            <a:endParaRPr sz="2400"/>
          </a:p>
          <a:p>
            <a:pPr marL="246063" lvl="1" indent="-246063" algn="just">
              <a:spcBef>
                <a:spcPct val="20000"/>
              </a:spcBef>
              <a:buClr>
                <a:schemeClr val="accent1"/>
              </a:buClr>
              <a:buSzPct val="85000"/>
              <a:buFont typeface="Wingdings 2"/>
              <a:buChar char=""/>
            </a:pPr>
            <a:r>
              <a:rPr sz="2400" err="1"/>
              <a:t>Đổi</a:t>
            </a:r>
            <a:r>
              <a:rPr sz="2400"/>
              <a:t> </a:t>
            </a:r>
            <a:r>
              <a:rPr sz="2400" err="1"/>
              <a:t>lại</a:t>
            </a:r>
            <a:r>
              <a:rPr sz="2400"/>
              <a:t>: </a:t>
            </a:r>
            <a:r>
              <a:rPr sz="2400" err="1"/>
              <a:t>Cần</a:t>
            </a:r>
            <a:r>
              <a:rPr sz="2400"/>
              <a:t> </a:t>
            </a:r>
            <a:r>
              <a:rPr sz="2400" err="1"/>
              <a:t>vốn</a:t>
            </a:r>
            <a:r>
              <a:rPr sz="2400"/>
              <a:t>, </a:t>
            </a:r>
            <a:r>
              <a:rPr sz="2400" err="1"/>
              <a:t>công</a:t>
            </a:r>
            <a:r>
              <a:rPr sz="2400"/>
              <a:t> </a:t>
            </a:r>
            <a:r>
              <a:rPr sz="2400" err="1"/>
              <a:t>suất</a:t>
            </a:r>
            <a:r>
              <a:rPr sz="2400"/>
              <a:t> </a:t>
            </a:r>
            <a:r>
              <a:rPr sz="2400" err="1"/>
              <a:t>và</a:t>
            </a:r>
            <a:r>
              <a:rPr sz="2400"/>
              <a:t> </a:t>
            </a:r>
            <a:r>
              <a:rPr sz="2400" err="1"/>
              <a:t>năng</a:t>
            </a:r>
            <a:r>
              <a:rPr sz="2400"/>
              <a:t> </a:t>
            </a:r>
            <a:r>
              <a:rPr sz="2400" err="1"/>
              <a:t>lực</a:t>
            </a:r>
            <a:r>
              <a:rPr sz="2400"/>
              <a:t> </a:t>
            </a:r>
            <a:r>
              <a:rPr sz="2400" err="1"/>
              <a:t>vận</a:t>
            </a:r>
            <a:r>
              <a:rPr sz="2400"/>
              <a:t> </a:t>
            </a:r>
            <a:r>
              <a:rPr sz="2400" err="1"/>
              <a:t>hành</a:t>
            </a:r>
            <a:endParaRPr sz="2400"/>
          </a:p>
        </p:txBody>
      </p:sp>
      <p:sp>
        <p:nvSpPr>
          <p:cNvPr id="6" name="Rectangle 3">
            <a:extLst>
              <a:ext uri="{FF2B5EF4-FFF2-40B4-BE49-F238E27FC236}">
                <a16:creationId xmlns:a16="http://schemas.microsoft.com/office/drawing/2014/main" id="{31330ECE-2D47-48F1-A504-71EDDCE86E25}"/>
              </a:ext>
            </a:extLst>
          </p:cNvPr>
          <p:cNvSpPr>
            <a:spLocks noGrp="1"/>
          </p:cNvSpPr>
          <p:nvPr/>
        </p:nvSpPr>
        <p:spPr>
          <a:xfrm>
            <a:off x="4697730" y="1620865"/>
            <a:ext cx="7006590" cy="4425603"/>
          </a:xfrm>
          <a:prstGeom prst="rect">
            <a:avLst/>
          </a:prstGeom>
          <a:noFill/>
          <a:ln w="28575">
            <a:solidFill>
              <a:srgbClr val="0000FF"/>
            </a:solidFill>
          </a:ln>
        </p:spPr>
        <p:txBody>
          <a:bodyPr vert="horz" wrap="square" lIns="91440" tIns="45720" rIns="91440" bIns="45720" anchor="t"/>
          <a:lstStyle/>
          <a:p>
            <a:pPr lvl="1">
              <a:lnSpc>
                <a:spcPct val="90000"/>
              </a:lnSpc>
              <a:spcBef>
                <a:spcPct val="20000"/>
              </a:spcBef>
              <a:buClr>
                <a:schemeClr val="accent1"/>
              </a:buClr>
              <a:buSzPct val="85000"/>
              <a:buNone/>
            </a:pPr>
            <a:endParaRPr lang="en-US" sz="2400">
              <a:solidFill>
                <a:srgbClr val="C00000"/>
              </a:solidFill>
            </a:endParaRPr>
          </a:p>
          <a:p>
            <a:pPr lvl="1">
              <a:lnSpc>
                <a:spcPct val="90000"/>
              </a:lnSpc>
              <a:spcBef>
                <a:spcPct val="20000"/>
              </a:spcBef>
              <a:buClr>
                <a:schemeClr val="accent1"/>
              </a:buClr>
              <a:buSzPct val="85000"/>
              <a:buNone/>
            </a:pPr>
            <a:r>
              <a:rPr sz="2400" b="1">
                <a:solidFill>
                  <a:srgbClr val="C00000"/>
                </a:solidFill>
              </a:rPr>
              <a:t>MUA NGOÀI</a:t>
            </a:r>
          </a:p>
          <a:p>
            <a:pPr marL="246063" lvl="1" indent="-246063">
              <a:lnSpc>
                <a:spcPct val="90000"/>
              </a:lnSpc>
              <a:spcBef>
                <a:spcPct val="20000"/>
              </a:spcBef>
              <a:buClr>
                <a:schemeClr val="accent1"/>
              </a:buClr>
              <a:buSzPct val="85000"/>
              <a:buFontTx/>
              <a:buChar char="-"/>
            </a:pPr>
            <a:endParaRPr sz="2400">
              <a:solidFill>
                <a:srgbClr val="C00000"/>
              </a:solidFill>
            </a:endParaRPr>
          </a:p>
          <a:p>
            <a:pPr marL="246063" lvl="1" indent="-246063">
              <a:lnSpc>
                <a:spcPct val="90000"/>
              </a:lnSpc>
              <a:spcBef>
                <a:spcPct val="20000"/>
              </a:spcBef>
              <a:buClr>
                <a:schemeClr val="accent1"/>
              </a:buClr>
              <a:buSzPct val="85000"/>
              <a:buFontTx/>
              <a:buChar char="-"/>
            </a:pPr>
            <a:r>
              <a:rPr sz="2400" err="1">
                <a:solidFill>
                  <a:srgbClr val="C00000"/>
                </a:solidFill>
              </a:rPr>
              <a:t>Giảm</a:t>
            </a:r>
            <a:r>
              <a:rPr sz="2400">
                <a:solidFill>
                  <a:srgbClr val="C00000"/>
                </a:solidFill>
              </a:rPr>
              <a:t> </a:t>
            </a:r>
            <a:r>
              <a:rPr sz="2400" err="1">
                <a:solidFill>
                  <a:srgbClr val="C00000"/>
                </a:solidFill>
              </a:rPr>
              <a:t>đầu</a:t>
            </a:r>
            <a:r>
              <a:rPr sz="2400">
                <a:solidFill>
                  <a:srgbClr val="C00000"/>
                </a:solidFill>
              </a:rPr>
              <a:t> </a:t>
            </a:r>
            <a:r>
              <a:rPr sz="2400" err="1">
                <a:solidFill>
                  <a:srgbClr val="C00000"/>
                </a:solidFill>
              </a:rPr>
              <a:t>tư</a:t>
            </a:r>
            <a:r>
              <a:rPr sz="2400">
                <a:solidFill>
                  <a:srgbClr val="C00000"/>
                </a:solidFill>
              </a:rPr>
              <a:t> ban </a:t>
            </a:r>
            <a:r>
              <a:rPr sz="2400" err="1">
                <a:solidFill>
                  <a:srgbClr val="C00000"/>
                </a:solidFill>
              </a:rPr>
              <a:t>đầu</a:t>
            </a:r>
            <a:endParaRPr sz="2400">
              <a:solidFill>
                <a:srgbClr val="C00000"/>
              </a:solidFill>
            </a:endParaRPr>
          </a:p>
          <a:p>
            <a:pPr marL="246063" lvl="1" indent="-246063">
              <a:lnSpc>
                <a:spcPct val="90000"/>
              </a:lnSpc>
              <a:spcBef>
                <a:spcPct val="20000"/>
              </a:spcBef>
              <a:buClr>
                <a:schemeClr val="accent1"/>
              </a:buClr>
              <a:buSzPct val="85000"/>
              <a:buFontTx/>
              <a:buChar char="-"/>
            </a:pPr>
            <a:r>
              <a:rPr sz="2400" err="1">
                <a:solidFill>
                  <a:srgbClr val="C00000"/>
                </a:solidFill>
              </a:rPr>
              <a:t>Triển</a:t>
            </a:r>
            <a:r>
              <a:rPr sz="2400">
                <a:solidFill>
                  <a:srgbClr val="C00000"/>
                </a:solidFill>
              </a:rPr>
              <a:t> </a:t>
            </a:r>
            <a:r>
              <a:rPr sz="2400" err="1">
                <a:solidFill>
                  <a:srgbClr val="C00000"/>
                </a:solidFill>
              </a:rPr>
              <a:t>khai</a:t>
            </a:r>
            <a:r>
              <a:rPr sz="2400">
                <a:solidFill>
                  <a:srgbClr val="C00000"/>
                </a:solidFill>
              </a:rPr>
              <a:t> </a:t>
            </a:r>
            <a:r>
              <a:rPr sz="2400" err="1">
                <a:solidFill>
                  <a:srgbClr val="C00000"/>
                </a:solidFill>
              </a:rPr>
              <a:t>nhanh</a:t>
            </a:r>
            <a:r>
              <a:rPr sz="2400">
                <a:solidFill>
                  <a:srgbClr val="C00000"/>
                </a:solidFill>
              </a:rPr>
              <a:t> </a:t>
            </a:r>
            <a:r>
              <a:rPr sz="2400" err="1">
                <a:solidFill>
                  <a:srgbClr val="C00000"/>
                </a:solidFill>
              </a:rPr>
              <a:t>hơn</a:t>
            </a:r>
            <a:endParaRPr sz="2400">
              <a:solidFill>
                <a:srgbClr val="C00000"/>
              </a:solidFill>
            </a:endParaRPr>
          </a:p>
          <a:p>
            <a:pPr marL="246063" lvl="1" indent="-246063">
              <a:lnSpc>
                <a:spcPct val="90000"/>
              </a:lnSpc>
              <a:spcBef>
                <a:spcPct val="20000"/>
              </a:spcBef>
              <a:buClr>
                <a:schemeClr val="accent1"/>
              </a:buClr>
              <a:buSzPct val="85000"/>
              <a:buFontTx/>
              <a:buChar char="-"/>
            </a:pPr>
            <a:r>
              <a:rPr sz="2400" err="1">
                <a:solidFill>
                  <a:srgbClr val="C00000"/>
                </a:solidFill>
              </a:rPr>
              <a:t>Tiếp</a:t>
            </a:r>
            <a:r>
              <a:rPr sz="2400">
                <a:solidFill>
                  <a:srgbClr val="C00000"/>
                </a:solidFill>
              </a:rPr>
              <a:t> </a:t>
            </a:r>
            <a:r>
              <a:rPr sz="2400" err="1">
                <a:solidFill>
                  <a:srgbClr val="C00000"/>
                </a:solidFill>
              </a:rPr>
              <a:t>cận</a:t>
            </a:r>
            <a:r>
              <a:rPr sz="2400">
                <a:solidFill>
                  <a:srgbClr val="C00000"/>
                </a:solidFill>
              </a:rPr>
              <a:t> </a:t>
            </a:r>
            <a:r>
              <a:rPr sz="2400" err="1">
                <a:solidFill>
                  <a:srgbClr val="C00000"/>
                </a:solidFill>
              </a:rPr>
              <a:t>chuyên</a:t>
            </a:r>
            <a:r>
              <a:rPr sz="2400">
                <a:solidFill>
                  <a:srgbClr val="C00000"/>
                </a:solidFill>
              </a:rPr>
              <a:t> </a:t>
            </a:r>
            <a:r>
              <a:rPr sz="2400" err="1">
                <a:solidFill>
                  <a:srgbClr val="C00000"/>
                </a:solidFill>
              </a:rPr>
              <a:t>môn</a:t>
            </a:r>
            <a:endParaRPr sz="2400">
              <a:solidFill>
                <a:srgbClr val="C00000"/>
              </a:solidFill>
            </a:endParaRPr>
          </a:p>
          <a:p>
            <a:pPr marL="246063" lvl="1" indent="-246063">
              <a:lnSpc>
                <a:spcPct val="90000"/>
              </a:lnSpc>
              <a:spcBef>
                <a:spcPct val="20000"/>
              </a:spcBef>
              <a:buClr>
                <a:schemeClr val="accent1"/>
              </a:buClr>
              <a:buSzPct val="85000"/>
              <a:buFontTx/>
              <a:buChar char="-"/>
            </a:pPr>
            <a:endParaRPr sz="2400" kern="1200">
              <a:solidFill>
                <a:srgbClr val="C00000"/>
              </a:solidFill>
              <a:latin typeface="+mn-lt"/>
              <a:ea typeface="+mn-lt"/>
              <a:cs typeface="+mn-lt"/>
            </a:endParaRPr>
          </a:p>
          <a:p>
            <a:pPr marL="246063" lvl="1" indent="-246063">
              <a:lnSpc>
                <a:spcPct val="90000"/>
              </a:lnSpc>
              <a:spcBef>
                <a:spcPct val="20000"/>
              </a:spcBef>
              <a:buClr>
                <a:schemeClr val="accent1"/>
              </a:buClr>
              <a:buSzPct val="85000"/>
              <a:buFontTx/>
              <a:buChar char="-"/>
            </a:pPr>
            <a:r>
              <a:rPr sz="2400" err="1">
                <a:solidFill>
                  <a:srgbClr val="C00000"/>
                </a:solidFill>
              </a:rPr>
              <a:t>Đổi</a:t>
            </a:r>
            <a:r>
              <a:rPr sz="2400">
                <a:solidFill>
                  <a:srgbClr val="C00000"/>
                </a:solidFill>
              </a:rPr>
              <a:t> </a:t>
            </a:r>
            <a:r>
              <a:rPr sz="2400" err="1">
                <a:solidFill>
                  <a:srgbClr val="C00000"/>
                </a:solidFill>
              </a:rPr>
              <a:t>lại</a:t>
            </a:r>
            <a:r>
              <a:rPr sz="2400">
                <a:solidFill>
                  <a:srgbClr val="C00000"/>
                </a:solidFill>
              </a:rPr>
              <a:t>: </a:t>
            </a:r>
            <a:r>
              <a:rPr sz="2400" err="1">
                <a:solidFill>
                  <a:srgbClr val="C00000"/>
                </a:solidFill>
              </a:rPr>
              <a:t>Phụ</a:t>
            </a:r>
            <a:r>
              <a:rPr sz="2400">
                <a:solidFill>
                  <a:srgbClr val="C00000"/>
                </a:solidFill>
              </a:rPr>
              <a:t> </a:t>
            </a:r>
            <a:r>
              <a:rPr sz="2400" err="1">
                <a:solidFill>
                  <a:srgbClr val="C00000"/>
                </a:solidFill>
              </a:rPr>
              <a:t>thuộc</a:t>
            </a:r>
            <a:r>
              <a:rPr sz="2400">
                <a:solidFill>
                  <a:srgbClr val="C00000"/>
                </a:solidFill>
              </a:rPr>
              <a:t> </a:t>
            </a:r>
            <a:r>
              <a:rPr sz="2400" err="1">
                <a:solidFill>
                  <a:srgbClr val="C00000"/>
                </a:solidFill>
              </a:rPr>
              <a:t>độ</a:t>
            </a:r>
            <a:r>
              <a:rPr sz="2400">
                <a:solidFill>
                  <a:srgbClr val="C00000"/>
                </a:solidFill>
              </a:rPr>
              <a:t> tin </a:t>
            </a:r>
            <a:r>
              <a:rPr sz="2400" err="1">
                <a:solidFill>
                  <a:srgbClr val="C00000"/>
                </a:solidFill>
              </a:rPr>
              <a:t>cậy</a:t>
            </a:r>
            <a:r>
              <a:rPr sz="2400">
                <a:solidFill>
                  <a:srgbClr val="C00000"/>
                </a:solidFill>
              </a:rPr>
              <a:t> </a:t>
            </a:r>
            <a:r>
              <a:rPr sz="2400" err="1">
                <a:solidFill>
                  <a:srgbClr val="C00000"/>
                </a:solidFill>
              </a:rPr>
              <a:t>của</a:t>
            </a:r>
            <a:r>
              <a:rPr sz="2400">
                <a:solidFill>
                  <a:srgbClr val="C00000"/>
                </a:solidFill>
              </a:rPr>
              <a:t> </a:t>
            </a:r>
            <a:r>
              <a:rPr sz="2400" err="1">
                <a:solidFill>
                  <a:srgbClr val="C00000"/>
                </a:solidFill>
              </a:rPr>
              <a:t>nhà</a:t>
            </a:r>
            <a:r>
              <a:rPr sz="2400">
                <a:solidFill>
                  <a:srgbClr val="C00000"/>
                </a:solidFill>
              </a:rPr>
              <a:t> </a:t>
            </a:r>
            <a:r>
              <a:rPr sz="2400" err="1">
                <a:solidFill>
                  <a:srgbClr val="C00000"/>
                </a:solidFill>
              </a:rPr>
              <a:t>cung</a:t>
            </a:r>
            <a:r>
              <a:rPr sz="2400">
                <a:solidFill>
                  <a:srgbClr val="C00000"/>
                </a:solidFill>
              </a:rPr>
              <a:t> </a:t>
            </a:r>
            <a:r>
              <a:rPr sz="2400" err="1">
                <a:solidFill>
                  <a:srgbClr val="C00000"/>
                </a:solidFill>
              </a:rPr>
              <a:t>cấp</a:t>
            </a:r>
            <a:endParaRPr sz="2400" kern="1200">
              <a:solidFill>
                <a:srgbClr val="C00000"/>
              </a:solidFill>
              <a:latin typeface="+mn-lt"/>
              <a:ea typeface="+mn-lt"/>
              <a:cs typeface="+mn-lt"/>
            </a:endParaRPr>
          </a:p>
        </p:txBody>
      </p:sp>
      <p:sp>
        <p:nvSpPr>
          <p:cNvPr id="7" name="Right Arrow 6">
            <a:extLst>
              <a:ext uri="{FF2B5EF4-FFF2-40B4-BE49-F238E27FC236}">
                <a16:creationId xmlns:a16="http://schemas.microsoft.com/office/drawing/2014/main" id="{A1CC904C-B9A1-45D1-A13F-537D81A4B031}"/>
              </a:ext>
            </a:extLst>
          </p:cNvPr>
          <p:cNvSpPr>
            <a:spLocks noGrp="1"/>
          </p:cNvSpPr>
          <p:nvPr/>
        </p:nvSpPr>
        <p:spPr>
          <a:xfrm>
            <a:off x="4144248" y="3314700"/>
            <a:ext cx="381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Content Placeholder 2">
            <a:extLst>
              <a:ext uri="{FF2B5EF4-FFF2-40B4-BE49-F238E27FC236}">
                <a16:creationId xmlns:a16="http://schemas.microsoft.com/office/drawing/2014/main" id="{544833F4-7A64-1597-A5E2-5881038A4263}"/>
              </a:ext>
            </a:extLst>
          </p:cNvPr>
          <p:cNvSpPr>
            <a:spLocks noGrp="1"/>
          </p:cNvSpPr>
          <p:nvPr/>
        </p:nvSpPr>
        <p:spPr>
          <a:xfrm>
            <a:off x="262890" y="364210"/>
            <a:ext cx="10207506" cy="721640"/>
          </a:xfrm>
          <a:prstGeom prst="rect">
            <a:avLst/>
          </a:prstGeom>
          <a:noFill/>
          <a:ln>
            <a:noFill/>
          </a:ln>
        </p:spPr>
        <p:txBody>
          <a:bodyPr vert="horz" wrap="square" lIns="91440" tIns="45720" rIns="91440" bIns="45720" anchor="t"/>
          <a:lstStyle>
            <a:lvl1pPr marL="228600" indent="-228600" algn="l">
              <a:lnSpc>
                <a:spcPct val="90000"/>
              </a:lnSpc>
              <a:spcBef>
                <a:spcPts val="1000"/>
              </a:spcBef>
              <a:spcAft>
                <a:spcPct val="0"/>
              </a:spcAft>
              <a:buFont typeface="Arial"/>
              <a:buChar char="•"/>
              <a:defRPr sz="2800" kern="1200">
                <a:solidFill>
                  <a:schemeClr val="tx1"/>
                </a:solidFill>
                <a:latin typeface="+mn-lt"/>
                <a:ea typeface="+mn-lt"/>
                <a:cs typeface="+mn-lt"/>
              </a:defRPr>
            </a:lvl1pPr>
            <a:lvl2pPr marL="685800" indent="-228600" algn="l">
              <a:lnSpc>
                <a:spcPct val="90000"/>
              </a:lnSpc>
              <a:spcBef>
                <a:spcPts val="500"/>
              </a:spcBef>
              <a:spcAft>
                <a:spcPct val="0"/>
              </a:spcAft>
              <a:buFont typeface="Arial"/>
              <a:buChar char="•"/>
              <a:defRPr sz="2400" kern="1200">
                <a:solidFill>
                  <a:schemeClr val="tx1"/>
                </a:solidFill>
                <a:latin typeface="+mn-lt"/>
                <a:ea typeface="+mn-lt"/>
                <a:cs typeface="+mn-lt"/>
              </a:defRPr>
            </a:lvl2pPr>
            <a:lvl3pPr marL="1143000" indent="-228600" algn="l">
              <a:lnSpc>
                <a:spcPct val="90000"/>
              </a:lnSpc>
              <a:spcBef>
                <a:spcPts val="500"/>
              </a:spcBef>
              <a:spcAft>
                <a:spcPct val="0"/>
              </a:spcAft>
              <a:buFont typeface="Arial"/>
              <a:buChar char="•"/>
              <a:defRPr sz="2000" kern="1200">
                <a:solidFill>
                  <a:schemeClr val="tx1"/>
                </a:solidFill>
                <a:latin typeface="+mn-lt"/>
                <a:ea typeface="+mn-lt"/>
                <a:cs typeface="+mn-lt"/>
              </a:defRPr>
            </a:lvl3pPr>
            <a:lvl4pPr marL="1600200" indent="-228600" algn="l">
              <a:lnSpc>
                <a:spcPct val="90000"/>
              </a:lnSpc>
              <a:spcBef>
                <a:spcPts val="500"/>
              </a:spcBef>
              <a:spcAft>
                <a:spcPct val="0"/>
              </a:spcAft>
              <a:buFont typeface="Arial"/>
              <a:buChar char="•"/>
              <a:defRPr kern="1200">
                <a:solidFill>
                  <a:schemeClr val="tx1"/>
                </a:solidFill>
                <a:latin typeface="+mn-lt"/>
                <a:ea typeface="+mn-lt"/>
                <a:cs typeface="+mn-lt"/>
              </a:defRPr>
            </a:lvl4pPr>
            <a:lvl5pPr marL="2057400" indent="-228600" algn="l">
              <a:lnSpc>
                <a:spcPct val="90000"/>
              </a:lnSpc>
              <a:spcBef>
                <a:spcPts val="500"/>
              </a:spcBef>
              <a:spcAft>
                <a:spcPct val="0"/>
              </a:spcAft>
              <a:buFont typeface="Arial"/>
              <a:buChar char="•"/>
              <a:defRPr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pPr>
            <a:r>
              <a:rPr sz="2600" b="1"/>
              <a:t>7.</a:t>
            </a:r>
            <a:r>
              <a:rPr lang="en-US" sz="2600" b="1"/>
              <a:t>3</a:t>
            </a:r>
            <a:r>
              <a:rPr sz="2600" b="1"/>
              <a:t>.4.3. Mua hay </a:t>
            </a:r>
            <a:r>
              <a:rPr sz="2600" b="1" err="1"/>
              <a:t>tự</a:t>
            </a:r>
            <a:r>
              <a:rPr sz="2600" b="1"/>
              <a:t> </a:t>
            </a:r>
            <a:r>
              <a:rPr sz="2600" b="1" err="1"/>
              <a:t>sản</a:t>
            </a:r>
            <a:r>
              <a:rPr sz="2600" b="1"/>
              <a:t> </a:t>
            </a:r>
            <a:r>
              <a:rPr sz="2600" b="1" err="1"/>
              <a:t>xuất</a:t>
            </a:r>
            <a:endParaRPr sz="2600" b="1"/>
          </a:p>
        </p:txBody>
      </p:sp>
    </p:spTree>
    <p:extLst>
      <p:ext uri="{BB962C8B-B14F-4D97-AF65-F5344CB8AC3E}">
        <p14:creationId xmlns:p14="http://schemas.microsoft.com/office/powerpoint/2010/main" val="456443170"/>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7" name="Google Shape;3267;p416">
            <a:extLst>
              <a:ext uri="{FF2B5EF4-FFF2-40B4-BE49-F238E27FC236}">
                <a16:creationId xmlns:a16="http://schemas.microsoft.com/office/drawing/2014/main" id="{FDED1194-18A3-472A-BCB5-182965D29030}"/>
              </a:ext>
            </a:extLst>
          </p:cNvPr>
          <p:cNvSpPr>
            <a:spLocks noGrp="1"/>
          </p:cNvSpPr>
          <p:nvPr>
            <p:ph type="title"/>
          </p:nvPr>
        </p:nvSpPr>
        <p:spPr>
          <a:xfrm>
            <a:off x="278130" y="330835"/>
            <a:ext cx="10515600" cy="789305"/>
          </a:xfrm>
          <a:prstGeom prst="rect">
            <a:avLst/>
          </a:prstGeom>
          <a:noFill/>
          <a:ln>
            <a:noFill/>
          </a:ln>
        </p:spPr>
        <p:txBody>
          <a:bodyPr spcFirstLastPara="1" wrap="square" lIns="91425" tIns="45700" rIns="91425" bIns="45700" anchor="ctr">
            <a:normAutofit/>
          </a:bodyPr>
          <a:lstStyle/>
          <a:p>
            <a:pPr lvl="0">
              <a:spcBef>
                <a:spcPts val="1000"/>
              </a:spcBef>
              <a:spcAft>
                <a:spcPct val="0"/>
              </a:spcAft>
              <a:buClr>
                <a:srgbClr val="000000"/>
              </a:buClr>
              <a:buSzPts val="1800"/>
            </a:pPr>
            <a:r>
              <a:rPr sz="2600" b="1" kern="1200">
                <a:solidFill>
                  <a:schemeClr val="tx1"/>
                </a:solidFill>
                <a:latin typeface="+mn-lt"/>
                <a:ea typeface="+mn-lt"/>
                <a:cs typeface="+mn-lt"/>
              </a:rPr>
              <a:t>7.</a:t>
            </a:r>
            <a:r>
              <a:rPr lang="en-US" sz="2600" b="1" kern="1200">
                <a:solidFill>
                  <a:schemeClr val="tx1"/>
                </a:solidFill>
                <a:latin typeface="+mn-lt"/>
                <a:ea typeface="+mn-lt"/>
                <a:cs typeface="+mn-lt"/>
              </a:rPr>
              <a:t>2</a:t>
            </a:r>
            <a:r>
              <a:rPr sz="2600" b="1" kern="1200">
                <a:solidFill>
                  <a:schemeClr val="tx1"/>
                </a:solidFill>
                <a:latin typeface="+mn-lt"/>
                <a:ea typeface="+mn-lt"/>
                <a:cs typeface="+mn-lt"/>
              </a:rPr>
              <a:t>.4.4. </a:t>
            </a:r>
            <a:r>
              <a:rPr sz="2600" b="1" kern="1200" err="1">
                <a:solidFill>
                  <a:schemeClr val="tx1"/>
                </a:solidFill>
                <a:latin typeface="+mn-lt"/>
                <a:ea typeface="+mn-lt"/>
                <a:cs typeface="+mn-lt"/>
              </a:rPr>
              <a:t>Thời</a:t>
            </a:r>
            <a:r>
              <a:rPr sz="2600" b="1" kern="1200">
                <a:solidFill>
                  <a:schemeClr val="tx1"/>
                </a:solidFill>
                <a:latin typeface="+mn-lt"/>
                <a:ea typeface="+mn-lt"/>
                <a:cs typeface="+mn-lt"/>
              </a:rPr>
              <a:t> </a:t>
            </a:r>
            <a:r>
              <a:rPr sz="2600" b="1" kern="1200" err="1">
                <a:solidFill>
                  <a:schemeClr val="tx1"/>
                </a:solidFill>
                <a:latin typeface="+mn-lt"/>
                <a:ea typeface="+mn-lt"/>
                <a:cs typeface="+mn-lt"/>
              </a:rPr>
              <a:t>điểm</a:t>
            </a:r>
            <a:r>
              <a:rPr sz="2600" b="1" kern="1200">
                <a:solidFill>
                  <a:schemeClr val="tx1"/>
                </a:solidFill>
                <a:latin typeface="+mn-lt"/>
                <a:ea typeface="+mn-lt"/>
                <a:cs typeface="+mn-lt"/>
              </a:rPr>
              <a:t> </a:t>
            </a:r>
            <a:r>
              <a:rPr sz="2600" b="1" kern="1200" err="1">
                <a:solidFill>
                  <a:schemeClr val="tx1"/>
                </a:solidFill>
                <a:latin typeface="+mn-lt"/>
                <a:ea typeface="+mn-lt"/>
                <a:cs typeface="+mn-lt"/>
              </a:rPr>
              <a:t>mua</a:t>
            </a:r>
            <a:r>
              <a:rPr sz="2600" b="1" kern="1200">
                <a:solidFill>
                  <a:schemeClr val="tx1"/>
                </a:solidFill>
                <a:latin typeface="+mn-lt"/>
                <a:ea typeface="+mn-lt"/>
                <a:cs typeface="+mn-lt"/>
              </a:rPr>
              <a:t> – Just in Time (JIT)</a:t>
            </a:r>
          </a:p>
        </p:txBody>
      </p:sp>
      <p:sp>
        <p:nvSpPr>
          <p:cNvPr id="3268" name="Google Shape;3268;p416">
            <a:extLst>
              <a:ext uri="{FF2B5EF4-FFF2-40B4-BE49-F238E27FC236}">
                <a16:creationId xmlns:a16="http://schemas.microsoft.com/office/drawing/2014/main" id="{4856C953-B021-44F8-BBF3-361A20C53F26}"/>
              </a:ext>
            </a:extLst>
          </p:cNvPr>
          <p:cNvSpPr>
            <a:spLocks noGrp="1"/>
          </p:cNvSpPr>
          <p:nvPr>
            <p:ph type="body" idx="1"/>
          </p:nvPr>
        </p:nvSpPr>
        <p:spPr>
          <a:xfrm>
            <a:off x="838200" y="1497001"/>
            <a:ext cx="10684616" cy="4351338"/>
          </a:xfrm>
          <a:prstGeom prst="rect">
            <a:avLst/>
          </a:prstGeom>
          <a:noFill/>
          <a:ln>
            <a:noFill/>
          </a:ln>
        </p:spPr>
        <p:txBody>
          <a:bodyPr spcFirstLastPara="1" wrap="square" lIns="91425" tIns="45700" rIns="91425" bIns="45700" anchor="t">
            <a:noAutofit/>
          </a:bodyPr>
          <a:lstStyle/>
          <a:p>
            <a:pPr marL="457200" lvl="0" indent="-342900" algn="l">
              <a:lnSpc>
                <a:spcPct val="90000"/>
              </a:lnSpc>
              <a:spcBef>
                <a:spcPts val="1000"/>
              </a:spcBef>
              <a:spcAft>
                <a:spcPts val="0"/>
              </a:spcAft>
              <a:buClr>
                <a:schemeClr val="dk1"/>
              </a:buClr>
              <a:buSzPts val="1800"/>
              <a:buChar char="•"/>
            </a:pPr>
            <a:r>
              <a:rPr b="1">
                <a:latin typeface="Arial"/>
                <a:ea typeface="Arial"/>
                <a:cs typeface="Arial"/>
              </a:rPr>
              <a:t>JIT: Giao </a:t>
            </a:r>
            <a:r>
              <a:rPr b="1" err="1">
                <a:latin typeface="Arial"/>
                <a:ea typeface="Arial"/>
                <a:cs typeface="Arial"/>
              </a:rPr>
              <a:t>đúng</a:t>
            </a:r>
            <a:r>
              <a:rPr b="1">
                <a:latin typeface="Arial"/>
                <a:ea typeface="Arial"/>
                <a:cs typeface="Arial"/>
              </a:rPr>
              <a:t> </a:t>
            </a:r>
            <a:r>
              <a:rPr b="1" err="1">
                <a:latin typeface="Arial"/>
                <a:ea typeface="Arial"/>
                <a:cs typeface="Arial"/>
              </a:rPr>
              <a:t>số</a:t>
            </a:r>
            <a:r>
              <a:rPr b="1">
                <a:latin typeface="Arial"/>
                <a:ea typeface="Arial"/>
                <a:cs typeface="Arial"/>
              </a:rPr>
              <a:t> </a:t>
            </a:r>
            <a:r>
              <a:rPr b="1" err="1">
                <a:latin typeface="Arial"/>
                <a:ea typeface="Arial"/>
                <a:cs typeface="Arial"/>
              </a:rPr>
              <a:t>lượng</a:t>
            </a:r>
            <a:r>
              <a:rPr b="1">
                <a:latin typeface="Arial"/>
                <a:ea typeface="Arial"/>
                <a:cs typeface="Arial"/>
              </a:rPr>
              <a:t>, </a:t>
            </a:r>
            <a:r>
              <a:rPr b="1" err="1">
                <a:latin typeface="Arial"/>
                <a:ea typeface="Arial"/>
                <a:cs typeface="Arial"/>
              </a:rPr>
              <a:t>đúng</a:t>
            </a:r>
            <a:r>
              <a:rPr b="1">
                <a:latin typeface="Arial"/>
                <a:ea typeface="Arial"/>
                <a:cs typeface="Arial"/>
              </a:rPr>
              <a:t> </a:t>
            </a:r>
            <a:r>
              <a:rPr b="1" err="1">
                <a:latin typeface="Arial"/>
                <a:ea typeface="Arial"/>
                <a:cs typeface="Arial"/>
              </a:rPr>
              <a:t>thời</a:t>
            </a:r>
            <a:r>
              <a:rPr b="1">
                <a:latin typeface="Arial"/>
                <a:ea typeface="Arial"/>
                <a:cs typeface="Arial"/>
              </a:rPr>
              <a:t> </a:t>
            </a:r>
            <a:r>
              <a:rPr b="1" err="1">
                <a:latin typeface="Arial"/>
                <a:ea typeface="Arial"/>
                <a:cs typeface="Arial"/>
              </a:rPr>
              <a:t>điểm</a:t>
            </a:r>
            <a:r>
              <a:rPr b="1">
                <a:latin typeface="Arial"/>
                <a:ea typeface="Arial"/>
                <a:cs typeface="Arial"/>
              </a:rPr>
              <a:t> </a:t>
            </a:r>
            <a:r>
              <a:rPr b="1" err="1">
                <a:latin typeface="Arial"/>
                <a:ea typeface="Arial"/>
                <a:cs typeface="Arial"/>
              </a:rPr>
              <a:t>cần</a:t>
            </a:r>
            <a:r>
              <a:rPr b="1">
                <a:latin typeface="Arial"/>
                <a:ea typeface="Arial"/>
                <a:cs typeface="Arial"/>
              </a:rPr>
              <a:t> </a:t>
            </a:r>
            <a:r>
              <a:rPr b="1" err="1">
                <a:latin typeface="Arial"/>
                <a:ea typeface="Arial"/>
                <a:cs typeface="Arial"/>
              </a:rPr>
              <a:t>sử</a:t>
            </a:r>
            <a:r>
              <a:rPr b="1">
                <a:latin typeface="Arial"/>
                <a:ea typeface="Arial"/>
                <a:cs typeface="Arial"/>
              </a:rPr>
              <a:t> </a:t>
            </a:r>
            <a:r>
              <a:rPr b="1" err="1">
                <a:latin typeface="Arial"/>
                <a:ea typeface="Arial"/>
                <a:cs typeface="Arial"/>
              </a:rPr>
              <a:t>dụng</a:t>
            </a:r>
            <a:r>
              <a:rPr b="1">
                <a:latin typeface="Arial"/>
                <a:ea typeface="Arial"/>
                <a:cs typeface="Arial"/>
              </a:rPr>
              <a:t>.</a:t>
            </a:r>
          </a:p>
          <a:p>
            <a:pPr marL="914400" lvl="1" indent="-342900" algn="l">
              <a:lnSpc>
                <a:spcPct val="150000"/>
              </a:lnSpc>
              <a:spcBef>
                <a:spcPts val="500"/>
              </a:spcBef>
              <a:spcAft>
                <a:spcPts val="0"/>
              </a:spcAft>
              <a:buSzPts val="1800"/>
              <a:buFont typeface="Arial"/>
              <a:buChar char="-"/>
            </a:pPr>
            <a:r>
              <a:rPr sz="2800">
                <a:solidFill>
                  <a:schemeClr val="dk1"/>
                </a:solidFill>
                <a:latin typeface="Arial"/>
                <a:ea typeface="Arial"/>
                <a:cs typeface="Arial"/>
              </a:rPr>
              <a:t>LỢI ÍCH: </a:t>
            </a:r>
            <a:r>
              <a:rPr sz="2800" err="1">
                <a:solidFill>
                  <a:schemeClr val="dk1"/>
                </a:solidFill>
                <a:latin typeface="Arial"/>
                <a:ea typeface="Arial"/>
                <a:cs typeface="Arial"/>
              </a:rPr>
              <a:t>Giảm</a:t>
            </a:r>
            <a:r>
              <a:rPr sz="2800">
                <a:solidFill>
                  <a:schemeClr val="dk1"/>
                </a:solidFill>
                <a:latin typeface="Arial"/>
                <a:ea typeface="Arial"/>
                <a:cs typeface="Arial"/>
              </a:rPr>
              <a:t> </a:t>
            </a:r>
            <a:r>
              <a:rPr sz="2800" err="1">
                <a:solidFill>
                  <a:schemeClr val="dk1"/>
                </a:solidFill>
                <a:latin typeface="Arial"/>
                <a:ea typeface="Arial"/>
                <a:cs typeface="Arial"/>
              </a:rPr>
              <a:t>tồn</a:t>
            </a:r>
            <a:r>
              <a:rPr sz="2800">
                <a:solidFill>
                  <a:schemeClr val="dk1"/>
                </a:solidFill>
                <a:latin typeface="Arial"/>
                <a:ea typeface="Arial"/>
                <a:cs typeface="Arial"/>
              </a:rPr>
              <a:t> </a:t>
            </a:r>
            <a:r>
              <a:rPr sz="2800" err="1">
                <a:solidFill>
                  <a:schemeClr val="dk1"/>
                </a:solidFill>
                <a:latin typeface="Arial"/>
                <a:ea typeface="Arial"/>
                <a:cs typeface="Arial"/>
              </a:rPr>
              <a:t>kho</a:t>
            </a:r>
            <a:r>
              <a:rPr lang="en-US" sz="2800">
                <a:latin typeface="Arial"/>
                <a:ea typeface="Arial"/>
                <a:cs typeface="Arial"/>
              </a:rPr>
              <a:t>,</a:t>
            </a:r>
            <a:r>
              <a:rPr sz="2800">
                <a:solidFill>
                  <a:schemeClr val="dk1"/>
                </a:solidFill>
                <a:latin typeface="Arial"/>
                <a:ea typeface="Arial"/>
                <a:cs typeface="Arial"/>
              </a:rPr>
              <a:t> </a:t>
            </a:r>
            <a:r>
              <a:rPr sz="2800" err="1">
                <a:solidFill>
                  <a:schemeClr val="dk1"/>
                </a:solidFill>
                <a:latin typeface="Arial"/>
                <a:ea typeface="Arial"/>
                <a:cs typeface="Arial"/>
              </a:rPr>
              <a:t>giảm</a:t>
            </a:r>
            <a:r>
              <a:rPr sz="2800">
                <a:solidFill>
                  <a:schemeClr val="dk1"/>
                </a:solidFill>
                <a:latin typeface="Arial"/>
                <a:ea typeface="Arial"/>
                <a:cs typeface="Arial"/>
              </a:rPr>
              <a:t> chi </a:t>
            </a:r>
            <a:r>
              <a:rPr sz="2800" err="1">
                <a:solidFill>
                  <a:schemeClr val="dk1"/>
                </a:solidFill>
                <a:latin typeface="Arial"/>
                <a:ea typeface="Arial"/>
                <a:cs typeface="Arial"/>
              </a:rPr>
              <a:t>phí</a:t>
            </a:r>
            <a:r>
              <a:rPr lang="en-US" sz="2800">
                <a:latin typeface="Arial"/>
                <a:ea typeface="Arial"/>
                <a:cs typeface="Arial"/>
              </a:rPr>
              <a:t>, </a:t>
            </a:r>
            <a:r>
              <a:rPr sz="2800" err="1">
                <a:solidFill>
                  <a:schemeClr val="dk1"/>
                </a:solidFill>
                <a:latin typeface="Arial"/>
                <a:ea typeface="Arial"/>
                <a:cs typeface="Arial"/>
              </a:rPr>
              <a:t>giải</a:t>
            </a:r>
            <a:r>
              <a:rPr sz="2800">
                <a:solidFill>
                  <a:schemeClr val="dk1"/>
                </a:solidFill>
                <a:latin typeface="Arial"/>
                <a:ea typeface="Arial"/>
                <a:cs typeface="Arial"/>
              </a:rPr>
              <a:t> </a:t>
            </a:r>
            <a:r>
              <a:rPr sz="2800" err="1">
                <a:solidFill>
                  <a:schemeClr val="dk1"/>
                </a:solidFill>
                <a:latin typeface="Arial"/>
                <a:ea typeface="Arial"/>
                <a:cs typeface="Arial"/>
              </a:rPr>
              <a:t>phóng</a:t>
            </a:r>
            <a:r>
              <a:rPr sz="2800">
                <a:solidFill>
                  <a:schemeClr val="dk1"/>
                </a:solidFill>
                <a:latin typeface="Arial"/>
                <a:ea typeface="Arial"/>
                <a:cs typeface="Arial"/>
              </a:rPr>
              <a:t> </a:t>
            </a:r>
            <a:r>
              <a:rPr sz="2800" err="1">
                <a:solidFill>
                  <a:schemeClr val="dk1"/>
                </a:solidFill>
                <a:latin typeface="Arial"/>
                <a:ea typeface="Arial"/>
                <a:cs typeface="Arial"/>
              </a:rPr>
              <a:t>vốn</a:t>
            </a:r>
            <a:endParaRPr sz="2800">
              <a:solidFill>
                <a:schemeClr val="dk1"/>
              </a:solidFill>
              <a:latin typeface="Arial"/>
              <a:ea typeface="Arial"/>
              <a:cs typeface="Arial"/>
            </a:endParaRPr>
          </a:p>
          <a:p>
            <a:pPr marL="914400" lvl="1" indent="-342900" algn="l">
              <a:lnSpc>
                <a:spcPct val="150000"/>
              </a:lnSpc>
              <a:spcBef>
                <a:spcPts val="500"/>
              </a:spcBef>
              <a:spcAft>
                <a:spcPts val="0"/>
              </a:spcAft>
              <a:buSzPts val="1800"/>
              <a:buFont typeface="Arial"/>
              <a:buChar char="-"/>
            </a:pPr>
            <a:r>
              <a:rPr sz="2800">
                <a:solidFill>
                  <a:schemeClr val="dk1"/>
                </a:solidFill>
                <a:latin typeface="Arial"/>
                <a:ea typeface="Arial"/>
                <a:cs typeface="Arial"/>
              </a:rPr>
              <a:t>ĐIỀU KIỆN: </a:t>
            </a:r>
            <a:r>
              <a:rPr sz="2800" err="1">
                <a:solidFill>
                  <a:schemeClr val="dk1"/>
                </a:solidFill>
                <a:latin typeface="Arial"/>
                <a:ea typeface="Arial"/>
                <a:cs typeface="Arial"/>
              </a:rPr>
              <a:t>Chất</a:t>
            </a:r>
            <a:r>
              <a:rPr sz="2800">
                <a:solidFill>
                  <a:schemeClr val="dk1"/>
                </a:solidFill>
                <a:latin typeface="Arial"/>
                <a:ea typeface="Arial"/>
                <a:cs typeface="Arial"/>
              </a:rPr>
              <a:t> </a:t>
            </a:r>
            <a:r>
              <a:rPr sz="2800" err="1">
                <a:solidFill>
                  <a:schemeClr val="dk1"/>
                </a:solidFill>
                <a:latin typeface="Arial"/>
                <a:ea typeface="Arial"/>
                <a:cs typeface="Arial"/>
              </a:rPr>
              <a:t>lượng</a:t>
            </a:r>
            <a:r>
              <a:rPr sz="2800">
                <a:solidFill>
                  <a:schemeClr val="dk1"/>
                </a:solidFill>
                <a:latin typeface="Arial"/>
                <a:ea typeface="Arial"/>
                <a:cs typeface="Arial"/>
              </a:rPr>
              <a:t> </a:t>
            </a:r>
            <a:r>
              <a:rPr sz="2800" err="1">
                <a:solidFill>
                  <a:schemeClr val="dk1"/>
                </a:solidFill>
                <a:latin typeface="Arial"/>
                <a:ea typeface="Arial"/>
                <a:cs typeface="Arial"/>
              </a:rPr>
              <a:t>ổn</a:t>
            </a:r>
            <a:r>
              <a:rPr sz="2800">
                <a:solidFill>
                  <a:schemeClr val="dk1"/>
                </a:solidFill>
                <a:latin typeface="Arial"/>
                <a:ea typeface="Arial"/>
                <a:cs typeface="Arial"/>
              </a:rPr>
              <a:t> </a:t>
            </a:r>
            <a:r>
              <a:rPr sz="2800" err="1">
                <a:solidFill>
                  <a:schemeClr val="dk1"/>
                </a:solidFill>
                <a:latin typeface="Arial"/>
                <a:ea typeface="Arial"/>
                <a:cs typeface="Arial"/>
              </a:rPr>
              <a:t>định</a:t>
            </a:r>
            <a:r>
              <a:rPr lang="en-US" sz="2800">
                <a:latin typeface="Arial"/>
                <a:ea typeface="Arial"/>
                <a:cs typeface="Arial"/>
              </a:rPr>
              <a:t>, </a:t>
            </a:r>
            <a:r>
              <a:rPr sz="2800" err="1">
                <a:solidFill>
                  <a:schemeClr val="dk1"/>
                </a:solidFill>
                <a:latin typeface="Arial"/>
                <a:ea typeface="Arial"/>
                <a:cs typeface="Arial"/>
              </a:rPr>
              <a:t>giao</a:t>
            </a:r>
            <a:r>
              <a:rPr sz="2800">
                <a:solidFill>
                  <a:schemeClr val="dk1"/>
                </a:solidFill>
                <a:latin typeface="Arial"/>
                <a:ea typeface="Arial"/>
                <a:cs typeface="Arial"/>
              </a:rPr>
              <a:t> </a:t>
            </a:r>
            <a:r>
              <a:rPr sz="2800" err="1">
                <a:solidFill>
                  <a:schemeClr val="dk1"/>
                </a:solidFill>
                <a:latin typeface="Arial"/>
                <a:ea typeface="Arial"/>
                <a:cs typeface="Arial"/>
              </a:rPr>
              <a:t>hàng</a:t>
            </a:r>
            <a:r>
              <a:rPr sz="2800">
                <a:solidFill>
                  <a:schemeClr val="dk1"/>
                </a:solidFill>
                <a:latin typeface="Arial"/>
                <a:ea typeface="Arial"/>
                <a:cs typeface="Arial"/>
              </a:rPr>
              <a:t> </a:t>
            </a:r>
            <a:r>
              <a:rPr sz="2800" err="1">
                <a:solidFill>
                  <a:schemeClr val="dk1"/>
                </a:solidFill>
                <a:latin typeface="Arial"/>
                <a:ea typeface="Arial"/>
                <a:cs typeface="Arial"/>
              </a:rPr>
              <a:t>chính</a:t>
            </a:r>
            <a:r>
              <a:rPr sz="2800">
                <a:solidFill>
                  <a:schemeClr val="dk1"/>
                </a:solidFill>
                <a:latin typeface="Arial"/>
                <a:ea typeface="Arial"/>
                <a:cs typeface="Arial"/>
              </a:rPr>
              <a:t> </a:t>
            </a:r>
            <a:r>
              <a:rPr sz="2800" err="1">
                <a:solidFill>
                  <a:schemeClr val="dk1"/>
                </a:solidFill>
                <a:latin typeface="Arial"/>
                <a:ea typeface="Arial"/>
                <a:cs typeface="Arial"/>
              </a:rPr>
              <a:t>xác</a:t>
            </a:r>
            <a:r>
              <a:rPr lang="en-US" sz="2800">
                <a:latin typeface="Arial"/>
                <a:ea typeface="Arial"/>
                <a:cs typeface="Arial"/>
              </a:rPr>
              <a:t>, </a:t>
            </a:r>
            <a:r>
              <a:rPr sz="2800" err="1">
                <a:solidFill>
                  <a:schemeClr val="dk1"/>
                </a:solidFill>
                <a:latin typeface="Arial"/>
                <a:ea typeface="Arial"/>
                <a:cs typeface="Arial"/>
              </a:rPr>
              <a:t>nhà</a:t>
            </a:r>
            <a:r>
              <a:rPr sz="2800">
                <a:solidFill>
                  <a:schemeClr val="dk1"/>
                </a:solidFill>
                <a:latin typeface="Arial"/>
                <a:ea typeface="Arial"/>
                <a:cs typeface="Arial"/>
              </a:rPr>
              <a:t> </a:t>
            </a:r>
            <a:r>
              <a:rPr sz="2800" err="1">
                <a:solidFill>
                  <a:schemeClr val="dk1"/>
                </a:solidFill>
                <a:latin typeface="Arial"/>
                <a:ea typeface="Arial"/>
                <a:cs typeface="Arial"/>
              </a:rPr>
              <a:t>cung</a:t>
            </a:r>
            <a:r>
              <a:rPr sz="2800">
                <a:solidFill>
                  <a:schemeClr val="dk1"/>
                </a:solidFill>
                <a:latin typeface="Arial"/>
                <a:ea typeface="Arial"/>
                <a:cs typeface="Arial"/>
              </a:rPr>
              <a:t> </a:t>
            </a:r>
            <a:r>
              <a:rPr sz="2800" err="1">
                <a:solidFill>
                  <a:schemeClr val="dk1"/>
                </a:solidFill>
                <a:latin typeface="Arial"/>
                <a:ea typeface="Arial"/>
                <a:cs typeface="Arial"/>
              </a:rPr>
              <a:t>cấp</a:t>
            </a:r>
            <a:r>
              <a:rPr sz="2800">
                <a:solidFill>
                  <a:schemeClr val="dk1"/>
                </a:solidFill>
                <a:latin typeface="Arial"/>
                <a:ea typeface="Arial"/>
                <a:cs typeface="Arial"/>
              </a:rPr>
              <a:t> tin </a:t>
            </a:r>
            <a:r>
              <a:rPr sz="2800" err="1">
                <a:solidFill>
                  <a:schemeClr val="dk1"/>
                </a:solidFill>
                <a:latin typeface="Arial"/>
                <a:ea typeface="Arial"/>
                <a:cs typeface="Arial"/>
              </a:rPr>
              <a:t>cậy</a:t>
            </a:r>
            <a:endParaRPr sz="2800">
              <a:solidFill>
                <a:schemeClr val="dk1"/>
              </a:solidFill>
              <a:latin typeface="Arial"/>
              <a:ea typeface="Arial"/>
              <a:cs typeface="Arial"/>
            </a:endParaRPr>
          </a:p>
          <a:p>
            <a:pPr marL="457200" lvl="0" indent="-342900" algn="l">
              <a:lnSpc>
                <a:spcPct val="150000"/>
              </a:lnSpc>
              <a:spcBef>
                <a:spcPts val="1000"/>
              </a:spcBef>
              <a:spcAft>
                <a:spcPts val="0"/>
              </a:spcAft>
              <a:buSzPts val="1800"/>
              <a:buFont typeface="Noto Sans Symbols"/>
              <a:buChar char="🡪"/>
            </a:pPr>
            <a:r>
              <a:rPr>
                <a:solidFill>
                  <a:srgbClr val="089236"/>
                </a:solidFill>
                <a:latin typeface="Arial"/>
                <a:ea typeface="Arial"/>
                <a:cs typeface="Arial"/>
              </a:rPr>
              <a:t>RỦI RO: Giao </a:t>
            </a:r>
            <a:r>
              <a:rPr err="1">
                <a:solidFill>
                  <a:srgbClr val="089236"/>
                </a:solidFill>
                <a:latin typeface="Arial"/>
                <a:ea typeface="Arial"/>
                <a:cs typeface="Arial"/>
              </a:rPr>
              <a:t>trễ</a:t>
            </a:r>
            <a:r>
              <a:rPr>
                <a:solidFill>
                  <a:srgbClr val="089236"/>
                </a:solidFill>
                <a:latin typeface="Arial"/>
                <a:ea typeface="Arial"/>
                <a:cs typeface="Arial"/>
              </a:rPr>
              <a:t> </a:t>
            </a:r>
            <a:r>
              <a:rPr err="1">
                <a:solidFill>
                  <a:srgbClr val="089236"/>
                </a:solidFill>
                <a:latin typeface="Arial"/>
                <a:ea typeface="Arial"/>
                <a:cs typeface="Arial"/>
              </a:rPr>
              <a:t>có</a:t>
            </a:r>
            <a:r>
              <a:rPr>
                <a:solidFill>
                  <a:srgbClr val="089236"/>
                </a:solidFill>
                <a:latin typeface="Arial"/>
                <a:ea typeface="Arial"/>
                <a:cs typeface="Arial"/>
              </a:rPr>
              <a:t> </a:t>
            </a:r>
            <a:r>
              <a:rPr err="1">
                <a:solidFill>
                  <a:srgbClr val="089236"/>
                </a:solidFill>
                <a:latin typeface="Arial"/>
                <a:ea typeface="Arial"/>
                <a:cs typeface="Arial"/>
              </a:rPr>
              <a:t>thể</a:t>
            </a:r>
            <a:r>
              <a:rPr>
                <a:solidFill>
                  <a:srgbClr val="089236"/>
                </a:solidFill>
                <a:latin typeface="Arial"/>
                <a:ea typeface="Arial"/>
                <a:cs typeface="Arial"/>
              </a:rPr>
              <a:t> </a:t>
            </a:r>
            <a:r>
              <a:rPr err="1">
                <a:solidFill>
                  <a:srgbClr val="089236"/>
                </a:solidFill>
                <a:latin typeface="Arial"/>
                <a:ea typeface="Arial"/>
                <a:cs typeface="Arial"/>
              </a:rPr>
              <a:t>làm</a:t>
            </a:r>
            <a:r>
              <a:rPr>
                <a:solidFill>
                  <a:srgbClr val="089236"/>
                </a:solidFill>
                <a:latin typeface="Arial"/>
                <a:ea typeface="Arial"/>
                <a:cs typeface="Arial"/>
              </a:rPr>
              <a:t> </a:t>
            </a:r>
            <a:r>
              <a:rPr err="1">
                <a:solidFill>
                  <a:srgbClr val="089236"/>
                </a:solidFill>
                <a:latin typeface="Arial"/>
                <a:ea typeface="Arial"/>
                <a:cs typeface="Arial"/>
              </a:rPr>
              <a:t>gián</a:t>
            </a:r>
            <a:r>
              <a:rPr>
                <a:solidFill>
                  <a:srgbClr val="089236"/>
                </a:solidFill>
                <a:latin typeface="Arial"/>
                <a:ea typeface="Arial"/>
                <a:cs typeface="Arial"/>
              </a:rPr>
              <a:t> </a:t>
            </a:r>
            <a:r>
              <a:rPr err="1">
                <a:solidFill>
                  <a:srgbClr val="089236"/>
                </a:solidFill>
                <a:latin typeface="Arial"/>
                <a:ea typeface="Arial"/>
                <a:cs typeface="Arial"/>
              </a:rPr>
              <a:t>đoạn</a:t>
            </a:r>
            <a:r>
              <a:rPr>
                <a:solidFill>
                  <a:srgbClr val="089236"/>
                </a:solidFill>
                <a:latin typeface="Arial"/>
                <a:ea typeface="Arial"/>
                <a:cs typeface="Arial"/>
              </a:rPr>
              <a:t> </a:t>
            </a:r>
            <a:r>
              <a:rPr err="1">
                <a:solidFill>
                  <a:srgbClr val="089236"/>
                </a:solidFill>
                <a:latin typeface="Arial"/>
                <a:ea typeface="Arial"/>
                <a:cs typeface="Arial"/>
              </a:rPr>
              <a:t>hoạt</a:t>
            </a:r>
            <a:r>
              <a:rPr>
                <a:solidFill>
                  <a:srgbClr val="089236"/>
                </a:solidFill>
                <a:latin typeface="Arial"/>
                <a:ea typeface="Arial"/>
                <a:cs typeface="Arial"/>
              </a:rPr>
              <a:t> </a:t>
            </a:r>
            <a:r>
              <a:rPr err="1">
                <a:solidFill>
                  <a:srgbClr val="089236"/>
                </a:solidFill>
                <a:latin typeface="Arial"/>
                <a:ea typeface="Arial"/>
                <a:cs typeface="Arial"/>
              </a:rPr>
              <a:t>động</a:t>
            </a:r>
            <a:r>
              <a:rPr>
                <a:solidFill>
                  <a:srgbClr val="089236"/>
                </a:solidFill>
                <a:latin typeface="Arial"/>
                <a:ea typeface="Arial"/>
                <a:cs typeface="Arial"/>
              </a:rPr>
              <a:t> </a:t>
            </a:r>
            <a:r>
              <a:rPr err="1">
                <a:solidFill>
                  <a:srgbClr val="089236"/>
                </a:solidFill>
                <a:latin typeface="Arial"/>
                <a:ea typeface="Arial"/>
                <a:cs typeface="Arial"/>
              </a:rPr>
              <a:t>sản</a:t>
            </a:r>
            <a:r>
              <a:rPr>
                <a:solidFill>
                  <a:srgbClr val="089236"/>
                </a:solidFill>
                <a:latin typeface="Arial"/>
                <a:ea typeface="Arial"/>
                <a:cs typeface="Arial"/>
              </a:rPr>
              <a:t> </a:t>
            </a:r>
            <a:r>
              <a:rPr err="1">
                <a:solidFill>
                  <a:srgbClr val="089236"/>
                </a:solidFill>
                <a:latin typeface="Arial"/>
                <a:ea typeface="Arial"/>
                <a:cs typeface="Arial"/>
              </a:rPr>
              <a:t>xuất</a:t>
            </a:r>
            <a:r>
              <a:rPr>
                <a:solidFill>
                  <a:srgbClr val="089236"/>
                </a:solidFill>
                <a:latin typeface="Arial"/>
                <a:ea typeface="Arial"/>
                <a:cs typeface="Arial"/>
              </a:rPr>
              <a:t>.</a:t>
            </a:r>
          </a:p>
        </p:txBody>
      </p:sp>
    </p:spTree>
    <p:extLst>
      <p:ext uri="{BB962C8B-B14F-4D97-AF65-F5344CB8AC3E}">
        <p14:creationId xmlns:p14="http://schemas.microsoft.com/office/powerpoint/2010/main" val="1478429322"/>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2" name="Google Shape;3202;p409">
            <a:extLst>
              <a:ext uri="{FF2B5EF4-FFF2-40B4-BE49-F238E27FC236}">
                <a16:creationId xmlns:a16="http://schemas.microsoft.com/office/drawing/2014/main" id="{D9BA2BC9-9CB8-48F3-9F66-BB2F1C822443}"/>
              </a:ext>
            </a:extLst>
          </p:cNvPr>
          <p:cNvSpPr>
            <a:spLocks noGrp="1"/>
          </p:cNvSpPr>
          <p:nvPr>
            <p:ph type="title"/>
          </p:nvPr>
        </p:nvSpPr>
        <p:spPr>
          <a:xfrm>
            <a:off x="186690" y="-12580"/>
            <a:ext cx="10515600" cy="1325563"/>
          </a:xfrm>
          <a:prstGeom prst="rect">
            <a:avLst/>
          </a:prstGeom>
          <a:noFill/>
          <a:ln>
            <a:noFill/>
          </a:ln>
        </p:spPr>
        <p:txBody>
          <a:bodyPr spcFirstLastPara="1" wrap="square" lIns="91425" tIns="45700" rIns="91425" bIns="45700" anchor="ctr">
            <a:normAutofit/>
          </a:bodyPr>
          <a:lstStyle/>
          <a:p>
            <a:pPr lvl="0">
              <a:spcBef>
                <a:spcPts val="1000"/>
              </a:spcBef>
              <a:spcAft>
                <a:spcPct val="0"/>
              </a:spcAft>
              <a:buClr>
                <a:srgbClr val="000000"/>
              </a:buClr>
              <a:buSzPts val="1800"/>
              <a:buNone/>
            </a:pPr>
            <a:r>
              <a:rPr sz="2600" b="1">
                <a:solidFill>
                  <a:schemeClr val="tx1"/>
                </a:solidFill>
                <a:latin typeface="+mn-lt"/>
                <a:ea typeface="+mn-lt"/>
                <a:cs typeface="+mn-lt"/>
              </a:rPr>
              <a:t>7.</a:t>
            </a:r>
            <a:r>
              <a:rPr lang="en-US" sz="2600" b="1">
                <a:solidFill>
                  <a:schemeClr val="tx1"/>
                </a:solidFill>
                <a:latin typeface="+mn-lt"/>
                <a:ea typeface="+mn-lt"/>
                <a:cs typeface="+mn-lt"/>
              </a:rPr>
              <a:t>3</a:t>
            </a:r>
            <a:r>
              <a:rPr sz="2600" b="1">
                <a:solidFill>
                  <a:schemeClr val="tx1"/>
                </a:solidFill>
                <a:latin typeface="+mn-lt"/>
                <a:ea typeface="+mn-lt"/>
                <a:cs typeface="+mn-lt"/>
              </a:rPr>
              <a:t>.4.5. Mua </a:t>
            </a:r>
            <a:r>
              <a:rPr sz="2600" b="1" err="1">
                <a:solidFill>
                  <a:schemeClr val="tx1"/>
                </a:solidFill>
                <a:latin typeface="+mn-lt"/>
                <a:ea typeface="+mn-lt"/>
                <a:cs typeface="+mn-lt"/>
              </a:rPr>
              <a:t>đồng</a:t>
            </a:r>
            <a:r>
              <a:rPr sz="2600" b="1">
                <a:solidFill>
                  <a:schemeClr val="tx1"/>
                </a:solidFill>
                <a:latin typeface="+mn-lt"/>
                <a:ea typeface="+mn-lt"/>
                <a:cs typeface="+mn-lt"/>
              </a:rPr>
              <a:t> </a:t>
            </a:r>
            <a:r>
              <a:rPr sz="2600" b="1" err="1">
                <a:solidFill>
                  <a:schemeClr val="tx1"/>
                </a:solidFill>
                <a:latin typeface="+mn-lt"/>
                <a:ea typeface="+mn-lt"/>
                <a:cs typeface="+mn-lt"/>
              </a:rPr>
              <a:t>bộ</a:t>
            </a:r>
            <a:r>
              <a:rPr sz="2600" b="1">
                <a:solidFill>
                  <a:schemeClr val="tx1"/>
                </a:solidFill>
                <a:latin typeface="+mn-lt"/>
                <a:ea typeface="+mn-lt"/>
                <a:cs typeface="+mn-lt"/>
              </a:rPr>
              <a:t>: </a:t>
            </a:r>
            <a:r>
              <a:rPr sz="2600" b="1" err="1">
                <a:solidFill>
                  <a:schemeClr val="tx1"/>
                </a:solidFill>
                <a:latin typeface="+mn-lt"/>
                <a:ea typeface="+mn-lt"/>
                <a:cs typeface="+mn-lt"/>
              </a:rPr>
              <a:t>Một</a:t>
            </a:r>
            <a:r>
              <a:rPr sz="2600" b="1">
                <a:solidFill>
                  <a:schemeClr val="tx1"/>
                </a:solidFill>
                <a:latin typeface="+mn-lt"/>
                <a:ea typeface="+mn-lt"/>
                <a:cs typeface="+mn-lt"/>
              </a:rPr>
              <a:t> </a:t>
            </a:r>
            <a:r>
              <a:rPr sz="2600" b="1" err="1">
                <a:solidFill>
                  <a:schemeClr val="tx1"/>
                </a:solidFill>
                <a:latin typeface="+mn-lt"/>
                <a:ea typeface="+mn-lt"/>
                <a:cs typeface="+mn-lt"/>
              </a:rPr>
              <a:t>giải</a:t>
            </a:r>
            <a:r>
              <a:rPr sz="2600" b="1">
                <a:solidFill>
                  <a:schemeClr val="tx1"/>
                </a:solidFill>
                <a:latin typeface="+mn-lt"/>
                <a:ea typeface="+mn-lt"/>
                <a:cs typeface="+mn-lt"/>
              </a:rPr>
              <a:t> </a:t>
            </a:r>
            <a:r>
              <a:rPr sz="2600" b="1" err="1">
                <a:solidFill>
                  <a:schemeClr val="tx1"/>
                </a:solidFill>
                <a:latin typeface="+mn-lt"/>
                <a:ea typeface="+mn-lt"/>
                <a:cs typeface="+mn-lt"/>
              </a:rPr>
              <a:t>pháp</a:t>
            </a:r>
            <a:r>
              <a:rPr sz="2600" b="1">
                <a:solidFill>
                  <a:schemeClr val="tx1"/>
                </a:solidFill>
                <a:latin typeface="+mn-lt"/>
                <a:ea typeface="+mn-lt"/>
                <a:cs typeface="+mn-lt"/>
              </a:rPr>
              <a:t> – </a:t>
            </a:r>
            <a:r>
              <a:rPr sz="2600" b="1" err="1">
                <a:solidFill>
                  <a:schemeClr val="tx1"/>
                </a:solidFill>
                <a:latin typeface="+mn-lt"/>
                <a:ea typeface="+mn-lt"/>
                <a:cs typeface="+mn-lt"/>
              </a:rPr>
              <a:t>một</a:t>
            </a:r>
            <a:r>
              <a:rPr sz="2600" b="1">
                <a:solidFill>
                  <a:schemeClr val="tx1"/>
                </a:solidFill>
                <a:latin typeface="+mn-lt"/>
                <a:ea typeface="+mn-lt"/>
                <a:cs typeface="+mn-lt"/>
              </a:rPr>
              <a:t> </a:t>
            </a:r>
            <a:r>
              <a:rPr sz="2600" b="1" err="1">
                <a:solidFill>
                  <a:schemeClr val="tx1"/>
                </a:solidFill>
                <a:latin typeface="+mn-lt"/>
                <a:ea typeface="+mn-lt"/>
                <a:cs typeface="+mn-lt"/>
              </a:rPr>
              <a:t>đầu</a:t>
            </a:r>
            <a:r>
              <a:rPr sz="2600" b="1">
                <a:solidFill>
                  <a:schemeClr val="tx1"/>
                </a:solidFill>
                <a:latin typeface="+mn-lt"/>
                <a:ea typeface="+mn-lt"/>
                <a:cs typeface="+mn-lt"/>
              </a:rPr>
              <a:t> </a:t>
            </a:r>
            <a:r>
              <a:rPr sz="2600" b="1" err="1">
                <a:solidFill>
                  <a:schemeClr val="tx1"/>
                </a:solidFill>
                <a:latin typeface="+mn-lt"/>
                <a:ea typeface="+mn-lt"/>
                <a:cs typeface="+mn-lt"/>
              </a:rPr>
              <a:t>mối</a:t>
            </a:r>
            <a:endParaRPr sz="2600" b="1" kern="1200">
              <a:solidFill>
                <a:schemeClr val="tx1"/>
              </a:solidFill>
              <a:latin typeface="+mn-lt"/>
              <a:ea typeface="+mn-lt"/>
              <a:cs typeface="+mn-lt"/>
            </a:endParaRPr>
          </a:p>
        </p:txBody>
      </p:sp>
      <p:sp>
        <p:nvSpPr>
          <p:cNvPr id="3204" name="Google Shape;3204;p409">
            <a:extLst>
              <a:ext uri="{FF2B5EF4-FFF2-40B4-BE49-F238E27FC236}">
                <a16:creationId xmlns:a16="http://schemas.microsoft.com/office/drawing/2014/main" id="{A51D497C-39A3-452F-AF39-5D1F487E3F6B}"/>
              </a:ext>
            </a:extLst>
          </p:cNvPr>
          <p:cNvSpPr>
            <a:spLocks noGrp="1"/>
          </p:cNvSpPr>
          <p:nvPr/>
        </p:nvSpPr>
        <p:spPr>
          <a:xfrm>
            <a:off x="754381" y="3382027"/>
            <a:ext cx="10367010" cy="1006199"/>
          </a:xfrm>
          <a:prstGeom prst="roundRect">
            <a:avLst>
              <a:gd name="adj" fmla="val 16667"/>
            </a:avLst>
          </a:prstGeom>
          <a:solidFill>
            <a:schemeClr val="accent1">
              <a:lumMod val="20000"/>
              <a:lumOff val="80000"/>
            </a:schemeClr>
          </a:solidFill>
          <a:ln w="25400" cmpd="sng">
            <a:solidFill>
              <a:schemeClr val="lt1"/>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3205" name="Google Shape;3205;p409">
            <a:extLst>
              <a:ext uri="{FF2B5EF4-FFF2-40B4-BE49-F238E27FC236}">
                <a16:creationId xmlns:a16="http://schemas.microsoft.com/office/drawing/2014/main" id="{1A2666B5-94EA-4873-B40D-7AD558F4E807}"/>
              </a:ext>
            </a:extLst>
          </p:cNvPr>
          <p:cNvSpPr>
            <a:spLocks noGrp="1"/>
          </p:cNvSpPr>
          <p:nvPr/>
        </p:nvSpPr>
        <p:spPr>
          <a:xfrm>
            <a:off x="754382" y="3431145"/>
            <a:ext cx="10286998" cy="791669"/>
          </a:xfrm>
          <a:prstGeom prst="rect">
            <a:avLst/>
          </a:prstGeom>
          <a:noFill/>
          <a:ln>
            <a:noFill/>
          </a:ln>
        </p:spPr>
        <p:txBody>
          <a:bodyPr spcFirstLastPara="1" wrap="square" lIns="163825" tIns="163825" rIns="163825" bIns="163825" anchor="ctr">
            <a:noAutofit/>
          </a:bodyPr>
          <a:lstStyle/>
          <a:p>
            <a:pPr marL="0" marR="0" lvl="0" indent="0" algn="l">
              <a:lnSpc>
                <a:spcPct val="90000"/>
              </a:lnSpc>
              <a:spcBef>
                <a:spcPts val="0"/>
              </a:spcBef>
              <a:spcAft>
                <a:spcPts val="0"/>
              </a:spcAft>
              <a:buClr>
                <a:srgbClr val="000000"/>
              </a:buClr>
              <a:buSzPts val="4300"/>
              <a:buFont typeface="Arial"/>
              <a:buNone/>
            </a:pPr>
            <a:r>
              <a:rPr sz="3800" b="0" i="0" u="none" cap="none">
                <a:latin typeface="Arial"/>
                <a:ea typeface="Arial"/>
                <a:cs typeface="Arial"/>
              </a:rPr>
              <a:t>HỆ THỐNG VÀ DỊCH VỤ TRỌN GÓI</a:t>
            </a:r>
          </a:p>
        </p:txBody>
      </p:sp>
      <p:sp>
        <p:nvSpPr>
          <p:cNvPr id="3206" name="Google Shape;3206;p409">
            <a:extLst>
              <a:ext uri="{FF2B5EF4-FFF2-40B4-BE49-F238E27FC236}">
                <a16:creationId xmlns:a16="http://schemas.microsoft.com/office/drawing/2014/main" id="{CFD5E3D2-4CA5-4306-9295-2AC6773D28A2}"/>
              </a:ext>
            </a:extLst>
          </p:cNvPr>
          <p:cNvSpPr>
            <a:spLocks noGrp="1"/>
          </p:cNvSpPr>
          <p:nvPr/>
        </p:nvSpPr>
        <p:spPr>
          <a:xfrm>
            <a:off x="754381" y="4538817"/>
            <a:ext cx="10367010" cy="957081"/>
          </a:xfrm>
          <a:prstGeom prst="roundRect">
            <a:avLst>
              <a:gd name="adj" fmla="val 16667"/>
            </a:avLst>
          </a:prstGeom>
          <a:solidFill>
            <a:srgbClr val="C47F6E"/>
          </a:solidFill>
          <a:ln w="25400" cmpd="sng">
            <a:solidFill>
              <a:schemeClr val="lt1"/>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3207" name="Google Shape;3207;p409">
            <a:extLst>
              <a:ext uri="{FF2B5EF4-FFF2-40B4-BE49-F238E27FC236}">
                <a16:creationId xmlns:a16="http://schemas.microsoft.com/office/drawing/2014/main" id="{17F0B73B-D439-40F8-B417-7AA9DCC1D308}"/>
              </a:ext>
            </a:extLst>
          </p:cNvPr>
          <p:cNvSpPr>
            <a:spLocks noGrp="1"/>
          </p:cNvSpPr>
          <p:nvPr/>
        </p:nvSpPr>
        <p:spPr>
          <a:xfrm>
            <a:off x="754381" y="4587935"/>
            <a:ext cx="10286999" cy="907963"/>
          </a:xfrm>
          <a:prstGeom prst="rect">
            <a:avLst/>
          </a:prstGeom>
          <a:solidFill>
            <a:schemeClr val="accent6">
              <a:lumMod val="20000"/>
              <a:lumOff val="80000"/>
            </a:schemeClr>
          </a:solidFill>
          <a:ln>
            <a:noFill/>
          </a:ln>
        </p:spPr>
        <p:txBody>
          <a:bodyPr spcFirstLastPara="1" wrap="square" lIns="163825" tIns="163825" rIns="163825" bIns="163825" anchor="ctr">
            <a:noAutofit/>
          </a:bodyPr>
          <a:lstStyle/>
          <a:p>
            <a:pPr marL="0" marR="0" lvl="0" indent="0" algn="l">
              <a:lnSpc>
                <a:spcPct val="90000"/>
              </a:lnSpc>
              <a:spcBef>
                <a:spcPts val="0"/>
              </a:spcBef>
              <a:spcAft>
                <a:spcPts val="0"/>
              </a:spcAft>
              <a:buClr>
                <a:srgbClr val="000000"/>
              </a:buClr>
              <a:buSzPts val="4300"/>
              <a:buFont typeface="Arial"/>
              <a:buNone/>
            </a:pPr>
            <a:r>
              <a:rPr sz="3800" b="0" i="0" u="none" cap="none">
                <a:latin typeface="Arial"/>
                <a:ea typeface="Arial"/>
                <a:cs typeface="Arial"/>
              </a:rPr>
              <a:t>MỘT NHÀ CUNG CẤP CHỊU TRÁCH NHIỆM</a:t>
            </a:r>
          </a:p>
        </p:txBody>
      </p:sp>
      <p:sp>
        <p:nvSpPr>
          <p:cNvPr id="3208" name="Google Shape;3208;p409">
            <a:extLst>
              <a:ext uri="{FF2B5EF4-FFF2-40B4-BE49-F238E27FC236}">
                <a16:creationId xmlns:a16="http://schemas.microsoft.com/office/drawing/2014/main" id="{FF75A159-35CC-4A77-A135-81B0D7CF45FE}"/>
              </a:ext>
            </a:extLst>
          </p:cNvPr>
          <p:cNvSpPr>
            <a:spLocks noGrp="1"/>
          </p:cNvSpPr>
          <p:nvPr/>
        </p:nvSpPr>
        <p:spPr>
          <a:xfrm>
            <a:off x="754381" y="2260534"/>
            <a:ext cx="10367010" cy="1014729"/>
          </a:xfrm>
          <a:prstGeom prst="roundRect">
            <a:avLst>
              <a:gd name="adj" fmla="val 16667"/>
            </a:avLst>
          </a:prstGeom>
          <a:solidFill>
            <a:srgbClr val="A4A4A4"/>
          </a:solidFill>
          <a:ln w="25400" cmpd="sng">
            <a:solidFill>
              <a:schemeClr val="lt1"/>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3209" name="Google Shape;3209;p409">
            <a:extLst>
              <a:ext uri="{FF2B5EF4-FFF2-40B4-BE49-F238E27FC236}">
                <a16:creationId xmlns:a16="http://schemas.microsoft.com/office/drawing/2014/main" id="{5EFE5A73-7771-406C-9683-1FC00740F1E4}"/>
              </a:ext>
            </a:extLst>
          </p:cNvPr>
          <p:cNvSpPr>
            <a:spLocks noGrp="1"/>
          </p:cNvSpPr>
          <p:nvPr/>
        </p:nvSpPr>
        <p:spPr>
          <a:xfrm>
            <a:off x="948690" y="2318181"/>
            <a:ext cx="9753600" cy="1006199"/>
          </a:xfrm>
          <a:prstGeom prst="rect">
            <a:avLst/>
          </a:prstGeom>
          <a:noFill/>
          <a:ln>
            <a:noFill/>
          </a:ln>
        </p:spPr>
        <p:txBody>
          <a:bodyPr spcFirstLastPara="1" wrap="square" lIns="163825" tIns="163825" rIns="163825" bIns="163825" anchor="ctr">
            <a:noAutofit/>
          </a:bodyPr>
          <a:lstStyle/>
          <a:p>
            <a:pPr marL="0" marR="0" lvl="0" indent="0" algn="l">
              <a:lnSpc>
                <a:spcPct val="90000"/>
              </a:lnSpc>
              <a:spcBef>
                <a:spcPts val="0"/>
              </a:spcBef>
              <a:spcAft>
                <a:spcPts val="0"/>
              </a:spcAft>
              <a:buClr>
                <a:srgbClr val="000000"/>
              </a:buClr>
              <a:buSzPts val="4300"/>
              <a:buFont typeface="Arial"/>
              <a:buNone/>
            </a:pPr>
            <a:r>
              <a:rPr sz="3800" i="0" u="none" cap="none">
                <a:latin typeface="Arial"/>
                <a:ea typeface="Arial"/>
                <a:cs typeface="Arial"/>
              </a:rPr>
              <a:t>BỘ SẢN PHẨM LIÊN QUAN</a:t>
            </a:r>
          </a:p>
        </p:txBody>
      </p:sp>
    </p:spTree>
    <p:extLst>
      <p:ext uri="{BB962C8B-B14F-4D97-AF65-F5344CB8AC3E}">
        <p14:creationId xmlns:p14="http://schemas.microsoft.com/office/powerpoint/2010/main" val="4028021559"/>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Shape 3322"/>
        <p:cNvGrpSpPr/>
        <p:nvPr/>
      </p:nvGrpSpPr>
      <p:grpSpPr>
        <a:xfrm>
          <a:off x="0" y="0"/>
          <a:ext cx="0" cy="0"/>
          <a:chOff x="0" y="0"/>
          <a:chExt cx="0" cy="0"/>
        </a:xfrm>
      </p:grpSpPr>
      <p:sp>
        <p:nvSpPr>
          <p:cNvPr id="3323" name="Google Shape;3323;p425"/>
          <p:cNvSpPr txBox="1">
            <a:spLocks noGrp="1"/>
          </p:cNvSpPr>
          <p:nvPr>
            <p:ph type="title"/>
          </p:nvPr>
        </p:nvSpPr>
        <p:spPr>
          <a:xfrm>
            <a:off x="838200" y="22965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3200" b="1">
                <a:latin typeface="Arial"/>
                <a:ea typeface="Arial"/>
                <a:cs typeface="Arial"/>
                <a:sym typeface="Arial"/>
              </a:rPr>
              <a:t>Câu hỏi thảo luận</a:t>
            </a:r>
            <a:endParaRPr sz="3200" b="1">
              <a:latin typeface="Arial"/>
              <a:ea typeface="Arial"/>
              <a:cs typeface="Arial"/>
              <a:sym typeface="Arial"/>
            </a:endParaRPr>
          </a:p>
        </p:txBody>
      </p:sp>
      <p:sp>
        <p:nvSpPr>
          <p:cNvPr id="3324" name="Google Shape;3324;p425"/>
          <p:cNvSpPr txBox="1">
            <a:spLocks noGrp="1"/>
          </p:cNvSpPr>
          <p:nvPr>
            <p:ph type="body" idx="1"/>
          </p:nvPr>
        </p:nvSpPr>
        <p:spPr>
          <a:xfrm>
            <a:off x="438149" y="1271057"/>
            <a:ext cx="11287125" cy="4351338"/>
          </a:xfrm>
          <a:prstGeom prst="rect">
            <a:avLst/>
          </a:prstGeom>
          <a:noFill/>
          <a:ln>
            <a:noFill/>
          </a:ln>
        </p:spPr>
        <p:txBody>
          <a:bodyPr spcFirstLastPara="1" wrap="square" lIns="91425" tIns="45700" rIns="91425" bIns="45700" anchor="t" anchorCtr="0">
            <a:noAutofit/>
          </a:bodyPr>
          <a:lstStyle/>
          <a:p>
            <a:pPr marL="457200" lvl="0" indent="-457200" algn="l" rtl="0">
              <a:lnSpc>
                <a:spcPct val="100000"/>
              </a:lnSpc>
              <a:spcBef>
                <a:spcPts val="1000"/>
              </a:spcBef>
              <a:spcAft>
                <a:spcPts val="0"/>
              </a:spcAft>
              <a:buSzPts val="1800"/>
              <a:buFont typeface="Arial"/>
              <a:buAutoNum type="arabicPeriod"/>
            </a:pPr>
            <a:r>
              <a:rPr lang="en-US" err="1">
                <a:latin typeface="+mn-lt"/>
              </a:rPr>
              <a:t>Phân</a:t>
            </a:r>
            <a:r>
              <a:rPr lang="en-US">
                <a:latin typeface="+mn-lt"/>
              </a:rPr>
              <a:t> </a:t>
            </a:r>
            <a:r>
              <a:rPr lang="en-US" err="1">
                <a:latin typeface="+mn-lt"/>
              </a:rPr>
              <a:t>biệt</a:t>
            </a:r>
            <a:r>
              <a:rPr lang="en-US">
                <a:latin typeface="+mn-lt"/>
              </a:rPr>
              <a:t> </a:t>
            </a:r>
            <a:r>
              <a:rPr lang="en-US" err="1">
                <a:latin typeface="+mn-lt"/>
              </a:rPr>
              <a:t>ba</a:t>
            </a:r>
            <a:r>
              <a:rPr lang="en-US">
                <a:latin typeface="+mn-lt"/>
              </a:rPr>
              <a:t> </a:t>
            </a:r>
            <a:r>
              <a:rPr lang="en-US" err="1">
                <a:latin typeface="+mn-lt"/>
              </a:rPr>
              <a:t>dạng</a:t>
            </a:r>
            <a:r>
              <a:rPr lang="en-US">
                <a:latin typeface="+mn-lt"/>
              </a:rPr>
              <a:t> </a:t>
            </a:r>
            <a:r>
              <a:rPr lang="en-US" err="1">
                <a:latin typeface="+mn-lt"/>
              </a:rPr>
              <a:t>hành</a:t>
            </a:r>
            <a:r>
              <a:rPr lang="en-US">
                <a:latin typeface="+mn-lt"/>
              </a:rPr>
              <a:t> vi </a:t>
            </a:r>
            <a:r>
              <a:rPr lang="en-US" err="1">
                <a:latin typeface="+mn-lt"/>
              </a:rPr>
              <a:t>mua</a:t>
            </a:r>
            <a:r>
              <a:rPr lang="en-US">
                <a:latin typeface="+mn-lt"/>
              </a:rPr>
              <a:t> </a:t>
            </a:r>
            <a:r>
              <a:rPr lang="en-US" err="1">
                <a:latin typeface="+mn-lt"/>
              </a:rPr>
              <a:t>của</a:t>
            </a:r>
            <a:r>
              <a:rPr lang="en-US">
                <a:latin typeface="+mn-lt"/>
              </a:rPr>
              <a:t> </a:t>
            </a:r>
            <a:r>
              <a:rPr lang="en-US" err="1">
                <a:latin typeface="+mn-lt"/>
              </a:rPr>
              <a:t>khách</a:t>
            </a:r>
            <a:r>
              <a:rPr lang="en-US">
                <a:latin typeface="+mn-lt"/>
              </a:rPr>
              <a:t> </a:t>
            </a:r>
            <a:r>
              <a:rPr lang="en-US" err="1">
                <a:latin typeface="+mn-lt"/>
              </a:rPr>
              <a:t>hàng</a:t>
            </a:r>
            <a:r>
              <a:rPr lang="en-US">
                <a:latin typeface="+mn-lt"/>
              </a:rPr>
              <a:t> </a:t>
            </a:r>
            <a:r>
              <a:rPr lang="en-US" err="1">
                <a:latin typeface="+mn-lt"/>
              </a:rPr>
              <a:t>tổ</a:t>
            </a:r>
            <a:r>
              <a:rPr lang="en-US">
                <a:latin typeface="+mn-lt"/>
              </a:rPr>
              <a:t> </a:t>
            </a:r>
            <a:r>
              <a:rPr lang="en-US" err="1">
                <a:latin typeface="+mn-lt"/>
              </a:rPr>
              <a:t>chức</a:t>
            </a:r>
            <a:r>
              <a:rPr lang="en-US">
                <a:latin typeface="+mn-lt"/>
              </a:rPr>
              <a:t>: </a:t>
            </a:r>
            <a:r>
              <a:rPr lang="en-US" err="1">
                <a:latin typeface="+mn-lt"/>
              </a:rPr>
              <a:t>mua</a:t>
            </a:r>
            <a:r>
              <a:rPr lang="en-US">
                <a:latin typeface="+mn-lt"/>
              </a:rPr>
              <a:t> </a:t>
            </a:r>
            <a:r>
              <a:rPr lang="en-US" err="1">
                <a:latin typeface="+mn-lt"/>
              </a:rPr>
              <a:t>mới</a:t>
            </a:r>
            <a:r>
              <a:rPr lang="en-US">
                <a:latin typeface="+mn-lt"/>
              </a:rPr>
              <a:t>, </a:t>
            </a:r>
            <a:r>
              <a:rPr lang="en-US" err="1">
                <a:latin typeface="+mn-lt"/>
              </a:rPr>
              <a:t>mua</a:t>
            </a:r>
            <a:r>
              <a:rPr lang="en-US">
                <a:latin typeface="+mn-lt"/>
              </a:rPr>
              <a:t> </a:t>
            </a:r>
            <a:r>
              <a:rPr lang="en-US" err="1">
                <a:latin typeface="+mn-lt"/>
              </a:rPr>
              <a:t>lặp</a:t>
            </a:r>
            <a:r>
              <a:rPr lang="en-US">
                <a:latin typeface="+mn-lt"/>
              </a:rPr>
              <a:t> </a:t>
            </a:r>
            <a:r>
              <a:rPr lang="en-US" err="1">
                <a:latin typeface="+mn-lt"/>
              </a:rPr>
              <a:t>lại</a:t>
            </a:r>
            <a:r>
              <a:rPr lang="en-US">
                <a:latin typeface="+mn-lt"/>
              </a:rPr>
              <a:t> </a:t>
            </a:r>
            <a:r>
              <a:rPr lang="en-US" err="1">
                <a:latin typeface="+mn-lt"/>
              </a:rPr>
              <a:t>không</a:t>
            </a:r>
            <a:r>
              <a:rPr lang="en-US">
                <a:latin typeface="+mn-lt"/>
              </a:rPr>
              <a:t> </a:t>
            </a:r>
            <a:r>
              <a:rPr lang="en-US" err="1">
                <a:latin typeface="+mn-lt"/>
              </a:rPr>
              <a:t>thay</a:t>
            </a:r>
            <a:r>
              <a:rPr lang="en-US">
                <a:latin typeface="+mn-lt"/>
              </a:rPr>
              <a:t> </a:t>
            </a:r>
            <a:r>
              <a:rPr lang="en-US" err="1">
                <a:latin typeface="+mn-lt"/>
              </a:rPr>
              <a:t>đổi</a:t>
            </a:r>
            <a:r>
              <a:rPr lang="en-US">
                <a:latin typeface="+mn-lt"/>
              </a:rPr>
              <a:t> </a:t>
            </a:r>
            <a:r>
              <a:rPr lang="en-US" err="1">
                <a:latin typeface="+mn-lt"/>
              </a:rPr>
              <a:t>và</a:t>
            </a:r>
            <a:r>
              <a:rPr lang="en-US">
                <a:latin typeface="+mn-lt"/>
              </a:rPr>
              <a:t> </a:t>
            </a:r>
            <a:r>
              <a:rPr lang="en-US" err="1">
                <a:latin typeface="+mn-lt"/>
              </a:rPr>
              <a:t>mua</a:t>
            </a:r>
            <a:r>
              <a:rPr lang="en-US">
                <a:latin typeface="+mn-lt"/>
              </a:rPr>
              <a:t> </a:t>
            </a:r>
            <a:r>
              <a:rPr lang="en-US" err="1">
                <a:latin typeface="+mn-lt"/>
              </a:rPr>
              <a:t>lặp</a:t>
            </a:r>
            <a:r>
              <a:rPr lang="en-US">
                <a:latin typeface="+mn-lt"/>
              </a:rPr>
              <a:t> </a:t>
            </a:r>
            <a:r>
              <a:rPr lang="en-US" err="1">
                <a:latin typeface="+mn-lt"/>
              </a:rPr>
              <a:t>lại</a:t>
            </a:r>
            <a:r>
              <a:rPr lang="en-US">
                <a:latin typeface="+mn-lt"/>
              </a:rPr>
              <a:t> </a:t>
            </a:r>
            <a:r>
              <a:rPr lang="en-US" err="1">
                <a:latin typeface="+mn-lt"/>
              </a:rPr>
              <a:t>có</a:t>
            </a:r>
            <a:r>
              <a:rPr lang="en-US">
                <a:latin typeface="+mn-lt"/>
              </a:rPr>
              <a:t> </a:t>
            </a:r>
            <a:r>
              <a:rPr lang="en-US" err="1">
                <a:latin typeface="+mn-lt"/>
              </a:rPr>
              <a:t>điều</a:t>
            </a:r>
            <a:r>
              <a:rPr lang="en-US">
                <a:latin typeface="+mn-lt"/>
              </a:rPr>
              <a:t> </a:t>
            </a:r>
            <a:r>
              <a:rPr lang="en-US" err="1">
                <a:latin typeface="+mn-lt"/>
              </a:rPr>
              <a:t>chỉnh</a:t>
            </a:r>
            <a:r>
              <a:rPr lang="en-US">
                <a:latin typeface="+mn-lt"/>
                <a:ea typeface="Arial"/>
                <a:cs typeface="Arial"/>
                <a:sym typeface="Arial"/>
              </a:rPr>
              <a:t>?</a:t>
            </a:r>
            <a:endParaRPr>
              <a:latin typeface="+mn-lt"/>
            </a:endParaRPr>
          </a:p>
          <a:p>
            <a:pPr marL="457200" lvl="0" indent="-457200" algn="l" rtl="0">
              <a:lnSpc>
                <a:spcPct val="100000"/>
              </a:lnSpc>
              <a:spcBef>
                <a:spcPts val="1000"/>
              </a:spcBef>
              <a:spcAft>
                <a:spcPts val="0"/>
              </a:spcAft>
              <a:buSzPts val="1800"/>
              <a:buFont typeface="Arial"/>
              <a:buAutoNum type="arabicPeriod"/>
            </a:pPr>
            <a:r>
              <a:rPr lang="en-US" err="1">
                <a:latin typeface="+mn-lt"/>
              </a:rPr>
              <a:t>Trình</a:t>
            </a:r>
            <a:r>
              <a:rPr lang="en-US">
                <a:latin typeface="+mn-lt"/>
              </a:rPr>
              <a:t> </a:t>
            </a:r>
            <a:r>
              <a:rPr lang="en-US" err="1">
                <a:latin typeface="+mn-lt"/>
              </a:rPr>
              <a:t>bày</a:t>
            </a:r>
            <a:r>
              <a:rPr lang="en-US">
                <a:latin typeface="+mn-lt"/>
              </a:rPr>
              <a:t> </a:t>
            </a:r>
            <a:r>
              <a:rPr lang="en-US" err="1">
                <a:latin typeface="+mn-lt"/>
              </a:rPr>
              <a:t>các</a:t>
            </a:r>
            <a:r>
              <a:rPr lang="en-US">
                <a:latin typeface="+mn-lt"/>
              </a:rPr>
              <a:t> </a:t>
            </a:r>
            <a:r>
              <a:rPr lang="en-US" err="1">
                <a:latin typeface="+mn-lt"/>
              </a:rPr>
              <a:t>giai</a:t>
            </a:r>
            <a:r>
              <a:rPr lang="en-US">
                <a:latin typeface="+mn-lt"/>
              </a:rPr>
              <a:t> </a:t>
            </a:r>
            <a:r>
              <a:rPr lang="en-US" err="1">
                <a:latin typeface="+mn-lt"/>
              </a:rPr>
              <a:t>đoạn</a:t>
            </a:r>
            <a:r>
              <a:rPr lang="en-US">
                <a:latin typeface="+mn-lt"/>
              </a:rPr>
              <a:t> </a:t>
            </a:r>
            <a:r>
              <a:rPr lang="en-US" err="1">
                <a:latin typeface="+mn-lt"/>
              </a:rPr>
              <a:t>trong</a:t>
            </a:r>
            <a:r>
              <a:rPr lang="en-US">
                <a:latin typeface="+mn-lt"/>
              </a:rPr>
              <a:t> </a:t>
            </a:r>
            <a:r>
              <a:rPr lang="en-US" err="1">
                <a:latin typeface="+mn-lt"/>
              </a:rPr>
              <a:t>quá</a:t>
            </a:r>
            <a:r>
              <a:rPr lang="en-US">
                <a:latin typeface="+mn-lt"/>
              </a:rPr>
              <a:t> </a:t>
            </a:r>
            <a:r>
              <a:rPr lang="en-US" err="1">
                <a:latin typeface="+mn-lt"/>
              </a:rPr>
              <a:t>trình</a:t>
            </a:r>
            <a:r>
              <a:rPr lang="en-US">
                <a:latin typeface="+mn-lt"/>
              </a:rPr>
              <a:t> </a:t>
            </a:r>
            <a:r>
              <a:rPr lang="en-US" err="1">
                <a:latin typeface="+mn-lt"/>
              </a:rPr>
              <a:t>ra</a:t>
            </a:r>
            <a:r>
              <a:rPr lang="en-US">
                <a:latin typeface="+mn-lt"/>
              </a:rPr>
              <a:t> </a:t>
            </a:r>
            <a:r>
              <a:rPr lang="en-US" err="1">
                <a:latin typeface="+mn-lt"/>
              </a:rPr>
              <a:t>quyết</a:t>
            </a:r>
            <a:r>
              <a:rPr lang="en-US">
                <a:latin typeface="+mn-lt"/>
              </a:rPr>
              <a:t> </a:t>
            </a:r>
            <a:r>
              <a:rPr lang="en-US" err="1">
                <a:latin typeface="+mn-lt"/>
              </a:rPr>
              <a:t>định</a:t>
            </a:r>
            <a:r>
              <a:rPr lang="en-US">
                <a:latin typeface="+mn-lt"/>
              </a:rPr>
              <a:t> </a:t>
            </a:r>
            <a:r>
              <a:rPr lang="en-US" err="1">
                <a:latin typeface="+mn-lt"/>
              </a:rPr>
              <a:t>mua</a:t>
            </a:r>
            <a:r>
              <a:rPr lang="en-US">
                <a:latin typeface="+mn-lt"/>
              </a:rPr>
              <a:t> </a:t>
            </a:r>
            <a:r>
              <a:rPr lang="en-US" err="1">
                <a:latin typeface="+mn-lt"/>
              </a:rPr>
              <a:t>của</a:t>
            </a:r>
            <a:r>
              <a:rPr lang="en-US">
                <a:latin typeface="+mn-lt"/>
              </a:rPr>
              <a:t> </a:t>
            </a:r>
            <a:r>
              <a:rPr lang="en-US" err="1">
                <a:latin typeface="+mn-lt"/>
              </a:rPr>
              <a:t>khách</a:t>
            </a:r>
            <a:r>
              <a:rPr lang="en-US">
                <a:latin typeface="+mn-lt"/>
              </a:rPr>
              <a:t> </a:t>
            </a:r>
            <a:r>
              <a:rPr lang="en-US" err="1">
                <a:latin typeface="+mn-lt"/>
              </a:rPr>
              <a:t>hàng</a:t>
            </a:r>
            <a:r>
              <a:rPr lang="en-US">
                <a:latin typeface="+mn-lt"/>
              </a:rPr>
              <a:t> </a:t>
            </a:r>
            <a:r>
              <a:rPr lang="en-US" err="1">
                <a:latin typeface="+mn-lt"/>
              </a:rPr>
              <a:t>tổ</a:t>
            </a:r>
            <a:r>
              <a:rPr lang="en-US">
                <a:latin typeface="+mn-lt"/>
              </a:rPr>
              <a:t> </a:t>
            </a:r>
            <a:r>
              <a:rPr lang="en-US" err="1">
                <a:latin typeface="+mn-lt"/>
              </a:rPr>
              <a:t>chức</a:t>
            </a:r>
            <a:r>
              <a:rPr lang="en-US">
                <a:latin typeface="+mn-lt"/>
                <a:ea typeface="Arial"/>
                <a:cs typeface="Arial"/>
                <a:sym typeface="Arial"/>
              </a:rPr>
              <a:t>?</a:t>
            </a:r>
            <a:endParaRPr>
              <a:latin typeface="+mn-lt"/>
              <a:ea typeface="Arial"/>
              <a:cs typeface="Arial"/>
              <a:sym typeface="Arial"/>
            </a:endParaRPr>
          </a:p>
          <a:p>
            <a:pPr indent="-457200">
              <a:lnSpc>
                <a:spcPct val="100000"/>
              </a:lnSpc>
              <a:buFont typeface="Arial"/>
              <a:buAutoNum type="arabicPeriod"/>
            </a:pPr>
            <a:r>
              <a:rPr lang="vi-VN">
                <a:latin typeface="+mn-lt"/>
              </a:rPr>
              <a:t>Phân tích vai trò của các thành viên trong “trung tâm mua” và mức độ ảnh hưởng của họ đến quyết định mua</a:t>
            </a:r>
            <a:r>
              <a:rPr lang="en-US">
                <a:latin typeface="+mn-lt"/>
              </a:rPr>
              <a:t>. </a:t>
            </a:r>
            <a:endParaRPr>
              <a:latin typeface="+mn-lt"/>
            </a:endParaRPr>
          </a:p>
          <a:p>
            <a:pPr marL="457200" lvl="0" indent="-457200" algn="l" rtl="0">
              <a:lnSpc>
                <a:spcPct val="100000"/>
              </a:lnSpc>
              <a:spcBef>
                <a:spcPts val="1000"/>
              </a:spcBef>
              <a:spcAft>
                <a:spcPts val="0"/>
              </a:spcAft>
              <a:buSzPts val="1800"/>
              <a:buFont typeface="Arial"/>
              <a:buAutoNum type="arabicPeriod"/>
            </a:pPr>
            <a:r>
              <a:rPr lang="en-US" err="1">
                <a:latin typeface="+mn-lt"/>
              </a:rPr>
              <a:t>Những</a:t>
            </a:r>
            <a:r>
              <a:rPr lang="en-US">
                <a:latin typeface="+mn-lt"/>
              </a:rPr>
              <a:t> </a:t>
            </a:r>
            <a:r>
              <a:rPr lang="en-US" err="1">
                <a:latin typeface="+mn-lt"/>
              </a:rPr>
              <a:t>yếu</a:t>
            </a:r>
            <a:r>
              <a:rPr lang="en-US">
                <a:latin typeface="+mn-lt"/>
              </a:rPr>
              <a:t> </a:t>
            </a:r>
            <a:r>
              <a:rPr lang="en-US" err="1">
                <a:latin typeface="+mn-lt"/>
              </a:rPr>
              <a:t>tố</a:t>
            </a:r>
            <a:r>
              <a:rPr lang="en-US">
                <a:latin typeface="+mn-lt"/>
              </a:rPr>
              <a:t> </a:t>
            </a:r>
            <a:r>
              <a:rPr lang="en-US" err="1">
                <a:latin typeface="+mn-lt"/>
              </a:rPr>
              <a:t>nào</a:t>
            </a:r>
            <a:r>
              <a:rPr lang="en-US">
                <a:latin typeface="+mn-lt"/>
              </a:rPr>
              <a:t> </a:t>
            </a:r>
            <a:r>
              <a:rPr lang="en-US" err="1">
                <a:latin typeface="+mn-lt"/>
              </a:rPr>
              <a:t>tác</a:t>
            </a:r>
            <a:r>
              <a:rPr lang="en-US">
                <a:latin typeface="+mn-lt"/>
              </a:rPr>
              <a:t> </a:t>
            </a:r>
            <a:r>
              <a:rPr lang="en-US" err="1">
                <a:latin typeface="+mn-lt"/>
              </a:rPr>
              <a:t>động</a:t>
            </a:r>
            <a:r>
              <a:rPr lang="en-US">
                <a:latin typeface="+mn-lt"/>
              </a:rPr>
              <a:t> </a:t>
            </a:r>
            <a:r>
              <a:rPr lang="en-US" err="1">
                <a:latin typeface="+mn-lt"/>
              </a:rPr>
              <a:t>đến</a:t>
            </a:r>
            <a:r>
              <a:rPr lang="en-US">
                <a:latin typeface="+mn-lt"/>
              </a:rPr>
              <a:t> </a:t>
            </a:r>
            <a:r>
              <a:rPr lang="en-US" err="1">
                <a:latin typeface="+mn-lt"/>
              </a:rPr>
              <a:t>quá</a:t>
            </a:r>
            <a:r>
              <a:rPr lang="en-US">
                <a:latin typeface="+mn-lt"/>
              </a:rPr>
              <a:t> </a:t>
            </a:r>
            <a:r>
              <a:rPr lang="en-US" err="1">
                <a:latin typeface="+mn-lt"/>
              </a:rPr>
              <a:t>trình</a:t>
            </a:r>
            <a:r>
              <a:rPr lang="en-US">
                <a:latin typeface="+mn-lt"/>
              </a:rPr>
              <a:t> </a:t>
            </a:r>
            <a:r>
              <a:rPr lang="en-US" err="1">
                <a:latin typeface="+mn-lt"/>
              </a:rPr>
              <a:t>ra</a:t>
            </a:r>
            <a:r>
              <a:rPr lang="en-US">
                <a:latin typeface="+mn-lt"/>
              </a:rPr>
              <a:t> </a:t>
            </a:r>
            <a:r>
              <a:rPr lang="en-US" err="1">
                <a:latin typeface="+mn-lt"/>
              </a:rPr>
              <a:t>quyết</a:t>
            </a:r>
            <a:r>
              <a:rPr lang="en-US">
                <a:latin typeface="+mn-lt"/>
              </a:rPr>
              <a:t> </a:t>
            </a:r>
            <a:r>
              <a:rPr lang="en-US" err="1">
                <a:latin typeface="+mn-lt"/>
              </a:rPr>
              <a:t>định</a:t>
            </a:r>
            <a:r>
              <a:rPr lang="en-US">
                <a:latin typeface="+mn-lt"/>
              </a:rPr>
              <a:t> </a:t>
            </a:r>
            <a:r>
              <a:rPr lang="en-US" err="1">
                <a:latin typeface="+mn-lt"/>
              </a:rPr>
              <a:t>mua</a:t>
            </a:r>
            <a:r>
              <a:rPr lang="en-US">
                <a:latin typeface="+mn-lt"/>
              </a:rPr>
              <a:t> </a:t>
            </a:r>
            <a:r>
              <a:rPr lang="en-US" err="1">
                <a:latin typeface="+mn-lt"/>
              </a:rPr>
              <a:t>của</a:t>
            </a:r>
            <a:r>
              <a:rPr lang="en-US">
                <a:latin typeface="+mn-lt"/>
              </a:rPr>
              <a:t> </a:t>
            </a:r>
            <a:r>
              <a:rPr lang="en-US" err="1">
                <a:latin typeface="+mn-lt"/>
              </a:rPr>
              <a:t>khách</a:t>
            </a:r>
            <a:r>
              <a:rPr lang="en-US">
                <a:latin typeface="+mn-lt"/>
              </a:rPr>
              <a:t> </a:t>
            </a:r>
            <a:r>
              <a:rPr lang="en-US" err="1">
                <a:latin typeface="+mn-lt"/>
              </a:rPr>
              <a:t>hàng</a:t>
            </a:r>
            <a:r>
              <a:rPr lang="en-US">
                <a:latin typeface="+mn-lt"/>
              </a:rPr>
              <a:t> </a:t>
            </a:r>
            <a:r>
              <a:rPr lang="en-US" err="1">
                <a:latin typeface="+mn-lt"/>
              </a:rPr>
              <a:t>tổ</a:t>
            </a:r>
            <a:r>
              <a:rPr lang="en-US">
                <a:latin typeface="+mn-lt"/>
              </a:rPr>
              <a:t> </a:t>
            </a:r>
            <a:r>
              <a:rPr lang="en-US" err="1">
                <a:latin typeface="+mn-lt"/>
              </a:rPr>
              <a:t>chức</a:t>
            </a:r>
            <a:r>
              <a:rPr lang="en-US">
                <a:latin typeface="+mn-lt"/>
              </a:rPr>
              <a:t>? Cho </a:t>
            </a:r>
            <a:r>
              <a:rPr lang="en-US" err="1">
                <a:latin typeface="+mn-lt"/>
              </a:rPr>
              <a:t>ví</a:t>
            </a:r>
            <a:r>
              <a:rPr lang="en-US">
                <a:latin typeface="+mn-lt"/>
              </a:rPr>
              <a:t> </a:t>
            </a:r>
            <a:r>
              <a:rPr lang="en-US" err="1">
                <a:latin typeface="+mn-lt"/>
              </a:rPr>
              <a:t>dụ</a:t>
            </a:r>
            <a:r>
              <a:rPr lang="en-US">
                <a:latin typeface="+mn-lt"/>
              </a:rPr>
              <a:t> </a:t>
            </a:r>
            <a:r>
              <a:rPr lang="en-US" err="1">
                <a:latin typeface="+mn-lt"/>
              </a:rPr>
              <a:t>minh</a:t>
            </a:r>
            <a:r>
              <a:rPr lang="en-US">
                <a:latin typeface="+mn-lt"/>
              </a:rPr>
              <a:t> </a:t>
            </a:r>
            <a:r>
              <a:rPr lang="en-US" err="1">
                <a:latin typeface="+mn-lt"/>
              </a:rPr>
              <a:t>họa</a:t>
            </a:r>
            <a:r>
              <a:rPr lang="en-US">
                <a:latin typeface="+mn-lt"/>
              </a:rPr>
              <a:t>.</a:t>
            </a:r>
            <a:r>
              <a:rPr lang="en-US">
                <a:latin typeface="+mn-lt"/>
                <a:ea typeface="Arial"/>
                <a:cs typeface="Arial"/>
                <a:sym typeface="Arial"/>
              </a:rPr>
              <a:t>?</a:t>
            </a:r>
            <a:endParaRPr>
              <a:latin typeface="+mn-lt"/>
              <a:ea typeface="Arial"/>
              <a:cs typeface="Arial"/>
              <a:sym typeface="Arial"/>
            </a:endParaRPr>
          </a:p>
          <a:p>
            <a:pPr marL="457200" lvl="0" indent="-457200" algn="l" rtl="0">
              <a:lnSpc>
                <a:spcPct val="100000"/>
              </a:lnSpc>
              <a:spcBef>
                <a:spcPts val="1000"/>
              </a:spcBef>
              <a:spcAft>
                <a:spcPts val="0"/>
              </a:spcAft>
              <a:buSzPts val="1800"/>
              <a:buFont typeface="Arial"/>
              <a:buAutoNum type="arabicPeriod"/>
            </a:pPr>
            <a:r>
              <a:rPr lang="en-US">
                <a:latin typeface="+mn-lt"/>
              </a:rPr>
              <a:t>So </a:t>
            </a:r>
            <a:r>
              <a:rPr lang="en-US" err="1">
                <a:latin typeface="+mn-lt"/>
              </a:rPr>
              <a:t>sánh</a:t>
            </a:r>
            <a:r>
              <a:rPr lang="en-US">
                <a:latin typeface="+mn-lt"/>
              </a:rPr>
              <a:t> </a:t>
            </a:r>
            <a:r>
              <a:rPr lang="en-US" err="1">
                <a:latin typeface="+mn-lt"/>
              </a:rPr>
              <a:t>đấu</a:t>
            </a:r>
            <a:r>
              <a:rPr lang="en-US">
                <a:latin typeface="+mn-lt"/>
              </a:rPr>
              <a:t> </a:t>
            </a:r>
            <a:r>
              <a:rPr lang="en-US" err="1">
                <a:latin typeface="+mn-lt"/>
              </a:rPr>
              <a:t>thầu</a:t>
            </a:r>
            <a:r>
              <a:rPr lang="en-US">
                <a:latin typeface="+mn-lt"/>
              </a:rPr>
              <a:t> </a:t>
            </a:r>
            <a:r>
              <a:rPr lang="en-US" err="1">
                <a:latin typeface="+mn-lt"/>
              </a:rPr>
              <a:t>và</a:t>
            </a:r>
            <a:r>
              <a:rPr lang="en-US">
                <a:latin typeface="+mn-lt"/>
              </a:rPr>
              <a:t> </a:t>
            </a:r>
            <a:r>
              <a:rPr lang="en-US" err="1">
                <a:latin typeface="+mn-lt"/>
              </a:rPr>
              <a:t>hợp</a:t>
            </a:r>
            <a:r>
              <a:rPr lang="en-US">
                <a:latin typeface="+mn-lt"/>
              </a:rPr>
              <a:t> </a:t>
            </a:r>
            <a:r>
              <a:rPr lang="en-US" err="1">
                <a:latin typeface="+mn-lt"/>
              </a:rPr>
              <a:t>đồng</a:t>
            </a:r>
            <a:r>
              <a:rPr lang="en-US">
                <a:latin typeface="+mn-lt"/>
              </a:rPr>
              <a:t> </a:t>
            </a:r>
            <a:r>
              <a:rPr lang="en-US" err="1">
                <a:latin typeface="+mn-lt"/>
              </a:rPr>
              <a:t>dài</a:t>
            </a:r>
            <a:r>
              <a:rPr lang="en-US">
                <a:latin typeface="+mn-lt"/>
              </a:rPr>
              <a:t> </a:t>
            </a:r>
            <a:r>
              <a:rPr lang="en-US" err="1">
                <a:latin typeface="+mn-lt"/>
              </a:rPr>
              <a:t>hạn</a:t>
            </a:r>
            <a:r>
              <a:rPr lang="en-US">
                <a:latin typeface="+mn-lt"/>
              </a:rPr>
              <a:t> </a:t>
            </a:r>
            <a:r>
              <a:rPr lang="en-US" err="1">
                <a:latin typeface="+mn-lt"/>
              </a:rPr>
              <a:t>về</a:t>
            </a:r>
            <a:r>
              <a:rPr lang="en-US">
                <a:latin typeface="+mn-lt"/>
              </a:rPr>
              <a:t> </a:t>
            </a:r>
            <a:r>
              <a:rPr lang="en-US" err="1">
                <a:latin typeface="+mn-lt"/>
              </a:rPr>
              <a:t>mục</a:t>
            </a:r>
            <a:r>
              <a:rPr lang="en-US">
                <a:latin typeface="+mn-lt"/>
              </a:rPr>
              <a:t> </a:t>
            </a:r>
            <a:r>
              <a:rPr lang="en-US" err="1">
                <a:latin typeface="+mn-lt"/>
              </a:rPr>
              <a:t>đích</a:t>
            </a:r>
            <a:r>
              <a:rPr lang="en-US">
                <a:latin typeface="+mn-lt"/>
              </a:rPr>
              <a:t>, </a:t>
            </a:r>
            <a:r>
              <a:rPr lang="en-US" err="1">
                <a:latin typeface="+mn-lt"/>
              </a:rPr>
              <a:t>điều</a:t>
            </a:r>
            <a:r>
              <a:rPr lang="en-US">
                <a:latin typeface="+mn-lt"/>
              </a:rPr>
              <a:t> </a:t>
            </a:r>
            <a:r>
              <a:rPr lang="en-US" err="1">
                <a:latin typeface="+mn-lt"/>
              </a:rPr>
              <a:t>kiện</a:t>
            </a:r>
            <a:r>
              <a:rPr lang="en-US">
                <a:latin typeface="+mn-lt"/>
              </a:rPr>
              <a:t> </a:t>
            </a:r>
            <a:r>
              <a:rPr lang="en-US" err="1">
                <a:latin typeface="+mn-lt"/>
              </a:rPr>
              <a:t>áp</a:t>
            </a:r>
            <a:r>
              <a:rPr lang="en-US">
                <a:latin typeface="+mn-lt"/>
              </a:rPr>
              <a:t> </a:t>
            </a:r>
            <a:r>
              <a:rPr lang="en-US" err="1">
                <a:latin typeface="+mn-lt"/>
              </a:rPr>
              <a:t>dụng</a:t>
            </a:r>
            <a:r>
              <a:rPr lang="en-US">
                <a:latin typeface="+mn-lt"/>
              </a:rPr>
              <a:t> </a:t>
            </a:r>
            <a:r>
              <a:rPr lang="en-US" err="1">
                <a:latin typeface="+mn-lt"/>
              </a:rPr>
              <a:t>và</a:t>
            </a:r>
            <a:r>
              <a:rPr lang="en-US">
                <a:latin typeface="+mn-lt"/>
              </a:rPr>
              <a:t> </a:t>
            </a:r>
            <a:r>
              <a:rPr lang="en-US" err="1">
                <a:latin typeface="+mn-lt"/>
              </a:rPr>
              <a:t>lợi</a:t>
            </a:r>
            <a:r>
              <a:rPr lang="en-US">
                <a:latin typeface="+mn-lt"/>
              </a:rPr>
              <a:t> </a:t>
            </a:r>
            <a:r>
              <a:rPr lang="en-US" err="1">
                <a:latin typeface="+mn-lt"/>
              </a:rPr>
              <a:t>ích</a:t>
            </a:r>
            <a:r>
              <a:rPr lang="en-US">
                <a:latin typeface="+mn-lt"/>
              </a:rPr>
              <a:t> </a:t>
            </a:r>
            <a:r>
              <a:rPr lang="en-US" err="1">
                <a:latin typeface="+mn-lt"/>
              </a:rPr>
              <a:t>đối</a:t>
            </a:r>
            <a:r>
              <a:rPr lang="en-US">
                <a:latin typeface="+mn-lt"/>
              </a:rPr>
              <a:t> </a:t>
            </a:r>
            <a:r>
              <a:rPr lang="en-US" err="1">
                <a:latin typeface="+mn-lt"/>
              </a:rPr>
              <a:t>với</a:t>
            </a:r>
            <a:r>
              <a:rPr lang="en-US">
                <a:latin typeface="+mn-lt"/>
              </a:rPr>
              <a:t> </a:t>
            </a:r>
            <a:r>
              <a:rPr lang="en-US" err="1">
                <a:latin typeface="+mn-lt"/>
              </a:rPr>
              <a:t>khách</a:t>
            </a:r>
            <a:r>
              <a:rPr lang="en-US">
                <a:latin typeface="+mn-lt"/>
              </a:rPr>
              <a:t> </a:t>
            </a:r>
            <a:r>
              <a:rPr lang="en-US" err="1">
                <a:latin typeface="+mn-lt"/>
              </a:rPr>
              <a:t>hàng</a:t>
            </a:r>
            <a:r>
              <a:rPr lang="en-US">
                <a:latin typeface="+mn-lt"/>
              </a:rPr>
              <a:t> </a:t>
            </a:r>
            <a:r>
              <a:rPr lang="en-US" err="1">
                <a:latin typeface="+mn-lt"/>
              </a:rPr>
              <a:t>tổ</a:t>
            </a:r>
            <a:r>
              <a:rPr lang="en-US">
                <a:latin typeface="+mn-lt"/>
              </a:rPr>
              <a:t> </a:t>
            </a:r>
            <a:r>
              <a:rPr lang="en-US" err="1">
                <a:latin typeface="+mn-lt"/>
              </a:rPr>
              <a:t>chức</a:t>
            </a:r>
            <a:r>
              <a:rPr lang="en-US">
                <a:latin typeface="+mn-lt"/>
                <a:ea typeface="Arial"/>
                <a:cs typeface="Arial"/>
                <a:sym typeface="Arial"/>
              </a:rPr>
              <a:t>?</a:t>
            </a:r>
            <a:endParaRPr>
              <a:latin typeface="+mn-lt"/>
              <a:ea typeface="Arial"/>
              <a:cs typeface="Arial"/>
              <a:sym typeface="Arial"/>
            </a:endParaRPr>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Shape 3328"/>
        <p:cNvGrpSpPr/>
        <p:nvPr/>
      </p:nvGrpSpPr>
      <p:grpSpPr>
        <a:xfrm>
          <a:off x="0" y="0"/>
          <a:ext cx="0" cy="0"/>
          <a:chOff x="0" y="0"/>
          <a:chExt cx="0" cy="0"/>
        </a:xfrm>
      </p:grpSpPr>
      <p:sp>
        <p:nvSpPr>
          <p:cNvPr id="3329" name="Google Shape;3329;p426"/>
          <p:cNvSpPr txBox="1"/>
          <p:nvPr/>
        </p:nvSpPr>
        <p:spPr>
          <a:xfrm>
            <a:off x="452120" y="2153885"/>
            <a:ext cx="8543290" cy="1446509"/>
          </a:xfrm>
          <a:prstGeom prst="rect">
            <a:avLst/>
          </a:prstGeom>
          <a:noFill/>
          <a:ln>
            <a:noFill/>
          </a:ln>
        </p:spPr>
        <p:txBody>
          <a:bodyPr spcFirstLastPara="1" wrap="square" lIns="91425" tIns="45700" rIns="91425" bIns="45700" anchor="t" anchorCtr="0">
            <a:spAutoFit/>
          </a:bodyPr>
          <a:lstStyle/>
          <a:p>
            <a:pPr marR="0" lvl="0" algn="ctr" rtl="0">
              <a:lnSpc>
                <a:spcPct val="100000"/>
              </a:lnSpc>
              <a:spcBef>
                <a:spcPts val="0"/>
              </a:spcBef>
              <a:spcAft>
                <a:spcPts val="0"/>
              </a:spcAft>
              <a:buClr>
                <a:srgbClr val="0070C0"/>
              </a:buClr>
              <a:buSzPts val="4400"/>
              <a:buFont typeface="Arial"/>
              <a:buNone/>
            </a:pPr>
            <a:r>
              <a:rPr lang="en-US" sz="4400" b="1" i="0" u="none" strike="noStrike" cap="none" err="1">
                <a:solidFill>
                  <a:srgbClr val="0070C0"/>
                </a:solidFill>
                <a:latin typeface="Arial"/>
                <a:ea typeface="Arial"/>
                <a:cs typeface="Arial"/>
                <a:sym typeface="Arial"/>
              </a:rPr>
              <a:t>Cảm</a:t>
            </a:r>
            <a:r>
              <a:rPr lang="en-US" sz="4400" b="1" i="0" u="none" strike="noStrike" cap="none">
                <a:solidFill>
                  <a:srgbClr val="0070C0"/>
                </a:solidFill>
                <a:latin typeface="Arial"/>
                <a:ea typeface="Arial"/>
                <a:cs typeface="Arial"/>
                <a:sym typeface="Arial"/>
              </a:rPr>
              <a:t> </a:t>
            </a:r>
            <a:r>
              <a:rPr lang="en-US" sz="4400" b="1" i="0" u="none" strike="noStrike" cap="none" err="1">
                <a:solidFill>
                  <a:srgbClr val="0070C0"/>
                </a:solidFill>
                <a:latin typeface="Arial"/>
                <a:ea typeface="Arial"/>
                <a:cs typeface="Arial"/>
                <a:sym typeface="Arial"/>
              </a:rPr>
              <a:t>ơn</a:t>
            </a:r>
            <a:r>
              <a:rPr lang="en-US" sz="4400" b="1" i="0" u="none" strike="noStrike" cap="none">
                <a:solidFill>
                  <a:srgbClr val="0070C0"/>
                </a:solidFill>
                <a:latin typeface="Arial"/>
                <a:ea typeface="Arial"/>
                <a:cs typeface="Arial"/>
                <a:sym typeface="Arial"/>
              </a:rPr>
              <a:t> </a:t>
            </a:r>
            <a:r>
              <a:rPr lang="en-US" sz="4400" b="1" i="0" u="none" strike="noStrike" cap="none" err="1">
                <a:solidFill>
                  <a:srgbClr val="0070C0"/>
                </a:solidFill>
                <a:latin typeface="Arial"/>
                <a:ea typeface="Arial"/>
                <a:cs typeface="Arial"/>
                <a:sym typeface="Arial"/>
              </a:rPr>
              <a:t>các</a:t>
            </a:r>
            <a:r>
              <a:rPr lang="en-US" sz="4400" b="1" i="0" u="none" strike="noStrike" cap="none">
                <a:solidFill>
                  <a:srgbClr val="0070C0"/>
                </a:solidFill>
                <a:latin typeface="Arial"/>
                <a:ea typeface="Arial"/>
                <a:cs typeface="Arial"/>
                <a:sym typeface="Arial"/>
              </a:rPr>
              <a:t> </a:t>
            </a:r>
            <a:r>
              <a:rPr lang="en-US" sz="4400" b="1" i="0" u="none" strike="noStrike" cap="none" err="1">
                <a:solidFill>
                  <a:srgbClr val="0070C0"/>
                </a:solidFill>
                <a:latin typeface="Arial"/>
                <a:ea typeface="Arial"/>
                <a:cs typeface="Arial"/>
                <a:sym typeface="Arial"/>
              </a:rPr>
              <a:t>bạn</a:t>
            </a:r>
            <a:r>
              <a:rPr lang="en-US" sz="4400" b="1" i="0" u="none" strike="noStrike" cap="none">
                <a:solidFill>
                  <a:srgbClr val="0070C0"/>
                </a:solidFill>
                <a:latin typeface="Arial"/>
                <a:ea typeface="Arial"/>
                <a:cs typeface="Arial"/>
                <a:sym typeface="Arial"/>
              </a:rPr>
              <a:t> </a:t>
            </a:r>
            <a:r>
              <a:rPr lang="en-US" sz="4400" b="1" i="0" u="none" strike="noStrike" cap="none" err="1">
                <a:solidFill>
                  <a:srgbClr val="0070C0"/>
                </a:solidFill>
                <a:latin typeface="Arial"/>
                <a:ea typeface="Arial"/>
                <a:cs typeface="Arial"/>
                <a:sym typeface="Arial"/>
              </a:rPr>
              <a:t>sinh</a:t>
            </a:r>
            <a:r>
              <a:rPr lang="en-US" sz="4400" b="1" i="0" u="none" strike="noStrike" cap="none">
                <a:solidFill>
                  <a:srgbClr val="0070C0"/>
                </a:solidFill>
                <a:latin typeface="Arial"/>
                <a:ea typeface="Arial"/>
                <a:cs typeface="Arial"/>
                <a:sym typeface="Arial"/>
              </a:rPr>
              <a:t> </a:t>
            </a:r>
            <a:r>
              <a:rPr lang="en-US" sz="4400" b="1" i="0" u="none" strike="noStrike" cap="none" err="1">
                <a:solidFill>
                  <a:srgbClr val="0070C0"/>
                </a:solidFill>
                <a:latin typeface="Arial"/>
                <a:ea typeface="Arial"/>
                <a:cs typeface="Arial"/>
                <a:sym typeface="Arial"/>
              </a:rPr>
              <a:t>viên</a:t>
            </a:r>
            <a:r>
              <a:rPr lang="en-US" sz="4400" b="1" i="0" u="none" strike="noStrike" cap="none">
                <a:solidFill>
                  <a:srgbClr val="0070C0"/>
                </a:solidFill>
                <a:latin typeface="Arial"/>
                <a:ea typeface="Arial"/>
                <a:cs typeface="Arial"/>
                <a:sym typeface="Arial"/>
              </a:rPr>
              <a:t> </a:t>
            </a:r>
            <a:r>
              <a:rPr lang="en-US" sz="4400" b="1" i="0" u="none" strike="noStrike" cap="none" err="1">
                <a:solidFill>
                  <a:srgbClr val="0070C0"/>
                </a:solidFill>
                <a:latin typeface="Arial"/>
                <a:ea typeface="Arial"/>
                <a:cs typeface="Arial"/>
                <a:sym typeface="Arial"/>
              </a:rPr>
              <a:t>đã</a:t>
            </a:r>
            <a:r>
              <a:rPr lang="en-US" sz="4400" b="1" i="0" u="none" strike="noStrike" cap="none">
                <a:solidFill>
                  <a:srgbClr val="0070C0"/>
                </a:solidFill>
                <a:latin typeface="Arial"/>
                <a:ea typeface="Arial"/>
                <a:cs typeface="Arial"/>
                <a:sym typeface="Arial"/>
              </a:rPr>
              <a:t> </a:t>
            </a:r>
            <a:r>
              <a:rPr lang="en-US" sz="4400" b="1" i="0" u="none" strike="noStrike" cap="none" err="1">
                <a:solidFill>
                  <a:srgbClr val="0070C0"/>
                </a:solidFill>
                <a:latin typeface="Arial"/>
                <a:ea typeface="Arial"/>
                <a:cs typeface="Arial"/>
                <a:sym typeface="Arial"/>
              </a:rPr>
              <a:t>tham</a:t>
            </a:r>
            <a:r>
              <a:rPr lang="en-US" sz="4400" b="1" i="0" u="none" strike="noStrike" cap="none">
                <a:solidFill>
                  <a:srgbClr val="0070C0"/>
                </a:solidFill>
                <a:latin typeface="Arial"/>
                <a:ea typeface="Arial"/>
                <a:cs typeface="Arial"/>
                <a:sym typeface="Arial"/>
              </a:rPr>
              <a:t> </a:t>
            </a:r>
            <a:r>
              <a:rPr lang="en-US" sz="4400" b="1" i="0" u="none" strike="noStrike" cap="none" err="1">
                <a:solidFill>
                  <a:srgbClr val="0070C0"/>
                </a:solidFill>
                <a:latin typeface="Arial"/>
                <a:ea typeface="Arial"/>
                <a:cs typeface="Arial"/>
                <a:sym typeface="Arial"/>
              </a:rPr>
              <a:t>dự</a:t>
            </a:r>
            <a:r>
              <a:rPr lang="en-US" sz="4400" b="1" i="0" u="none" strike="noStrike" cap="none">
                <a:solidFill>
                  <a:srgbClr val="0070C0"/>
                </a:solidFill>
                <a:latin typeface="Arial"/>
                <a:ea typeface="Arial"/>
                <a:cs typeface="Arial"/>
                <a:sym typeface="Arial"/>
              </a:rPr>
              <a:t> </a:t>
            </a:r>
            <a:r>
              <a:rPr lang="en-US" sz="4400" b="1" i="0" u="none" strike="noStrike" cap="none" err="1">
                <a:solidFill>
                  <a:srgbClr val="0070C0"/>
                </a:solidFill>
                <a:latin typeface="Arial"/>
                <a:ea typeface="Arial"/>
                <a:cs typeface="Arial"/>
                <a:sym typeface="Arial"/>
              </a:rPr>
              <a:t>lớp</a:t>
            </a:r>
            <a:r>
              <a:rPr lang="en-US" sz="4400" b="1" i="0" u="none" strike="noStrike" cap="none">
                <a:solidFill>
                  <a:srgbClr val="0070C0"/>
                </a:solidFill>
                <a:latin typeface="Arial"/>
                <a:ea typeface="Arial"/>
                <a:cs typeface="Arial"/>
                <a:sym typeface="Arial"/>
              </a:rPr>
              <a:t>!</a:t>
            </a:r>
            <a:endParaRPr/>
          </a:p>
        </p:txBody>
      </p:sp>
    </p:spTree>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68BB80340490D488383C9B768D5956D" ma:contentTypeVersion="3" ma:contentTypeDescription="Create a new document." ma:contentTypeScope="" ma:versionID="0cd16916ba8d794aab8996de62071d9c">
  <xsd:schema xmlns:xsd="http://www.w3.org/2001/XMLSchema" xmlns:xs="http://www.w3.org/2001/XMLSchema" xmlns:p="http://schemas.microsoft.com/office/2006/metadata/properties" xmlns:ns2="203d3c27-16d8-490b-9058-de16c38d577f" targetNamespace="http://schemas.microsoft.com/office/2006/metadata/properties" ma:root="true" ma:fieldsID="370b06e70758db6820ac2892a4fa0eba" ns2:_="">
    <xsd:import namespace="203d3c27-16d8-490b-9058-de16c38d577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3d3c27-16d8-490b-9058-de16c38d577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ACD5686-B757-4AB8-A695-9191B46238FE}">
  <ds:schemaRefs>
    <ds:schemaRef ds:uri="203d3c27-16d8-490b-9058-de16c38d577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6316EF1-3E89-4D68-9CEC-5854E5B3ACEE}">
  <ds:schemaRefs>
    <ds:schemaRef ds:uri="http://schemas.microsoft.com/sharepoint/v3/contenttype/forms"/>
  </ds:schemaRefs>
</ds:datastoreItem>
</file>

<file path=customXml/itemProps3.xml><?xml version="1.0" encoding="utf-8"?>
<ds:datastoreItem xmlns:ds="http://schemas.openxmlformats.org/officeDocument/2006/customXml" ds:itemID="{F5CB6FA7-0658-49A6-AD0E-64667B04F445}">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302</Slides>
  <Notes>198</Notes>
  <HiddenSlides>0</HiddenSlides>
  <ScaleCrop>false</ScaleCrop>
  <HeadingPairs>
    <vt:vector size="4" baseType="variant">
      <vt:variant>
        <vt:lpstr>Theme</vt:lpstr>
      </vt:variant>
      <vt:variant>
        <vt:i4>2</vt:i4>
      </vt:variant>
      <vt:variant>
        <vt:lpstr>Slide Titles</vt:lpstr>
      </vt:variant>
      <vt:variant>
        <vt:i4>302</vt:i4>
      </vt:variant>
    </vt:vector>
  </HeadingPairs>
  <TitlesOfParts>
    <vt:vector size="304" baseType="lpstr">
      <vt:lpstr>Custom Design</vt:lpstr>
      <vt:lpstr>1_Custom Design</vt:lpstr>
      <vt:lpstr>  BÀI GIẢNG  HÀNH VI KHÁCH HÀNG</vt:lpstr>
      <vt:lpstr>THÔNG TIN CHUNG VỀ MÔN HỌC  </vt:lpstr>
      <vt:lpstr>CHUẨN ĐẦU RA CỦA HỌC PHẦN</vt:lpstr>
      <vt:lpstr>  CHƯƠNG 1 TỔNG QUAN VỀ HÀNH VI  KHÁCH HÀNG</vt:lpstr>
      <vt:lpstr>MỤC TIÊU CHƯƠNG 1</vt:lpstr>
      <vt:lpstr>NỘI DUNG CHƯƠNG 1</vt:lpstr>
      <vt:lpstr>1.1. KHÁI QUÁT VỀ HÀNH VI KHÁCH HÀNG </vt:lpstr>
      <vt:lpstr>1.1.1.Nghiên cứu KH dưới góc độ một con người</vt:lpstr>
      <vt:lpstr>1.1.2 Phân biệt người mua, NTD và KH </vt:lpstr>
      <vt:lpstr> Các vấn đề nẩy sinh trong quá trình tiêu thụ  </vt:lpstr>
      <vt:lpstr>Khái niệm về Hành vi khách hàng </vt:lpstr>
      <vt:lpstr>PowerPoint Presentation</vt:lpstr>
      <vt:lpstr>PowerPoint Presentation</vt:lpstr>
      <vt:lpstr>PowerPoint Presentation</vt:lpstr>
      <vt:lpstr> Phân loại khách hàng cá nhân </vt:lpstr>
      <vt:lpstr>PowerPoint Presentation</vt:lpstr>
      <vt:lpstr>1.3.1 Các yếu tố ảnh hưởng đến hành vi mua của khách hàng tổ chức  </vt:lpstr>
      <vt:lpstr>PowerPoint Presentation</vt:lpstr>
      <vt:lpstr>1.3.1 Các yếu tố ảnh hưởng đến hành vi của KH cá nhân </vt:lpstr>
      <vt:lpstr>Bảng 1.4 Thay đổi hành vi khách hàng nói chung trên thế giới </vt:lpstr>
      <vt:lpstr>1.4. NGHIÊN CỨU HÀNH VI KHÁCH HÀNG  </vt:lpstr>
      <vt:lpstr>PowerPoint Presentation</vt:lpstr>
      <vt:lpstr>PowerPoint Presentation</vt:lpstr>
      <vt:lpstr>PowerPoint Presentation</vt:lpstr>
      <vt:lpstr>PowerPoint Presentation</vt:lpstr>
      <vt:lpstr>Vai trò của nghiên cứu hành vi trong  hoạt động kinh doanh</vt:lpstr>
      <vt:lpstr>PowerPoint Presentation</vt:lpstr>
      <vt:lpstr>PowerPoint Presentation</vt:lpstr>
      <vt:lpstr>PowerPoint Presentation</vt:lpstr>
      <vt:lpstr>CÂU HỎI THẢO LUẬN</vt:lpstr>
      <vt:lpstr>CHƯƠNG 2 CÁC YẾU TỐ BÊN NGOÀI ẢNH HƯỞNG ĐẾN HÀNH VI KH CÁ NHÂN</vt:lpstr>
      <vt:lpstr>MỤC TIÊU CHƯƠNG 2</vt:lpstr>
      <vt:lpstr>NỘI DUNG CHƯƠNG 2</vt:lpstr>
      <vt:lpstr>2.1. ẢNH HƯỞNG CỦA YẾU TỐ VĂN HÓA ĐẾN  KHÁCH HÀNG CÁ NHÂN</vt:lpstr>
      <vt:lpstr>2.1.1. Khái niệm văn hóa</vt:lpstr>
      <vt:lpstr>2.1.2. Khái niệm văn hóa tiêu dùng</vt:lpstr>
      <vt:lpstr>2.1.3. Các yếu tố văn hóa ảnh hưởng đến hành vi  2.1.3.1 Giá trị văn hóa</vt:lpstr>
      <vt:lpstr>Ý nghĩa của giá trị văn hóa: </vt:lpstr>
      <vt:lpstr>2.1.3.2. Chuẩn mực văn hóa</vt:lpstr>
      <vt:lpstr>2.1.3.3 Phong tục tập quán</vt:lpstr>
      <vt:lpstr> Phong tục tập quán</vt:lpstr>
      <vt:lpstr>2.1.3.4 Các biểu tượng, đồ tạo tác </vt:lpstr>
      <vt:lpstr>2.1.3.4 Các biểu tượng, đồ tạo tác </vt:lpstr>
      <vt:lpstr>2.1.3.5 Sự khác biệt ngôn ngữ</vt:lpstr>
      <vt:lpstr>PowerPoint Presentation</vt:lpstr>
      <vt:lpstr>2.1.5 Nhánh văn hóa 2.1.5.1. Khái niệm nhánh văn hoá</vt:lpstr>
      <vt:lpstr>2.1.5.2. Phân loại nhánh văn hóa</vt:lpstr>
      <vt:lpstr>2.1.5 Ứng dụng nghiên cứu văn hóa và hoạt động Marketing 2.1.5.1. Marketing thị trường quốc tế</vt:lpstr>
      <vt:lpstr>PowerPoint Presentation</vt:lpstr>
      <vt:lpstr>2.2.1. Khái niệm nhóm hay nhóm xã hội</vt:lpstr>
      <vt:lpstr>2.2.1. Khái niệm nhóm hay nhóm xã hội</vt:lpstr>
      <vt:lpstr>PowerPoint Presentation</vt:lpstr>
      <vt:lpstr> Ảnh hưởng của nhóm xã hội đến hành vi tiêu dùng</vt:lpstr>
      <vt:lpstr>2.2.2. Nhóm tham khảo hay cá nhân tham khảo</vt:lpstr>
      <vt:lpstr> 2.2.2 Nhóm tham khảo hay cá nhân tham khảo</vt:lpstr>
      <vt:lpstr> 2.2.2 Nhóm tham khảo hay cá nhân tham khảo</vt:lpstr>
      <vt:lpstr>2.2.2.1 Ảnh hưởng của nhóm tham khảo đến hành vi tiêu dùng</vt:lpstr>
      <vt:lpstr>2.2.2.2. Lý do chấp nhận ảnh hưởng của nhóm tham khảo</vt:lpstr>
      <vt:lpstr>2.2.2.3. Ảnh hưởng của nhóm tham khảo đến hành vi khách hàng</vt:lpstr>
      <vt:lpstr>2.2.3 Gia đình ảnh hưởng đến hành vi KH cá nhân 2.2.3.1 Ý nghĩa của gia đình trong nghiên cứu hành vi</vt:lpstr>
      <vt:lpstr>2.2.3.2. Những thay đổi trong các gia đình hiện nay</vt:lpstr>
      <vt:lpstr>2.2.3.3. Những quyết định mua hàng của gia đình</vt:lpstr>
      <vt:lpstr>2.2.3.3 Những quyết định mua hàng của gia đình</vt:lpstr>
      <vt:lpstr>2.2.3.4. Chu kỳ đời sống gia đình (Family Life Cycle - FLC)</vt:lpstr>
      <vt:lpstr>2.2.4 Gia tầng xã hội 2.2.4.1. Khái niệm</vt:lpstr>
      <vt:lpstr>2.2.4.2. Giai tầng xã hội và địa vị xã hội</vt:lpstr>
      <vt:lpstr>2.2.4.3 Giai tầng xã hội và hành vi tiêu dùng</vt:lpstr>
      <vt:lpstr>2.2.4.4. Quan điểm về biểu tượng của địa vị</vt:lpstr>
      <vt:lpstr>Ứng dụng của việc nghiên cứu yếu tố xã hội vào hoạt động marketing</vt:lpstr>
      <vt:lpstr>Ứng dụng của việc nghiên cứu yếu tố xã hội vào hoạt động marketing</vt:lpstr>
      <vt:lpstr>Ứng dụng của việc nghiên cứu yếu tố xã hội vào hoạt động marketing</vt:lpstr>
      <vt:lpstr> </vt:lpstr>
      <vt:lpstr>PowerPoint Presentation</vt:lpstr>
      <vt:lpstr>Các tình huống mua hàng</vt:lpstr>
      <vt:lpstr>2.3.1.2 Trạng thái</vt:lpstr>
      <vt:lpstr>2.3.1.3. Tình huống mua hàng</vt:lpstr>
      <vt:lpstr>Tình huống mua hàng</vt:lpstr>
      <vt:lpstr>Tình huống mua hàng</vt:lpstr>
      <vt:lpstr>2.3.1.4 Tình huống sử dụng</vt:lpstr>
      <vt:lpstr>2.3.1.5 Tình huống thải hồi</vt:lpstr>
      <vt:lpstr>Tình huống thải hồi</vt:lpstr>
      <vt:lpstr>PowerPoint Presentation</vt:lpstr>
      <vt:lpstr>PowerPoint Presentation</vt:lpstr>
      <vt:lpstr>PowerPoint Presentation</vt:lpstr>
      <vt:lpstr>PowerPoint Presentation</vt:lpstr>
      <vt:lpstr>2.3.4 Các tình huống mua hàng 2.3.4.1 Mua hàng hoá giá trị thấp và thường xuyên</vt:lpstr>
      <vt:lpstr>2.3.4.2. Mua hàng quen thuộc nhưng nhãn hiệu mới lạ</vt:lpstr>
      <vt:lpstr>2.3.4.4 Mua hàng hoàn toàn mới lạ với người mua</vt:lpstr>
      <vt:lpstr>2.3.4.5. Mua hàng tình cờ</vt:lpstr>
      <vt:lpstr>Tóm tắt chương</vt:lpstr>
      <vt:lpstr>Câu hỏi thảo luận</vt:lpstr>
      <vt:lpstr>CHƯƠNG 3 CÁC YẾU TỐ TÂM LÝ ẢNH HƯỞNG ĐẾN HÀNH VI KHÁCH HÀNG CÁ NHÂN</vt:lpstr>
      <vt:lpstr>MỤC TIÊU CHƯƠNG 3</vt:lpstr>
      <vt:lpstr>NỘI DUNG CHƯƠNG 3</vt:lpstr>
      <vt:lpstr>3.1. NHU CẦU VÀ ĐỘNG CƠ</vt:lpstr>
      <vt:lpstr>3.1.1 Khái niệm và bản chất của nhu cầu</vt:lpstr>
      <vt:lpstr>3.1.2 Kích thích nhu cầu</vt:lpstr>
      <vt:lpstr>3.1.3 Mục đích</vt:lpstr>
      <vt:lpstr>3.1.3 Mục đích</vt:lpstr>
      <vt:lpstr>Lý thuyết giảm thiểu động lực của Hull</vt:lpstr>
      <vt:lpstr>Lý thuyết giảm thiểu động lực của Hull</vt:lpstr>
      <vt:lpstr>Lý thuyết giảm thiểu động lực của Hull</vt:lpstr>
      <vt:lpstr>3.1.4 Nhu cầu và mong muốn </vt:lpstr>
      <vt:lpstr>Lý thuyết nhu cầu của Maslow</vt:lpstr>
      <vt:lpstr>PowerPoint Presentation</vt:lpstr>
      <vt:lpstr>Ứng dụng lý thuyết của Maslow vào chiến lược Marketing</vt:lpstr>
      <vt:lpstr>PowerPoint Presentation</vt:lpstr>
      <vt:lpstr>PowerPoint Presentation</vt:lpstr>
      <vt:lpstr>PowerPoint Presentation</vt:lpstr>
      <vt:lpstr>3.1.6 Cảm xúc của khách hàng</vt:lpstr>
      <vt:lpstr>Nhu cầu, động lực và mục tiêu</vt:lpstr>
      <vt:lpstr>Khái niệm tự thể hiện và ý nghĩa của chúng</vt:lpstr>
      <vt:lpstr>3.1.7 Động cơ và bản chất của động cơ</vt:lpstr>
      <vt:lpstr>3.1.7 Động cơ và bản chất của động cơ</vt:lpstr>
      <vt:lpstr>3.1.7 Động cơ và bản chất của động cơ</vt:lpstr>
      <vt:lpstr>3.1.8 Thuyết động cơ và chiến lược Marketing</vt:lpstr>
      <vt:lpstr>3.1.8 Thuyết động cơ và chiến lược Marketing</vt:lpstr>
      <vt:lpstr>3.1.9 Đo lường động cơ và người tiêu dùng</vt:lpstr>
      <vt:lpstr>3.2. NHẬN THỨC</vt:lpstr>
      <vt:lpstr>3.2.1 Khái niệm và bản chất nhận thức</vt:lpstr>
      <vt:lpstr>PowerPoint Presentation</vt:lpstr>
      <vt:lpstr>3.2.2 Các yếu tố của nhận thức</vt:lpstr>
      <vt:lpstr>3.2.3 Sự khác biệt giữa nhận thức và cảm quan</vt:lpstr>
      <vt:lpstr>3.2.4 Quy trình xây dựng nhận thức</vt:lpstr>
      <vt:lpstr>3.2.5  Ứng dụng của nhận thức vào các chiến lược marketing</vt:lpstr>
      <vt:lpstr>3.2.5  Ứng dụng của nhận thức vào các chiến lược marketing</vt:lpstr>
      <vt:lpstr>3.2.5  Ứng dụng của nhận thức vào các chiến lược marketing</vt:lpstr>
      <vt:lpstr>3.3. HỌC HỎI </vt:lpstr>
      <vt:lpstr>3.3.1 Khái niệm về học hỏi</vt:lpstr>
      <vt:lpstr>3.3.1 Khái niệm về học hỏi</vt:lpstr>
      <vt:lpstr>3.3.2  Bản chất của việc học hỏi</vt:lpstr>
      <vt:lpstr>3.3.3 Đặc điểm của việc học hỏi</vt:lpstr>
      <vt:lpstr>3.3.3 Đặc điểm của việc học hỏi</vt:lpstr>
      <vt:lpstr>Học hỏi có điều kiện kiểu cổ điển</vt:lpstr>
      <vt:lpstr>Học hỏi có điều kiện kiểu cổ điển</vt:lpstr>
      <vt:lpstr>Ứng dụng học hỏi có điều kiện kiểu cổ điển vào các hoạt động marketing</vt:lpstr>
      <vt:lpstr>Học hỏi có điều kiện tưởng thưởng</vt:lpstr>
      <vt:lpstr>Học hỏi có điều kiện tưởng thưởng</vt:lpstr>
      <vt:lpstr>Học hỏi có điều kiện tưởng thưởng</vt:lpstr>
      <vt:lpstr>Ứng dụng học hỏi có điều kiện tưởng thưởng vào các hoạt động marketing</vt:lpstr>
      <vt:lpstr>Học hỏi bằng cách quan sát</vt:lpstr>
      <vt:lpstr>Học hỏi bằng cách lập luận</vt:lpstr>
      <vt:lpstr>Học hỏi bằng cách lập luận</vt:lpstr>
      <vt:lpstr>Ứng dụng học hỏi bằng cách lập luận vào các hoạt  động marketing</vt:lpstr>
      <vt:lpstr>Ứng dụng học hỏi bằng cách lập luận vào các hoạt  động marketing</vt:lpstr>
      <vt:lpstr>Ứng dụng học hỏi bằng cách lập luận vào các hoạt  động marketing</vt:lpstr>
      <vt:lpstr>Ứng dụng học hỏi bằng cách lập luận vào các hoạt  động marketing</vt:lpstr>
      <vt:lpstr>3.3.5 Đo lường hành vi học hỏi của NTD</vt:lpstr>
      <vt:lpstr>3.4 THÁI ĐỘ </vt:lpstr>
      <vt:lpstr>3.4.1 Định nghĩa thái độ</vt:lpstr>
      <vt:lpstr>3.4.2 Bản chất của thái độ</vt:lpstr>
      <vt:lpstr>3.4.2 Bản chất của thái độ</vt:lpstr>
      <vt:lpstr>3.4.2 Bản chất của thái độ</vt:lpstr>
      <vt:lpstr>3.4.2 Bản chất của thái độ</vt:lpstr>
      <vt:lpstr>3.4.3 Chức năng của thái độ</vt:lpstr>
      <vt:lpstr>3.4.4 Mô hình và lý thuyết thái độ</vt:lpstr>
      <vt:lpstr>Mô hình thái độ 3 thành phần</vt:lpstr>
      <vt:lpstr>Thành phần nhận thức/ niềm tin</vt:lpstr>
      <vt:lpstr>Thành phần cảm giác/ cảm xúc</vt:lpstr>
      <vt:lpstr>Thành phần hành động/ hành vi</vt:lpstr>
      <vt:lpstr>Mô hình thái độ đa thuộc tính</vt:lpstr>
      <vt:lpstr>Mô hình MODE</vt:lpstr>
      <vt:lpstr>Lý thuyết khuynh hướng cố gắng tiêu thụ</vt:lpstr>
      <vt:lpstr>Mô hình thái độ đối với quảng cáo</vt:lpstr>
      <vt:lpstr>3.4.5 Đo lường thái độ</vt:lpstr>
      <vt:lpstr>3.4.6 Phương pháp thay đổi thái độ</vt:lpstr>
      <vt:lpstr>3.4.7 Các đặc tính thông tin có thể ảnh hưởng đến sự hình thành và thay đổi thái độ</vt:lpstr>
      <vt:lpstr>3.4.7 Các đặc tính thông tin có thể ảnh hưởng đến sự hình thành và thay đổi thái độ</vt:lpstr>
      <vt:lpstr>CÂU HỎI THẢO LUẬN</vt:lpstr>
      <vt:lpstr>CHƯƠNG 4 CÁC YẾU TỐ CÁ NHÂN ẢNH HƯỞNG ĐẾN HÀNH VI KHÁCH HÀNG CÁ NHÂN</vt:lpstr>
      <vt:lpstr>MỤC TIÊU CHƯƠNG 4</vt:lpstr>
      <vt:lpstr>MỤC TIÊU CHƯƠNG 4</vt:lpstr>
      <vt:lpstr>NỘI DUNG CHƯƠNG </vt:lpstr>
      <vt:lpstr>PowerPoint Presentation</vt:lpstr>
      <vt:lpstr>4.1.1. Tuổi tác</vt:lpstr>
      <vt:lpstr>4.1.2. Thế hệ</vt:lpstr>
      <vt:lpstr>4.1.3 Giáo dục</vt:lpstr>
      <vt:lpstr>4.1.4 Vòng đời gia đình</vt:lpstr>
      <vt:lpstr>PowerPoint Presentation</vt:lpstr>
      <vt:lpstr>PowerPoint Presentation</vt:lpstr>
      <vt:lpstr>PowerPoint Presentation</vt:lpstr>
      <vt:lpstr>4.4.1. Quan niệm tự phụ thuộc/phụ thuộc lẫn nhau </vt:lpstr>
      <vt:lpstr>4.4.2. Tự chủ và tự mở rộng bản thân </vt:lpstr>
      <vt:lpstr>4.4.3. Đo lường quan niệm bản thân  </vt:lpstr>
      <vt:lpstr>4.4.4. Sử dụng quan niệm bản thân để định vị sản phẩm</vt:lpstr>
      <vt:lpstr>4.4.4. Sử dụng quan niệm bản thân để định vị sản phẩm</vt:lpstr>
      <vt:lpstr>4.4.4. Sử dụng quan niệm bản thân để định vị sản phẩm</vt:lpstr>
      <vt:lpstr>4.4.5. Đạo đức marketing và quan niệm bản thân</vt:lpstr>
      <vt:lpstr>4.5.1. Bản chất của lối sống</vt:lpstr>
      <vt:lpstr>4.5.1. Bản chất của lối sống</vt:lpstr>
      <vt:lpstr>4.5.2. Đo lường phong cách sống</vt:lpstr>
      <vt:lpstr>4.5.3. Lối sống chung và cụ thể</vt:lpstr>
      <vt:lpstr>4.5.4. Hệ thống giá trị phong cách sống (VALS)</vt:lpstr>
      <vt:lpstr>4.5.4. Hệ thống giá trị phong cách sống (VALS)</vt:lpstr>
      <vt:lpstr>PowerPoint Presentation</vt:lpstr>
      <vt:lpstr>4.5.5. Phân tích nhân khẩu học lối sống </vt:lpstr>
      <vt:lpstr>4.5.6. Phong cách sống quốc tế</vt:lpstr>
      <vt:lpstr>PowerPoint Presentation</vt:lpstr>
      <vt:lpstr> </vt:lpstr>
      <vt:lpstr>CÂU HỎI THẢO LUẬN</vt:lpstr>
      <vt:lpstr>CHƯƠNG 5</vt:lpstr>
      <vt:lpstr>MỤC TIÊU CHƯƠNG 5</vt:lpstr>
      <vt:lpstr>NỘI DUNG CHƯƠNG 5</vt:lpstr>
      <vt:lpstr>PowerPoint Presentation</vt:lpstr>
      <vt:lpstr>PowerPoint Presentation</vt:lpstr>
      <vt:lpstr>5.1.1. Quyết định mua hàng danh nghĩa </vt:lpstr>
      <vt:lpstr>Ra quyết định danh nghĩa có 2 loại</vt:lpstr>
      <vt:lpstr>5.1.2. Quyết định hạn chế </vt:lpstr>
      <vt:lpstr>5.1.3. Quyết định mở rộng </vt:lpstr>
      <vt:lpstr>PowerPoint Presentation</vt:lpstr>
      <vt:lpstr> 5.2.1 Bản chất của xác định vấn đề </vt:lpstr>
      <vt:lpstr>5.2.1 Bản chất của xác định vấn đề</vt:lpstr>
      <vt:lpstr>5.2.2. Các loại vấn đề của người tiêu dùng</vt:lpstr>
      <vt:lpstr>5.2.3. Không kiểm soát giới hạn xác nhận vấn đề </vt:lpstr>
      <vt:lpstr>5.2.3. Không kiểm soát giới hạn xác nhận vấn đề</vt:lpstr>
      <vt:lpstr> 5.2.4. Chiến lược marketing với xác định vấn đề </vt:lpstr>
      <vt:lpstr>5.2.4. Chiến lược marketing với xác định vấn đề</vt:lpstr>
      <vt:lpstr>5.2.4. Chiến lược marketing với xác định vấn đề</vt:lpstr>
      <vt:lpstr>5.2.4. Chiến lược marketing với xác định vấn đề</vt:lpstr>
      <vt:lpstr>5.2.4. Chiến lược marketing với xác định vấn đề</vt:lpstr>
      <vt:lpstr>5.2.4. Chiến lược marketing với xác định vấn đề</vt:lpstr>
      <vt:lpstr>5.2.4. Chiến lược marketing với xác định vấn đề</vt:lpstr>
      <vt:lpstr>5.2.4. Chiến lược marketing với xác định vấn đề</vt:lpstr>
      <vt:lpstr>5.2.4. Chiến lược marketing với xác định vấn đề</vt:lpstr>
      <vt:lpstr>PowerPoint Presentation</vt:lpstr>
      <vt:lpstr>PowerPoint Presentation</vt:lpstr>
      <vt:lpstr>CHIẾN LƯỢC MARKETING VÀ NHẬN BIẾT NHU CẦU</vt:lpstr>
      <vt:lpstr>PowerPoint Presentation</vt:lpstr>
      <vt:lpstr>PowerPoint Presentation</vt:lpstr>
      <vt:lpstr>PowerPoint Presentation</vt:lpstr>
      <vt:lpstr>PowerPoint Presentation</vt:lpstr>
      <vt:lpstr>PowerPoint Presentation</vt:lpstr>
      <vt:lpstr>5.3.2 Tìm kiếm thông tin</vt:lpstr>
      <vt:lpstr>5.3.3. Đánh giá các lựa chọn</vt:lpstr>
      <vt:lpstr>5.3.3. Đánh giá các lựa chọn</vt:lpstr>
      <vt:lpstr>5.3.3. Đánh giá, lựa chọn</vt:lpstr>
      <vt:lpstr>5.3.3. Đánh giá các lựa chọn</vt:lpstr>
      <vt:lpstr>5.3.3. Đánh giá các lựa chọn</vt:lpstr>
      <vt:lpstr>5.3.4. Quyết định mua</vt:lpstr>
      <vt:lpstr>5.3.4 Hành vi sau mua</vt:lpstr>
      <vt:lpstr>5.3.4 Hành vi sau mua</vt:lpstr>
      <vt:lpstr>PowerPoint Presentation</vt:lpstr>
      <vt:lpstr>PowerPoint Presentation</vt:lpstr>
      <vt:lpstr>PowerPoint Presentation</vt:lpstr>
      <vt:lpstr>PowerPoint Presentation</vt:lpstr>
      <vt:lpstr>PowerPoint Presentation</vt:lpstr>
      <vt:lpstr>CHƯƠNG 6 CÁC YẾU TỐ ẢNH HƯỞNG ĐẾN HÀNH VI MUA CỦA  KHÁCH HÀNG TỔ CHỨC</vt:lpstr>
      <vt:lpstr>MỤC TIÊU CHƯƠNG 6</vt:lpstr>
      <vt:lpstr>NỘI DUNG CHƯƠNG 6</vt:lpstr>
      <vt:lpstr>6.1 HÀNH VI MUA CỦA KHÁCH HÀNG TỔ CHỨC </vt:lpstr>
      <vt:lpstr>6.1.1. Khái quát khách hàng tổ chức</vt:lpstr>
      <vt:lpstr>6.1.1. Khái quát khách hàng tổ chức</vt:lpstr>
      <vt:lpstr>6.1.1. Khái quát khách hàng tổ chức</vt:lpstr>
      <vt:lpstr>6.1.1. Khái quát khách hàng tổ chức</vt:lpstr>
      <vt:lpstr>6.1.2. Hành vi mua của khách hàng tổ chức </vt:lpstr>
      <vt:lpstr>6.1.2. Hành vi mua của khách hàng tổ chức </vt:lpstr>
      <vt:lpstr>6.2. MÔ HÌNH HÀNH VI MUA</vt:lpstr>
      <vt:lpstr>6.2. MÔ HÌNH HÀNH VI MUA</vt:lpstr>
      <vt:lpstr>6.2. MÔ HÌNH HÀNH VI MUA</vt:lpstr>
      <vt:lpstr>6.2. MÔ HÌNH HÀNH VI MUA</vt:lpstr>
      <vt:lpstr>6.2. MÔ HÌNH HÀNH VI MUA</vt:lpstr>
      <vt:lpstr>6.3. CÁC NHÂN TỐ ẢNH HƯỞNG ĐẾN HÀNH VI MUA </vt:lpstr>
      <vt:lpstr>6.3. CÁC NHÂN TỐ ẢNH HƯỞNG ĐẾN HÀNH VI MUA </vt:lpstr>
      <vt:lpstr>6.3.1. Các yếu tố môi trường</vt:lpstr>
      <vt:lpstr>6.3.2. Các yếu tố tổ chức</vt:lpstr>
      <vt:lpstr>6.3.2. Các yếu tố tương tác cá nhân</vt:lpstr>
      <vt:lpstr>6.3.2. Các yếu tố đặc điểm cá nhân</vt:lpstr>
      <vt:lpstr>Câu hỏi ôn tập</vt:lpstr>
      <vt:lpstr>Câu hỏi ôn tập</vt:lpstr>
      <vt:lpstr>Câu hỏi ôn tập</vt:lpstr>
      <vt:lpstr>  CHƯƠNG 7 QUÁ TRÌNH RA QUYẾT ĐỊNH MUA CỦA KHÁCH HÀNG TỔ CHỨC </vt:lpstr>
      <vt:lpstr>MỤC TIÊU CHƯƠNG 7</vt:lpstr>
      <vt:lpstr>NỘI DUNG CHƯƠNG 7</vt:lpstr>
      <vt:lpstr>7.1. CÁC HÌNH THỨC MUA HÀNG CỦA KHÁCH HÀNG TỔ CHỨC  </vt:lpstr>
      <vt:lpstr>7.1.1. Các dạng hành vi mua của khách hàng tổ chức</vt:lpstr>
      <vt:lpstr>Mua mới/Mua lần đầu</vt:lpstr>
      <vt:lpstr>Mua lặp lại không thay đổi  </vt:lpstr>
      <vt:lpstr>Mua lặp lại có điều chỉnh </vt:lpstr>
      <vt:lpstr>7.1.2 Hình thức mua của khách hàng tổ chức </vt:lpstr>
      <vt:lpstr>Đấu thầu: Chọn đúng nhà cung cấp</vt:lpstr>
      <vt:lpstr>Hợp đồng dài hạn: Ổn định và hợp tác</vt:lpstr>
      <vt:lpstr>7.2. QUÁ TRÌNH QUYẾT ĐỊNH MUA </vt:lpstr>
      <vt:lpstr>7.2. Quy trình ra quyết định mua</vt:lpstr>
      <vt:lpstr>7.2 Quy trình ra quyết định mua (tt)</vt:lpstr>
      <vt:lpstr>7.2 Quy trình ra quyết định mua (tt)</vt:lpstr>
      <vt:lpstr>7.2 Quy trình ra quyết định mua (tt)</vt:lpstr>
      <vt:lpstr>7.2 Quy trình ra quyết định mua (tt)</vt:lpstr>
      <vt:lpstr>7.2 Quy trình ra quyết định mua (tt)</vt:lpstr>
      <vt:lpstr>7.2 Quy trình ra quyết định mua (tt)</vt:lpstr>
      <vt:lpstr>7.3. NHỮNG YẾU TỐ TÁC ĐỘNG QUÁ TRÌNH RA QUYẾT ĐỊNH MUA CỦA  KHÁCH HÀNG TỔ CHỨC </vt:lpstr>
      <vt:lpstr>7.3 Những yếu tố tác động quá trình ra quyết định mua của khách hàng tổ chức  </vt:lpstr>
      <vt:lpstr>PowerPoint Presentation</vt:lpstr>
      <vt:lpstr>7.3.2 Số lượng người tham gia mua và ảnh hưởng mua cơ bản </vt:lpstr>
      <vt:lpstr>7.3.3 Trung tâm mua hàng</vt:lpstr>
      <vt:lpstr>PowerPoint Presentation</vt:lpstr>
      <vt:lpstr>PowerPoint Presentation</vt:lpstr>
      <vt:lpstr>PowerPoint Presentation</vt:lpstr>
      <vt:lpstr>PowerPoint Presentation</vt:lpstr>
      <vt:lpstr>7.2.4.4. Thời điểm mua – Just in Time (JIT)</vt:lpstr>
      <vt:lpstr>7.3.4.5. Mua đồng bộ: Một giải pháp – một đầu mối</vt:lpstr>
      <vt:lpstr>Câu hỏi thảo luận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GIẢNG  HÀNH VI KHÁCH HÀNG</dc:title>
  <dc:creator>Admin</dc:creator>
  <cp:revision>1</cp:revision>
  <dcterms:modified xsi:type="dcterms:W3CDTF">2026-10-04T08:37:34Z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0x010100C68BB80340490D488383C9B768D5956D</vt:lpwstr>
  </property>
</Properties>
</file>